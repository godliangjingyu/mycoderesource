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68"/>
  </p:handoutMasterIdLst>
  <p:sldIdLst>
    <p:sldId id="789" r:id="rId3"/>
    <p:sldId id="541" r:id="rId4"/>
    <p:sldId id="540" r:id="rId5"/>
    <p:sldId id="542" r:id="rId6"/>
    <p:sldId id="543" r:id="rId7"/>
    <p:sldId id="545" r:id="rId8"/>
    <p:sldId id="548" r:id="rId9"/>
    <p:sldId id="550" r:id="rId10"/>
    <p:sldId id="551" r:id="rId11"/>
    <p:sldId id="552" r:id="rId12"/>
    <p:sldId id="557" r:id="rId13"/>
    <p:sldId id="559" r:id="rId14"/>
    <p:sldId id="561" r:id="rId15"/>
    <p:sldId id="563" r:id="rId16"/>
    <p:sldId id="564" r:id="rId17"/>
    <p:sldId id="566" r:id="rId18"/>
    <p:sldId id="569" r:id="rId19"/>
    <p:sldId id="571" r:id="rId20"/>
    <p:sldId id="572" r:id="rId21"/>
    <p:sldId id="575" r:id="rId22"/>
    <p:sldId id="579" r:id="rId23"/>
    <p:sldId id="580" r:id="rId24"/>
    <p:sldId id="584" r:id="rId25"/>
    <p:sldId id="585" r:id="rId26"/>
    <p:sldId id="586" r:id="rId27"/>
    <p:sldId id="588" r:id="rId28"/>
    <p:sldId id="589" r:id="rId29"/>
    <p:sldId id="592" r:id="rId30"/>
    <p:sldId id="593" r:id="rId31"/>
    <p:sldId id="594" r:id="rId32"/>
    <p:sldId id="725" r:id="rId33"/>
    <p:sldId id="595" r:id="rId34"/>
    <p:sldId id="597" r:id="rId35"/>
    <p:sldId id="600" r:id="rId36"/>
    <p:sldId id="670" r:id="rId37"/>
    <p:sldId id="605" r:id="rId38"/>
    <p:sldId id="602" r:id="rId40"/>
    <p:sldId id="604" r:id="rId41"/>
    <p:sldId id="607" r:id="rId42"/>
    <p:sldId id="609" r:id="rId43"/>
    <p:sldId id="611" r:id="rId44"/>
    <p:sldId id="613" r:id="rId45"/>
    <p:sldId id="616" r:id="rId46"/>
    <p:sldId id="617" r:id="rId47"/>
    <p:sldId id="619" r:id="rId48"/>
    <p:sldId id="621" r:id="rId49"/>
    <p:sldId id="626" r:id="rId50"/>
    <p:sldId id="627" r:id="rId51"/>
    <p:sldId id="628" r:id="rId52"/>
    <p:sldId id="631" r:id="rId53"/>
    <p:sldId id="632" r:id="rId54"/>
    <p:sldId id="633" r:id="rId55"/>
    <p:sldId id="635" r:id="rId56"/>
    <p:sldId id="636" r:id="rId57"/>
    <p:sldId id="638" r:id="rId58"/>
    <p:sldId id="640" r:id="rId59"/>
    <p:sldId id="641" r:id="rId60"/>
    <p:sldId id="642" r:id="rId61"/>
    <p:sldId id="644" r:id="rId62"/>
    <p:sldId id="646" r:id="rId63"/>
    <p:sldId id="648" r:id="rId64"/>
    <p:sldId id="650" r:id="rId65"/>
    <p:sldId id="651" r:id="rId66"/>
    <p:sldId id="663" r:id="rId67"/>
  </p:sldIdLst>
  <p:sldSz cx="12192000" cy="6858000"/>
  <p:notesSz cx="6858000" cy="9144000"/>
  <p:custDataLst>
    <p:tags r:id="rId7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ren"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56" y="548"/>
      </p:cViewPr>
      <p:guideLst/>
    </p:cSldViewPr>
  </p:slideViewPr>
  <p:notesTextViewPr>
    <p:cViewPr>
      <p:scale>
        <a:sx n="1" d="1"/>
        <a:sy n="1" d="1"/>
      </p:scale>
      <p:origin x="0" y="0"/>
    </p:cViewPr>
  </p:notesTextViewPr>
  <p:sorterViewPr>
    <p:cViewPr>
      <p:scale>
        <a:sx n="100" d="100"/>
        <a:sy n="100" d="100"/>
      </p:scale>
      <p:origin x="0" y="-8228"/>
    </p:cViewPr>
  </p:sorterViewPr>
  <p:notesViewPr>
    <p:cSldViewPr snapToGrid="0">
      <p:cViewPr varScale="1">
        <p:scale>
          <a:sx n="75" d="100"/>
          <a:sy n="75" d="100"/>
        </p:scale>
        <p:origin x="3448" y="4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3" Type="http://schemas.openxmlformats.org/officeDocument/2006/relationships/tags" Target="tags/tag257.xml"/><Relationship Id="rId72" Type="http://schemas.openxmlformats.org/officeDocument/2006/relationships/commentAuthors" Target="commentAuthors.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handoutMaster" Target="handoutMasters/handoutMaster1.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notesMaster" Target="notesMasters/notesMaster1.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CEA3E2-C87F-4A69-AA9B-977CB6B7875A}"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A2114A-053A-4019-867C-6DA91B73B33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09:57:51"/>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942 1126,'4'0,"-1"0,1 0,2 0,0 0,6 0,-6 0,2 0,-4 0,3 0,-5 4,1-4,0 1,0-1,3 0,4 0,-6 0,6 0,4-1,-8 1,2 0,-2 0,-2 0,-1 0,2 0,-2 0,0 0,1 0,1 0,1 0,0 0,0 0,0 0,0 0,2 0,-4 0,2 0,6 0,-8 0,1 0,3 0,0 0,-4 0,4 0,0 0,1 0,-5 0,2 0,-2 0,-1 0,0 0,1 0,-1 0,4 0,-1 0,-2 0,4 1,3-1,-5 0,0 0,4 0,-2 0,-2 0,0 0,0 0,0 0,-2 0,4 0,-3 0,5 0,-4 0,0 0,2 0,-2 0,0 0,-1 0,3-1,3 1,-5-1,-2 1,6-2,-7 2,0 0,3-1,-2 1,0 0,-1 0,0 0,2 0,0 0,-2 0,3 0,-3 0,4 0,-3 0,4 0,-5 0,3 0,-2 0,0 0,0 0,-1 0,-1-3,2 3,-1-1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09:57:51"/>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955 1228,'3'0,"1"0,2 0,-1 0,-2 0,0 0,0 0,0 0,0 0,1 0,0 0,2 0,-3 0,1 0,-1 0,0-1,1 1,5 0,-3 0,0-2,0 2,4 0,-7 0,3 0,-2 0,1 0,-2 0,1 0,1 0,0-1,3 1,-5 0,7 0,-4 0,0 0,0 0,6 0,-7 0,3 0,3 0,-7 0,4 0,-2 0,0 0,-2 0,1 0,-1 0,0 0,0 0,2 0,2 0,-2 0,2 0,0 0,11 1,-14-1,7 0,-4 0,0 0,-2 0,0 0,-1 0,1 0,0 0,-2 0,4 0,-4 0,2 0,0 0,-2 0,1 0,-1 0,1 0,-1 0,1 0,-1 0,0 0,1 0,1 0,1 0,-1 0,0 0,-1 0,1 0,-2 0,0 0,2 0,-1 0,1 0,-3 0,2 0,-1 0,-1 0,4 0,-1 0,-1 0,1 0,-1 0,-2 0,0 0,0 0,2 0,-1 0,-1 0,1 0,0 0,0 0,0 0,2 0,0 0,-2 0,-1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942 1126,'4'0,"-1"0,1 0,2 0,0 0,6 0,-6 0,2 0,-4 0,3 0,-5 4,1-4,0 1,0-1,3 0,4 0,-6 0,6 0,4-1,-8 1,2 0,-2 0,-2 0,-1 0,2 0,-2 0,0 0,1 0,1 0,1 0,0 0,0 0,0 0,0 0,2 0,-4 0,2 0,6 0,-8 0,1 0,3 0,0 0,-4 0,4 0,0 0,1 0,-5 0,2 0,-2 0,-1 0,0 0,1 0,-1 0,4 0,-1 0,-2 0,4 1,3-1,-5 0,0 0,4 0,-2 0,-2 0,0 0,0 0,0 0,-2 0,4 0,-3 0,5 0,-4 0,0 0,2 0,-2 0,0 0,-1 0,3-1,3 1,-5-1,-2 1,6-2,-7 2,0 0,3-1,-2 1,0 0,-1 0,0 0,2 0,0 0,-2 0,3 0,-3 0,4 0,-3 0,4 0,-5 0,3 0,-2 0,0 0,0 0,-1 0,-1-3,2 3,-1-1</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955 1228,'3'0,"1"0,2 0,-1 0,-2 0,0 0,0 0,0 0,0 0,1 0,0 0,2 0,-3 0,1 0,-1 0,0-1,1 1,5 0,-3 0,0-2,0 2,4 0,-7 0,3 0,-2 0,1 0,-2 0,1 0,1 0,0-1,3 1,-5 0,7 0,-4 0,0 0,0 0,6 0,-7 0,3 0,3 0,-7 0,4 0,-2 0,0 0,-2 0,1 0,-1 0,0 0,0 0,2 0,2 0,-2 0,2 0,0 0,11 1,-14-1,7 0,-4 0,0 0,-2 0,0 0,-1 0,1 0,0 0,-2 0,4 0,-4 0,2 0,0 0,-2 0,1 0,-1 0,1 0,-1 0,1 0,-1 0,0 0,1 0,1 0,1 0,-1 0,0 0,-1 0,1 0,-2 0,0 0,2 0,-1 0,1 0,-3 0,2 0,-1 0,-1 0,4 0,-1 0,-1 0,1 0,-1 0,-2 0,0 0,0 0,2 0,-1 0,-1 0,1 0,0 0,0 0,0 0,2 0,0 0,-2 0,-1 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948 1006,'2'3,"-1"2,2-3,4 0,-4-1,1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944 1022,'4'0,"-1"0,0 1,2 0,-2 0,0-1,-1 3,1 0,0-2</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909 1044,'4'0,"2"0,-3 0,5 0,-2 0,2 0,0 0,0 0,-4 0,1 0,0 0,0 0,-1 0,-1 0,1 0,2 0,-2 0,0 0,-1 0,2 0,-2 0,0 0,0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978 996,'1'3,"-1"1,0 1,0 0,0 2,0-4,0 0,-1 2,1-1,0 0,0-1,-1 1,-1-1,2 0,-2 0,1 1,-1-1,0 0,-1-1,0 1,0-2,1 2,-1-2,0 1,0-1,-1 1,1 0,0-1,0 0,0 2</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997 1066,'3'0,"0"1,-1 2,1-3,0 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1451 990,'3'0,"0"0,2 0,-2 0,5 0,1 0,7 0,-3 0,-4 1,0 0,-1-1,-4 0,-4 3,-3-1</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1464 1020,'3'0,"0"0,0 0,0 0,0 0,0 0,1 0,-1 0,1 0,3 0,0 0,-4 0,0 0,0 0,0 0,0 0,0 0,1 0,-3-5,-1 2,2-1,1 3,-1-2,-2-1,0 1,0 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1464 992,'2'5,"0"-2,-1 1,1 0,-1-1,2 0,-2 0,1 2,-1-1,-1-1,0 0,0 2,0 0,0-2,0 0,-2 0,0 0,0 0,-1-1,1 1,-1-1,2 1,-3-1,2 1,-1-1,0 0,0 1,-1-2</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1538 1025,'-3'1,"-1"0,-1-1,-1 1,0-1,-5 2,3-2,2 0,2 0,9 0,-2 0,2 1,1 0,-3 0,3 3,1 1,-4-2,3-2,-2 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1492 1060,'4'0,"4"0,-2 0,2 0,0 0,3 0,3 1,-6-1,-4 0,0 0,-1 0,-6 2,0-1,-1 1</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1517 1036,'0'4,"0"0,0-1,0 2,0 0,0-2,1 1,1-1,-1 0,0 1,3-1,-3 1,4 0,-1-3,-1 0,0-1,0 1,2 0,-1 1,-1-2,0 0,0 0,2-2,-1 1,1 1</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1417 1055,'-4'0,"0"0,0 0,0 0,1 0,-2 0,0-2,2 2,-2 0,2 0,-1 0,1 0,0-1,-1 1,1 0,0-1,-2 1,2 0,-1 0,1 0,0 0,0 0,0 0,-1 0,1 0,-1 0,1 0,0 0,0 0,-2 0,0 0,-2 0,4 0,0 0,-2 0,1 0,1 0,-2 0,0 0,0 0,2 0,0 0,0 0,0-2,-1 2,0-1,-1 0,-1 1,2 0,-2-2,3 2,-1 0,1 0,0 0,0 0,0 0,-1 0,0 0,-1 0,2 0,0 0,0 0,0 0,-2 0,0 0,-2 0,2 0,2 0,0 0,-2 0,2 0,0 0,0 0,0 0,0 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1185 1027,'-3'1,"-2"2,2-1,-1-1,1 1,0-1,0-1,-1 1,0-1,0 1,0 0,1-1,0 0,-1 1,1 2,7-1,0-1,-1-1,0 2,1 0,-1-1,1 1,-1-1,2 1,-1 4,1-2,-1-3,-2 2,-1 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1124 878,'3'0,"5"0,-3 0,2 0,-1 0,-1 0,-2 0,-3 4,0-1,0 1,-3-3,-1-1,-1 0,2 0,8 3,-2-1,0-1,0-1,0 0,1 1,-2 2,-2 0,0 0,-3 1,0-3,0-1,0 1,0-1,-1 2,1-1,1 2,-1-3,0 1,0-1,0 0,0-1</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1131 879,'1'4,"1"-1,-1 0,-1 1,0 1,0 0,1-2,1 3,-2-3,0 1,0 1,0-1,0 0,0-1,0 1,0-1,0 1,0 0,0-1,0 3,1-1,-1-2,0 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1202 850,'-1'3,"1"1,0-1,0 1,-1 0,1 0,0 1,0-1,0-1,-2 0,2 2,0-2,0 2,-1 1,1-3,0 1,-2 1,1-1,0 0,0 1,1-2,-2 0,1 0,-2 2,0-2,2 0,-2-2,0 0,-2 1,1 1,0-2,1 0,-2 1,2 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25T10:08:2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1201 903,'0'3,"3"1,1-1,1 0,-2 2,0-4,-1 2,1-1,1-2,-1 0,1 2,0-2,-1 0,0 1,2 1,-1 0,-1-1,0 0,0 0,0 0,1-1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67B0C-C5AB-457F-8F1A-FBF93A90A4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0A2A6-A786-4185-BFBE-5D2240968AB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9.xml"/><Relationship Id="rId7" Type="http://schemas.openxmlformats.org/officeDocument/2006/relationships/image" Target="../media/image2.png"/><Relationship Id="rId6" Type="http://schemas.openxmlformats.org/officeDocument/2006/relationships/tags" Target="../tags/tag8.xml"/><Relationship Id="rId5" Type="http://schemas.openxmlformats.org/officeDocument/2006/relationships/image" Target="../media/image1.png"/><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tags" Target="../tags/tag12.xml"/><Relationship Id="rId4" Type="http://schemas.openxmlformats.org/officeDocument/2006/relationships/image" Target="../media/image1.png"/><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矩形 7"/>
          <p:cNvSpPr/>
          <p:nvPr userDrawn="1"/>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0" name="西北工业大学"/>
          <p:cNvPicPr>
            <a:picLocks noChangeAspect="1"/>
          </p:cNvPicPr>
          <p:nvPr userDrawn="1"/>
        </p:nvPicPr>
        <p:blipFill>
          <a:blip r:embed="rId2" cstate="screen"/>
          <a:stretch>
            <a:fillRect/>
          </a:stretch>
        </p:blipFill>
        <p:spPr>
          <a:xfrm>
            <a:off x="9968653" y="417830"/>
            <a:ext cx="1817793" cy="342900"/>
          </a:xfrm>
          <a:prstGeom prst="rect">
            <a:avLst/>
          </a:prstGeom>
        </p:spPr>
      </p:pic>
      <p:pic>
        <p:nvPicPr>
          <p:cNvPr id="11" name="校徽"/>
          <p:cNvPicPr>
            <a:picLocks noChangeAspect="1"/>
          </p:cNvPicPr>
          <p:nvPr userDrawn="1"/>
        </p:nvPicPr>
        <p:blipFill>
          <a:blip r:embed="rId3" cstate="screen"/>
          <a:stretch>
            <a:fillRect/>
          </a:stretch>
        </p:blipFill>
        <p:spPr>
          <a:xfrm>
            <a:off x="9157547" y="342900"/>
            <a:ext cx="575733" cy="431800"/>
          </a:xfrm>
          <a:prstGeom prst="rect">
            <a:avLst/>
          </a:prstGeom>
        </p:spPr>
      </p:pic>
      <p:cxnSp>
        <p:nvCxnSpPr>
          <p:cNvPr id="13" name="直线连接符 12"/>
          <p:cNvCxnSpPr/>
          <p:nvPr userDrawn="1"/>
        </p:nvCxnSpPr>
        <p:spPr>
          <a:xfrm>
            <a:off x="1134464" y="1936216"/>
            <a:ext cx="9730740" cy="5080"/>
          </a:xfrm>
          <a:prstGeom prst="line">
            <a:avLst/>
          </a:prstGeom>
          <a:ln w="19050">
            <a:solidFill>
              <a:srgbClr val="034DA0"/>
            </a:solidFill>
          </a:ln>
        </p:spPr>
        <p:style>
          <a:lnRef idx="1">
            <a:schemeClr val="accent1"/>
          </a:lnRef>
          <a:fillRef idx="0">
            <a:schemeClr val="accent1"/>
          </a:fillRef>
          <a:effectRef idx="0">
            <a:schemeClr val="accent1"/>
          </a:effectRef>
          <a:fontRef idx="minor">
            <a:schemeClr val="tx1"/>
          </a:fontRef>
        </p:style>
      </p:cxnSp>
      <p:sp>
        <p:nvSpPr>
          <p:cNvPr id="14" name="日期占位符 11"/>
          <p:cNvSpPr>
            <a:spLocks noGrp="1"/>
          </p:cNvSpPr>
          <p:nvPr>
            <p:ph type="dt" sz="half" idx="10"/>
            <p:custDataLst>
              <p:tags r:id="rId4"/>
            </p:custDataLst>
          </p:nvPr>
        </p:nvSpPr>
        <p:spPr>
          <a:xfrm>
            <a:off x="838200" y="6432550"/>
            <a:ext cx="2743200" cy="365125"/>
          </a:xfrm>
        </p:spPr>
        <p:txBody>
          <a:bodyPr/>
          <a:lstStyle/>
          <a:p>
            <a:fld id="{8BEB6EB5-CC0D-C94C-91B9-9EA1B45E848E}" type="datetime1">
              <a:rPr kumimoji="1" lang="zh-CN" altLang="en-US" sz="900" smtClean="0"/>
            </a:fld>
            <a:endParaRPr kumimoji="1" lang="zh-CN" altLang="en-US" sz="900"/>
          </a:p>
        </p:txBody>
      </p:sp>
      <p:sp>
        <p:nvSpPr>
          <p:cNvPr id="15" name="页脚占位符 13"/>
          <p:cNvSpPr>
            <a:spLocks noGrp="1"/>
          </p:cNvSpPr>
          <p:nvPr>
            <p:ph type="ftr" sz="quarter" idx="11"/>
            <p:custDataLst>
              <p:tags r:id="rId5"/>
            </p:custDataLst>
          </p:nvPr>
        </p:nvSpPr>
        <p:spPr>
          <a:xfrm>
            <a:off x="4038600" y="6432550"/>
            <a:ext cx="4114800" cy="365125"/>
          </a:xfrm>
        </p:spPr>
        <p:txBody>
          <a:bodyPr/>
          <a:lstStyle/>
          <a:p>
            <a:r>
              <a:rPr kumimoji="1" lang="zh-CN" altLang="en-US" sz="900" dirty="0"/>
              <a:t>西北工业大学软件学院</a:t>
            </a:r>
            <a:endParaRPr kumimoji="1" lang="zh-CN" altLang="en-US" sz="900" dirty="0"/>
          </a:p>
        </p:txBody>
      </p:sp>
      <p:sp>
        <p:nvSpPr>
          <p:cNvPr id="16" name="灯片编号占位符 14"/>
          <p:cNvSpPr>
            <a:spLocks noGrp="1"/>
          </p:cNvSpPr>
          <p:nvPr>
            <p:ph type="sldNum" sz="quarter" idx="12"/>
            <p:custDataLst>
              <p:tags r:id="rId6"/>
            </p:custDataLst>
          </p:nvPr>
        </p:nvSpPr>
        <p:spPr>
          <a:xfrm>
            <a:off x="8610600" y="6432550"/>
            <a:ext cx="2743200" cy="365125"/>
          </a:xfrm>
        </p:spPr>
        <p:txBody>
          <a:bodyPr/>
          <a:lstStyle/>
          <a:p>
            <a:fld id="{5A1A6423-77BD-D842-A714-25250E903C41}" type="slidenum">
              <a:rPr kumimoji="1" lang="zh-CN" altLang="en-US" sz="900" smtClean="0"/>
            </a:fld>
            <a:endParaRPr kumimoji="1" lang="zh-CN" altLang="en-US" sz="900"/>
          </a:p>
        </p:txBody>
      </p:sp>
      <p:cxnSp>
        <p:nvCxnSpPr>
          <p:cNvPr id="17" name="直线连接符 9"/>
          <p:cNvCxnSpPr/>
          <p:nvPr userDrawn="1">
            <p:custDataLst>
              <p:tags r:id="rId7"/>
            </p:custDataLst>
          </p:nvPr>
        </p:nvCxnSpPr>
        <p:spPr>
          <a:xfrm>
            <a:off x="0" y="633397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文本占位符 20"/>
          <p:cNvSpPr>
            <a:spLocks noGrp="1"/>
          </p:cNvSpPr>
          <p:nvPr>
            <p:ph type="body" sz="quarter" idx="13" hasCustomPrompt="1"/>
          </p:nvPr>
        </p:nvSpPr>
        <p:spPr>
          <a:xfrm>
            <a:off x="1134464" y="1326526"/>
            <a:ext cx="6129867" cy="511118"/>
          </a:xfrm>
        </p:spPr>
        <p:txBody>
          <a:bodyPr>
            <a:normAutofit/>
          </a:bodyPr>
          <a:lstStyle>
            <a:lvl1pPr marL="0" indent="0">
              <a:buNone/>
              <a:defRPr kumimoji="1" lang="zh-CN" altLang="en-US" sz="3200" b="1" kern="1200" dirty="0">
                <a:solidFill>
                  <a:srgbClr val="034EA2"/>
                </a:solidFill>
                <a:latin typeface="微软雅黑" panose="020B0503020204020204" charset="-122"/>
                <a:ea typeface="微软雅黑" panose="020B0503020204020204" charset="-122"/>
                <a:cs typeface="微软雅黑" panose="020B0503020204020204" charset="-122"/>
              </a:defRPr>
            </a:lvl1pPr>
          </a:lstStyle>
          <a:p>
            <a:pPr lvl="0"/>
            <a:r>
              <a:rPr lang="zh-CN" altLang="en-US" dirty="0"/>
              <a:t>第</a:t>
            </a:r>
            <a:r>
              <a:rPr lang="en-US" altLang="zh-CN" dirty="0"/>
              <a:t> </a:t>
            </a:r>
            <a:r>
              <a:rPr lang="zh-CN" altLang="en-US" dirty="0"/>
              <a:t>单元 </a:t>
            </a:r>
            <a:endParaRPr lang="zh-CN" altLang="en-US" dirty="0"/>
          </a:p>
        </p:txBody>
      </p:sp>
      <p:sp>
        <p:nvSpPr>
          <p:cNvPr id="23" name="文本占位符 22"/>
          <p:cNvSpPr>
            <a:spLocks noGrp="1"/>
          </p:cNvSpPr>
          <p:nvPr>
            <p:ph type="body" sz="quarter" idx="14" hasCustomPrompt="1"/>
          </p:nvPr>
        </p:nvSpPr>
        <p:spPr>
          <a:xfrm>
            <a:off x="1134464" y="2106539"/>
            <a:ext cx="8255000" cy="2838450"/>
          </a:xfrm>
        </p:spPr>
        <p:txBody>
          <a:bodyPr>
            <a:normAutofit/>
          </a:bodyPr>
          <a:lstStyle>
            <a:lvl1pPr marL="0" indent="0" algn="l" defTabSz="914400" rtl="0" eaLnBrk="1" latinLnBrk="0" hangingPunct="1">
              <a:lnSpc>
                <a:spcPct val="150000"/>
              </a:lnSpc>
              <a:spcBef>
                <a:spcPts val="1000"/>
              </a:spcBef>
              <a:buFont typeface="Arial" panose="020B0604020202020204" pitchFamily="34" charset="0"/>
              <a:buNone/>
              <a:defRPr kumimoji="1" lang="zh-CN" altLang="en-US" sz="2800" kern="1200" dirty="0">
                <a:solidFill>
                  <a:srgbClr val="034EA2"/>
                </a:solidFill>
                <a:latin typeface="+mn-ea"/>
                <a:ea typeface="+mn-ea"/>
                <a:cs typeface="+mn-ea"/>
              </a:defRPr>
            </a:lvl1pPr>
          </a:lstStyle>
          <a:p>
            <a:pPr lvl="0"/>
            <a:r>
              <a:rPr lang="en-US" altLang="zh-CN" dirty="0"/>
              <a:t>1.1 </a:t>
            </a:r>
            <a:endParaRPr lang="en-US" altLang="zh-CN" dirty="0"/>
          </a:p>
          <a:p>
            <a:pPr lvl="0"/>
            <a:r>
              <a:rPr lang="en-US" altLang="zh-CN" dirty="0"/>
              <a:t>1.2 </a:t>
            </a:r>
            <a:endParaRPr lang="en-US" altLang="zh-CN" dirty="0"/>
          </a:p>
          <a:p>
            <a:pPr lvl="0"/>
            <a:r>
              <a:rPr lang="en-US" altLang="zh-CN" dirty="0"/>
              <a:t>1.3</a:t>
            </a:r>
            <a:endParaRPr lang="zh-CN" altLang="en-US" dirty="0"/>
          </a:p>
        </p:txBody>
      </p:sp>
      <p:sp>
        <p:nvSpPr>
          <p:cNvPr id="27" name="文本占位符 26"/>
          <p:cNvSpPr>
            <a:spLocks noGrp="1"/>
          </p:cNvSpPr>
          <p:nvPr>
            <p:ph type="body" sz="quarter" idx="15" hasCustomPrompt="1"/>
          </p:nvPr>
        </p:nvSpPr>
        <p:spPr>
          <a:xfrm>
            <a:off x="228531" y="263977"/>
            <a:ext cx="2653249" cy="589645"/>
          </a:xfrm>
        </p:spPr>
        <p:txBody>
          <a:bodyPr/>
          <a:lstStyle>
            <a:lvl1pPr marL="0" indent="0">
              <a:buNone/>
              <a:defRPr kumimoji="1" lang="zh-CN" altLang="en-US" sz="3600" b="1" kern="1200" dirty="0" smtClean="0">
                <a:solidFill>
                  <a:schemeClr val="bg1"/>
                </a:solidFill>
                <a:latin typeface="+mn-ea"/>
                <a:ea typeface="+mn-ea"/>
                <a:cs typeface="+mj-cs"/>
              </a:defRPr>
            </a:lvl1pPr>
          </a:lstStyle>
          <a:p>
            <a:pPr lvl="0"/>
            <a:r>
              <a:rPr lang="zh-CN" altLang="en-US" dirty="0"/>
              <a:t>目录</a:t>
            </a:r>
            <a:endParaRPr lang="zh-CN" alt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培养目标">
    <p:spTree>
      <p:nvGrpSpPr>
        <p:cNvPr id="1" name=""/>
        <p:cNvGrpSpPr/>
        <p:nvPr/>
      </p:nvGrpSpPr>
      <p:grpSpPr>
        <a:xfrm>
          <a:off x="0" y="0"/>
          <a:ext cx="0" cy="0"/>
          <a:chOff x="0" y="0"/>
          <a:chExt cx="0" cy="0"/>
        </a:xfrm>
      </p:grpSpPr>
      <p:sp>
        <p:nvSpPr>
          <p:cNvPr id="7" name="内容占位符 2"/>
          <p:cNvSpPr>
            <a:spLocks noGrp="1"/>
          </p:cNvSpPr>
          <p:nvPr userDrawn="1">
            <p:custDataLst>
              <p:tags r:id="rId2"/>
            </p:custDataLst>
          </p:nvPr>
        </p:nvSpPr>
        <p:spPr>
          <a:xfrm>
            <a:off x="630767" y="1339215"/>
            <a:ext cx="10670540"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本节培养目标</a:t>
            </a:r>
            <a:endParaRPr kumimoji="1" lang="zh-CN" altLang="en-US" sz="2800" b="1" dirty="0"/>
          </a:p>
        </p:txBody>
      </p:sp>
      <p:sp>
        <p:nvSpPr>
          <p:cNvPr id="8" name="矩形 7"/>
          <p:cNvSpPr/>
          <p:nvPr userDrawn="1">
            <p:custDataLst>
              <p:tags r:id="rId3"/>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9" name="日期占位符 3"/>
          <p:cNvSpPr>
            <a:spLocks noGrp="1"/>
          </p:cNvSpPr>
          <p:nvPr>
            <p:ph type="dt" sz="half" idx="10"/>
          </p:nvPr>
        </p:nvSpPr>
        <p:spPr>
          <a:xfrm>
            <a:off x="838200" y="6432550"/>
            <a:ext cx="2743200" cy="365125"/>
          </a:xfrm>
        </p:spPr>
        <p:txBody>
          <a:bodyPr/>
          <a:lstStyle/>
          <a:p>
            <a:fld id="{8BEB6EB5-CC0D-C94C-91B9-9EA1B45E848E}" type="datetime1">
              <a:rPr kumimoji="1" lang="zh-CN" altLang="en-US" sz="900" smtClean="0"/>
            </a:fld>
            <a:endParaRPr kumimoji="1" lang="zh-CN" altLang="en-US" sz="900"/>
          </a:p>
        </p:txBody>
      </p:sp>
      <p:sp>
        <p:nvSpPr>
          <p:cNvPr id="10" name="页脚占位符 4"/>
          <p:cNvSpPr>
            <a:spLocks noGrp="1"/>
          </p:cNvSpPr>
          <p:nvPr>
            <p:ph type="ftr" sz="quarter" idx="11"/>
          </p:nvPr>
        </p:nvSpPr>
        <p:spPr>
          <a:xfrm>
            <a:off x="4038600" y="6432550"/>
            <a:ext cx="4114800" cy="365125"/>
          </a:xfrm>
        </p:spPr>
        <p:txBody>
          <a:bodyPr/>
          <a:lstStyle/>
          <a:p>
            <a:r>
              <a:rPr kumimoji="1" lang="zh-CN" altLang="en-US" sz="900" dirty="0"/>
              <a:t>西北工业大学软件学院</a:t>
            </a:r>
            <a:endParaRPr kumimoji="1" lang="zh-CN" altLang="en-US" sz="900" dirty="0"/>
          </a:p>
        </p:txBody>
      </p:sp>
      <p:sp>
        <p:nvSpPr>
          <p:cNvPr id="11" name="灯片编号占位符 5"/>
          <p:cNvSpPr>
            <a:spLocks noGrp="1"/>
          </p:cNvSpPr>
          <p:nvPr>
            <p:ph type="sldNum" sz="quarter" idx="12"/>
          </p:nvPr>
        </p:nvSpPr>
        <p:spPr>
          <a:xfrm>
            <a:off x="8610600" y="6432550"/>
            <a:ext cx="2743200" cy="365125"/>
          </a:xfrm>
        </p:spPr>
        <p:txBody>
          <a:bodyPr/>
          <a:lstStyle/>
          <a:p>
            <a:fld id="{5A1A6423-77BD-D842-A714-25250E903C41}" type="slidenum">
              <a:rPr kumimoji="1" lang="zh-CN" altLang="en-US" sz="900" smtClean="0"/>
            </a:fld>
            <a:endParaRPr kumimoji="1" lang="zh-CN" altLang="en-US" sz="900"/>
          </a:p>
        </p:txBody>
      </p:sp>
      <p:pic>
        <p:nvPicPr>
          <p:cNvPr id="13" name="西北工业大学"/>
          <p:cNvPicPr>
            <a:picLocks noChangeAspect="1"/>
          </p:cNvPicPr>
          <p:nvPr userDrawn="1">
            <p:custDataLst>
              <p:tags r:id="rId4"/>
            </p:custDataLst>
          </p:nvPr>
        </p:nvPicPr>
        <p:blipFill>
          <a:blip r:embed="rId5" cstate="screen"/>
          <a:stretch>
            <a:fillRect/>
          </a:stretch>
        </p:blipFill>
        <p:spPr>
          <a:xfrm>
            <a:off x="9968653" y="417830"/>
            <a:ext cx="1817793" cy="342900"/>
          </a:xfrm>
          <a:prstGeom prst="rect">
            <a:avLst/>
          </a:prstGeom>
        </p:spPr>
      </p:pic>
      <p:pic>
        <p:nvPicPr>
          <p:cNvPr id="14" name="校徽"/>
          <p:cNvPicPr>
            <a:picLocks noChangeAspect="1"/>
          </p:cNvPicPr>
          <p:nvPr userDrawn="1">
            <p:custDataLst>
              <p:tags r:id="rId6"/>
            </p:custDataLst>
          </p:nvPr>
        </p:nvPicPr>
        <p:blipFill>
          <a:blip r:embed="rId7" cstate="screen"/>
          <a:stretch>
            <a:fillRect/>
          </a:stretch>
        </p:blipFill>
        <p:spPr>
          <a:xfrm>
            <a:off x="9157547" y="342900"/>
            <a:ext cx="575733" cy="431800"/>
          </a:xfrm>
          <a:prstGeom prst="rect">
            <a:avLst/>
          </a:prstGeom>
        </p:spPr>
      </p:pic>
      <p:sp>
        <p:nvSpPr>
          <p:cNvPr id="15" name="矩形 14"/>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卷形: 水平 1"/>
          <p:cNvSpPr/>
          <p:nvPr userDrawn="1">
            <p:custDataLst>
              <p:tags r:id="rId8"/>
            </p:custDataLst>
          </p:nvPr>
        </p:nvSpPr>
        <p:spPr>
          <a:xfrm>
            <a:off x="838200" y="1729105"/>
            <a:ext cx="10325100" cy="3736340"/>
          </a:xfrm>
          <a:prstGeom prst="horizontalScroll">
            <a:avLst>
              <a:gd name="adj" fmla="val 12500"/>
            </a:avLst>
          </a:prstGeom>
          <a:noFill/>
          <a:ln w="25400" cap="flat" cmpd="sng">
            <a:solidFill>
              <a:schemeClr val="hlink"/>
            </a:solidFill>
            <a:prstDash val="sysDot"/>
            <a:round/>
            <a:headEnd type="none" w="med" len="med"/>
            <a:tailEnd type="none" w="med" len="med"/>
          </a:ln>
        </p:spPr>
        <p:txBody>
          <a:bodyPr anchor="t" anchorCtr="0"/>
          <a:lstStyle/>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19" name="文本占位符 18"/>
          <p:cNvSpPr>
            <a:spLocks noGrp="1"/>
          </p:cNvSpPr>
          <p:nvPr>
            <p:ph type="body" sz="quarter" idx="13" hasCustomPrompt="1"/>
          </p:nvPr>
        </p:nvSpPr>
        <p:spPr>
          <a:xfrm>
            <a:off x="1911351" y="2498725"/>
            <a:ext cx="9076267" cy="2197100"/>
          </a:xfrm>
        </p:spPr>
        <p:txBody>
          <a:bodyPr/>
          <a:lstStyle>
            <a:lvl1pPr marL="457200" indent="-457200">
              <a:buFont typeface="+mj-lt"/>
              <a:buAutoNum type="arabicPeriod"/>
              <a:defRPr lang="zh-CN" altLang="en-US" sz="2400" b="1" kern="100" dirty="0" smtClean="0">
                <a:ln>
                  <a:noFill/>
                </a:ln>
                <a:solidFill>
                  <a:schemeClr val="tx1"/>
                </a:solidFill>
                <a:effectLst/>
                <a:uLnTx/>
                <a:uFillTx/>
                <a:latin typeface="等线" panose="02010600030101010101" charset="-122"/>
                <a:ea typeface="等线" panose="02010600030101010101" charset="-122"/>
                <a:cs typeface="等线" panose="02010600030101010101" charset="-122"/>
              </a:defRPr>
            </a:lvl1pPr>
          </a:lstStyle>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第一级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第二级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第三级</a:t>
            </a:r>
            <a:endParaRPr lang="zh-CN" altLang="en-US" dirty="0"/>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 </a:t>
            </a:r>
            <a:r>
              <a:rPr lang="zh-CN" altLang="en-US" dirty="0"/>
              <a:t>章节名</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8" name="日期占位符 3"/>
          <p:cNvSpPr>
            <a:spLocks noGrp="1"/>
          </p:cNvSpPr>
          <p:nvPr>
            <p:ph type="dt" sz="half" idx="10"/>
          </p:nvPr>
        </p:nvSpPr>
        <p:spPr>
          <a:xfrm>
            <a:off x="838200" y="6356351"/>
            <a:ext cx="2743200" cy="365125"/>
          </a:xfrm>
        </p:spPr>
        <p:txBody>
          <a:bodyPr/>
          <a:lstStyle/>
          <a:p>
            <a:fld id="{8BEB6EB5-CC0D-C94C-91B9-9EA1B45E848E}" type="datetime1">
              <a:rPr kumimoji="1" lang="zh-CN" altLang="en-US" sz="900" smtClean="0"/>
            </a:fld>
            <a:endParaRPr kumimoji="1" lang="zh-CN" altLang="en-US" sz="900"/>
          </a:p>
        </p:txBody>
      </p:sp>
      <p:sp>
        <p:nvSpPr>
          <p:cNvPr id="9" name="页脚占位符 4"/>
          <p:cNvSpPr>
            <a:spLocks noGrp="1"/>
          </p:cNvSpPr>
          <p:nvPr>
            <p:ph type="ftr" sz="quarter" idx="11"/>
          </p:nvPr>
        </p:nvSpPr>
        <p:spPr>
          <a:xfrm>
            <a:off x="4038600" y="6356351"/>
            <a:ext cx="4114800" cy="365125"/>
          </a:xfrm>
        </p:spPr>
        <p:txBody>
          <a:bodyPr/>
          <a:lstStyle/>
          <a:p>
            <a:r>
              <a:rPr kumimoji="1" lang="zh-CN" altLang="en-US" sz="900" dirty="0"/>
              <a:t>西北工业大学软件学院</a:t>
            </a:r>
            <a:endParaRPr kumimoji="1" lang="zh-CN" altLang="en-US" sz="900" dirty="0"/>
          </a:p>
        </p:txBody>
      </p:sp>
      <p:sp>
        <p:nvSpPr>
          <p:cNvPr id="10" name="灯片编号占位符 5"/>
          <p:cNvSpPr>
            <a:spLocks noGrp="1"/>
          </p:cNvSpPr>
          <p:nvPr>
            <p:ph type="sldNum" sz="quarter" idx="12"/>
          </p:nvPr>
        </p:nvSpPr>
        <p:spPr>
          <a:xfrm>
            <a:off x="8610600" y="6356351"/>
            <a:ext cx="27432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userDrawn="1">
            <p:custDataLst>
              <p:tags r:id="rId3"/>
            </p:custDataLst>
          </p:nvPr>
        </p:nvPicPr>
        <p:blipFill>
          <a:blip r:embed="rId4" cstate="screen"/>
          <a:stretch>
            <a:fillRect/>
          </a:stretch>
        </p:blipFill>
        <p:spPr>
          <a:xfrm>
            <a:off x="9968653" y="417830"/>
            <a:ext cx="1817793" cy="342900"/>
          </a:xfrm>
          <a:prstGeom prst="rect">
            <a:avLst/>
          </a:prstGeom>
        </p:spPr>
      </p:pic>
      <p:pic>
        <p:nvPicPr>
          <p:cNvPr id="12" name="校徽"/>
          <p:cNvPicPr>
            <a:picLocks noChangeAspect="1"/>
          </p:cNvPicPr>
          <p:nvPr userDrawn="1">
            <p:custDataLst>
              <p:tags r:id="rId5"/>
            </p:custDataLst>
          </p:nvPr>
        </p:nvPicPr>
        <p:blipFill>
          <a:blip r:embed="rId6" cstate="screen"/>
          <a:stretch>
            <a:fillRect/>
          </a:stretch>
        </p:blipFill>
        <p:spPr>
          <a:xfrm>
            <a:off x="9157547" y="342900"/>
            <a:ext cx="575733" cy="431800"/>
          </a:xfrm>
          <a:prstGeom prst="rect">
            <a:avLst/>
          </a:prstGeom>
        </p:spPr>
      </p:pic>
      <p:sp>
        <p:nvSpPr>
          <p:cNvPr id="13" name="矩形 12"/>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1.1.1 </a:t>
            </a:r>
            <a:r>
              <a:rPr lang="zh-CN" altLang="en-US" dirty="0"/>
              <a:t>小节名</a:t>
            </a:r>
            <a:endParaRPr lang="zh-CN" altLang="en-US" dirty="0"/>
          </a:p>
        </p:txBody>
      </p:sp>
      <p:sp>
        <p:nvSpPr>
          <p:cNvPr id="23" name="文本占位符 22"/>
          <p:cNvSpPr>
            <a:spLocks noGrp="1"/>
          </p:cNvSpPr>
          <p:nvPr>
            <p:ph type="body" sz="quarter" idx="15" hasCustomPrompt="1"/>
          </p:nvPr>
        </p:nvSpPr>
        <p:spPr>
          <a:xfrm>
            <a:off x="524087" y="1248410"/>
            <a:ext cx="4229947" cy="515619"/>
          </a:xfrm>
        </p:spPr>
        <p:txBody>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stStyle>
          <a:p>
            <a:pPr marL="0" indent="0" fontAlgn="auto">
              <a:lnSpc>
                <a:spcPct val="100000"/>
              </a:lnSpc>
              <a:spcBef>
                <a:spcPts val="0"/>
              </a:spcBef>
              <a:buNone/>
            </a:pPr>
            <a:r>
              <a:rPr lang="en-US" altLang="zh-CN" sz="2800" dirty="0">
                <a:latin typeface="Times New Roman" panose="02020603050405020304" pitchFamily="18" charset="0"/>
                <a:ea typeface="等线" panose="02010600030101010101" charset="-122"/>
                <a:cs typeface="Times New Roman" panose="02020603050405020304" pitchFamily="18" charset="0"/>
                <a:sym typeface="+mn-ea"/>
              </a:rPr>
              <a:t>1</a:t>
            </a:r>
            <a:r>
              <a:rPr lang="zh-CN" altLang="en-US" sz="2800" dirty="0">
                <a:latin typeface="Times New Roman" panose="02020603050405020304" pitchFamily="18" charset="0"/>
                <a:ea typeface="等线" panose="02010600030101010101" charset="-122"/>
                <a:cs typeface="Times New Roman" panose="02020603050405020304" pitchFamily="18" charset="0"/>
                <a:sym typeface="+mn-ea"/>
              </a:rPr>
              <a:t>级标题</a:t>
            </a:r>
            <a:endParaRPr lang="zh-CN" altLang="en-US" sz="2800" dirty="0">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25" name="文本占位符 24"/>
          <p:cNvSpPr>
            <a:spLocks noGrp="1"/>
          </p:cNvSpPr>
          <p:nvPr>
            <p:ph type="body" sz="quarter" idx="16" hasCustomPrompt="1"/>
          </p:nvPr>
        </p:nvSpPr>
        <p:spPr>
          <a:xfrm>
            <a:off x="529167" y="1910398"/>
            <a:ext cx="11163300" cy="4293551"/>
          </a:xfrm>
        </p:spPr>
        <p:txBody>
          <a:bodyPr>
            <a:normAutofit/>
          </a:bodyPr>
          <a:lstStyle>
            <a:lvl1pPr marL="2286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rtl="0" eaLnBrk="1" latinLnBrk="0" hangingPunct="1">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9"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4801DB-D675-416A-BFF5-F346E24F3BDD}" type="datetimeFigureOut">
              <a:rPr lang="zh-CN" altLang="en-US" smtClean="0"/>
            </a:fld>
            <a:endParaRPr lang="zh-CN" alt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7206B7-967B-48F3-989E-8CF2542470F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ONNX&#31070;&#32463;&#32593;&#32476;&#27169;&#22411;&#35821;&#27861;&#23450;&#20041;&#21450;&#25991;&#27861;&#26696;&#20363;.doc" TargetMode="External"/></Relationships>
</file>

<file path=ppt/slides/_rels/slide5.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9" Type="http://schemas.openxmlformats.org/officeDocument/2006/relationships/slideLayout" Target="../slideLayouts/slideLayout3.xml"/><Relationship Id="rId18" Type="http://schemas.openxmlformats.org/officeDocument/2006/relationships/tags" Target="../tags/tag31.xml"/><Relationship Id="rId17" Type="http://schemas.openxmlformats.org/officeDocument/2006/relationships/tags" Target="../tags/tag30.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hyperlink" Target="ONNX&#31070;&#32463;&#32593;&#32476;&#27169;&#22411;&#35821;&#27861;&#23450;&#20041;&#21450;&#25991;&#27861;&#26696;&#20363;.doc" TargetMode="External"/><Relationship Id="rId1" Type="http://schemas.openxmlformats.org/officeDocument/2006/relationships/slide" Target="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1" Type="http://schemas.openxmlformats.org/officeDocument/2006/relationships/slideLayout" Target="../slideLayouts/slideLayout3.xml"/><Relationship Id="rId30" Type="http://schemas.openxmlformats.org/officeDocument/2006/relationships/tags" Target="../tags/tag62.xml"/><Relationship Id="rId3" Type="http://schemas.openxmlformats.org/officeDocument/2006/relationships/tags" Target="../tags/tag35.xml"/><Relationship Id="rId29" Type="http://schemas.openxmlformats.org/officeDocument/2006/relationships/tags" Target="../tags/tag61.xml"/><Relationship Id="rId28" Type="http://schemas.openxmlformats.org/officeDocument/2006/relationships/tags" Target="../tags/tag60.xml"/><Relationship Id="rId27" Type="http://schemas.openxmlformats.org/officeDocument/2006/relationships/tags" Target="../tags/tag59.xml"/><Relationship Id="rId26" Type="http://schemas.openxmlformats.org/officeDocument/2006/relationships/tags" Target="../tags/tag58.xml"/><Relationship Id="rId25" Type="http://schemas.openxmlformats.org/officeDocument/2006/relationships/tags" Target="../tags/tag57.xml"/><Relationship Id="rId24" Type="http://schemas.openxmlformats.org/officeDocument/2006/relationships/tags" Target="../tags/tag56.xml"/><Relationship Id="rId23" Type="http://schemas.openxmlformats.org/officeDocument/2006/relationships/tags" Target="../tags/tag55.xml"/><Relationship Id="rId22" Type="http://schemas.openxmlformats.org/officeDocument/2006/relationships/tags" Target="../tags/tag54.xml"/><Relationship Id="rId21" Type="http://schemas.openxmlformats.org/officeDocument/2006/relationships/tags" Target="../tags/tag53.xml"/><Relationship Id="rId20" Type="http://schemas.openxmlformats.org/officeDocument/2006/relationships/tags" Target="../tags/tag52.xml"/><Relationship Id="rId2" Type="http://schemas.openxmlformats.org/officeDocument/2006/relationships/tags" Target="../tags/tag34.xml"/><Relationship Id="rId19" Type="http://schemas.openxmlformats.org/officeDocument/2006/relationships/tags" Target="../tags/tag51.xml"/><Relationship Id="rId18" Type="http://schemas.openxmlformats.org/officeDocument/2006/relationships/tags" Target="../tags/tag50.xml"/><Relationship Id="rId17" Type="http://schemas.openxmlformats.org/officeDocument/2006/relationships/tags" Target="../tags/tag49.xml"/><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6.emf"/><Relationship Id="rId1"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3.xml"/><Relationship Id="rId3" Type="http://schemas.openxmlformats.org/officeDocument/2006/relationships/tags" Target="../tags/tag63.xml"/><Relationship Id="rId2" Type="http://schemas.openxmlformats.org/officeDocument/2006/relationships/image" Target="../media/image7.emf"/><Relationship Id="rId1"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tags" Target="../tags/tag67.xml"/><Relationship Id="rId7" Type="http://schemas.openxmlformats.org/officeDocument/2006/relationships/image" Target="../media/image9.emf"/><Relationship Id="rId6" Type="http://schemas.openxmlformats.org/officeDocument/2006/relationships/oleObject" Target="../embeddings/oleObject4.bin"/><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image" Target="../media/image8.emf"/><Relationship Id="rId12" Type="http://schemas.openxmlformats.org/officeDocument/2006/relationships/vmlDrawing" Target="../drawings/vmlDrawing3.vml"/><Relationship Id="rId11" Type="http://schemas.openxmlformats.org/officeDocument/2006/relationships/slideLayout" Target="../slideLayouts/slideLayout3.xml"/><Relationship Id="rId10" Type="http://schemas.openxmlformats.org/officeDocument/2006/relationships/image" Target="../media/image10.emf"/><Relationship Id="rId1"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3.xml"/><Relationship Id="rId7" Type="http://schemas.openxmlformats.org/officeDocument/2006/relationships/image" Target="../media/image13.emf"/><Relationship Id="rId6" Type="http://schemas.openxmlformats.org/officeDocument/2006/relationships/oleObject" Target="../embeddings/oleObject8.bin"/><Relationship Id="rId5" Type="http://schemas.openxmlformats.org/officeDocument/2006/relationships/tags" Target="../tags/tag68.xml"/><Relationship Id="rId4" Type="http://schemas.openxmlformats.org/officeDocument/2006/relationships/image" Target="../media/image12.emf"/><Relationship Id="rId3" Type="http://schemas.openxmlformats.org/officeDocument/2006/relationships/oleObject" Target="../embeddings/oleObject7.bin"/><Relationship Id="rId2" Type="http://schemas.openxmlformats.org/officeDocument/2006/relationships/image" Target="../media/image11.emf"/><Relationship Id="rId1" Type="http://schemas.openxmlformats.org/officeDocument/2006/relationships/oleObject" Target="../embeddings/oleObject6.bin"/></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9.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emf"/><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emf"/><Relationship Id="rId1" Type="http://schemas.openxmlformats.org/officeDocument/2006/relationships/image" Target="../media/image17.png"/></Relationships>
</file>

<file path=ppt/slides/_rels/slide3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8" Type="http://schemas.openxmlformats.org/officeDocument/2006/relationships/slideLayout" Target="../slideLayouts/slideLayout3.xml"/><Relationship Id="rId37" Type="http://schemas.openxmlformats.org/officeDocument/2006/relationships/tags" Target="../tags/tag106.xml"/><Relationship Id="rId36" Type="http://schemas.openxmlformats.org/officeDocument/2006/relationships/tags" Target="../tags/tag105.xml"/><Relationship Id="rId35" Type="http://schemas.openxmlformats.org/officeDocument/2006/relationships/tags" Target="../tags/tag104.xml"/><Relationship Id="rId34" Type="http://schemas.openxmlformats.org/officeDocument/2006/relationships/tags" Target="../tags/tag103.xml"/><Relationship Id="rId33" Type="http://schemas.openxmlformats.org/officeDocument/2006/relationships/tags" Target="../tags/tag102.xml"/><Relationship Id="rId32" Type="http://schemas.openxmlformats.org/officeDocument/2006/relationships/tags" Target="../tags/tag101.xml"/><Relationship Id="rId31" Type="http://schemas.openxmlformats.org/officeDocument/2006/relationships/tags" Target="../tags/tag100.xml"/><Relationship Id="rId30" Type="http://schemas.openxmlformats.org/officeDocument/2006/relationships/tags" Target="../tags/tag99.xml"/><Relationship Id="rId3" Type="http://schemas.openxmlformats.org/officeDocument/2006/relationships/tags" Target="../tags/tag72.xml"/><Relationship Id="rId29" Type="http://schemas.openxmlformats.org/officeDocument/2006/relationships/tags" Target="../tags/tag98.xml"/><Relationship Id="rId28" Type="http://schemas.openxmlformats.org/officeDocument/2006/relationships/tags" Target="../tags/tag97.xml"/><Relationship Id="rId27" Type="http://schemas.openxmlformats.org/officeDocument/2006/relationships/tags" Target="../tags/tag96.xml"/><Relationship Id="rId26" Type="http://schemas.openxmlformats.org/officeDocument/2006/relationships/tags" Target="../tags/tag95.xml"/><Relationship Id="rId25" Type="http://schemas.openxmlformats.org/officeDocument/2006/relationships/tags" Target="../tags/tag94.xml"/><Relationship Id="rId24" Type="http://schemas.openxmlformats.org/officeDocument/2006/relationships/tags" Target="../tags/tag93.xml"/><Relationship Id="rId23" Type="http://schemas.openxmlformats.org/officeDocument/2006/relationships/tags" Target="../tags/tag92.xml"/><Relationship Id="rId22" Type="http://schemas.openxmlformats.org/officeDocument/2006/relationships/tags" Target="../tags/tag91.xml"/><Relationship Id="rId21" Type="http://schemas.openxmlformats.org/officeDocument/2006/relationships/tags" Target="../tags/tag90.xml"/><Relationship Id="rId20" Type="http://schemas.openxmlformats.org/officeDocument/2006/relationships/tags" Target="../tags/tag89.xml"/><Relationship Id="rId2" Type="http://schemas.openxmlformats.org/officeDocument/2006/relationships/tags" Target="../tags/tag71.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32.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0" Type="http://schemas.openxmlformats.org/officeDocument/2006/relationships/slideLayout" Target="../slideLayouts/slideLayout3.xml"/><Relationship Id="rId2" Type="http://schemas.openxmlformats.org/officeDocument/2006/relationships/tags" Target="../tags/tag108.xml"/><Relationship Id="rId19" Type="http://schemas.openxmlformats.org/officeDocument/2006/relationships/tags" Target="../tags/tag125.xml"/><Relationship Id="rId18" Type="http://schemas.openxmlformats.org/officeDocument/2006/relationships/tags" Target="../tags/tag124.xml"/><Relationship Id="rId17" Type="http://schemas.openxmlformats.org/officeDocument/2006/relationships/tags" Target="../tags/tag123.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tags" Target="../tags/tag118.xml"/><Relationship Id="rId11" Type="http://schemas.openxmlformats.org/officeDocument/2006/relationships/tags" Target="../tags/tag117.xml"/><Relationship Id="rId10" Type="http://schemas.openxmlformats.org/officeDocument/2006/relationships/tags" Target="../tags/tag116.xml"/><Relationship Id="rId1" Type="http://schemas.openxmlformats.org/officeDocument/2006/relationships/tags" Target="../tags/tag10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7" Type="http://schemas.openxmlformats.org/officeDocument/2006/relationships/slideLayout" Target="../slideLayouts/slideLayout3.xml"/><Relationship Id="rId16" Type="http://schemas.openxmlformats.org/officeDocument/2006/relationships/tags" Target="../tags/tag141.xml"/><Relationship Id="rId15" Type="http://schemas.openxmlformats.org/officeDocument/2006/relationships/tags" Target="../tags/tag140.xml"/><Relationship Id="rId14" Type="http://schemas.openxmlformats.org/officeDocument/2006/relationships/tags" Target="../tags/tag139.xml"/><Relationship Id="rId13" Type="http://schemas.openxmlformats.org/officeDocument/2006/relationships/tags" Target="../tags/tag138.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tags" Target="../tags/tag126.xml"/></Relationships>
</file>

<file path=ppt/slides/_rels/slide35.xml.rels><?xml version="1.0" encoding="UTF-8" standalone="yes"?>
<Relationships xmlns="http://schemas.openxmlformats.org/package/2006/relationships"><Relationship Id="rId9" Type="http://schemas.openxmlformats.org/officeDocument/2006/relationships/customXml" Target="../ink/ink4.xml"/><Relationship Id="rId8" Type="http://schemas.openxmlformats.org/officeDocument/2006/relationships/customXml" Target="../ink/ink3.xml"/><Relationship Id="rId7" Type="http://schemas.openxmlformats.org/officeDocument/2006/relationships/tags" Target="../tags/tag144.xml"/><Relationship Id="rId6" Type="http://schemas.openxmlformats.org/officeDocument/2006/relationships/image" Target="../media/image19.png"/><Relationship Id="rId5" Type="http://schemas.openxmlformats.org/officeDocument/2006/relationships/tags" Target="../tags/tag143.xml"/><Relationship Id="rId44" Type="http://schemas.openxmlformats.org/officeDocument/2006/relationships/slideLayout" Target="../slideLayouts/slideLayout3.xml"/><Relationship Id="rId43" Type="http://schemas.openxmlformats.org/officeDocument/2006/relationships/image" Target="../media/image36.png"/><Relationship Id="rId42" Type="http://schemas.openxmlformats.org/officeDocument/2006/relationships/customXml" Target="../ink/ink21.xml"/><Relationship Id="rId41" Type="http://schemas.openxmlformats.org/officeDocument/2006/relationships/image" Target="../media/image35.png"/><Relationship Id="rId40" Type="http://schemas.openxmlformats.org/officeDocument/2006/relationships/customXml" Target="../ink/ink20.xml"/><Relationship Id="rId4" Type="http://schemas.openxmlformats.org/officeDocument/2006/relationships/customXml" Target="../ink/ink2.xml"/><Relationship Id="rId39" Type="http://schemas.openxmlformats.org/officeDocument/2006/relationships/image" Target="../media/image34.png"/><Relationship Id="rId38" Type="http://schemas.openxmlformats.org/officeDocument/2006/relationships/customXml" Target="../ink/ink19.xml"/><Relationship Id="rId37" Type="http://schemas.openxmlformats.org/officeDocument/2006/relationships/image" Target="../media/image33.png"/><Relationship Id="rId36" Type="http://schemas.openxmlformats.org/officeDocument/2006/relationships/customXml" Target="../ink/ink18.xml"/><Relationship Id="rId35" Type="http://schemas.openxmlformats.org/officeDocument/2006/relationships/image" Target="../media/image32.png"/><Relationship Id="rId34" Type="http://schemas.openxmlformats.org/officeDocument/2006/relationships/customXml" Target="../ink/ink17.xml"/><Relationship Id="rId33" Type="http://schemas.openxmlformats.org/officeDocument/2006/relationships/image" Target="../media/image31.png"/><Relationship Id="rId32" Type="http://schemas.openxmlformats.org/officeDocument/2006/relationships/customXml" Target="../ink/ink16.xml"/><Relationship Id="rId31" Type="http://schemas.openxmlformats.org/officeDocument/2006/relationships/image" Target="../media/image30.png"/><Relationship Id="rId30" Type="http://schemas.openxmlformats.org/officeDocument/2006/relationships/customXml" Target="../ink/ink15.xml"/><Relationship Id="rId3" Type="http://schemas.openxmlformats.org/officeDocument/2006/relationships/image" Target="../media/image18.png"/><Relationship Id="rId29" Type="http://schemas.openxmlformats.org/officeDocument/2006/relationships/image" Target="../media/image29.png"/><Relationship Id="rId28" Type="http://schemas.openxmlformats.org/officeDocument/2006/relationships/customXml" Target="../ink/ink14.xml"/><Relationship Id="rId27" Type="http://schemas.openxmlformats.org/officeDocument/2006/relationships/image" Target="../media/image28.png"/><Relationship Id="rId26" Type="http://schemas.openxmlformats.org/officeDocument/2006/relationships/customXml" Target="../ink/ink13.xml"/><Relationship Id="rId25" Type="http://schemas.openxmlformats.org/officeDocument/2006/relationships/image" Target="../media/image27.png"/><Relationship Id="rId24" Type="http://schemas.openxmlformats.org/officeDocument/2006/relationships/customXml" Target="../ink/ink12.xml"/><Relationship Id="rId23" Type="http://schemas.openxmlformats.org/officeDocument/2006/relationships/image" Target="../media/image26.png"/><Relationship Id="rId22" Type="http://schemas.openxmlformats.org/officeDocument/2006/relationships/customXml" Target="../ink/ink11.xml"/><Relationship Id="rId21" Type="http://schemas.openxmlformats.org/officeDocument/2006/relationships/image" Target="../media/image25.png"/><Relationship Id="rId20" Type="http://schemas.openxmlformats.org/officeDocument/2006/relationships/customXml" Target="../ink/ink10.xml"/><Relationship Id="rId2" Type="http://schemas.openxmlformats.org/officeDocument/2006/relationships/tags" Target="../tags/tag142.xml"/><Relationship Id="rId19" Type="http://schemas.openxmlformats.org/officeDocument/2006/relationships/image" Target="../media/image24.png"/><Relationship Id="rId18" Type="http://schemas.openxmlformats.org/officeDocument/2006/relationships/customXml" Target="../ink/ink9.xml"/><Relationship Id="rId17" Type="http://schemas.openxmlformats.org/officeDocument/2006/relationships/image" Target="../media/image23.png"/><Relationship Id="rId16" Type="http://schemas.openxmlformats.org/officeDocument/2006/relationships/customXml" Target="../ink/ink8.xml"/><Relationship Id="rId15" Type="http://schemas.openxmlformats.org/officeDocument/2006/relationships/image" Target="../media/image22.png"/><Relationship Id="rId14" Type="http://schemas.openxmlformats.org/officeDocument/2006/relationships/customXml" Target="../ink/ink7.xml"/><Relationship Id="rId13" Type="http://schemas.openxmlformats.org/officeDocument/2006/relationships/image" Target="../media/image21.png"/><Relationship Id="rId12" Type="http://schemas.openxmlformats.org/officeDocument/2006/relationships/customXml" Target="../ink/ink6.xml"/><Relationship Id="rId11" Type="http://schemas.openxmlformats.org/officeDocument/2006/relationships/image" Target="../media/image20.png"/><Relationship Id="rId10" Type="http://schemas.openxmlformats.org/officeDocument/2006/relationships/customXml" Target="../ink/ink5.xml"/><Relationship Id="rId1" Type="http://schemas.openxmlformats.org/officeDocument/2006/relationships/customXml" Target="../ink/ink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7.png"/><Relationship Id="rId1" Type="http://schemas.openxmlformats.org/officeDocument/2006/relationships/tags" Target="../tags/tag14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tags" Target="../tags/tag154.xml"/><Relationship Id="rId7" Type="http://schemas.openxmlformats.org/officeDocument/2006/relationships/tags" Target="../tags/tag153.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1" Type="http://schemas.openxmlformats.org/officeDocument/2006/relationships/slideLayout" Target="../slideLayouts/slideLayout3.xml"/><Relationship Id="rId10" Type="http://schemas.openxmlformats.org/officeDocument/2006/relationships/tags" Target="../tags/tag156.xml"/><Relationship Id="rId1" Type="http://schemas.openxmlformats.org/officeDocument/2006/relationships/tags" Target="../tags/tag147.xml"/></Relationships>
</file>

<file path=ppt/slides/_rels/slide46.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2" Type="http://schemas.openxmlformats.org/officeDocument/2006/relationships/slideLayout" Target="../slideLayouts/slideLayout3.xml"/><Relationship Id="rId21" Type="http://schemas.openxmlformats.org/officeDocument/2006/relationships/tags" Target="../tags/tag177.xml"/><Relationship Id="rId20" Type="http://schemas.openxmlformats.org/officeDocument/2006/relationships/tags" Target="../tags/tag176.xml"/><Relationship Id="rId2" Type="http://schemas.openxmlformats.org/officeDocument/2006/relationships/tags" Target="../tags/tag158.xml"/><Relationship Id="rId19" Type="http://schemas.openxmlformats.org/officeDocument/2006/relationships/tags" Target="../tags/tag175.xml"/><Relationship Id="rId18" Type="http://schemas.openxmlformats.org/officeDocument/2006/relationships/tags" Target="../tags/tag174.xml"/><Relationship Id="rId17" Type="http://schemas.openxmlformats.org/officeDocument/2006/relationships/tags" Target="../tags/tag173.xml"/><Relationship Id="rId16" Type="http://schemas.openxmlformats.org/officeDocument/2006/relationships/tags" Target="../tags/tag172.xml"/><Relationship Id="rId15" Type="http://schemas.openxmlformats.org/officeDocument/2006/relationships/tags" Target="../tags/tag171.xml"/><Relationship Id="rId14" Type="http://schemas.openxmlformats.org/officeDocument/2006/relationships/tags" Target="../tags/tag170.xml"/><Relationship Id="rId13" Type="http://schemas.openxmlformats.org/officeDocument/2006/relationships/tags" Target="../tags/tag169.xml"/><Relationship Id="rId12" Type="http://schemas.openxmlformats.org/officeDocument/2006/relationships/tags" Target="../tags/tag168.xml"/><Relationship Id="rId11" Type="http://schemas.openxmlformats.org/officeDocument/2006/relationships/tags" Target="../tags/tag167.xml"/><Relationship Id="rId10" Type="http://schemas.openxmlformats.org/officeDocument/2006/relationships/tags" Target="../tags/tag166.xml"/><Relationship Id="rId1" Type="http://schemas.openxmlformats.org/officeDocument/2006/relationships/tags" Target="../tags/tag15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185.xml"/><Relationship Id="rId7" Type="http://schemas.openxmlformats.org/officeDocument/2006/relationships/tags" Target="../tags/tag184.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 Type="http://schemas.openxmlformats.org/officeDocument/2006/relationships/tags" Target="../tags/tag188.xml"/><Relationship Id="rId2" Type="http://schemas.openxmlformats.org/officeDocument/2006/relationships/tags" Target="../tags/tag187.xml"/><Relationship Id="rId14" Type="http://schemas.openxmlformats.org/officeDocument/2006/relationships/slideLayout" Target="../slideLayouts/slideLayout3.xml"/><Relationship Id="rId13" Type="http://schemas.openxmlformats.org/officeDocument/2006/relationships/tags" Target="../tags/tag198.xml"/><Relationship Id="rId12" Type="http://schemas.openxmlformats.org/officeDocument/2006/relationships/tags" Target="../tags/tag197.xml"/><Relationship Id="rId11" Type="http://schemas.openxmlformats.org/officeDocument/2006/relationships/tags" Target="../tags/tag196.xml"/><Relationship Id="rId10" Type="http://schemas.openxmlformats.org/officeDocument/2006/relationships/tags" Target="../tags/tag195.xml"/><Relationship Id="rId1" Type="http://schemas.openxmlformats.org/officeDocument/2006/relationships/tags" Target="../tags/tag18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9" Type="http://schemas.openxmlformats.org/officeDocument/2006/relationships/tags" Target="../tags/tag207.xml"/><Relationship Id="rId8" Type="http://schemas.openxmlformats.org/officeDocument/2006/relationships/tags" Target="../tags/tag206.xml"/><Relationship Id="rId7" Type="http://schemas.openxmlformats.org/officeDocument/2006/relationships/tags" Target="../tags/tag205.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tags" Target="../tags/tag201.xml"/><Relationship Id="rId24" Type="http://schemas.openxmlformats.org/officeDocument/2006/relationships/slideLayout" Target="../slideLayouts/slideLayout3.xml"/><Relationship Id="rId23" Type="http://schemas.openxmlformats.org/officeDocument/2006/relationships/tags" Target="../tags/tag221.xml"/><Relationship Id="rId22" Type="http://schemas.openxmlformats.org/officeDocument/2006/relationships/tags" Target="../tags/tag220.xml"/><Relationship Id="rId21" Type="http://schemas.openxmlformats.org/officeDocument/2006/relationships/tags" Target="../tags/tag219.xml"/><Relationship Id="rId20" Type="http://schemas.openxmlformats.org/officeDocument/2006/relationships/tags" Target="../tags/tag218.xml"/><Relationship Id="rId2" Type="http://schemas.openxmlformats.org/officeDocument/2006/relationships/tags" Target="../tags/tag200.xml"/><Relationship Id="rId19" Type="http://schemas.openxmlformats.org/officeDocument/2006/relationships/tags" Target="../tags/tag217.xml"/><Relationship Id="rId18" Type="http://schemas.openxmlformats.org/officeDocument/2006/relationships/tags" Target="../tags/tag216.xml"/><Relationship Id="rId17" Type="http://schemas.openxmlformats.org/officeDocument/2006/relationships/tags" Target="../tags/tag215.xml"/><Relationship Id="rId16" Type="http://schemas.openxmlformats.org/officeDocument/2006/relationships/tags" Target="../tags/tag214.xml"/><Relationship Id="rId15" Type="http://schemas.openxmlformats.org/officeDocument/2006/relationships/tags" Target="../tags/tag213.xml"/><Relationship Id="rId14" Type="http://schemas.openxmlformats.org/officeDocument/2006/relationships/tags" Target="../tags/tag212.xml"/><Relationship Id="rId13" Type="http://schemas.openxmlformats.org/officeDocument/2006/relationships/tags" Target="../tags/tag211.xml"/><Relationship Id="rId12" Type="http://schemas.openxmlformats.org/officeDocument/2006/relationships/tags" Target="../tags/tag210.xml"/><Relationship Id="rId11" Type="http://schemas.openxmlformats.org/officeDocument/2006/relationships/tags" Target="../tags/tag209.xml"/><Relationship Id="rId10" Type="http://schemas.openxmlformats.org/officeDocument/2006/relationships/tags" Target="../tags/tag208.xml"/><Relationship Id="rId1" Type="http://schemas.openxmlformats.org/officeDocument/2006/relationships/tags" Target="../tags/tag19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9" Type="http://schemas.openxmlformats.org/officeDocument/2006/relationships/tags" Target="../tags/tag229.xml"/><Relationship Id="rId8" Type="http://schemas.openxmlformats.org/officeDocument/2006/relationships/tags" Target="../tags/tag228.xml"/><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tags" Target="../tags/tag223.xml"/><Relationship Id="rId23" Type="http://schemas.openxmlformats.org/officeDocument/2006/relationships/slideLayout" Target="../slideLayouts/slideLayout3.xml"/><Relationship Id="rId22" Type="http://schemas.openxmlformats.org/officeDocument/2006/relationships/tags" Target="../tags/tag242.xml"/><Relationship Id="rId21" Type="http://schemas.openxmlformats.org/officeDocument/2006/relationships/tags" Target="../tags/tag241.xml"/><Relationship Id="rId20" Type="http://schemas.openxmlformats.org/officeDocument/2006/relationships/tags" Target="../tags/tag240.xml"/><Relationship Id="rId2" Type="http://schemas.openxmlformats.org/officeDocument/2006/relationships/tags" Target="../tags/tag222.xml"/><Relationship Id="rId19" Type="http://schemas.openxmlformats.org/officeDocument/2006/relationships/tags" Target="../tags/tag239.xml"/><Relationship Id="rId18" Type="http://schemas.openxmlformats.org/officeDocument/2006/relationships/tags" Target="../tags/tag238.xml"/><Relationship Id="rId17" Type="http://schemas.openxmlformats.org/officeDocument/2006/relationships/tags" Target="../tags/tag237.xml"/><Relationship Id="rId16" Type="http://schemas.openxmlformats.org/officeDocument/2006/relationships/tags" Target="../tags/tag236.xml"/><Relationship Id="rId15" Type="http://schemas.openxmlformats.org/officeDocument/2006/relationships/tags" Target="../tags/tag235.xml"/><Relationship Id="rId14" Type="http://schemas.openxmlformats.org/officeDocument/2006/relationships/tags" Target="../tags/tag234.xml"/><Relationship Id="rId13" Type="http://schemas.openxmlformats.org/officeDocument/2006/relationships/tags" Target="../tags/tag233.xml"/><Relationship Id="rId12" Type="http://schemas.openxmlformats.org/officeDocument/2006/relationships/tags" Target="../tags/tag232.xml"/><Relationship Id="rId11" Type="http://schemas.openxmlformats.org/officeDocument/2006/relationships/tags" Target="../tags/tag231.xml"/><Relationship Id="rId10" Type="http://schemas.openxmlformats.org/officeDocument/2006/relationships/tags" Target="../tags/tag230.xml"/><Relationship Id="rId1" Type="http://schemas.openxmlformats.org/officeDocument/2006/relationships/image" Target="../media/image38.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44.xml"/><Relationship Id="rId1" Type="http://schemas.openxmlformats.org/officeDocument/2006/relationships/tags" Target="../tags/tag243.xml"/></Relationships>
</file>

<file path=ppt/slides/_rels/slide59.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51.xml"/><Relationship Id="rId1" Type="http://schemas.openxmlformats.org/officeDocument/2006/relationships/tags" Target="../tags/tag250.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3.xml"/><Relationship Id="rId4" Type="http://schemas.openxmlformats.org/officeDocument/2006/relationships/image" Target="../media/image39.emf"/><Relationship Id="rId3" Type="http://schemas.openxmlformats.org/officeDocument/2006/relationships/oleObject" Target="../embeddings/oleObject9.bin"/><Relationship Id="rId2" Type="http://schemas.openxmlformats.org/officeDocument/2006/relationships/tags" Target="../tags/tag255.xml"/><Relationship Id="rId1" Type="http://schemas.openxmlformats.org/officeDocument/2006/relationships/slide" Target="slide1.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0.png"/><Relationship Id="rId1" Type="http://schemas.openxmlformats.org/officeDocument/2006/relationships/tags" Target="../tags/tag2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970" y="299720"/>
            <a:ext cx="1123061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sp>
        <p:nvSpPr>
          <p:cNvPr id="5" name="矩形 4"/>
          <p:cNvSpPr/>
          <p:nvPr/>
        </p:nvSpPr>
        <p:spPr>
          <a:xfrm>
            <a:off x="872490" y="789940"/>
            <a:ext cx="1054989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pic>
        <p:nvPicPr>
          <p:cNvPr id="1026" name="Picture 2" descr="西北工业大学- 维基百科，自由的百科全书"/>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342890" y="72580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767330" y="2722245"/>
            <a:ext cx="7194550" cy="706755"/>
          </a:xfrm>
          <a:prstGeom prst="rect">
            <a:avLst/>
          </a:prstGeom>
          <a:noFill/>
        </p:spPr>
        <p:txBody>
          <a:bodyPr wrap="square" rtlCol="0">
            <a:spAutoFit/>
          </a:bodyPr>
          <a:lstStyle/>
          <a:p>
            <a:pPr algn="dist"/>
            <a:r>
              <a:rPr kumimoji="1" lang="zh-CN" altLang="en-US" sz="4000" b="1" dirty="0">
                <a:solidFill>
                  <a:srgbClr val="034DA0"/>
                </a:solidFill>
                <a:latin typeface="+mn-ea"/>
                <a:cs typeface="等线 Light" panose="02010600030101010101" charset="-122"/>
                <a:sym typeface="+mn-ea"/>
              </a:rPr>
              <a:t>编译原理</a:t>
            </a:r>
            <a:endParaRPr kumimoji="1" lang="zh-CN" altLang="en-US" sz="4000" b="1" dirty="0">
              <a:solidFill>
                <a:srgbClr val="034DA0"/>
              </a:solidFill>
              <a:latin typeface="+mn-ea"/>
              <a:cs typeface="等线 Light" panose="02010600030101010101" charset="-122"/>
              <a:sym typeface="+mn-ea"/>
            </a:endParaRPr>
          </a:p>
        </p:txBody>
      </p:sp>
      <p:cxnSp>
        <p:nvCxnSpPr>
          <p:cNvPr id="8" name="直线连接符 7"/>
          <p:cNvCxnSpPr/>
          <p:nvPr/>
        </p:nvCxnSpPr>
        <p:spPr>
          <a:xfrm flipV="1">
            <a:off x="2367330" y="3429151"/>
            <a:ext cx="8088630" cy="1397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367280" y="3538220"/>
            <a:ext cx="8289925" cy="2306955"/>
          </a:xfrm>
          <a:prstGeom prst="rect">
            <a:avLst/>
          </a:prstGeom>
          <a:noFill/>
        </p:spPr>
        <p:txBody>
          <a:bodyPr wrap="square" rtlCol="0">
            <a:spAutoFit/>
          </a:bodyPr>
          <a:lstStyle/>
          <a:p>
            <a:pPr algn="l">
              <a:lnSpc>
                <a:spcPct val="150000"/>
              </a:lnSpc>
            </a:pPr>
            <a:r>
              <a:rPr kumimoji="1" lang="zh-CN" altLang="en-US" sz="3200" b="1" dirty="0">
                <a:solidFill>
                  <a:schemeClr val="tx1">
                    <a:lumMod val="65000"/>
                    <a:lumOff val="35000"/>
                  </a:schemeClr>
                </a:solidFill>
                <a:latin typeface="+mn-ea"/>
                <a:cs typeface="+mn-ea"/>
              </a:rPr>
              <a:t>授课教师：马春燕    </a:t>
            </a:r>
            <a:r>
              <a:rPr kumimoji="1" lang="en-US" altLang="zh-CN" sz="3200" b="1" dirty="0">
                <a:solidFill>
                  <a:schemeClr val="tx1">
                    <a:lumMod val="65000"/>
                    <a:lumOff val="35000"/>
                  </a:schemeClr>
                </a:solidFill>
                <a:latin typeface="+mn-ea"/>
                <a:cs typeface="+mn-ea"/>
              </a:rPr>
              <a:t> </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邮箱：</a:t>
            </a:r>
            <a:r>
              <a:rPr kumimoji="1" lang="en-US" altLang="zh-CN" sz="3200" b="1" dirty="0">
                <a:solidFill>
                  <a:schemeClr val="tx1">
                    <a:lumMod val="65000"/>
                    <a:lumOff val="35000"/>
                  </a:schemeClr>
                </a:solidFill>
                <a:latin typeface="+mn-ea"/>
                <a:cs typeface="+mn-ea"/>
              </a:rPr>
              <a:t>machunyan @nwpu.edu.cn</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手机：</a:t>
            </a:r>
            <a:r>
              <a:rPr kumimoji="1" lang="en-US" altLang="zh-CN" sz="3200" b="1" dirty="0">
                <a:solidFill>
                  <a:schemeClr val="tx1">
                    <a:lumMod val="65000"/>
                    <a:lumOff val="35000"/>
                  </a:schemeClr>
                </a:solidFill>
                <a:latin typeface="+mn-ea"/>
                <a:cs typeface="+mn-ea"/>
              </a:rPr>
              <a:t>13991282722      </a:t>
            </a:r>
            <a:r>
              <a:rPr kumimoji="1" lang="en-US" altLang="zh-CN" sz="2000" b="1" dirty="0">
                <a:solidFill>
                  <a:schemeClr val="tx1">
                    <a:lumMod val="65000"/>
                    <a:lumOff val="35000"/>
                  </a:schemeClr>
                </a:solidFill>
                <a:latin typeface="+mn-ea"/>
                <a:cs typeface="+mn-ea"/>
              </a:rPr>
              <a:t>   </a:t>
            </a:r>
            <a:endParaRPr kumimoji="1" lang="en-US" altLang="zh-CN" sz="2000" b="1" dirty="0">
              <a:solidFill>
                <a:schemeClr val="tx1">
                  <a:lumMod val="65000"/>
                  <a:lumOff val="35000"/>
                </a:schemeClr>
              </a:solidFill>
              <a:latin typeface="+mn-ea"/>
              <a:cs typeface="+mn-ea"/>
            </a:endParaRPr>
          </a:p>
        </p:txBody>
      </p:sp>
      <p:sp>
        <p:nvSpPr>
          <p:cNvPr id="2" name="灯片编号占位符 1"/>
          <p:cNvSpPr>
            <a:spLocks noGrp="1"/>
          </p:cNvSpPr>
          <p:nvPr>
            <p:ph type="sldNum" sz="quarter" idx="12"/>
          </p:nvPr>
        </p:nvSpPr>
        <p:spPr/>
        <p:txBody>
          <a:bodyPr/>
          <a:p>
            <a:fld id="{7C7206B7-967B-48F3-989E-8CF2542470F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8150" y="276860"/>
            <a:ext cx="7567295" cy="593090"/>
          </a:xfrm>
        </p:spPr>
        <p:txBody>
          <a:bodyPr/>
          <a:lstStyle/>
          <a:p>
            <a:r>
              <a:rPr lang="zh-CN" altLang="en-US" dirty="0"/>
              <a:t>第</a:t>
            </a:r>
            <a:r>
              <a:rPr lang="en-US" altLang="zh-CN" dirty="0"/>
              <a:t>4</a:t>
            </a:r>
            <a:r>
              <a:rPr lang="zh-CN" altLang="en-US" dirty="0"/>
              <a:t>单元 自上而下的语法分析</a:t>
            </a:r>
            <a:endParaRPr lang="zh-CN" altLang="en-US" dirty="0"/>
          </a:p>
        </p:txBody>
      </p:sp>
      <p:sp>
        <p:nvSpPr>
          <p:cNvPr id="15" name="文本占位符 14"/>
          <p:cNvSpPr>
            <a:spLocks noGrp="1"/>
          </p:cNvSpPr>
          <p:nvPr>
            <p:ph type="body" sz="quarter" idx="16"/>
          </p:nvPr>
        </p:nvSpPr>
        <p:spPr>
          <a:xfrm>
            <a:off x="438150" y="1262380"/>
            <a:ext cx="11344910" cy="4430395"/>
          </a:xfrm>
        </p:spPr>
        <p:txBody>
          <a:bodyPr/>
          <a:lstStyle/>
          <a:p>
            <a:pPr fontAlgn="auto">
              <a:lnSpc>
                <a:spcPct val="125000"/>
              </a:lnSpc>
              <a:spcBef>
                <a:spcPct val="0"/>
              </a:spcBef>
              <a:spcAft>
                <a:spcPts val="0"/>
              </a:spcAft>
              <a:buFont typeface="Wingdings" panose="05000000000000000000" charset="0"/>
              <a:buChar char="p"/>
            </a:pPr>
            <a:r>
              <a:rPr lang="zh-CN" altLang="en-US" sz="2800" dirty="0">
                <a:solidFill>
                  <a:srgbClr val="0070C0"/>
                </a:solidFill>
              </a:rPr>
              <a:t>语法分析程序的任务：</a:t>
            </a:r>
            <a:endParaRPr lang="zh-CN" altLang="en-US" sz="2800" dirty="0">
              <a:solidFill>
                <a:srgbClr val="0070C0"/>
              </a:solidFill>
            </a:endParaRPr>
          </a:p>
          <a:p>
            <a:pPr lvl="1" fontAlgn="auto">
              <a:lnSpc>
                <a:spcPct val="125000"/>
              </a:lnSpc>
              <a:spcBef>
                <a:spcPct val="0"/>
              </a:spcBef>
              <a:spcAft>
                <a:spcPts val="0"/>
              </a:spcAft>
              <a:buFont typeface="Wingdings" panose="05000000000000000000" charset="0"/>
              <a:buChar char="p"/>
            </a:pPr>
            <a:r>
              <a:rPr lang="zh-CN" altLang="en-US" sz="2800" dirty="0"/>
              <a:t>语法分析以词法分析程序输出的单词序列为输入，分析源程序的语法结构，判断它是否为相应程序设计语言的合法程序（</a:t>
            </a:r>
            <a:r>
              <a:rPr lang="zh-CN" altLang="en-US" sz="2800" dirty="0">
                <a:solidFill>
                  <a:srgbClr val="C00000"/>
                </a:solidFill>
              </a:rPr>
              <a:t>？如何判断</a:t>
            </a:r>
            <a:r>
              <a:rPr lang="zh-CN" altLang="en-US" sz="2800" dirty="0"/>
              <a:t>）。</a:t>
            </a:r>
            <a:endParaRPr lang="zh-CN" altLang="en-US" sz="2800" dirty="0"/>
          </a:p>
          <a:p>
            <a:pPr lvl="2" fontAlgn="auto">
              <a:lnSpc>
                <a:spcPct val="125000"/>
              </a:lnSpc>
              <a:spcBef>
                <a:spcPct val="0"/>
              </a:spcBef>
              <a:spcAft>
                <a:spcPts val="0"/>
              </a:spcAft>
              <a:buFont typeface="Wingdings" panose="05000000000000000000" charset="0"/>
              <a:buChar char="p"/>
            </a:pPr>
            <a:r>
              <a:rPr lang="zh-CN" altLang="en-US" sz="2800" dirty="0"/>
              <a:t>语法分析阶段确定单词流中违反源语言语法结构规则的错误。</a:t>
            </a:r>
            <a:endParaRPr lang="zh-CN" altLang="en-US" sz="2800" dirty="0"/>
          </a:p>
          <a:p>
            <a:pPr lvl="2" fontAlgn="auto">
              <a:lnSpc>
                <a:spcPct val="125000"/>
              </a:lnSpc>
              <a:spcBef>
                <a:spcPct val="0"/>
              </a:spcBef>
              <a:spcAft>
                <a:spcPts val="0"/>
              </a:spcAft>
              <a:buFont typeface="Wingdings" panose="05000000000000000000" charset="0"/>
              <a:buChar char="p"/>
            </a:pPr>
            <a:r>
              <a:rPr lang="zh-CN" altLang="en-US" sz="2800" dirty="0"/>
              <a:t>通常</a:t>
            </a:r>
            <a:r>
              <a:rPr lang="zh-CN" altLang="en-US" sz="2800" dirty="0">
                <a:solidFill>
                  <a:srgbClr val="0070C0"/>
                </a:solidFill>
              </a:rPr>
              <a:t>语法分析的结果</a:t>
            </a:r>
            <a:r>
              <a:rPr lang="zh-CN" altLang="en-US" sz="2800" dirty="0"/>
              <a:t>是构造出表示该语法结构的</a:t>
            </a:r>
            <a:r>
              <a:rPr lang="zh-CN" altLang="en-US" sz="2800" dirty="0">
                <a:solidFill>
                  <a:srgbClr val="0070C0"/>
                </a:solidFill>
              </a:rPr>
              <a:t>分析树（</a:t>
            </a:r>
            <a:r>
              <a:rPr lang="en-US" altLang="zh-CN" sz="2800" dirty="0">
                <a:solidFill>
                  <a:srgbClr val="0070C0"/>
                </a:solidFill>
              </a:rPr>
              <a:t>parse tree</a:t>
            </a:r>
            <a:r>
              <a:rPr lang="zh-CN" altLang="en-US" sz="2800" dirty="0">
                <a:solidFill>
                  <a:srgbClr val="0070C0"/>
                </a:solidFill>
              </a:rPr>
              <a:t>）或语法树</a:t>
            </a:r>
            <a:r>
              <a:rPr lang="en-US" altLang="zh-CN" sz="2800" dirty="0">
                <a:solidFill>
                  <a:srgbClr val="0070C0"/>
                </a:solidFill>
              </a:rPr>
              <a:t>(syntax tree)</a:t>
            </a:r>
            <a:r>
              <a:rPr lang="zh-CN" altLang="en-US" sz="2800" dirty="0"/>
              <a:t>。</a:t>
            </a:r>
            <a:endParaRPr lang="zh-CN" altLang="en-US" sz="2800" dirty="0"/>
          </a:p>
          <a:p>
            <a:pPr lvl="2" fontAlgn="auto">
              <a:lnSpc>
                <a:spcPct val="125000"/>
              </a:lnSpc>
              <a:spcBef>
                <a:spcPct val="0"/>
              </a:spcBef>
              <a:spcAft>
                <a:spcPts val="0"/>
              </a:spcAft>
              <a:buFont typeface="Wingdings" panose="05000000000000000000" charset="0"/>
              <a:buChar char="p"/>
            </a:pPr>
            <a:r>
              <a:rPr lang="zh-CN" altLang="en-US" sz="2800" dirty="0">
                <a:solidFill>
                  <a:srgbClr val="0070C0"/>
                </a:solidFill>
              </a:rPr>
              <a:t>编译器语法分析举例</a:t>
            </a:r>
            <a:r>
              <a:rPr lang="zh-CN" altLang="en-US" sz="2800" dirty="0"/>
              <a:t>（</a:t>
            </a:r>
            <a:r>
              <a:rPr lang="en-US" altLang="zh-CN" sz="2800" dirty="0"/>
              <a:t>Clang,</a:t>
            </a:r>
            <a:r>
              <a:rPr lang="zh-CN" altLang="en-US" sz="2800" dirty="0"/>
              <a:t> </a:t>
            </a:r>
            <a:r>
              <a:rPr lang="en-US" altLang="zh-CN" sz="2800" dirty="0" err="1"/>
              <a:t>PycParser</a:t>
            </a:r>
            <a:r>
              <a:rPr lang="zh-CN" altLang="en-US" sz="2800" dirty="0"/>
              <a:t>）</a:t>
            </a:r>
            <a:endParaRPr lang="zh-CN" altLang="en-US" sz="2800"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a:xfrm>
            <a:off x="744574" y="1023631"/>
            <a:ext cx="6129867" cy="511118"/>
          </a:xfrm>
        </p:spPr>
        <p:txBody>
          <a:bodyPr>
            <a:normAutofit fontScale="80000"/>
          </a:bodyPr>
          <a:lstStyle/>
          <a:p>
            <a:r>
              <a:rPr lang="zh-CN" altLang="en-US" dirty="0"/>
              <a:t>第</a:t>
            </a:r>
            <a:r>
              <a:rPr lang="en-US" altLang="zh-CN" dirty="0"/>
              <a:t>4</a:t>
            </a:r>
            <a:r>
              <a:rPr lang="zh-CN" altLang="en-US" dirty="0"/>
              <a:t>单元</a:t>
            </a:r>
            <a:endParaRPr lang="zh-CN" altLang="en-US" dirty="0"/>
          </a:p>
        </p:txBody>
      </p:sp>
      <p:sp>
        <p:nvSpPr>
          <p:cNvPr id="24" name="文本占位符 23"/>
          <p:cNvSpPr>
            <a:spLocks noGrp="1"/>
          </p:cNvSpPr>
          <p:nvPr>
            <p:ph type="body" sz="quarter" idx="14"/>
          </p:nvPr>
        </p:nvSpPr>
        <p:spPr>
          <a:xfrm>
            <a:off x="1984957" y="2077329"/>
            <a:ext cx="7683553" cy="3630873"/>
          </a:xfrm>
        </p:spPr>
        <p:txBody>
          <a:bodyPr>
            <a:normAutofit fontScale="85000"/>
          </a:bodyPr>
          <a:lstStyle/>
          <a:p>
            <a:r>
              <a:rPr lang="en-US" altLang="zh-CN" b="1" dirty="0">
                <a:solidFill>
                  <a:srgbClr val="0070C0"/>
                </a:solidFill>
                <a:latin typeface="Times New Roman" panose="02020603050405020304" pitchFamily="18" charset="0"/>
                <a:cs typeface="Times New Roman" panose="02020603050405020304" pitchFamily="18" charset="0"/>
              </a:rPr>
              <a:t>4.1</a:t>
            </a:r>
            <a:r>
              <a:rPr lang="zh-CN" altLang="en-US" b="1" dirty="0">
                <a:solidFill>
                  <a:srgbClr val="0070C0"/>
                </a:solidFill>
                <a:latin typeface="Times New Roman" panose="02020603050405020304" pitchFamily="18" charset="0"/>
                <a:cs typeface="Times New Roman" panose="02020603050405020304" pitchFamily="18" charset="0"/>
              </a:rPr>
              <a:t>自上而下的语法分析算法概述</a:t>
            </a:r>
            <a:endParaRPr lang="en-US" altLang="zh-CN" b="1" dirty="0">
              <a:solidFill>
                <a:srgbClr val="0070C0"/>
              </a:solidFill>
              <a:latin typeface="Times New Roman" panose="02020603050405020304" pitchFamily="18" charset="0"/>
              <a:cs typeface="Times New Roman" panose="02020603050405020304" pitchFamily="18" charset="0"/>
            </a:endParaRPr>
          </a:p>
          <a:p>
            <a:r>
              <a:rPr lang="en-US" altLang="zh-CN" b="1" dirty="0">
                <a:solidFill>
                  <a:schemeClr val="tx1"/>
                </a:solidFill>
                <a:latin typeface="Times New Roman" panose="02020603050405020304" pitchFamily="18" charset="0"/>
                <a:cs typeface="Times New Roman" panose="02020603050405020304" pitchFamily="18" charset="0"/>
              </a:rPr>
              <a:t>4.2</a:t>
            </a:r>
            <a:r>
              <a:rPr lang="zh-CN" altLang="en-US" b="1" dirty="0">
                <a:solidFill>
                  <a:schemeClr val="tx1"/>
                </a:solidFill>
                <a:latin typeface="Times New Roman" panose="02020603050405020304" pitchFamily="18" charset="0"/>
                <a:cs typeface="Times New Roman" panose="02020603050405020304" pitchFamily="18" charset="0"/>
              </a:rPr>
              <a:t>递归下降分析（</a:t>
            </a:r>
            <a:r>
              <a:rPr lang="en-US" altLang="zh-CN" b="1" dirty="0">
                <a:solidFill>
                  <a:schemeClr val="tx1"/>
                </a:solidFill>
                <a:latin typeface="Times New Roman" panose="02020603050405020304" pitchFamily="18" charset="0"/>
                <a:cs typeface="Times New Roman" panose="02020603050405020304" pitchFamily="18" charset="0"/>
              </a:rPr>
              <a:t>Recursive-Descent Top-Down Parsing</a:t>
            </a:r>
            <a:r>
              <a:rPr lang="zh-CN" altLang="en-US" b="1" dirty="0">
                <a:solidFill>
                  <a:schemeClr val="tx1"/>
                </a:solidFill>
                <a:latin typeface="Times New Roman" panose="02020603050405020304" pitchFamily="18" charset="0"/>
                <a:cs typeface="Times New Roman" panose="02020603050405020304" pitchFamily="18" charset="0"/>
              </a:rPr>
              <a:t>）</a:t>
            </a:r>
            <a:endParaRPr lang="zh-CN" altLang="en-US" b="1" dirty="0">
              <a:solidFill>
                <a:schemeClr val="tx1"/>
              </a:solidFill>
              <a:latin typeface="Times New Roman" panose="02020603050405020304" pitchFamily="18" charset="0"/>
              <a:cs typeface="Times New Roman" panose="02020603050405020304" pitchFamily="18" charset="0"/>
            </a:endParaRPr>
          </a:p>
          <a:p>
            <a:r>
              <a:rPr lang="en-US" altLang="zh-CN" b="1" dirty="0">
                <a:solidFill>
                  <a:schemeClr val="tx1"/>
                </a:solidFill>
                <a:latin typeface="Times New Roman" panose="02020603050405020304" pitchFamily="18" charset="0"/>
                <a:cs typeface="Times New Roman" panose="02020603050405020304" pitchFamily="18" charset="0"/>
              </a:rPr>
              <a:t>4.3 LL(1)</a:t>
            </a:r>
            <a:r>
              <a:rPr lang="zh-CN" altLang="en-US" b="1" dirty="0">
                <a:solidFill>
                  <a:schemeClr val="tx1"/>
                </a:solidFill>
                <a:latin typeface="Times New Roman" panose="02020603050405020304" pitchFamily="18" charset="0"/>
                <a:cs typeface="Times New Roman" panose="02020603050405020304" pitchFamily="18" charset="0"/>
              </a:rPr>
              <a:t>分析</a:t>
            </a:r>
            <a:endParaRPr lang="en-US" altLang="zh-CN" b="1" dirty="0">
              <a:solidFill>
                <a:schemeClr val="tx1"/>
              </a:solidFill>
              <a:latin typeface="Times New Roman" panose="02020603050405020304" pitchFamily="18" charset="0"/>
              <a:cs typeface="Times New Roman" panose="02020603050405020304" pitchFamily="18" charset="0"/>
            </a:endParaRPr>
          </a:p>
          <a:p>
            <a:r>
              <a:rPr lang="en-US" altLang="zh-CN" b="1" dirty="0">
                <a:solidFill>
                  <a:schemeClr val="tx1"/>
                </a:solidFill>
                <a:latin typeface="Times New Roman" panose="02020603050405020304" pitchFamily="18" charset="0"/>
                <a:cs typeface="Times New Roman" panose="02020603050405020304" pitchFamily="18" charset="0"/>
              </a:rPr>
              <a:t>4.4</a:t>
            </a:r>
            <a:r>
              <a:rPr lang="zh-CN" altLang="en-US" b="1" dirty="0">
                <a:solidFill>
                  <a:schemeClr val="tx1"/>
                </a:solidFill>
                <a:latin typeface="Times New Roman" panose="02020603050405020304" pitchFamily="18" charset="0"/>
                <a:cs typeface="Times New Roman" panose="02020603050405020304" pitchFamily="18" charset="0"/>
              </a:rPr>
              <a:t>自上而下的语法分析器自动生成工具</a:t>
            </a:r>
            <a:endParaRPr lang="en-US" altLang="zh-CN" b="1" dirty="0">
              <a:solidFill>
                <a:schemeClr val="tx1"/>
              </a:solidFill>
              <a:latin typeface="Times New Roman" panose="02020603050405020304" pitchFamily="18" charset="0"/>
              <a:cs typeface="Times New Roman" panose="02020603050405020304" pitchFamily="18" charset="0"/>
            </a:endParaRPr>
          </a:p>
          <a:p>
            <a:r>
              <a:rPr lang="en-US" altLang="zh-CN" b="1" dirty="0">
                <a:solidFill>
                  <a:schemeClr val="tx1"/>
                </a:solidFill>
                <a:latin typeface="Times New Roman" panose="02020603050405020304" pitchFamily="18" charset="0"/>
                <a:cs typeface="Times New Roman" panose="02020603050405020304" pitchFamily="18" charset="0"/>
              </a:rPr>
              <a:t>4.5 </a:t>
            </a:r>
            <a:r>
              <a:rPr lang="zh-CN" altLang="en-US" b="1" dirty="0">
                <a:solidFill>
                  <a:schemeClr val="tx1"/>
                </a:solidFill>
                <a:latin typeface="Times New Roman" panose="02020603050405020304" pitchFamily="18" charset="0"/>
                <a:cs typeface="Times New Roman" panose="02020603050405020304" pitchFamily="18" charset="0"/>
              </a:rPr>
              <a:t>项目：编译器实现（语法分析模块）</a:t>
            </a:r>
            <a:endParaRPr lang="zh-CN" altLang="en-US" b="1" dirty="0">
              <a:solidFill>
                <a:schemeClr val="tx1"/>
              </a:solidFill>
              <a:latin typeface="Times New Roman" panose="02020603050405020304" pitchFamily="18" charset="0"/>
              <a:cs typeface="Times New Roman" panose="02020603050405020304" pitchFamily="18" charset="0"/>
            </a:endParaRPr>
          </a:p>
        </p:txBody>
      </p:sp>
      <p:grpSp>
        <p:nvGrpSpPr>
          <p:cNvPr id="16" name="组合 15"/>
          <p:cNvGrpSpPr/>
          <p:nvPr/>
        </p:nvGrpSpPr>
        <p:grpSpPr>
          <a:xfrm>
            <a:off x="1689100" y="2077085"/>
            <a:ext cx="5101590" cy="2012315"/>
            <a:chOff x="555012" y="2106539"/>
            <a:chExt cx="5101717" cy="2169626"/>
          </a:xfrm>
        </p:grpSpPr>
        <p:sp>
          <p:nvSpPr>
            <p:cNvPr id="2" name="矩形: 圆角 1"/>
            <p:cNvSpPr/>
            <p:nvPr/>
          </p:nvSpPr>
          <p:spPr>
            <a:xfrm>
              <a:off x="850847" y="2106539"/>
              <a:ext cx="4805882" cy="589645"/>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b="1"/>
            </a:p>
          </p:txBody>
        </p:sp>
        <p:sp>
          <p:nvSpPr>
            <p:cNvPr id="4" name="左大括号 3"/>
            <p:cNvSpPr/>
            <p:nvPr/>
          </p:nvSpPr>
          <p:spPr>
            <a:xfrm>
              <a:off x="555012" y="3065929"/>
              <a:ext cx="295835" cy="1210236"/>
            </a:xfrm>
            <a:prstGeom prst="leftBrace">
              <a:avLst>
                <a:gd name="adj1" fmla="val 56818"/>
                <a:gd name="adj2" fmla="val 50000"/>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b="1"/>
            </a:p>
          </p:txBody>
        </p:sp>
        <p:cxnSp>
          <p:nvCxnSpPr>
            <p:cNvPr id="15" name="连接符: 肘形 14"/>
            <p:cNvCxnSpPr>
              <a:stCxn id="2" idx="1"/>
              <a:endCxn id="4" idx="1"/>
            </p:cNvCxnSpPr>
            <p:nvPr/>
          </p:nvCxnSpPr>
          <p:spPr>
            <a:xfrm rot="10800000" flipV="1">
              <a:off x="555013" y="2401361"/>
              <a:ext cx="295835" cy="1269685"/>
            </a:xfrm>
            <a:prstGeom prst="bentConnector3">
              <a:avLst>
                <a:gd name="adj1" fmla="val 177273"/>
              </a:avLst>
            </a:prstGeom>
            <a:noFill/>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accent2"/>
            </a:fontRef>
          </p:style>
        </p:cxnSp>
      </p:gr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28955" y="276860"/>
            <a:ext cx="8068310" cy="593090"/>
          </a:xfrm>
        </p:spPr>
        <p:txBody>
          <a:bodyPr/>
          <a:lstStyle/>
          <a:p>
            <a:r>
              <a:rPr lang="en-US" altLang="zh-CN" sz="3200" dirty="0"/>
              <a:t>4.1</a:t>
            </a:r>
            <a:r>
              <a:rPr lang="zh-CN" altLang="en-US" sz="3200" dirty="0"/>
              <a:t>自上而下的语法分析算法概述</a:t>
            </a:r>
            <a:endParaRPr lang="zh-CN" altLang="en-US" sz="3200" dirty="0"/>
          </a:p>
        </p:txBody>
      </p:sp>
      <p:sp>
        <p:nvSpPr>
          <p:cNvPr id="14" name="文本占位符 13"/>
          <p:cNvSpPr>
            <a:spLocks noGrp="1"/>
          </p:cNvSpPr>
          <p:nvPr>
            <p:ph type="body" sz="quarter" idx="15"/>
          </p:nvPr>
        </p:nvSpPr>
        <p:spPr>
          <a:xfrm>
            <a:off x="611505" y="1248410"/>
            <a:ext cx="6067425" cy="515620"/>
          </a:xfrm>
        </p:spPr>
        <p:txBody>
          <a:bodyPr>
            <a:noAutofit/>
          </a:bodyPr>
          <a:lstStyle/>
          <a:p>
            <a:r>
              <a:rPr lang="zh-CN" altLang="en-US" sz="3200" dirty="0">
                <a:solidFill>
                  <a:srgbClr val="0070C0"/>
                </a:solidFill>
              </a:rPr>
              <a:t>自上而下的语法分析算法</a:t>
            </a:r>
            <a:endParaRPr lang="zh-CN" altLang="en-US" sz="3200" dirty="0">
              <a:solidFill>
                <a:srgbClr val="0070C0"/>
              </a:solidFill>
            </a:endParaRPr>
          </a:p>
        </p:txBody>
      </p:sp>
      <p:sp>
        <p:nvSpPr>
          <p:cNvPr id="15" name="文本占位符 14"/>
          <p:cNvSpPr>
            <a:spLocks noGrp="1"/>
          </p:cNvSpPr>
          <p:nvPr>
            <p:ph type="body" sz="quarter" idx="16"/>
          </p:nvPr>
        </p:nvSpPr>
        <p:spPr>
          <a:xfrm>
            <a:off x="467360" y="1764030"/>
            <a:ext cx="11330305" cy="4293235"/>
          </a:xfrm>
        </p:spPr>
        <p:txBody>
          <a:bodyPr>
            <a:normAutofit lnSpcReduction="20000"/>
          </a:bodyPr>
          <a:lstStyle/>
          <a:p>
            <a:pPr>
              <a:lnSpc>
                <a:spcPct val="150000"/>
              </a:lnSpc>
              <a:buFont typeface="Wingdings" panose="05000000000000000000" charset="0"/>
              <a:buChar char="p"/>
            </a:pPr>
            <a:r>
              <a:rPr lang="zh-CN" altLang="en-US" sz="2800" dirty="0"/>
              <a:t>已知文法</a:t>
            </a:r>
            <a:r>
              <a:rPr lang="en-US" altLang="zh-CN" sz="2800" dirty="0"/>
              <a:t>G[S]</a:t>
            </a:r>
            <a:r>
              <a:rPr lang="zh-CN" altLang="en-US" sz="2800" dirty="0"/>
              <a:t>，对任意输入串</a:t>
            </a:r>
            <a:r>
              <a:rPr lang="en-US" altLang="zh-CN" sz="2800" dirty="0">
                <a:solidFill>
                  <a:srgbClr val="0070C0"/>
                </a:solidFill>
              </a:rPr>
              <a:t>w</a:t>
            </a:r>
            <a:r>
              <a:rPr lang="zh-CN" altLang="en-US" sz="2800" dirty="0"/>
              <a:t>，若从文法的开始符号</a:t>
            </a:r>
            <a:r>
              <a:rPr lang="en-US" altLang="zh-CN" sz="2800" dirty="0">
                <a:solidFill>
                  <a:srgbClr val="0070C0"/>
                </a:solidFill>
              </a:rPr>
              <a:t>S</a:t>
            </a:r>
            <a:r>
              <a:rPr lang="zh-CN" altLang="en-US" sz="2800" dirty="0"/>
              <a:t>出发</a:t>
            </a:r>
            <a:r>
              <a:rPr lang="en-US" altLang="zh-CN" sz="2800" dirty="0"/>
              <a:t>, </a:t>
            </a:r>
            <a:r>
              <a:rPr lang="zh-CN" altLang="en-US" sz="2800" dirty="0"/>
              <a:t>能为</a:t>
            </a:r>
            <a:r>
              <a:rPr lang="en-US" altLang="zh-CN" sz="2800" dirty="0">
                <a:solidFill>
                  <a:srgbClr val="0070C0"/>
                </a:solidFill>
              </a:rPr>
              <a:t>w</a:t>
            </a:r>
            <a:r>
              <a:rPr lang="zh-CN" altLang="en-US" sz="2800" dirty="0"/>
              <a:t>构造一个</a:t>
            </a:r>
            <a:r>
              <a:rPr lang="zh-CN" altLang="en-US" sz="2800" dirty="0">
                <a:solidFill>
                  <a:srgbClr val="0070C0"/>
                </a:solidFill>
              </a:rPr>
              <a:t>最左推导</a:t>
            </a:r>
            <a:r>
              <a:rPr lang="zh-CN" altLang="en-US" sz="2800" dirty="0"/>
              <a:t>，则</a:t>
            </a:r>
            <a:r>
              <a:rPr lang="en-US" altLang="zh-CN" sz="2800" dirty="0">
                <a:solidFill>
                  <a:srgbClr val="0070C0"/>
                </a:solidFill>
              </a:rPr>
              <a:t>w</a:t>
            </a:r>
            <a:r>
              <a:rPr lang="zh-CN" altLang="en-US" sz="2800" dirty="0"/>
              <a:t>是一个合法的句子，即</a:t>
            </a:r>
            <a:r>
              <a:rPr lang="en-US" altLang="zh-CN" sz="2800" dirty="0">
                <a:solidFill>
                  <a:srgbClr val="0070C0"/>
                </a:solidFill>
              </a:rPr>
              <a:t>w</a:t>
            </a:r>
            <a:r>
              <a:rPr lang="en-US" altLang="zh-CN" sz="2800" i="1" dirty="0">
                <a:solidFill>
                  <a:srgbClr val="0070C0"/>
                </a:solidFill>
                <a:sym typeface="Symbol" panose="05050102010706020507" pitchFamily="18" charset="2"/>
              </a:rPr>
              <a:t> </a:t>
            </a:r>
            <a:r>
              <a:rPr lang="en-US" altLang="zh-CN" sz="2800" dirty="0">
                <a:solidFill>
                  <a:srgbClr val="0070C0"/>
                </a:solidFill>
              </a:rPr>
              <a:t> L(G)</a:t>
            </a:r>
            <a:r>
              <a:rPr lang="zh-CN" altLang="en-US" sz="2800" dirty="0"/>
              <a:t>，否则</a:t>
            </a:r>
            <a:r>
              <a:rPr lang="en-US" altLang="zh-CN" sz="2800" dirty="0">
                <a:solidFill>
                  <a:srgbClr val="0070C0"/>
                </a:solidFill>
              </a:rPr>
              <a:t>w</a:t>
            </a:r>
            <a:r>
              <a:rPr lang="zh-CN" altLang="en-US" sz="2800" dirty="0"/>
              <a:t>有语法错误。</a:t>
            </a:r>
            <a:r>
              <a:rPr sz="2800">
                <a:sym typeface="+mn-ea"/>
              </a:rPr>
              <a:t>该算法自上而下为</a:t>
            </a:r>
            <a:r>
              <a:rPr lang="en-US" altLang="zh-CN" sz="2800">
                <a:sym typeface="+mn-ea"/>
              </a:rPr>
              <a:t>w</a:t>
            </a:r>
            <a:r>
              <a:rPr sz="2800">
                <a:sym typeface="+mn-ea"/>
              </a:rPr>
              <a:t>的分析结果建立一棵语法树。</a:t>
            </a:r>
            <a:endParaRPr lang="zh-CN" altLang="en-US" sz="2800" dirty="0"/>
          </a:p>
          <a:p>
            <a:pPr>
              <a:lnSpc>
                <a:spcPct val="150000"/>
              </a:lnSpc>
              <a:buFont typeface="Wingdings" panose="05000000000000000000" charset="0"/>
              <a:buChar char="p"/>
            </a:pPr>
            <a:r>
              <a:rPr lang="zh-CN" altLang="en-US" sz="2800" dirty="0"/>
              <a:t>例如：已知神经网络模型ONNX语法定义G[mo</a:t>
            </a:r>
            <a:r>
              <a:rPr lang="en-US" altLang="zh-CN" sz="2800" dirty="0"/>
              <a:t>d</a:t>
            </a:r>
            <a:r>
              <a:rPr lang="zh-CN" altLang="en-US" sz="2800" dirty="0"/>
              <a:t>el]（</a:t>
            </a:r>
            <a:r>
              <a:rPr lang="zh-CN" altLang="en-US" sz="2800" dirty="0">
                <a:hlinkClick r:id="rId1" action="ppaction://hlinkfile"/>
              </a:rPr>
              <a:t>ONNX神经网络模型语法定义及文法案例</a:t>
            </a:r>
            <a:r>
              <a:rPr lang="en-US" altLang="zh-CN" sz="2800" dirty="0">
                <a:hlinkClick r:id="rId1" action="ppaction://hlinkfile"/>
              </a:rPr>
              <a:t>.doc</a:t>
            </a:r>
            <a:r>
              <a:rPr lang="zh-CN" altLang="en-US" sz="2800" dirty="0"/>
              <a:t>），对于任意一个模型实例，若从文法的开始符号 ( model ) 出发，能为模型实例构造一个最左推导，则该模型实例是合法的，否则有语法错误。</a:t>
            </a:r>
            <a:endParaRPr lang="zh-CN" altLang="en-US"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70535" y="276860"/>
            <a:ext cx="8126730" cy="593090"/>
          </a:xfrm>
        </p:spPr>
        <p:txBody>
          <a:bodyPr/>
          <a:lstStyle/>
          <a:p>
            <a:r>
              <a:rPr lang="en-US" altLang="zh-CN" sz="3200" dirty="0"/>
              <a:t>4.1</a:t>
            </a:r>
            <a:r>
              <a:rPr lang="zh-CN" altLang="en-US" sz="3200" dirty="0"/>
              <a:t>自上而下的语法分析算法概述</a:t>
            </a:r>
            <a:endParaRPr lang="zh-CN" altLang="en-US" sz="3200" dirty="0"/>
          </a:p>
        </p:txBody>
      </p:sp>
      <p:sp>
        <p:nvSpPr>
          <p:cNvPr id="15" name="文本占位符 14"/>
          <p:cNvSpPr>
            <a:spLocks noGrp="1"/>
          </p:cNvSpPr>
          <p:nvPr>
            <p:ph type="body" sz="quarter" idx="16"/>
          </p:nvPr>
        </p:nvSpPr>
        <p:spPr>
          <a:xfrm>
            <a:off x="470535" y="1134745"/>
            <a:ext cx="5155565" cy="5141595"/>
          </a:xfrm>
        </p:spPr>
        <p:txBody>
          <a:bodyPr>
            <a:noAutofit/>
          </a:bodyPr>
          <a:lstStyle/>
          <a:p>
            <a:pPr marL="0" indent="0" fontAlgn="auto">
              <a:lnSpc>
                <a:spcPct val="125000"/>
              </a:lnSpc>
              <a:buNone/>
            </a:pPr>
            <a:r>
              <a:rPr lang="zh-CN" altLang="en-US" sz="2800" dirty="0"/>
              <a:t>文法</a:t>
            </a:r>
            <a:r>
              <a:rPr lang="en-US" altLang="zh-CN" sz="2800" dirty="0"/>
              <a:t>G</a:t>
            </a:r>
            <a:r>
              <a:rPr lang="zh-CN" altLang="en-US" sz="2800" dirty="0"/>
              <a:t>：</a:t>
            </a:r>
            <a:endParaRPr lang="zh-CN" altLang="en-US" sz="2800" dirty="0"/>
          </a:p>
          <a:p>
            <a:pPr marL="0" indent="0" fontAlgn="auto">
              <a:lnSpc>
                <a:spcPct val="125000"/>
              </a:lnSpc>
              <a:buNone/>
            </a:pPr>
            <a:r>
              <a:rPr lang="zh-CN" altLang="en-US" sz="2800" dirty="0"/>
              <a:t>		</a:t>
            </a:r>
            <a:r>
              <a:rPr lang="en-US" altLang="zh-CN" sz="2800" dirty="0"/>
              <a:t>S → </a:t>
            </a:r>
            <a:r>
              <a:rPr lang="en-US" altLang="zh-CN" sz="2800" dirty="0" err="1"/>
              <a:t>aA</a:t>
            </a:r>
            <a:endParaRPr lang="en-US" altLang="zh-CN" sz="2800" dirty="0"/>
          </a:p>
          <a:p>
            <a:pPr marL="0" indent="0" fontAlgn="auto">
              <a:lnSpc>
                <a:spcPct val="125000"/>
              </a:lnSpc>
              <a:buNone/>
            </a:pPr>
            <a:r>
              <a:rPr lang="en-US" altLang="zh-CN" sz="2800" dirty="0"/>
              <a:t>		S → </a:t>
            </a:r>
            <a:r>
              <a:rPr lang="en-US" altLang="zh-CN" sz="2800" dirty="0" err="1"/>
              <a:t>cAd</a:t>
            </a:r>
            <a:endParaRPr lang="en-US" altLang="zh-CN" sz="2800" dirty="0"/>
          </a:p>
          <a:p>
            <a:pPr marL="0" indent="0" fontAlgn="auto">
              <a:lnSpc>
                <a:spcPct val="125000"/>
              </a:lnSpc>
              <a:buNone/>
            </a:pPr>
            <a:r>
              <a:rPr lang="en-US" altLang="zh-CN" sz="2800" dirty="0"/>
              <a:t>		A → a</a:t>
            </a:r>
            <a:endParaRPr lang="en-US" altLang="zh-CN" sz="2800" dirty="0"/>
          </a:p>
          <a:p>
            <a:pPr marL="0" indent="0" fontAlgn="auto">
              <a:lnSpc>
                <a:spcPct val="125000"/>
              </a:lnSpc>
              <a:buNone/>
            </a:pPr>
            <a:r>
              <a:rPr lang="en-US" altLang="zh-CN" sz="2800" dirty="0"/>
              <a:t>		A → ab</a:t>
            </a:r>
            <a:endParaRPr lang="en-US" altLang="zh-CN" sz="2800" dirty="0"/>
          </a:p>
          <a:p>
            <a:pPr marL="0" indent="0" fontAlgn="auto">
              <a:lnSpc>
                <a:spcPct val="125000"/>
              </a:lnSpc>
              <a:buNone/>
            </a:pPr>
            <a:br>
              <a:rPr lang="en-US" altLang="zh-CN" sz="2800" dirty="0"/>
            </a:br>
            <a:r>
              <a:rPr lang="zh-CN" altLang="en-US" sz="2800" dirty="0"/>
              <a:t>识别输入串</a:t>
            </a:r>
            <a:r>
              <a:rPr lang="en-US" altLang="zh-CN" sz="2800" dirty="0"/>
              <a:t>w=</a:t>
            </a:r>
            <a:r>
              <a:rPr lang="en-US" altLang="zh-CN" sz="2800" dirty="0" err="1"/>
              <a:t>cabd</a:t>
            </a:r>
            <a:r>
              <a:rPr lang="zh-CN" altLang="en-US" sz="2800" dirty="0"/>
              <a:t>是否为该文法所定义的句子？</a:t>
            </a:r>
            <a:endParaRPr lang="zh-CN" altLang="en-US" sz="2800"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文本占位符 13"/>
          <p:cNvSpPr>
            <a:spLocks noGrp="1"/>
          </p:cNvSpPr>
          <p:nvPr/>
        </p:nvSpPr>
        <p:spPr>
          <a:xfrm>
            <a:off x="5560060" y="1135380"/>
            <a:ext cx="6401435" cy="1097280"/>
          </a:xfrm>
          <a:prstGeom prst="rect">
            <a:avLst/>
          </a:prstGeom>
        </p:spPr>
        <p:txBody>
          <a:bodyPr vert="horz" lIns="91440" tIns="45720" rIns="91440" bIns="45720" rtlCol="0"/>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dirty="0"/>
              <a:t>从文法开始符号</a:t>
            </a:r>
            <a:r>
              <a:rPr lang="en-US" altLang="zh-CN" dirty="0"/>
              <a:t>S</a:t>
            </a:r>
            <a:r>
              <a:rPr lang="zh-CN" altLang="en-US" dirty="0"/>
              <a:t>出发试图为</a:t>
            </a:r>
            <a:r>
              <a:rPr lang="en-US" altLang="zh-CN" dirty="0"/>
              <a:t>w=</a:t>
            </a:r>
            <a:r>
              <a:rPr lang="en-US" altLang="zh-CN" dirty="0" err="1"/>
              <a:t>cabd</a:t>
            </a:r>
            <a:r>
              <a:rPr lang="zh-CN" altLang="en-US" dirty="0"/>
              <a:t>构造一个最左推导</a:t>
            </a:r>
            <a:r>
              <a:rPr lang="en-US" altLang="zh-CN" dirty="0"/>
              <a:t>:</a:t>
            </a:r>
            <a:endParaRPr lang="en-US" altLang="zh-CN" dirty="0"/>
          </a:p>
        </p:txBody>
      </p:sp>
      <p:sp>
        <p:nvSpPr>
          <p:cNvPr id="9" name="Rectangle 4"/>
          <p:cNvSpPr>
            <a:spLocks noChangeArrowheads="1"/>
          </p:cNvSpPr>
          <p:nvPr>
            <p:custDataLst>
              <p:tags r:id="rId1"/>
            </p:custDataLst>
          </p:nvPr>
        </p:nvSpPr>
        <p:spPr bwMode="auto">
          <a:xfrm>
            <a:off x="8610600" y="3315166"/>
            <a:ext cx="22707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SzPct val="90000"/>
            </a:pPr>
            <a:r>
              <a:rPr lang="en-US" altLang="zh-CN" sz="2400" b="1" dirty="0" err="1">
                <a:solidFill>
                  <a:srgbClr val="CC0000"/>
                </a:solidFill>
                <a:latin typeface="Times New Roman" panose="02020603050405020304" pitchFamily="18" charset="0"/>
                <a:cs typeface="Times New Roman" panose="02020603050405020304" pitchFamily="18" charset="0"/>
              </a:rPr>
              <a:t>c</a:t>
            </a:r>
            <a:r>
              <a:rPr lang="en-US" altLang="zh-CN" sz="2400" b="1" dirty="0" err="1">
                <a:solidFill>
                  <a:srgbClr val="0000FF"/>
                </a:solidFill>
                <a:latin typeface="Times New Roman" panose="02020603050405020304" pitchFamily="18" charset="0"/>
                <a:cs typeface="Times New Roman" panose="02020603050405020304" pitchFamily="18" charset="0"/>
              </a:rPr>
              <a:t>A</a:t>
            </a:r>
            <a:r>
              <a:rPr lang="en-US" altLang="zh-CN" sz="2400" b="1" dirty="0" err="1">
                <a:solidFill>
                  <a:srgbClr val="CC0000"/>
                </a:solidFill>
                <a:latin typeface="Times New Roman" panose="02020603050405020304" pitchFamily="18" charset="0"/>
                <a:cs typeface="Times New Roman" panose="02020603050405020304" pitchFamily="18" charset="0"/>
              </a:rPr>
              <a:t>d</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dirty="0" err="1">
                <a:solidFill>
                  <a:srgbClr val="CC0000"/>
                </a:solidFill>
                <a:latin typeface="Times New Roman" panose="02020603050405020304" pitchFamily="18" charset="0"/>
                <a:cs typeface="Times New Roman" panose="02020603050405020304" pitchFamily="18" charset="0"/>
              </a:rPr>
              <a:t>cabd</a:t>
            </a:r>
            <a:endParaRPr lang="zh-CN" altLang="en-US" sz="2400" b="1" dirty="0">
              <a:solidFill>
                <a:srgbClr val="CC0000"/>
              </a:solidFill>
              <a:latin typeface="Times New Roman" panose="02020603050405020304" pitchFamily="18" charset="0"/>
              <a:cs typeface="Times New Roman" panose="02020603050405020304" pitchFamily="18" charset="0"/>
            </a:endParaRPr>
          </a:p>
        </p:txBody>
      </p:sp>
      <p:sp>
        <p:nvSpPr>
          <p:cNvPr id="5" name="AutoShape 5"/>
          <p:cNvSpPr/>
          <p:nvPr>
            <p:custDataLst>
              <p:tags r:id="rId2"/>
            </p:custDataLst>
          </p:nvPr>
        </p:nvSpPr>
        <p:spPr bwMode="auto">
          <a:xfrm>
            <a:off x="8458200" y="2497508"/>
            <a:ext cx="76200" cy="1143000"/>
          </a:xfrm>
          <a:prstGeom prst="leftBrace">
            <a:avLst>
              <a:gd name="adj1" fmla="val 125000"/>
              <a:gd name="adj2"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2400" b="1">
              <a:solidFill>
                <a:schemeClr val="tx1"/>
              </a:solidFill>
              <a:latin typeface="Times New Roman" panose="02020603050405020304" pitchFamily="18" charset="0"/>
              <a:cs typeface="Times New Roman" panose="02020603050405020304" pitchFamily="18" charset="0"/>
            </a:endParaRPr>
          </a:p>
        </p:txBody>
      </p:sp>
      <p:sp>
        <p:nvSpPr>
          <p:cNvPr id="11" name="Rectangle 6"/>
          <p:cNvSpPr>
            <a:spLocks noChangeArrowheads="1"/>
          </p:cNvSpPr>
          <p:nvPr>
            <p:custDataLst>
              <p:tags r:id="rId3"/>
            </p:custDataLst>
          </p:nvPr>
        </p:nvSpPr>
        <p:spPr bwMode="auto">
          <a:xfrm>
            <a:off x="8610600" y="2256505"/>
            <a:ext cx="19383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SzPct val="90000"/>
            </a:pPr>
            <a:r>
              <a:rPr lang="en-US" altLang="zh-CN" sz="2400" b="1" dirty="0" err="1">
                <a:solidFill>
                  <a:srgbClr val="CC0000"/>
                </a:solidFill>
                <a:latin typeface="Times New Roman" panose="02020603050405020304" pitchFamily="18" charset="0"/>
                <a:cs typeface="Times New Roman" panose="02020603050405020304" pitchFamily="18" charset="0"/>
              </a:rPr>
              <a:t>c</a:t>
            </a:r>
            <a:r>
              <a:rPr lang="en-US" altLang="zh-CN" sz="2400" b="1" dirty="0" err="1">
                <a:solidFill>
                  <a:srgbClr val="0000FF"/>
                </a:solidFill>
                <a:latin typeface="Times New Roman" panose="02020603050405020304" pitchFamily="18" charset="0"/>
                <a:cs typeface="Times New Roman" panose="02020603050405020304" pitchFamily="18" charset="0"/>
              </a:rPr>
              <a:t>A</a:t>
            </a:r>
            <a:r>
              <a:rPr lang="en-US" altLang="zh-CN" sz="2400" b="1" dirty="0" err="1">
                <a:solidFill>
                  <a:srgbClr val="CC0000"/>
                </a:solidFill>
                <a:latin typeface="Times New Roman" panose="02020603050405020304" pitchFamily="18" charset="0"/>
                <a:cs typeface="Times New Roman" panose="02020603050405020304" pitchFamily="18" charset="0"/>
              </a:rPr>
              <a:t>d</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dirty="0">
                <a:solidFill>
                  <a:srgbClr val="CC0000"/>
                </a:solidFill>
                <a:latin typeface="Times New Roman" panose="02020603050405020304" pitchFamily="18" charset="0"/>
                <a:cs typeface="Times New Roman" panose="02020603050405020304" pitchFamily="18" charset="0"/>
              </a:rPr>
              <a:t>cad</a:t>
            </a:r>
            <a:endParaRPr lang="zh-CN" altLang="en-US" sz="2400" b="1" dirty="0">
              <a:solidFill>
                <a:srgbClr val="CC0000"/>
              </a:solidFill>
              <a:latin typeface="Times New Roman" panose="02020603050405020304" pitchFamily="18" charset="0"/>
              <a:cs typeface="Times New Roman" panose="02020603050405020304" pitchFamily="18" charset="0"/>
            </a:endParaRPr>
          </a:p>
        </p:txBody>
      </p:sp>
      <p:grpSp>
        <p:nvGrpSpPr>
          <p:cNvPr id="13" name="Group 7"/>
          <p:cNvGrpSpPr/>
          <p:nvPr/>
        </p:nvGrpSpPr>
        <p:grpSpPr bwMode="auto">
          <a:xfrm>
            <a:off x="6019800" y="2829295"/>
            <a:ext cx="2357438" cy="460375"/>
            <a:chOff x="1203" y="480"/>
            <a:chExt cx="1485" cy="290"/>
          </a:xfrm>
        </p:grpSpPr>
        <p:sp>
          <p:nvSpPr>
            <p:cNvPr id="16" name="Rectangle 8"/>
            <p:cNvSpPr>
              <a:spLocks noChangeArrowheads="1"/>
            </p:cNvSpPr>
            <p:nvPr>
              <p:custDataLst>
                <p:tags r:id="rId4"/>
              </p:custDataLst>
            </p:nvPr>
          </p:nvSpPr>
          <p:spPr bwMode="auto">
            <a:xfrm>
              <a:off x="1203" y="480"/>
              <a:ext cx="83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SzPct val="90000"/>
              </a:pPr>
              <a:r>
                <a:rPr lang="en-US" altLang="zh-CN" sz="2400" b="1" dirty="0">
                  <a:solidFill>
                    <a:schemeClr val="tx1"/>
                  </a:solidFill>
                  <a:latin typeface="Times New Roman" panose="02020603050405020304" pitchFamily="18" charset="0"/>
                  <a:cs typeface="Times New Roman" panose="02020603050405020304" pitchFamily="18" charset="0"/>
                </a:rPr>
                <a:t>S </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dirty="0" err="1">
                  <a:solidFill>
                    <a:srgbClr val="CC0000"/>
                  </a:solidFill>
                  <a:latin typeface="Times New Roman" panose="02020603050405020304" pitchFamily="18" charset="0"/>
                  <a:cs typeface="Times New Roman" panose="02020603050405020304" pitchFamily="18" charset="0"/>
                </a:rPr>
                <a:t>c</a:t>
              </a:r>
              <a:r>
                <a:rPr lang="en-US" altLang="zh-CN" sz="2400" b="1" dirty="0" err="1">
                  <a:solidFill>
                    <a:srgbClr val="0000FF"/>
                  </a:solidFill>
                  <a:latin typeface="Times New Roman" panose="02020603050405020304" pitchFamily="18" charset="0"/>
                  <a:cs typeface="Times New Roman" panose="02020603050405020304" pitchFamily="18" charset="0"/>
                </a:rPr>
                <a:t>A</a:t>
              </a:r>
              <a:r>
                <a:rPr lang="en-US" altLang="zh-CN" sz="2400" b="1" dirty="0" err="1">
                  <a:solidFill>
                    <a:srgbClr val="CC0000"/>
                  </a:solidFill>
                  <a:latin typeface="Times New Roman" panose="02020603050405020304" pitchFamily="18" charset="0"/>
                  <a:cs typeface="Times New Roman" panose="02020603050405020304" pitchFamily="18" charset="0"/>
                </a:rPr>
                <a:t>d</a:t>
              </a:r>
              <a:endParaRPr lang="zh-CN" altLang="en-US" sz="2400" b="1" dirty="0">
                <a:solidFill>
                  <a:srgbClr val="CC0000"/>
                </a:solidFill>
                <a:latin typeface="Times New Roman" panose="02020603050405020304" pitchFamily="18" charset="0"/>
                <a:cs typeface="Times New Roman" panose="02020603050405020304" pitchFamily="18" charset="0"/>
              </a:endParaRPr>
            </a:p>
          </p:txBody>
        </p:sp>
        <p:sp>
          <p:nvSpPr>
            <p:cNvPr id="17" name="Line 9"/>
            <p:cNvSpPr>
              <a:spLocks noChangeShapeType="1"/>
            </p:cNvSpPr>
            <p:nvPr>
              <p:custDataLst>
                <p:tags r:id="rId5"/>
              </p:custDataLst>
            </p:nvPr>
          </p:nvSpPr>
          <p:spPr bwMode="auto">
            <a:xfrm>
              <a:off x="2189" y="628"/>
              <a:ext cx="499"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Times New Roman" panose="02020603050405020304" pitchFamily="18" charset="0"/>
                <a:cs typeface="Times New Roman" panose="02020603050405020304" pitchFamily="18" charset="0"/>
              </a:endParaRPr>
            </a:p>
          </p:txBody>
        </p:sp>
      </p:grpSp>
      <p:sp>
        <p:nvSpPr>
          <p:cNvPr id="18" name="Rectangle 11"/>
          <p:cNvSpPr>
            <a:spLocks noChangeArrowheads="1"/>
          </p:cNvSpPr>
          <p:nvPr>
            <p:custDataLst>
              <p:tags r:id="rId6"/>
            </p:custDataLst>
          </p:nvPr>
        </p:nvSpPr>
        <p:spPr bwMode="auto">
          <a:xfrm>
            <a:off x="6024563" y="3938610"/>
            <a:ext cx="3657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chemeClr val="tx1"/>
                </a:solidFill>
                <a:latin typeface="Times New Roman" panose="02020603050405020304" pitchFamily="18" charset="0"/>
                <a:cs typeface="Times New Roman" panose="02020603050405020304" pitchFamily="18" charset="0"/>
              </a:rPr>
              <a:t>S </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dirty="0" err="1">
                <a:solidFill>
                  <a:srgbClr val="CC0000"/>
                </a:solidFill>
                <a:latin typeface="Times New Roman" panose="02020603050405020304" pitchFamily="18" charset="0"/>
                <a:cs typeface="Times New Roman" panose="02020603050405020304" pitchFamily="18" charset="0"/>
              </a:rPr>
              <a:t>c</a:t>
            </a:r>
            <a:r>
              <a:rPr lang="en-US" altLang="zh-CN" sz="2400" b="1" dirty="0" err="1">
                <a:solidFill>
                  <a:srgbClr val="0000FF"/>
                </a:solidFill>
                <a:latin typeface="Times New Roman" panose="02020603050405020304" pitchFamily="18" charset="0"/>
                <a:cs typeface="Times New Roman" panose="02020603050405020304" pitchFamily="18" charset="0"/>
              </a:rPr>
              <a:t>A</a:t>
            </a:r>
            <a:r>
              <a:rPr lang="en-US" altLang="zh-CN" sz="2400" b="1" dirty="0" err="1">
                <a:solidFill>
                  <a:srgbClr val="CC0000"/>
                </a:solidFill>
                <a:latin typeface="Times New Roman" panose="02020603050405020304" pitchFamily="18" charset="0"/>
                <a:cs typeface="Times New Roman" panose="02020603050405020304" pitchFamily="18" charset="0"/>
              </a:rPr>
              <a:t>d</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sz="2400" b="1" dirty="0" err="1">
                <a:solidFill>
                  <a:srgbClr val="CC0000"/>
                </a:solidFill>
                <a:latin typeface="Times New Roman" panose="02020603050405020304" pitchFamily="18" charset="0"/>
                <a:cs typeface="Times New Roman" panose="02020603050405020304" pitchFamily="18" charset="0"/>
              </a:rPr>
              <a:t>cabd</a:t>
            </a:r>
            <a:endParaRPr lang="zh-CN" altLang="en-US" sz="2400" b="1" dirty="0">
              <a:solidFill>
                <a:srgbClr val="CC0000"/>
              </a:solidFill>
              <a:latin typeface="Times New Roman" panose="02020603050405020304" pitchFamily="18" charset="0"/>
              <a:cs typeface="Times New Roman" panose="02020603050405020304" pitchFamily="18" charset="0"/>
            </a:endParaRPr>
          </a:p>
        </p:txBody>
      </p:sp>
      <p:grpSp>
        <p:nvGrpSpPr>
          <p:cNvPr id="20" name="组合 27"/>
          <p:cNvGrpSpPr/>
          <p:nvPr/>
        </p:nvGrpSpPr>
        <p:grpSpPr bwMode="auto">
          <a:xfrm>
            <a:off x="9601200" y="3972295"/>
            <a:ext cx="2233613" cy="993775"/>
            <a:chOff x="4572000" y="3048000"/>
            <a:chExt cx="2233613" cy="993775"/>
          </a:xfrm>
        </p:grpSpPr>
        <p:sp>
          <p:nvSpPr>
            <p:cNvPr id="21" name="Line 17"/>
            <p:cNvSpPr>
              <a:spLocks noChangeShapeType="1"/>
            </p:cNvSpPr>
            <p:nvPr>
              <p:custDataLst>
                <p:tags r:id="rId7"/>
              </p:custDataLst>
            </p:nvPr>
          </p:nvSpPr>
          <p:spPr bwMode="auto">
            <a:xfrm>
              <a:off x="5729288" y="3371850"/>
              <a:ext cx="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400" b="1">
                <a:latin typeface="Times New Roman" panose="02020603050405020304" pitchFamily="18" charset="0"/>
                <a:cs typeface="Times New Roman" panose="02020603050405020304" pitchFamily="18" charset="0"/>
              </a:endParaRPr>
            </a:p>
          </p:txBody>
        </p:sp>
        <p:sp>
          <p:nvSpPr>
            <p:cNvPr id="22" name="Line 18"/>
            <p:cNvSpPr>
              <a:spLocks noChangeShapeType="1"/>
            </p:cNvSpPr>
            <p:nvPr>
              <p:custDataLst>
                <p:tags r:id="rId8"/>
              </p:custDataLst>
            </p:nvPr>
          </p:nvSpPr>
          <p:spPr bwMode="auto">
            <a:xfrm flipH="1">
              <a:off x="4814888" y="3371850"/>
              <a:ext cx="914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400" b="1">
                <a:latin typeface="Times New Roman" panose="02020603050405020304" pitchFamily="18" charset="0"/>
                <a:cs typeface="Times New Roman" panose="02020603050405020304" pitchFamily="18" charset="0"/>
              </a:endParaRPr>
            </a:p>
          </p:txBody>
        </p:sp>
        <p:sp>
          <p:nvSpPr>
            <p:cNvPr id="23" name="Line 19"/>
            <p:cNvSpPr>
              <a:spLocks noChangeShapeType="1"/>
            </p:cNvSpPr>
            <p:nvPr>
              <p:custDataLst>
                <p:tags r:id="rId9"/>
              </p:custDataLst>
            </p:nvPr>
          </p:nvSpPr>
          <p:spPr bwMode="auto">
            <a:xfrm>
              <a:off x="5729288" y="3371850"/>
              <a:ext cx="914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400" b="1">
                <a:latin typeface="Times New Roman" panose="02020603050405020304" pitchFamily="18" charset="0"/>
                <a:cs typeface="Times New Roman" panose="02020603050405020304" pitchFamily="18" charset="0"/>
              </a:endParaRPr>
            </a:p>
          </p:txBody>
        </p:sp>
        <p:sp useBgFill="1">
          <p:nvSpPr>
            <p:cNvPr id="24" name="Rectangle 22"/>
            <p:cNvSpPr>
              <a:spLocks noChangeArrowheads="1"/>
            </p:cNvSpPr>
            <p:nvPr>
              <p:custDataLst>
                <p:tags r:id="rId10"/>
              </p:custDataLst>
            </p:nvPr>
          </p:nvSpPr>
          <p:spPr bwMode="auto">
            <a:xfrm>
              <a:off x="4572000" y="3581400"/>
              <a:ext cx="45720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buSzPct val="90000"/>
              </a:pPr>
              <a:r>
                <a:rPr lang="en-US" altLang="zh-CN" sz="2400" b="1">
                  <a:solidFill>
                    <a:srgbClr val="CC0000"/>
                  </a:solidFill>
                  <a:latin typeface="Times New Roman" panose="02020603050405020304" pitchFamily="18" charset="0"/>
                  <a:cs typeface="Times New Roman" panose="02020603050405020304" pitchFamily="18" charset="0"/>
                </a:rPr>
                <a:t>c</a:t>
              </a:r>
              <a:endParaRPr lang="zh-CN" altLang="en-US" sz="2400" b="1">
                <a:solidFill>
                  <a:srgbClr val="CC0000"/>
                </a:solidFill>
                <a:latin typeface="Times New Roman" panose="02020603050405020304" pitchFamily="18" charset="0"/>
                <a:cs typeface="Times New Roman" panose="02020603050405020304" pitchFamily="18" charset="0"/>
              </a:endParaRPr>
            </a:p>
          </p:txBody>
        </p:sp>
        <p:sp useBgFill="1">
          <p:nvSpPr>
            <p:cNvPr id="25" name="Rectangle 23"/>
            <p:cNvSpPr>
              <a:spLocks noChangeArrowheads="1"/>
            </p:cNvSpPr>
            <p:nvPr>
              <p:custDataLst>
                <p:tags r:id="rId11"/>
              </p:custDataLst>
            </p:nvPr>
          </p:nvSpPr>
          <p:spPr bwMode="auto">
            <a:xfrm>
              <a:off x="5486400" y="3048000"/>
              <a:ext cx="45720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buSzPct val="90000"/>
              </a:pPr>
              <a:r>
                <a:rPr lang="en-US" altLang="zh-CN" sz="2400" b="1">
                  <a:solidFill>
                    <a:srgbClr val="03010F"/>
                  </a:solidFill>
                  <a:latin typeface="Times New Roman" panose="02020603050405020304" pitchFamily="18" charset="0"/>
                  <a:cs typeface="Times New Roman" panose="02020603050405020304" pitchFamily="18" charset="0"/>
                </a:rPr>
                <a:t>S</a:t>
              </a:r>
              <a:endParaRPr lang="zh-CN" altLang="en-US" sz="2400" b="1">
                <a:solidFill>
                  <a:srgbClr val="03010F"/>
                </a:solidFill>
                <a:latin typeface="Times New Roman" panose="02020603050405020304" pitchFamily="18" charset="0"/>
                <a:cs typeface="Times New Roman" panose="02020603050405020304" pitchFamily="18" charset="0"/>
              </a:endParaRPr>
            </a:p>
          </p:txBody>
        </p:sp>
        <p:sp>
          <p:nvSpPr>
            <p:cNvPr id="26" name="Rectangle 24"/>
            <p:cNvSpPr>
              <a:spLocks noChangeArrowheads="1"/>
            </p:cNvSpPr>
            <p:nvPr>
              <p:custDataLst>
                <p:tags r:id="rId12"/>
              </p:custDataLst>
            </p:nvPr>
          </p:nvSpPr>
          <p:spPr bwMode="auto">
            <a:xfrm>
              <a:off x="6400800" y="3581400"/>
              <a:ext cx="4048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SzPct val="90000"/>
              </a:pPr>
              <a:r>
                <a:rPr lang="en-US" altLang="zh-CN" sz="2400" b="1">
                  <a:solidFill>
                    <a:srgbClr val="CC0000"/>
                  </a:solidFill>
                  <a:latin typeface="Times New Roman" panose="02020603050405020304" pitchFamily="18" charset="0"/>
                  <a:cs typeface="Times New Roman" panose="02020603050405020304" pitchFamily="18" charset="0"/>
                </a:rPr>
                <a:t>d</a:t>
              </a:r>
              <a:endParaRPr lang="zh-CN" altLang="en-US" sz="2400" b="1">
                <a:solidFill>
                  <a:srgbClr val="CC0000"/>
                </a:solidFill>
                <a:latin typeface="Times New Roman" panose="02020603050405020304" pitchFamily="18" charset="0"/>
                <a:cs typeface="Times New Roman" panose="02020603050405020304" pitchFamily="18" charset="0"/>
              </a:endParaRPr>
            </a:p>
          </p:txBody>
        </p:sp>
        <p:sp>
          <p:nvSpPr>
            <p:cNvPr id="27" name="Rectangle 25"/>
            <p:cNvSpPr>
              <a:spLocks noChangeArrowheads="1"/>
            </p:cNvSpPr>
            <p:nvPr>
              <p:custDataLst>
                <p:tags r:id="rId13"/>
              </p:custDataLst>
            </p:nvPr>
          </p:nvSpPr>
          <p:spPr bwMode="auto">
            <a:xfrm>
              <a:off x="5543550" y="3406775"/>
              <a:ext cx="403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SzPct val="90000"/>
              </a:pPr>
              <a:r>
                <a:rPr lang="en-US" altLang="zh-CN" sz="2400" b="1">
                  <a:solidFill>
                    <a:srgbClr val="03010F"/>
                  </a:solidFill>
                  <a:latin typeface="Times New Roman" panose="02020603050405020304" pitchFamily="18" charset="0"/>
                  <a:cs typeface="Times New Roman" panose="02020603050405020304" pitchFamily="18" charset="0"/>
                </a:rPr>
                <a:t>A</a:t>
              </a:r>
              <a:endParaRPr lang="en-US" altLang="zh-CN" sz="2400" b="1">
                <a:solidFill>
                  <a:srgbClr val="03010F"/>
                </a:solidFill>
                <a:latin typeface="Times New Roman" panose="02020603050405020304" pitchFamily="18" charset="0"/>
                <a:cs typeface="Times New Roman" panose="02020603050405020304" pitchFamily="18" charset="0"/>
              </a:endParaRPr>
            </a:p>
          </p:txBody>
        </p:sp>
      </p:grpSp>
      <p:grpSp>
        <p:nvGrpSpPr>
          <p:cNvPr id="28" name="组合 26"/>
          <p:cNvGrpSpPr/>
          <p:nvPr/>
        </p:nvGrpSpPr>
        <p:grpSpPr bwMode="auto">
          <a:xfrm>
            <a:off x="10210800" y="4810495"/>
            <a:ext cx="1190625" cy="666750"/>
            <a:chOff x="5181600" y="3886200"/>
            <a:chExt cx="1190625" cy="666750"/>
          </a:xfrm>
        </p:grpSpPr>
        <p:sp>
          <p:nvSpPr>
            <p:cNvPr id="29" name="Line 20"/>
            <p:cNvSpPr>
              <a:spLocks noChangeShapeType="1"/>
            </p:cNvSpPr>
            <p:nvPr>
              <p:custDataLst>
                <p:tags r:id="rId14"/>
              </p:custDataLst>
            </p:nvPr>
          </p:nvSpPr>
          <p:spPr bwMode="auto">
            <a:xfrm flipH="1">
              <a:off x="5443538" y="3905250"/>
              <a:ext cx="304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400" b="1">
                <a:latin typeface="Times New Roman" panose="02020603050405020304" pitchFamily="18" charset="0"/>
                <a:cs typeface="Times New Roman" panose="02020603050405020304" pitchFamily="18" charset="0"/>
              </a:endParaRPr>
            </a:p>
          </p:txBody>
        </p:sp>
        <p:sp>
          <p:nvSpPr>
            <p:cNvPr id="30" name="Line 21"/>
            <p:cNvSpPr>
              <a:spLocks noChangeShapeType="1"/>
            </p:cNvSpPr>
            <p:nvPr>
              <p:custDataLst>
                <p:tags r:id="rId15"/>
              </p:custDataLst>
            </p:nvPr>
          </p:nvSpPr>
          <p:spPr bwMode="auto">
            <a:xfrm>
              <a:off x="5734050" y="3886200"/>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400" b="1">
                <a:latin typeface="Times New Roman" panose="02020603050405020304" pitchFamily="18" charset="0"/>
                <a:cs typeface="Times New Roman" panose="02020603050405020304" pitchFamily="18" charset="0"/>
              </a:endParaRPr>
            </a:p>
          </p:txBody>
        </p:sp>
        <p:sp>
          <p:nvSpPr>
            <p:cNvPr id="31" name="Rectangle 26"/>
            <p:cNvSpPr>
              <a:spLocks noChangeArrowheads="1"/>
            </p:cNvSpPr>
            <p:nvPr>
              <p:custDataLst>
                <p:tags r:id="rId16"/>
              </p:custDataLst>
            </p:nvPr>
          </p:nvSpPr>
          <p:spPr bwMode="auto">
            <a:xfrm>
              <a:off x="6019800" y="4092575"/>
              <a:ext cx="3524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SzPct val="90000"/>
              </a:pPr>
              <a:r>
                <a:rPr lang="en-US" altLang="zh-CN" sz="2400" b="1">
                  <a:solidFill>
                    <a:srgbClr val="CC0000"/>
                  </a:solidFill>
                  <a:latin typeface="Times New Roman" panose="02020603050405020304" pitchFamily="18" charset="0"/>
                  <a:cs typeface="Times New Roman" panose="02020603050405020304" pitchFamily="18" charset="0"/>
                </a:rPr>
                <a:t>b</a:t>
              </a:r>
              <a:endParaRPr lang="zh-CN" altLang="en-US" sz="2400" b="1">
                <a:solidFill>
                  <a:srgbClr val="CC0000"/>
                </a:solidFill>
                <a:latin typeface="Times New Roman" panose="02020603050405020304" pitchFamily="18" charset="0"/>
                <a:cs typeface="Times New Roman" panose="02020603050405020304" pitchFamily="18" charset="0"/>
              </a:endParaRPr>
            </a:p>
          </p:txBody>
        </p:sp>
        <p:sp>
          <p:nvSpPr>
            <p:cNvPr id="32" name="Rectangle 27"/>
            <p:cNvSpPr>
              <a:spLocks noChangeArrowheads="1"/>
            </p:cNvSpPr>
            <p:nvPr>
              <p:custDataLst>
                <p:tags r:id="rId17"/>
              </p:custDataLst>
            </p:nvPr>
          </p:nvSpPr>
          <p:spPr bwMode="auto">
            <a:xfrm>
              <a:off x="5181600" y="4092575"/>
              <a:ext cx="335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SzPct val="90000"/>
              </a:pPr>
              <a:r>
                <a:rPr lang="en-US" altLang="zh-CN" sz="2400" b="1">
                  <a:solidFill>
                    <a:srgbClr val="CC0000"/>
                  </a:solidFill>
                  <a:latin typeface="Times New Roman" panose="02020603050405020304" pitchFamily="18" charset="0"/>
                  <a:cs typeface="Times New Roman" panose="02020603050405020304" pitchFamily="18" charset="0"/>
                </a:rPr>
                <a:t>a</a:t>
              </a:r>
              <a:endParaRPr lang="zh-CN" altLang="en-US" sz="2400" b="1">
                <a:solidFill>
                  <a:srgbClr val="CC0000"/>
                </a:solidFill>
                <a:latin typeface="Times New Roman" panose="02020603050405020304" pitchFamily="18" charset="0"/>
                <a:cs typeface="Times New Roman" panose="02020603050405020304" pitchFamily="18" charset="0"/>
              </a:endParaRPr>
            </a:p>
          </p:txBody>
        </p:sp>
      </p:grpSp>
      <p:sp>
        <p:nvSpPr>
          <p:cNvPr id="33" name="Rectangle 28"/>
          <p:cNvSpPr>
            <a:spLocks noChangeArrowheads="1"/>
          </p:cNvSpPr>
          <p:nvPr>
            <p:custDataLst>
              <p:tags r:id="rId18"/>
            </p:custDataLst>
          </p:nvPr>
        </p:nvSpPr>
        <p:spPr bwMode="auto">
          <a:xfrm>
            <a:off x="10472738" y="5506223"/>
            <a:ext cx="91935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070C0"/>
                </a:solidFill>
                <a:latin typeface="Times New Roman" panose="02020603050405020304" pitchFamily="18" charset="0"/>
                <a:cs typeface="Times New Roman" panose="02020603050405020304" pitchFamily="18" charset="0"/>
              </a:rPr>
              <a:t>成功</a:t>
            </a:r>
            <a:endParaRPr lang="zh-CN" altLang="en-US" sz="2400"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42"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arn(outHorizontal)">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out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out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arn(outHorizontal)">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arn(inHorizontal)">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barn(inHorizontal)">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barn(inHorizontal)">
                                      <p:cBhvr>
                                        <p:cTn id="4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bldLvl="0" animBg="1"/>
      <p:bldP spid="11" grpId="0"/>
      <p:bldP spid="18" grpId="0"/>
      <p:bldP spid="33" grpId="0"/>
      <p:bldP spid="4" grpId="0"/>
      <p:bldP spid="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4</a:t>
            </a:r>
            <a:r>
              <a:rPr lang="zh-CN" altLang="en-US" dirty="0"/>
              <a:t>单元</a:t>
            </a:r>
            <a:endParaRPr lang="zh-CN" altLang="en-US" dirty="0"/>
          </a:p>
        </p:txBody>
      </p:sp>
      <p:sp>
        <p:nvSpPr>
          <p:cNvPr id="24" name="文本占位符 23"/>
          <p:cNvSpPr>
            <a:spLocks noGrp="1"/>
          </p:cNvSpPr>
          <p:nvPr>
            <p:ph type="body" sz="quarter" idx="14"/>
          </p:nvPr>
        </p:nvSpPr>
        <p:spPr>
          <a:xfrm>
            <a:off x="2374900" y="2106295"/>
            <a:ext cx="8258175" cy="3630930"/>
          </a:xfrm>
        </p:spPr>
        <p:txBody>
          <a:bodyPr>
            <a:noAutofit/>
          </a:bodyPr>
          <a:lstStyle/>
          <a:p>
            <a:r>
              <a:rPr lang="en-US" altLang="zh-CN" sz="2400" b="1" dirty="0">
                <a:solidFill>
                  <a:schemeClr val="tx1"/>
                </a:solidFill>
                <a:latin typeface="微软雅黑" panose="020B0503020204020204" charset="-122"/>
                <a:ea typeface="微软雅黑" panose="020B0503020204020204" charset="-122"/>
                <a:cs typeface="微软雅黑" panose="020B0503020204020204" charset="-122"/>
              </a:rPr>
              <a:t>4.1</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自上而下的语法分析算法概述</a:t>
            </a:r>
            <a:endParaRPr lang="en-US" altLang="zh-CN" sz="2400" b="1" dirty="0">
              <a:solidFill>
                <a:schemeClr val="tx1"/>
              </a:solidFill>
              <a:latin typeface="微软雅黑" panose="020B0503020204020204" charset="-122"/>
              <a:ea typeface="微软雅黑" panose="020B0503020204020204" charset="-122"/>
              <a:cs typeface="微软雅黑" panose="020B0503020204020204" charset="-122"/>
            </a:endParaRPr>
          </a:p>
          <a:p>
            <a:r>
              <a:rPr lang="en-US" altLang="zh-CN" sz="2400" b="1" dirty="0">
                <a:solidFill>
                  <a:srgbClr val="0070C0"/>
                </a:solidFill>
                <a:latin typeface="微软雅黑" panose="020B0503020204020204" charset="-122"/>
                <a:ea typeface="微软雅黑" panose="020B0503020204020204" charset="-122"/>
                <a:cs typeface="微软雅黑" panose="020B0503020204020204" charset="-122"/>
              </a:rPr>
              <a:t>4.2</a:t>
            </a:r>
            <a:r>
              <a:rPr lang="zh-CN" altLang="en-US" sz="2400" b="1" dirty="0">
                <a:solidFill>
                  <a:srgbClr val="0070C0"/>
                </a:solidFill>
                <a:latin typeface="微软雅黑" panose="020B0503020204020204" charset="-122"/>
                <a:ea typeface="微软雅黑" panose="020B0503020204020204" charset="-122"/>
                <a:cs typeface="微软雅黑" panose="020B0503020204020204" charset="-122"/>
              </a:rPr>
              <a:t>递归下降分析（</a:t>
            </a:r>
            <a:r>
              <a:rPr lang="en-US" altLang="zh-CN" sz="2400" b="1" dirty="0">
                <a:solidFill>
                  <a:srgbClr val="0070C0"/>
                </a:solidFill>
                <a:latin typeface="微软雅黑" panose="020B0503020204020204" charset="-122"/>
                <a:ea typeface="微软雅黑" panose="020B0503020204020204" charset="-122"/>
                <a:cs typeface="微软雅黑" panose="020B0503020204020204" charset="-122"/>
              </a:rPr>
              <a:t>Recursive-Descent Top-Down Parsing</a:t>
            </a:r>
            <a:r>
              <a:rPr lang="zh-CN" altLang="en-US" sz="2400" b="1" dirty="0">
                <a:solidFill>
                  <a:srgbClr val="0070C0"/>
                </a:solidFill>
                <a:latin typeface="微软雅黑" panose="020B0503020204020204" charset="-122"/>
                <a:ea typeface="微软雅黑" panose="020B0503020204020204" charset="-122"/>
                <a:cs typeface="微软雅黑" panose="020B0503020204020204" charset="-122"/>
              </a:rPr>
              <a:t>）</a:t>
            </a:r>
            <a:endParaRPr lang="zh-CN" altLang="en-US" sz="2400" b="1" dirty="0">
              <a:solidFill>
                <a:srgbClr val="0070C0"/>
              </a:solidFill>
              <a:latin typeface="微软雅黑" panose="020B0503020204020204" charset="-122"/>
              <a:ea typeface="微软雅黑" panose="020B0503020204020204" charset="-122"/>
              <a:cs typeface="微软雅黑" panose="020B0503020204020204" charset="-122"/>
            </a:endParaRPr>
          </a:p>
          <a:p>
            <a:r>
              <a:rPr lang="en-US" altLang="zh-CN" sz="2400" b="1" dirty="0">
                <a:solidFill>
                  <a:schemeClr val="tx1"/>
                </a:solidFill>
                <a:latin typeface="微软雅黑" panose="020B0503020204020204" charset="-122"/>
                <a:ea typeface="微软雅黑" panose="020B0503020204020204" charset="-122"/>
                <a:cs typeface="微软雅黑" panose="020B0503020204020204" charset="-122"/>
              </a:rPr>
              <a:t>4.3 LL(1)</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分析</a:t>
            </a:r>
            <a:endParaRPr lang="en-US" altLang="zh-CN" sz="2400" b="1" dirty="0">
              <a:solidFill>
                <a:schemeClr val="tx1"/>
              </a:solidFill>
              <a:latin typeface="微软雅黑" panose="020B0503020204020204" charset="-122"/>
              <a:ea typeface="微软雅黑" panose="020B0503020204020204" charset="-122"/>
              <a:cs typeface="微软雅黑" panose="020B0503020204020204" charset="-122"/>
            </a:endParaRPr>
          </a:p>
          <a:p>
            <a:r>
              <a:rPr lang="en-US" altLang="zh-CN" sz="2400" b="1" dirty="0">
                <a:solidFill>
                  <a:schemeClr val="tx1"/>
                </a:solidFill>
                <a:latin typeface="微软雅黑" panose="020B0503020204020204" charset="-122"/>
                <a:ea typeface="微软雅黑" panose="020B0503020204020204" charset="-122"/>
                <a:cs typeface="微软雅黑" panose="020B0503020204020204" charset="-122"/>
              </a:rPr>
              <a:t>4.4</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自上而下的语法分析器自动生成工具</a:t>
            </a:r>
            <a:r>
              <a:rPr lang="en-US" altLang="zh-CN" sz="2400" b="1"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400" b="1" dirty="0" err="1">
                <a:solidFill>
                  <a:schemeClr val="tx1"/>
                </a:solidFill>
                <a:latin typeface="微软雅黑" panose="020B0503020204020204" charset="-122"/>
                <a:ea typeface="微软雅黑" panose="020B0503020204020204" charset="-122"/>
                <a:cs typeface="微软雅黑" panose="020B0503020204020204" charset="-122"/>
              </a:rPr>
              <a:t>JavaCC</a:t>
            </a:r>
            <a:endParaRPr lang="en-US" altLang="zh-CN" sz="2400" b="1" dirty="0">
              <a:solidFill>
                <a:schemeClr val="tx1"/>
              </a:solidFill>
              <a:latin typeface="微软雅黑" panose="020B0503020204020204" charset="-122"/>
              <a:ea typeface="微软雅黑" panose="020B0503020204020204" charset="-122"/>
              <a:cs typeface="微软雅黑" panose="020B0503020204020204" charset="-122"/>
            </a:endParaRPr>
          </a:p>
          <a:p>
            <a:r>
              <a:rPr lang="en-US" altLang="zh-CN" sz="2400" b="1" dirty="0">
                <a:solidFill>
                  <a:schemeClr val="tx1"/>
                </a:solidFill>
                <a:latin typeface="微软雅黑" panose="020B0503020204020204" charset="-122"/>
                <a:ea typeface="微软雅黑" panose="020B0503020204020204" charset="-122"/>
                <a:cs typeface="微软雅黑" panose="020B0503020204020204" charset="-122"/>
              </a:rPr>
              <a:t>4.5 </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项目：编译器实现（语法分析模块）</a:t>
            </a:r>
            <a:endParaRPr lang="zh-CN" altLang="en-US" sz="2400" b="1" dirty="0">
              <a:solidFill>
                <a:schemeClr val="tx1"/>
              </a:solidFill>
              <a:latin typeface="微软雅黑" panose="020B0503020204020204" charset="-122"/>
              <a:ea typeface="微软雅黑" panose="020B0503020204020204" charset="-122"/>
              <a:cs typeface="微软雅黑" panose="020B0503020204020204" charset="-122"/>
            </a:endParaRPr>
          </a:p>
        </p:txBody>
      </p:sp>
      <p:grpSp>
        <p:nvGrpSpPr>
          <p:cNvPr id="5" name="组合 4"/>
          <p:cNvGrpSpPr/>
          <p:nvPr/>
        </p:nvGrpSpPr>
        <p:grpSpPr>
          <a:xfrm>
            <a:off x="2079012" y="2106539"/>
            <a:ext cx="5101717" cy="2169626"/>
            <a:chOff x="555012" y="2106539"/>
            <a:chExt cx="5101717" cy="2169626"/>
          </a:xfrm>
        </p:grpSpPr>
        <p:sp>
          <p:nvSpPr>
            <p:cNvPr id="6" name="矩形: 圆角 5"/>
            <p:cNvSpPr/>
            <p:nvPr/>
          </p:nvSpPr>
          <p:spPr>
            <a:xfrm>
              <a:off x="850847" y="2106539"/>
              <a:ext cx="4805882" cy="589645"/>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左大括号 6"/>
            <p:cNvSpPr/>
            <p:nvPr/>
          </p:nvSpPr>
          <p:spPr>
            <a:xfrm>
              <a:off x="555012" y="3065929"/>
              <a:ext cx="295835" cy="1210236"/>
            </a:xfrm>
            <a:prstGeom prst="leftBrace">
              <a:avLst>
                <a:gd name="adj1" fmla="val 56818"/>
                <a:gd name="adj2" fmla="val 50000"/>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latin typeface="微软雅黑" panose="020B0503020204020204" charset="-122"/>
                <a:ea typeface="微软雅黑" panose="020B0503020204020204" charset="-122"/>
              </a:endParaRPr>
            </a:p>
          </p:txBody>
        </p:sp>
        <p:cxnSp>
          <p:nvCxnSpPr>
            <p:cNvPr id="8" name="连接符: 肘形 7"/>
            <p:cNvCxnSpPr>
              <a:stCxn id="6" idx="1"/>
              <a:endCxn id="7" idx="1"/>
            </p:cNvCxnSpPr>
            <p:nvPr/>
          </p:nvCxnSpPr>
          <p:spPr>
            <a:xfrm rot="10800000" flipV="1">
              <a:off x="555013" y="2401361"/>
              <a:ext cx="295835" cy="1269685"/>
            </a:xfrm>
            <a:prstGeom prst="bentConnector3">
              <a:avLst>
                <a:gd name="adj1" fmla="val 177273"/>
              </a:avLst>
            </a:prstGeom>
            <a:noFill/>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accent2"/>
            </a:fontRef>
          </p:style>
        </p:cxn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27355" y="276860"/>
            <a:ext cx="8411845" cy="593090"/>
          </a:xfrm>
        </p:spPr>
        <p:txBody>
          <a:bodyPr/>
          <a:lstStyle/>
          <a:p>
            <a:r>
              <a:rPr lang="en-US" altLang="zh-CN" sz="3200" dirty="0"/>
              <a:t>4.2.1 </a:t>
            </a:r>
            <a:r>
              <a:rPr lang="zh-CN" altLang="en-US" sz="3200" dirty="0"/>
              <a:t>递归下降分析的基本方法</a:t>
            </a:r>
            <a:endParaRPr lang="en-US" altLang="zh-CN" sz="3200" dirty="0"/>
          </a:p>
        </p:txBody>
      </p:sp>
      <p:sp>
        <p:nvSpPr>
          <p:cNvPr id="14" name="文本占位符 13"/>
          <p:cNvSpPr>
            <a:spLocks noGrp="1"/>
          </p:cNvSpPr>
          <p:nvPr>
            <p:ph type="body" sz="quarter" idx="15"/>
          </p:nvPr>
        </p:nvSpPr>
        <p:spPr>
          <a:xfrm>
            <a:off x="480695" y="1248410"/>
            <a:ext cx="6341745" cy="515620"/>
          </a:xfrm>
        </p:spPr>
        <p:txBody>
          <a:bodyPr>
            <a:normAutofit lnSpcReduction="10000"/>
          </a:bodyPr>
          <a:lstStyle/>
          <a:p>
            <a:r>
              <a:rPr lang="zh-CN" altLang="en-US" dirty="0">
                <a:solidFill>
                  <a:srgbClr val="0070C0"/>
                </a:solidFill>
              </a:rPr>
              <a:t>例</a:t>
            </a:r>
            <a:r>
              <a:rPr lang="en-US" altLang="zh-CN" dirty="0">
                <a:solidFill>
                  <a:srgbClr val="0070C0"/>
                </a:solidFill>
              </a:rPr>
              <a:t>4.2 </a:t>
            </a:r>
            <a:endParaRPr lang="zh-CN" altLang="en-US" dirty="0">
              <a:solidFill>
                <a:srgbClr val="0070C0"/>
              </a:solidFill>
            </a:endParaRPr>
          </a:p>
        </p:txBody>
      </p:sp>
      <p:sp>
        <p:nvSpPr>
          <p:cNvPr id="15" name="文本占位符 14"/>
          <p:cNvSpPr>
            <a:spLocks noGrp="1"/>
          </p:cNvSpPr>
          <p:nvPr>
            <p:ph type="body" sz="quarter" idx="16"/>
          </p:nvPr>
        </p:nvSpPr>
        <p:spPr>
          <a:xfrm>
            <a:off x="937895" y="1850390"/>
            <a:ext cx="4946015" cy="832485"/>
          </a:xfrm>
        </p:spPr>
        <p:txBody>
          <a:bodyPr>
            <a:noAutofit/>
          </a:bodyPr>
          <a:lstStyle/>
          <a:p>
            <a:pPr marL="0" indent="0" fontAlgn="auto">
              <a:lnSpc>
                <a:spcPct val="125000"/>
              </a:lnSpc>
              <a:buNone/>
            </a:pPr>
            <a:r>
              <a:rPr lang="zh-CN" altLang="en-US" sz="2800" dirty="0"/>
              <a:t>文法</a:t>
            </a:r>
            <a:r>
              <a:rPr lang="en-US" altLang="zh-CN" sz="2800" dirty="0"/>
              <a:t>G</a:t>
            </a:r>
            <a:r>
              <a:rPr lang="zh-CN" altLang="en-US" sz="2800" dirty="0"/>
              <a:t>：</a:t>
            </a:r>
            <a:r>
              <a:rPr lang="en-US" altLang="zh-CN" sz="2800" dirty="0"/>
              <a:t>S → </a:t>
            </a:r>
            <a:r>
              <a:rPr lang="en-US" altLang="zh-CN" sz="2800" dirty="0" err="1">
                <a:solidFill>
                  <a:srgbClr val="FF0000"/>
                </a:solidFill>
              </a:rPr>
              <a:t>c</a:t>
            </a:r>
            <a:r>
              <a:rPr lang="en-US" altLang="zh-CN" sz="2800" dirty="0" err="1"/>
              <a:t>A</a:t>
            </a:r>
            <a:r>
              <a:rPr lang="en-US" altLang="zh-CN" sz="2800" dirty="0" err="1">
                <a:solidFill>
                  <a:srgbClr val="FF0000"/>
                </a:solidFill>
              </a:rPr>
              <a:t>d</a:t>
            </a:r>
            <a:br>
              <a:rPr lang="en-US" altLang="zh-CN" sz="2800" dirty="0"/>
            </a:br>
            <a:r>
              <a:rPr lang="en-US" altLang="zh-CN" sz="2800" dirty="0"/>
              <a:t>               A → </a:t>
            </a:r>
            <a:r>
              <a:rPr lang="en-US" altLang="zh-CN" sz="2800" dirty="0">
                <a:solidFill>
                  <a:srgbClr val="FF0000"/>
                </a:solidFill>
              </a:rPr>
              <a:t>ab</a:t>
            </a:r>
            <a:endParaRPr lang="en-US" altLang="zh-CN" sz="2800" dirty="0">
              <a:solidFill>
                <a:srgbClr val="FF0000"/>
              </a:solidFill>
            </a:endParaRPr>
          </a:p>
        </p:txBody>
      </p:sp>
      <p:sp>
        <p:nvSpPr>
          <p:cNvPr id="7" name="文本占位符 14"/>
          <p:cNvSpPr txBox="1"/>
          <p:nvPr/>
        </p:nvSpPr>
        <p:spPr>
          <a:xfrm>
            <a:off x="811530" y="2931160"/>
            <a:ext cx="4815840" cy="26314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25000"/>
              </a:lnSpc>
              <a:buNone/>
            </a:pPr>
            <a:r>
              <a:rPr lang="zh-CN" altLang="en-US" sz="2800" dirty="0"/>
              <a:t>识别输入串</a:t>
            </a:r>
            <a:r>
              <a:rPr lang="en-US" altLang="zh-CN" sz="2800" dirty="0"/>
              <a:t>w=</a:t>
            </a:r>
            <a:r>
              <a:rPr lang="en-US" altLang="zh-CN" sz="2800" dirty="0" err="1"/>
              <a:t>cabd</a:t>
            </a:r>
            <a:r>
              <a:rPr lang="zh-CN" altLang="en-US" sz="2800" dirty="0"/>
              <a:t>是否为该文法定义的句子？</a:t>
            </a:r>
            <a:endParaRPr lang="zh-CN" altLang="en-US" sz="2800" dirty="0"/>
          </a:p>
          <a:p>
            <a:pPr marL="0" indent="0">
              <a:buNone/>
            </a:pPr>
            <a:endParaRPr lang="zh-CN" altLang="en-US" sz="2800" dirty="0"/>
          </a:p>
          <a:p>
            <a:pPr marL="0" indent="0">
              <a:buNone/>
            </a:pPr>
            <a:r>
              <a:rPr lang="en-US" altLang="zh-CN" sz="2800" dirty="0"/>
              <a:t>S=&gt;</a:t>
            </a:r>
            <a:r>
              <a:rPr lang="en-US" altLang="zh-CN" sz="2800" dirty="0" err="1"/>
              <a:t>cAd</a:t>
            </a:r>
            <a:r>
              <a:rPr lang="en-US" altLang="zh-CN" sz="2800" dirty="0"/>
              <a:t>=&gt;</a:t>
            </a:r>
            <a:r>
              <a:rPr lang="en-US" altLang="zh-CN" sz="2800" dirty="0" err="1"/>
              <a:t>cabd</a:t>
            </a:r>
            <a:endParaRPr lang="en-US" altLang="zh-CN" sz="2800" dirty="0" err="1"/>
          </a:p>
        </p:txBody>
      </p:sp>
      <p:sp>
        <p:nvSpPr>
          <p:cNvPr id="2" name="文本占位符 13"/>
          <p:cNvSpPr>
            <a:spLocks noGrp="1"/>
          </p:cNvSpPr>
          <p:nvPr/>
        </p:nvSpPr>
        <p:spPr>
          <a:xfrm>
            <a:off x="5550535" y="1248410"/>
            <a:ext cx="5852160" cy="515620"/>
          </a:xfrm>
          <a:prstGeom prst="rect">
            <a:avLst/>
          </a:prstGeom>
        </p:spPr>
        <p:txBody>
          <a:bodyPr vert="horz" lIns="91440" tIns="45720" rIns="91440" bIns="45720" rtlCol="0"/>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识别</a:t>
            </a:r>
            <a:r>
              <a:rPr lang="en-US" altLang="zh-CN" dirty="0"/>
              <a:t>S</a:t>
            </a:r>
            <a:r>
              <a:rPr lang="zh-CN" altLang="en-US" dirty="0"/>
              <a:t>的递归下降函数的伪代码：</a:t>
            </a:r>
            <a:endParaRPr lang="zh-CN" altLang="en-US" dirty="0"/>
          </a:p>
        </p:txBody>
      </p:sp>
      <p:sp>
        <p:nvSpPr>
          <p:cNvPr id="3" name="文本占位符 2"/>
          <p:cNvSpPr>
            <a:spLocks noGrp="1"/>
          </p:cNvSpPr>
          <p:nvPr/>
        </p:nvSpPr>
        <p:spPr>
          <a:xfrm>
            <a:off x="5687695" y="1997710"/>
            <a:ext cx="2803525" cy="31838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5000"/>
              </a:lnSpc>
              <a:spcBef>
                <a:spcPct val="50000"/>
              </a:spcBef>
              <a:buSzPct val="90000"/>
              <a:buNone/>
            </a:pPr>
            <a:r>
              <a:rPr lang="en-US" altLang="zh-CN" sz="3200" b="0" dirty="0">
                <a:solidFill>
                  <a:srgbClr val="050507"/>
                </a:solidFill>
                <a:latin typeface="Consolas" panose="020B0609020204030204" pitchFamily="49" charset="0"/>
              </a:rPr>
              <a:t>void </a:t>
            </a:r>
            <a:r>
              <a:rPr lang="en-US" altLang="zh-CN" sz="3200" b="0" dirty="0">
                <a:solidFill>
                  <a:srgbClr val="E10B34"/>
                </a:solidFill>
                <a:latin typeface="Consolas" panose="020B0609020204030204" pitchFamily="49" charset="0"/>
              </a:rPr>
              <a:t>S</a:t>
            </a:r>
            <a:r>
              <a:rPr lang="en-US" altLang="zh-CN" sz="3200" b="0" dirty="0">
                <a:solidFill>
                  <a:srgbClr val="050507"/>
                </a:solidFill>
                <a:latin typeface="Consolas" panose="020B0609020204030204" pitchFamily="49" charset="0"/>
              </a:rPr>
              <a:t>(void)</a:t>
            </a:r>
            <a:endParaRPr lang="en-US" altLang="zh-CN" sz="3200"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3200" b="0" dirty="0">
                <a:solidFill>
                  <a:srgbClr val="050507"/>
                </a:solidFill>
                <a:latin typeface="Consolas" panose="020B0609020204030204" pitchFamily="49" charset="0"/>
              </a:rPr>
              <a:t>{ match(</a:t>
            </a:r>
            <a:r>
              <a:rPr lang="en-US" altLang="zh-CN" sz="3200" b="0" dirty="0">
                <a:solidFill>
                  <a:srgbClr val="E10B34"/>
                </a:solidFill>
                <a:latin typeface="Consolas" panose="020B0609020204030204" pitchFamily="49" charset="0"/>
              </a:rPr>
              <a:t>c</a:t>
            </a:r>
            <a:r>
              <a:rPr lang="en-US" altLang="zh-CN" sz="3200" b="0" dirty="0">
                <a:solidFill>
                  <a:srgbClr val="050507"/>
                </a:solidFill>
                <a:latin typeface="Consolas" panose="020B0609020204030204" pitchFamily="49" charset="0"/>
              </a:rPr>
              <a:t>);</a:t>
            </a:r>
            <a:endParaRPr lang="en-US" altLang="zh-CN" sz="3200"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3200" b="0" dirty="0">
                <a:solidFill>
                  <a:srgbClr val="050507"/>
                </a:solidFill>
                <a:latin typeface="Consolas" panose="020B0609020204030204" pitchFamily="49" charset="0"/>
              </a:rPr>
              <a:t>  A(); </a:t>
            </a:r>
            <a:endParaRPr lang="en-US" altLang="zh-CN" sz="3200"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3200" b="0" dirty="0">
                <a:solidFill>
                  <a:srgbClr val="050507"/>
                </a:solidFill>
                <a:latin typeface="Consolas" panose="020B0609020204030204" pitchFamily="49" charset="0"/>
              </a:rPr>
              <a:t>  match(</a:t>
            </a:r>
            <a:r>
              <a:rPr lang="en-US" altLang="zh-CN" sz="3200" b="0" dirty="0">
                <a:solidFill>
                  <a:srgbClr val="E10B34"/>
                </a:solidFill>
                <a:latin typeface="Consolas" panose="020B0609020204030204" pitchFamily="49" charset="0"/>
              </a:rPr>
              <a:t>d</a:t>
            </a:r>
            <a:r>
              <a:rPr lang="en-US" altLang="zh-CN" sz="3200" b="0" dirty="0">
                <a:solidFill>
                  <a:srgbClr val="050507"/>
                </a:solidFill>
                <a:latin typeface="Consolas" panose="020B0609020204030204" pitchFamily="49" charset="0"/>
              </a:rPr>
              <a:t>);</a:t>
            </a:r>
            <a:endParaRPr lang="en-US" altLang="zh-CN" sz="3200"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3200" b="0" dirty="0">
                <a:solidFill>
                  <a:srgbClr val="050507"/>
                </a:solidFill>
                <a:latin typeface="Consolas" panose="020B0609020204030204" pitchFamily="49" charset="0"/>
              </a:rPr>
              <a:t>}</a:t>
            </a:r>
            <a:endParaRPr lang="en-US" altLang="zh-CN" sz="3200" b="0" dirty="0">
              <a:solidFill>
                <a:srgbClr val="050507"/>
              </a:solidFill>
              <a:latin typeface="Consolas" panose="020B0609020204030204" pitchFamily="49" charset="0"/>
            </a:endParaRPr>
          </a:p>
          <a:p>
            <a:pPr marL="0" indent="0">
              <a:buNone/>
            </a:pPr>
            <a:endParaRPr lang="en-US" altLang="zh-CN" sz="3200" b="0" dirty="0">
              <a:solidFill>
                <a:srgbClr val="050507"/>
              </a:solidFill>
              <a:latin typeface="Consolas" panose="020B0609020204030204" pitchFamily="49" charset="0"/>
            </a:endParaRPr>
          </a:p>
        </p:txBody>
      </p:sp>
      <p:sp>
        <p:nvSpPr>
          <p:cNvPr id="8" name="文本占位符 2"/>
          <p:cNvSpPr txBox="1"/>
          <p:nvPr/>
        </p:nvSpPr>
        <p:spPr>
          <a:xfrm>
            <a:off x="9022715" y="1997710"/>
            <a:ext cx="2803525" cy="3183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5000"/>
              </a:lnSpc>
              <a:spcBef>
                <a:spcPct val="50000"/>
              </a:spcBef>
              <a:buSzPct val="90000"/>
              <a:buNone/>
            </a:pPr>
            <a:r>
              <a:rPr lang="en-US" altLang="zh-CN" sz="3200" b="0" dirty="0">
                <a:solidFill>
                  <a:srgbClr val="050507"/>
                </a:solidFill>
                <a:latin typeface="Consolas" panose="020B0609020204030204" pitchFamily="49" charset="0"/>
              </a:rPr>
              <a:t>void </a:t>
            </a:r>
            <a:r>
              <a:rPr lang="en-US" altLang="zh-CN" sz="3200" b="0" dirty="0">
                <a:solidFill>
                  <a:srgbClr val="E10B34"/>
                </a:solidFill>
                <a:latin typeface="Consolas" panose="020B0609020204030204" pitchFamily="49" charset="0"/>
              </a:rPr>
              <a:t>A</a:t>
            </a:r>
            <a:r>
              <a:rPr lang="en-US" altLang="zh-CN" sz="3200" b="0" dirty="0">
                <a:solidFill>
                  <a:srgbClr val="050507"/>
                </a:solidFill>
                <a:latin typeface="Consolas" panose="020B0609020204030204" pitchFamily="49" charset="0"/>
              </a:rPr>
              <a:t>(void)</a:t>
            </a:r>
            <a:endParaRPr lang="en-US" altLang="zh-CN" sz="3200"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3200" b="0" dirty="0">
                <a:solidFill>
                  <a:srgbClr val="050507"/>
                </a:solidFill>
                <a:latin typeface="Consolas" panose="020B0609020204030204" pitchFamily="49" charset="0"/>
              </a:rPr>
              <a:t>{  match(</a:t>
            </a:r>
            <a:r>
              <a:rPr lang="en-US" altLang="zh-CN" sz="3200" b="0" dirty="0">
                <a:solidFill>
                  <a:srgbClr val="E10B34"/>
                </a:solidFill>
                <a:latin typeface="Consolas" panose="020B0609020204030204" pitchFamily="49" charset="0"/>
              </a:rPr>
              <a:t>a</a:t>
            </a:r>
            <a:r>
              <a:rPr lang="en-US" altLang="zh-CN" sz="3200" b="0" dirty="0">
                <a:solidFill>
                  <a:srgbClr val="050507"/>
                </a:solidFill>
                <a:latin typeface="Consolas" panose="020B0609020204030204" pitchFamily="49" charset="0"/>
              </a:rPr>
              <a:t>);</a:t>
            </a:r>
            <a:endParaRPr lang="en-US" altLang="zh-CN" sz="3200"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3200" b="0" dirty="0">
                <a:solidFill>
                  <a:srgbClr val="050507"/>
                </a:solidFill>
                <a:latin typeface="Consolas" panose="020B0609020204030204" pitchFamily="49" charset="0"/>
              </a:rPr>
              <a:t>   match(</a:t>
            </a:r>
            <a:r>
              <a:rPr lang="en-US" altLang="zh-CN" sz="3200" b="0" dirty="0">
                <a:solidFill>
                  <a:srgbClr val="F72F89"/>
                </a:solidFill>
                <a:latin typeface="Consolas" panose="020B0609020204030204" pitchFamily="49" charset="0"/>
              </a:rPr>
              <a:t>b</a:t>
            </a:r>
            <a:r>
              <a:rPr lang="en-US" altLang="zh-CN" sz="3200" b="0" dirty="0">
                <a:solidFill>
                  <a:srgbClr val="050507"/>
                </a:solidFill>
                <a:latin typeface="Consolas" panose="020B0609020204030204" pitchFamily="49" charset="0"/>
              </a:rPr>
              <a:t>); </a:t>
            </a:r>
            <a:endParaRPr lang="en-US" altLang="zh-CN" sz="3200"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3200" b="0" dirty="0">
                <a:solidFill>
                  <a:srgbClr val="050507"/>
                </a:solidFill>
                <a:latin typeface="Consolas" panose="020B0609020204030204" pitchFamily="49" charset="0"/>
              </a:rPr>
              <a:t>}</a:t>
            </a:r>
            <a:endParaRPr lang="en-US" altLang="zh-CN" sz="3200" b="0" dirty="0">
              <a:solidFill>
                <a:srgbClr val="050507"/>
              </a:solidFill>
              <a:latin typeface="Consolas" panose="020B0609020204030204" pitchFamily="49" charset="0"/>
            </a:endParaRPr>
          </a:p>
        </p:txBody>
      </p:sp>
      <p:sp>
        <p:nvSpPr>
          <p:cNvPr id="4" name="灯片编号占位符 3"/>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80390" y="276860"/>
            <a:ext cx="8312785" cy="593090"/>
          </a:xfrm>
        </p:spPr>
        <p:txBody>
          <a:bodyPr/>
          <a:lstStyle/>
          <a:p>
            <a:r>
              <a:rPr lang="en-US" altLang="zh-CN" sz="3200" dirty="0"/>
              <a:t>4.2.1 </a:t>
            </a:r>
            <a:r>
              <a:rPr lang="zh-CN" altLang="en-US" sz="3200" dirty="0"/>
              <a:t>递归下降分析的基本方法</a:t>
            </a:r>
            <a:r>
              <a:rPr lang="en-US" altLang="zh-CN" sz="3200" dirty="0"/>
              <a:t>(</a:t>
            </a:r>
            <a:r>
              <a:rPr lang="zh-CN" altLang="en-US" sz="3200" dirty="0"/>
              <a:t>续</a:t>
            </a:r>
            <a:r>
              <a:rPr lang="en-US" altLang="zh-CN" sz="3200" dirty="0"/>
              <a:t>)</a:t>
            </a:r>
            <a:endParaRPr lang="en-US" altLang="zh-CN" sz="3200" dirty="0"/>
          </a:p>
        </p:txBody>
      </p:sp>
      <p:sp>
        <p:nvSpPr>
          <p:cNvPr id="14" name="文本占位符 13"/>
          <p:cNvSpPr>
            <a:spLocks noGrp="1"/>
          </p:cNvSpPr>
          <p:nvPr>
            <p:ph type="body" sz="quarter" idx="15"/>
          </p:nvPr>
        </p:nvSpPr>
        <p:spPr>
          <a:xfrm>
            <a:off x="457200" y="1178560"/>
            <a:ext cx="10447655" cy="1019810"/>
          </a:xfrm>
        </p:spPr>
        <p:txBody>
          <a:bodyPr>
            <a:normAutofit/>
          </a:bodyPr>
          <a:lstStyle/>
          <a:p>
            <a:r>
              <a:rPr lang="en-US" altLang="zh-CN" dirty="0"/>
              <a:t>match</a:t>
            </a:r>
            <a:r>
              <a:rPr lang="zh-CN" altLang="en-US" dirty="0"/>
              <a:t>函数：全局变量</a:t>
            </a:r>
            <a:r>
              <a:rPr lang="en-US" altLang="zh-CN" dirty="0" err="1"/>
              <a:t>currentToken</a:t>
            </a:r>
            <a:r>
              <a:rPr lang="zh-CN" altLang="en-US" dirty="0"/>
              <a:t>存储即将扫描的下一个单词</a:t>
            </a:r>
            <a:endParaRPr lang="zh-CN" altLang="en-US" dirty="0"/>
          </a:p>
        </p:txBody>
      </p:sp>
      <p:sp>
        <p:nvSpPr>
          <p:cNvPr id="3" name="文本占位符 2"/>
          <p:cNvSpPr>
            <a:spLocks noGrp="1"/>
          </p:cNvSpPr>
          <p:nvPr>
            <p:ph type="body" sz="quarter" idx="16"/>
          </p:nvPr>
        </p:nvSpPr>
        <p:spPr>
          <a:xfrm>
            <a:off x="457200" y="1807845"/>
            <a:ext cx="9975215" cy="3510915"/>
          </a:xfrm>
        </p:spPr>
        <p:txBody>
          <a:bodyPr>
            <a:noAutofit/>
          </a:bodyPr>
          <a:lstStyle/>
          <a:p>
            <a:pPr marL="0" indent="0">
              <a:spcBef>
                <a:spcPct val="20000"/>
              </a:spcBef>
              <a:buSzPct val="90000"/>
              <a:buNone/>
              <a:defRPr/>
            </a:pPr>
            <a:r>
              <a:rPr kumimoji="1" lang="en-US" altLang="zh-CN" sz="2800" dirty="0">
                <a:solidFill>
                  <a:srgbClr val="070709"/>
                </a:solidFill>
              </a:rPr>
              <a:t>void match(</a:t>
            </a:r>
            <a:r>
              <a:rPr kumimoji="1" lang="en-US" altLang="zh-CN" sz="2800" dirty="0" err="1">
                <a:solidFill>
                  <a:srgbClr val="030305"/>
                </a:solidFill>
              </a:rPr>
              <a:t>TokenType</a:t>
            </a:r>
            <a:r>
              <a:rPr kumimoji="1" lang="en-US" altLang="zh-CN" sz="2800" dirty="0">
                <a:solidFill>
                  <a:srgbClr val="070709"/>
                </a:solidFill>
              </a:rPr>
              <a:t>  </a:t>
            </a:r>
            <a:r>
              <a:rPr kumimoji="1" lang="en-US" altLang="zh-CN" sz="2800" dirty="0" err="1">
                <a:solidFill>
                  <a:srgbClr val="C00000"/>
                </a:solidFill>
              </a:rPr>
              <a:t>tokenExpected</a:t>
            </a:r>
            <a:r>
              <a:rPr kumimoji="1" lang="en-US" altLang="zh-CN" sz="2800" dirty="0">
                <a:solidFill>
                  <a:srgbClr val="070709"/>
                </a:solidFill>
              </a:rPr>
              <a:t>) {</a:t>
            </a:r>
            <a:endParaRPr kumimoji="1" lang="en-US" altLang="zh-CN" sz="2800" dirty="0">
              <a:solidFill>
                <a:srgbClr val="070709"/>
              </a:solidFill>
            </a:endParaRPr>
          </a:p>
          <a:p>
            <a:pPr marL="457200" lvl="1" indent="0">
              <a:spcBef>
                <a:spcPct val="20000"/>
              </a:spcBef>
              <a:buSzPct val="90000"/>
              <a:buNone/>
              <a:defRPr/>
            </a:pPr>
            <a:r>
              <a:rPr kumimoji="1" lang="en-US" altLang="zh-CN" sz="2800" dirty="0">
                <a:solidFill>
                  <a:srgbClr val="070709"/>
                </a:solidFill>
              </a:rPr>
              <a:t> if (</a:t>
            </a:r>
            <a:r>
              <a:rPr kumimoji="1" lang="en-US" altLang="zh-CN" sz="2800" dirty="0" err="1">
                <a:solidFill>
                  <a:schemeClr val="accent1"/>
                </a:solidFill>
              </a:rPr>
              <a:t>currentToken.tokentype</a:t>
            </a:r>
            <a:r>
              <a:rPr kumimoji="1" lang="en-US" altLang="zh-CN" sz="2800" dirty="0">
                <a:solidFill>
                  <a:srgbClr val="070709"/>
                </a:solidFill>
              </a:rPr>
              <a:t> == </a:t>
            </a:r>
            <a:r>
              <a:rPr kumimoji="1" lang="en-US" altLang="zh-CN" sz="2800" dirty="0" err="1">
                <a:solidFill>
                  <a:srgbClr val="C00000"/>
                </a:solidFill>
              </a:rPr>
              <a:t>tokenExpected</a:t>
            </a:r>
            <a:r>
              <a:rPr kumimoji="1" lang="en-US" altLang="zh-CN" sz="2800" dirty="0">
                <a:solidFill>
                  <a:srgbClr val="070709"/>
                </a:solidFill>
              </a:rPr>
              <a:t>){   </a:t>
            </a:r>
            <a:endParaRPr kumimoji="1" lang="en-US" altLang="zh-CN" sz="2800" dirty="0">
              <a:solidFill>
                <a:srgbClr val="070709"/>
              </a:solidFill>
            </a:endParaRPr>
          </a:p>
          <a:p>
            <a:pPr marL="457200" lvl="1" indent="0">
              <a:spcBef>
                <a:spcPct val="20000"/>
              </a:spcBef>
              <a:buSzPct val="90000"/>
              <a:buNone/>
              <a:defRPr/>
            </a:pPr>
            <a:r>
              <a:rPr kumimoji="1" lang="en-US" altLang="zh-CN" sz="2800" dirty="0">
                <a:solidFill>
                  <a:srgbClr val="070709"/>
                </a:solidFill>
              </a:rPr>
              <a:t>      </a:t>
            </a:r>
            <a:r>
              <a:rPr kumimoji="1" lang="en-US" altLang="zh-CN" sz="2800" dirty="0" err="1">
                <a:solidFill>
                  <a:srgbClr val="070709"/>
                </a:solidFill>
              </a:rPr>
              <a:t>currentToken</a:t>
            </a:r>
            <a:r>
              <a:rPr kumimoji="1" lang="en-US" altLang="zh-CN" sz="2800" dirty="0">
                <a:solidFill>
                  <a:srgbClr val="070709"/>
                </a:solidFill>
              </a:rPr>
              <a:t> = </a:t>
            </a:r>
            <a:r>
              <a:rPr kumimoji="1" lang="en-US" altLang="zh-CN" sz="2800" dirty="0" err="1">
                <a:solidFill>
                  <a:srgbClr val="070709"/>
                </a:solidFill>
              </a:rPr>
              <a:t>scanner.getToken</a:t>
            </a:r>
            <a:r>
              <a:rPr kumimoji="1" lang="en-US" altLang="zh-CN" sz="2800" dirty="0">
                <a:solidFill>
                  <a:srgbClr val="070709"/>
                </a:solidFill>
              </a:rPr>
              <a:t>();</a:t>
            </a:r>
            <a:endParaRPr kumimoji="1" lang="en-US" altLang="zh-CN" sz="2800" dirty="0">
              <a:solidFill>
                <a:srgbClr val="070709"/>
              </a:solidFill>
            </a:endParaRPr>
          </a:p>
          <a:p>
            <a:pPr marL="457200" lvl="1" indent="0">
              <a:spcBef>
                <a:spcPct val="20000"/>
              </a:spcBef>
              <a:buSzPct val="90000"/>
              <a:buNone/>
              <a:defRPr/>
            </a:pPr>
            <a:r>
              <a:rPr kumimoji="1" lang="en-US" altLang="zh-CN" sz="2800" dirty="0">
                <a:solidFill>
                  <a:srgbClr val="070709"/>
                </a:solidFill>
              </a:rPr>
              <a:t>     } else     {</a:t>
            </a:r>
            <a:endParaRPr kumimoji="1" lang="en-US" altLang="zh-CN" sz="2800" dirty="0">
              <a:solidFill>
                <a:srgbClr val="070709"/>
              </a:solidFill>
            </a:endParaRPr>
          </a:p>
          <a:p>
            <a:pPr marL="2743200" lvl="6" indent="0">
              <a:buSzPct val="90000"/>
              <a:buNone/>
              <a:defRPr/>
            </a:pPr>
            <a:r>
              <a:rPr kumimoji="1" lang="en-US" altLang="zh-CN" sz="2800" dirty="0">
                <a:solidFill>
                  <a:srgbClr val="070709"/>
                </a:solidFill>
              </a:rPr>
              <a:t>error: "</a:t>
            </a:r>
            <a:r>
              <a:rPr kumimoji="1" lang="en-US" altLang="zh-CN" sz="2800" dirty="0" err="1">
                <a:solidFill>
                  <a:srgbClr val="070709"/>
                </a:solidFill>
              </a:rPr>
              <a:t>tokenExpected</a:t>
            </a:r>
            <a:r>
              <a:rPr kumimoji="1" lang="en-US" altLang="zh-CN" sz="2800" dirty="0">
                <a:solidFill>
                  <a:srgbClr val="070709"/>
                </a:solidFill>
              </a:rPr>
              <a:t>" expected</a:t>
            </a:r>
            <a:endParaRPr kumimoji="1" lang="en-US" altLang="zh-CN" sz="2800" dirty="0">
              <a:solidFill>
                <a:srgbClr val="070709"/>
              </a:solidFill>
            </a:endParaRPr>
          </a:p>
          <a:p>
            <a:pPr marL="2743200" lvl="6" indent="0">
              <a:buSzPct val="90000"/>
              <a:buNone/>
              <a:defRPr/>
            </a:pPr>
            <a:r>
              <a:rPr kumimoji="1" lang="en-US" altLang="zh-CN" sz="2800" dirty="0">
                <a:solidFill>
                  <a:srgbClr val="070709"/>
                </a:solidFill>
              </a:rPr>
              <a:t>but "</a:t>
            </a:r>
            <a:r>
              <a:rPr kumimoji="1" lang="en-US" altLang="zh-CN" sz="2800" dirty="0" err="1">
                <a:solidFill>
                  <a:srgbClr val="070709"/>
                </a:solidFill>
              </a:rPr>
              <a:t>currentToken</a:t>
            </a:r>
            <a:r>
              <a:rPr kumimoji="1" lang="en-US" altLang="zh-CN" sz="2800" dirty="0">
                <a:solidFill>
                  <a:srgbClr val="070709"/>
                </a:solidFill>
              </a:rPr>
              <a:t>" found</a:t>
            </a:r>
            <a:endParaRPr kumimoji="1" lang="en-US" altLang="zh-CN" sz="2800" dirty="0">
              <a:solidFill>
                <a:srgbClr val="070709"/>
              </a:solidFill>
            </a:endParaRPr>
          </a:p>
          <a:p>
            <a:pPr marL="2286000" lvl="5" indent="0">
              <a:spcBef>
                <a:spcPct val="20000"/>
              </a:spcBef>
              <a:buSzPct val="90000"/>
              <a:buNone/>
              <a:defRPr/>
            </a:pPr>
            <a:r>
              <a:rPr kumimoji="1" lang="en-US" altLang="zh-CN" sz="2000" dirty="0">
                <a:solidFill>
                  <a:srgbClr val="070709"/>
                </a:solidFill>
              </a:rPr>
              <a:t>}</a:t>
            </a:r>
            <a:endParaRPr kumimoji="1" lang="en-US" altLang="zh-CN" sz="2000" dirty="0">
              <a:solidFill>
                <a:srgbClr val="070709"/>
              </a:solidFill>
            </a:endParaRPr>
          </a:p>
          <a:p>
            <a:pPr marL="457200" lvl="1" indent="0">
              <a:spcBef>
                <a:spcPct val="20000"/>
              </a:spcBef>
              <a:buSzPct val="90000"/>
              <a:buNone/>
              <a:defRPr/>
            </a:pPr>
            <a:r>
              <a:rPr kumimoji="1" lang="en-US" altLang="zh-CN" sz="2800" dirty="0">
                <a:solidFill>
                  <a:srgbClr val="070709"/>
                </a:solidFill>
              </a:rPr>
              <a:t>}</a:t>
            </a:r>
            <a:endParaRPr kumimoji="1" lang="en-US" altLang="zh-CN" sz="2800" dirty="0">
              <a:solidFill>
                <a:srgbClr val="070709"/>
              </a:solidFill>
            </a:endParaRPr>
          </a:p>
        </p:txBody>
      </p:sp>
      <p:sp>
        <p:nvSpPr>
          <p:cNvPr id="13" name="AutoShape 7">
            <a:hlinkClick r:id="rId1" action="ppaction://hlinksldjump"/>
          </p:cNvPr>
          <p:cNvSpPr>
            <a:spLocks noChangeArrowheads="1"/>
          </p:cNvSpPr>
          <p:nvPr/>
        </p:nvSpPr>
        <p:spPr bwMode="auto">
          <a:xfrm flipV="1">
            <a:off x="9569768" y="5999796"/>
            <a:ext cx="762000" cy="300972"/>
          </a:xfrm>
          <a:prstGeom prst="curvedDownArrow">
            <a:avLst>
              <a:gd name="adj1" fmla="val 62338"/>
              <a:gd name="adj2" fmla="val 88414"/>
              <a:gd name="adj3" fmla="val 33319"/>
            </a:avLst>
          </a:prstGeom>
          <a:solidFill>
            <a:schemeClr val="accent1"/>
          </a:solidFill>
          <a:ln w="9525">
            <a:solidFill>
              <a:schemeClr val="tx1"/>
            </a:solidFill>
            <a:miter lim="800000"/>
          </a:ln>
        </p:spPr>
        <p:txBody>
          <a:bodyPr rot="10800000" wrap="none" anchor="ctr"/>
          <a:lstStyle/>
          <a:p>
            <a:pPr>
              <a:lnSpc>
                <a:spcPct val="75000"/>
              </a:lnSpc>
              <a:spcBef>
                <a:spcPct val="20000"/>
              </a:spcBef>
              <a:buClr>
                <a:schemeClr val="accent2"/>
              </a:buClr>
              <a:buFont typeface="Wingdings" panose="05000000000000000000" pitchFamily="2" charset="2"/>
              <a:buNone/>
            </a:pPr>
            <a:endParaRPr lang="zh-CN" altLang="en-US" sz="2100" b="0">
              <a:solidFill>
                <a:schemeClr val="tx1"/>
              </a:solidFill>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803910" y="276860"/>
            <a:ext cx="8089265" cy="593090"/>
          </a:xfrm>
        </p:spPr>
        <p:txBody>
          <a:bodyPr/>
          <a:lstStyle/>
          <a:p>
            <a:r>
              <a:rPr lang="en-US" altLang="zh-CN" sz="3200" dirty="0"/>
              <a:t>4.2.1 </a:t>
            </a:r>
            <a:r>
              <a:rPr lang="zh-CN" altLang="en-US" sz="3200" dirty="0"/>
              <a:t>递归下降分析的基本方法</a:t>
            </a:r>
            <a:r>
              <a:rPr lang="en-US" altLang="zh-CN" sz="3200" dirty="0"/>
              <a:t>(</a:t>
            </a:r>
            <a:r>
              <a:rPr lang="zh-CN" altLang="en-US" sz="3200" dirty="0"/>
              <a:t>续</a:t>
            </a:r>
            <a:r>
              <a:rPr lang="en-US" altLang="zh-CN" sz="3200" dirty="0"/>
              <a:t>)</a:t>
            </a:r>
            <a:endParaRPr lang="en-US" altLang="zh-CN" sz="3200" dirty="0"/>
          </a:p>
        </p:txBody>
      </p:sp>
      <p:sp>
        <p:nvSpPr>
          <p:cNvPr id="4" name="文本占位符 3"/>
          <p:cNvSpPr>
            <a:spLocks noGrp="1"/>
          </p:cNvSpPr>
          <p:nvPr>
            <p:ph type="body" sz="quarter" idx="16"/>
          </p:nvPr>
        </p:nvSpPr>
        <p:spPr>
          <a:xfrm>
            <a:off x="535305" y="1165860"/>
            <a:ext cx="11336655" cy="3686810"/>
          </a:xfrm>
        </p:spPr>
        <p:txBody>
          <a:bodyPr>
            <a:noAutofit/>
          </a:bodyPr>
          <a:lstStyle/>
          <a:p>
            <a:pPr fontAlgn="auto">
              <a:lnSpc>
                <a:spcPct val="125000"/>
              </a:lnSpc>
              <a:spcBef>
                <a:spcPts val="0"/>
              </a:spcBef>
              <a:spcAft>
                <a:spcPts val="0"/>
              </a:spcAft>
              <a:buClr>
                <a:srgbClr val="050507"/>
              </a:buClr>
              <a:buFont typeface="Wingdings" panose="05000000000000000000" charset="0"/>
              <a:buChar char="p"/>
              <a:defRPr/>
            </a:pPr>
            <a:r>
              <a:rPr lang="zh-CN" altLang="en-US" sz="3200" dirty="0"/>
              <a:t>递归下降分析执行一组递归函数判断输入单词序列是否符合语法规则。</a:t>
            </a:r>
            <a:r>
              <a:rPr lang="zh-CN" altLang="en-US" sz="3200" dirty="0">
                <a:solidFill>
                  <a:srgbClr val="050507"/>
                </a:solidFill>
                <a:latin typeface="宋体" panose="02010600030101010101" pitchFamily="2" charset="-122"/>
              </a:rPr>
              <a:t>递归函数如何写？</a:t>
            </a:r>
            <a:endParaRPr lang="zh-CN" altLang="en-US" sz="3200" dirty="0">
              <a:solidFill>
                <a:srgbClr val="050507"/>
              </a:solidFill>
              <a:latin typeface="宋体" panose="02010600030101010101" pitchFamily="2" charset="-122"/>
            </a:endParaRPr>
          </a:p>
          <a:p>
            <a:pPr marL="591820" lvl="1" indent="-342900" fontAlgn="auto">
              <a:lnSpc>
                <a:spcPct val="125000"/>
              </a:lnSpc>
              <a:spcBef>
                <a:spcPts val="0"/>
              </a:spcBef>
              <a:spcAft>
                <a:spcPts val="0"/>
              </a:spcAft>
              <a:buClr>
                <a:srgbClr val="050507"/>
              </a:buClr>
              <a:buFont typeface="Wingdings" panose="05000000000000000000" charset="0"/>
              <a:buChar char="p"/>
              <a:defRPr/>
            </a:pPr>
            <a:r>
              <a:rPr lang="zh-CN" altLang="en-US" sz="2800" dirty="0">
                <a:solidFill>
                  <a:schemeClr val="accent1"/>
                </a:solidFill>
                <a:latin typeface="宋体" panose="02010600030101010101" pitchFamily="2" charset="-122"/>
              </a:rPr>
              <a:t>为每个产生式撰写一个函数</a:t>
            </a:r>
            <a:r>
              <a:rPr lang="en-US" altLang="zh-CN" sz="2800" dirty="0">
                <a:solidFill>
                  <a:schemeClr val="accent1"/>
                </a:solidFill>
                <a:latin typeface="宋体" panose="02010600030101010101" pitchFamily="2" charset="-122"/>
              </a:rPr>
              <a:t>,</a:t>
            </a:r>
            <a:r>
              <a:rPr sz="2800">
                <a:solidFill>
                  <a:srgbClr val="050507"/>
                </a:solidFill>
                <a:latin typeface="宋体" panose="02010600030101010101" pitchFamily="2" charset="-122"/>
                <a:sym typeface="+mn-ea"/>
              </a:rPr>
              <a:t>以产生式左部的非终结符作为函数名</a:t>
            </a:r>
            <a:endParaRPr lang="zh-CN" altLang="en-US" sz="2800" dirty="0">
              <a:solidFill>
                <a:srgbClr val="050507"/>
              </a:solidFill>
              <a:latin typeface="宋体" panose="02010600030101010101" pitchFamily="2" charset="-122"/>
            </a:endParaRPr>
          </a:p>
          <a:p>
            <a:pPr marL="591820" lvl="1" indent="-342900" fontAlgn="auto">
              <a:lnSpc>
                <a:spcPct val="125000"/>
              </a:lnSpc>
              <a:spcBef>
                <a:spcPts val="0"/>
              </a:spcBef>
              <a:spcAft>
                <a:spcPts val="0"/>
              </a:spcAft>
              <a:buClr>
                <a:srgbClr val="050507"/>
              </a:buClr>
              <a:buFont typeface="Wingdings" panose="05000000000000000000" charset="0"/>
              <a:buChar char="p"/>
              <a:defRPr/>
            </a:pPr>
            <a:r>
              <a:rPr lang="zh-CN" altLang="en-US" sz="2800" dirty="0">
                <a:solidFill>
                  <a:schemeClr val="accent1"/>
                </a:solidFill>
                <a:latin typeface="宋体" panose="02010600030101010101" pitchFamily="2" charset="-122"/>
              </a:rPr>
              <a:t>根据产生式规则的右部撰写函数体</a:t>
            </a:r>
            <a:r>
              <a:rPr lang="zh-CN" altLang="en-US" sz="2800" dirty="0">
                <a:solidFill>
                  <a:srgbClr val="050507"/>
                </a:solidFill>
                <a:latin typeface="宋体" panose="02010600030101010101" pitchFamily="2" charset="-122"/>
              </a:rPr>
              <a:t>。</a:t>
            </a:r>
            <a:endParaRPr lang="en-US" altLang="zh-CN" sz="2800" dirty="0">
              <a:solidFill>
                <a:srgbClr val="050507"/>
              </a:solidFill>
              <a:latin typeface="宋体" panose="02010600030101010101" pitchFamily="2" charset="-122"/>
            </a:endParaRPr>
          </a:p>
          <a:p>
            <a:pPr marL="1351280" lvl="2" indent="-342900" fontAlgn="auto">
              <a:lnSpc>
                <a:spcPct val="125000"/>
              </a:lnSpc>
              <a:spcBef>
                <a:spcPts val="0"/>
              </a:spcBef>
              <a:spcAft>
                <a:spcPts val="0"/>
              </a:spcAft>
              <a:buClr>
                <a:srgbClr val="050507"/>
              </a:buClr>
              <a:buFont typeface="Wingdings" panose="05000000000000000000" charset="0"/>
              <a:buChar char="p"/>
              <a:defRPr/>
            </a:pPr>
            <a:r>
              <a:rPr lang="zh-CN" altLang="en-US" sz="2800" dirty="0">
                <a:solidFill>
                  <a:srgbClr val="C00000"/>
                </a:solidFill>
                <a:latin typeface="宋体" panose="02010600030101010101" pitchFamily="2" charset="-122"/>
              </a:rPr>
              <a:t>遇到终结符</a:t>
            </a:r>
            <a:r>
              <a:rPr lang="zh-CN" altLang="en-US" sz="2800" dirty="0">
                <a:solidFill>
                  <a:srgbClr val="050507"/>
                </a:solidFill>
                <a:latin typeface="宋体" panose="02010600030101010101" pitchFamily="2" charset="-122"/>
              </a:rPr>
              <a:t>，</a:t>
            </a:r>
            <a:r>
              <a:rPr sz="2800">
                <a:solidFill>
                  <a:srgbClr val="C00000"/>
                </a:solidFill>
                <a:latin typeface="宋体" panose="02010600030101010101" pitchFamily="2" charset="-122"/>
                <a:sym typeface="+mn-ea"/>
              </a:rPr>
              <a:t>调</a:t>
            </a:r>
            <a:r>
              <a:rPr kumimoji="1" lang="en-US" altLang="zh-CN" sz="2800">
                <a:solidFill>
                  <a:srgbClr val="C00000"/>
                </a:solidFill>
                <a:sym typeface="+mn-ea"/>
              </a:rPr>
              <a:t>match</a:t>
            </a:r>
            <a:r>
              <a:rPr kumimoji="1" sz="2800">
                <a:solidFill>
                  <a:srgbClr val="C00000"/>
                </a:solidFill>
                <a:sym typeface="+mn-ea"/>
              </a:rPr>
              <a:t>函数，</a:t>
            </a:r>
            <a:r>
              <a:rPr lang="zh-CN" altLang="en-US" sz="2800" dirty="0">
                <a:solidFill>
                  <a:srgbClr val="050507"/>
                </a:solidFill>
                <a:latin typeface="宋体" panose="02010600030101010101" pitchFamily="2" charset="-122"/>
              </a:rPr>
              <a:t>判断是否匹配并读取下一个单词</a:t>
            </a:r>
            <a:endParaRPr lang="en-US" altLang="zh-CN" sz="2800" dirty="0">
              <a:solidFill>
                <a:srgbClr val="050507"/>
              </a:solidFill>
              <a:latin typeface="宋体" panose="02010600030101010101" pitchFamily="2" charset="-122"/>
            </a:endParaRPr>
          </a:p>
          <a:p>
            <a:pPr marL="1351280" lvl="2" indent="-342900" fontAlgn="auto">
              <a:lnSpc>
                <a:spcPct val="125000"/>
              </a:lnSpc>
              <a:spcBef>
                <a:spcPts val="0"/>
              </a:spcBef>
              <a:spcAft>
                <a:spcPts val="0"/>
              </a:spcAft>
              <a:buClr>
                <a:srgbClr val="050507"/>
              </a:buClr>
              <a:buFont typeface="Wingdings" panose="05000000000000000000" charset="0"/>
              <a:buChar char="p"/>
              <a:defRPr/>
            </a:pPr>
            <a:r>
              <a:rPr lang="zh-CN" altLang="en-US" sz="2800" dirty="0">
                <a:solidFill>
                  <a:srgbClr val="C00000"/>
                </a:solidFill>
                <a:latin typeface="宋体" panose="02010600030101010101" pitchFamily="2" charset="-122"/>
              </a:rPr>
              <a:t>遇到非终结符</a:t>
            </a:r>
            <a:r>
              <a:rPr lang="zh-CN" altLang="en-US" sz="2800" dirty="0">
                <a:solidFill>
                  <a:srgbClr val="050507"/>
                </a:solidFill>
                <a:latin typeface="宋体" panose="02010600030101010101" pitchFamily="2" charset="-122"/>
              </a:rPr>
              <a:t>，</a:t>
            </a:r>
            <a:r>
              <a:rPr lang="zh-CN" altLang="en-US" sz="2800" dirty="0">
                <a:solidFill>
                  <a:srgbClr val="C00000"/>
                </a:solidFill>
                <a:latin typeface="宋体" panose="02010600030101010101" pitchFamily="2" charset="-122"/>
              </a:rPr>
              <a:t>调用该非终结符</a:t>
            </a:r>
            <a:r>
              <a:rPr lang="zh-CN" altLang="en-US" sz="2800" dirty="0">
                <a:solidFill>
                  <a:srgbClr val="050507"/>
                </a:solidFill>
                <a:latin typeface="宋体" panose="02010600030101010101" pitchFamily="2" charset="-122"/>
              </a:rPr>
              <a:t>所在产生式对应的</a:t>
            </a:r>
            <a:r>
              <a:rPr lang="zh-CN" altLang="en-US" sz="2800" dirty="0">
                <a:solidFill>
                  <a:srgbClr val="C00000"/>
                </a:solidFill>
                <a:latin typeface="宋体" panose="02010600030101010101" pitchFamily="2" charset="-122"/>
              </a:rPr>
              <a:t>函数</a:t>
            </a:r>
            <a:endParaRPr lang="zh-CN" altLang="en-US" sz="2800" dirty="0">
              <a:solidFill>
                <a:srgbClr val="C00000"/>
              </a:solidFill>
              <a:latin typeface="宋体" panose="02010600030101010101" pitchFamily="2" charset="-12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10540" y="276860"/>
            <a:ext cx="8382635" cy="593090"/>
          </a:xfrm>
        </p:spPr>
        <p:txBody>
          <a:bodyPr/>
          <a:lstStyle/>
          <a:p>
            <a:r>
              <a:rPr lang="en-US" altLang="zh-CN" sz="3200" dirty="0"/>
              <a:t>4.2.1 </a:t>
            </a:r>
            <a:r>
              <a:rPr lang="zh-CN" altLang="en-US" sz="3200" dirty="0"/>
              <a:t>递归下降分析的基本方法</a:t>
            </a:r>
            <a:r>
              <a:rPr lang="en-US" altLang="zh-CN" sz="3200" dirty="0"/>
              <a:t>(</a:t>
            </a:r>
            <a:r>
              <a:rPr lang="zh-CN" altLang="en-US" sz="3200" dirty="0"/>
              <a:t>续</a:t>
            </a:r>
            <a:r>
              <a:rPr lang="en-US" altLang="zh-CN" sz="3200" dirty="0"/>
              <a:t>)</a:t>
            </a:r>
            <a:endParaRPr lang="en-US" altLang="zh-CN" sz="3200" dirty="0"/>
          </a:p>
        </p:txBody>
      </p:sp>
      <p:sp>
        <p:nvSpPr>
          <p:cNvPr id="14" name="文本占位符 13"/>
          <p:cNvSpPr>
            <a:spLocks noGrp="1"/>
          </p:cNvSpPr>
          <p:nvPr>
            <p:ph type="body" sz="quarter" idx="15"/>
          </p:nvPr>
        </p:nvSpPr>
        <p:spPr>
          <a:xfrm>
            <a:off x="509905" y="1248410"/>
            <a:ext cx="6312535" cy="515620"/>
          </a:xfrm>
        </p:spPr>
        <p:txBody>
          <a:bodyPr>
            <a:normAutofit lnSpcReduction="10000"/>
          </a:bodyPr>
          <a:lstStyle/>
          <a:p>
            <a:r>
              <a:rPr lang="zh-CN" altLang="en-US" dirty="0">
                <a:solidFill>
                  <a:srgbClr val="0070C0"/>
                </a:solidFill>
              </a:rPr>
              <a:t>例</a:t>
            </a:r>
            <a:r>
              <a:rPr lang="en-US" altLang="zh-CN" dirty="0">
                <a:solidFill>
                  <a:srgbClr val="0070C0"/>
                </a:solidFill>
              </a:rPr>
              <a:t>4.3 </a:t>
            </a:r>
            <a:endParaRPr lang="zh-CN" altLang="en-US" dirty="0">
              <a:solidFill>
                <a:srgbClr val="0070C0"/>
              </a:solidFill>
            </a:endParaRPr>
          </a:p>
        </p:txBody>
      </p:sp>
      <p:sp>
        <p:nvSpPr>
          <p:cNvPr id="15" name="文本占位符 14"/>
          <p:cNvSpPr>
            <a:spLocks noGrp="1"/>
          </p:cNvSpPr>
          <p:nvPr>
            <p:ph type="body" sz="quarter" idx="16"/>
          </p:nvPr>
        </p:nvSpPr>
        <p:spPr>
          <a:xfrm>
            <a:off x="510540" y="1910715"/>
            <a:ext cx="9782810" cy="1226820"/>
          </a:xfrm>
        </p:spPr>
        <p:txBody>
          <a:bodyPr>
            <a:noAutofit/>
          </a:bodyPr>
          <a:lstStyle/>
          <a:p>
            <a:pPr marL="0" indent="0">
              <a:lnSpc>
                <a:spcPct val="100000"/>
              </a:lnSpc>
              <a:buNone/>
            </a:pPr>
            <a:r>
              <a:rPr lang="zh-CN" altLang="en-US" dirty="0"/>
              <a:t>文法</a:t>
            </a:r>
            <a:r>
              <a:rPr lang="en-US" altLang="zh-CN" dirty="0"/>
              <a:t>G</a:t>
            </a:r>
            <a:r>
              <a:rPr lang="zh-CN" altLang="en-US" dirty="0"/>
              <a:t>：</a:t>
            </a:r>
            <a:r>
              <a:rPr lang="en-US" altLang="zh-CN" dirty="0"/>
              <a:t>S → </a:t>
            </a:r>
            <a:r>
              <a:rPr lang="en-US" altLang="zh-CN" dirty="0" err="1">
                <a:solidFill>
                  <a:srgbClr val="FF0000"/>
                </a:solidFill>
              </a:rPr>
              <a:t>c</a:t>
            </a:r>
            <a:r>
              <a:rPr lang="en-US" altLang="zh-CN" dirty="0" err="1"/>
              <a:t>A</a:t>
            </a:r>
            <a:r>
              <a:rPr lang="en-US" altLang="zh-CN" dirty="0" err="1">
                <a:solidFill>
                  <a:srgbClr val="FF0000"/>
                </a:solidFill>
              </a:rPr>
              <a:t>d</a:t>
            </a:r>
            <a:br>
              <a:rPr lang="en-US" altLang="zh-CN" dirty="0"/>
            </a:br>
            <a:r>
              <a:rPr lang="en-US" altLang="zh-CN" dirty="0"/>
              <a:t>               A → </a:t>
            </a:r>
            <a:r>
              <a:rPr lang="en-US" altLang="zh-CN" dirty="0">
                <a:solidFill>
                  <a:srgbClr val="FF0000"/>
                </a:solidFill>
              </a:rPr>
              <a:t>a</a:t>
            </a:r>
            <a:r>
              <a:rPr lang="en-US" altLang="zh-CN" dirty="0"/>
              <a:t> </a:t>
            </a:r>
            <a:endParaRPr lang="en-US" altLang="zh-CN" dirty="0"/>
          </a:p>
          <a:p>
            <a:pPr marL="0" indent="0">
              <a:lnSpc>
                <a:spcPct val="100000"/>
              </a:lnSpc>
              <a:buNone/>
            </a:pPr>
            <a:r>
              <a:rPr lang="en-US" altLang="zh-CN" dirty="0"/>
              <a:t>               A → </a:t>
            </a:r>
            <a:r>
              <a:rPr lang="en-US" altLang="zh-CN" dirty="0">
                <a:solidFill>
                  <a:srgbClr val="FF0000"/>
                </a:solidFill>
              </a:rPr>
              <a:t>ab</a:t>
            </a:r>
            <a:endParaRPr lang="en-US" altLang="zh-CN" dirty="0">
              <a:solidFill>
                <a:srgbClr val="FF0000"/>
              </a:solidFill>
            </a:endParaRPr>
          </a:p>
        </p:txBody>
      </p:sp>
      <p:sp>
        <p:nvSpPr>
          <p:cNvPr id="7" name="文本占位符 14"/>
          <p:cNvSpPr txBox="1"/>
          <p:nvPr/>
        </p:nvSpPr>
        <p:spPr>
          <a:xfrm>
            <a:off x="567690" y="3648710"/>
            <a:ext cx="4453890" cy="1748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识别输入串</a:t>
            </a:r>
            <a:r>
              <a:rPr lang="en-US" altLang="zh-CN" dirty="0"/>
              <a:t>w=</a:t>
            </a:r>
            <a:r>
              <a:rPr lang="en-US" altLang="zh-CN" dirty="0" err="1"/>
              <a:t>cabd</a:t>
            </a:r>
            <a:r>
              <a:rPr lang="zh-CN" altLang="en-US" dirty="0"/>
              <a:t>是否为该文法定义的句子？</a:t>
            </a:r>
            <a:endParaRPr lang="zh-CN" altLang="en-US" dirty="0"/>
          </a:p>
        </p:txBody>
      </p:sp>
      <p:sp>
        <p:nvSpPr>
          <p:cNvPr id="2" name="文本占位符 13"/>
          <p:cNvSpPr>
            <a:spLocks noGrp="1"/>
          </p:cNvSpPr>
          <p:nvPr/>
        </p:nvSpPr>
        <p:spPr>
          <a:xfrm>
            <a:off x="5169535" y="1313180"/>
            <a:ext cx="4905076" cy="515619"/>
          </a:xfrm>
          <a:prstGeom prst="rect">
            <a:avLst/>
          </a:prstGeom>
        </p:spPr>
        <p:txBody>
          <a:bodyPr vert="horz" lIns="91440" tIns="45720" rIns="91440" bIns="45720" rtlCol="0">
            <a:normAutofit fontScale="92500"/>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识别</a:t>
            </a:r>
            <a:r>
              <a:rPr lang="en-US" altLang="zh-CN" dirty="0"/>
              <a:t>S</a:t>
            </a:r>
            <a:r>
              <a:rPr lang="zh-CN" altLang="en-US" dirty="0"/>
              <a:t>的递归下降函数的伪代码：</a:t>
            </a:r>
            <a:endParaRPr lang="zh-CN" altLang="en-US" dirty="0"/>
          </a:p>
        </p:txBody>
      </p:sp>
      <p:sp>
        <p:nvSpPr>
          <p:cNvPr id="3" name="文本占位符 2"/>
          <p:cNvSpPr>
            <a:spLocks noGrp="1"/>
          </p:cNvSpPr>
          <p:nvPr/>
        </p:nvSpPr>
        <p:spPr>
          <a:xfrm>
            <a:off x="5100320" y="1910715"/>
            <a:ext cx="4676775" cy="369824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5000"/>
              </a:lnSpc>
              <a:spcBef>
                <a:spcPct val="50000"/>
              </a:spcBef>
              <a:buSzPct val="90000"/>
              <a:buNone/>
            </a:pPr>
            <a:r>
              <a:rPr lang="en-US" altLang="zh-CN" b="0" dirty="0">
                <a:solidFill>
                  <a:srgbClr val="050507"/>
                </a:solidFill>
                <a:latin typeface="Consolas" panose="020B0609020204030204" pitchFamily="49" charset="0"/>
              </a:rPr>
              <a:t>void S(void)</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 match(c);</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  A1();</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  match(d);</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  if(</a:t>
            </a:r>
            <a:r>
              <a:rPr lang="zh-CN" altLang="en-US" b="0" dirty="0">
                <a:solidFill>
                  <a:srgbClr val="050507"/>
                </a:solidFill>
                <a:latin typeface="Consolas" panose="020B0609020204030204" pitchFamily="49" charset="0"/>
              </a:rPr>
              <a:t>调用</a:t>
            </a:r>
            <a:r>
              <a:rPr lang="en-US" altLang="zh-CN" b="0" dirty="0">
                <a:solidFill>
                  <a:srgbClr val="050507"/>
                </a:solidFill>
                <a:latin typeface="Consolas" panose="020B0609020204030204" pitchFamily="49" charset="0"/>
              </a:rPr>
              <a:t>A1()</a:t>
            </a:r>
            <a:r>
              <a:rPr lang="zh-CN" altLang="en-US" b="0" dirty="0">
                <a:solidFill>
                  <a:srgbClr val="050507"/>
                </a:solidFill>
                <a:latin typeface="Consolas" panose="020B0609020204030204" pitchFamily="49" charset="0"/>
              </a:rPr>
              <a:t>失败</a:t>
            </a:r>
            <a:r>
              <a:rPr lang="en-US" altLang="zh-CN" b="0" dirty="0">
                <a:solidFill>
                  <a:srgbClr val="050507"/>
                </a:solidFill>
                <a:latin typeface="Consolas" panose="020B0609020204030204" pitchFamily="49" charset="0"/>
              </a:rPr>
              <a:t>)</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    { A2();</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      match(d);</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    } </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a:t>
            </a:r>
            <a:endParaRPr lang="en-US" altLang="zh-CN" b="0" dirty="0">
              <a:solidFill>
                <a:srgbClr val="050507"/>
              </a:solidFill>
              <a:latin typeface="Consolas" panose="020B0609020204030204" pitchFamily="49" charset="0"/>
            </a:endParaRPr>
          </a:p>
          <a:p>
            <a:pPr marL="0" indent="0">
              <a:buNone/>
            </a:pPr>
            <a:endParaRPr lang="zh-CN" altLang="en-US" dirty="0">
              <a:latin typeface="Consolas" panose="020B0609020204030204" pitchFamily="49" charset="0"/>
            </a:endParaRPr>
          </a:p>
        </p:txBody>
      </p:sp>
      <p:sp>
        <p:nvSpPr>
          <p:cNvPr id="8" name="文本占位符 2"/>
          <p:cNvSpPr txBox="1"/>
          <p:nvPr/>
        </p:nvSpPr>
        <p:spPr>
          <a:xfrm>
            <a:off x="9189795" y="1895441"/>
            <a:ext cx="2803525" cy="36982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5000"/>
              </a:lnSpc>
              <a:spcBef>
                <a:spcPct val="50000"/>
              </a:spcBef>
              <a:buSzPct val="90000"/>
              <a:buNone/>
            </a:pPr>
            <a:r>
              <a:rPr lang="en-US" altLang="zh-CN" b="0" dirty="0">
                <a:solidFill>
                  <a:srgbClr val="050507"/>
                </a:solidFill>
                <a:latin typeface="Consolas" panose="020B0609020204030204" pitchFamily="49" charset="0"/>
              </a:rPr>
              <a:t>void A1(void)</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 match(a);  </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void A2(void)</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  match(a);</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   match(b); </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b="0" dirty="0">
                <a:solidFill>
                  <a:srgbClr val="050507"/>
                </a:solidFill>
                <a:latin typeface="Consolas" panose="020B0609020204030204" pitchFamily="49" charset="0"/>
              </a:rPr>
              <a:t>}</a:t>
            </a:r>
            <a:endParaRPr lang="en-US" altLang="zh-CN" b="0" dirty="0">
              <a:solidFill>
                <a:srgbClr val="050507"/>
              </a:solidFill>
              <a:latin typeface="Consolas" panose="020B0609020204030204" pitchFamily="49" charset="0"/>
            </a:endParaRPr>
          </a:p>
          <a:p>
            <a:pPr marL="0" indent="0">
              <a:lnSpc>
                <a:spcPct val="75000"/>
              </a:lnSpc>
              <a:spcBef>
                <a:spcPct val="50000"/>
              </a:spcBef>
              <a:buSzPct val="90000"/>
              <a:buNone/>
            </a:pPr>
            <a:endParaRPr lang="en-US" altLang="zh-CN" b="0" dirty="0">
              <a:solidFill>
                <a:srgbClr val="050507"/>
              </a:solidFill>
              <a:latin typeface="Consolas" panose="020B0609020204030204" pitchFamily="49" charset="0"/>
            </a:endParaRPr>
          </a:p>
        </p:txBody>
      </p:sp>
      <p:sp>
        <p:nvSpPr>
          <p:cNvPr id="13" name="Rectangle 9"/>
          <p:cNvSpPr>
            <a:spLocks noChangeArrowheads="1"/>
          </p:cNvSpPr>
          <p:nvPr/>
        </p:nvSpPr>
        <p:spPr bwMode="auto">
          <a:xfrm>
            <a:off x="6727825" y="2546350"/>
            <a:ext cx="2818765" cy="54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0000" tIns="46800" rIns="90000" bIns="46800">
            <a:noAutofit/>
          </a:bodyPr>
          <a:lstStyle/>
          <a:p>
            <a:pPr>
              <a:lnSpc>
                <a:spcPct val="100000"/>
              </a:lnSpc>
              <a:spcBef>
                <a:spcPct val="50000"/>
              </a:spcBef>
              <a:buSzPct val="90000"/>
            </a:pPr>
            <a:r>
              <a:rPr lang="en-US" altLang="zh-CN" b="0" dirty="0">
                <a:solidFill>
                  <a:srgbClr val="0070C0"/>
                </a:solidFill>
              </a:rPr>
              <a:t>//</a:t>
            </a:r>
            <a:r>
              <a:rPr lang="zh-CN" altLang="en-US" b="0" dirty="0">
                <a:solidFill>
                  <a:srgbClr val="0070C0"/>
                </a:solidFill>
              </a:rPr>
              <a:t>标记</a:t>
            </a:r>
            <a:r>
              <a:rPr lang="zh-CN" altLang="en-US" b="0" i="1" dirty="0">
                <a:solidFill>
                  <a:srgbClr val="0070C0"/>
                </a:solidFill>
              </a:rPr>
              <a:t>执行该函数时的</a:t>
            </a:r>
            <a:r>
              <a:rPr lang="en-US" altLang="zh-CN" b="0" i="1" dirty="0">
                <a:solidFill>
                  <a:srgbClr val="0070C0"/>
                </a:solidFill>
              </a:rPr>
              <a:t>token</a:t>
            </a:r>
            <a:r>
              <a:rPr lang="zh-CN" altLang="en-US" b="0" i="1" dirty="0">
                <a:solidFill>
                  <a:srgbClr val="0070C0"/>
                </a:solidFill>
              </a:rPr>
              <a:t>位置</a:t>
            </a:r>
            <a:endParaRPr lang="zh-CN" altLang="en-US" b="0" i="1" dirty="0">
              <a:solidFill>
                <a:srgbClr val="0070C0"/>
              </a:solidFill>
            </a:endParaRPr>
          </a:p>
        </p:txBody>
      </p:sp>
      <p:sp>
        <p:nvSpPr>
          <p:cNvPr id="5" name="Rectangle 9"/>
          <p:cNvSpPr>
            <a:spLocks noChangeArrowheads="1"/>
          </p:cNvSpPr>
          <p:nvPr>
            <p:custDataLst>
              <p:tags r:id="rId1"/>
            </p:custDataLst>
          </p:nvPr>
        </p:nvSpPr>
        <p:spPr bwMode="auto">
          <a:xfrm>
            <a:off x="6942455" y="3648710"/>
            <a:ext cx="2301240" cy="54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0000" tIns="46800" rIns="90000" bIns="46800">
            <a:noAutofit/>
          </a:bodyPr>
          <a:p>
            <a:pPr>
              <a:lnSpc>
                <a:spcPct val="100000"/>
              </a:lnSpc>
              <a:spcBef>
                <a:spcPct val="50000"/>
              </a:spcBef>
              <a:buSzPct val="90000"/>
            </a:pPr>
            <a:r>
              <a:rPr lang="en-US" altLang="zh-CN" b="0" dirty="0">
                <a:solidFill>
                  <a:srgbClr val="0070C0"/>
                </a:solidFill>
              </a:rPr>
              <a:t>//</a:t>
            </a:r>
            <a:r>
              <a:rPr lang="zh-CN" altLang="en-US" b="0" i="1" dirty="0">
                <a:solidFill>
                  <a:srgbClr val="0070C0"/>
                </a:solidFill>
              </a:rPr>
              <a:t>回退到上述标记的</a:t>
            </a:r>
            <a:r>
              <a:rPr lang="en-US" altLang="zh-CN" b="0" i="1" dirty="0">
                <a:solidFill>
                  <a:srgbClr val="0070C0"/>
                </a:solidFill>
              </a:rPr>
              <a:t>token</a:t>
            </a:r>
            <a:r>
              <a:rPr lang="zh-CN" altLang="en-US" b="0" i="1" dirty="0">
                <a:solidFill>
                  <a:srgbClr val="0070C0"/>
                </a:solidFill>
              </a:rPr>
              <a:t>位置</a:t>
            </a:r>
            <a:endParaRPr lang="zh-CN" altLang="en-US" b="0" i="1" dirty="0">
              <a:solidFill>
                <a:srgbClr val="0070C0"/>
              </a:solidFill>
            </a:endParaRPr>
          </a:p>
        </p:txBody>
      </p:sp>
      <p:sp>
        <p:nvSpPr>
          <p:cNvPr id="4" name="灯片编号占位符 3"/>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fade">
                                      <p:cBhvr>
                                        <p:cTn id="18" dur="500"/>
                                        <p:tgtEl>
                                          <p:spTgt spid="8">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500"/>
                                        <p:tgtEl>
                                          <p:spTgt spid="8">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fade">
                                      <p:cBhvr>
                                        <p:cTn id="32" dur="5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fade">
                                      <p:cBhvr>
                                        <p:cTn id="37" dur="500"/>
                                        <p:tgtEl>
                                          <p:spTgt spid="3">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2" end="2"/>
                                            </p:txEl>
                                          </p:spTgt>
                                        </p:tgtEl>
                                        <p:attrNameLst>
                                          <p:attrName>style.visibility</p:attrName>
                                        </p:attrNameLst>
                                      </p:cBhvr>
                                      <p:to>
                                        <p:strVal val="visible"/>
                                      </p:to>
                                    </p:set>
                                    <p:animEffect transition="in" filter="fade">
                                      <p:cBhvr>
                                        <p:cTn id="42" dur="50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Effect transition="in" filter="fade">
                                      <p:cBhvr>
                                        <p:cTn id="47" dur="500"/>
                                        <p:tgtEl>
                                          <p:spTgt spid="3">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4" end="4"/>
                                            </p:txEl>
                                          </p:spTgt>
                                        </p:tgtEl>
                                        <p:attrNameLst>
                                          <p:attrName>style.visibility</p:attrName>
                                        </p:attrNameLst>
                                      </p:cBhvr>
                                      <p:to>
                                        <p:strVal val="visible"/>
                                      </p:to>
                                    </p:set>
                                    <p:animEffect transition="in" filter="fade">
                                      <p:cBhvr>
                                        <p:cTn id="52" dur="500"/>
                                        <p:tgtEl>
                                          <p:spTgt spid="3">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5" end="5"/>
                                            </p:txEl>
                                          </p:spTgt>
                                        </p:tgtEl>
                                        <p:attrNameLst>
                                          <p:attrName>style.visibility</p:attrName>
                                        </p:attrNameLst>
                                      </p:cBhvr>
                                      <p:to>
                                        <p:strVal val="visible"/>
                                      </p:to>
                                    </p:set>
                                    <p:animEffect transition="in" filter="fade">
                                      <p:cBhvr>
                                        <p:cTn id="57" dur="500"/>
                                        <p:tgtEl>
                                          <p:spTgt spid="3">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6" end="6"/>
                                            </p:txEl>
                                          </p:spTgt>
                                        </p:tgtEl>
                                        <p:attrNameLst>
                                          <p:attrName>style.visibility</p:attrName>
                                        </p:attrNameLst>
                                      </p:cBhvr>
                                      <p:to>
                                        <p:strVal val="visible"/>
                                      </p:to>
                                    </p:set>
                                    <p:animEffect transition="in" filter="fade">
                                      <p:cBhvr>
                                        <p:cTn id="62" dur="500"/>
                                        <p:tgtEl>
                                          <p:spTgt spid="3">
                                            <p:txEl>
                                              <p:pRg st="6" end="6"/>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7" end="7"/>
                                            </p:txEl>
                                          </p:spTgt>
                                        </p:tgtEl>
                                        <p:attrNameLst>
                                          <p:attrName>style.visibility</p:attrName>
                                        </p:attrNameLst>
                                      </p:cBhvr>
                                      <p:to>
                                        <p:strVal val="visible"/>
                                      </p:to>
                                    </p:set>
                                    <p:animEffect transition="in" filter="fade">
                                      <p:cBhvr>
                                        <p:cTn id="67" dur="500"/>
                                        <p:tgtEl>
                                          <p:spTgt spid="3">
                                            <p:txEl>
                                              <p:pRg st="7" end="7"/>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xEl>
                                              <p:pRg st="8" end="8"/>
                                            </p:txEl>
                                          </p:spTgt>
                                        </p:tgtEl>
                                        <p:attrNameLst>
                                          <p:attrName>style.visibility</p:attrName>
                                        </p:attrNameLst>
                                      </p:cBhvr>
                                      <p:to>
                                        <p:strVal val="visible"/>
                                      </p:to>
                                    </p:set>
                                    <p:animEffect transition="in" filter="fade">
                                      <p:cBhvr>
                                        <p:cTn id="72" dur="500"/>
                                        <p:tgtEl>
                                          <p:spTgt spid="3">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500"/>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
                                        </p:tgtEl>
                                        <p:attrNameLst>
                                          <p:attrName>style.visibility</p:attrName>
                                        </p:attrNameLst>
                                      </p:cBhvr>
                                      <p:to>
                                        <p:strVal val="visible"/>
                                      </p:to>
                                    </p:set>
                                    <p:animEffect transition="in" filter="fade">
                                      <p:cBhvr>
                                        <p:cTn id="8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42595" y="276860"/>
            <a:ext cx="8450580" cy="593090"/>
          </a:xfrm>
        </p:spPr>
        <p:txBody>
          <a:bodyPr/>
          <a:lstStyle/>
          <a:p>
            <a:r>
              <a:rPr lang="zh-CN" altLang="en-US" sz="3200" dirty="0"/>
              <a:t>4.</a:t>
            </a:r>
            <a:r>
              <a:rPr lang="en-US" altLang="zh-CN" sz="3200" dirty="0"/>
              <a:t>2.2 </a:t>
            </a:r>
            <a:r>
              <a:rPr lang="zh-CN" altLang="en-US" sz="3200" dirty="0"/>
              <a:t>文法规则使用</a:t>
            </a:r>
            <a:r>
              <a:rPr lang="en-US" altLang="zh-CN" sz="3200" dirty="0"/>
              <a:t>EBNF</a:t>
            </a:r>
            <a:r>
              <a:rPr lang="zh-CN" altLang="en-US" sz="3200" dirty="0"/>
              <a:t>表示法</a:t>
            </a:r>
            <a:endParaRPr lang="en-US" altLang="zh-CN" sz="3200" dirty="0"/>
          </a:p>
        </p:txBody>
      </p:sp>
      <p:sp>
        <p:nvSpPr>
          <p:cNvPr id="14" name="文本占位符 13"/>
          <p:cNvSpPr>
            <a:spLocks noGrp="1"/>
          </p:cNvSpPr>
          <p:nvPr>
            <p:ph type="body" sz="quarter" idx="15"/>
          </p:nvPr>
        </p:nvSpPr>
        <p:spPr>
          <a:xfrm>
            <a:off x="562610" y="1248410"/>
            <a:ext cx="9973310" cy="3135630"/>
          </a:xfrm>
        </p:spPr>
        <p:txBody>
          <a:bodyPr>
            <a:noAutofit/>
          </a:bodyPr>
          <a:lstStyle/>
          <a:p>
            <a:pPr>
              <a:lnSpc>
                <a:spcPct val="150000"/>
              </a:lnSpc>
            </a:pPr>
            <a:r>
              <a:rPr lang="en-US" altLang="zh-CN" sz="3200" dirty="0">
                <a:solidFill>
                  <a:srgbClr val="0070C0"/>
                </a:solidFill>
              </a:rPr>
              <a:t>1.</a:t>
            </a:r>
            <a:r>
              <a:rPr lang="zh-CN" altLang="en-US" sz="3200" dirty="0">
                <a:solidFill>
                  <a:srgbClr val="0070C0"/>
                </a:solidFill>
              </a:rPr>
              <a:t>选择的情况</a:t>
            </a:r>
            <a:endParaRPr lang="en-US" altLang="zh-CN" sz="3200" dirty="0">
              <a:solidFill>
                <a:srgbClr val="0070C0"/>
              </a:solidFill>
            </a:endParaRPr>
          </a:p>
          <a:p>
            <a:pPr>
              <a:lnSpc>
                <a:spcPct val="125000"/>
              </a:lnSpc>
            </a:pPr>
            <a:r>
              <a:rPr lang="en-US" altLang="zh-CN" dirty="0"/>
              <a:t>EBNF</a:t>
            </a:r>
            <a:r>
              <a:rPr lang="zh-CN" altLang="en-US" dirty="0"/>
              <a:t>使用</a:t>
            </a:r>
            <a:r>
              <a:rPr lang="en-US" altLang="zh-CN" dirty="0"/>
              <a:t>[ ]</a:t>
            </a:r>
            <a:r>
              <a:rPr lang="zh-CN" altLang="en-US" dirty="0"/>
              <a:t>表示选择：</a:t>
            </a:r>
            <a:endParaRPr lang="zh-CN" altLang="en-US" dirty="0"/>
          </a:p>
          <a:p>
            <a:pPr>
              <a:lnSpc>
                <a:spcPct val="125000"/>
              </a:lnSpc>
            </a:pPr>
            <a:r>
              <a:rPr lang="zh-CN" altLang="en-US" dirty="0"/>
              <a:t>文法</a:t>
            </a:r>
            <a:r>
              <a:rPr lang="en-US" altLang="zh-CN" dirty="0"/>
              <a:t>G</a:t>
            </a:r>
            <a:r>
              <a:rPr lang="zh-CN" altLang="en-US" dirty="0"/>
              <a:t>：</a:t>
            </a:r>
            <a:endParaRPr lang="en-US" altLang="zh-CN" dirty="0"/>
          </a:p>
          <a:p>
            <a:pPr>
              <a:lnSpc>
                <a:spcPct val="125000"/>
              </a:lnSpc>
            </a:pPr>
            <a:r>
              <a:rPr lang="en-US" altLang="zh-CN" dirty="0"/>
              <a:t>	S → </a:t>
            </a:r>
            <a:r>
              <a:rPr lang="en-US" altLang="zh-CN" dirty="0" err="1">
                <a:solidFill>
                  <a:srgbClr val="FF0000"/>
                </a:solidFill>
              </a:rPr>
              <a:t>c</a:t>
            </a:r>
            <a:r>
              <a:rPr lang="en-US" altLang="zh-CN" dirty="0" err="1"/>
              <a:t>A</a:t>
            </a:r>
            <a:r>
              <a:rPr lang="en-US" altLang="zh-CN" dirty="0" err="1">
                <a:solidFill>
                  <a:srgbClr val="FF0000"/>
                </a:solidFill>
              </a:rPr>
              <a:t>d</a:t>
            </a:r>
            <a:endParaRPr lang="en-US" altLang="zh-CN" dirty="0"/>
          </a:p>
          <a:p>
            <a:pPr>
              <a:lnSpc>
                <a:spcPct val="125000"/>
              </a:lnSpc>
            </a:pPr>
            <a:r>
              <a:rPr lang="en-US" altLang="zh-CN" dirty="0"/>
              <a:t>	A → </a:t>
            </a:r>
            <a:r>
              <a:rPr lang="en-US" altLang="zh-CN" dirty="0">
                <a:solidFill>
                  <a:srgbClr val="FF0000"/>
                </a:solidFill>
              </a:rPr>
              <a:t>a</a:t>
            </a:r>
            <a:r>
              <a:rPr lang="en-US" altLang="zh-CN" dirty="0"/>
              <a:t> </a:t>
            </a:r>
            <a:endParaRPr lang="en-US" altLang="zh-CN" dirty="0"/>
          </a:p>
          <a:p>
            <a:pPr>
              <a:lnSpc>
                <a:spcPct val="125000"/>
              </a:lnSpc>
            </a:pPr>
            <a:r>
              <a:rPr lang="en-US" altLang="zh-CN" dirty="0"/>
              <a:t>	A → </a:t>
            </a:r>
            <a:r>
              <a:rPr lang="en-US" altLang="zh-CN" dirty="0">
                <a:solidFill>
                  <a:srgbClr val="FF0000"/>
                </a:solidFill>
              </a:rPr>
              <a:t>ab</a:t>
            </a:r>
            <a:endParaRPr lang="en-US" altLang="zh-CN" dirty="0">
              <a:solidFill>
                <a:srgbClr val="FF0000"/>
              </a:solidFill>
            </a:endParaRPr>
          </a:p>
          <a:p>
            <a:endParaRPr lang="en-US" altLang="zh-CN" dirty="0">
              <a:solidFill>
                <a:srgbClr val="FF0000"/>
              </a:solidFill>
            </a:endParaRPr>
          </a:p>
        </p:txBody>
      </p:sp>
      <p:sp>
        <p:nvSpPr>
          <p:cNvPr id="15" name="文本占位符 14"/>
          <p:cNvSpPr>
            <a:spLocks noGrp="1"/>
          </p:cNvSpPr>
          <p:nvPr/>
        </p:nvSpPr>
        <p:spPr>
          <a:xfrm>
            <a:off x="4660265" y="1469390"/>
            <a:ext cx="9356090" cy="9226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800" dirty="0"/>
              <a:t> </a:t>
            </a:r>
            <a:r>
              <a:rPr lang="en-US" altLang="zh-CN" sz="2800">
                <a:latin typeface="+mn-ea"/>
                <a:ea typeface="+mn-ea"/>
                <a:sym typeface="+mn-ea"/>
              </a:rPr>
              <a:t>EBNF</a:t>
            </a:r>
            <a:r>
              <a:rPr sz="2800">
                <a:latin typeface="+mn-ea"/>
                <a:ea typeface="+mn-ea"/>
                <a:sym typeface="+mn-ea"/>
              </a:rPr>
              <a:t>表示法，</a:t>
            </a:r>
            <a:r>
              <a:rPr lang="zh-CN" altLang="en-US" sz="2800" dirty="0"/>
              <a:t>识别</a:t>
            </a:r>
            <a:r>
              <a:rPr lang="en-US" altLang="zh-CN" sz="2800" dirty="0"/>
              <a:t>S</a:t>
            </a:r>
            <a:r>
              <a:rPr lang="zh-CN" altLang="en-US" sz="2800" dirty="0"/>
              <a:t>递归下降函数：</a:t>
            </a:r>
            <a:endParaRPr lang="en-US" altLang="zh-CN" sz="2800" dirty="0"/>
          </a:p>
          <a:p>
            <a:pPr marL="0" indent="0">
              <a:lnSpc>
                <a:spcPct val="100000"/>
              </a:lnSpc>
              <a:buNone/>
            </a:pPr>
            <a:r>
              <a:rPr lang="zh-CN" altLang="en-US" sz="2800" dirty="0"/>
              <a:t> </a:t>
            </a:r>
            <a:r>
              <a:rPr lang="en-US" altLang="zh-CN" sz="2800" dirty="0" err="1"/>
              <a:t>S→</a:t>
            </a:r>
            <a:r>
              <a:rPr lang="en-US" altLang="zh-CN" sz="2800" dirty="0" err="1">
                <a:solidFill>
                  <a:srgbClr val="FF0000"/>
                </a:solidFill>
              </a:rPr>
              <a:t>c</a:t>
            </a:r>
            <a:r>
              <a:rPr lang="en-US" altLang="zh-CN" sz="2800" dirty="0" err="1"/>
              <a:t>A</a:t>
            </a:r>
            <a:r>
              <a:rPr lang="en-US" altLang="zh-CN" sz="2800" dirty="0" err="1">
                <a:solidFill>
                  <a:srgbClr val="FF0000"/>
                </a:solidFill>
              </a:rPr>
              <a:t>d</a:t>
            </a:r>
            <a:r>
              <a:rPr lang="en-US" altLang="zh-CN" sz="2800" dirty="0">
                <a:solidFill>
                  <a:srgbClr val="FF0000"/>
                </a:solidFill>
              </a:rPr>
              <a:t>			       </a:t>
            </a:r>
            <a:r>
              <a:rPr lang="en-US" altLang="zh-CN" sz="2800" dirty="0"/>
              <a:t>A → </a:t>
            </a:r>
            <a:r>
              <a:rPr lang="en-US" altLang="zh-CN" sz="2800" dirty="0">
                <a:solidFill>
                  <a:srgbClr val="FF0000"/>
                </a:solidFill>
              </a:rPr>
              <a:t>a</a:t>
            </a:r>
            <a:r>
              <a:rPr lang="en-US" altLang="zh-CN" sz="2800" dirty="0"/>
              <a:t>[</a:t>
            </a:r>
            <a:r>
              <a:rPr lang="en-US" altLang="zh-CN" sz="2800" dirty="0">
                <a:solidFill>
                  <a:srgbClr val="FF0000"/>
                </a:solidFill>
              </a:rPr>
              <a:t>b</a:t>
            </a:r>
            <a:r>
              <a:rPr lang="en-US" altLang="zh-CN" sz="2800" dirty="0"/>
              <a:t>]</a:t>
            </a:r>
            <a:endParaRPr lang="en-US" altLang="zh-CN" sz="2800" b="0" dirty="0">
              <a:solidFill>
                <a:srgbClr val="FF0000"/>
              </a:solidFill>
              <a:latin typeface="Consolas" panose="020B0609020204030204" pitchFamily="49" charset="0"/>
            </a:endParaRPr>
          </a:p>
          <a:p>
            <a:pPr marL="0" indent="0">
              <a:lnSpc>
                <a:spcPct val="100000"/>
              </a:lnSpc>
              <a:buNone/>
            </a:pPr>
            <a:endParaRPr lang="en-US" altLang="zh-CN" sz="2800" dirty="0"/>
          </a:p>
          <a:p>
            <a:pPr marL="0" indent="0">
              <a:lnSpc>
                <a:spcPct val="100000"/>
              </a:lnSpc>
              <a:buNone/>
            </a:pPr>
            <a:endParaRPr lang="en-US" altLang="zh-CN" sz="2800" dirty="0"/>
          </a:p>
        </p:txBody>
      </p:sp>
      <p:sp>
        <p:nvSpPr>
          <p:cNvPr id="6" name="文本占位符 2"/>
          <p:cNvSpPr txBox="1"/>
          <p:nvPr/>
        </p:nvSpPr>
        <p:spPr>
          <a:xfrm>
            <a:off x="4820285" y="2991485"/>
            <a:ext cx="4217035" cy="21164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5000"/>
              </a:lnSpc>
              <a:spcBef>
                <a:spcPct val="50000"/>
              </a:spcBef>
              <a:buSzPct val="90000"/>
              <a:buNone/>
            </a:pPr>
            <a:r>
              <a:rPr lang="en-US" altLang="zh-CN" sz="2800" dirty="0">
                <a:solidFill>
                  <a:srgbClr val="050507"/>
                </a:solidFill>
                <a:latin typeface="Consolas" panose="020B0609020204030204" pitchFamily="49" charset="0"/>
              </a:rPr>
              <a:t>void </a:t>
            </a:r>
            <a:r>
              <a:rPr lang="en-US" altLang="zh-CN" sz="2800" dirty="0">
                <a:solidFill>
                  <a:srgbClr val="FF0000"/>
                </a:solidFill>
                <a:latin typeface="Consolas" panose="020B0609020204030204" pitchFamily="49" charset="0"/>
              </a:rPr>
              <a:t>S</a:t>
            </a:r>
            <a:r>
              <a:rPr lang="en-US" altLang="zh-CN" sz="2800" dirty="0">
                <a:solidFill>
                  <a:srgbClr val="050507"/>
                </a:solidFill>
                <a:latin typeface="Consolas" panose="020B0609020204030204" pitchFamily="49" charset="0"/>
              </a:rPr>
              <a:t>(void)</a:t>
            </a:r>
            <a:endParaRPr lang="en-US" altLang="zh-CN" sz="280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2800" dirty="0">
                <a:solidFill>
                  <a:srgbClr val="050507"/>
                </a:solidFill>
                <a:latin typeface="Consolas" panose="020B0609020204030204" pitchFamily="49" charset="0"/>
              </a:rPr>
              <a:t>{     match(</a:t>
            </a:r>
            <a:r>
              <a:rPr lang="en-US" altLang="zh-CN" sz="2800" dirty="0">
                <a:solidFill>
                  <a:srgbClr val="FF0000"/>
                </a:solidFill>
                <a:latin typeface="Consolas" panose="020B0609020204030204" pitchFamily="49" charset="0"/>
              </a:rPr>
              <a:t>c</a:t>
            </a:r>
            <a:r>
              <a:rPr lang="en-US" altLang="zh-CN" sz="2800" dirty="0">
                <a:solidFill>
                  <a:srgbClr val="050507"/>
                </a:solidFill>
                <a:latin typeface="Consolas" panose="020B0609020204030204" pitchFamily="49" charset="0"/>
              </a:rPr>
              <a:t>);</a:t>
            </a:r>
            <a:endParaRPr lang="en-US" altLang="zh-CN" sz="280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2800" dirty="0">
                <a:solidFill>
                  <a:srgbClr val="050507"/>
                </a:solidFill>
                <a:latin typeface="Consolas" panose="020B0609020204030204" pitchFamily="49" charset="0"/>
              </a:rPr>
              <a:t>      A();</a:t>
            </a:r>
            <a:endParaRPr lang="en-US" altLang="zh-CN" sz="280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2800" dirty="0">
                <a:solidFill>
                  <a:srgbClr val="050507"/>
                </a:solidFill>
                <a:latin typeface="Consolas" panose="020B0609020204030204" pitchFamily="49" charset="0"/>
              </a:rPr>
              <a:t>      match(</a:t>
            </a:r>
            <a:r>
              <a:rPr lang="en-US" altLang="zh-CN" sz="2800" dirty="0">
                <a:solidFill>
                  <a:srgbClr val="FF0000"/>
                </a:solidFill>
                <a:latin typeface="Consolas" panose="020B0609020204030204" pitchFamily="49" charset="0"/>
              </a:rPr>
              <a:t>d</a:t>
            </a:r>
            <a:r>
              <a:rPr lang="en-US" altLang="zh-CN" sz="2800" dirty="0">
                <a:solidFill>
                  <a:srgbClr val="050507"/>
                </a:solidFill>
                <a:latin typeface="Consolas" panose="020B0609020204030204" pitchFamily="49" charset="0"/>
              </a:rPr>
              <a:t>);</a:t>
            </a:r>
            <a:endParaRPr lang="en-US" altLang="zh-CN" sz="280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2800" dirty="0">
                <a:solidFill>
                  <a:srgbClr val="050507"/>
                </a:solidFill>
                <a:latin typeface="Consolas" panose="020B0609020204030204" pitchFamily="49" charset="0"/>
              </a:rPr>
              <a:t>}</a:t>
            </a:r>
            <a:endParaRPr lang="en-US" altLang="zh-CN" sz="2800" dirty="0">
              <a:solidFill>
                <a:srgbClr val="050507"/>
              </a:solidFill>
              <a:latin typeface="Consolas" panose="020B0609020204030204" pitchFamily="49" charset="0"/>
            </a:endParaRPr>
          </a:p>
        </p:txBody>
      </p:sp>
      <p:sp>
        <p:nvSpPr>
          <p:cNvPr id="8" name="文本占位符 2"/>
          <p:cNvSpPr txBox="1"/>
          <p:nvPr/>
        </p:nvSpPr>
        <p:spPr>
          <a:xfrm>
            <a:off x="8686800" y="2903855"/>
            <a:ext cx="4898390" cy="18884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5000"/>
              </a:lnSpc>
              <a:spcBef>
                <a:spcPct val="50000"/>
              </a:spcBef>
              <a:buSzPct val="90000"/>
              <a:buNone/>
            </a:pPr>
            <a:r>
              <a:rPr lang="en-US" altLang="zh-CN" sz="2800" dirty="0">
                <a:solidFill>
                  <a:srgbClr val="050507"/>
                </a:solidFill>
                <a:latin typeface="Consolas" panose="020B0609020204030204" pitchFamily="49" charset="0"/>
              </a:rPr>
              <a:t>void </a:t>
            </a:r>
            <a:r>
              <a:rPr lang="en-US" altLang="zh-CN" sz="2800" dirty="0">
                <a:solidFill>
                  <a:srgbClr val="FF0000"/>
                </a:solidFill>
                <a:latin typeface="Consolas" panose="020B0609020204030204" pitchFamily="49" charset="0"/>
              </a:rPr>
              <a:t>A</a:t>
            </a:r>
            <a:r>
              <a:rPr lang="en-US" altLang="zh-CN" sz="2800" dirty="0">
                <a:solidFill>
                  <a:srgbClr val="050507"/>
                </a:solidFill>
                <a:latin typeface="Consolas" panose="020B0609020204030204" pitchFamily="49" charset="0"/>
              </a:rPr>
              <a:t>(void)</a:t>
            </a:r>
            <a:endParaRPr lang="en-US" altLang="zh-CN" sz="280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2800" dirty="0">
                <a:solidFill>
                  <a:srgbClr val="050507"/>
                </a:solidFill>
                <a:latin typeface="Consolas" panose="020B0609020204030204" pitchFamily="49" charset="0"/>
              </a:rPr>
              <a:t>{  match(</a:t>
            </a:r>
            <a:r>
              <a:rPr lang="en-US" altLang="zh-CN" sz="2800" dirty="0">
                <a:solidFill>
                  <a:srgbClr val="FF0000"/>
                </a:solidFill>
                <a:latin typeface="Consolas" panose="020B0609020204030204" pitchFamily="49" charset="0"/>
              </a:rPr>
              <a:t>a</a:t>
            </a:r>
            <a:r>
              <a:rPr lang="en-US" altLang="zh-CN" sz="2800" dirty="0">
                <a:solidFill>
                  <a:srgbClr val="050507"/>
                </a:solidFill>
                <a:latin typeface="Consolas" panose="020B0609020204030204" pitchFamily="49" charset="0"/>
              </a:rPr>
              <a:t>);</a:t>
            </a:r>
            <a:endParaRPr lang="en-US" altLang="zh-CN" sz="280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2800" dirty="0">
                <a:solidFill>
                  <a:srgbClr val="050507"/>
                </a:solidFill>
                <a:latin typeface="Consolas" panose="020B0609020204030204" pitchFamily="49" charset="0"/>
              </a:rPr>
              <a:t>   if (token==</a:t>
            </a:r>
            <a:r>
              <a:rPr lang="en-US" altLang="zh-CN" sz="2800" dirty="0">
                <a:solidFill>
                  <a:srgbClr val="FF0000"/>
                </a:solidFill>
                <a:latin typeface="Consolas" panose="020B0609020204030204" pitchFamily="49" charset="0"/>
              </a:rPr>
              <a:t>b)</a:t>
            </a:r>
            <a:r>
              <a:rPr lang="en-US" altLang="zh-CN" sz="2800" dirty="0">
                <a:solidFill>
                  <a:srgbClr val="050507"/>
                </a:solidFill>
                <a:latin typeface="Consolas" panose="020B0609020204030204" pitchFamily="49" charset="0"/>
              </a:rPr>
              <a:t> </a:t>
            </a:r>
            <a:endParaRPr lang="en-US" altLang="zh-CN" sz="280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2800" dirty="0">
                <a:solidFill>
                  <a:srgbClr val="050507"/>
                </a:solidFill>
                <a:latin typeface="Consolas" panose="020B0609020204030204" pitchFamily="49" charset="0"/>
              </a:rPr>
              <a:t>      match(</a:t>
            </a:r>
            <a:r>
              <a:rPr lang="en-US" altLang="zh-CN" sz="2800" dirty="0">
                <a:solidFill>
                  <a:srgbClr val="FF0000"/>
                </a:solidFill>
                <a:latin typeface="Consolas" panose="020B0609020204030204" pitchFamily="49" charset="0"/>
              </a:rPr>
              <a:t>b</a:t>
            </a:r>
            <a:r>
              <a:rPr lang="en-US" altLang="zh-CN" sz="2800" dirty="0">
                <a:solidFill>
                  <a:srgbClr val="050507"/>
                </a:solidFill>
                <a:latin typeface="Consolas" panose="020B0609020204030204" pitchFamily="49" charset="0"/>
              </a:rPr>
              <a:t>);</a:t>
            </a:r>
            <a:endParaRPr lang="en-US" altLang="zh-CN" sz="2800" dirty="0">
              <a:solidFill>
                <a:srgbClr val="050507"/>
              </a:solidFill>
              <a:latin typeface="Consolas" panose="020B0609020204030204" pitchFamily="49" charset="0"/>
            </a:endParaRPr>
          </a:p>
          <a:p>
            <a:pPr marL="0" indent="0">
              <a:lnSpc>
                <a:spcPct val="75000"/>
              </a:lnSpc>
              <a:spcBef>
                <a:spcPct val="50000"/>
              </a:spcBef>
              <a:buSzPct val="90000"/>
              <a:buNone/>
            </a:pPr>
            <a:r>
              <a:rPr lang="en-US" altLang="zh-CN" sz="2800" dirty="0">
                <a:solidFill>
                  <a:srgbClr val="050507"/>
                </a:solidFill>
                <a:latin typeface="Consolas" panose="020B0609020204030204" pitchFamily="49" charset="0"/>
              </a:rPr>
              <a:t>}</a:t>
            </a:r>
            <a:endParaRPr lang="en-US" altLang="zh-CN" sz="2800" dirty="0">
              <a:solidFill>
                <a:srgbClr val="050507"/>
              </a:solidFill>
              <a:latin typeface="Consolas" panose="020B0609020204030204" pitchFamily="49" charset="0"/>
            </a:endParaRPr>
          </a:p>
        </p:txBody>
      </p:sp>
      <p:sp>
        <p:nvSpPr>
          <p:cNvPr id="9" name="文本占位符 14"/>
          <p:cNvSpPr txBox="1"/>
          <p:nvPr/>
        </p:nvSpPr>
        <p:spPr>
          <a:xfrm>
            <a:off x="4745355" y="5384165"/>
            <a:ext cx="6874510" cy="5156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2800" dirty="0"/>
              <a:t>EBNF</a:t>
            </a:r>
            <a:r>
              <a:rPr lang="zh-CN" altLang="en-US" sz="2800" dirty="0"/>
              <a:t>避免重复扫单词序列</a:t>
            </a:r>
            <a:endParaRPr lang="zh-CN" altLang="en-US" sz="2800"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6" grpId="0"/>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28320" y="276860"/>
            <a:ext cx="8364855" cy="593090"/>
          </a:xfrm>
        </p:spPr>
        <p:txBody>
          <a:bodyPr/>
          <a:lstStyle/>
          <a:p>
            <a:r>
              <a:rPr lang="zh-CN" altLang="en-US" sz="3200" dirty="0"/>
              <a:t>4.</a:t>
            </a:r>
            <a:r>
              <a:rPr lang="en-US" altLang="zh-CN" sz="3200" dirty="0"/>
              <a:t>2.2 </a:t>
            </a:r>
            <a:r>
              <a:rPr lang="zh-CN" altLang="en-US" sz="3200" dirty="0"/>
              <a:t>文法规则使用</a:t>
            </a:r>
            <a:r>
              <a:rPr lang="en-US" altLang="zh-CN" sz="3200" dirty="0"/>
              <a:t>EBNF</a:t>
            </a:r>
            <a:r>
              <a:rPr lang="zh-CN" altLang="en-US" sz="3200" dirty="0"/>
              <a:t>表示法</a:t>
            </a:r>
            <a:endParaRPr lang="en-US" altLang="zh-CN" sz="3200" dirty="0"/>
          </a:p>
        </p:txBody>
      </p:sp>
      <p:sp>
        <p:nvSpPr>
          <p:cNvPr id="14" name="文本占位符 13"/>
          <p:cNvSpPr>
            <a:spLocks noGrp="1"/>
          </p:cNvSpPr>
          <p:nvPr>
            <p:ph type="body" sz="quarter" idx="15"/>
          </p:nvPr>
        </p:nvSpPr>
        <p:spPr>
          <a:xfrm>
            <a:off x="617855" y="1248410"/>
            <a:ext cx="6204585" cy="515620"/>
          </a:xfrm>
        </p:spPr>
        <p:txBody>
          <a:bodyPr>
            <a:normAutofit lnSpcReduction="10000"/>
          </a:bodyPr>
          <a:lstStyle/>
          <a:p>
            <a:r>
              <a:rPr lang="en-US" altLang="zh-CN" dirty="0">
                <a:solidFill>
                  <a:srgbClr val="0070C0"/>
                </a:solidFill>
              </a:rPr>
              <a:t>1.</a:t>
            </a:r>
            <a:r>
              <a:rPr lang="zh-CN" altLang="en-US" dirty="0">
                <a:solidFill>
                  <a:srgbClr val="0070C0"/>
                </a:solidFill>
              </a:rPr>
              <a:t>选择的情况（续）</a:t>
            </a:r>
            <a:endParaRPr lang="zh-CN" altLang="en-US" dirty="0">
              <a:solidFill>
                <a:srgbClr val="0070C0"/>
              </a:solidFill>
            </a:endParaRPr>
          </a:p>
        </p:txBody>
      </p:sp>
      <p:sp>
        <p:nvSpPr>
          <p:cNvPr id="15" name="文本占位符 14"/>
          <p:cNvSpPr>
            <a:spLocks noGrp="1"/>
          </p:cNvSpPr>
          <p:nvPr>
            <p:ph type="body" sz="quarter" idx="16"/>
          </p:nvPr>
        </p:nvSpPr>
        <p:spPr>
          <a:xfrm>
            <a:off x="528955" y="1910715"/>
            <a:ext cx="6214110" cy="3211195"/>
          </a:xfrm>
        </p:spPr>
        <p:txBody>
          <a:bodyPr>
            <a:noAutofit/>
          </a:bodyPr>
          <a:lstStyle/>
          <a:p>
            <a:pPr marL="0" indent="0">
              <a:lnSpc>
                <a:spcPct val="100000"/>
              </a:lnSpc>
              <a:buNone/>
            </a:pPr>
            <a:r>
              <a:rPr lang="zh-CN" altLang="en-US" sz="2800" dirty="0"/>
              <a:t>简化</a:t>
            </a:r>
            <a:r>
              <a:rPr lang="en-US" altLang="zh-CN" sz="2800" dirty="0"/>
              <a:t>if</a:t>
            </a:r>
            <a:r>
              <a:rPr lang="zh-CN" altLang="en-US" sz="2800" dirty="0"/>
              <a:t>语句的文法规则：</a:t>
            </a:r>
            <a:endParaRPr lang="zh-CN" altLang="en-US" sz="2800" dirty="0"/>
          </a:p>
          <a:p>
            <a:pPr marL="0" indent="0">
              <a:lnSpc>
                <a:spcPct val="100000"/>
              </a:lnSpc>
              <a:buNone/>
            </a:pPr>
            <a:r>
              <a:rPr lang="en-US" altLang="zh-CN" sz="2800" b="0" i="1" dirty="0" err="1"/>
              <a:t>if-stmt</a:t>
            </a:r>
            <a:r>
              <a:rPr lang="en-US" altLang="zh-CN" sz="2800" b="0" dirty="0" err="1"/>
              <a:t>→if</a:t>
            </a:r>
            <a:r>
              <a:rPr lang="en-US" altLang="zh-CN" sz="2800" b="0" dirty="0"/>
              <a:t> (</a:t>
            </a:r>
            <a:r>
              <a:rPr lang="en-US" altLang="zh-CN" sz="2800" b="0" i="1" dirty="0"/>
              <a:t>exp</a:t>
            </a:r>
            <a:r>
              <a:rPr lang="en-US" altLang="zh-CN" sz="2800" b="0" dirty="0"/>
              <a:t>) </a:t>
            </a:r>
            <a:r>
              <a:rPr lang="en-US" altLang="zh-CN" sz="2800" b="0" i="1" dirty="0"/>
              <a:t>statement</a:t>
            </a:r>
            <a:endParaRPr lang="en-US" altLang="zh-CN" sz="2800" b="0" i="1" dirty="0"/>
          </a:p>
          <a:p>
            <a:pPr marL="0" indent="0">
              <a:lnSpc>
                <a:spcPct val="100000"/>
              </a:lnSpc>
              <a:buNone/>
            </a:pPr>
            <a:r>
              <a:rPr lang="en-US" altLang="zh-CN" sz="2800" b="0" dirty="0"/>
              <a:t>              |if (</a:t>
            </a:r>
            <a:r>
              <a:rPr lang="en-US" altLang="zh-CN" sz="2800" b="0" i="1" dirty="0"/>
              <a:t>exp</a:t>
            </a:r>
            <a:r>
              <a:rPr lang="en-US" altLang="zh-CN" sz="2800" b="0" dirty="0"/>
              <a:t>) </a:t>
            </a:r>
            <a:r>
              <a:rPr lang="en-US" altLang="zh-CN" sz="2800" b="0" i="1" dirty="0"/>
              <a:t>statement else statement</a:t>
            </a:r>
            <a:endParaRPr lang="en-US" altLang="zh-CN" sz="2800" b="0" i="1" dirty="0"/>
          </a:p>
        </p:txBody>
      </p:sp>
      <p:sp>
        <p:nvSpPr>
          <p:cNvPr id="2" name="文本占位符 14"/>
          <p:cNvSpPr>
            <a:spLocks noGrp="1"/>
          </p:cNvSpPr>
          <p:nvPr/>
        </p:nvSpPr>
        <p:spPr>
          <a:xfrm>
            <a:off x="7510145" y="1696085"/>
            <a:ext cx="4681855" cy="37541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1000"/>
              </a:spcBef>
              <a:spcAft>
                <a:spcPts val="0"/>
              </a:spcAft>
              <a:buNone/>
            </a:pPr>
            <a:r>
              <a:rPr lang="en-US" altLang="zh-CN" b="0" dirty="0">
                <a:latin typeface="Consolas" panose="020B0609020204030204" pitchFamily="49" charset="0"/>
              </a:rPr>
              <a:t>void </a:t>
            </a:r>
            <a:r>
              <a:rPr lang="en-US" altLang="zh-CN" b="0" dirty="0" err="1">
                <a:latin typeface="Consolas" panose="020B0609020204030204" pitchFamily="49" charset="0"/>
              </a:rPr>
              <a:t>ifStmt</a:t>
            </a:r>
            <a:r>
              <a:rPr lang="en-US" altLang="zh-CN" b="0" dirty="0">
                <a:latin typeface="Consolas" panose="020B0609020204030204" pitchFamily="49" charset="0"/>
              </a:rPr>
              <a:t>(void)</a:t>
            </a:r>
            <a:endParaRPr lang="en-US" altLang="zh-CN" b="0" dirty="0">
              <a:latin typeface="Consolas" panose="020B0609020204030204" pitchFamily="49" charset="0"/>
            </a:endParaRPr>
          </a:p>
          <a:p>
            <a:pPr marL="0" indent="0">
              <a:lnSpc>
                <a:spcPct val="80000"/>
              </a:lnSpc>
              <a:spcBef>
                <a:spcPts val="1000"/>
              </a:spcBef>
              <a:spcAft>
                <a:spcPts val="0"/>
              </a:spcAft>
              <a:buNone/>
            </a:pPr>
            <a:r>
              <a:rPr lang="en-US" altLang="zh-CN" b="0" dirty="0">
                <a:latin typeface="Consolas" panose="020B0609020204030204" pitchFamily="49" charset="0"/>
              </a:rPr>
              <a:t>{ match(</a:t>
            </a:r>
            <a:r>
              <a:rPr lang="en-US" altLang="zh-CN" b="0" dirty="0">
                <a:solidFill>
                  <a:srgbClr val="FF0000"/>
                </a:solidFill>
                <a:latin typeface="Consolas" panose="020B0609020204030204" pitchFamily="49" charset="0"/>
              </a:rPr>
              <a:t>if</a:t>
            </a:r>
            <a:r>
              <a:rPr lang="en-US" altLang="zh-CN" b="0" dirty="0">
                <a:latin typeface="Consolas" panose="020B0609020204030204" pitchFamily="49" charset="0"/>
              </a:rPr>
              <a:t>);</a:t>
            </a:r>
            <a:endParaRPr lang="en-US" altLang="zh-CN" b="0" dirty="0">
              <a:latin typeface="Consolas" panose="020B0609020204030204" pitchFamily="49" charset="0"/>
            </a:endParaRPr>
          </a:p>
          <a:p>
            <a:pPr marL="0" indent="0">
              <a:lnSpc>
                <a:spcPct val="80000"/>
              </a:lnSpc>
              <a:spcBef>
                <a:spcPts val="1000"/>
              </a:spcBef>
              <a:spcAft>
                <a:spcPts val="0"/>
              </a:spcAft>
              <a:buNone/>
            </a:pPr>
            <a:r>
              <a:rPr lang="en-US" altLang="zh-CN" b="0" dirty="0">
                <a:latin typeface="Consolas" panose="020B0609020204030204" pitchFamily="49" charset="0"/>
              </a:rPr>
              <a:t>  match(</a:t>
            </a:r>
            <a:r>
              <a:rPr lang="en-US" altLang="zh-CN" b="0" dirty="0">
                <a:solidFill>
                  <a:srgbClr val="FF0000"/>
                </a:solidFill>
                <a:latin typeface="Consolas" panose="020B0609020204030204" pitchFamily="49" charset="0"/>
              </a:rPr>
              <a:t>(</a:t>
            </a:r>
            <a:r>
              <a:rPr lang="en-US" altLang="zh-CN" b="0" dirty="0">
                <a:latin typeface="Consolas" panose="020B0609020204030204" pitchFamily="49" charset="0"/>
              </a:rPr>
              <a:t>);</a:t>
            </a:r>
            <a:endParaRPr lang="en-US" altLang="zh-CN" b="0" dirty="0">
              <a:latin typeface="Consolas" panose="020B0609020204030204" pitchFamily="49" charset="0"/>
            </a:endParaRPr>
          </a:p>
          <a:p>
            <a:pPr marL="0" indent="0">
              <a:lnSpc>
                <a:spcPct val="80000"/>
              </a:lnSpc>
              <a:spcBef>
                <a:spcPts val="1000"/>
              </a:spcBef>
              <a:spcAft>
                <a:spcPts val="0"/>
              </a:spcAft>
              <a:buNone/>
            </a:pPr>
            <a:r>
              <a:rPr lang="en-US" altLang="zh-CN" b="0" dirty="0">
                <a:latin typeface="Consolas" panose="020B0609020204030204" pitchFamily="49" charset="0"/>
              </a:rPr>
              <a:t>  exp();</a:t>
            </a:r>
            <a:endParaRPr lang="en-US" altLang="zh-CN" b="0" dirty="0">
              <a:latin typeface="Consolas" panose="020B0609020204030204" pitchFamily="49" charset="0"/>
            </a:endParaRPr>
          </a:p>
          <a:p>
            <a:pPr marL="0" indent="0">
              <a:lnSpc>
                <a:spcPct val="80000"/>
              </a:lnSpc>
              <a:spcBef>
                <a:spcPts val="1000"/>
              </a:spcBef>
              <a:spcAft>
                <a:spcPts val="0"/>
              </a:spcAft>
              <a:buNone/>
            </a:pPr>
            <a:r>
              <a:rPr lang="en-US" altLang="zh-CN" b="0" dirty="0">
                <a:latin typeface="Consolas" panose="020B0609020204030204" pitchFamily="49" charset="0"/>
              </a:rPr>
              <a:t>  match(</a:t>
            </a:r>
            <a:r>
              <a:rPr lang="en-US" altLang="zh-CN" b="0" dirty="0">
                <a:solidFill>
                  <a:srgbClr val="FF0000"/>
                </a:solidFill>
                <a:latin typeface="Consolas" panose="020B0609020204030204" pitchFamily="49" charset="0"/>
              </a:rPr>
              <a:t>)</a:t>
            </a:r>
            <a:r>
              <a:rPr lang="en-US" altLang="zh-CN" b="0" dirty="0">
                <a:latin typeface="Consolas" panose="020B0609020204030204" pitchFamily="49" charset="0"/>
              </a:rPr>
              <a:t>);</a:t>
            </a:r>
            <a:endParaRPr lang="en-US" altLang="zh-CN" b="0" dirty="0">
              <a:latin typeface="Consolas" panose="020B0609020204030204" pitchFamily="49" charset="0"/>
            </a:endParaRPr>
          </a:p>
          <a:p>
            <a:pPr marL="0" indent="0">
              <a:lnSpc>
                <a:spcPct val="80000"/>
              </a:lnSpc>
              <a:spcBef>
                <a:spcPts val="1000"/>
              </a:spcBef>
              <a:spcAft>
                <a:spcPts val="0"/>
              </a:spcAft>
              <a:buNone/>
            </a:pPr>
            <a:r>
              <a:rPr lang="en-US" altLang="zh-CN" b="0" dirty="0">
                <a:latin typeface="Consolas" panose="020B0609020204030204" pitchFamily="49" charset="0"/>
              </a:rPr>
              <a:t>  statement();</a:t>
            </a:r>
            <a:endParaRPr lang="en-US" altLang="zh-CN" b="0" dirty="0">
              <a:latin typeface="Consolas" panose="020B0609020204030204" pitchFamily="49" charset="0"/>
            </a:endParaRPr>
          </a:p>
          <a:p>
            <a:pPr marL="0" indent="0">
              <a:lnSpc>
                <a:spcPct val="80000"/>
              </a:lnSpc>
              <a:spcBef>
                <a:spcPts val="1000"/>
              </a:spcBef>
              <a:spcAft>
                <a:spcPts val="0"/>
              </a:spcAft>
              <a:buNone/>
            </a:pPr>
            <a:r>
              <a:rPr lang="en-US" altLang="zh-CN" b="0" dirty="0">
                <a:latin typeface="Consolas" panose="020B0609020204030204" pitchFamily="49" charset="0"/>
              </a:rPr>
              <a:t>  if (</a:t>
            </a:r>
            <a:r>
              <a:rPr lang="en-US" altLang="zh-CN" b="0" dirty="0" err="1">
                <a:latin typeface="Consolas" panose="020B0609020204030204" pitchFamily="49" charset="0"/>
              </a:rPr>
              <a:t>currentToken</a:t>
            </a:r>
            <a:r>
              <a:rPr lang="en-US" altLang="zh-CN" b="0" dirty="0">
                <a:latin typeface="Consolas" panose="020B0609020204030204" pitchFamily="49" charset="0"/>
              </a:rPr>
              <a:t> == </a:t>
            </a:r>
            <a:r>
              <a:rPr lang="en-US" altLang="zh-CN" b="0" dirty="0">
                <a:solidFill>
                  <a:srgbClr val="FF0000"/>
                </a:solidFill>
                <a:latin typeface="Consolas" panose="020B0609020204030204" pitchFamily="49" charset="0"/>
              </a:rPr>
              <a:t>“else”</a:t>
            </a:r>
            <a:r>
              <a:rPr lang="en-US" altLang="zh-CN" b="0" dirty="0">
                <a:solidFill>
                  <a:schemeClr val="tx1"/>
                </a:solidFill>
                <a:latin typeface="Consolas" panose="020B0609020204030204" pitchFamily="49" charset="0"/>
              </a:rPr>
              <a:t>)</a:t>
            </a:r>
            <a:r>
              <a:rPr lang="en-US" altLang="zh-CN" b="0" dirty="0">
                <a:latin typeface="Consolas" panose="020B0609020204030204" pitchFamily="49" charset="0"/>
              </a:rPr>
              <a:t> </a:t>
            </a:r>
            <a:endParaRPr lang="en-US" altLang="zh-CN" b="0" dirty="0">
              <a:latin typeface="Consolas" panose="020B0609020204030204" pitchFamily="49" charset="0"/>
            </a:endParaRPr>
          </a:p>
          <a:p>
            <a:pPr marL="0" indent="0">
              <a:lnSpc>
                <a:spcPct val="80000"/>
              </a:lnSpc>
              <a:spcBef>
                <a:spcPts val="1000"/>
              </a:spcBef>
              <a:spcAft>
                <a:spcPts val="0"/>
              </a:spcAft>
              <a:buNone/>
            </a:pPr>
            <a:r>
              <a:rPr lang="en-US" altLang="zh-CN" b="0" dirty="0">
                <a:latin typeface="Consolas" panose="020B0609020204030204" pitchFamily="49" charset="0"/>
              </a:rPr>
              <a:t>      { match(</a:t>
            </a:r>
            <a:r>
              <a:rPr lang="en-US" altLang="zh-CN" b="0" dirty="0">
                <a:solidFill>
                  <a:srgbClr val="FF0000"/>
                </a:solidFill>
                <a:latin typeface="Consolas" panose="020B0609020204030204" pitchFamily="49" charset="0"/>
              </a:rPr>
              <a:t>else</a:t>
            </a:r>
            <a:r>
              <a:rPr lang="en-US" altLang="zh-CN" b="0" dirty="0">
                <a:latin typeface="Consolas" panose="020B0609020204030204" pitchFamily="49" charset="0"/>
              </a:rPr>
              <a:t>);</a:t>
            </a:r>
            <a:endParaRPr lang="en-US" altLang="zh-CN" b="0" dirty="0">
              <a:latin typeface="Consolas" panose="020B0609020204030204" pitchFamily="49" charset="0"/>
            </a:endParaRPr>
          </a:p>
          <a:p>
            <a:pPr marL="0" indent="0">
              <a:lnSpc>
                <a:spcPct val="80000"/>
              </a:lnSpc>
              <a:spcBef>
                <a:spcPts val="1000"/>
              </a:spcBef>
              <a:spcAft>
                <a:spcPts val="0"/>
              </a:spcAft>
              <a:buNone/>
            </a:pPr>
            <a:r>
              <a:rPr lang="en-US" altLang="zh-CN" b="0" dirty="0">
                <a:latin typeface="Consolas" panose="020B0609020204030204" pitchFamily="49" charset="0"/>
              </a:rPr>
              <a:t>        statement();</a:t>
            </a:r>
            <a:endParaRPr lang="en-US" altLang="zh-CN" b="0" dirty="0">
              <a:latin typeface="Consolas" panose="020B0609020204030204" pitchFamily="49" charset="0"/>
            </a:endParaRPr>
          </a:p>
          <a:p>
            <a:pPr marL="0" indent="0">
              <a:lnSpc>
                <a:spcPct val="80000"/>
              </a:lnSpc>
              <a:spcBef>
                <a:spcPts val="1000"/>
              </a:spcBef>
              <a:spcAft>
                <a:spcPts val="0"/>
              </a:spcAft>
              <a:buNone/>
            </a:pPr>
            <a:r>
              <a:rPr lang="en-US" altLang="zh-CN" b="0" dirty="0">
                <a:latin typeface="Consolas" panose="020B0609020204030204" pitchFamily="49" charset="0"/>
              </a:rPr>
              <a:t>       }  </a:t>
            </a:r>
            <a:endParaRPr lang="en-US" altLang="zh-CN" b="0" dirty="0">
              <a:latin typeface="Consolas" panose="020B0609020204030204" pitchFamily="49" charset="0"/>
            </a:endParaRPr>
          </a:p>
          <a:p>
            <a:pPr marL="0" indent="0">
              <a:lnSpc>
                <a:spcPct val="80000"/>
              </a:lnSpc>
              <a:spcBef>
                <a:spcPts val="1000"/>
              </a:spcBef>
              <a:spcAft>
                <a:spcPts val="0"/>
              </a:spcAft>
              <a:buNone/>
            </a:pPr>
            <a:r>
              <a:rPr lang="en-US" altLang="zh-CN" b="0" dirty="0">
                <a:latin typeface="Consolas" panose="020B0609020204030204" pitchFamily="49" charset="0"/>
              </a:rPr>
              <a:t>}</a:t>
            </a:r>
            <a:endParaRPr lang="en-US" altLang="zh-CN" b="0" dirty="0">
              <a:latin typeface="Consolas" panose="020B0609020204030204" pitchFamily="49" charset="0"/>
            </a:endParaRPr>
          </a:p>
        </p:txBody>
      </p:sp>
      <p:sp>
        <p:nvSpPr>
          <p:cNvPr id="6" name="Rectangle 7"/>
          <p:cNvSpPr>
            <a:spLocks noChangeArrowheads="1"/>
          </p:cNvSpPr>
          <p:nvPr/>
        </p:nvSpPr>
        <p:spPr bwMode="auto">
          <a:xfrm>
            <a:off x="528955" y="4075430"/>
            <a:ext cx="6214110" cy="52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0000" tIns="46800" rIns="90000" bIns="46800">
            <a:spAutoFit/>
          </a:bodyPr>
          <a:lstStyle>
            <a:lvl1pPr>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Clr>
                <a:schemeClr val="accent2"/>
              </a:buClr>
            </a:pPr>
            <a:r>
              <a:rPr lang="en-US" altLang="zh-CN" sz="2800" b="0" i="1" dirty="0">
                <a:solidFill>
                  <a:srgbClr val="070709"/>
                </a:solidFill>
              </a:rPr>
              <a:t>if-</a:t>
            </a:r>
            <a:r>
              <a:rPr lang="en-US" altLang="zh-CN" sz="2800" b="0" i="1" dirty="0" err="1">
                <a:solidFill>
                  <a:srgbClr val="070709"/>
                </a:solidFill>
              </a:rPr>
              <a:t>stmt</a:t>
            </a:r>
            <a:r>
              <a:rPr lang="zh-CN" altLang="en-US" sz="2800" b="0" dirty="0">
                <a:solidFill>
                  <a:srgbClr val="070709"/>
                </a:solidFill>
              </a:rPr>
              <a:t>→</a:t>
            </a:r>
            <a:r>
              <a:rPr lang="en-US" altLang="zh-CN" sz="2800" b="0" dirty="0">
                <a:solidFill>
                  <a:srgbClr val="070709"/>
                </a:solidFill>
              </a:rPr>
              <a:t> </a:t>
            </a:r>
            <a:r>
              <a:rPr lang="en-US" altLang="zh-CN" sz="2800" b="0" dirty="0">
                <a:solidFill>
                  <a:srgbClr val="FF3399"/>
                </a:solidFill>
              </a:rPr>
              <a:t>if(</a:t>
            </a:r>
            <a:r>
              <a:rPr lang="en-US" altLang="zh-CN" sz="2800" b="0" i="1" dirty="0">
                <a:solidFill>
                  <a:srgbClr val="070709"/>
                </a:solidFill>
              </a:rPr>
              <a:t>exp</a:t>
            </a:r>
            <a:r>
              <a:rPr lang="en-US" altLang="zh-CN" sz="2800" b="0" dirty="0">
                <a:solidFill>
                  <a:srgbClr val="FF3399"/>
                </a:solidFill>
              </a:rPr>
              <a:t>)</a:t>
            </a:r>
            <a:r>
              <a:rPr lang="en-US" altLang="zh-CN" sz="2800" b="0" i="1" dirty="0">
                <a:solidFill>
                  <a:srgbClr val="070709"/>
                </a:solidFill>
              </a:rPr>
              <a:t>statement</a:t>
            </a:r>
            <a:r>
              <a:rPr lang="en-US" altLang="zh-CN" sz="2800" b="0" dirty="0">
                <a:solidFill>
                  <a:srgbClr val="070709"/>
                </a:solidFill>
              </a:rPr>
              <a:t>[</a:t>
            </a:r>
            <a:r>
              <a:rPr lang="en-US" altLang="zh-CN" sz="2800" b="0" dirty="0">
                <a:solidFill>
                  <a:srgbClr val="FF3399"/>
                </a:solidFill>
              </a:rPr>
              <a:t>else</a:t>
            </a:r>
            <a:r>
              <a:rPr lang="en-US" altLang="zh-CN" sz="2800" b="0" dirty="0">
                <a:solidFill>
                  <a:srgbClr val="070709"/>
                </a:solidFill>
              </a:rPr>
              <a:t> </a:t>
            </a:r>
            <a:r>
              <a:rPr lang="en-US" altLang="zh-CN" sz="2800" b="0" i="1" dirty="0">
                <a:solidFill>
                  <a:srgbClr val="070709"/>
                </a:solidFill>
              </a:rPr>
              <a:t>statement</a:t>
            </a:r>
            <a:r>
              <a:rPr lang="en-US" altLang="zh-CN" sz="2800" b="0" dirty="0">
                <a:solidFill>
                  <a:srgbClr val="070709"/>
                </a:solidFill>
              </a:rPr>
              <a:t>]</a:t>
            </a:r>
            <a:endParaRPr lang="en-US" altLang="zh-CN" sz="2800" b="0" dirty="0">
              <a:solidFill>
                <a:srgbClr val="070709"/>
              </a:solidFill>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fade">
                                      <p:cBhvr>
                                        <p:cTn id="5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1755774" y="276860"/>
            <a:ext cx="7137213" cy="593090"/>
          </a:xfrm>
        </p:spPr>
        <p:txBody>
          <a:bodyPr/>
          <a:lstStyle/>
          <a:p>
            <a:r>
              <a:rPr lang="zh-CN" altLang="en-US" sz="3200" dirty="0"/>
              <a:t>4.</a:t>
            </a:r>
            <a:r>
              <a:rPr lang="en-US" altLang="zh-CN" sz="3200" dirty="0"/>
              <a:t>2.2 </a:t>
            </a:r>
            <a:r>
              <a:rPr lang="zh-CN" altLang="en-US" sz="3200" dirty="0"/>
              <a:t>文法规则使用</a:t>
            </a:r>
            <a:r>
              <a:rPr lang="en-US" altLang="zh-CN" sz="3200" dirty="0"/>
              <a:t>EBNF</a:t>
            </a:r>
            <a:r>
              <a:rPr lang="zh-CN" altLang="en-US" sz="3200" dirty="0"/>
              <a:t>表示法</a:t>
            </a:r>
            <a:endParaRPr lang="en-US" altLang="zh-CN" sz="3200" dirty="0"/>
          </a:p>
        </p:txBody>
      </p:sp>
      <p:sp>
        <p:nvSpPr>
          <p:cNvPr id="14" name="文本占位符 13"/>
          <p:cNvSpPr>
            <a:spLocks noGrp="1"/>
          </p:cNvSpPr>
          <p:nvPr>
            <p:ph type="body" sz="quarter" idx="15"/>
          </p:nvPr>
        </p:nvSpPr>
        <p:spPr>
          <a:xfrm>
            <a:off x="452120" y="1248410"/>
            <a:ext cx="6370320" cy="515620"/>
          </a:xfrm>
        </p:spPr>
        <p:txBody>
          <a:bodyPr>
            <a:normAutofit lnSpcReduction="10000"/>
          </a:bodyPr>
          <a:lstStyle/>
          <a:p>
            <a:r>
              <a:rPr lang="zh-CN" altLang="en-US" dirty="0">
                <a:solidFill>
                  <a:srgbClr val="0070C0"/>
                </a:solidFill>
              </a:rPr>
              <a:t>简单整型算术表达式文法：</a:t>
            </a:r>
            <a:endParaRPr lang="zh-CN" altLang="en-US" dirty="0">
              <a:solidFill>
                <a:srgbClr val="0070C0"/>
              </a:solidFill>
            </a:endParaRPr>
          </a:p>
        </p:txBody>
      </p:sp>
      <p:sp>
        <p:nvSpPr>
          <p:cNvPr id="15" name="文本占位符 14"/>
          <p:cNvSpPr>
            <a:spLocks noGrp="1"/>
          </p:cNvSpPr>
          <p:nvPr>
            <p:ph type="body" sz="quarter" idx="16"/>
          </p:nvPr>
        </p:nvSpPr>
        <p:spPr>
          <a:xfrm>
            <a:off x="909320" y="2005965"/>
            <a:ext cx="7158990" cy="2350770"/>
          </a:xfrm>
        </p:spPr>
        <p:txBody>
          <a:bodyPr>
            <a:noAutofit/>
          </a:bodyPr>
          <a:lstStyle/>
          <a:p>
            <a:pPr marL="0" indent="0">
              <a:lnSpc>
                <a:spcPct val="75000"/>
              </a:lnSpc>
              <a:spcBef>
                <a:spcPct val="50000"/>
              </a:spcBef>
              <a:buSzPct val="90000"/>
              <a:buNone/>
            </a:pPr>
            <a:r>
              <a:rPr lang="en-US" altLang="zh-CN" sz="2800" b="0" i="1" dirty="0">
                <a:solidFill>
                  <a:srgbClr val="070709"/>
                </a:solidFill>
              </a:rPr>
              <a:t>exp</a:t>
            </a:r>
            <a:r>
              <a:rPr lang="zh-CN" altLang="en-US" sz="2800" b="0" i="1" dirty="0">
                <a:solidFill>
                  <a:srgbClr val="070709"/>
                </a:solidFill>
              </a:rPr>
              <a:t>→</a:t>
            </a:r>
            <a:r>
              <a:rPr lang="en-US" altLang="zh-CN" sz="2800" b="0" i="1" dirty="0">
                <a:solidFill>
                  <a:srgbClr val="070709"/>
                </a:solidFill>
              </a:rPr>
              <a:t>exp </a:t>
            </a:r>
            <a:r>
              <a:rPr lang="en-US" altLang="zh-CN" sz="2800" b="0" i="1" dirty="0" err="1">
                <a:solidFill>
                  <a:srgbClr val="070709"/>
                </a:solidFill>
              </a:rPr>
              <a:t>addop</a:t>
            </a:r>
            <a:r>
              <a:rPr lang="en-US" altLang="zh-CN" sz="2800" b="0" i="1" dirty="0">
                <a:solidFill>
                  <a:srgbClr val="070709"/>
                </a:solidFill>
              </a:rPr>
              <a:t> </a:t>
            </a:r>
            <a:r>
              <a:rPr lang="en-US" altLang="zh-CN" sz="2800" b="0" i="1" dirty="0" err="1">
                <a:solidFill>
                  <a:srgbClr val="070709"/>
                </a:solidFill>
              </a:rPr>
              <a:t>term|term</a:t>
            </a:r>
            <a:endParaRPr lang="en-US" altLang="zh-CN" sz="2800" b="0" i="1" dirty="0">
              <a:solidFill>
                <a:srgbClr val="070709"/>
              </a:solidFill>
            </a:endParaRPr>
          </a:p>
          <a:p>
            <a:pPr marL="0" indent="0">
              <a:lnSpc>
                <a:spcPct val="75000"/>
              </a:lnSpc>
              <a:spcBef>
                <a:spcPct val="50000"/>
              </a:spcBef>
              <a:buSzPct val="90000"/>
              <a:buNone/>
            </a:pPr>
            <a:r>
              <a:rPr lang="en-US" altLang="zh-CN" sz="2800" b="0" i="1" dirty="0" err="1">
                <a:solidFill>
                  <a:srgbClr val="070709"/>
                </a:solidFill>
              </a:rPr>
              <a:t>addop</a:t>
            </a:r>
            <a:r>
              <a:rPr lang="zh-CN" altLang="en-US" sz="2800" b="0" i="1" dirty="0">
                <a:solidFill>
                  <a:srgbClr val="070709"/>
                </a:solidFill>
              </a:rPr>
              <a:t>→</a:t>
            </a:r>
            <a:r>
              <a:rPr lang="en-US" altLang="zh-CN" sz="2800" b="0" dirty="0">
                <a:solidFill>
                  <a:srgbClr val="C00000"/>
                </a:solidFill>
              </a:rPr>
              <a:t>+</a:t>
            </a:r>
            <a:r>
              <a:rPr lang="zh-CN" altLang="en-US" sz="2800" b="0" i="1" dirty="0">
                <a:solidFill>
                  <a:srgbClr val="070709"/>
                </a:solidFill>
              </a:rPr>
              <a:t>|</a:t>
            </a:r>
            <a:r>
              <a:rPr lang="en-US" altLang="zh-CN" sz="2800" b="0" dirty="0">
                <a:solidFill>
                  <a:srgbClr val="C00000"/>
                </a:solidFill>
              </a:rPr>
              <a:t>-</a:t>
            </a:r>
            <a:endParaRPr lang="zh-CN" altLang="en-US" sz="2800" b="0" dirty="0">
              <a:solidFill>
                <a:srgbClr val="FF3399"/>
              </a:solidFill>
            </a:endParaRPr>
          </a:p>
          <a:p>
            <a:pPr marL="0" indent="0">
              <a:lnSpc>
                <a:spcPct val="75000"/>
              </a:lnSpc>
              <a:spcBef>
                <a:spcPct val="50000"/>
              </a:spcBef>
              <a:buSzPct val="90000"/>
              <a:buNone/>
            </a:pPr>
            <a:r>
              <a:rPr lang="en-US" altLang="zh-CN" sz="2800" b="0" i="1" dirty="0">
                <a:solidFill>
                  <a:srgbClr val="070709"/>
                </a:solidFill>
              </a:rPr>
              <a:t>term</a:t>
            </a:r>
            <a:r>
              <a:rPr lang="zh-CN" altLang="en-US" sz="2800" b="0" i="1" dirty="0">
                <a:solidFill>
                  <a:srgbClr val="070709"/>
                </a:solidFill>
              </a:rPr>
              <a:t>→</a:t>
            </a:r>
            <a:r>
              <a:rPr lang="en-US" altLang="zh-CN" sz="2800" b="0" i="1" dirty="0">
                <a:solidFill>
                  <a:srgbClr val="070709"/>
                </a:solidFill>
              </a:rPr>
              <a:t>term </a:t>
            </a:r>
            <a:r>
              <a:rPr lang="en-US" altLang="zh-CN" sz="2800" b="0" i="1" dirty="0" err="1">
                <a:solidFill>
                  <a:srgbClr val="070709"/>
                </a:solidFill>
              </a:rPr>
              <a:t>mulop</a:t>
            </a:r>
            <a:r>
              <a:rPr lang="en-US" altLang="zh-CN" sz="2800" b="0" i="1" dirty="0">
                <a:solidFill>
                  <a:srgbClr val="070709"/>
                </a:solidFill>
              </a:rPr>
              <a:t> </a:t>
            </a:r>
            <a:r>
              <a:rPr lang="en-US" altLang="zh-CN" sz="2800" b="0" i="1" dirty="0" err="1">
                <a:solidFill>
                  <a:srgbClr val="070709"/>
                </a:solidFill>
              </a:rPr>
              <a:t>factor|factor</a:t>
            </a:r>
            <a:endParaRPr lang="en-US" altLang="zh-CN" sz="2800" b="0" i="1" dirty="0">
              <a:solidFill>
                <a:srgbClr val="070709"/>
              </a:solidFill>
            </a:endParaRPr>
          </a:p>
          <a:p>
            <a:pPr marL="0" indent="0">
              <a:lnSpc>
                <a:spcPct val="75000"/>
              </a:lnSpc>
              <a:spcBef>
                <a:spcPct val="50000"/>
              </a:spcBef>
              <a:buSzPct val="90000"/>
              <a:buNone/>
            </a:pPr>
            <a:r>
              <a:rPr lang="en-US" altLang="zh-CN" sz="2800" b="0" i="1" dirty="0" err="1">
                <a:solidFill>
                  <a:srgbClr val="070709"/>
                </a:solidFill>
              </a:rPr>
              <a:t>mulop</a:t>
            </a:r>
            <a:r>
              <a:rPr lang="zh-CN" altLang="en-US" sz="2800" b="0" i="1" dirty="0">
                <a:solidFill>
                  <a:srgbClr val="070709"/>
                </a:solidFill>
              </a:rPr>
              <a:t>→</a:t>
            </a:r>
            <a:r>
              <a:rPr lang="en-US" altLang="zh-CN" sz="2800" b="0" dirty="0">
                <a:solidFill>
                  <a:srgbClr val="C00000"/>
                </a:solidFill>
              </a:rPr>
              <a:t>*</a:t>
            </a:r>
            <a:endParaRPr lang="zh-CN" altLang="en-US" sz="2800" b="0" dirty="0">
              <a:solidFill>
                <a:srgbClr val="FF3399"/>
              </a:solidFill>
            </a:endParaRPr>
          </a:p>
          <a:p>
            <a:pPr marL="0" indent="0">
              <a:lnSpc>
                <a:spcPct val="75000"/>
              </a:lnSpc>
              <a:spcBef>
                <a:spcPct val="50000"/>
              </a:spcBef>
              <a:buSzPct val="90000"/>
              <a:buNone/>
            </a:pPr>
            <a:r>
              <a:rPr lang="en-US" altLang="zh-CN" sz="2800" b="0" i="1" dirty="0">
                <a:solidFill>
                  <a:srgbClr val="070709"/>
                </a:solidFill>
              </a:rPr>
              <a:t>factor</a:t>
            </a:r>
            <a:r>
              <a:rPr lang="zh-CN" altLang="en-US" sz="2800" b="0" i="1" dirty="0">
                <a:solidFill>
                  <a:srgbClr val="070709"/>
                </a:solidFill>
              </a:rPr>
              <a:t>→</a:t>
            </a:r>
            <a:r>
              <a:rPr lang="zh-CN" altLang="en-US" sz="2800" b="0" dirty="0">
                <a:solidFill>
                  <a:srgbClr val="C00000"/>
                </a:solidFill>
              </a:rPr>
              <a:t>(</a:t>
            </a:r>
            <a:r>
              <a:rPr lang="en-US" altLang="zh-CN" sz="2800" b="0" i="1" dirty="0">
                <a:solidFill>
                  <a:srgbClr val="070709"/>
                </a:solidFill>
              </a:rPr>
              <a:t>exp</a:t>
            </a:r>
            <a:r>
              <a:rPr lang="en-US" altLang="zh-CN" sz="2800" b="0" dirty="0">
                <a:solidFill>
                  <a:srgbClr val="C00000"/>
                </a:solidFill>
              </a:rPr>
              <a:t>)</a:t>
            </a:r>
            <a:r>
              <a:rPr lang="en-US" altLang="zh-CN" sz="2800" b="0" i="1" dirty="0">
                <a:solidFill>
                  <a:srgbClr val="070709"/>
                </a:solidFill>
              </a:rPr>
              <a:t>|</a:t>
            </a:r>
            <a:r>
              <a:rPr lang="en-US" altLang="zh-CN" sz="2800" b="0" dirty="0">
                <a:solidFill>
                  <a:srgbClr val="C00000"/>
                </a:solidFill>
              </a:rPr>
              <a:t>number</a:t>
            </a:r>
            <a:endParaRPr lang="en-US" altLang="zh-CN" sz="2800" b="0" dirty="0">
              <a:solidFill>
                <a:srgbClr val="C00000"/>
              </a:solidFill>
            </a:endParaRPr>
          </a:p>
        </p:txBody>
      </p:sp>
      <p:sp>
        <p:nvSpPr>
          <p:cNvPr id="7" name="文本占位符 13"/>
          <p:cNvSpPr txBox="1"/>
          <p:nvPr/>
        </p:nvSpPr>
        <p:spPr>
          <a:xfrm>
            <a:off x="451485" y="5356225"/>
            <a:ext cx="5808345" cy="515620"/>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写出识别表达式</a:t>
            </a:r>
            <a:r>
              <a:rPr lang="en-US" altLang="zh-CN" dirty="0"/>
              <a:t>exp</a:t>
            </a:r>
            <a:r>
              <a:rPr lang="zh-CN" altLang="en-US" dirty="0"/>
              <a:t>的递归下降函数</a:t>
            </a:r>
            <a:endParaRPr lang="zh-CN" altLang="en-US"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文本框 2"/>
          <p:cNvSpPr txBox="1"/>
          <p:nvPr/>
        </p:nvSpPr>
        <p:spPr>
          <a:xfrm>
            <a:off x="5556885" y="1198245"/>
            <a:ext cx="6096000" cy="4481830"/>
          </a:xfrm>
          <a:prstGeom prst="rect">
            <a:avLst/>
          </a:prstGeom>
          <a:noFill/>
        </p:spPr>
        <p:txBody>
          <a:bodyPr wrap="square" rtlCol="0" anchor="t">
            <a:noAutofit/>
          </a:bodyPr>
          <a:p>
            <a:pPr marL="342900" indent="-342900">
              <a:lnSpc>
                <a:spcPct val="150000"/>
              </a:lnSpc>
              <a:buFont typeface="Wingdings" panose="05000000000000000000" charset="0"/>
              <a:buChar char="p"/>
            </a:pPr>
            <a:r>
              <a:rPr lang="zh-CN" altLang="en-US" sz="2800" dirty="0">
                <a:solidFill>
                  <a:srgbClr val="050507"/>
                </a:solidFill>
                <a:latin typeface="Times New Roman" panose="02020603050405020304" pitchFamily="18" charset="0"/>
                <a:cs typeface="Times New Roman" panose="02020603050405020304" pitchFamily="18" charset="0"/>
                <a:sym typeface="+mn-ea"/>
              </a:rPr>
              <a:t>存在无限递归循环的问题</a:t>
            </a:r>
            <a:r>
              <a:rPr lang="en-US" altLang="zh-CN" sz="2800" dirty="0">
                <a:solidFill>
                  <a:srgbClr val="050507"/>
                </a:solidFill>
                <a:latin typeface="Times New Roman" panose="02020603050405020304" pitchFamily="18" charset="0"/>
                <a:cs typeface="Times New Roman" panose="02020603050405020304" pitchFamily="18" charset="0"/>
                <a:sym typeface="+mn-ea"/>
              </a:rPr>
              <a:t>:</a:t>
            </a:r>
            <a:endParaRPr lang="zh-CN" altLang="en-US" sz="2800" dirty="0">
              <a:solidFill>
                <a:srgbClr val="050507"/>
              </a:solidFill>
              <a:latin typeface="Times New Roman" panose="02020603050405020304" pitchFamily="18" charset="0"/>
              <a:cs typeface="Times New Roman" panose="02020603050405020304" pitchFamily="18" charset="0"/>
            </a:endParaRPr>
          </a:p>
          <a:p>
            <a:pPr marL="800100" lvl="1" indent="-342900">
              <a:lnSpc>
                <a:spcPct val="150000"/>
              </a:lnSpc>
              <a:buFont typeface="Wingdings" panose="05000000000000000000" charset="0"/>
              <a:buChar char="p"/>
            </a:pPr>
            <a:r>
              <a:rPr lang="zh-CN" altLang="en-US" sz="2800" dirty="0">
                <a:solidFill>
                  <a:srgbClr val="050507"/>
                </a:solidFill>
                <a:latin typeface="Times New Roman" panose="02020603050405020304" pitchFamily="18" charset="0"/>
                <a:cs typeface="Times New Roman" panose="02020603050405020304" pitchFamily="18" charset="0"/>
                <a:sym typeface="+mn-ea"/>
              </a:rPr>
              <a:t>由于从</a:t>
            </a:r>
            <a:r>
              <a:rPr lang="en-US" altLang="zh-CN" sz="2800" dirty="0">
                <a:solidFill>
                  <a:srgbClr val="050507"/>
                </a:solidFill>
                <a:latin typeface="Times New Roman" panose="02020603050405020304" pitchFamily="18" charset="0"/>
                <a:cs typeface="Times New Roman" panose="02020603050405020304" pitchFamily="18" charset="0"/>
                <a:sym typeface="+mn-ea"/>
              </a:rPr>
              <a:t>exp</a:t>
            </a:r>
            <a:r>
              <a:rPr lang="zh-CN" altLang="en-US" sz="2800" dirty="0">
                <a:solidFill>
                  <a:srgbClr val="050507"/>
                </a:solidFill>
                <a:latin typeface="Times New Roman" panose="02020603050405020304" pitchFamily="18" charset="0"/>
                <a:cs typeface="Times New Roman" panose="02020603050405020304" pitchFamily="18" charset="0"/>
                <a:sym typeface="+mn-ea"/>
              </a:rPr>
              <a:t>和</a:t>
            </a:r>
            <a:r>
              <a:rPr lang="en-US" altLang="zh-CN" sz="2800" dirty="0">
                <a:solidFill>
                  <a:srgbClr val="050507"/>
                </a:solidFill>
                <a:latin typeface="Times New Roman" panose="02020603050405020304" pitchFamily="18" charset="0"/>
                <a:cs typeface="Times New Roman" panose="02020603050405020304" pitchFamily="18" charset="0"/>
                <a:sym typeface="+mn-ea"/>
              </a:rPr>
              <a:t>term</a:t>
            </a:r>
            <a:r>
              <a:rPr lang="zh-CN" altLang="en-US" sz="2800" dirty="0">
                <a:solidFill>
                  <a:srgbClr val="050507"/>
                </a:solidFill>
                <a:latin typeface="Times New Roman" panose="02020603050405020304" pitchFamily="18" charset="0"/>
                <a:cs typeface="Times New Roman" panose="02020603050405020304" pitchFamily="18" charset="0"/>
                <a:sym typeface="+mn-ea"/>
              </a:rPr>
              <a:t>出发都可以首先推导出终结符</a:t>
            </a:r>
            <a:r>
              <a:rPr lang="en-US" altLang="zh-CN" sz="2800" dirty="0">
                <a:solidFill>
                  <a:srgbClr val="FF0000"/>
                </a:solidFill>
                <a:latin typeface="Times New Roman" panose="02020603050405020304" pitchFamily="18" charset="0"/>
                <a:cs typeface="Times New Roman" panose="02020603050405020304" pitchFamily="18" charset="0"/>
                <a:sym typeface="+mn-ea"/>
              </a:rPr>
              <a:t>number</a:t>
            </a:r>
            <a:r>
              <a:rPr lang="zh-CN" altLang="en-US" sz="2800" dirty="0">
                <a:solidFill>
                  <a:srgbClr val="050507"/>
                </a:solidFill>
                <a:latin typeface="Times New Roman" panose="02020603050405020304" pitchFamily="18" charset="0"/>
                <a:cs typeface="Times New Roman" panose="02020603050405020304" pitchFamily="18" charset="0"/>
                <a:sym typeface="+mn-ea"/>
              </a:rPr>
              <a:t>或</a:t>
            </a:r>
            <a:r>
              <a:rPr lang="zh-CN" altLang="en-US" sz="2800" dirty="0">
                <a:solidFill>
                  <a:srgbClr val="FF0000"/>
                </a:solidFill>
                <a:latin typeface="Times New Roman" panose="02020603050405020304" pitchFamily="18" charset="0"/>
                <a:cs typeface="Times New Roman" panose="02020603050405020304" pitchFamily="18" charset="0"/>
                <a:sym typeface="+mn-ea"/>
              </a:rPr>
              <a:t>（</a:t>
            </a:r>
            <a:r>
              <a:rPr lang="zh-CN" altLang="en-US" sz="2800" dirty="0">
                <a:solidFill>
                  <a:srgbClr val="050507"/>
                </a:solidFill>
                <a:latin typeface="Times New Roman" panose="02020603050405020304" pitchFamily="18" charset="0"/>
                <a:cs typeface="Times New Roman" panose="02020603050405020304" pitchFamily="18" charset="0"/>
                <a:sym typeface="+mn-ea"/>
              </a:rPr>
              <a:t>，所以存在选用 产生式</a:t>
            </a:r>
            <a:r>
              <a:rPr lang="en-US" altLang="zh-CN" sz="2800" i="1" dirty="0">
                <a:solidFill>
                  <a:srgbClr val="070709"/>
                </a:solidFill>
                <a:latin typeface="Times New Roman" panose="02020603050405020304" pitchFamily="18" charset="0"/>
                <a:cs typeface="Times New Roman" panose="02020603050405020304" pitchFamily="18" charset="0"/>
                <a:sym typeface="+mn-ea"/>
              </a:rPr>
              <a:t>exp</a:t>
            </a:r>
            <a:r>
              <a:rPr lang="zh-CN" altLang="en-US" sz="2800" i="1" dirty="0">
                <a:solidFill>
                  <a:srgbClr val="070709"/>
                </a:solidFill>
                <a:latin typeface="Times New Roman" panose="02020603050405020304" pitchFamily="18" charset="0"/>
                <a:cs typeface="Times New Roman" panose="02020603050405020304" pitchFamily="18" charset="0"/>
                <a:sym typeface="+mn-ea"/>
              </a:rPr>
              <a:t>→</a:t>
            </a:r>
            <a:r>
              <a:rPr lang="en-US" altLang="zh-CN" sz="2800" i="1" dirty="0">
                <a:solidFill>
                  <a:srgbClr val="070709"/>
                </a:solidFill>
                <a:latin typeface="Times New Roman" panose="02020603050405020304" pitchFamily="18" charset="0"/>
                <a:cs typeface="Times New Roman" panose="02020603050405020304" pitchFamily="18" charset="0"/>
                <a:sym typeface="+mn-ea"/>
              </a:rPr>
              <a:t>exp </a:t>
            </a:r>
            <a:r>
              <a:rPr lang="en-US" altLang="zh-CN" sz="2800" i="1" dirty="0" err="1">
                <a:solidFill>
                  <a:srgbClr val="070709"/>
                </a:solidFill>
                <a:latin typeface="Times New Roman" panose="02020603050405020304" pitchFamily="18" charset="0"/>
                <a:cs typeface="Times New Roman" panose="02020603050405020304" pitchFamily="18" charset="0"/>
                <a:sym typeface="+mn-ea"/>
              </a:rPr>
              <a:t>addop</a:t>
            </a:r>
            <a:r>
              <a:rPr lang="en-US" altLang="zh-CN" sz="2800" i="1" dirty="0">
                <a:solidFill>
                  <a:srgbClr val="070709"/>
                </a:solidFill>
                <a:latin typeface="Times New Roman" panose="02020603050405020304" pitchFamily="18" charset="0"/>
                <a:cs typeface="Times New Roman" panose="02020603050405020304" pitchFamily="18" charset="0"/>
                <a:sym typeface="+mn-ea"/>
              </a:rPr>
              <a:t> term</a:t>
            </a:r>
            <a:r>
              <a:rPr lang="zh-CN" altLang="en-US" sz="2800" dirty="0">
                <a:solidFill>
                  <a:srgbClr val="070709"/>
                </a:solidFill>
                <a:latin typeface="Times New Roman" panose="02020603050405020304" pitchFamily="18" charset="0"/>
                <a:cs typeface="Times New Roman" panose="02020603050405020304" pitchFamily="18" charset="0"/>
                <a:sym typeface="+mn-ea"/>
              </a:rPr>
              <a:t>还是</a:t>
            </a:r>
            <a:r>
              <a:rPr lang="zh-CN" altLang="en-US" sz="2800" dirty="0">
                <a:solidFill>
                  <a:srgbClr val="050507"/>
                </a:solidFill>
                <a:latin typeface="Times New Roman" panose="02020603050405020304" pitchFamily="18" charset="0"/>
                <a:cs typeface="Times New Roman" panose="02020603050405020304" pitchFamily="18" charset="0"/>
                <a:sym typeface="+mn-ea"/>
              </a:rPr>
              <a:t>产生式</a:t>
            </a:r>
            <a:r>
              <a:rPr lang="en-US" altLang="zh-CN" sz="2800" i="1" dirty="0">
                <a:solidFill>
                  <a:srgbClr val="070709"/>
                </a:solidFill>
                <a:latin typeface="Times New Roman" panose="02020603050405020304" pitchFamily="18" charset="0"/>
                <a:cs typeface="Times New Roman" panose="02020603050405020304" pitchFamily="18" charset="0"/>
                <a:sym typeface="+mn-ea"/>
              </a:rPr>
              <a:t>exp</a:t>
            </a:r>
            <a:r>
              <a:rPr lang="zh-CN" altLang="en-US" sz="2800" i="1" dirty="0">
                <a:solidFill>
                  <a:srgbClr val="070709"/>
                </a:solidFill>
                <a:latin typeface="Times New Roman" panose="02020603050405020304" pitchFamily="18" charset="0"/>
                <a:cs typeface="Times New Roman" panose="02020603050405020304" pitchFamily="18" charset="0"/>
                <a:sym typeface="+mn-ea"/>
              </a:rPr>
              <a:t>→</a:t>
            </a:r>
            <a:r>
              <a:rPr lang="en-US" altLang="zh-CN" sz="2800" i="1" dirty="0">
                <a:solidFill>
                  <a:srgbClr val="070709"/>
                </a:solidFill>
                <a:latin typeface="Times New Roman" panose="02020603050405020304" pitchFamily="18" charset="0"/>
                <a:cs typeface="Times New Roman" panose="02020603050405020304" pitchFamily="18" charset="0"/>
                <a:sym typeface="+mn-ea"/>
              </a:rPr>
              <a:t>term</a:t>
            </a:r>
            <a:r>
              <a:rPr lang="zh-CN" altLang="en-US" sz="2800" dirty="0">
                <a:solidFill>
                  <a:srgbClr val="070709"/>
                </a:solidFill>
                <a:latin typeface="Times New Roman" panose="02020603050405020304" pitchFamily="18" charset="0"/>
                <a:cs typeface="Times New Roman" panose="02020603050405020304" pitchFamily="18" charset="0"/>
                <a:sym typeface="+mn-ea"/>
              </a:rPr>
              <a:t>进行推导的问题。</a:t>
            </a:r>
            <a:endParaRPr lang="zh-CN" altLang="en-US" sz="2800" dirty="0">
              <a:solidFill>
                <a:srgbClr val="070709"/>
              </a:solidFill>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50545" y="276860"/>
            <a:ext cx="8342630" cy="593090"/>
          </a:xfrm>
        </p:spPr>
        <p:txBody>
          <a:bodyPr/>
          <a:lstStyle/>
          <a:p>
            <a:r>
              <a:rPr lang="zh-CN" altLang="en-US" sz="3200" dirty="0"/>
              <a:t>4.</a:t>
            </a:r>
            <a:r>
              <a:rPr lang="en-US" altLang="zh-CN" sz="3200" dirty="0"/>
              <a:t>2.2 </a:t>
            </a:r>
            <a:r>
              <a:rPr lang="zh-CN" altLang="en-US" sz="3200" dirty="0"/>
              <a:t>文法规则使用</a:t>
            </a:r>
            <a:r>
              <a:rPr lang="en-US" altLang="zh-CN" sz="3200" dirty="0"/>
              <a:t>EBNF</a:t>
            </a:r>
            <a:r>
              <a:rPr lang="zh-CN" altLang="en-US" sz="3200" dirty="0"/>
              <a:t>表示法</a:t>
            </a:r>
            <a:endParaRPr lang="en-US" altLang="zh-CN" sz="3200" dirty="0"/>
          </a:p>
        </p:txBody>
      </p:sp>
      <p:sp>
        <p:nvSpPr>
          <p:cNvPr id="14" name="文本占位符 13"/>
          <p:cNvSpPr>
            <a:spLocks noGrp="1"/>
          </p:cNvSpPr>
          <p:nvPr>
            <p:ph type="body" sz="quarter" idx="15"/>
          </p:nvPr>
        </p:nvSpPr>
        <p:spPr>
          <a:xfrm>
            <a:off x="727075" y="1248410"/>
            <a:ext cx="6095365" cy="515620"/>
          </a:xfrm>
        </p:spPr>
        <p:txBody>
          <a:bodyPr>
            <a:noAutofit/>
          </a:bodyPr>
          <a:lstStyle/>
          <a:p>
            <a:r>
              <a:rPr lang="en-US" altLang="zh-CN" sz="3200" dirty="0">
                <a:solidFill>
                  <a:srgbClr val="0070C0"/>
                </a:solidFill>
              </a:rPr>
              <a:t>2. </a:t>
            </a:r>
            <a:r>
              <a:rPr lang="zh-CN" altLang="en-US" sz="3200" dirty="0">
                <a:solidFill>
                  <a:srgbClr val="0070C0"/>
                </a:solidFill>
              </a:rPr>
              <a:t>重复情况（续）</a:t>
            </a:r>
            <a:endParaRPr lang="zh-CN" altLang="en-US" sz="3200" dirty="0">
              <a:solidFill>
                <a:srgbClr val="0070C0"/>
              </a:solidFill>
            </a:endParaRPr>
          </a:p>
        </p:txBody>
      </p:sp>
      <p:sp>
        <p:nvSpPr>
          <p:cNvPr id="7" name="文本占位符 13"/>
          <p:cNvSpPr txBox="1"/>
          <p:nvPr/>
        </p:nvSpPr>
        <p:spPr>
          <a:xfrm>
            <a:off x="797560" y="1764030"/>
            <a:ext cx="8569960" cy="515620"/>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解决问题的办法是使用</a:t>
            </a:r>
            <a:r>
              <a:rPr lang="en-US" altLang="zh-CN" dirty="0">
                <a:solidFill>
                  <a:srgbClr val="0070C0"/>
                </a:solidFill>
              </a:rPr>
              <a:t>EBNF</a:t>
            </a:r>
            <a:r>
              <a:rPr lang="zh-CN" altLang="en-US" dirty="0"/>
              <a:t>规则：</a:t>
            </a:r>
            <a:endParaRPr lang="zh-CN" altLang="en-US" dirty="0"/>
          </a:p>
        </p:txBody>
      </p:sp>
      <p:sp>
        <p:nvSpPr>
          <p:cNvPr id="8" name="文本占位符 13"/>
          <p:cNvSpPr txBox="1"/>
          <p:nvPr/>
        </p:nvSpPr>
        <p:spPr>
          <a:xfrm>
            <a:off x="675005" y="2230755"/>
            <a:ext cx="4669155" cy="1144270"/>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dirty="0">
                <a:solidFill>
                  <a:srgbClr val="0070C0"/>
                </a:solidFill>
                <a:latin typeface="Times New Roman" panose="02020603050405020304" pitchFamily="18" charset="0"/>
              </a:rPr>
              <a:t>重复的一般规则：</a:t>
            </a:r>
            <a:endParaRPr lang="en-US" altLang="zh-CN" dirty="0">
              <a:solidFill>
                <a:srgbClr val="0070C0"/>
              </a:solidFill>
              <a:latin typeface="Times New Roman" panose="02020603050405020304" pitchFamily="18" charset="0"/>
            </a:endParaRPr>
          </a:p>
          <a:p>
            <a:pPr>
              <a:lnSpc>
                <a:spcPct val="150000"/>
              </a:lnSpc>
            </a:pPr>
            <a:r>
              <a:rPr lang="en-US" altLang="zh-CN" dirty="0">
                <a:solidFill>
                  <a:srgbClr val="070709"/>
                </a:solidFill>
                <a:ea typeface="方正舒体" panose="02010601030101010101" pitchFamily="2" charset="-122"/>
              </a:rPr>
              <a:t>A</a:t>
            </a:r>
            <a:r>
              <a:rPr lang="en-US" altLang="zh-CN" dirty="0">
                <a:solidFill>
                  <a:srgbClr val="070709"/>
                </a:solidFill>
                <a:ea typeface="方正舒体" panose="02010601030101010101" pitchFamily="2" charset="-122"/>
                <a:sym typeface="Symbol" panose="05050102010706020507" pitchFamily="18" charset="2"/>
              </a:rPr>
              <a:t>A</a:t>
            </a:r>
            <a:r>
              <a:rPr lang="en-US" altLang="zh-CN" dirty="0">
                <a:solidFill>
                  <a:srgbClr val="070709"/>
                </a:solidFill>
                <a:ea typeface="方正舒体" panose="02010601030101010101" pitchFamily="2" charset="-122"/>
              </a:rPr>
              <a:t>α|β</a:t>
            </a:r>
            <a:r>
              <a:rPr lang="en-US" altLang="zh-CN" dirty="0">
                <a:solidFill>
                  <a:srgbClr val="070709"/>
                </a:solidFill>
                <a:latin typeface="宋体" panose="02010600030101010101" pitchFamily="2" charset="-122"/>
              </a:rPr>
              <a:t>(</a:t>
            </a:r>
            <a:r>
              <a:rPr lang="zh-CN" altLang="en-US" dirty="0">
                <a:solidFill>
                  <a:srgbClr val="070709"/>
                </a:solidFill>
                <a:latin typeface="宋体" panose="02010600030101010101" pitchFamily="2" charset="-122"/>
              </a:rPr>
              <a:t>左递归)</a:t>
            </a:r>
            <a:endParaRPr lang="zh-CN" altLang="en-US" dirty="0">
              <a:solidFill>
                <a:srgbClr val="070709"/>
              </a:solidFill>
              <a:latin typeface="宋体" panose="02010600030101010101" pitchFamily="2" charset="-122"/>
            </a:endParaRPr>
          </a:p>
        </p:txBody>
      </p:sp>
      <p:sp>
        <p:nvSpPr>
          <p:cNvPr id="6" name="文本占位符 13"/>
          <p:cNvSpPr txBox="1"/>
          <p:nvPr/>
        </p:nvSpPr>
        <p:spPr>
          <a:xfrm>
            <a:off x="6096000" y="2391410"/>
            <a:ext cx="4690745" cy="590550"/>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rgbClr val="0070C0"/>
                </a:solidFill>
                <a:latin typeface="Times New Roman" panose="02020603050405020304" pitchFamily="18" charset="0"/>
              </a:rPr>
              <a:t>EBNF</a:t>
            </a:r>
            <a:r>
              <a:rPr lang="zh-CN" altLang="en-US" dirty="0">
                <a:solidFill>
                  <a:srgbClr val="0070C0"/>
                </a:solidFill>
                <a:latin typeface="Times New Roman" panose="02020603050405020304" pitchFamily="18" charset="0"/>
              </a:rPr>
              <a:t>使用</a:t>
            </a:r>
            <a:r>
              <a:rPr lang="en-US" altLang="zh-CN" dirty="0">
                <a:solidFill>
                  <a:srgbClr val="0070C0"/>
                </a:solidFill>
                <a:latin typeface="Times New Roman" panose="02020603050405020304" pitchFamily="18" charset="0"/>
              </a:rPr>
              <a:t>{ }</a:t>
            </a:r>
            <a:r>
              <a:rPr lang="zh-CN" altLang="en-US" dirty="0">
                <a:solidFill>
                  <a:srgbClr val="0070C0"/>
                </a:solidFill>
                <a:latin typeface="Times New Roman" panose="02020603050405020304" pitchFamily="18" charset="0"/>
              </a:rPr>
              <a:t>表示重复： </a:t>
            </a:r>
            <a:endParaRPr lang="zh-CN" altLang="en-US" dirty="0">
              <a:solidFill>
                <a:srgbClr val="0070C0"/>
              </a:solidFill>
              <a:latin typeface="Times New Roman" panose="02020603050405020304" pitchFamily="18" charset="0"/>
            </a:endParaRPr>
          </a:p>
        </p:txBody>
      </p:sp>
      <p:sp>
        <p:nvSpPr>
          <p:cNvPr id="9" name="文本占位符 13"/>
          <p:cNvSpPr txBox="1"/>
          <p:nvPr/>
        </p:nvSpPr>
        <p:spPr>
          <a:xfrm>
            <a:off x="675005" y="3627120"/>
            <a:ext cx="4498340" cy="484505"/>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20000"/>
              </a:spcBef>
              <a:buSzPct val="90000"/>
            </a:pPr>
            <a:r>
              <a:rPr lang="en-US" altLang="zh-CN" sz="2400" dirty="0">
                <a:solidFill>
                  <a:srgbClr val="070709"/>
                </a:solidFill>
                <a:ea typeface="方正舒体" panose="02010601030101010101" pitchFamily="2" charset="-122"/>
              </a:rPr>
              <a:t>A</a:t>
            </a:r>
            <a:r>
              <a:rPr lang="en-US" altLang="zh-CN" sz="2400" dirty="0">
                <a:solidFill>
                  <a:srgbClr val="070709"/>
                </a:solidFill>
                <a:ea typeface="方正舒体" panose="02010601030101010101" pitchFamily="2" charset="-122"/>
                <a:sym typeface="Symbol" panose="05050102010706020507" pitchFamily="18" charset="2"/>
              </a:rPr>
              <a:t></a:t>
            </a:r>
            <a:r>
              <a:rPr lang="en-US" altLang="zh-CN" sz="2400" dirty="0">
                <a:solidFill>
                  <a:srgbClr val="070709"/>
                </a:solidFill>
                <a:ea typeface="方正舒体" panose="02010601030101010101" pitchFamily="2" charset="-122"/>
              </a:rPr>
              <a:t>α</a:t>
            </a:r>
            <a:r>
              <a:rPr lang="en-US" altLang="zh-CN" sz="2400" dirty="0">
                <a:solidFill>
                  <a:srgbClr val="070709"/>
                </a:solidFill>
                <a:ea typeface="方正舒体" panose="02010601030101010101" pitchFamily="2" charset="-122"/>
                <a:sym typeface="Symbol" panose="05050102010706020507" pitchFamily="18" charset="2"/>
              </a:rPr>
              <a:t>A</a:t>
            </a:r>
            <a:r>
              <a:rPr lang="en-US" altLang="zh-CN" sz="2400" dirty="0">
                <a:solidFill>
                  <a:srgbClr val="070709"/>
                </a:solidFill>
                <a:ea typeface="方正舒体" panose="02010601030101010101" pitchFamily="2" charset="-122"/>
              </a:rPr>
              <a:t>|β(</a:t>
            </a:r>
            <a:r>
              <a:rPr lang="zh-CN" altLang="en-US" sz="2400" dirty="0">
                <a:solidFill>
                  <a:srgbClr val="070709"/>
                </a:solidFill>
                <a:latin typeface="宋体" panose="02010600030101010101" pitchFamily="2" charset="-122"/>
              </a:rPr>
              <a:t>右递归</a:t>
            </a:r>
            <a:r>
              <a:rPr lang="zh-CN" altLang="en-US" sz="2400" dirty="0">
                <a:solidFill>
                  <a:srgbClr val="070709"/>
                </a:solidFill>
                <a:ea typeface="方正舒体" panose="02010601030101010101" pitchFamily="2" charset="-122"/>
              </a:rPr>
              <a:t>)</a:t>
            </a:r>
            <a:endParaRPr lang="zh-CN" altLang="en-US" sz="2400" dirty="0">
              <a:solidFill>
                <a:srgbClr val="070709"/>
              </a:solidFill>
              <a:ea typeface="方正舒体" panose="02010601030101010101" pitchFamily="2" charset="-122"/>
            </a:endParaRPr>
          </a:p>
        </p:txBody>
      </p:sp>
      <p:sp>
        <p:nvSpPr>
          <p:cNvPr id="10" name="文本占位符 13"/>
          <p:cNvSpPr txBox="1"/>
          <p:nvPr/>
        </p:nvSpPr>
        <p:spPr>
          <a:xfrm>
            <a:off x="6198235" y="2785110"/>
            <a:ext cx="3067050" cy="1259840"/>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ct val="20000"/>
              </a:spcBef>
              <a:buSzPct val="90000"/>
            </a:pPr>
            <a:r>
              <a:rPr lang="en-US" altLang="zh-CN" dirty="0">
                <a:solidFill>
                  <a:srgbClr val="070709"/>
                </a:solidFill>
              </a:rPr>
              <a:t>A</a:t>
            </a:r>
            <a:r>
              <a:rPr lang="en-US" altLang="zh-CN" dirty="0">
                <a:solidFill>
                  <a:srgbClr val="070709"/>
                </a:solidFill>
                <a:sym typeface="Symbol" panose="05050102010706020507" pitchFamily="18" charset="2"/>
              </a:rPr>
              <a:t></a:t>
            </a:r>
            <a:r>
              <a:rPr lang="en-US" altLang="zh-CN" dirty="0">
                <a:solidFill>
                  <a:srgbClr val="070709"/>
                </a:solidFill>
              </a:rPr>
              <a:t>β{α}</a:t>
            </a:r>
            <a:endParaRPr lang="en-US" altLang="zh-CN" dirty="0">
              <a:solidFill>
                <a:srgbClr val="070709"/>
              </a:solidFill>
            </a:endParaRPr>
          </a:p>
          <a:p>
            <a:pPr>
              <a:lnSpc>
                <a:spcPct val="150000"/>
              </a:lnSpc>
              <a:spcBef>
                <a:spcPct val="20000"/>
              </a:spcBef>
              <a:buSzPct val="90000"/>
            </a:pPr>
            <a:r>
              <a:rPr lang="en-US" altLang="zh-CN" dirty="0">
                <a:solidFill>
                  <a:srgbClr val="070709"/>
                </a:solidFill>
              </a:rPr>
              <a:t>A</a:t>
            </a:r>
            <a:r>
              <a:rPr lang="en-US" altLang="zh-CN" dirty="0">
                <a:solidFill>
                  <a:srgbClr val="070709"/>
                </a:solidFill>
                <a:sym typeface="Symbol" panose="05050102010706020507" pitchFamily="18" charset="2"/>
              </a:rPr>
              <a:t>{</a:t>
            </a:r>
            <a:r>
              <a:rPr lang="en-US" altLang="zh-CN" dirty="0">
                <a:solidFill>
                  <a:srgbClr val="070709"/>
                </a:solidFill>
              </a:rPr>
              <a:t>α}β</a:t>
            </a:r>
            <a:endParaRPr lang="en-US" altLang="zh-CN" dirty="0">
              <a:solidFill>
                <a:srgbClr val="070709"/>
              </a:solidFill>
            </a:endParaRPr>
          </a:p>
        </p:txBody>
      </p:sp>
      <p:sp>
        <p:nvSpPr>
          <p:cNvPr id="11" name="文本占位符 13"/>
          <p:cNvSpPr txBox="1"/>
          <p:nvPr/>
        </p:nvSpPr>
        <p:spPr>
          <a:xfrm>
            <a:off x="550545" y="4180840"/>
            <a:ext cx="11313160" cy="1813560"/>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Wingdings" panose="05000000000000000000" charset="0"/>
              <a:buChar char="p"/>
            </a:pPr>
            <a:r>
              <a:rPr lang="en-US" altLang="zh-CN" dirty="0"/>
              <a:t>{  }</a:t>
            </a:r>
            <a:r>
              <a:rPr lang="zh-CN" altLang="en-US" dirty="0"/>
              <a:t>表示其中的内容重复</a:t>
            </a:r>
            <a:r>
              <a:rPr lang="en-US" altLang="zh-CN" dirty="0"/>
              <a:t>n</a:t>
            </a:r>
            <a:r>
              <a:rPr lang="zh-CN" altLang="en-US" dirty="0"/>
              <a:t>次</a:t>
            </a:r>
            <a:r>
              <a:rPr lang="en-US" altLang="zh-CN" dirty="0"/>
              <a:t>(n&gt;=0)</a:t>
            </a:r>
            <a:endParaRPr lang="en-US" altLang="zh-CN" dirty="0"/>
          </a:p>
          <a:p>
            <a:pPr marL="457200" indent="-457200">
              <a:lnSpc>
                <a:spcPct val="150000"/>
              </a:lnSpc>
              <a:buFont typeface="Wingdings" panose="05000000000000000000" charset="0"/>
              <a:buChar char="p"/>
            </a:pPr>
            <a:r>
              <a:rPr lang="zh-CN" altLang="en-US" dirty="0"/>
              <a:t>写递归下降语法分析程序时，将</a:t>
            </a:r>
            <a:r>
              <a:rPr lang="zh-CN" altLang="en-US" dirty="0">
                <a:solidFill>
                  <a:srgbClr val="C00000"/>
                </a:solidFill>
              </a:rPr>
              <a:t>花括号重复部分</a:t>
            </a:r>
            <a:r>
              <a:rPr lang="zh-CN" altLang="en-US" dirty="0"/>
              <a:t>翻译成</a:t>
            </a:r>
            <a:r>
              <a:rPr lang="zh-CN" altLang="en-US" dirty="0">
                <a:solidFill>
                  <a:srgbClr val="C00000"/>
                </a:solidFill>
              </a:rPr>
              <a:t>循环代码。</a:t>
            </a:r>
            <a:endParaRPr lang="zh-CN" altLang="en-US" dirty="0">
              <a:solidFill>
                <a:srgbClr val="C00000"/>
              </a:solidFill>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5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animEffect transition="in" filter="fade">
                                      <p:cBhvr>
                                        <p:cTn id="27"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32130" y="276860"/>
            <a:ext cx="8361045" cy="593090"/>
          </a:xfrm>
        </p:spPr>
        <p:txBody>
          <a:bodyPr/>
          <a:lstStyle/>
          <a:p>
            <a:r>
              <a:rPr lang="zh-CN" altLang="en-US" sz="3200" dirty="0"/>
              <a:t>4.</a:t>
            </a:r>
            <a:r>
              <a:rPr lang="en-US" altLang="zh-CN" sz="3200" dirty="0"/>
              <a:t>2.2 </a:t>
            </a:r>
            <a:r>
              <a:rPr lang="zh-CN" altLang="en-US" sz="3200" dirty="0"/>
              <a:t>文法规则使用</a:t>
            </a:r>
            <a:r>
              <a:rPr lang="en-US" altLang="zh-CN" sz="3200" dirty="0"/>
              <a:t>EBNF</a:t>
            </a:r>
            <a:r>
              <a:rPr lang="zh-CN" altLang="en-US" sz="3200" dirty="0"/>
              <a:t>表示法</a:t>
            </a:r>
            <a:endParaRPr lang="en-US" altLang="zh-CN" sz="3200" dirty="0"/>
          </a:p>
        </p:txBody>
      </p:sp>
      <p:sp>
        <p:nvSpPr>
          <p:cNvPr id="14" name="文本占位符 13"/>
          <p:cNvSpPr>
            <a:spLocks noGrp="1"/>
          </p:cNvSpPr>
          <p:nvPr>
            <p:ph type="body" sz="quarter" idx="15"/>
          </p:nvPr>
        </p:nvSpPr>
        <p:spPr>
          <a:xfrm>
            <a:off x="531495" y="1248410"/>
            <a:ext cx="6290945" cy="515620"/>
          </a:xfrm>
        </p:spPr>
        <p:txBody>
          <a:bodyPr>
            <a:normAutofit lnSpcReduction="10000"/>
          </a:bodyPr>
          <a:lstStyle/>
          <a:p>
            <a:r>
              <a:rPr lang="en-US" altLang="zh-CN" dirty="0">
                <a:solidFill>
                  <a:srgbClr val="0070C0"/>
                </a:solidFill>
              </a:rPr>
              <a:t>2. </a:t>
            </a:r>
            <a:r>
              <a:rPr lang="zh-CN" altLang="en-US" dirty="0">
                <a:solidFill>
                  <a:srgbClr val="0070C0"/>
                </a:solidFill>
              </a:rPr>
              <a:t>重复情况（续）</a:t>
            </a:r>
            <a:endParaRPr lang="zh-CN" altLang="en-US" dirty="0">
              <a:solidFill>
                <a:srgbClr val="0070C0"/>
              </a:solidFill>
            </a:endParaRPr>
          </a:p>
        </p:txBody>
      </p:sp>
      <p:sp>
        <p:nvSpPr>
          <p:cNvPr id="7" name="文本占位符 13"/>
          <p:cNvSpPr txBox="1"/>
          <p:nvPr/>
        </p:nvSpPr>
        <p:spPr>
          <a:xfrm>
            <a:off x="531495" y="1764030"/>
            <a:ext cx="8836025" cy="2243455"/>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Times New Roman" panose="02020603050405020304" pitchFamily="18" charset="0"/>
              </a:rPr>
              <a:t>上述产生式规则</a:t>
            </a:r>
            <a:endParaRPr lang="en-US" altLang="zh-CN" dirty="0">
              <a:latin typeface="Times New Roman" panose="02020603050405020304" pitchFamily="18" charset="0"/>
            </a:endParaRPr>
          </a:p>
          <a:p>
            <a:pPr>
              <a:spcBef>
                <a:spcPct val="50000"/>
              </a:spcBef>
            </a:pPr>
            <a:r>
              <a:rPr lang="en-US" altLang="zh-CN" b="0" i="1" dirty="0">
                <a:solidFill>
                  <a:srgbClr val="070709"/>
                </a:solidFill>
                <a:latin typeface="Times New Roman" panose="02020603050405020304" pitchFamily="18" charset="0"/>
              </a:rPr>
              <a:t>exp</a:t>
            </a:r>
            <a:r>
              <a:rPr lang="zh-CN" altLang="en-US" b="0" i="1" dirty="0">
                <a:solidFill>
                  <a:srgbClr val="070709"/>
                </a:solidFill>
                <a:latin typeface="Times New Roman" panose="02020603050405020304" pitchFamily="18" charset="0"/>
              </a:rPr>
              <a:t>→</a:t>
            </a:r>
            <a:r>
              <a:rPr lang="en-US" altLang="zh-CN" b="0" i="1" dirty="0">
                <a:solidFill>
                  <a:srgbClr val="070709"/>
                </a:solidFill>
                <a:latin typeface="Times New Roman" panose="02020603050405020304" pitchFamily="18" charset="0"/>
              </a:rPr>
              <a:t>exp </a:t>
            </a:r>
            <a:r>
              <a:rPr lang="en-US" altLang="zh-CN" b="0" i="1" dirty="0" err="1">
                <a:solidFill>
                  <a:srgbClr val="070709"/>
                </a:solidFill>
                <a:latin typeface="Times New Roman" panose="02020603050405020304" pitchFamily="18" charset="0"/>
              </a:rPr>
              <a:t>addop</a:t>
            </a:r>
            <a:r>
              <a:rPr lang="en-US" altLang="zh-CN" b="0" i="1" dirty="0">
                <a:solidFill>
                  <a:srgbClr val="070709"/>
                </a:solidFill>
                <a:latin typeface="Times New Roman" panose="02020603050405020304" pitchFamily="18" charset="0"/>
              </a:rPr>
              <a:t> </a:t>
            </a:r>
            <a:r>
              <a:rPr lang="en-US" altLang="zh-CN" b="0" i="1" dirty="0" err="1">
                <a:solidFill>
                  <a:srgbClr val="070709"/>
                </a:solidFill>
                <a:latin typeface="Times New Roman" panose="02020603050405020304" pitchFamily="18" charset="0"/>
              </a:rPr>
              <a:t>term|term</a:t>
            </a:r>
            <a:endParaRPr lang="en-US" altLang="zh-CN" b="0" i="1" dirty="0">
              <a:solidFill>
                <a:srgbClr val="070709"/>
              </a:solidFill>
              <a:latin typeface="Times New Roman" panose="02020603050405020304" pitchFamily="18" charset="0"/>
            </a:endParaRPr>
          </a:p>
          <a:p>
            <a:pPr>
              <a:spcBef>
                <a:spcPct val="50000"/>
              </a:spcBef>
            </a:pPr>
            <a:r>
              <a:rPr lang="zh-CN" altLang="en-US" sz="2400" b="0" dirty="0">
                <a:solidFill>
                  <a:srgbClr val="070709"/>
                </a:solidFill>
                <a:latin typeface="Times New Roman" panose="02020603050405020304" pitchFamily="18" charset="0"/>
              </a:rPr>
              <a:t>用</a:t>
            </a:r>
            <a:r>
              <a:rPr lang="en-US" altLang="zh-CN" sz="2400" b="0" dirty="0">
                <a:solidFill>
                  <a:srgbClr val="070709"/>
                </a:solidFill>
                <a:latin typeface="Times New Roman" panose="02020603050405020304" pitchFamily="18" charset="0"/>
              </a:rPr>
              <a:t>EBNF</a:t>
            </a:r>
            <a:r>
              <a:rPr lang="zh-CN" altLang="en-US" sz="2400" b="0" dirty="0">
                <a:solidFill>
                  <a:srgbClr val="070709"/>
                </a:solidFill>
                <a:latin typeface="Times New Roman" panose="02020603050405020304" pitchFamily="18" charset="0"/>
              </a:rPr>
              <a:t>表示成</a:t>
            </a:r>
            <a:endParaRPr lang="en-US" altLang="zh-CN" sz="2400" b="0" dirty="0">
              <a:solidFill>
                <a:srgbClr val="070709"/>
              </a:solidFill>
              <a:latin typeface="Times New Roman" panose="02020603050405020304" pitchFamily="18" charset="0"/>
            </a:endParaRPr>
          </a:p>
          <a:p>
            <a:pPr>
              <a:spcBef>
                <a:spcPct val="50000"/>
              </a:spcBef>
            </a:pPr>
            <a:r>
              <a:rPr lang="en-US" altLang="zh-CN" sz="2400" b="0" i="1" dirty="0">
                <a:solidFill>
                  <a:srgbClr val="070709"/>
                </a:solidFill>
                <a:latin typeface="Times New Roman" panose="02020603050405020304" pitchFamily="18" charset="0"/>
              </a:rPr>
              <a:t>exp</a:t>
            </a:r>
            <a:r>
              <a:rPr lang="zh-CN" altLang="en-US" sz="2400" b="0" i="1" dirty="0">
                <a:solidFill>
                  <a:srgbClr val="070709"/>
                </a:solidFill>
                <a:latin typeface="Times New Roman" panose="02020603050405020304" pitchFamily="18" charset="0"/>
              </a:rPr>
              <a:t>→ </a:t>
            </a:r>
            <a:r>
              <a:rPr lang="en-US" altLang="zh-CN" sz="2400" b="0" i="1" dirty="0">
                <a:solidFill>
                  <a:srgbClr val="070709"/>
                </a:solidFill>
                <a:latin typeface="Times New Roman" panose="02020603050405020304" pitchFamily="18" charset="0"/>
              </a:rPr>
              <a:t>term{</a:t>
            </a:r>
            <a:r>
              <a:rPr lang="en-US" altLang="zh-CN" sz="2400" b="0" i="1" dirty="0" err="1">
                <a:solidFill>
                  <a:srgbClr val="070709"/>
                </a:solidFill>
                <a:latin typeface="Times New Roman" panose="02020603050405020304" pitchFamily="18" charset="0"/>
              </a:rPr>
              <a:t>addop</a:t>
            </a:r>
            <a:r>
              <a:rPr lang="en-US" altLang="zh-CN" sz="2400" b="0" i="1" dirty="0">
                <a:solidFill>
                  <a:srgbClr val="070709"/>
                </a:solidFill>
                <a:latin typeface="Times New Roman" panose="02020603050405020304" pitchFamily="18" charset="0"/>
              </a:rPr>
              <a:t> </a:t>
            </a:r>
            <a:r>
              <a:rPr lang="en-US" altLang="zh-CN" b="0" i="1" dirty="0">
                <a:solidFill>
                  <a:srgbClr val="070709"/>
                </a:solidFill>
                <a:latin typeface="Times New Roman" panose="02020603050405020304" pitchFamily="18" charset="0"/>
              </a:rPr>
              <a:t>term</a:t>
            </a:r>
            <a:r>
              <a:rPr lang="en-US" altLang="zh-CN" sz="2400" b="0" i="1" dirty="0">
                <a:solidFill>
                  <a:srgbClr val="070709"/>
                </a:solidFill>
                <a:latin typeface="Times New Roman" panose="02020603050405020304" pitchFamily="18" charset="0"/>
              </a:rPr>
              <a:t>}</a:t>
            </a:r>
            <a:endParaRPr lang="zh-CN" altLang="en-US" sz="2400" b="0" dirty="0">
              <a:solidFill>
                <a:srgbClr val="070709"/>
              </a:solidFill>
              <a:latin typeface="Times New Roman" panose="02020603050405020304" pitchFamily="18" charset="0"/>
            </a:endParaRPr>
          </a:p>
        </p:txBody>
      </p:sp>
      <p:sp>
        <p:nvSpPr>
          <p:cNvPr id="11" name="文本占位符 13"/>
          <p:cNvSpPr txBox="1"/>
          <p:nvPr/>
        </p:nvSpPr>
        <p:spPr>
          <a:xfrm>
            <a:off x="4898390" y="1315720"/>
            <a:ext cx="6883400" cy="1085215"/>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charset="0"/>
              <a:buChar char="p"/>
            </a:pPr>
            <a:r>
              <a:rPr lang="zh-CN" altLang="en-US" sz="2400" dirty="0">
                <a:latin typeface="Times New Roman" panose="02020603050405020304" pitchFamily="18" charset="0"/>
              </a:rPr>
              <a:t>将花括号</a:t>
            </a:r>
            <a:r>
              <a:rPr lang="zh-CN" altLang="en-US" sz="2400" dirty="0">
                <a:solidFill>
                  <a:srgbClr val="0070C0"/>
                </a:solidFill>
                <a:latin typeface="Times New Roman" panose="02020603050405020304" pitchFamily="18" charset="0"/>
              </a:rPr>
              <a:t>表示的</a:t>
            </a:r>
            <a:r>
              <a:rPr lang="zh-CN" altLang="en-US" sz="2400" dirty="0">
                <a:latin typeface="Times New Roman" panose="02020603050405020304" pitchFamily="18" charset="0"/>
              </a:rPr>
              <a:t>重复部分</a:t>
            </a:r>
            <a:r>
              <a:rPr lang="en-US" altLang="zh-CN" sz="2400" dirty="0" err="1">
                <a:latin typeface="Times New Roman" panose="02020603050405020304" pitchFamily="18" charset="0"/>
              </a:rPr>
              <a:t>addop</a:t>
            </a:r>
            <a:r>
              <a:rPr lang="en-US" altLang="zh-CN" sz="2400" dirty="0">
                <a:latin typeface="Times New Roman" panose="02020603050405020304" pitchFamily="18" charset="0"/>
              </a:rPr>
              <a:t> term</a:t>
            </a:r>
            <a:r>
              <a:rPr lang="zh-CN" altLang="en-US" sz="2400" dirty="0">
                <a:latin typeface="Times New Roman" panose="02020603050405020304" pitchFamily="18" charset="0"/>
              </a:rPr>
              <a:t>翻译成循环代码， 语法结构</a:t>
            </a:r>
            <a:r>
              <a:rPr lang="en-US" altLang="zh-CN" sz="2400" dirty="0">
                <a:latin typeface="Times New Roman" panose="02020603050405020304" pitchFamily="18" charset="0"/>
              </a:rPr>
              <a:t>exp</a:t>
            </a:r>
            <a:r>
              <a:rPr lang="zh-CN" altLang="en-US" sz="2400" dirty="0">
                <a:latin typeface="Times New Roman" panose="02020603050405020304" pitchFamily="18" charset="0"/>
              </a:rPr>
              <a:t>对应的函数定义如下：</a:t>
            </a:r>
            <a:endParaRPr lang="zh-CN" altLang="en-US" sz="2400" dirty="0">
              <a:latin typeface="Times New Roman" panose="02020603050405020304" pitchFamily="18" charset="0"/>
            </a:endParaRPr>
          </a:p>
        </p:txBody>
      </p:sp>
      <p:cxnSp>
        <p:nvCxnSpPr>
          <p:cNvPr id="3" name="直接连接符 2"/>
          <p:cNvCxnSpPr/>
          <p:nvPr/>
        </p:nvCxnSpPr>
        <p:spPr>
          <a:xfrm flipV="1">
            <a:off x="560518" y="2786343"/>
            <a:ext cx="3333750" cy="1397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文本占位符 13"/>
          <p:cNvSpPr txBox="1"/>
          <p:nvPr/>
        </p:nvSpPr>
        <p:spPr>
          <a:xfrm>
            <a:off x="4898390" y="3183255"/>
            <a:ext cx="6849110" cy="2562860"/>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90000"/>
            </a:pPr>
            <a:r>
              <a:rPr lang="en-US" altLang="zh-CN" sz="2400" b="0" dirty="0" err="1">
                <a:solidFill>
                  <a:srgbClr val="050507"/>
                </a:solidFill>
                <a:latin typeface="Consolas" panose="020B0609020204030204" pitchFamily="49" charset="0"/>
              </a:rPr>
              <a:t>viod</a:t>
            </a:r>
            <a:r>
              <a:rPr lang="en-US" altLang="zh-CN" sz="2400" b="0" dirty="0">
                <a:solidFill>
                  <a:srgbClr val="050507"/>
                </a:solidFill>
                <a:latin typeface="Consolas" panose="020B0609020204030204" pitchFamily="49" charset="0"/>
              </a:rPr>
              <a:t> </a:t>
            </a:r>
            <a:r>
              <a:rPr lang="en-US" altLang="zh-CN" sz="2400" i="1" dirty="0">
                <a:solidFill>
                  <a:srgbClr val="050507"/>
                </a:solidFill>
                <a:latin typeface="Consolas" panose="020B0609020204030204" pitchFamily="49" charset="0"/>
              </a:rPr>
              <a:t>exp</a:t>
            </a:r>
            <a:r>
              <a:rPr lang="zh-CN" altLang="en-US" sz="2400" i="1" dirty="0">
                <a:solidFill>
                  <a:srgbClr val="050507"/>
                </a:solidFill>
                <a:latin typeface="Consolas" panose="020B0609020204030204" pitchFamily="49" charset="0"/>
              </a:rPr>
              <a:t>(</a:t>
            </a:r>
            <a:r>
              <a:rPr lang="en-US" altLang="zh-CN" sz="2400" i="1" dirty="0">
                <a:solidFill>
                  <a:srgbClr val="050507"/>
                </a:solidFill>
                <a:latin typeface="Consolas" panose="020B0609020204030204" pitchFamily="49" charset="0"/>
              </a:rPr>
              <a:t>void)</a:t>
            </a:r>
            <a:endParaRPr lang="en-US" altLang="zh-CN" sz="2400" i="1" dirty="0">
              <a:solidFill>
                <a:srgbClr val="050507"/>
              </a:solidFill>
              <a:latin typeface="Consolas" panose="020B0609020204030204" pitchFamily="49" charset="0"/>
            </a:endParaRPr>
          </a:p>
          <a:p>
            <a:pPr>
              <a:buSzPct val="90000"/>
            </a:pPr>
            <a:r>
              <a:rPr lang="en-US" altLang="zh-CN" sz="2400" b="0" dirty="0">
                <a:solidFill>
                  <a:srgbClr val="050507"/>
                </a:solidFill>
                <a:latin typeface="Consolas" panose="020B0609020204030204" pitchFamily="49" charset="0"/>
              </a:rPr>
              <a:t>{  </a:t>
            </a:r>
            <a:r>
              <a:rPr lang="en-US" altLang="zh-CN" sz="2400" i="1" dirty="0">
                <a:solidFill>
                  <a:srgbClr val="050507"/>
                </a:solidFill>
                <a:latin typeface="Consolas" panose="020B0609020204030204" pitchFamily="49" charset="0"/>
              </a:rPr>
              <a:t>term( )</a:t>
            </a:r>
            <a:r>
              <a:rPr lang="en-US" altLang="zh-CN" sz="2400" b="0" dirty="0">
                <a:solidFill>
                  <a:srgbClr val="050507"/>
                </a:solidFill>
                <a:latin typeface="Consolas" panose="020B0609020204030204" pitchFamily="49" charset="0"/>
              </a:rPr>
              <a:t>;</a:t>
            </a:r>
            <a:endParaRPr lang="en-US" altLang="zh-CN" sz="2400" b="0" dirty="0">
              <a:solidFill>
                <a:srgbClr val="050507"/>
              </a:solidFill>
              <a:latin typeface="Consolas" panose="020B0609020204030204" pitchFamily="49" charset="0"/>
            </a:endParaRPr>
          </a:p>
          <a:p>
            <a:pPr>
              <a:buSzPct val="90000"/>
            </a:pPr>
            <a:r>
              <a:rPr lang="en-US" altLang="zh-CN" sz="2400" b="0" dirty="0">
                <a:solidFill>
                  <a:srgbClr val="050507"/>
                </a:solidFill>
                <a:latin typeface="Consolas" panose="020B0609020204030204" pitchFamily="49" charset="0"/>
              </a:rPr>
              <a:t>   </a:t>
            </a:r>
            <a:r>
              <a:rPr lang="en-US" altLang="zh-CN" sz="2400" b="0" dirty="0">
                <a:solidFill>
                  <a:srgbClr val="E10B34"/>
                </a:solidFill>
                <a:latin typeface="Consolas" panose="020B0609020204030204" pitchFamily="49" charset="0"/>
              </a:rPr>
              <a:t>while</a:t>
            </a:r>
            <a:r>
              <a:rPr lang="en-US" altLang="zh-CN" sz="2400" b="0" dirty="0">
                <a:solidFill>
                  <a:srgbClr val="050507"/>
                </a:solidFill>
                <a:latin typeface="Consolas" panose="020B0609020204030204" pitchFamily="49" charset="0"/>
              </a:rPr>
              <a:t> </a:t>
            </a:r>
            <a:r>
              <a:rPr sz="2400" b="0" dirty="0">
                <a:solidFill>
                  <a:srgbClr val="050507"/>
                </a:solidFill>
                <a:latin typeface="Consolas" panose="020B0609020204030204" pitchFamily="49" charset="0"/>
              </a:rPr>
              <a:t>（</a:t>
            </a:r>
            <a:r>
              <a:rPr lang="en-US" altLang="zh-CN" sz="2400" b="0" dirty="0">
                <a:solidFill>
                  <a:srgbClr val="050507"/>
                </a:solidFill>
                <a:latin typeface="Consolas" panose="020B0609020204030204" pitchFamily="49" charset="0"/>
              </a:rPr>
              <a:t>token==</a:t>
            </a:r>
            <a:r>
              <a:rPr lang="en-US" altLang="zh-CN" sz="2400" b="0">
                <a:solidFill>
                  <a:srgbClr val="050507"/>
                </a:solidFill>
                <a:latin typeface="Consolas" panose="020B0609020204030204" pitchFamily="49" charset="0"/>
                <a:sym typeface="+mn-ea"/>
              </a:rPr>
              <a:t>“</a:t>
            </a:r>
            <a:r>
              <a:rPr lang="en-US" altLang="zh-CN" sz="2400" b="0" dirty="0">
                <a:solidFill>
                  <a:srgbClr val="050507"/>
                </a:solidFill>
                <a:latin typeface="Consolas" panose="020B0609020204030204" pitchFamily="49" charset="0"/>
              </a:rPr>
              <a:t>+” or token==</a:t>
            </a:r>
            <a:r>
              <a:rPr lang="en-US" altLang="zh-CN" sz="2400" b="0">
                <a:solidFill>
                  <a:srgbClr val="050507"/>
                </a:solidFill>
                <a:latin typeface="Consolas" panose="020B0609020204030204" pitchFamily="49" charset="0"/>
                <a:sym typeface="+mn-ea"/>
              </a:rPr>
              <a:t>“</a:t>
            </a:r>
            <a:r>
              <a:rPr lang="en-US" altLang="zh-CN" sz="2400" b="0" dirty="0">
                <a:solidFill>
                  <a:srgbClr val="050507"/>
                </a:solidFill>
                <a:latin typeface="Consolas" panose="020B0609020204030204" pitchFamily="49" charset="0"/>
              </a:rPr>
              <a:t>-</a:t>
            </a:r>
            <a:r>
              <a:rPr lang="en-US" altLang="zh-CN" sz="2400" b="0">
                <a:solidFill>
                  <a:srgbClr val="050507"/>
                </a:solidFill>
                <a:latin typeface="Consolas" panose="020B0609020204030204" pitchFamily="49" charset="0"/>
                <a:sym typeface="+mn-ea"/>
              </a:rPr>
              <a:t>”</a:t>
            </a:r>
            <a:r>
              <a:rPr sz="2400" b="0" dirty="0">
                <a:solidFill>
                  <a:srgbClr val="050507"/>
                </a:solidFill>
                <a:latin typeface="Consolas" panose="020B0609020204030204" pitchFamily="49" charset="0"/>
              </a:rPr>
              <a:t>）</a:t>
            </a:r>
            <a:endParaRPr lang="en-US" altLang="zh-CN" sz="2400" b="0" dirty="0">
              <a:solidFill>
                <a:srgbClr val="E10B34"/>
              </a:solidFill>
              <a:latin typeface="Consolas" panose="020B0609020204030204" pitchFamily="49" charset="0"/>
            </a:endParaRPr>
          </a:p>
          <a:p>
            <a:pPr>
              <a:buSzPct val="90000"/>
            </a:pPr>
            <a:r>
              <a:rPr lang="en-US" altLang="zh-CN" sz="2400" b="0" dirty="0">
                <a:solidFill>
                  <a:srgbClr val="E10B34"/>
                </a:solidFill>
                <a:latin typeface="Consolas" panose="020B0609020204030204" pitchFamily="49" charset="0"/>
              </a:rPr>
              <a:t>   </a:t>
            </a:r>
            <a:r>
              <a:rPr lang="en-US" altLang="zh-CN" sz="2400" b="0" dirty="0">
                <a:solidFill>
                  <a:srgbClr val="050507"/>
                </a:solidFill>
                <a:latin typeface="Consolas" panose="020B0609020204030204" pitchFamily="49" charset="0"/>
              </a:rPr>
              <a:t>{</a:t>
            </a:r>
            <a:r>
              <a:rPr lang="en-US" altLang="zh-CN" sz="2400" b="0" dirty="0">
                <a:solidFill>
                  <a:srgbClr val="E10B34"/>
                </a:solidFill>
                <a:latin typeface="Consolas" panose="020B0609020204030204" pitchFamily="49" charset="0"/>
              </a:rPr>
              <a:t> </a:t>
            </a:r>
            <a:r>
              <a:rPr lang="en-US" altLang="zh-CN" sz="2400" b="0" dirty="0">
                <a:solidFill>
                  <a:srgbClr val="050507"/>
                </a:solidFill>
                <a:latin typeface="Consolas" panose="020B0609020204030204" pitchFamily="49" charset="0"/>
              </a:rPr>
              <a:t>match(token);</a:t>
            </a:r>
            <a:endParaRPr lang="en-US" altLang="zh-CN" sz="2400" b="0" dirty="0">
              <a:solidFill>
                <a:srgbClr val="050507"/>
              </a:solidFill>
              <a:latin typeface="Consolas" panose="020B0609020204030204" pitchFamily="49" charset="0"/>
            </a:endParaRPr>
          </a:p>
          <a:p>
            <a:pPr>
              <a:buSzPct val="90000"/>
            </a:pPr>
            <a:r>
              <a:rPr lang="en-US" altLang="zh-CN" sz="2400" b="0" dirty="0">
                <a:solidFill>
                  <a:srgbClr val="050507"/>
                </a:solidFill>
                <a:latin typeface="Consolas" panose="020B0609020204030204" pitchFamily="49" charset="0"/>
              </a:rPr>
              <a:t>     </a:t>
            </a:r>
            <a:r>
              <a:rPr lang="en-US" altLang="zh-CN" sz="2400" i="1" dirty="0">
                <a:solidFill>
                  <a:srgbClr val="050507"/>
                </a:solidFill>
                <a:latin typeface="Consolas" panose="020B0609020204030204" pitchFamily="49" charset="0"/>
              </a:rPr>
              <a:t>term( )</a:t>
            </a:r>
            <a:r>
              <a:rPr lang="en-US" altLang="zh-CN" sz="2400" b="0" dirty="0">
                <a:solidFill>
                  <a:srgbClr val="050507"/>
                </a:solidFill>
                <a:latin typeface="Consolas" panose="020B0609020204030204" pitchFamily="49" charset="0"/>
              </a:rPr>
              <a:t>;  </a:t>
            </a:r>
            <a:endParaRPr lang="en-US" altLang="zh-CN" sz="2400" b="0" dirty="0">
              <a:solidFill>
                <a:srgbClr val="050507"/>
              </a:solidFill>
              <a:latin typeface="Consolas" panose="020B0609020204030204" pitchFamily="49" charset="0"/>
            </a:endParaRPr>
          </a:p>
          <a:p>
            <a:pPr>
              <a:buSzPct val="90000"/>
            </a:pPr>
            <a:r>
              <a:rPr lang="en-US" altLang="zh-CN" sz="2400" b="0" dirty="0">
                <a:solidFill>
                  <a:srgbClr val="050507"/>
                </a:solidFill>
                <a:latin typeface="Consolas" panose="020B0609020204030204" pitchFamily="49" charset="0"/>
              </a:rPr>
              <a:t>   }</a:t>
            </a:r>
            <a:endParaRPr lang="en-US" altLang="zh-CN" sz="2400" b="0" dirty="0">
              <a:solidFill>
                <a:srgbClr val="050507"/>
              </a:solidFill>
              <a:latin typeface="Consolas" panose="020B0609020204030204" pitchFamily="49" charset="0"/>
            </a:endParaRPr>
          </a:p>
          <a:p>
            <a:pPr>
              <a:buSzPct val="90000"/>
            </a:pPr>
            <a:r>
              <a:rPr lang="en-US" altLang="zh-CN" sz="2400" b="0" dirty="0">
                <a:solidFill>
                  <a:srgbClr val="050507"/>
                </a:solidFill>
                <a:latin typeface="Consolas" panose="020B0609020204030204" pitchFamily="49" charset="0"/>
              </a:rPr>
              <a:t> }</a:t>
            </a:r>
            <a:endParaRPr lang="en-US" altLang="zh-CN" sz="2400" b="0" dirty="0">
              <a:solidFill>
                <a:srgbClr val="050507"/>
              </a:solidFill>
              <a:latin typeface="Consolas" panose="020B0609020204030204" pitchFamily="49" charset="0"/>
            </a:endParaRPr>
          </a:p>
        </p:txBody>
      </p:sp>
      <p:sp>
        <p:nvSpPr>
          <p:cNvPr id="6" name="文本占位符 13"/>
          <p:cNvSpPr txBox="1"/>
          <p:nvPr/>
        </p:nvSpPr>
        <p:spPr>
          <a:xfrm>
            <a:off x="4898241" y="2401906"/>
            <a:ext cx="3585882" cy="522342"/>
          </a:xfrm>
          <a:prstGeom prst="rect">
            <a:avLst/>
          </a:prstGeom>
        </p:spPr>
        <p:txBody>
          <a:bodyPr vert="horz" lIns="91440" tIns="45720" rIns="91440" bIns="45720" rtlCol="0">
            <a:noAutofit/>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50000"/>
              </a:spcBef>
            </a:pPr>
            <a:r>
              <a:rPr lang="en-US" altLang="zh-CN" b="0" i="1" dirty="0">
                <a:solidFill>
                  <a:srgbClr val="070709"/>
                </a:solidFill>
                <a:latin typeface="Times New Roman" panose="02020603050405020304" pitchFamily="18" charset="0"/>
              </a:rPr>
              <a:t>exp</a:t>
            </a:r>
            <a:r>
              <a:rPr lang="zh-CN" altLang="en-US" b="0" i="1" dirty="0">
                <a:solidFill>
                  <a:srgbClr val="070709"/>
                </a:solidFill>
                <a:latin typeface="Times New Roman" panose="02020603050405020304" pitchFamily="18" charset="0"/>
              </a:rPr>
              <a:t>→ </a:t>
            </a:r>
            <a:r>
              <a:rPr lang="en-US" altLang="zh-CN" b="0" i="1" dirty="0">
                <a:solidFill>
                  <a:srgbClr val="070709"/>
                </a:solidFill>
                <a:latin typeface="Times New Roman" panose="02020603050405020304" pitchFamily="18" charset="0"/>
              </a:rPr>
              <a:t>term</a:t>
            </a:r>
            <a:r>
              <a:rPr lang="en-US" altLang="zh-CN" b="0" dirty="0">
                <a:solidFill>
                  <a:srgbClr val="070709"/>
                </a:solidFill>
                <a:latin typeface="Times New Roman" panose="02020603050405020304" pitchFamily="18" charset="0"/>
              </a:rPr>
              <a:t>{</a:t>
            </a:r>
            <a:r>
              <a:rPr lang="en-US" altLang="zh-CN" b="0" i="1" dirty="0" err="1">
                <a:solidFill>
                  <a:srgbClr val="070709"/>
                </a:solidFill>
                <a:latin typeface="Times New Roman" panose="02020603050405020304" pitchFamily="18" charset="0"/>
              </a:rPr>
              <a:t>addop</a:t>
            </a:r>
            <a:r>
              <a:rPr lang="en-US" altLang="zh-CN" b="0" i="1" dirty="0">
                <a:solidFill>
                  <a:srgbClr val="070709"/>
                </a:solidFill>
                <a:latin typeface="Times New Roman" panose="02020603050405020304" pitchFamily="18" charset="0"/>
              </a:rPr>
              <a:t> term</a:t>
            </a:r>
            <a:r>
              <a:rPr lang="en-US" altLang="zh-CN" b="0" dirty="0">
                <a:solidFill>
                  <a:srgbClr val="070709"/>
                </a:solidFill>
                <a:latin typeface="Times New Roman" panose="02020603050405020304" pitchFamily="18" charset="0"/>
              </a:rPr>
              <a:t>}</a:t>
            </a:r>
            <a:endParaRPr lang="en-US" altLang="zh-CN" b="0" dirty="0">
              <a:solidFill>
                <a:srgbClr val="070709"/>
              </a:solidFill>
              <a:latin typeface="Times New Roman" panose="02020603050405020304" pitchFamily="18" charset="0"/>
            </a:endParaRPr>
          </a:p>
        </p:txBody>
      </p:sp>
      <p:sp>
        <p:nvSpPr>
          <p:cNvPr id="4" name="灯片编号占位符 3"/>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53085" y="276860"/>
            <a:ext cx="8340090" cy="593090"/>
          </a:xfrm>
        </p:spPr>
        <p:txBody>
          <a:bodyPr/>
          <a:lstStyle/>
          <a:p>
            <a:r>
              <a:rPr lang="zh-CN" altLang="en-US" sz="3200" dirty="0"/>
              <a:t>4.</a:t>
            </a:r>
            <a:r>
              <a:rPr lang="en-US" altLang="zh-CN" sz="3200" dirty="0"/>
              <a:t>2.2 </a:t>
            </a:r>
            <a:r>
              <a:rPr lang="zh-CN" altLang="en-US" sz="3200" dirty="0"/>
              <a:t>文法规则使用</a:t>
            </a:r>
            <a:r>
              <a:rPr lang="en-US" altLang="zh-CN" sz="3200" dirty="0"/>
              <a:t>EBNF</a:t>
            </a:r>
            <a:r>
              <a:rPr lang="zh-CN" altLang="en-US" sz="3200" dirty="0"/>
              <a:t>表示法</a:t>
            </a:r>
            <a:endParaRPr lang="en-US" altLang="zh-CN" sz="3200" dirty="0"/>
          </a:p>
        </p:txBody>
      </p:sp>
      <p:sp>
        <p:nvSpPr>
          <p:cNvPr id="14" name="文本占位符 13"/>
          <p:cNvSpPr>
            <a:spLocks noGrp="1"/>
          </p:cNvSpPr>
          <p:nvPr>
            <p:ph type="body" sz="quarter" idx="15"/>
          </p:nvPr>
        </p:nvSpPr>
        <p:spPr>
          <a:xfrm>
            <a:off x="552450" y="1407160"/>
            <a:ext cx="6305550" cy="2564130"/>
          </a:xfrm>
        </p:spPr>
        <p:txBody>
          <a:bodyPr>
            <a:normAutofit fontScale="92500" lnSpcReduction="20000"/>
          </a:bodyPr>
          <a:lstStyle/>
          <a:p>
            <a:pPr>
              <a:lnSpc>
                <a:spcPct val="80000"/>
              </a:lnSpc>
              <a:spcBef>
                <a:spcPct val="50000"/>
              </a:spcBef>
              <a:buSzPct val="90000"/>
            </a:pPr>
            <a:r>
              <a:rPr lang="zh-CN" altLang="en-US" dirty="0">
                <a:solidFill>
                  <a:srgbClr val="050507"/>
                </a:solidFill>
              </a:rPr>
              <a:t>简单整型算术表达式文法：</a:t>
            </a:r>
            <a:endParaRPr lang="zh-CN" altLang="en-US" dirty="0">
              <a:solidFill>
                <a:srgbClr val="050507"/>
              </a:solidFill>
            </a:endParaRPr>
          </a:p>
          <a:p>
            <a:pPr>
              <a:lnSpc>
                <a:spcPct val="75000"/>
              </a:lnSpc>
              <a:spcBef>
                <a:spcPct val="50000"/>
              </a:spcBef>
              <a:buSzPct val="90000"/>
            </a:pPr>
            <a:r>
              <a:rPr lang="en-US" altLang="zh-CN" b="0" i="1" dirty="0">
                <a:solidFill>
                  <a:srgbClr val="070709"/>
                </a:solidFill>
                <a:latin typeface="Times New Roman" panose="02020603050405020304" pitchFamily="18" charset="0"/>
              </a:rPr>
              <a:t>exp</a:t>
            </a:r>
            <a:r>
              <a:rPr lang="zh-CN" altLang="en-US" b="0" i="1" dirty="0">
                <a:solidFill>
                  <a:srgbClr val="070709"/>
                </a:solidFill>
                <a:latin typeface="Times New Roman" panose="02020603050405020304" pitchFamily="18" charset="0"/>
              </a:rPr>
              <a:t>→</a:t>
            </a:r>
            <a:r>
              <a:rPr lang="en-US" altLang="zh-CN" b="0" i="1" dirty="0">
                <a:solidFill>
                  <a:srgbClr val="070709"/>
                </a:solidFill>
                <a:latin typeface="Times New Roman" panose="02020603050405020304" pitchFamily="18" charset="0"/>
              </a:rPr>
              <a:t>exp </a:t>
            </a:r>
            <a:r>
              <a:rPr lang="en-US" altLang="zh-CN" b="0" i="1" dirty="0" err="1">
                <a:solidFill>
                  <a:srgbClr val="070709"/>
                </a:solidFill>
                <a:latin typeface="Times New Roman" panose="02020603050405020304" pitchFamily="18" charset="0"/>
              </a:rPr>
              <a:t>addop</a:t>
            </a:r>
            <a:r>
              <a:rPr lang="en-US" altLang="zh-CN" b="0" i="1" dirty="0">
                <a:solidFill>
                  <a:srgbClr val="070709"/>
                </a:solidFill>
                <a:latin typeface="Times New Roman" panose="02020603050405020304" pitchFamily="18" charset="0"/>
              </a:rPr>
              <a:t> </a:t>
            </a:r>
            <a:r>
              <a:rPr lang="en-US" altLang="zh-CN" b="0" i="1" dirty="0" err="1">
                <a:solidFill>
                  <a:srgbClr val="070709"/>
                </a:solidFill>
                <a:latin typeface="Times New Roman" panose="02020603050405020304" pitchFamily="18" charset="0"/>
              </a:rPr>
              <a:t>term|term</a:t>
            </a:r>
            <a:endParaRPr lang="en-US" altLang="zh-CN" b="0" i="1" dirty="0">
              <a:solidFill>
                <a:srgbClr val="070709"/>
              </a:solidFill>
              <a:latin typeface="Times New Roman" panose="02020603050405020304" pitchFamily="18" charset="0"/>
            </a:endParaRPr>
          </a:p>
          <a:p>
            <a:pPr>
              <a:lnSpc>
                <a:spcPct val="75000"/>
              </a:lnSpc>
              <a:spcBef>
                <a:spcPct val="50000"/>
              </a:spcBef>
              <a:buSzPct val="90000"/>
            </a:pPr>
            <a:r>
              <a:rPr lang="en-US" altLang="zh-CN" b="0" i="1" dirty="0" err="1">
                <a:solidFill>
                  <a:srgbClr val="070709"/>
                </a:solidFill>
                <a:latin typeface="Times New Roman" panose="02020603050405020304" pitchFamily="18" charset="0"/>
              </a:rPr>
              <a:t>addop</a:t>
            </a:r>
            <a:r>
              <a:rPr lang="zh-CN" altLang="en-US" b="0" i="1" dirty="0">
                <a:solidFill>
                  <a:srgbClr val="070709"/>
                </a:solidFill>
                <a:latin typeface="Times New Roman" panose="02020603050405020304" pitchFamily="18" charset="0"/>
              </a:rPr>
              <a:t>→</a:t>
            </a:r>
            <a:r>
              <a:rPr lang="zh-CN" altLang="en-US" b="0" dirty="0">
                <a:solidFill>
                  <a:srgbClr val="070709"/>
                </a:solidFill>
                <a:latin typeface="Times New Roman" panose="02020603050405020304" pitchFamily="18" charset="0"/>
              </a:rPr>
              <a:t>+</a:t>
            </a:r>
            <a:r>
              <a:rPr lang="zh-CN" altLang="en-US" b="0" i="1" dirty="0">
                <a:solidFill>
                  <a:srgbClr val="070709"/>
                </a:solidFill>
                <a:latin typeface="Times New Roman" panose="02020603050405020304" pitchFamily="18" charset="0"/>
              </a:rPr>
              <a:t>|</a:t>
            </a:r>
            <a:r>
              <a:rPr lang="zh-CN" altLang="en-US" b="0" dirty="0">
                <a:solidFill>
                  <a:srgbClr val="070709"/>
                </a:solidFill>
                <a:latin typeface="Times New Roman" panose="02020603050405020304" pitchFamily="18" charset="0"/>
              </a:rPr>
              <a:t>-</a:t>
            </a:r>
            <a:endParaRPr lang="zh-CN" altLang="en-US" b="0" dirty="0">
              <a:solidFill>
                <a:srgbClr val="070709"/>
              </a:solidFill>
              <a:latin typeface="Times New Roman" panose="02020603050405020304" pitchFamily="18" charset="0"/>
            </a:endParaRPr>
          </a:p>
          <a:p>
            <a:pPr>
              <a:lnSpc>
                <a:spcPct val="75000"/>
              </a:lnSpc>
              <a:spcBef>
                <a:spcPct val="50000"/>
              </a:spcBef>
              <a:buSzPct val="90000"/>
            </a:pPr>
            <a:r>
              <a:rPr lang="en-US" altLang="zh-CN" b="0" i="1" dirty="0">
                <a:solidFill>
                  <a:srgbClr val="070709"/>
                </a:solidFill>
                <a:latin typeface="Times New Roman" panose="02020603050405020304" pitchFamily="18" charset="0"/>
              </a:rPr>
              <a:t>term</a:t>
            </a:r>
            <a:r>
              <a:rPr lang="zh-CN" altLang="en-US" b="0" i="1" dirty="0">
                <a:solidFill>
                  <a:srgbClr val="070709"/>
                </a:solidFill>
                <a:latin typeface="Times New Roman" panose="02020603050405020304" pitchFamily="18" charset="0"/>
              </a:rPr>
              <a:t>→</a:t>
            </a:r>
            <a:r>
              <a:rPr lang="en-US" altLang="zh-CN" b="0" i="1" dirty="0">
                <a:solidFill>
                  <a:srgbClr val="070709"/>
                </a:solidFill>
                <a:latin typeface="Times New Roman" panose="02020603050405020304" pitchFamily="18" charset="0"/>
              </a:rPr>
              <a:t>term </a:t>
            </a:r>
            <a:r>
              <a:rPr lang="en-US" altLang="zh-CN" b="0" i="1" dirty="0" err="1">
                <a:solidFill>
                  <a:srgbClr val="070709"/>
                </a:solidFill>
                <a:latin typeface="Times New Roman" panose="02020603050405020304" pitchFamily="18" charset="0"/>
              </a:rPr>
              <a:t>mulop</a:t>
            </a:r>
            <a:r>
              <a:rPr lang="en-US" altLang="zh-CN" b="0" i="1" dirty="0">
                <a:solidFill>
                  <a:srgbClr val="070709"/>
                </a:solidFill>
                <a:latin typeface="Times New Roman" panose="02020603050405020304" pitchFamily="18" charset="0"/>
              </a:rPr>
              <a:t> </a:t>
            </a:r>
            <a:r>
              <a:rPr lang="en-US" altLang="zh-CN" b="0" i="1" dirty="0" err="1">
                <a:solidFill>
                  <a:srgbClr val="070709"/>
                </a:solidFill>
                <a:latin typeface="Times New Roman" panose="02020603050405020304" pitchFamily="18" charset="0"/>
              </a:rPr>
              <a:t>factor|factor</a:t>
            </a:r>
            <a:endParaRPr lang="en-US" altLang="zh-CN" b="0" i="1" dirty="0">
              <a:solidFill>
                <a:srgbClr val="070709"/>
              </a:solidFill>
              <a:latin typeface="Times New Roman" panose="02020603050405020304" pitchFamily="18" charset="0"/>
            </a:endParaRPr>
          </a:p>
          <a:p>
            <a:pPr>
              <a:lnSpc>
                <a:spcPct val="75000"/>
              </a:lnSpc>
              <a:spcBef>
                <a:spcPct val="50000"/>
              </a:spcBef>
              <a:buSzPct val="90000"/>
            </a:pPr>
            <a:r>
              <a:rPr lang="en-US" altLang="zh-CN" b="0" i="1" dirty="0" err="1">
                <a:solidFill>
                  <a:srgbClr val="070709"/>
                </a:solidFill>
                <a:latin typeface="Times New Roman" panose="02020603050405020304" pitchFamily="18" charset="0"/>
              </a:rPr>
              <a:t>mulop</a:t>
            </a:r>
            <a:r>
              <a:rPr lang="zh-CN" altLang="en-US" b="0" i="1" dirty="0">
                <a:solidFill>
                  <a:srgbClr val="070709"/>
                </a:solidFill>
                <a:latin typeface="Times New Roman" panose="02020603050405020304" pitchFamily="18" charset="0"/>
              </a:rPr>
              <a:t>→</a:t>
            </a:r>
            <a:r>
              <a:rPr lang="zh-CN" altLang="en-US" b="0" dirty="0">
                <a:solidFill>
                  <a:srgbClr val="070709"/>
                </a:solidFill>
                <a:latin typeface="Times New Roman" panose="02020603050405020304" pitchFamily="18" charset="0"/>
              </a:rPr>
              <a:t>*</a:t>
            </a:r>
            <a:endParaRPr lang="zh-CN" altLang="en-US" b="0" dirty="0">
              <a:solidFill>
                <a:srgbClr val="070709"/>
              </a:solidFill>
              <a:latin typeface="Times New Roman" panose="02020603050405020304" pitchFamily="18" charset="0"/>
            </a:endParaRPr>
          </a:p>
          <a:p>
            <a:pPr>
              <a:lnSpc>
                <a:spcPct val="75000"/>
              </a:lnSpc>
              <a:spcBef>
                <a:spcPct val="50000"/>
              </a:spcBef>
              <a:buSzPct val="90000"/>
            </a:pPr>
            <a:r>
              <a:rPr lang="en-US" altLang="zh-CN" b="0" i="1" dirty="0">
                <a:solidFill>
                  <a:srgbClr val="070709"/>
                </a:solidFill>
                <a:latin typeface="Times New Roman" panose="02020603050405020304" pitchFamily="18" charset="0"/>
              </a:rPr>
              <a:t>factor</a:t>
            </a:r>
            <a:r>
              <a:rPr lang="zh-CN" altLang="en-US" b="0" i="1" dirty="0">
                <a:solidFill>
                  <a:srgbClr val="070709"/>
                </a:solidFill>
                <a:latin typeface="Times New Roman" panose="02020603050405020304" pitchFamily="18" charset="0"/>
              </a:rPr>
              <a:t>→(</a:t>
            </a:r>
            <a:r>
              <a:rPr lang="en-US" altLang="zh-CN" b="0" i="1" dirty="0">
                <a:solidFill>
                  <a:srgbClr val="070709"/>
                </a:solidFill>
                <a:latin typeface="Times New Roman" panose="02020603050405020304" pitchFamily="18" charset="0"/>
              </a:rPr>
              <a:t>exp)|</a:t>
            </a:r>
            <a:r>
              <a:rPr lang="en-US" altLang="zh-CN" b="0" dirty="0">
                <a:solidFill>
                  <a:srgbClr val="070709"/>
                </a:solidFill>
                <a:latin typeface="Times New Roman" panose="02020603050405020304" pitchFamily="18" charset="0"/>
              </a:rPr>
              <a:t>number</a:t>
            </a:r>
            <a:endParaRPr lang="en-US" altLang="zh-CN" b="0" dirty="0">
              <a:solidFill>
                <a:srgbClr val="070709"/>
              </a:solidFill>
              <a:latin typeface="Times New Roman" panose="02020603050405020304" pitchFamily="18" charset="0"/>
            </a:endParaRPr>
          </a:p>
        </p:txBody>
      </p:sp>
      <p:sp>
        <p:nvSpPr>
          <p:cNvPr id="9" name="AutoShape 7">
            <a:hlinkClick r:id="rId1" action="ppaction://hlinksldjump"/>
          </p:cNvPr>
          <p:cNvSpPr>
            <a:spLocks noChangeArrowheads="1"/>
          </p:cNvSpPr>
          <p:nvPr/>
        </p:nvSpPr>
        <p:spPr bwMode="auto">
          <a:xfrm>
            <a:off x="9143999" y="5747777"/>
            <a:ext cx="717459" cy="366151"/>
          </a:xfrm>
          <a:prstGeom prst="curvedUpArrow">
            <a:avLst>
              <a:gd name="adj1" fmla="val 32000"/>
              <a:gd name="adj2" fmla="val 64000"/>
              <a:gd name="adj3" fmla="val 33319"/>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2100" b="0">
              <a:solidFill>
                <a:schemeClr val="tx1"/>
              </a:solidFill>
            </a:endParaRPr>
          </a:p>
        </p:txBody>
      </p:sp>
      <p:sp>
        <p:nvSpPr>
          <p:cNvPr id="8" name="文本占位符 13"/>
          <p:cNvSpPr txBox="1"/>
          <p:nvPr/>
        </p:nvSpPr>
        <p:spPr>
          <a:xfrm>
            <a:off x="553085" y="4085590"/>
            <a:ext cx="8938895" cy="366395"/>
          </a:xfrm>
          <a:prstGeom prst="rect">
            <a:avLst/>
          </a:prstGeom>
        </p:spPr>
        <p:txBody>
          <a:bodyPr vert="horz" lIns="91440" tIns="45720" rIns="91440" bIns="45720" rtlCol="0"/>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80000"/>
              </a:lnSpc>
              <a:spcBef>
                <a:spcPct val="50000"/>
              </a:spcBef>
              <a:buSzPct val="90000"/>
              <a:buFont typeface="Wingdings" panose="05000000000000000000" charset="0"/>
              <a:buChar char="l"/>
            </a:pPr>
            <a:r>
              <a:rPr lang="zh-CN" altLang="en-US" sz="2000" dirty="0">
                <a:solidFill>
                  <a:srgbClr val="070709"/>
                </a:solidFill>
                <a:latin typeface="Times New Roman" panose="02020603050405020304" pitchFamily="18" charset="0"/>
              </a:rPr>
              <a:t>写出识别表达式</a:t>
            </a:r>
            <a:r>
              <a:rPr lang="en-US" altLang="zh-CN" sz="2000" dirty="0">
                <a:solidFill>
                  <a:srgbClr val="070709"/>
                </a:solidFill>
                <a:latin typeface="Times New Roman" panose="02020603050405020304" pitchFamily="18" charset="0"/>
              </a:rPr>
              <a:t>exp</a:t>
            </a:r>
            <a:r>
              <a:rPr lang="zh-CN" altLang="en-US" sz="2000" dirty="0">
                <a:solidFill>
                  <a:srgbClr val="070709"/>
                </a:solidFill>
                <a:latin typeface="Times New Roman" panose="02020603050405020304" pitchFamily="18" charset="0"/>
              </a:rPr>
              <a:t>的递归下降函数的伪代码？</a:t>
            </a:r>
            <a:endParaRPr lang="zh-CN" altLang="en-US" sz="2000" dirty="0">
              <a:solidFill>
                <a:srgbClr val="070709"/>
              </a:solidFill>
              <a:latin typeface="Times New Roman" panose="02020603050405020304" pitchFamily="18" charset="0"/>
            </a:endParaRPr>
          </a:p>
        </p:txBody>
      </p:sp>
      <p:sp>
        <p:nvSpPr>
          <p:cNvPr id="2" name="文本框 1"/>
          <p:cNvSpPr txBox="1"/>
          <p:nvPr/>
        </p:nvSpPr>
        <p:spPr>
          <a:xfrm>
            <a:off x="552450" y="4451985"/>
            <a:ext cx="9822180" cy="1014730"/>
          </a:xfrm>
          <a:prstGeom prst="rect">
            <a:avLst/>
          </a:prstGeom>
          <a:noFill/>
        </p:spPr>
        <p:txBody>
          <a:bodyPr wrap="square" rtlCol="0" anchor="t">
            <a:spAutoFit/>
          </a:bodyPr>
          <a:p>
            <a:pPr marL="342900" indent="-342900">
              <a:lnSpc>
                <a:spcPct val="150000"/>
              </a:lnSpc>
              <a:buFont typeface="Wingdings" panose="05000000000000000000" charset="0"/>
              <a:buChar char="l"/>
            </a:pPr>
            <a:r>
              <a:rPr lang="zh-CN" altLang="en-US" sz="2000" dirty="0">
                <a:sym typeface="+mn-ea"/>
              </a:rPr>
              <a:t>针对</a:t>
            </a:r>
            <a:r>
              <a:rPr lang="zh-CN" altLang="en-US" sz="2000" dirty="0">
                <a:sym typeface="+mn-ea"/>
                <a:hlinkClick r:id="rId2" action="ppaction://hlinkfile"/>
              </a:rPr>
              <a:t>ONNX神经网络模型语法定义及文法案例</a:t>
            </a:r>
            <a:r>
              <a:rPr lang="en-US" altLang="zh-CN" sz="2000" dirty="0">
                <a:sym typeface="+mn-ea"/>
                <a:hlinkClick r:id="rId2" action="ppaction://hlinkfile"/>
              </a:rPr>
              <a:t>.doc</a:t>
            </a:r>
            <a:r>
              <a:rPr lang="zh-CN" altLang="en-US" sz="2000" dirty="0">
                <a:sym typeface="+mn-ea"/>
                <a:hlinkClick r:id="rId2" action="ppaction://hlinkfile"/>
              </a:rPr>
              <a:t>，</a:t>
            </a:r>
            <a:r>
              <a:rPr lang="zh-CN" altLang="en-US" sz="2000" dirty="0">
                <a:sym typeface="+mn-ea"/>
              </a:rPr>
              <a:t>写出识别</a:t>
            </a:r>
            <a:r>
              <a:rPr lang="en-US" altLang="zh-CN" sz="2000" dirty="0">
                <a:sym typeface="+mn-ea"/>
              </a:rPr>
              <a:t>model</a:t>
            </a:r>
            <a:r>
              <a:rPr lang="zh-CN" altLang="en-US" sz="2000" dirty="0">
                <a:sym typeface="+mn-ea"/>
              </a:rPr>
              <a:t>的</a:t>
            </a:r>
            <a:r>
              <a:rPr lang="zh-CN" altLang="en-US" sz="2000" dirty="0">
                <a:solidFill>
                  <a:srgbClr val="070709"/>
                </a:solidFill>
                <a:latin typeface="Times New Roman" panose="02020603050405020304" pitchFamily="18" charset="0"/>
                <a:sym typeface="+mn-ea"/>
              </a:rPr>
              <a:t>递归下降函数的伪代码？</a:t>
            </a:r>
            <a:endParaRPr lang="zh-CN" altLang="en-US" sz="2000" dirty="0">
              <a:solidFill>
                <a:srgbClr val="070709"/>
              </a:solidFill>
              <a:latin typeface="Times New Roman" panose="02020603050405020304" pitchFamily="18" charset="0"/>
              <a:sym typeface="+mn-ea"/>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4"/>
          </p:nvPr>
        </p:nvSpPr>
        <p:spPr>
          <a:xfrm>
            <a:off x="485775" y="276860"/>
            <a:ext cx="6354445" cy="593090"/>
          </a:xfrm>
        </p:spPr>
        <p:txBody>
          <a:bodyPr>
            <a:normAutofit fontScale="92500"/>
          </a:bodyPr>
          <a:lstStyle/>
          <a:p>
            <a:r>
              <a:rPr lang="en-US" altLang="zh-CN" dirty="0"/>
              <a:t>4.2.3 </a:t>
            </a:r>
            <a:r>
              <a:rPr lang="zh-CN" altLang="en-US" dirty="0"/>
              <a:t>其他应该注意的问题</a:t>
            </a:r>
            <a:endParaRPr lang="zh-CN" altLang="en-US" dirty="0"/>
          </a:p>
        </p:txBody>
      </p:sp>
      <p:sp>
        <p:nvSpPr>
          <p:cNvPr id="3" name="文本占位符 2"/>
          <p:cNvSpPr>
            <a:spLocks noGrp="1"/>
          </p:cNvSpPr>
          <p:nvPr>
            <p:ph type="body" sz="quarter" idx="16"/>
          </p:nvPr>
        </p:nvSpPr>
        <p:spPr>
          <a:xfrm>
            <a:off x="363220" y="1033780"/>
            <a:ext cx="11567160" cy="5000625"/>
          </a:xfrm>
        </p:spPr>
        <p:txBody>
          <a:bodyPr>
            <a:noAutofit/>
          </a:bodyPr>
          <a:lstStyle/>
          <a:p>
            <a:pPr marL="0" indent="0">
              <a:lnSpc>
                <a:spcPct val="125000"/>
              </a:lnSpc>
              <a:spcBef>
                <a:spcPct val="0"/>
              </a:spcBef>
              <a:spcAft>
                <a:spcPts val="0"/>
              </a:spcAft>
              <a:buNone/>
            </a:pPr>
            <a:r>
              <a:rPr lang="en-US" altLang="zh-CN" sz="2800" dirty="0">
                <a:solidFill>
                  <a:srgbClr val="0070C0"/>
                </a:solidFill>
              </a:rPr>
              <a:t>(1) </a:t>
            </a:r>
            <a:r>
              <a:rPr lang="zh-CN" altLang="en-US" sz="2800" dirty="0">
                <a:solidFill>
                  <a:srgbClr val="0070C0"/>
                </a:solidFill>
              </a:rPr>
              <a:t>间接递归的文法</a:t>
            </a:r>
            <a:r>
              <a:rPr lang="en-US" altLang="zh-CN" sz="2800" dirty="0">
                <a:solidFill>
                  <a:srgbClr val="0070C0"/>
                </a:solidFill>
              </a:rPr>
              <a:t>(</a:t>
            </a:r>
            <a:r>
              <a:rPr lang="zh-CN" altLang="en-US" sz="2800" dirty="0">
                <a:solidFill>
                  <a:srgbClr val="0070C0"/>
                </a:solidFill>
              </a:rPr>
              <a:t>会导致死循环，要将文法进行相应处理</a:t>
            </a:r>
            <a:r>
              <a:rPr lang="en-US" altLang="zh-CN" sz="2800" dirty="0">
                <a:solidFill>
                  <a:srgbClr val="0070C0"/>
                </a:solidFill>
              </a:rPr>
              <a:t>): </a:t>
            </a:r>
            <a:endParaRPr lang="en-US" altLang="zh-CN" sz="2800" dirty="0">
              <a:solidFill>
                <a:srgbClr val="0070C0"/>
              </a:solidFill>
            </a:endParaRPr>
          </a:p>
          <a:p>
            <a:pPr lvl="1">
              <a:lnSpc>
                <a:spcPct val="125000"/>
              </a:lnSpc>
              <a:spcBef>
                <a:spcPct val="0"/>
              </a:spcBef>
              <a:spcAft>
                <a:spcPts val="0"/>
              </a:spcAft>
              <a:buFont typeface="Wingdings" panose="05000000000000000000" charset="0"/>
              <a:buChar char="p"/>
            </a:pPr>
            <a:r>
              <a:rPr lang="zh-CN" altLang="en-US" sz="2800" dirty="0">
                <a:solidFill>
                  <a:srgbClr val="050507"/>
                </a:solidFill>
              </a:rPr>
              <a:t>例如：文法</a:t>
            </a:r>
            <a:r>
              <a:rPr lang="en-US" altLang="zh-CN" sz="2800" dirty="0">
                <a:solidFill>
                  <a:srgbClr val="050507"/>
                </a:solidFill>
              </a:rPr>
              <a:t>G[S]:</a:t>
            </a:r>
            <a:r>
              <a:rPr lang="en-US" altLang="zh-CN" sz="2800" dirty="0" err="1">
                <a:solidFill>
                  <a:srgbClr val="050507"/>
                </a:solidFill>
                <a:sym typeface="Symbol" panose="05050102010706020507" pitchFamily="18" charset="2"/>
              </a:rPr>
              <a:t>SAb|c</a:t>
            </a:r>
            <a:r>
              <a:rPr lang="en-US" altLang="zh-CN" sz="2800" dirty="0">
                <a:solidFill>
                  <a:srgbClr val="050507"/>
                </a:solidFill>
                <a:sym typeface="Symbol" panose="05050102010706020507" pitchFamily="18" charset="2"/>
              </a:rPr>
              <a:t>  </a:t>
            </a:r>
            <a:r>
              <a:rPr lang="en-US" altLang="zh-CN" sz="2800" dirty="0" err="1">
                <a:solidFill>
                  <a:srgbClr val="050507"/>
                </a:solidFill>
                <a:sym typeface="Symbol" panose="05050102010706020507" pitchFamily="18" charset="2"/>
              </a:rPr>
              <a:t>ASa</a:t>
            </a:r>
            <a:r>
              <a:rPr lang="en-US" altLang="zh-CN" sz="2800" dirty="0">
                <a:solidFill>
                  <a:srgbClr val="050507"/>
                </a:solidFill>
                <a:sym typeface="Symbol" panose="05050102010706020507" pitchFamily="18" charset="2"/>
              </a:rPr>
              <a:t> </a:t>
            </a:r>
            <a:endParaRPr lang="en-US" altLang="zh-CN" sz="2800" dirty="0">
              <a:solidFill>
                <a:srgbClr val="050507"/>
              </a:solidFill>
              <a:sym typeface="Symbol" panose="05050102010706020507" pitchFamily="18" charset="2"/>
            </a:endParaRPr>
          </a:p>
          <a:p>
            <a:pPr lvl="1">
              <a:lnSpc>
                <a:spcPct val="125000"/>
              </a:lnSpc>
              <a:spcBef>
                <a:spcPct val="0"/>
              </a:spcBef>
              <a:spcAft>
                <a:spcPts val="0"/>
              </a:spcAft>
              <a:buFont typeface="Wingdings" panose="05000000000000000000" charset="0"/>
              <a:buChar char="p"/>
            </a:pPr>
            <a:r>
              <a:rPr lang="zh-CN" altLang="en-US" sz="2800" dirty="0">
                <a:solidFill>
                  <a:srgbClr val="050507"/>
                </a:solidFill>
              </a:rPr>
              <a:t>等价改造为</a:t>
            </a:r>
            <a:r>
              <a:rPr lang="en-US" altLang="zh-CN" sz="2800" dirty="0" err="1">
                <a:solidFill>
                  <a:srgbClr val="050507"/>
                </a:solidFill>
                <a:sym typeface="Symbol" panose="05050102010706020507" pitchFamily="18" charset="2"/>
              </a:rPr>
              <a:t>SSab|c</a:t>
            </a:r>
            <a:r>
              <a:rPr lang="en-US" altLang="zh-CN" sz="2800" dirty="0">
                <a:solidFill>
                  <a:srgbClr val="050507"/>
                </a:solidFill>
                <a:sym typeface="Symbol" panose="05050102010706020507" pitchFamily="18" charset="2"/>
              </a:rPr>
              <a:t> </a:t>
            </a:r>
            <a:r>
              <a:rPr lang="zh-CN" altLang="en-US" sz="2800" dirty="0">
                <a:solidFill>
                  <a:srgbClr val="050507"/>
                </a:solidFill>
              </a:rPr>
              <a:t>，进一步改造为：</a:t>
            </a:r>
            <a:r>
              <a:rPr lang="en-US" altLang="zh-CN" sz="2800" dirty="0">
                <a:solidFill>
                  <a:srgbClr val="050507"/>
                </a:solidFill>
                <a:sym typeface="Symbol" panose="05050102010706020507" pitchFamily="18" charset="2"/>
              </a:rPr>
              <a:t> S c{ab}</a:t>
            </a:r>
            <a:endParaRPr lang="en-US" altLang="zh-CN" sz="2800" dirty="0">
              <a:solidFill>
                <a:srgbClr val="050507"/>
              </a:solidFill>
              <a:sym typeface="Symbol" panose="05050102010706020507" pitchFamily="18" charset="2"/>
            </a:endParaRPr>
          </a:p>
          <a:p>
            <a:pPr marL="0" indent="0">
              <a:lnSpc>
                <a:spcPct val="125000"/>
              </a:lnSpc>
              <a:spcBef>
                <a:spcPts val="50"/>
              </a:spcBef>
              <a:spcAft>
                <a:spcPts val="0"/>
              </a:spcAft>
              <a:buClrTx/>
              <a:buSzPct val="90000"/>
              <a:buFont typeface="Wingdings" panose="05000000000000000000" pitchFamily="2" charset="2"/>
              <a:buNone/>
            </a:pPr>
            <a:r>
              <a:rPr sz="2800">
                <a:solidFill>
                  <a:srgbClr val="0070C0"/>
                </a:solidFill>
                <a:sym typeface="+mn-ea"/>
              </a:rPr>
              <a:t>(2)</a:t>
            </a:r>
            <a:r>
              <a:rPr lang="en-US" altLang="zh-CN" sz="2800">
                <a:solidFill>
                  <a:srgbClr val="0070C0"/>
                </a:solidFill>
                <a:sym typeface="+mn-ea"/>
              </a:rPr>
              <a:t> </a:t>
            </a:r>
            <a:r>
              <a:rPr sz="2800">
                <a:sym typeface="+mn-ea"/>
              </a:rPr>
              <a:t>对于两个或多个文法规则的选项</a:t>
            </a:r>
            <a:r>
              <a:rPr lang="en-US" altLang="zh-CN" sz="2800">
                <a:sym typeface="Symbol" panose="05050102010706020507" pitchFamily="18" charset="2"/>
              </a:rPr>
              <a:t>Aα|β|… </a:t>
            </a:r>
            <a:r>
              <a:rPr sz="2800">
                <a:sym typeface="+mn-ea"/>
              </a:rPr>
              <a:t>， 如果</a:t>
            </a:r>
            <a:r>
              <a:rPr lang="en-US" altLang="zh-CN" sz="2800">
                <a:sym typeface="Symbol" panose="05050102010706020507" pitchFamily="18" charset="2"/>
              </a:rPr>
              <a:t>α</a:t>
            </a:r>
            <a:r>
              <a:rPr sz="2800">
                <a:sym typeface="+mn-ea"/>
              </a:rPr>
              <a:t>和</a:t>
            </a:r>
            <a:r>
              <a:rPr lang="en-US" altLang="zh-CN" sz="2800">
                <a:sym typeface="Symbol" panose="05050102010706020507" pitchFamily="18" charset="2"/>
              </a:rPr>
              <a:t>β</a:t>
            </a:r>
            <a:r>
              <a:rPr sz="2800">
                <a:sym typeface="+mn-ea"/>
              </a:rPr>
              <a:t>均以非终结符开始，就很难决定何时使用</a:t>
            </a:r>
            <a:r>
              <a:rPr lang="en-US" altLang="zh-CN" sz="2800">
                <a:sym typeface="+mn-ea"/>
              </a:rPr>
              <a:t>A→</a:t>
            </a:r>
            <a:r>
              <a:rPr lang="en-US" altLang="zh-CN" sz="2800">
                <a:sym typeface="Symbol" panose="05050102010706020507" pitchFamily="18" charset="2"/>
              </a:rPr>
              <a:t>α</a:t>
            </a:r>
            <a:r>
              <a:rPr sz="2800">
                <a:sym typeface="+mn-ea"/>
              </a:rPr>
              <a:t>选项，何时又使用</a:t>
            </a:r>
            <a:r>
              <a:rPr lang="en-US" altLang="zh-CN" sz="2800">
                <a:sym typeface="+mn-ea"/>
              </a:rPr>
              <a:t>A→</a:t>
            </a:r>
            <a:r>
              <a:rPr lang="en-US" altLang="zh-CN" sz="2800">
                <a:sym typeface="Symbol" panose="05050102010706020507" pitchFamily="18" charset="2"/>
              </a:rPr>
              <a:t>β</a:t>
            </a:r>
            <a:r>
              <a:rPr sz="2800">
                <a:sym typeface="+mn-ea"/>
              </a:rPr>
              <a:t>选项，递归下降分析程序就存在回溯。</a:t>
            </a:r>
            <a:endParaRPr lang="zh-CN" altLang="en-US" sz="2800" dirty="0"/>
          </a:p>
          <a:p>
            <a:pPr marL="914400" lvl="1" indent="-443230">
              <a:lnSpc>
                <a:spcPct val="125000"/>
              </a:lnSpc>
              <a:spcBef>
                <a:spcPts val="50"/>
              </a:spcBef>
              <a:spcAft>
                <a:spcPts val="0"/>
              </a:spcAft>
              <a:buClrTx/>
              <a:buSzPct val="90000"/>
              <a:buFont typeface="Wingdings" panose="05000000000000000000" pitchFamily="2" charset="2"/>
              <a:buChar char="p"/>
            </a:pPr>
            <a:r>
              <a:rPr sz="2800">
                <a:sym typeface="+mn-ea"/>
              </a:rPr>
              <a:t>计算</a:t>
            </a:r>
            <a:r>
              <a:rPr lang="en-US" altLang="zh-CN" sz="2800">
                <a:sym typeface="Symbol" panose="05050102010706020507" pitchFamily="18" charset="2"/>
              </a:rPr>
              <a:t>α</a:t>
            </a:r>
            <a:r>
              <a:rPr sz="2800">
                <a:sym typeface="+mn-ea"/>
              </a:rPr>
              <a:t>和</a:t>
            </a:r>
            <a:r>
              <a:rPr lang="en-US" altLang="zh-CN" sz="2800">
                <a:sym typeface="Symbol" panose="05050102010706020507" pitchFamily="18" charset="2"/>
              </a:rPr>
              <a:t>β</a:t>
            </a:r>
            <a:r>
              <a:rPr sz="2800">
                <a:sym typeface="+mn-ea"/>
              </a:rPr>
              <a:t>的</a:t>
            </a:r>
            <a:r>
              <a:rPr lang="en-US" altLang="zh-CN" sz="2800">
                <a:sym typeface="+mn-ea"/>
              </a:rPr>
              <a:t>First</a:t>
            </a:r>
            <a:r>
              <a:rPr sz="2800">
                <a:sym typeface="+mn-ea"/>
              </a:rPr>
              <a:t>集合（见</a:t>
            </a:r>
            <a:r>
              <a:rPr lang="en-US" altLang="zh-CN" sz="2800">
                <a:sym typeface="+mn-ea"/>
              </a:rPr>
              <a:t>LL(1)</a:t>
            </a:r>
            <a:r>
              <a:rPr sz="2800">
                <a:sym typeface="+mn-ea"/>
              </a:rPr>
              <a:t>分析方法给出的</a:t>
            </a:r>
            <a:r>
              <a:rPr lang="en-US" altLang="zh-CN" sz="2800">
                <a:sym typeface="+mn-ea"/>
              </a:rPr>
              <a:t>First</a:t>
            </a:r>
            <a:r>
              <a:rPr sz="2800">
                <a:sym typeface="+mn-ea"/>
              </a:rPr>
              <a:t>集合定义和求解方法）。</a:t>
            </a:r>
            <a:endParaRPr lang="zh-CN" altLang="en-US" sz="2800" dirty="0"/>
          </a:p>
          <a:p>
            <a:pPr lvl="1">
              <a:lnSpc>
                <a:spcPct val="125000"/>
              </a:lnSpc>
              <a:spcBef>
                <a:spcPct val="0"/>
              </a:spcBef>
              <a:spcAft>
                <a:spcPts val="0"/>
              </a:spcAft>
              <a:buFont typeface="Wingdings" panose="05000000000000000000" charset="0"/>
              <a:buChar char="p"/>
            </a:pPr>
            <a:endParaRPr lang="en-US" altLang="zh-CN" sz="2800" dirty="0">
              <a:solidFill>
                <a:srgbClr val="050507"/>
              </a:solidFill>
              <a:sym typeface="Symbol" panose="05050102010706020507" pitchFamily="18" charset="2"/>
            </a:endParaRPr>
          </a:p>
        </p:txBody>
      </p:sp>
      <p:sp>
        <p:nvSpPr>
          <p:cNvPr id="2" name="文本占位符 2"/>
          <p:cNvSpPr>
            <a:spLocks noGrp="1"/>
          </p:cNvSpPr>
          <p:nvPr/>
        </p:nvSpPr>
        <p:spPr>
          <a:xfrm>
            <a:off x="412750" y="3383280"/>
            <a:ext cx="11243945" cy="37217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spcBef>
                <a:spcPts val="50"/>
              </a:spcBef>
              <a:spcAft>
                <a:spcPts val="0"/>
              </a:spcAft>
              <a:buClrTx/>
              <a:buSzPct val="90000"/>
              <a:buFont typeface="Wingdings" panose="05000000000000000000" pitchFamily="2" charset="2"/>
              <a:buNone/>
            </a:pPr>
            <a:endParaRPr lang="zh-CN" altLang="en-US" sz="2800" dirty="0"/>
          </a:p>
        </p:txBody>
      </p:sp>
      <p:sp>
        <p:nvSpPr>
          <p:cNvPr id="4" name="灯片编号占位符 3"/>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4"/>
          </p:nvPr>
        </p:nvSpPr>
        <p:spPr>
          <a:xfrm>
            <a:off x="428625" y="276860"/>
            <a:ext cx="6895465" cy="593090"/>
          </a:xfrm>
        </p:spPr>
        <p:txBody>
          <a:bodyPr>
            <a:normAutofit fontScale="95000"/>
          </a:bodyPr>
          <a:lstStyle/>
          <a:p>
            <a:r>
              <a:rPr lang="en-US" altLang="zh-CN" dirty="0"/>
              <a:t>4.2.3 </a:t>
            </a:r>
            <a:r>
              <a:rPr lang="zh-CN" altLang="en-US" dirty="0"/>
              <a:t>其他应该注意的问题（续）</a:t>
            </a:r>
            <a:endParaRPr lang="zh-CN" altLang="en-US" dirty="0"/>
          </a:p>
        </p:txBody>
      </p:sp>
      <p:pic>
        <p:nvPicPr>
          <p:cNvPr id="6"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71110" y="1297305"/>
            <a:ext cx="672655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文本框 3"/>
          <p:cNvSpPr txBox="1"/>
          <p:nvPr/>
        </p:nvSpPr>
        <p:spPr>
          <a:xfrm>
            <a:off x="553085" y="1297305"/>
            <a:ext cx="3805555" cy="2553335"/>
          </a:xfrm>
          <a:prstGeom prst="rect">
            <a:avLst/>
          </a:prstGeom>
          <a:noFill/>
        </p:spPr>
        <p:txBody>
          <a:bodyPr wrap="square" rtlCol="0" anchor="t">
            <a:spAutoFit/>
          </a:bodyPr>
          <a:p>
            <a:pPr indent="0" fontAlgn="auto">
              <a:lnSpc>
                <a:spcPct val="125000"/>
              </a:lnSpc>
            </a:pPr>
            <a:r>
              <a:rPr lang="zh-CN" altLang="en-US" sz="3200" b="1">
                <a:latin typeface="等线 Light" panose="02010600030101010101" charset="-122"/>
                <a:ea typeface="等线 Light" panose="02010600030101010101" charset="-122"/>
                <a:cs typeface="等线 Light" panose="02010600030101010101" charset="-122"/>
              </a:rPr>
              <a:t>Clang 通过重写语法规则和有限预读来解决递归下降解析中的问题。</a:t>
            </a:r>
            <a:endParaRPr lang="en-US" altLang="zh-CN" sz="3200" b="1">
              <a:latin typeface="等线 Light" panose="02010600030101010101" charset="-122"/>
              <a:ea typeface="等线 Light" panose="02010600030101010101" charset="-122"/>
              <a:cs typeface="等线 Light" panose="0201060003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4"/>
          </p:nvPr>
        </p:nvSpPr>
        <p:spPr>
          <a:xfrm>
            <a:off x="499745" y="276860"/>
            <a:ext cx="6824345" cy="593090"/>
          </a:xfrm>
        </p:spPr>
        <p:txBody>
          <a:bodyPr>
            <a:normAutofit fontScale="95000"/>
          </a:bodyPr>
          <a:lstStyle/>
          <a:p>
            <a:r>
              <a:rPr lang="en-US" altLang="zh-CN" dirty="0"/>
              <a:t>4.2.3 </a:t>
            </a:r>
            <a:r>
              <a:rPr lang="zh-CN" altLang="en-US" dirty="0"/>
              <a:t>其他应该注意的问题（续）</a:t>
            </a:r>
            <a:endParaRPr lang="zh-CN" altLang="en-US" dirty="0"/>
          </a:p>
        </p:txBody>
      </p:sp>
      <p:sp>
        <p:nvSpPr>
          <p:cNvPr id="3" name="文本占位符 2"/>
          <p:cNvSpPr>
            <a:spLocks noGrp="1"/>
          </p:cNvSpPr>
          <p:nvPr>
            <p:ph type="body" sz="quarter" idx="16"/>
          </p:nvPr>
        </p:nvSpPr>
        <p:spPr>
          <a:xfrm>
            <a:off x="492760" y="1362636"/>
            <a:ext cx="2776631" cy="457199"/>
          </a:xfrm>
        </p:spPr>
        <p:txBody>
          <a:bodyPr>
            <a:normAutofit/>
          </a:bodyPr>
          <a:lstStyle/>
          <a:p>
            <a:pPr>
              <a:spcBef>
                <a:spcPct val="50000"/>
              </a:spcBef>
              <a:buClrTx/>
              <a:buSzPct val="90000"/>
            </a:pPr>
            <a:r>
              <a:rPr lang="en-US" altLang="zh-CN" dirty="0"/>
              <a:t>G[S]</a:t>
            </a:r>
            <a:endParaRPr lang="en-US" altLang="zh-CN" dirty="0"/>
          </a:p>
        </p:txBody>
      </p:sp>
      <p:sp>
        <p:nvSpPr>
          <p:cNvPr id="2" name="矩形 1"/>
          <p:cNvSpPr/>
          <p:nvPr/>
        </p:nvSpPr>
        <p:spPr>
          <a:xfrm>
            <a:off x="3299460" y="1022985"/>
            <a:ext cx="5593080" cy="4554220"/>
          </a:xfrm>
          <a:prstGeom prst="rect">
            <a:avLst/>
          </a:prstGeom>
        </p:spPr>
        <p:txBody>
          <a:bodyPr wrap="square">
            <a:spAutoFit/>
          </a:bodyPr>
          <a:lstStyle/>
          <a:p>
            <a:pPr eaLnBrk="0" hangingPunct="0"/>
            <a:endParaRPr lang="en-US" altLang="zh-CN" sz="2000" b="1" dirty="0">
              <a:latin typeface="Consolas" panose="020B0609020204030204" pitchFamily="49" charset="0"/>
            </a:endParaRPr>
          </a:p>
          <a:p>
            <a:pPr eaLnBrk="0" hangingPunct="0">
              <a:lnSpc>
                <a:spcPct val="150000"/>
              </a:lnSpc>
            </a:pPr>
            <a:r>
              <a:rPr lang="en-US" altLang="zh-CN" sz="2000" b="1" dirty="0">
                <a:latin typeface="Consolas" panose="020B0609020204030204" pitchFamily="49" charset="0"/>
              </a:rPr>
              <a:t>S( ){</a:t>
            </a:r>
            <a:endParaRPr lang="en-US" altLang="zh-CN" sz="2000" b="1" dirty="0">
              <a:latin typeface="Consolas" panose="020B0609020204030204" pitchFamily="49" charset="0"/>
            </a:endParaRPr>
          </a:p>
          <a:p>
            <a:pPr eaLnBrk="0" hangingPunct="0">
              <a:lnSpc>
                <a:spcPct val="150000"/>
              </a:lnSpc>
            </a:pPr>
            <a:r>
              <a:rPr lang="en-US" altLang="zh-CN" sz="2000" b="1" dirty="0">
                <a:latin typeface="Consolas" panose="020B0609020204030204" pitchFamily="49" charset="0"/>
              </a:rPr>
              <a:t>   if </a:t>
            </a:r>
            <a:r>
              <a:rPr lang="en-US" altLang="zh-CN" sz="2000" b="1" dirty="0" err="1">
                <a:latin typeface="Consolas" panose="020B0609020204030204" pitchFamily="49" charset="0"/>
              </a:rPr>
              <a:t>currentToken</a:t>
            </a:r>
            <a:r>
              <a:rPr lang="zh-CN" altLang="en-US" sz="2000" b="1" dirty="0">
                <a:latin typeface="Consolas" panose="020B0609020204030204" pitchFamily="49" charset="0"/>
              </a:rPr>
              <a:t>属于</a:t>
            </a:r>
            <a:r>
              <a:rPr lang="en-US" altLang="zh-CN" sz="2000" b="1" dirty="0">
                <a:latin typeface="Consolas" panose="020B0609020204030204" pitchFamily="49" charset="0"/>
              </a:rPr>
              <a:t>First</a:t>
            </a:r>
            <a:r>
              <a:rPr lang="zh-CN" altLang="en-US" sz="2000" b="1" dirty="0">
                <a:latin typeface="Consolas" panose="020B0609020204030204" pitchFamily="49" charset="0"/>
              </a:rPr>
              <a:t>（</a:t>
            </a:r>
            <a:r>
              <a:rPr lang="en-US" altLang="zh-CN" sz="2000" b="1" dirty="0">
                <a:latin typeface="Consolas" panose="020B0609020204030204" pitchFamily="49" charset="0"/>
              </a:rPr>
              <a:t>A</a:t>
            </a:r>
            <a:r>
              <a:rPr lang="zh-CN" altLang="en-US" sz="2000" b="1" dirty="0">
                <a:latin typeface="Consolas" panose="020B0609020204030204" pitchFamily="49" charset="0"/>
              </a:rPr>
              <a:t>）</a:t>
            </a:r>
            <a:r>
              <a:rPr lang="en-US" altLang="zh-CN" sz="2000" b="1" dirty="0">
                <a:latin typeface="Consolas" panose="020B0609020204030204" pitchFamily="49" charset="0"/>
              </a:rPr>
              <a:t>{</a:t>
            </a:r>
            <a:endParaRPr lang="en-US" altLang="zh-CN" sz="2000" b="1" dirty="0">
              <a:latin typeface="Consolas" panose="020B0609020204030204" pitchFamily="49" charset="0"/>
            </a:endParaRPr>
          </a:p>
          <a:p>
            <a:pPr eaLnBrk="0" hangingPunct="0">
              <a:lnSpc>
                <a:spcPct val="150000"/>
              </a:lnSpc>
            </a:pPr>
            <a:r>
              <a:rPr lang="en-US" altLang="zh-CN" sz="2000" b="1" dirty="0">
                <a:latin typeface="Consolas" panose="020B0609020204030204" pitchFamily="49" charset="0"/>
              </a:rPr>
              <a:t>		A</a:t>
            </a:r>
            <a:r>
              <a:rPr lang="zh-CN" altLang="en-US" sz="2000" b="1" dirty="0">
                <a:latin typeface="Consolas" panose="020B0609020204030204" pitchFamily="49" charset="0"/>
              </a:rPr>
              <a:t>（）；</a:t>
            </a:r>
            <a:endParaRPr lang="zh-CN" altLang="en-US" sz="2000" b="1" dirty="0">
              <a:latin typeface="Consolas" panose="020B0609020204030204" pitchFamily="49" charset="0"/>
            </a:endParaRPr>
          </a:p>
          <a:p>
            <a:pPr eaLnBrk="0" hangingPunct="0">
              <a:lnSpc>
                <a:spcPct val="150000"/>
              </a:lnSpc>
            </a:pPr>
            <a:r>
              <a:rPr lang="zh-CN" altLang="en-US" sz="2000" b="1" dirty="0">
                <a:latin typeface="Consolas" panose="020B0609020204030204" pitchFamily="49" charset="0"/>
              </a:rPr>
              <a:t>       </a:t>
            </a:r>
            <a:r>
              <a:rPr lang="en-US" altLang="zh-CN" sz="2000" b="1" dirty="0">
                <a:latin typeface="Consolas" panose="020B0609020204030204" pitchFamily="49" charset="0"/>
              </a:rPr>
              <a:t>match(b);</a:t>
            </a:r>
            <a:endParaRPr lang="en-US" altLang="zh-CN" sz="2000" b="1" dirty="0">
              <a:latin typeface="Consolas" panose="020B0609020204030204" pitchFamily="49" charset="0"/>
            </a:endParaRPr>
          </a:p>
          <a:p>
            <a:pPr eaLnBrk="0" hangingPunct="0">
              <a:lnSpc>
                <a:spcPct val="150000"/>
              </a:lnSpc>
            </a:pPr>
            <a:r>
              <a:rPr lang="en-US" altLang="zh-CN" sz="2000" b="1" dirty="0">
                <a:latin typeface="Consolas" panose="020B0609020204030204" pitchFamily="49" charset="0"/>
              </a:rPr>
              <a:t>   } else {</a:t>
            </a:r>
            <a:endParaRPr lang="en-US" altLang="zh-CN" sz="2000" b="1" dirty="0">
              <a:latin typeface="Consolas" panose="020B0609020204030204" pitchFamily="49" charset="0"/>
            </a:endParaRPr>
          </a:p>
          <a:p>
            <a:pPr eaLnBrk="0" hangingPunct="0">
              <a:lnSpc>
                <a:spcPct val="150000"/>
              </a:lnSpc>
            </a:pPr>
            <a:r>
              <a:rPr lang="en-US" altLang="zh-CN" sz="2000" b="1" dirty="0">
                <a:latin typeface="Consolas" panose="020B0609020204030204" pitchFamily="49" charset="0"/>
              </a:rPr>
              <a:t>        B();</a:t>
            </a:r>
            <a:endParaRPr lang="en-US" altLang="zh-CN" sz="2000" b="1" dirty="0">
              <a:latin typeface="Consolas" panose="020B0609020204030204" pitchFamily="49" charset="0"/>
            </a:endParaRPr>
          </a:p>
          <a:p>
            <a:pPr eaLnBrk="0" hangingPunct="0">
              <a:lnSpc>
                <a:spcPct val="150000"/>
              </a:lnSpc>
            </a:pPr>
            <a:r>
              <a:rPr lang="en-US" altLang="zh-CN" sz="2000" b="1" dirty="0">
                <a:latin typeface="Consolas" panose="020B0609020204030204" pitchFamily="49" charset="0"/>
              </a:rPr>
              <a:t>        match(c);</a:t>
            </a:r>
            <a:endParaRPr lang="en-US" altLang="zh-CN" sz="2000" b="1" dirty="0">
              <a:latin typeface="Consolas" panose="020B0609020204030204" pitchFamily="49" charset="0"/>
            </a:endParaRPr>
          </a:p>
          <a:p>
            <a:pPr eaLnBrk="0" hangingPunct="0">
              <a:lnSpc>
                <a:spcPct val="150000"/>
              </a:lnSpc>
            </a:pPr>
            <a:r>
              <a:rPr lang="en-US" altLang="zh-CN" sz="2000" b="1" dirty="0">
                <a:latin typeface="Consolas" panose="020B0609020204030204" pitchFamily="49" charset="0"/>
              </a:rPr>
              <a:t>   } </a:t>
            </a:r>
            <a:endParaRPr lang="en-US" altLang="zh-CN" sz="2000" b="1" dirty="0">
              <a:latin typeface="Consolas" panose="020B0609020204030204" pitchFamily="49" charset="0"/>
            </a:endParaRPr>
          </a:p>
          <a:p>
            <a:pPr eaLnBrk="0" hangingPunct="0">
              <a:lnSpc>
                <a:spcPct val="150000"/>
              </a:lnSpc>
            </a:pPr>
            <a:r>
              <a:rPr lang="en-US" altLang="zh-CN" sz="2000" b="1" dirty="0">
                <a:latin typeface="Consolas" panose="020B0609020204030204" pitchFamily="49" charset="0"/>
              </a:rPr>
              <a:t>}</a:t>
            </a:r>
            <a:endParaRPr lang="en-US" altLang="zh-CN" sz="2000" b="1" dirty="0">
              <a:latin typeface="Consolas" panose="020B0609020204030204" pitchFamily="49" charset="0"/>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2812" y="1933295"/>
            <a:ext cx="2676525"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 name="矩形 3"/>
          <p:cNvSpPr/>
          <p:nvPr/>
        </p:nvSpPr>
        <p:spPr>
          <a:xfrm>
            <a:off x="682625" y="1971675"/>
            <a:ext cx="2183765" cy="500380"/>
          </a:xfrm>
          <a:prstGeom prst="rect">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灯片编号占位符 6"/>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4"/>
          </p:nvPr>
        </p:nvSpPr>
        <p:spPr>
          <a:xfrm>
            <a:off x="500380" y="276860"/>
            <a:ext cx="6823710" cy="593090"/>
          </a:xfrm>
        </p:spPr>
        <p:txBody>
          <a:bodyPr>
            <a:normAutofit lnSpcReduction="20000"/>
          </a:bodyPr>
          <a:lstStyle/>
          <a:p>
            <a:r>
              <a:rPr lang="en-US" altLang="zh-CN" dirty="0"/>
              <a:t>4.2.4 </a:t>
            </a:r>
            <a:r>
              <a:rPr lang="zh-CN" altLang="en-US" dirty="0"/>
              <a:t>分析树与抽象语法树</a:t>
            </a:r>
            <a:endParaRPr lang="zh-CN" altLang="en-US" dirty="0"/>
          </a:p>
        </p:txBody>
      </p:sp>
      <p:sp>
        <p:nvSpPr>
          <p:cNvPr id="9" name="文本占位符 2"/>
          <p:cNvSpPr txBox="1"/>
          <p:nvPr/>
        </p:nvSpPr>
        <p:spPr>
          <a:xfrm>
            <a:off x="883285" y="1437640"/>
            <a:ext cx="9067800" cy="14255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spcBef>
                <a:spcPct val="50000"/>
              </a:spcBef>
              <a:buSzPct val="90000"/>
              <a:buFont typeface="Wingdings" panose="05000000000000000000" pitchFamily="2" charset="2"/>
              <a:buNone/>
            </a:pPr>
            <a:r>
              <a:rPr lang="zh-CN" altLang="en-US" sz="2800" dirty="0">
                <a:solidFill>
                  <a:srgbClr val="070709"/>
                </a:solidFill>
              </a:rPr>
              <a:t>简单整型算术表达式文法：</a:t>
            </a:r>
            <a:endParaRPr lang="zh-CN" altLang="en-US" sz="2800" dirty="0">
              <a:solidFill>
                <a:srgbClr val="070709"/>
              </a:solidFill>
            </a:endParaRPr>
          </a:p>
          <a:p>
            <a:pPr>
              <a:lnSpc>
                <a:spcPct val="70000"/>
              </a:lnSpc>
              <a:spcBef>
                <a:spcPct val="50000"/>
              </a:spcBef>
              <a:buSzPct val="90000"/>
              <a:buFont typeface="Wingdings" panose="05000000000000000000" pitchFamily="2" charset="2"/>
              <a:buNone/>
            </a:pPr>
            <a:r>
              <a:rPr lang="en-US" altLang="zh-CN" sz="2800" b="0" i="1" dirty="0">
                <a:solidFill>
                  <a:srgbClr val="070709"/>
                </a:solidFill>
              </a:rPr>
              <a:t>exp </a:t>
            </a:r>
            <a:r>
              <a:rPr lang="zh-CN" altLang="en-US" sz="2800" b="0" dirty="0">
                <a:solidFill>
                  <a:srgbClr val="070709"/>
                </a:solidFill>
              </a:rPr>
              <a:t>→</a:t>
            </a:r>
            <a:r>
              <a:rPr lang="en-US" altLang="zh-CN" sz="2800" b="0" i="1" dirty="0">
                <a:solidFill>
                  <a:srgbClr val="070709"/>
                </a:solidFill>
              </a:rPr>
              <a:t> exp op exp</a:t>
            </a:r>
            <a:r>
              <a:rPr lang="en-US" altLang="zh-CN" sz="2800" b="0" dirty="0">
                <a:solidFill>
                  <a:srgbClr val="070709"/>
                </a:solidFill>
              </a:rPr>
              <a:t>|</a:t>
            </a:r>
            <a:r>
              <a:rPr lang="en-US" altLang="zh-CN" sz="2800" b="0" dirty="0">
                <a:solidFill>
                  <a:srgbClr val="FF0066"/>
                </a:solidFill>
              </a:rPr>
              <a:t>(</a:t>
            </a:r>
            <a:r>
              <a:rPr lang="en-US" altLang="zh-CN" sz="2800" b="0" i="1" dirty="0">
                <a:solidFill>
                  <a:srgbClr val="070709"/>
                </a:solidFill>
              </a:rPr>
              <a:t>exp</a:t>
            </a:r>
            <a:r>
              <a:rPr lang="en-US" altLang="zh-CN" sz="2800" b="0" dirty="0">
                <a:solidFill>
                  <a:srgbClr val="FF0066"/>
                </a:solidFill>
              </a:rPr>
              <a:t>)</a:t>
            </a:r>
            <a:r>
              <a:rPr lang="en-US" altLang="zh-CN" sz="2800" b="0" dirty="0">
                <a:solidFill>
                  <a:srgbClr val="070709"/>
                </a:solidFill>
              </a:rPr>
              <a:t>|</a:t>
            </a:r>
            <a:r>
              <a:rPr lang="en-US" altLang="zh-CN" sz="2800" b="0" dirty="0">
                <a:solidFill>
                  <a:srgbClr val="FF0066"/>
                </a:solidFill>
              </a:rPr>
              <a:t>number</a:t>
            </a:r>
            <a:endParaRPr lang="en-US" altLang="zh-CN" sz="2800" b="0" dirty="0">
              <a:solidFill>
                <a:srgbClr val="FF0066"/>
              </a:solidFill>
            </a:endParaRPr>
          </a:p>
          <a:p>
            <a:pPr>
              <a:lnSpc>
                <a:spcPct val="70000"/>
              </a:lnSpc>
              <a:spcBef>
                <a:spcPct val="50000"/>
              </a:spcBef>
              <a:buSzPct val="90000"/>
              <a:buFont typeface="Wingdings" panose="05000000000000000000" pitchFamily="2" charset="2"/>
              <a:buNone/>
            </a:pPr>
            <a:r>
              <a:rPr lang="en-US" altLang="zh-CN" sz="2800" b="0" i="1" dirty="0">
                <a:solidFill>
                  <a:srgbClr val="070709"/>
                </a:solidFill>
              </a:rPr>
              <a:t>op </a:t>
            </a:r>
            <a:r>
              <a:rPr lang="zh-CN" altLang="en-US" sz="2800" b="0" dirty="0">
                <a:solidFill>
                  <a:srgbClr val="070709"/>
                </a:solidFill>
              </a:rPr>
              <a:t>→</a:t>
            </a:r>
            <a:r>
              <a:rPr lang="en-US" altLang="zh-CN" sz="2800" b="0" dirty="0">
                <a:solidFill>
                  <a:srgbClr val="070709"/>
                </a:solidFill>
              </a:rPr>
              <a:t> </a:t>
            </a:r>
            <a:r>
              <a:rPr lang="en-US" altLang="zh-CN" sz="2800" b="0" dirty="0">
                <a:solidFill>
                  <a:srgbClr val="FF0066"/>
                </a:solidFill>
              </a:rPr>
              <a:t>+</a:t>
            </a:r>
            <a:r>
              <a:rPr lang="en-US" altLang="zh-CN" sz="2800" b="0" dirty="0">
                <a:solidFill>
                  <a:srgbClr val="070709"/>
                </a:solidFill>
              </a:rPr>
              <a:t>|</a:t>
            </a:r>
            <a:r>
              <a:rPr lang="en-US" altLang="zh-CN" sz="2800" b="0" dirty="0">
                <a:solidFill>
                  <a:srgbClr val="FF0066"/>
                </a:solidFill>
              </a:rPr>
              <a:t>-</a:t>
            </a:r>
            <a:r>
              <a:rPr lang="en-US" altLang="zh-CN" sz="2800" b="0" dirty="0">
                <a:solidFill>
                  <a:srgbClr val="070709"/>
                </a:solidFill>
              </a:rPr>
              <a:t>|</a:t>
            </a:r>
            <a:r>
              <a:rPr lang="en-US" altLang="zh-CN" sz="2800" b="0" dirty="0">
                <a:solidFill>
                  <a:srgbClr val="FF0066"/>
                </a:solidFill>
              </a:rPr>
              <a:t>*</a:t>
            </a:r>
            <a:endParaRPr lang="en-US" altLang="zh-CN" sz="2800" b="0" dirty="0">
              <a:solidFill>
                <a:srgbClr val="FF0066"/>
              </a:solidFill>
            </a:endParaRPr>
          </a:p>
        </p:txBody>
      </p:sp>
      <p:sp>
        <p:nvSpPr>
          <p:cNvPr id="5" name="Rectangle 3"/>
          <p:cNvSpPr>
            <a:spLocks noChangeArrowheads="1"/>
          </p:cNvSpPr>
          <p:nvPr/>
        </p:nvSpPr>
        <p:spPr bwMode="auto">
          <a:xfrm>
            <a:off x="463550" y="3060700"/>
            <a:ext cx="508698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50000"/>
              </a:spcBef>
              <a:buClr>
                <a:schemeClr val="bg1"/>
              </a:buClr>
              <a:buFont typeface="Wingdings" panose="05000000000000000000" pitchFamily="2" charset="2"/>
              <a:buNone/>
            </a:pPr>
            <a:r>
              <a:rPr lang="zh-CN" altLang="en-US" sz="2800" dirty="0">
                <a:solidFill>
                  <a:srgbClr val="FF3399"/>
                </a:solidFill>
                <a:latin typeface="+mn-ea"/>
                <a:ea typeface="+mn-ea"/>
              </a:rPr>
              <a:t>抽象语法树结构</a:t>
            </a:r>
            <a:r>
              <a:rPr lang="zh-CN" altLang="en-US" sz="2800" dirty="0">
                <a:solidFill>
                  <a:srgbClr val="FF3399"/>
                </a:solidFill>
                <a:latin typeface="+mn-ea"/>
                <a:ea typeface="+mn-ea"/>
              </a:rPr>
              <a:t>设计</a:t>
            </a:r>
            <a:endParaRPr lang="zh-CN" altLang="en-US" sz="2800" dirty="0">
              <a:solidFill>
                <a:srgbClr val="FF3399"/>
              </a:solidFill>
              <a:latin typeface="+mn-ea"/>
              <a:ea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3" name="Group 17"/>
          <p:cNvGrpSpPr/>
          <p:nvPr/>
        </p:nvGrpSpPr>
        <p:grpSpPr bwMode="auto">
          <a:xfrm>
            <a:off x="4215241" y="3514912"/>
            <a:ext cx="2176463" cy="1616075"/>
            <a:chOff x="3362" y="1126"/>
            <a:chExt cx="1371" cy="1018"/>
          </a:xfrm>
        </p:grpSpPr>
        <p:sp useBgFill="1">
          <p:nvSpPr>
            <p:cNvPr id="6" name="Rectangle 4"/>
            <p:cNvSpPr>
              <a:spLocks noChangeArrowheads="1"/>
            </p:cNvSpPr>
            <p:nvPr>
              <p:custDataLst>
                <p:tags r:id="rId1"/>
              </p:custDataLst>
            </p:nvPr>
          </p:nvSpPr>
          <p:spPr bwMode="auto">
            <a:xfrm>
              <a:off x="3771" y="1126"/>
              <a:ext cx="432" cy="25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000" b="1" dirty="0">
                  <a:solidFill>
                    <a:srgbClr val="070709"/>
                  </a:solidFill>
                  <a:cs typeface="Times New Roman" panose="02020603050405020304" pitchFamily="18" charset="0"/>
                </a:rPr>
                <a:t>op</a:t>
              </a:r>
              <a:endParaRPr lang="en-US" altLang="zh-CN" sz="2000" b="1" dirty="0">
                <a:solidFill>
                  <a:srgbClr val="070709"/>
                </a:solidFill>
                <a:cs typeface="Times New Roman" panose="02020603050405020304" pitchFamily="18" charset="0"/>
              </a:endParaRPr>
            </a:p>
          </p:txBody>
        </p:sp>
        <p:sp useBgFill="1">
          <p:nvSpPr>
            <p:cNvPr id="7" name="Rectangle 5"/>
            <p:cNvSpPr>
              <a:spLocks noChangeArrowheads="1"/>
            </p:cNvSpPr>
            <p:nvPr>
              <p:custDataLst>
                <p:tags r:id="rId2"/>
              </p:custDataLst>
            </p:nvPr>
          </p:nvSpPr>
          <p:spPr bwMode="auto">
            <a:xfrm>
              <a:off x="3362" y="1893"/>
              <a:ext cx="499" cy="25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spcBef>
                  <a:spcPct val="50000"/>
                </a:spcBef>
              </a:pPr>
              <a:r>
                <a:rPr lang="en-US" altLang="zh-CN" sz="2000" b="1" dirty="0" err="1">
                  <a:solidFill>
                    <a:srgbClr val="070709"/>
                  </a:solidFill>
                  <a:cs typeface="Times New Roman" panose="02020603050405020304" pitchFamily="18" charset="0"/>
                </a:rPr>
                <a:t>l_exp</a:t>
              </a:r>
              <a:endParaRPr lang="en-US" altLang="zh-CN" sz="2000" b="1" dirty="0">
                <a:solidFill>
                  <a:srgbClr val="070709"/>
                </a:solidFill>
                <a:cs typeface="Times New Roman" panose="02020603050405020304" pitchFamily="18" charset="0"/>
              </a:endParaRPr>
            </a:p>
          </p:txBody>
        </p:sp>
        <p:sp>
          <p:nvSpPr>
            <p:cNvPr id="8" name="Line 6"/>
            <p:cNvSpPr>
              <a:spLocks noChangeShapeType="1"/>
            </p:cNvSpPr>
            <p:nvPr>
              <p:custDataLst>
                <p:tags r:id="rId3"/>
              </p:custDataLst>
            </p:nvPr>
          </p:nvSpPr>
          <p:spPr bwMode="auto">
            <a:xfrm flipH="1">
              <a:off x="3651" y="1455"/>
              <a:ext cx="278" cy="387"/>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000" b="1">
                <a:cs typeface="Times New Roman" panose="02020603050405020304" pitchFamily="18" charset="0"/>
              </a:endParaRPr>
            </a:p>
          </p:txBody>
        </p:sp>
        <p:sp>
          <p:nvSpPr>
            <p:cNvPr id="10" name="Line 7"/>
            <p:cNvSpPr>
              <a:spLocks noChangeShapeType="1"/>
            </p:cNvSpPr>
            <p:nvPr>
              <p:custDataLst>
                <p:tags r:id="rId4"/>
              </p:custDataLst>
            </p:nvPr>
          </p:nvSpPr>
          <p:spPr bwMode="auto">
            <a:xfrm>
              <a:off x="4059" y="1434"/>
              <a:ext cx="409" cy="454"/>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000" b="1">
                <a:cs typeface="Times New Roman" panose="02020603050405020304" pitchFamily="18" charset="0"/>
              </a:endParaRPr>
            </a:p>
          </p:txBody>
        </p:sp>
        <p:sp useBgFill="1">
          <p:nvSpPr>
            <p:cNvPr id="11" name="Rectangle 8"/>
            <p:cNvSpPr>
              <a:spLocks noChangeArrowheads="1"/>
            </p:cNvSpPr>
            <p:nvPr>
              <p:custDataLst>
                <p:tags r:id="rId5"/>
              </p:custDataLst>
            </p:nvPr>
          </p:nvSpPr>
          <p:spPr bwMode="auto">
            <a:xfrm>
              <a:off x="4203" y="1893"/>
              <a:ext cx="530" cy="25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spcBef>
                  <a:spcPct val="50000"/>
                </a:spcBef>
              </a:pPr>
              <a:r>
                <a:rPr lang="en-US" altLang="zh-CN" sz="2000" b="1" dirty="0" err="1">
                  <a:solidFill>
                    <a:srgbClr val="070709"/>
                  </a:solidFill>
                  <a:cs typeface="Times New Roman" panose="02020603050405020304" pitchFamily="18" charset="0"/>
                </a:rPr>
                <a:t>r_exp</a:t>
              </a:r>
              <a:endParaRPr lang="en-US" altLang="zh-CN" sz="2000" b="1" dirty="0">
                <a:solidFill>
                  <a:srgbClr val="070709"/>
                </a:solidFill>
                <a:cs typeface="Times New Roman" panose="02020603050405020304" pitchFamily="18" charset="0"/>
              </a:endParaRPr>
            </a:p>
          </p:txBody>
        </p:sp>
      </p:grpSp>
      <p:grpSp>
        <p:nvGrpSpPr>
          <p:cNvPr id="12" name="Group 22"/>
          <p:cNvGrpSpPr/>
          <p:nvPr/>
        </p:nvGrpSpPr>
        <p:grpSpPr bwMode="auto">
          <a:xfrm>
            <a:off x="883079" y="3681598"/>
            <a:ext cx="3289300" cy="1557337"/>
            <a:chOff x="429" y="1231"/>
            <a:chExt cx="2072" cy="981"/>
          </a:xfrm>
        </p:grpSpPr>
        <p:sp useBgFill="1">
          <p:nvSpPr>
            <p:cNvPr id="13" name="Rectangle 9"/>
            <p:cNvSpPr>
              <a:spLocks noChangeArrowheads="1"/>
            </p:cNvSpPr>
            <p:nvPr>
              <p:custDataLst>
                <p:tags r:id="rId6"/>
              </p:custDataLst>
            </p:nvPr>
          </p:nvSpPr>
          <p:spPr bwMode="auto">
            <a:xfrm>
              <a:off x="1111" y="1231"/>
              <a:ext cx="454" cy="25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ctr">
                <a:spcBef>
                  <a:spcPct val="50000"/>
                </a:spcBef>
              </a:pPr>
              <a:r>
                <a:rPr lang="en-US" altLang="zh-CN" sz="2000" b="1" dirty="0">
                  <a:solidFill>
                    <a:srgbClr val="070709"/>
                  </a:solidFill>
                  <a:cs typeface="Times New Roman" panose="02020603050405020304" pitchFamily="18" charset="0"/>
                </a:rPr>
                <a:t>Exp</a:t>
              </a:r>
              <a:endParaRPr lang="en-US" altLang="zh-CN" sz="2000" b="1" dirty="0">
                <a:solidFill>
                  <a:srgbClr val="070709"/>
                </a:solidFill>
                <a:cs typeface="Times New Roman" panose="02020603050405020304" pitchFamily="18" charset="0"/>
              </a:endParaRPr>
            </a:p>
          </p:txBody>
        </p:sp>
        <p:sp useBgFill="1">
          <p:nvSpPr>
            <p:cNvPr id="15" name="Rectangle 10"/>
            <p:cNvSpPr>
              <a:spLocks noChangeArrowheads="1"/>
            </p:cNvSpPr>
            <p:nvPr>
              <p:custDataLst>
                <p:tags r:id="rId7"/>
              </p:custDataLst>
            </p:nvPr>
          </p:nvSpPr>
          <p:spPr bwMode="auto">
            <a:xfrm>
              <a:off x="429" y="1961"/>
              <a:ext cx="497" cy="25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spcBef>
                  <a:spcPct val="50000"/>
                </a:spcBef>
              </a:pPr>
              <a:r>
                <a:rPr lang="en-US" altLang="zh-CN" sz="2000" b="1" dirty="0" err="1">
                  <a:solidFill>
                    <a:srgbClr val="070709"/>
                  </a:solidFill>
                  <a:cs typeface="Times New Roman" panose="02020603050405020304" pitchFamily="18" charset="0"/>
                </a:rPr>
                <a:t>l_exp</a:t>
              </a:r>
              <a:endParaRPr lang="en-US" altLang="zh-CN" sz="2000" b="1" dirty="0">
                <a:solidFill>
                  <a:srgbClr val="070709"/>
                </a:solidFill>
                <a:cs typeface="Times New Roman" panose="02020603050405020304" pitchFamily="18" charset="0"/>
              </a:endParaRPr>
            </a:p>
          </p:txBody>
        </p:sp>
        <p:sp>
          <p:nvSpPr>
            <p:cNvPr id="16" name="Line 11"/>
            <p:cNvSpPr>
              <a:spLocks noChangeShapeType="1"/>
            </p:cNvSpPr>
            <p:nvPr>
              <p:custDataLst>
                <p:tags r:id="rId8"/>
              </p:custDataLst>
            </p:nvPr>
          </p:nvSpPr>
          <p:spPr bwMode="auto">
            <a:xfrm flipH="1">
              <a:off x="746" y="1563"/>
              <a:ext cx="454" cy="384"/>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000" b="1" dirty="0">
                <a:cs typeface="Times New Roman" panose="02020603050405020304" pitchFamily="18" charset="0"/>
              </a:endParaRPr>
            </a:p>
          </p:txBody>
        </p:sp>
        <p:sp>
          <p:nvSpPr>
            <p:cNvPr id="17" name="Line 12"/>
            <p:cNvSpPr>
              <a:spLocks noChangeShapeType="1"/>
            </p:cNvSpPr>
            <p:nvPr>
              <p:custDataLst>
                <p:tags r:id="rId9"/>
              </p:custDataLst>
            </p:nvPr>
          </p:nvSpPr>
          <p:spPr bwMode="auto">
            <a:xfrm>
              <a:off x="1488" y="1563"/>
              <a:ext cx="396" cy="363"/>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000" b="1">
                <a:cs typeface="Times New Roman" panose="02020603050405020304" pitchFamily="18" charset="0"/>
              </a:endParaRPr>
            </a:p>
          </p:txBody>
        </p:sp>
        <p:sp useBgFill="1">
          <p:nvSpPr>
            <p:cNvPr id="18" name="Rectangle 13"/>
            <p:cNvSpPr>
              <a:spLocks noChangeArrowheads="1"/>
            </p:cNvSpPr>
            <p:nvPr>
              <p:custDataLst>
                <p:tags r:id="rId10"/>
              </p:custDataLst>
            </p:nvPr>
          </p:nvSpPr>
          <p:spPr bwMode="auto">
            <a:xfrm>
              <a:off x="1701" y="1961"/>
              <a:ext cx="800" cy="25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50000"/>
                </a:spcBef>
              </a:pPr>
              <a:r>
                <a:rPr lang="en-US" altLang="zh-CN" sz="2000" b="1" dirty="0" err="1">
                  <a:solidFill>
                    <a:srgbClr val="070709"/>
                  </a:solidFill>
                  <a:cs typeface="Times New Roman" panose="02020603050405020304" pitchFamily="18" charset="0"/>
                </a:rPr>
                <a:t>r_exp</a:t>
              </a:r>
              <a:endParaRPr lang="en-US" altLang="zh-CN" sz="2000" b="1" dirty="0">
                <a:solidFill>
                  <a:srgbClr val="070709"/>
                </a:solidFill>
                <a:cs typeface="Times New Roman" panose="02020603050405020304" pitchFamily="18" charset="0"/>
              </a:endParaRPr>
            </a:p>
          </p:txBody>
        </p:sp>
        <p:sp>
          <p:nvSpPr>
            <p:cNvPr id="19" name="Line 14"/>
            <p:cNvSpPr>
              <a:spLocks noChangeShapeType="1"/>
            </p:cNvSpPr>
            <p:nvPr>
              <p:custDataLst>
                <p:tags r:id="rId11"/>
              </p:custDataLst>
            </p:nvPr>
          </p:nvSpPr>
          <p:spPr bwMode="auto">
            <a:xfrm>
              <a:off x="1338" y="1542"/>
              <a:ext cx="0" cy="454"/>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000" b="1">
                <a:cs typeface="Times New Roman" panose="02020603050405020304" pitchFamily="18" charset="0"/>
              </a:endParaRPr>
            </a:p>
          </p:txBody>
        </p:sp>
        <p:sp useBgFill="1">
          <p:nvSpPr>
            <p:cNvPr id="20" name="Rectangle 16"/>
            <p:cNvSpPr>
              <a:spLocks noChangeArrowheads="1"/>
            </p:cNvSpPr>
            <p:nvPr>
              <p:custDataLst>
                <p:tags r:id="rId12"/>
              </p:custDataLst>
            </p:nvPr>
          </p:nvSpPr>
          <p:spPr bwMode="auto">
            <a:xfrm>
              <a:off x="1156" y="1961"/>
              <a:ext cx="454" cy="25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50000"/>
                </a:spcBef>
              </a:pPr>
              <a:r>
                <a:rPr lang="en-US" altLang="zh-CN" sz="2000" b="1">
                  <a:solidFill>
                    <a:srgbClr val="070709"/>
                  </a:solidFill>
                  <a:cs typeface="Times New Roman" panose="02020603050405020304" pitchFamily="18" charset="0"/>
                </a:rPr>
                <a:t>op</a:t>
              </a:r>
              <a:endParaRPr lang="en-US" altLang="zh-CN" sz="2000" b="1">
                <a:solidFill>
                  <a:srgbClr val="070709"/>
                </a:solidFill>
                <a:cs typeface="Times New Roman" panose="02020603050405020304" pitchFamily="18" charset="0"/>
              </a:endParaRPr>
            </a:p>
          </p:txBody>
        </p:sp>
      </p:grpSp>
      <p:sp>
        <p:nvSpPr>
          <p:cNvPr id="21" name="Rectangle 19"/>
          <p:cNvSpPr>
            <a:spLocks noChangeArrowheads="1"/>
          </p:cNvSpPr>
          <p:nvPr>
            <p:custDataLst>
              <p:tags r:id="rId13"/>
            </p:custDataLst>
          </p:nvPr>
        </p:nvSpPr>
        <p:spPr bwMode="auto">
          <a:xfrm>
            <a:off x="4315839" y="5295339"/>
            <a:ext cx="1960880" cy="321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75000"/>
              </a:lnSpc>
              <a:spcBef>
                <a:spcPct val="20000"/>
              </a:spcBef>
              <a:buClr>
                <a:schemeClr val="accent2"/>
              </a:buClr>
              <a:buFont typeface="Wingdings" panose="05000000000000000000" pitchFamily="2" charset="2"/>
              <a:buNone/>
            </a:pPr>
            <a:r>
              <a:rPr lang="zh-CN" altLang="en-US" sz="2000" b="1" dirty="0">
                <a:solidFill>
                  <a:srgbClr val="FF3399"/>
                </a:solidFill>
                <a:cs typeface="Times New Roman" panose="02020603050405020304" pitchFamily="18" charset="0"/>
              </a:rPr>
              <a:t>抽象语法树结构</a:t>
            </a:r>
            <a:endParaRPr lang="zh-CN" altLang="en-US" sz="2000" b="1" dirty="0">
              <a:solidFill>
                <a:srgbClr val="FF3399"/>
              </a:solidFill>
              <a:cs typeface="Times New Roman" panose="02020603050405020304" pitchFamily="18" charset="0"/>
            </a:endParaRPr>
          </a:p>
        </p:txBody>
      </p:sp>
      <p:sp>
        <p:nvSpPr>
          <p:cNvPr id="22" name="Rectangle 20"/>
          <p:cNvSpPr>
            <a:spLocks noChangeArrowheads="1"/>
          </p:cNvSpPr>
          <p:nvPr>
            <p:custDataLst>
              <p:tags r:id="rId14"/>
            </p:custDataLst>
          </p:nvPr>
        </p:nvSpPr>
        <p:spPr bwMode="auto">
          <a:xfrm>
            <a:off x="1592582" y="5322717"/>
            <a:ext cx="1452880" cy="321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75000"/>
              </a:lnSpc>
              <a:spcBef>
                <a:spcPct val="20000"/>
              </a:spcBef>
              <a:buClr>
                <a:schemeClr val="accent2"/>
              </a:buClr>
              <a:buFont typeface="Wingdings" panose="05000000000000000000" pitchFamily="2" charset="2"/>
              <a:buNone/>
            </a:pPr>
            <a:r>
              <a:rPr lang="zh-CN" altLang="en-US" sz="2000" b="1" dirty="0">
                <a:solidFill>
                  <a:srgbClr val="FF3399"/>
                </a:solidFill>
                <a:cs typeface="Times New Roman" panose="02020603050405020304" pitchFamily="18" charset="0"/>
              </a:rPr>
              <a:t>分析树结构</a:t>
            </a:r>
            <a:endParaRPr lang="zh-CN" altLang="en-US" sz="2000" b="1" dirty="0">
              <a:solidFill>
                <a:srgbClr val="FF3399"/>
              </a:solidFill>
              <a:cs typeface="Times New Roman" panose="02020603050405020304" pitchFamily="18" charset="0"/>
            </a:endParaRPr>
          </a:p>
        </p:txBody>
      </p:sp>
      <p:grpSp>
        <p:nvGrpSpPr>
          <p:cNvPr id="23" name="组合 23"/>
          <p:cNvGrpSpPr/>
          <p:nvPr/>
        </p:nvGrpSpPr>
        <p:grpSpPr bwMode="auto">
          <a:xfrm>
            <a:off x="8678545" y="1225549"/>
            <a:ext cx="1373188" cy="1421608"/>
            <a:chOff x="1527175" y="1406524"/>
            <a:chExt cx="1373188" cy="1421609"/>
          </a:xfrm>
        </p:grpSpPr>
        <p:sp useBgFill="1">
          <p:nvSpPr>
            <p:cNvPr id="24" name="Rectangle 3"/>
            <p:cNvSpPr>
              <a:spLocks noChangeArrowheads="1"/>
            </p:cNvSpPr>
            <p:nvPr>
              <p:custDataLst>
                <p:tags r:id="rId15"/>
              </p:custDataLst>
            </p:nvPr>
          </p:nvSpPr>
          <p:spPr bwMode="auto">
            <a:xfrm>
              <a:off x="2102927" y="1406524"/>
              <a:ext cx="288925"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dirty="0">
                  <a:solidFill>
                    <a:srgbClr val="070709"/>
                  </a:solidFill>
                  <a:latin typeface="Times New Roman" panose="02020603050405020304" pitchFamily="18" charset="0"/>
                  <a:cs typeface="Times New Roman" panose="02020603050405020304" pitchFamily="18" charset="0"/>
                </a:rPr>
                <a:t>+</a:t>
              </a:r>
              <a:endParaRPr lang="en-US" altLang="zh-CN" sz="2400" b="1" dirty="0">
                <a:solidFill>
                  <a:srgbClr val="070709"/>
                </a:solidFill>
                <a:latin typeface="Times New Roman" panose="02020603050405020304" pitchFamily="18" charset="0"/>
                <a:cs typeface="Times New Roman" panose="02020603050405020304" pitchFamily="18" charset="0"/>
              </a:endParaRPr>
            </a:p>
          </p:txBody>
        </p:sp>
        <p:sp useBgFill="1">
          <p:nvSpPr>
            <p:cNvPr id="25" name="Rectangle 4"/>
            <p:cNvSpPr>
              <a:spLocks noChangeArrowheads="1"/>
            </p:cNvSpPr>
            <p:nvPr>
              <p:custDataLst>
                <p:tags r:id="rId16"/>
              </p:custDataLst>
            </p:nvPr>
          </p:nvSpPr>
          <p:spPr bwMode="auto">
            <a:xfrm>
              <a:off x="1527175" y="2367758"/>
              <a:ext cx="361950"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Times New Roman" panose="02020603050405020304" pitchFamily="18" charset="0"/>
                  <a:cs typeface="Times New Roman" panose="02020603050405020304" pitchFamily="18" charset="0"/>
                </a:rPr>
                <a:t>3</a:t>
              </a:r>
              <a:endParaRPr lang="en-US" altLang="zh-CN" sz="2400" b="1">
                <a:solidFill>
                  <a:srgbClr val="070709"/>
                </a:solidFill>
                <a:latin typeface="Times New Roman" panose="02020603050405020304" pitchFamily="18" charset="0"/>
                <a:cs typeface="Times New Roman" panose="02020603050405020304" pitchFamily="18" charset="0"/>
              </a:endParaRPr>
            </a:p>
          </p:txBody>
        </p:sp>
        <p:sp useBgFill="1">
          <p:nvSpPr>
            <p:cNvPr id="26" name="Rectangle 5"/>
            <p:cNvSpPr>
              <a:spLocks noChangeArrowheads="1"/>
            </p:cNvSpPr>
            <p:nvPr>
              <p:custDataLst>
                <p:tags r:id="rId17"/>
              </p:custDataLst>
            </p:nvPr>
          </p:nvSpPr>
          <p:spPr bwMode="auto">
            <a:xfrm>
              <a:off x="2611438" y="2367758"/>
              <a:ext cx="288925"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Times New Roman" panose="02020603050405020304" pitchFamily="18" charset="0"/>
                  <a:cs typeface="Times New Roman" panose="02020603050405020304" pitchFamily="18" charset="0"/>
                </a:rPr>
                <a:t>4</a:t>
              </a:r>
              <a:endParaRPr lang="en-US" altLang="zh-CN" sz="2400" b="1">
                <a:solidFill>
                  <a:srgbClr val="070709"/>
                </a:solidFill>
                <a:latin typeface="Times New Roman" panose="02020603050405020304" pitchFamily="18" charset="0"/>
                <a:cs typeface="Times New Roman" panose="02020603050405020304" pitchFamily="18" charset="0"/>
              </a:endParaRPr>
            </a:p>
          </p:txBody>
        </p:sp>
        <p:sp>
          <p:nvSpPr>
            <p:cNvPr id="27" name="Line 6"/>
            <p:cNvSpPr>
              <a:spLocks noChangeShapeType="1"/>
            </p:cNvSpPr>
            <p:nvPr>
              <p:custDataLst>
                <p:tags r:id="rId18"/>
              </p:custDataLst>
            </p:nvPr>
          </p:nvSpPr>
          <p:spPr bwMode="auto">
            <a:xfrm flipH="1">
              <a:off x="1816099" y="1830389"/>
              <a:ext cx="288925" cy="461666"/>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b="1">
                <a:latin typeface="Times New Roman" panose="02020603050405020304" pitchFamily="18" charset="0"/>
                <a:cs typeface="Times New Roman" panose="02020603050405020304" pitchFamily="18" charset="0"/>
              </a:endParaRPr>
            </a:p>
          </p:txBody>
        </p:sp>
        <p:sp>
          <p:nvSpPr>
            <p:cNvPr id="28" name="Line 7"/>
            <p:cNvSpPr>
              <a:spLocks noChangeShapeType="1"/>
            </p:cNvSpPr>
            <p:nvPr>
              <p:custDataLst>
                <p:tags r:id="rId19"/>
              </p:custDataLst>
            </p:nvPr>
          </p:nvSpPr>
          <p:spPr bwMode="auto">
            <a:xfrm>
              <a:off x="2389755" y="1842856"/>
              <a:ext cx="288925" cy="524256"/>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b="1">
                <a:latin typeface="Times New Roman" panose="02020603050405020304" pitchFamily="18" charset="0"/>
                <a:cs typeface="Times New Roman" panose="02020603050405020304" pitchFamily="18" charset="0"/>
              </a:endParaRPr>
            </a:p>
          </p:txBody>
        </p:sp>
      </p:grpSp>
      <p:sp useBgFill="1">
        <p:nvSpPr>
          <p:cNvPr id="29" name="Rectangle 8"/>
          <p:cNvSpPr>
            <a:spLocks noChangeArrowheads="1"/>
          </p:cNvSpPr>
          <p:nvPr>
            <p:custDataLst>
              <p:tags r:id="rId20"/>
            </p:custDataLst>
          </p:nvPr>
        </p:nvSpPr>
        <p:spPr bwMode="auto">
          <a:xfrm>
            <a:off x="8095095" y="2723504"/>
            <a:ext cx="2607328"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p>
            <a:pPr algn="ctr">
              <a:spcBef>
                <a:spcPct val="50000"/>
              </a:spcBef>
            </a:pPr>
            <a:r>
              <a:rPr lang="zh-CN" altLang="en-US" sz="2400" b="1" dirty="0">
                <a:solidFill>
                  <a:srgbClr val="070709"/>
                </a:solidFill>
                <a:latin typeface="Times New Roman" panose="02020603050405020304" pitchFamily="18" charset="0"/>
                <a:cs typeface="Times New Roman" panose="02020603050405020304" pitchFamily="18" charset="0"/>
              </a:rPr>
              <a:t>3+4的抽象语法树</a:t>
            </a:r>
            <a:endParaRPr lang="zh-CN" altLang="en-US" sz="2400" b="1" dirty="0">
              <a:solidFill>
                <a:srgbClr val="070709"/>
              </a:solidFill>
              <a:latin typeface="Times New Roman" panose="02020603050405020304" pitchFamily="18" charset="0"/>
              <a:cs typeface="Times New Roman" panose="02020603050405020304" pitchFamily="18" charset="0"/>
            </a:endParaRPr>
          </a:p>
        </p:txBody>
      </p:sp>
      <p:sp useBgFill="1">
        <p:nvSpPr>
          <p:cNvPr id="30" name="Rectangle 15"/>
          <p:cNvSpPr>
            <a:spLocks noChangeArrowheads="1"/>
          </p:cNvSpPr>
          <p:nvPr>
            <p:custDataLst>
              <p:tags r:id="rId21"/>
            </p:custDataLst>
          </p:nvPr>
        </p:nvSpPr>
        <p:spPr bwMode="auto">
          <a:xfrm>
            <a:off x="7094444" y="5631805"/>
            <a:ext cx="4033838"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p>
            <a:pPr algn="ctr">
              <a:spcBef>
                <a:spcPct val="50000"/>
              </a:spcBef>
            </a:pPr>
            <a:r>
              <a:rPr lang="zh-CN" altLang="en-US" sz="2400" b="1" dirty="0">
                <a:solidFill>
                  <a:srgbClr val="070709"/>
                </a:solidFill>
                <a:latin typeface="Times New Roman" panose="02020603050405020304" pitchFamily="18" charset="0"/>
                <a:cs typeface="Times New Roman" panose="02020603050405020304" pitchFamily="18" charset="0"/>
              </a:rPr>
              <a:t>（34-3）+42 的抽象语法树</a:t>
            </a:r>
            <a:endParaRPr lang="zh-CN" altLang="en-US" sz="2400" b="1" dirty="0">
              <a:solidFill>
                <a:srgbClr val="070709"/>
              </a:solidFill>
              <a:latin typeface="Times New Roman" panose="02020603050405020304" pitchFamily="18" charset="0"/>
              <a:cs typeface="Times New Roman" panose="02020603050405020304" pitchFamily="18" charset="0"/>
            </a:endParaRPr>
          </a:p>
        </p:txBody>
      </p:sp>
      <p:grpSp>
        <p:nvGrpSpPr>
          <p:cNvPr id="31" name="组合 24"/>
          <p:cNvGrpSpPr/>
          <p:nvPr/>
        </p:nvGrpSpPr>
        <p:grpSpPr bwMode="auto">
          <a:xfrm>
            <a:off x="7634988" y="3605064"/>
            <a:ext cx="2952750" cy="1647825"/>
            <a:chOff x="3997325" y="2480469"/>
            <a:chExt cx="2952751" cy="1647825"/>
          </a:xfrm>
        </p:grpSpPr>
        <p:sp useBgFill="1">
          <p:nvSpPr>
            <p:cNvPr id="32" name="Rectangle 10"/>
            <p:cNvSpPr>
              <a:spLocks noChangeArrowheads="1"/>
            </p:cNvSpPr>
            <p:nvPr>
              <p:custDataLst>
                <p:tags r:id="rId22"/>
              </p:custDataLst>
            </p:nvPr>
          </p:nvSpPr>
          <p:spPr bwMode="auto">
            <a:xfrm>
              <a:off x="5221288" y="2480469"/>
              <a:ext cx="304800"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dirty="0">
                  <a:solidFill>
                    <a:srgbClr val="070709"/>
                  </a:solidFill>
                  <a:latin typeface="Times New Roman" panose="02020603050405020304" pitchFamily="18" charset="0"/>
                  <a:cs typeface="Times New Roman" panose="02020603050405020304" pitchFamily="18" charset="0"/>
                </a:rPr>
                <a:t>+</a:t>
              </a:r>
              <a:endParaRPr lang="en-US" altLang="zh-CN" sz="2400" b="1" dirty="0">
                <a:solidFill>
                  <a:srgbClr val="070709"/>
                </a:solidFill>
                <a:latin typeface="Times New Roman" panose="02020603050405020304" pitchFamily="18" charset="0"/>
                <a:cs typeface="Times New Roman" panose="02020603050405020304" pitchFamily="18" charset="0"/>
              </a:endParaRPr>
            </a:p>
          </p:txBody>
        </p:sp>
        <p:sp useBgFill="1">
          <p:nvSpPr>
            <p:cNvPr id="33" name="Rectangle 11"/>
            <p:cNvSpPr>
              <a:spLocks noChangeArrowheads="1"/>
            </p:cNvSpPr>
            <p:nvPr>
              <p:custDataLst>
                <p:tags r:id="rId23"/>
              </p:custDataLst>
            </p:nvPr>
          </p:nvSpPr>
          <p:spPr bwMode="auto">
            <a:xfrm>
              <a:off x="4652963" y="2982119"/>
              <a:ext cx="381000"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Times New Roman" panose="02020603050405020304" pitchFamily="18" charset="0"/>
                  <a:cs typeface="Times New Roman" panose="02020603050405020304" pitchFamily="18" charset="0"/>
                </a:rPr>
                <a:t>-</a:t>
              </a:r>
              <a:endParaRPr lang="en-US" altLang="zh-CN" sz="2400" b="1">
                <a:solidFill>
                  <a:srgbClr val="070709"/>
                </a:solidFill>
                <a:latin typeface="Times New Roman" panose="02020603050405020304" pitchFamily="18" charset="0"/>
                <a:cs typeface="Times New Roman" panose="02020603050405020304" pitchFamily="18" charset="0"/>
              </a:endParaRPr>
            </a:p>
          </p:txBody>
        </p:sp>
        <p:sp useBgFill="1">
          <p:nvSpPr>
            <p:cNvPr id="34" name="Rectangle 12"/>
            <p:cNvSpPr>
              <a:spLocks noChangeArrowheads="1"/>
            </p:cNvSpPr>
            <p:nvPr>
              <p:custDataLst>
                <p:tags r:id="rId24"/>
              </p:custDataLst>
            </p:nvPr>
          </p:nvSpPr>
          <p:spPr bwMode="auto">
            <a:xfrm>
              <a:off x="6024563" y="3056731"/>
              <a:ext cx="925513"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Times New Roman" panose="02020603050405020304" pitchFamily="18" charset="0"/>
                  <a:cs typeface="Times New Roman" panose="02020603050405020304" pitchFamily="18" charset="0"/>
                </a:rPr>
                <a:t>42</a:t>
              </a:r>
              <a:endParaRPr lang="en-US" altLang="zh-CN" sz="2400" b="1">
                <a:solidFill>
                  <a:srgbClr val="070709"/>
                </a:solidFill>
                <a:latin typeface="Times New Roman" panose="02020603050405020304" pitchFamily="18" charset="0"/>
                <a:cs typeface="Times New Roman" panose="02020603050405020304" pitchFamily="18" charset="0"/>
              </a:endParaRPr>
            </a:p>
          </p:txBody>
        </p:sp>
        <p:sp>
          <p:nvSpPr>
            <p:cNvPr id="35" name="Line 13"/>
            <p:cNvSpPr>
              <a:spLocks noChangeShapeType="1"/>
            </p:cNvSpPr>
            <p:nvPr>
              <p:custDataLst>
                <p:tags r:id="rId25"/>
              </p:custDataLst>
            </p:nvPr>
          </p:nvSpPr>
          <p:spPr bwMode="auto">
            <a:xfrm flipH="1">
              <a:off x="4881563" y="2901950"/>
              <a:ext cx="381000" cy="2286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b="1">
                <a:latin typeface="Times New Roman" panose="02020603050405020304" pitchFamily="18" charset="0"/>
                <a:cs typeface="Times New Roman" panose="02020603050405020304" pitchFamily="18" charset="0"/>
              </a:endParaRPr>
            </a:p>
          </p:txBody>
        </p:sp>
        <p:sp>
          <p:nvSpPr>
            <p:cNvPr id="36" name="Line 14"/>
            <p:cNvSpPr>
              <a:spLocks noChangeShapeType="1"/>
            </p:cNvSpPr>
            <p:nvPr>
              <p:custDataLst>
                <p:tags r:id="rId26"/>
              </p:custDataLst>
            </p:nvPr>
          </p:nvSpPr>
          <p:spPr bwMode="auto">
            <a:xfrm>
              <a:off x="5567363" y="2901950"/>
              <a:ext cx="533400" cy="1524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b="1">
                <a:latin typeface="Times New Roman" panose="02020603050405020304" pitchFamily="18" charset="0"/>
                <a:cs typeface="Times New Roman" panose="02020603050405020304" pitchFamily="18" charset="0"/>
              </a:endParaRPr>
            </a:p>
          </p:txBody>
        </p:sp>
        <p:sp>
          <p:nvSpPr>
            <p:cNvPr id="37" name="Line 16"/>
            <p:cNvSpPr>
              <a:spLocks noChangeShapeType="1"/>
            </p:cNvSpPr>
            <p:nvPr>
              <p:custDataLst>
                <p:tags r:id="rId27"/>
              </p:custDataLst>
            </p:nvPr>
          </p:nvSpPr>
          <p:spPr bwMode="auto">
            <a:xfrm flipH="1">
              <a:off x="4576763" y="3359150"/>
              <a:ext cx="152400" cy="3048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b="1">
                <a:latin typeface="Times New Roman" panose="02020603050405020304" pitchFamily="18" charset="0"/>
                <a:cs typeface="Times New Roman" panose="02020603050405020304" pitchFamily="18" charset="0"/>
              </a:endParaRPr>
            </a:p>
          </p:txBody>
        </p:sp>
        <p:sp>
          <p:nvSpPr>
            <p:cNvPr id="38" name="Line 17"/>
            <p:cNvSpPr>
              <a:spLocks noChangeShapeType="1"/>
            </p:cNvSpPr>
            <p:nvPr>
              <p:custDataLst>
                <p:tags r:id="rId28"/>
              </p:custDataLst>
            </p:nvPr>
          </p:nvSpPr>
          <p:spPr bwMode="auto">
            <a:xfrm>
              <a:off x="4957763" y="3359150"/>
              <a:ext cx="152400" cy="3048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b="1">
                <a:latin typeface="Times New Roman" panose="02020603050405020304" pitchFamily="18" charset="0"/>
                <a:cs typeface="Times New Roman" panose="02020603050405020304" pitchFamily="18" charset="0"/>
              </a:endParaRPr>
            </a:p>
          </p:txBody>
        </p:sp>
        <p:sp useBgFill="1">
          <p:nvSpPr>
            <p:cNvPr id="39" name="Rectangle 18"/>
            <p:cNvSpPr>
              <a:spLocks noChangeArrowheads="1"/>
            </p:cNvSpPr>
            <p:nvPr>
              <p:custDataLst>
                <p:tags r:id="rId29"/>
              </p:custDataLst>
            </p:nvPr>
          </p:nvSpPr>
          <p:spPr bwMode="auto">
            <a:xfrm>
              <a:off x="3997325" y="3666331"/>
              <a:ext cx="808038"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Times New Roman" panose="02020603050405020304" pitchFamily="18" charset="0"/>
                  <a:cs typeface="Times New Roman" panose="02020603050405020304" pitchFamily="18" charset="0"/>
                </a:rPr>
                <a:t>34</a:t>
              </a:r>
              <a:endParaRPr lang="en-US" altLang="zh-CN" sz="2400" b="1">
                <a:solidFill>
                  <a:srgbClr val="070709"/>
                </a:solidFill>
                <a:latin typeface="Times New Roman" panose="02020603050405020304" pitchFamily="18" charset="0"/>
                <a:cs typeface="Times New Roman" panose="02020603050405020304" pitchFamily="18" charset="0"/>
              </a:endParaRPr>
            </a:p>
          </p:txBody>
        </p:sp>
        <p:sp useBgFill="1">
          <p:nvSpPr>
            <p:cNvPr id="40" name="Rectangle 19"/>
            <p:cNvSpPr>
              <a:spLocks noChangeArrowheads="1"/>
            </p:cNvSpPr>
            <p:nvPr>
              <p:custDataLst>
                <p:tags r:id="rId30"/>
              </p:custDataLst>
            </p:nvPr>
          </p:nvSpPr>
          <p:spPr bwMode="auto">
            <a:xfrm>
              <a:off x="4881563" y="3667919"/>
              <a:ext cx="533400"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Times New Roman" panose="02020603050405020304" pitchFamily="18" charset="0"/>
                  <a:cs typeface="Times New Roman" panose="02020603050405020304" pitchFamily="18" charset="0"/>
                </a:rPr>
                <a:t>3</a:t>
              </a:r>
              <a:endParaRPr lang="en-US" altLang="zh-CN" sz="2400" b="1">
                <a:solidFill>
                  <a:srgbClr val="070709"/>
                </a:solidFill>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arn(inHorizont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barn(inHorizontal)">
                                      <p:cBhvr>
                                        <p:cTn id="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4"/>
          </p:nvPr>
        </p:nvSpPr>
        <p:spPr>
          <a:xfrm>
            <a:off x="514985" y="276860"/>
            <a:ext cx="7221855" cy="593090"/>
          </a:xfrm>
        </p:spPr>
        <p:txBody>
          <a:bodyPr>
            <a:normAutofit fontScale="92500"/>
          </a:bodyPr>
          <a:lstStyle/>
          <a:p>
            <a:r>
              <a:rPr lang="en-US" altLang="zh-CN" dirty="0"/>
              <a:t>4.2.4 </a:t>
            </a:r>
            <a:r>
              <a:rPr lang="zh-CN" altLang="en-US" dirty="0"/>
              <a:t>分析树与抽象语法树（续）</a:t>
            </a:r>
            <a:endParaRPr lang="zh-CN" altLang="en-US" dirty="0"/>
          </a:p>
        </p:txBody>
      </p:sp>
      <p:sp>
        <p:nvSpPr>
          <p:cNvPr id="21" name="文本占位符 2"/>
          <p:cNvSpPr txBox="1"/>
          <p:nvPr/>
        </p:nvSpPr>
        <p:spPr>
          <a:xfrm>
            <a:off x="459740" y="1317625"/>
            <a:ext cx="9991090" cy="47288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ct val="50000"/>
              </a:spcBef>
              <a:buSzPct val="90000"/>
            </a:pPr>
            <a:r>
              <a:rPr lang="zh-CN" altLang="en-US" sz="2800" dirty="0">
                <a:solidFill>
                  <a:srgbClr val="070709"/>
                </a:solidFill>
              </a:rPr>
              <a:t>抽象语法树设计</a:t>
            </a:r>
            <a:endParaRPr lang="zh-CN" altLang="en-US" sz="2800" dirty="0">
              <a:solidFill>
                <a:srgbClr val="070709"/>
              </a:solidFill>
            </a:endParaRPr>
          </a:p>
          <a:p>
            <a:pPr lvl="1">
              <a:lnSpc>
                <a:spcPct val="150000"/>
              </a:lnSpc>
              <a:spcBef>
                <a:spcPct val="50000"/>
              </a:spcBef>
              <a:buSzPct val="90000"/>
            </a:pPr>
            <a:r>
              <a:rPr lang="zh-CN" altLang="en-US" dirty="0">
                <a:solidFill>
                  <a:srgbClr val="0070C0"/>
                </a:solidFill>
              </a:rPr>
              <a:t>各语法单位对应的抽象语法树的结构可以设计，没有统一标准，可以参考现有编译器的做法。例如：</a:t>
            </a:r>
            <a:endParaRPr lang="zh-CN" altLang="en-US" dirty="0">
              <a:solidFill>
                <a:srgbClr val="0070C0"/>
              </a:solidFill>
            </a:endParaRPr>
          </a:p>
          <a:p>
            <a:pPr marL="914400" lvl="4">
              <a:lnSpc>
                <a:spcPct val="150000"/>
              </a:lnSpc>
              <a:spcBef>
                <a:spcPct val="50000"/>
              </a:spcBef>
              <a:buSzPct val="90000"/>
            </a:pPr>
            <a:r>
              <a:rPr>
                <a:solidFill>
                  <a:srgbClr val="070709"/>
                </a:solidFill>
                <a:sym typeface="+mn-ea"/>
              </a:rPr>
              <a:t>可以打印</a:t>
            </a:r>
            <a:r>
              <a:rPr lang="en-US" altLang="zh-CN">
                <a:solidFill>
                  <a:srgbClr val="070709"/>
                </a:solidFill>
                <a:sym typeface="+mn-ea"/>
              </a:rPr>
              <a:t>C</a:t>
            </a:r>
            <a:r>
              <a:rPr>
                <a:solidFill>
                  <a:srgbClr val="070709"/>
                </a:solidFill>
                <a:sym typeface="+mn-ea"/>
              </a:rPr>
              <a:t>语言程序的抽象语法树</a:t>
            </a:r>
            <a:endParaRPr lang="zh-CN" altLang="en-US" dirty="0">
              <a:solidFill>
                <a:srgbClr val="070709"/>
              </a:solidFill>
            </a:endParaRPr>
          </a:p>
          <a:p>
            <a:pPr lvl="3">
              <a:lnSpc>
                <a:spcPct val="150000"/>
              </a:lnSpc>
              <a:spcBef>
                <a:spcPct val="50000"/>
              </a:spcBef>
              <a:buSzPct val="90000"/>
            </a:pPr>
            <a:r>
              <a:rPr lang="en-US" altLang="zh-CN" dirty="0" err="1">
                <a:solidFill>
                  <a:srgbClr val="070709"/>
                </a:solidFill>
              </a:rPr>
              <a:t>Pyc</a:t>
            </a:r>
            <a:r>
              <a:rPr lang="en-US" altLang="zh-CN" dirty="0">
                <a:solidFill>
                  <a:srgbClr val="070709"/>
                </a:solidFill>
              </a:rPr>
              <a:t> parser</a:t>
            </a:r>
            <a:endParaRPr lang="zh-CN" altLang="en-US" dirty="0">
              <a:solidFill>
                <a:srgbClr val="070709"/>
              </a:solidFill>
            </a:endParaRPr>
          </a:p>
          <a:p>
            <a:pPr lvl="3">
              <a:lnSpc>
                <a:spcPct val="150000"/>
              </a:lnSpc>
              <a:spcBef>
                <a:spcPct val="50000"/>
              </a:spcBef>
              <a:buSzPct val="90000"/>
            </a:pPr>
            <a:r>
              <a:rPr>
                <a:solidFill>
                  <a:srgbClr val="050507"/>
                </a:solidFill>
                <a:sym typeface="+mn-ea"/>
              </a:rPr>
              <a:t>Clang编译器：clang -Xclang -ast-dump -fsyntax-only example.c</a:t>
            </a:r>
            <a:endParaRPr>
              <a:solidFill>
                <a:srgbClr val="050507"/>
              </a:solidFill>
              <a:sym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4"/>
          </p:nvPr>
        </p:nvSpPr>
        <p:spPr>
          <a:xfrm>
            <a:off x="486410" y="276860"/>
            <a:ext cx="7250430" cy="593090"/>
          </a:xfrm>
        </p:spPr>
        <p:txBody>
          <a:bodyPr>
            <a:normAutofit fontScale="92500"/>
          </a:bodyPr>
          <a:lstStyle/>
          <a:p>
            <a:r>
              <a:rPr lang="en-US" altLang="zh-CN" dirty="0"/>
              <a:t>4.2.4 </a:t>
            </a:r>
            <a:r>
              <a:rPr lang="zh-CN" altLang="en-US" dirty="0"/>
              <a:t>分析树与抽象语法树（续）</a:t>
            </a:r>
            <a:endParaRPr lang="zh-CN" altLang="en-US" dirty="0"/>
          </a:p>
        </p:txBody>
      </p:sp>
      <p:sp>
        <p:nvSpPr>
          <p:cNvPr id="21" name="文本占位符 2"/>
          <p:cNvSpPr txBox="1"/>
          <p:nvPr/>
        </p:nvSpPr>
        <p:spPr>
          <a:xfrm>
            <a:off x="416560" y="1231900"/>
            <a:ext cx="11278235" cy="33699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ct val="50000"/>
              </a:spcBef>
              <a:buSzPct val="90000"/>
            </a:pPr>
            <a:r>
              <a:rPr lang="zh-CN" altLang="en-US" dirty="0">
                <a:solidFill>
                  <a:srgbClr val="070709"/>
                </a:solidFill>
              </a:rPr>
              <a:t>抽象语法树设计（续）</a:t>
            </a:r>
            <a:endParaRPr lang="en-US" altLang="zh-CN" dirty="0">
              <a:solidFill>
                <a:srgbClr val="070709"/>
              </a:solidFill>
            </a:endParaRPr>
          </a:p>
          <a:p>
            <a:pPr lvl="1">
              <a:lnSpc>
                <a:spcPct val="150000"/>
              </a:lnSpc>
              <a:spcBef>
                <a:spcPct val="50000"/>
              </a:spcBef>
              <a:buSzPct val="90000"/>
            </a:pPr>
            <a:r>
              <a:rPr lang="zh-CN" altLang="en-US" dirty="0">
                <a:solidFill>
                  <a:srgbClr val="070709"/>
                </a:solidFill>
              </a:rPr>
              <a:t>画出产生式规则的语法分析树</a:t>
            </a:r>
            <a:endParaRPr lang="zh-CN" altLang="en-US" dirty="0">
              <a:solidFill>
                <a:srgbClr val="070709"/>
              </a:solidFill>
            </a:endParaRPr>
          </a:p>
          <a:p>
            <a:pPr lvl="1">
              <a:lnSpc>
                <a:spcPct val="150000"/>
              </a:lnSpc>
              <a:spcBef>
                <a:spcPct val="50000"/>
              </a:spcBef>
              <a:buSzPct val="90000"/>
            </a:pPr>
            <a:r>
              <a:rPr lang="zh-CN" altLang="en-US" dirty="0">
                <a:solidFill>
                  <a:srgbClr val="070709"/>
                </a:solidFill>
              </a:rPr>
              <a:t>在</a:t>
            </a:r>
            <a:r>
              <a:rPr lang="zh-CN" altLang="en-US" dirty="0">
                <a:solidFill>
                  <a:srgbClr val="0070C0"/>
                </a:solidFill>
              </a:rPr>
              <a:t>保证语义信息不丢失</a:t>
            </a:r>
            <a:r>
              <a:rPr lang="zh-CN" altLang="en-US" dirty="0">
                <a:solidFill>
                  <a:srgbClr val="070709"/>
                </a:solidFill>
              </a:rPr>
              <a:t>的情况下，除掉或</a:t>
            </a:r>
            <a:r>
              <a:rPr lang="zh-CN" altLang="en-US" dirty="0">
                <a:solidFill>
                  <a:srgbClr val="070709"/>
                </a:solidFill>
              </a:rPr>
              <a:t>合并语法分析树的冗余节点形成抽象语法树</a:t>
            </a:r>
            <a:endParaRPr lang="zh-CN" altLang="en-US" dirty="0">
              <a:solidFill>
                <a:srgbClr val="070709"/>
              </a:solidFill>
            </a:endParaRPr>
          </a:p>
          <a:p>
            <a:pPr>
              <a:lnSpc>
                <a:spcPct val="100000"/>
              </a:lnSpc>
              <a:spcBef>
                <a:spcPct val="50000"/>
              </a:spcBef>
              <a:buSzPct val="90000"/>
            </a:pPr>
            <a:endParaRPr lang="zh-CN" altLang="en-US" dirty="0">
              <a:solidFill>
                <a:srgbClr val="070709"/>
              </a:solidFill>
            </a:endParaRPr>
          </a:p>
        </p:txBody>
      </p:sp>
      <p:sp>
        <p:nvSpPr>
          <p:cNvPr id="2" name="文本占位符 2"/>
          <p:cNvSpPr txBox="1"/>
          <p:nvPr/>
        </p:nvSpPr>
        <p:spPr>
          <a:xfrm>
            <a:off x="922020" y="4045585"/>
            <a:ext cx="10838815" cy="24923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50000"/>
              </a:spcBef>
              <a:buSzPct val="90000"/>
            </a:pPr>
            <a:r>
              <a:rPr lang="en-US" altLang="zh-CN" dirty="0">
                <a:solidFill>
                  <a:srgbClr val="070709"/>
                </a:solidFill>
              </a:rPr>
              <a:t>EBNF</a:t>
            </a:r>
            <a:r>
              <a:rPr lang="zh-CN" altLang="en-US" dirty="0">
                <a:solidFill>
                  <a:srgbClr val="070709"/>
                </a:solidFill>
              </a:rPr>
              <a:t>文法表示的</a:t>
            </a:r>
            <a:r>
              <a:rPr lang="en-US" altLang="zh-CN" dirty="0">
                <a:solidFill>
                  <a:srgbClr val="070709"/>
                </a:solidFill>
              </a:rPr>
              <a:t>tiny</a:t>
            </a:r>
            <a:r>
              <a:rPr lang="zh-CN" altLang="en-US" dirty="0">
                <a:solidFill>
                  <a:srgbClr val="070709"/>
                </a:solidFill>
              </a:rPr>
              <a:t>语言的语法</a:t>
            </a:r>
            <a:r>
              <a:rPr lang="en-US" altLang="zh-CN" dirty="0">
                <a:solidFill>
                  <a:srgbClr val="070709"/>
                </a:solidFill>
              </a:rPr>
              <a:t>.doc</a:t>
            </a:r>
            <a:endParaRPr lang="en-US" altLang="zh-CN" dirty="0">
              <a:solidFill>
                <a:srgbClr val="070709"/>
              </a:solidFill>
            </a:endParaRPr>
          </a:p>
          <a:p>
            <a:pPr>
              <a:lnSpc>
                <a:spcPct val="100000"/>
              </a:lnSpc>
              <a:spcBef>
                <a:spcPct val="50000"/>
              </a:spcBef>
              <a:buSzPct val="90000"/>
            </a:pPr>
            <a:r>
              <a:rPr lang="en-US" altLang="zh-CN">
                <a:solidFill>
                  <a:srgbClr val="070709"/>
                </a:solidFill>
                <a:sym typeface="+mn-ea"/>
              </a:rPr>
              <a:t>EBNF</a:t>
            </a:r>
            <a:r>
              <a:rPr>
                <a:solidFill>
                  <a:srgbClr val="070709"/>
                </a:solidFill>
                <a:sym typeface="+mn-ea"/>
              </a:rPr>
              <a:t>文法表示的</a:t>
            </a:r>
            <a:r>
              <a:rPr>
                <a:sym typeface="+mn-ea"/>
              </a:rPr>
              <a:t>ONNX</a:t>
            </a:r>
            <a:r>
              <a:rPr>
                <a:solidFill>
                  <a:srgbClr val="070709"/>
                </a:solidFill>
                <a:sym typeface="+mn-ea"/>
              </a:rPr>
              <a:t>模型的语法</a:t>
            </a:r>
            <a:r>
              <a:rPr lang="en-US" altLang="zh-CN">
                <a:solidFill>
                  <a:srgbClr val="070709"/>
                </a:solidFill>
                <a:sym typeface="+mn-ea"/>
              </a:rPr>
              <a:t>.doc</a:t>
            </a:r>
            <a:endParaRPr lang="en-US" altLang="zh-CN" dirty="0">
              <a:solidFill>
                <a:srgbClr val="070709"/>
              </a:solidFill>
            </a:endParaRPr>
          </a:p>
          <a:p>
            <a:pPr>
              <a:lnSpc>
                <a:spcPct val="150000"/>
              </a:lnSpc>
              <a:spcBef>
                <a:spcPct val="50000"/>
              </a:spcBef>
              <a:buSzPct val="90000"/>
            </a:pPr>
            <a:r>
              <a:rPr lang="zh-CN" altLang="en-US" dirty="0">
                <a:solidFill>
                  <a:srgbClr val="0070C0"/>
                </a:solidFill>
              </a:rPr>
              <a:t>用递归下降分析算法写出</a:t>
            </a:r>
            <a:r>
              <a:rPr lang="en-US" altLang="zh-CN" dirty="0">
                <a:solidFill>
                  <a:srgbClr val="0070C0"/>
                </a:solidFill>
              </a:rPr>
              <a:t>TINY</a:t>
            </a:r>
            <a:r>
              <a:rPr lang="zh-CN" altLang="en-US" dirty="0">
                <a:solidFill>
                  <a:srgbClr val="0070C0"/>
                </a:solidFill>
              </a:rPr>
              <a:t>语言、</a:t>
            </a:r>
            <a:r>
              <a:rPr>
                <a:solidFill>
                  <a:srgbClr val="0070C0"/>
                </a:solidFill>
                <a:sym typeface="+mn-ea"/>
              </a:rPr>
              <a:t>ONNX模型</a:t>
            </a:r>
            <a:r>
              <a:rPr lang="zh-CN" altLang="en-US" dirty="0">
                <a:solidFill>
                  <a:srgbClr val="0070C0"/>
                </a:solidFill>
              </a:rPr>
              <a:t>的语法分析程序？</a:t>
            </a:r>
            <a:endParaRPr lang="zh-CN" altLang="en-US" dirty="0">
              <a:solidFill>
                <a:srgbClr val="0070C0"/>
              </a:solidFill>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4"/>
          </p:nvPr>
        </p:nvSpPr>
        <p:spPr>
          <a:xfrm>
            <a:off x="630555" y="276860"/>
            <a:ext cx="7769225" cy="593090"/>
          </a:xfrm>
        </p:spPr>
        <p:txBody>
          <a:bodyPr/>
          <a:lstStyle/>
          <a:p>
            <a:pPr>
              <a:lnSpc>
                <a:spcPct val="170000"/>
              </a:lnSpc>
            </a:pPr>
            <a:r>
              <a:rPr lang="en-US" altLang="zh-CN" sz="2400" dirty="0"/>
              <a:t>TINY</a:t>
            </a:r>
            <a:r>
              <a:rPr lang="zh-CN" altLang="en-US" sz="2400" dirty="0"/>
              <a:t>语言的各语法范畴的抽象语法树结构</a:t>
            </a:r>
            <a:endParaRPr lang="zh-CN" altLang="en-US" sz="2400" dirty="0"/>
          </a:p>
        </p:txBody>
      </p:sp>
      <p:sp>
        <p:nvSpPr>
          <p:cNvPr id="21" name="文本占位符 2"/>
          <p:cNvSpPr txBox="1"/>
          <p:nvPr/>
        </p:nvSpPr>
        <p:spPr>
          <a:xfrm>
            <a:off x="630555" y="1317625"/>
            <a:ext cx="9275445" cy="10039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1</a:t>
            </a:r>
            <a:r>
              <a:rPr lang="zh-CN" altLang="en-US" dirty="0"/>
              <a:t>）语句序列</a:t>
            </a:r>
            <a:endParaRPr lang="zh-CN" altLang="en-US" dirty="0"/>
          </a:p>
          <a:p>
            <a:pPr marL="0" indent="0">
              <a:buNone/>
            </a:pPr>
            <a:r>
              <a:rPr lang="en-US" altLang="zh-CN" b="0" i="1" dirty="0" err="1">
                <a:solidFill>
                  <a:srgbClr val="070709"/>
                </a:solidFill>
              </a:rPr>
              <a:t>stmt</a:t>
            </a:r>
            <a:r>
              <a:rPr lang="en-US" altLang="zh-CN" b="0" i="1" dirty="0">
                <a:solidFill>
                  <a:srgbClr val="070709"/>
                </a:solidFill>
              </a:rPr>
              <a:t>-sequence</a:t>
            </a:r>
            <a:r>
              <a:rPr lang="en-US" altLang="zh-CN" b="0" dirty="0">
                <a:solidFill>
                  <a:srgbClr val="070709"/>
                </a:solidFill>
              </a:rPr>
              <a:t> </a:t>
            </a:r>
            <a:r>
              <a:rPr lang="en-US" altLang="zh-CN" b="0" dirty="0">
                <a:solidFill>
                  <a:srgbClr val="050507"/>
                </a:solidFill>
                <a:latin typeface="宋体" panose="02010600030101010101" pitchFamily="2" charset="-122"/>
                <a:sym typeface="Symbol" panose="05050102010706020507" pitchFamily="18" charset="2"/>
              </a:rPr>
              <a:t></a:t>
            </a:r>
            <a:r>
              <a:rPr lang="en-US" altLang="zh-CN" b="0" dirty="0">
                <a:solidFill>
                  <a:srgbClr val="070709"/>
                </a:solidFill>
              </a:rPr>
              <a:t> </a:t>
            </a:r>
            <a:r>
              <a:rPr lang="en-US" altLang="zh-CN" b="0" i="1" dirty="0">
                <a:solidFill>
                  <a:srgbClr val="070709"/>
                </a:solidFill>
              </a:rPr>
              <a:t>statement</a:t>
            </a:r>
            <a:r>
              <a:rPr lang="en-US" altLang="zh-CN" b="0" dirty="0">
                <a:solidFill>
                  <a:srgbClr val="070709"/>
                </a:solidFill>
              </a:rPr>
              <a:t>{;</a:t>
            </a:r>
            <a:r>
              <a:rPr lang="en-US" altLang="zh-CN" b="0" i="1" dirty="0">
                <a:solidFill>
                  <a:srgbClr val="070709"/>
                </a:solidFill>
              </a:rPr>
              <a:t>statement</a:t>
            </a:r>
            <a:r>
              <a:rPr lang="en-US" altLang="zh-CN" b="0" dirty="0">
                <a:solidFill>
                  <a:srgbClr val="070709"/>
                </a:solidFill>
              </a:rPr>
              <a:t>}</a:t>
            </a:r>
            <a:endParaRPr lang="zh-CN" altLang="en-US" b="0" dirty="0">
              <a:solidFill>
                <a:srgbClr val="070709"/>
              </a:solidFill>
            </a:endParaRPr>
          </a:p>
          <a:p>
            <a:pPr marL="0" indent="0">
              <a:buNone/>
            </a:pPr>
            <a:endParaRPr lang="en-US" altLang="zh-CN" dirty="0"/>
          </a:p>
        </p:txBody>
      </p:sp>
      <p:graphicFrame>
        <p:nvGraphicFramePr>
          <p:cNvPr id="4" name="Object 5"/>
          <p:cNvGraphicFramePr>
            <a:graphicFrameLocks noChangeAspect="1"/>
          </p:cNvGraphicFramePr>
          <p:nvPr/>
        </p:nvGraphicFramePr>
        <p:xfrm>
          <a:off x="795655" y="2557145"/>
          <a:ext cx="10246360" cy="2308860"/>
        </p:xfrm>
        <a:graphic>
          <a:graphicData uri="http://schemas.openxmlformats.org/presentationml/2006/ole">
            <mc:AlternateContent xmlns:mc="http://schemas.openxmlformats.org/markup-compatibility/2006">
              <mc:Choice xmlns:v="urn:schemas-microsoft-com:vml" Requires="v">
                <p:oleObj spid="_x0000_s1136" name="" r:id="rId1" imgW="5101590" imgH="1434465" progId="Visio.Drawing.11">
                  <p:embed/>
                </p:oleObj>
              </mc:Choice>
              <mc:Fallback>
                <p:oleObj name="" r:id="rId1" imgW="5101590" imgH="1434465"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655" y="2557145"/>
                        <a:ext cx="10246360" cy="2308860"/>
                      </a:xfrm>
                      <a:prstGeom prst="rect">
                        <a:avLst/>
                      </a:prstGeom>
                      <a:noFill/>
                      <a:ln>
                        <a:noFill/>
                      </a:ln>
                    </p:spPr>
                  </p:pic>
                </p:oleObj>
              </mc:Fallback>
            </mc:AlternateContent>
          </a:graphicData>
        </a:graphic>
      </p:graphicFrame>
      <p:sp>
        <p:nvSpPr>
          <p:cNvPr id="7" name="Rectangle 6"/>
          <p:cNvSpPr>
            <a:spLocks noChangeArrowheads="1"/>
          </p:cNvSpPr>
          <p:nvPr/>
        </p:nvSpPr>
        <p:spPr bwMode="auto">
          <a:xfrm>
            <a:off x="960755" y="5309235"/>
            <a:ext cx="88207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zh-CN" altLang="en-US" sz="2400" dirty="0">
                <a:solidFill>
                  <a:srgbClr val="070709"/>
                </a:solidFill>
                <a:latin typeface="+mn-ea"/>
                <a:ea typeface="+mn-ea"/>
              </a:rPr>
              <a:t>每个语句对应子树的右兄弟指向下一个语句对应的子树</a:t>
            </a:r>
            <a:endParaRPr lang="zh-CN" altLang="en-US" sz="2400" dirty="0">
              <a:solidFill>
                <a:srgbClr val="070709"/>
              </a:solidFill>
              <a:latin typeface="+mn-ea"/>
              <a:ea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占位符 2"/>
          <p:cNvSpPr txBox="1"/>
          <p:nvPr/>
        </p:nvSpPr>
        <p:spPr>
          <a:xfrm>
            <a:off x="676910" y="1317625"/>
            <a:ext cx="9229090" cy="10039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dirty="0"/>
              <a:t>if</a:t>
            </a:r>
            <a:r>
              <a:rPr lang="zh-CN" altLang="en-US" dirty="0"/>
              <a:t>语句的抽象语法树结构</a:t>
            </a:r>
            <a:endParaRPr lang="zh-CN" altLang="en-US" dirty="0"/>
          </a:p>
          <a:p>
            <a:pPr marL="0" indent="0">
              <a:lnSpc>
                <a:spcPct val="100000"/>
              </a:lnSpc>
              <a:buNone/>
            </a:pPr>
            <a:r>
              <a:rPr lang="en-US" altLang="zh-CN" b="0" i="1" dirty="0">
                <a:solidFill>
                  <a:srgbClr val="070709"/>
                </a:solidFill>
              </a:rPr>
              <a:t>if-</a:t>
            </a:r>
            <a:r>
              <a:rPr lang="en-US" altLang="zh-CN" b="0" i="1" dirty="0" err="1">
                <a:solidFill>
                  <a:srgbClr val="070709"/>
                </a:solidFill>
              </a:rPr>
              <a:t>stmt</a:t>
            </a:r>
            <a:r>
              <a:rPr lang="en-US" altLang="zh-CN" b="0" i="1" dirty="0">
                <a:solidFill>
                  <a:srgbClr val="070709"/>
                </a:solidFill>
              </a:rPr>
              <a:t> </a:t>
            </a:r>
            <a:r>
              <a:rPr lang="en-US" altLang="zh-CN" b="0" dirty="0">
                <a:solidFill>
                  <a:srgbClr val="050507"/>
                </a:solidFill>
                <a:sym typeface="Symbol" panose="05050102010706020507" pitchFamily="18" charset="2"/>
              </a:rPr>
              <a:t></a:t>
            </a:r>
            <a:r>
              <a:rPr lang="en-US" altLang="zh-CN" b="0" dirty="0">
                <a:solidFill>
                  <a:srgbClr val="21212D"/>
                </a:solidFill>
              </a:rPr>
              <a:t>if</a:t>
            </a:r>
            <a:r>
              <a:rPr lang="en-US" altLang="zh-CN" b="0" dirty="0">
                <a:solidFill>
                  <a:srgbClr val="070709"/>
                </a:solidFill>
              </a:rPr>
              <a:t> </a:t>
            </a:r>
            <a:r>
              <a:rPr lang="en-US" altLang="zh-CN" b="0" i="1" dirty="0">
                <a:solidFill>
                  <a:srgbClr val="070709"/>
                </a:solidFill>
              </a:rPr>
              <a:t>exp</a:t>
            </a:r>
            <a:r>
              <a:rPr lang="en-US" altLang="zh-CN" b="0" dirty="0">
                <a:solidFill>
                  <a:srgbClr val="070709"/>
                </a:solidFill>
              </a:rPr>
              <a:t> </a:t>
            </a:r>
            <a:r>
              <a:rPr lang="en-US" altLang="zh-CN" b="0" dirty="0">
                <a:solidFill>
                  <a:srgbClr val="21212D"/>
                </a:solidFill>
              </a:rPr>
              <a:t>then</a:t>
            </a:r>
            <a:r>
              <a:rPr lang="en-US" altLang="zh-CN" b="0" dirty="0">
                <a:solidFill>
                  <a:srgbClr val="070709"/>
                </a:solidFill>
              </a:rPr>
              <a:t> </a:t>
            </a:r>
            <a:r>
              <a:rPr lang="en-US" altLang="zh-CN" b="0" i="1" dirty="0" err="1">
                <a:solidFill>
                  <a:srgbClr val="070709"/>
                </a:solidFill>
              </a:rPr>
              <a:t>stmt</a:t>
            </a:r>
            <a:r>
              <a:rPr lang="en-US" altLang="zh-CN" b="0" i="1" dirty="0">
                <a:solidFill>
                  <a:srgbClr val="070709"/>
                </a:solidFill>
              </a:rPr>
              <a:t>-sequence</a:t>
            </a:r>
            <a:r>
              <a:rPr lang="en-US" altLang="zh-CN" b="0" dirty="0">
                <a:solidFill>
                  <a:srgbClr val="070709"/>
                </a:solidFill>
              </a:rPr>
              <a:t>[</a:t>
            </a:r>
            <a:r>
              <a:rPr lang="en-US" altLang="zh-CN" b="0" dirty="0">
                <a:solidFill>
                  <a:srgbClr val="21212D"/>
                </a:solidFill>
              </a:rPr>
              <a:t>else</a:t>
            </a:r>
            <a:r>
              <a:rPr lang="en-US" altLang="zh-CN" b="0" dirty="0">
                <a:solidFill>
                  <a:srgbClr val="070709"/>
                </a:solidFill>
              </a:rPr>
              <a:t> </a:t>
            </a:r>
            <a:r>
              <a:rPr lang="en-US" altLang="zh-CN" b="0" i="1" dirty="0" err="1">
                <a:solidFill>
                  <a:srgbClr val="070709"/>
                </a:solidFill>
              </a:rPr>
              <a:t>stmt</a:t>
            </a:r>
            <a:r>
              <a:rPr lang="en-US" altLang="zh-CN" b="0" i="1" dirty="0">
                <a:solidFill>
                  <a:srgbClr val="070709"/>
                </a:solidFill>
              </a:rPr>
              <a:t>-sequence</a:t>
            </a:r>
            <a:r>
              <a:rPr lang="en-US" altLang="zh-CN" b="0" dirty="0">
                <a:solidFill>
                  <a:srgbClr val="070709"/>
                </a:solidFill>
              </a:rPr>
              <a:t>]</a:t>
            </a:r>
            <a:r>
              <a:rPr lang="en-US" altLang="zh-CN" b="0" dirty="0">
                <a:solidFill>
                  <a:srgbClr val="21212D"/>
                </a:solidFill>
              </a:rPr>
              <a:t>end</a:t>
            </a:r>
            <a:endParaRPr lang="zh-CN" altLang="en-US" b="0" dirty="0">
              <a:solidFill>
                <a:srgbClr val="21212D"/>
              </a:solidFill>
            </a:endParaRPr>
          </a:p>
        </p:txBody>
      </p:sp>
      <p:graphicFrame>
        <p:nvGraphicFramePr>
          <p:cNvPr id="6" name="Object 8"/>
          <p:cNvGraphicFramePr>
            <a:graphicFrameLocks noChangeAspect="1"/>
          </p:cNvGraphicFramePr>
          <p:nvPr/>
        </p:nvGraphicFramePr>
        <p:xfrm>
          <a:off x="1867087" y="2644217"/>
          <a:ext cx="8343900" cy="3455987"/>
        </p:xfrm>
        <a:graphic>
          <a:graphicData uri="http://schemas.openxmlformats.org/presentationml/2006/ole">
            <mc:AlternateContent xmlns:mc="http://schemas.openxmlformats.org/markup-compatibility/2006">
              <mc:Choice xmlns:v="urn:schemas-microsoft-com:vml" Requires="v">
                <p:oleObj spid="_x0000_s2159" name="" r:id="rId1" imgW="4790440" imgH="1987550" progId="Visio.Drawing.11">
                  <p:embed/>
                </p:oleObj>
              </mc:Choice>
              <mc:Fallback>
                <p:oleObj name="" r:id="rId1" imgW="4790440" imgH="1987550" progId="Visio.Drawing.11">
                  <p:embed/>
                  <p:pic>
                    <p:nvPicPr>
                      <p:cNvPr id="0" name="Object 8"/>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7087" y="2644217"/>
                        <a:ext cx="8343900" cy="3455987"/>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文本占位符 3"/>
          <p:cNvSpPr>
            <a:spLocks noGrp="1"/>
          </p:cNvSpPr>
          <p:nvPr>
            <p:ph type="body" sz="quarter" idx="14"/>
            <p:custDataLst>
              <p:tags r:id="rId3"/>
            </p:custDataLst>
          </p:nvPr>
        </p:nvSpPr>
        <p:spPr>
          <a:xfrm>
            <a:off x="457200" y="276860"/>
            <a:ext cx="7942580" cy="593090"/>
          </a:xfrm>
        </p:spPr>
        <p:txBody>
          <a:bodyPr/>
          <a:lstStyle/>
          <a:p>
            <a:pPr>
              <a:lnSpc>
                <a:spcPct val="170000"/>
              </a:lnSpc>
            </a:pPr>
            <a:r>
              <a:rPr lang="en-US" altLang="zh-CN" sz="2400" dirty="0"/>
              <a:t>TINY</a:t>
            </a:r>
            <a:r>
              <a:rPr lang="zh-CN" altLang="en-US" sz="2400" dirty="0"/>
              <a:t>语言的各语法范畴的抽象语法树结构</a:t>
            </a:r>
            <a:endParaRPr lang="zh-CN" altLang="en-US" sz="2400"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占位符 2"/>
          <p:cNvSpPr txBox="1"/>
          <p:nvPr/>
        </p:nvSpPr>
        <p:spPr>
          <a:xfrm>
            <a:off x="575945" y="1317625"/>
            <a:ext cx="9330055" cy="10039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dirty="0"/>
              <a:t>repeat </a:t>
            </a:r>
            <a:r>
              <a:rPr lang="zh-CN" altLang="en-US" dirty="0"/>
              <a:t>语句</a:t>
            </a:r>
            <a:endParaRPr lang="zh-CN" altLang="en-US" dirty="0"/>
          </a:p>
          <a:p>
            <a:pPr marL="0" indent="0">
              <a:spcBef>
                <a:spcPct val="20000"/>
              </a:spcBef>
              <a:buSzPct val="90000"/>
              <a:buNone/>
            </a:pPr>
            <a:r>
              <a:rPr lang="en-US" altLang="zh-CN" b="0" i="1" dirty="0" err="1">
                <a:solidFill>
                  <a:srgbClr val="070709"/>
                </a:solidFill>
              </a:rPr>
              <a:t>repeat-stmt</a:t>
            </a:r>
            <a:r>
              <a:rPr lang="en-US" altLang="zh-CN" b="0" dirty="0" err="1">
                <a:solidFill>
                  <a:srgbClr val="050507"/>
                </a:solidFill>
                <a:sym typeface="Symbol" panose="05050102010706020507" pitchFamily="18" charset="2"/>
              </a:rPr>
              <a:t></a:t>
            </a:r>
            <a:r>
              <a:rPr lang="en-US" altLang="zh-CN" b="0" dirty="0" err="1">
                <a:solidFill>
                  <a:srgbClr val="21212D"/>
                </a:solidFill>
              </a:rPr>
              <a:t>repeat</a:t>
            </a:r>
            <a:r>
              <a:rPr lang="en-US" altLang="zh-CN" b="0" dirty="0">
                <a:solidFill>
                  <a:srgbClr val="070709"/>
                </a:solidFill>
              </a:rPr>
              <a:t> </a:t>
            </a:r>
            <a:r>
              <a:rPr lang="en-US" altLang="zh-CN" b="0" i="1" dirty="0" err="1">
                <a:solidFill>
                  <a:srgbClr val="070709"/>
                </a:solidFill>
              </a:rPr>
              <a:t>stmt</a:t>
            </a:r>
            <a:r>
              <a:rPr lang="en-US" altLang="zh-CN" b="0" i="1" dirty="0">
                <a:solidFill>
                  <a:srgbClr val="070709"/>
                </a:solidFill>
              </a:rPr>
              <a:t>-sequence</a:t>
            </a:r>
            <a:r>
              <a:rPr lang="en-US" altLang="zh-CN" b="0" dirty="0">
                <a:solidFill>
                  <a:srgbClr val="070709"/>
                </a:solidFill>
              </a:rPr>
              <a:t> </a:t>
            </a:r>
            <a:r>
              <a:rPr lang="en-US" altLang="zh-CN" b="0" dirty="0">
                <a:solidFill>
                  <a:srgbClr val="21212D"/>
                </a:solidFill>
              </a:rPr>
              <a:t>until</a:t>
            </a:r>
            <a:r>
              <a:rPr lang="en-US" altLang="zh-CN" b="0" dirty="0">
                <a:solidFill>
                  <a:srgbClr val="070709"/>
                </a:solidFill>
              </a:rPr>
              <a:t> </a:t>
            </a:r>
            <a:r>
              <a:rPr lang="en-US" altLang="zh-CN" b="0" i="1" dirty="0">
                <a:solidFill>
                  <a:srgbClr val="070709"/>
                </a:solidFill>
              </a:rPr>
              <a:t>exp</a:t>
            </a:r>
            <a:endParaRPr lang="zh-CN" altLang="en-US" b="0" i="1" dirty="0">
              <a:solidFill>
                <a:srgbClr val="070709"/>
              </a:solidFill>
            </a:endParaRPr>
          </a:p>
        </p:txBody>
      </p:sp>
      <p:graphicFrame>
        <p:nvGraphicFramePr>
          <p:cNvPr id="5" name="Object 6"/>
          <p:cNvGraphicFramePr>
            <a:graphicFrameLocks noChangeAspect="1"/>
          </p:cNvGraphicFramePr>
          <p:nvPr/>
        </p:nvGraphicFramePr>
        <p:xfrm>
          <a:off x="121285" y="2414905"/>
          <a:ext cx="5215255" cy="3417570"/>
        </p:xfrm>
        <a:graphic>
          <a:graphicData uri="http://schemas.openxmlformats.org/presentationml/2006/ole">
            <mc:AlternateContent xmlns:mc="http://schemas.openxmlformats.org/markup-compatibility/2006">
              <mc:Choice xmlns:v="urn:schemas-microsoft-com:vml" Requires="v">
                <p:oleObj spid="_x0000_s3182" name="" r:id="rId1" imgW="3557905" imgH="1798955" progId="Visio.Drawing.11">
                  <p:embed/>
                </p:oleObj>
              </mc:Choice>
              <mc:Fallback>
                <p:oleObj name="" r:id="rId1" imgW="3557905" imgH="1798955" progId="Visio.Drawing.11">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285" y="2414905"/>
                        <a:ext cx="5215255" cy="3417570"/>
                      </a:xfrm>
                      <a:prstGeom prst="rect">
                        <a:avLst/>
                      </a:prstGeom>
                      <a:noFill/>
                      <a:ln>
                        <a:noFill/>
                      </a:ln>
                    </p:spPr>
                  </p:pic>
                </p:oleObj>
              </mc:Fallback>
            </mc:AlternateContent>
          </a:graphicData>
        </a:graphic>
      </p:graphicFrame>
      <p:sp>
        <p:nvSpPr>
          <p:cNvPr id="3" name="文本占位符 2"/>
          <p:cNvSpPr>
            <a:spLocks noGrp="1"/>
          </p:cNvSpPr>
          <p:nvPr>
            <p:ph type="body" sz="quarter" idx="14"/>
            <p:custDataLst>
              <p:tags r:id="rId3"/>
            </p:custDataLst>
          </p:nvPr>
        </p:nvSpPr>
        <p:spPr>
          <a:xfrm>
            <a:off x="576580" y="276860"/>
            <a:ext cx="7823200" cy="593090"/>
          </a:xfrm>
        </p:spPr>
        <p:txBody>
          <a:bodyPr/>
          <a:lstStyle/>
          <a:p>
            <a:pPr>
              <a:lnSpc>
                <a:spcPct val="170000"/>
              </a:lnSpc>
            </a:pPr>
            <a:r>
              <a:rPr lang="en-US" altLang="zh-CN" sz="2400" dirty="0"/>
              <a:t>TINY</a:t>
            </a:r>
            <a:r>
              <a:rPr lang="zh-CN" altLang="en-US" sz="2400" dirty="0"/>
              <a:t>语言的各语法范畴的抽象语法树结构</a:t>
            </a:r>
            <a:endParaRPr lang="zh-CN" altLang="en-US" sz="2400"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文本占位符 2"/>
          <p:cNvSpPr txBox="1"/>
          <p:nvPr>
            <p:custDataLst>
              <p:tags r:id="rId4"/>
            </p:custDataLst>
          </p:nvPr>
        </p:nvSpPr>
        <p:spPr>
          <a:xfrm>
            <a:off x="7934325" y="1223645"/>
            <a:ext cx="3910330" cy="10039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dirty="0"/>
              <a:t>assign </a:t>
            </a:r>
            <a:r>
              <a:rPr lang="zh-CN" altLang="en-US" dirty="0"/>
              <a:t>语句</a:t>
            </a:r>
            <a:endParaRPr lang="zh-CN" altLang="en-US" dirty="0"/>
          </a:p>
          <a:p>
            <a:pPr marL="0" indent="0">
              <a:spcBef>
                <a:spcPct val="20000"/>
              </a:spcBef>
              <a:buSzPct val="90000"/>
              <a:buNone/>
            </a:pPr>
            <a:r>
              <a:rPr lang="en-US" altLang="zh-CN" b="0" i="1" dirty="0" err="1">
                <a:solidFill>
                  <a:srgbClr val="070709"/>
                </a:solidFill>
              </a:rPr>
              <a:t>assign_stmt</a:t>
            </a:r>
            <a:r>
              <a:rPr lang="en-US" altLang="zh-CN" b="0" dirty="0" err="1">
                <a:solidFill>
                  <a:srgbClr val="050507"/>
                </a:solidFill>
                <a:latin typeface="宋体" panose="02010600030101010101" pitchFamily="2" charset="-122"/>
                <a:sym typeface="Symbol" panose="05050102010706020507" pitchFamily="18" charset="2"/>
              </a:rPr>
              <a:t></a:t>
            </a:r>
            <a:r>
              <a:rPr lang="en-US" altLang="zh-CN" b="0" dirty="0" err="1">
                <a:solidFill>
                  <a:srgbClr val="21212D"/>
                </a:solidFill>
              </a:rPr>
              <a:t>identifier</a:t>
            </a:r>
            <a:r>
              <a:rPr lang="en-US" altLang="zh-CN" b="0" dirty="0">
                <a:solidFill>
                  <a:srgbClr val="21212D"/>
                </a:solidFill>
              </a:rPr>
              <a:t> := </a:t>
            </a:r>
            <a:r>
              <a:rPr lang="en-US" altLang="zh-CN" b="0" i="1" dirty="0">
                <a:solidFill>
                  <a:srgbClr val="070709"/>
                </a:solidFill>
              </a:rPr>
              <a:t>exp</a:t>
            </a:r>
            <a:endParaRPr lang="zh-CN" altLang="en-US" b="0" i="1" dirty="0">
              <a:solidFill>
                <a:srgbClr val="070709"/>
              </a:solidFill>
            </a:endParaRPr>
          </a:p>
        </p:txBody>
      </p:sp>
      <p:graphicFrame>
        <p:nvGraphicFramePr>
          <p:cNvPr id="6" name="Object 5"/>
          <p:cNvGraphicFramePr>
            <a:graphicFrameLocks noChangeAspect="1"/>
          </p:cNvGraphicFramePr>
          <p:nvPr>
            <p:custDataLst>
              <p:tags r:id="rId5"/>
            </p:custDataLst>
          </p:nvPr>
        </p:nvGraphicFramePr>
        <p:xfrm>
          <a:off x="5284470" y="2543810"/>
          <a:ext cx="6703060" cy="3363595"/>
        </p:xfrm>
        <a:graphic>
          <a:graphicData uri="http://schemas.openxmlformats.org/presentationml/2006/ole">
            <mc:AlternateContent xmlns:mc="http://schemas.openxmlformats.org/markup-compatibility/2006">
              <mc:Choice xmlns:v="urn:schemas-microsoft-com:vml" Requires="v">
                <p:oleObj spid="_x0000_s4312" name="" r:id="rId6" imgW="3759200" imgH="1907540" progId="Visio.Drawing.11">
                  <p:embed/>
                </p:oleObj>
              </mc:Choice>
              <mc:Fallback>
                <p:oleObj name="" r:id="rId6" imgW="3759200" imgH="1907540" progId="Visio.Drawing.11">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4470" y="2543810"/>
                        <a:ext cx="6703060" cy="3363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7"/>
          <p:cNvGraphicFramePr>
            <a:graphicFrameLocks noChangeAspect="1"/>
          </p:cNvGraphicFramePr>
          <p:nvPr>
            <p:custDataLst>
              <p:tags r:id="rId8"/>
            </p:custDataLst>
          </p:nvPr>
        </p:nvGraphicFramePr>
        <p:xfrm>
          <a:off x="6348095" y="2505075"/>
          <a:ext cx="3694430" cy="3105785"/>
        </p:xfrm>
        <a:graphic>
          <a:graphicData uri="http://schemas.openxmlformats.org/presentationml/2006/ole">
            <mc:AlternateContent xmlns:mc="http://schemas.openxmlformats.org/markup-compatibility/2006">
              <mc:Choice xmlns:v="urn:schemas-microsoft-com:vml" Requires="v">
                <p:oleObj spid="_x0000_s4313" name="" r:id="rId9" imgW="1975485" imgH="1659255" progId="Visio.Drawing.11">
                  <p:embed/>
                </p:oleObj>
              </mc:Choice>
              <mc:Fallback>
                <p:oleObj name="" r:id="rId9" imgW="1975485" imgH="1659255" progId="Visio.Drawing.11">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48095" y="2505075"/>
                        <a:ext cx="3694430" cy="3105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Horizontal)">
                                      <p:cBhvr>
                                        <p:cTn id="12"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占位符 2"/>
          <p:cNvSpPr txBox="1"/>
          <p:nvPr/>
        </p:nvSpPr>
        <p:spPr>
          <a:xfrm>
            <a:off x="553720" y="1129030"/>
            <a:ext cx="9352280" cy="10039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2800" dirty="0"/>
              <a:t>write</a:t>
            </a:r>
            <a:r>
              <a:rPr lang="zh-CN" altLang="en-US" sz="2800" dirty="0"/>
              <a:t>语句 </a:t>
            </a:r>
            <a:r>
              <a:rPr lang="en-US" altLang="zh-CN" sz="2800" dirty="0"/>
              <a:t>          </a:t>
            </a:r>
            <a:r>
              <a:rPr lang="en-US" altLang="zh-CN" sz="3200" b="0" i="1" dirty="0" err="1">
                <a:solidFill>
                  <a:srgbClr val="070709"/>
                </a:solidFill>
              </a:rPr>
              <a:t>write_stmt</a:t>
            </a:r>
            <a:r>
              <a:rPr lang="en-US" altLang="zh-CN" sz="3200" b="0" i="1" dirty="0">
                <a:solidFill>
                  <a:srgbClr val="070709"/>
                </a:solidFill>
              </a:rPr>
              <a:t> </a:t>
            </a:r>
            <a:r>
              <a:rPr lang="en-US" altLang="zh-CN" sz="3200" b="0" dirty="0">
                <a:solidFill>
                  <a:srgbClr val="050507"/>
                </a:solidFill>
                <a:latin typeface="宋体" panose="02010600030101010101" pitchFamily="2" charset="-122"/>
                <a:sym typeface="Symbol" panose="05050102010706020507" pitchFamily="18" charset="2"/>
              </a:rPr>
              <a:t></a:t>
            </a:r>
            <a:r>
              <a:rPr lang="en-US" altLang="zh-CN" sz="3200" b="0" i="1" dirty="0">
                <a:solidFill>
                  <a:srgbClr val="070709"/>
                </a:solidFill>
              </a:rPr>
              <a:t> </a:t>
            </a:r>
            <a:r>
              <a:rPr lang="en-US" altLang="zh-CN" sz="3200" b="0" dirty="0">
                <a:solidFill>
                  <a:srgbClr val="21212D"/>
                </a:solidFill>
              </a:rPr>
              <a:t>write</a:t>
            </a:r>
            <a:r>
              <a:rPr lang="en-US" altLang="zh-CN" sz="3200" b="0" dirty="0">
                <a:solidFill>
                  <a:srgbClr val="070709"/>
                </a:solidFill>
              </a:rPr>
              <a:t> </a:t>
            </a:r>
            <a:r>
              <a:rPr lang="en-US" altLang="zh-CN" sz="3200" b="0" i="1" dirty="0">
                <a:solidFill>
                  <a:srgbClr val="070709"/>
                </a:solidFill>
              </a:rPr>
              <a:t>exp</a:t>
            </a:r>
            <a:endParaRPr lang="en-US" altLang="zh-CN" sz="3200" b="0" i="1" dirty="0">
              <a:solidFill>
                <a:srgbClr val="070709"/>
              </a:solidFill>
            </a:endParaRPr>
          </a:p>
        </p:txBody>
      </p:sp>
      <p:graphicFrame>
        <p:nvGraphicFramePr>
          <p:cNvPr id="8" name="Object 5"/>
          <p:cNvGraphicFramePr>
            <a:graphicFrameLocks noChangeAspect="1"/>
          </p:cNvGraphicFramePr>
          <p:nvPr/>
        </p:nvGraphicFramePr>
        <p:xfrm>
          <a:off x="553440" y="1768458"/>
          <a:ext cx="3384550" cy="2844800"/>
        </p:xfrm>
        <a:graphic>
          <a:graphicData uri="http://schemas.openxmlformats.org/presentationml/2006/ole">
            <mc:AlternateContent xmlns:mc="http://schemas.openxmlformats.org/markup-compatibility/2006">
              <mc:Choice xmlns:v="urn:schemas-microsoft-com:vml" Requires="v">
                <p:oleObj spid="_x0000_s5334" name="" r:id="rId1" imgW="1964055" imgH="1659255" progId="Visio.Drawing.11">
                  <p:embed/>
                </p:oleObj>
              </mc:Choice>
              <mc:Fallback>
                <p:oleObj name="" r:id="rId1" imgW="1964055" imgH="1659255"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440" y="1768458"/>
                        <a:ext cx="3384550"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6"/>
          <p:cNvGraphicFramePr>
            <a:graphicFrameLocks noChangeAspect="1"/>
          </p:cNvGraphicFramePr>
          <p:nvPr/>
        </p:nvGraphicFramePr>
        <p:xfrm>
          <a:off x="511904" y="5511783"/>
          <a:ext cx="3816350" cy="906463"/>
        </p:xfrm>
        <a:graphic>
          <a:graphicData uri="http://schemas.openxmlformats.org/presentationml/2006/ole">
            <mc:AlternateContent xmlns:mc="http://schemas.openxmlformats.org/markup-compatibility/2006">
              <mc:Choice xmlns:v="urn:schemas-microsoft-com:vml" Requires="v">
                <p:oleObj spid="_x0000_s5335" name="" r:id="rId3" imgW="1964055" imgH="474345" progId="Visio.Drawing.11">
                  <p:embed/>
                </p:oleObj>
              </mc:Choice>
              <mc:Fallback>
                <p:oleObj name="" r:id="rId3" imgW="1964055" imgH="474345"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904" y="5511783"/>
                        <a:ext cx="381635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p:cNvSpPr/>
          <p:nvPr/>
        </p:nvSpPr>
        <p:spPr>
          <a:xfrm>
            <a:off x="458470" y="5017135"/>
            <a:ext cx="6918960" cy="583565"/>
          </a:xfrm>
          <a:prstGeom prst="rect">
            <a:avLst/>
          </a:prstGeom>
        </p:spPr>
        <p:txBody>
          <a:bodyPr wrap="square">
            <a:spAutoFit/>
          </a:bodyPr>
          <a:lstStyle/>
          <a:p>
            <a:pPr defTabSz="914400">
              <a:spcBef>
                <a:spcPts val="1000"/>
              </a:spcBef>
              <a:buClr>
                <a:srgbClr val="000000"/>
              </a:buClr>
            </a:pPr>
            <a:r>
              <a:rPr lang="en-US" altLang="zh-CN" sz="2400" b="1" dirty="0">
                <a:latin typeface="Times New Roman" panose="02020603050405020304" pitchFamily="18" charset="0"/>
                <a:ea typeface="等线" panose="02010600030101010101" charset="-122"/>
                <a:cs typeface="Times New Roman" panose="02020603050405020304" pitchFamily="18" charset="0"/>
              </a:rPr>
              <a:t>read</a:t>
            </a:r>
            <a:r>
              <a:rPr lang="zh-CN" altLang="en-US" sz="2400" b="1" dirty="0">
                <a:latin typeface="Times New Roman" panose="02020603050405020304" pitchFamily="18" charset="0"/>
                <a:ea typeface="等线" panose="02010600030101010101" charset="-122"/>
                <a:cs typeface="Times New Roman" panose="02020603050405020304" pitchFamily="18" charset="0"/>
              </a:rPr>
              <a:t>语句       </a:t>
            </a:r>
            <a:r>
              <a:rPr lang="en-US" altLang="zh-CN" sz="3200" i="1" dirty="0">
                <a:latin typeface="Times New Roman" panose="02020603050405020304" pitchFamily="18" charset="0"/>
                <a:ea typeface="等线" panose="02010600030101010101" charset="-122"/>
                <a:cs typeface="Times New Roman" panose="02020603050405020304" pitchFamily="18" charset="0"/>
              </a:rPr>
              <a:t>read_stmt</a:t>
            </a:r>
            <a:r>
              <a:rPr lang="en-US" altLang="zh-CN" sz="3200" i="1" dirty="0">
                <a:latin typeface="Times New Roman" panose="02020603050405020304" pitchFamily="18" charset="0"/>
                <a:ea typeface="等线" panose="02010600030101010101" charset="-122"/>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ea typeface="等线" panose="02010600030101010101" charset="-122"/>
                <a:cs typeface="Times New Roman" panose="02020603050405020304" pitchFamily="18" charset="0"/>
              </a:rPr>
              <a:t>read</a:t>
            </a:r>
            <a:r>
              <a:rPr lang="en-US" altLang="zh-CN" sz="3200" i="1" dirty="0">
                <a:latin typeface="Times New Roman" panose="02020603050405020304" pitchFamily="18" charset="0"/>
                <a:ea typeface="等线" panose="02010600030101010101" charset="-122"/>
                <a:cs typeface="Times New Roman" panose="02020603050405020304" pitchFamily="18" charset="0"/>
              </a:rPr>
              <a:t> identifier</a:t>
            </a:r>
            <a:endParaRPr lang="en-US" altLang="zh-CN" sz="3200" i="1" dirty="0">
              <a:latin typeface="Times New Roman" panose="02020603050405020304" pitchFamily="18" charset="0"/>
              <a:ea typeface="等线" panose="02010600030101010101" charset="-122"/>
              <a:cs typeface="Times New Roman" panose="02020603050405020304" pitchFamily="18" charset="0"/>
            </a:endParaRPr>
          </a:p>
        </p:txBody>
      </p:sp>
      <p:sp>
        <p:nvSpPr>
          <p:cNvPr id="4" name="文本占位符 3"/>
          <p:cNvSpPr>
            <a:spLocks noGrp="1"/>
          </p:cNvSpPr>
          <p:nvPr>
            <p:ph type="body" sz="quarter" idx="14"/>
            <p:custDataLst>
              <p:tags r:id="rId5"/>
            </p:custDataLst>
          </p:nvPr>
        </p:nvSpPr>
        <p:spPr>
          <a:xfrm>
            <a:off x="630555" y="276860"/>
            <a:ext cx="7769225" cy="593090"/>
          </a:xfrm>
        </p:spPr>
        <p:txBody>
          <a:bodyPr/>
          <a:lstStyle/>
          <a:p>
            <a:pPr>
              <a:lnSpc>
                <a:spcPct val="170000"/>
              </a:lnSpc>
            </a:pPr>
            <a:r>
              <a:rPr lang="en-US" altLang="zh-CN" sz="2400" dirty="0"/>
              <a:t>TINY</a:t>
            </a:r>
            <a:r>
              <a:rPr lang="zh-CN" altLang="en-US" sz="2400" dirty="0"/>
              <a:t>语言的各语法范畴的抽象语法树结构</a:t>
            </a:r>
            <a:endParaRPr lang="zh-CN" altLang="en-US" sz="2400" dirty="0"/>
          </a:p>
        </p:txBody>
      </p:sp>
      <p:sp>
        <p:nvSpPr>
          <p:cNvPr id="3" name="灯片编号占位符 2"/>
          <p:cNvSpPr>
            <a:spLocks noGrp="1"/>
          </p:cNvSpPr>
          <p:nvPr>
            <p:ph type="sldNum" sz="quarter" idx="12"/>
          </p:nvPr>
        </p:nvSpPr>
        <p:spPr>
          <a:xfrm>
            <a:off x="7085330" y="3876676"/>
            <a:ext cx="2743200" cy="365125"/>
          </a:xfrm>
        </p:spPr>
        <p:txBody>
          <a:bodyPr/>
          <a:p>
            <a:fld id="{5A1A6423-77BD-D842-A714-25250E903C41}" type="slidenum">
              <a:rPr kumimoji="1" lang="zh-CN" altLang="en-US" sz="900" smtClean="0"/>
            </a:fld>
            <a:endParaRPr kumimoji="1" lang="zh-CN" altLang="en-US" sz="900"/>
          </a:p>
        </p:txBody>
      </p:sp>
      <p:sp>
        <p:nvSpPr>
          <p:cNvPr id="5" name="文本占位符 2"/>
          <p:cNvSpPr txBox="1"/>
          <p:nvPr/>
        </p:nvSpPr>
        <p:spPr>
          <a:xfrm>
            <a:off x="7750175" y="1198880"/>
            <a:ext cx="2974975" cy="457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800" dirty="0">
                <a:solidFill>
                  <a:srgbClr val="070709"/>
                </a:solidFill>
              </a:rPr>
              <a:t>算符表达式</a:t>
            </a:r>
            <a:endParaRPr lang="zh-CN" altLang="en-US" sz="2800" dirty="0">
              <a:solidFill>
                <a:srgbClr val="070709"/>
              </a:solidFill>
            </a:endParaRPr>
          </a:p>
        </p:txBody>
      </p:sp>
      <p:graphicFrame>
        <p:nvGraphicFramePr>
          <p:cNvPr id="7" name="Object 5"/>
          <p:cNvGraphicFramePr>
            <a:graphicFrameLocks noChangeAspect="1"/>
          </p:cNvGraphicFramePr>
          <p:nvPr/>
        </p:nvGraphicFramePr>
        <p:xfrm>
          <a:off x="4486275" y="1917700"/>
          <a:ext cx="7369175" cy="3022600"/>
        </p:xfrm>
        <a:graphic>
          <a:graphicData uri="http://schemas.openxmlformats.org/presentationml/2006/ole">
            <mc:AlternateContent xmlns:mc="http://schemas.openxmlformats.org/markup-compatibility/2006">
              <mc:Choice xmlns:v="urn:schemas-microsoft-com:vml" Requires="v">
                <p:oleObj spid="_x0000_s7275" name="" r:id="rId6" imgW="3815715" imgH="1501140" progId="Visio.Drawing.11">
                  <p:embed/>
                </p:oleObj>
              </mc:Choice>
              <mc:Fallback>
                <p:oleObj name="" r:id="rId6" imgW="3815715" imgH="1501140" progId="Visio.Drawing.11">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6275" y="1917700"/>
                        <a:ext cx="7369175"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643255" y="357505"/>
            <a:ext cx="5243830" cy="593090"/>
          </a:xfrm>
        </p:spPr>
        <p:txBody>
          <a:bodyPr/>
          <a:lstStyle/>
          <a:p>
            <a:r>
              <a:rPr lang="zh-CN" altLang="en-US" sz="2800" dirty="0"/>
              <a:t>抽象语法树的定义</a:t>
            </a:r>
            <a:endParaRPr lang="zh-CN" altLang="en-US" sz="2800" dirty="0"/>
          </a:p>
        </p:txBody>
      </p:sp>
      <p:sp>
        <p:nvSpPr>
          <p:cNvPr id="7" name="Rectangle 2"/>
          <p:cNvSpPr>
            <a:spLocks noChangeArrowheads="1"/>
          </p:cNvSpPr>
          <p:nvPr/>
        </p:nvSpPr>
        <p:spPr bwMode="auto">
          <a:xfrm>
            <a:off x="336550" y="1355725"/>
            <a:ext cx="482663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SzPct val="90000"/>
            </a:pPr>
            <a:r>
              <a:rPr lang="en-US" altLang="zh-CN" sz="2400" b="1" dirty="0">
                <a:solidFill>
                  <a:srgbClr val="070709"/>
                </a:solidFill>
                <a:latin typeface="Consolas" panose="020B0609020204030204" pitchFamily="49" charset="0"/>
              </a:rPr>
              <a:t>typedef </a:t>
            </a:r>
            <a:r>
              <a:rPr lang="en-US" altLang="zh-CN" sz="2400" b="1" dirty="0" err="1">
                <a:solidFill>
                  <a:srgbClr val="070709"/>
                </a:solidFill>
                <a:latin typeface="Consolas" panose="020B0609020204030204" pitchFamily="49" charset="0"/>
              </a:rPr>
              <a:t>enum</a:t>
            </a:r>
            <a:r>
              <a:rPr lang="en-US" altLang="zh-CN" sz="2400" b="1" dirty="0">
                <a:solidFill>
                  <a:srgbClr val="070709"/>
                </a:solidFill>
                <a:latin typeface="Consolas" panose="020B0609020204030204" pitchFamily="49" charset="0"/>
              </a:rPr>
              <a:t>{</a:t>
            </a:r>
            <a:r>
              <a:rPr lang="en-US" altLang="zh-CN" sz="2400" b="1" dirty="0" err="1">
                <a:solidFill>
                  <a:srgbClr val="070709"/>
                </a:solidFill>
                <a:latin typeface="Consolas" panose="020B0609020204030204" pitchFamily="49" charset="0"/>
              </a:rPr>
              <a:t>StmtK</a:t>
            </a:r>
            <a:r>
              <a:rPr lang="en-US" altLang="zh-CN" sz="2400" b="1" dirty="0">
                <a:solidFill>
                  <a:srgbClr val="070709"/>
                </a:solidFill>
                <a:latin typeface="Consolas" panose="020B0609020204030204" pitchFamily="49" charset="0"/>
              </a:rPr>
              <a:t>, </a:t>
            </a:r>
            <a:r>
              <a:rPr lang="en-US" altLang="zh-CN" sz="2400" b="1" dirty="0" err="1">
                <a:solidFill>
                  <a:srgbClr val="070709"/>
                </a:solidFill>
                <a:latin typeface="Consolas" panose="020B0609020204030204" pitchFamily="49" charset="0"/>
              </a:rPr>
              <a:t>ExpK</a:t>
            </a:r>
            <a:r>
              <a:rPr lang="en-US" altLang="zh-CN" sz="2400" b="1" dirty="0">
                <a:solidFill>
                  <a:srgbClr val="070709"/>
                </a:solidFill>
                <a:latin typeface="Consolas" panose="020B0609020204030204" pitchFamily="49" charset="0"/>
              </a:rPr>
              <a:t>}</a:t>
            </a:r>
            <a:r>
              <a:rPr lang="en-US" altLang="zh-CN" sz="2400" b="1" dirty="0" err="1">
                <a:solidFill>
                  <a:srgbClr val="070709"/>
                </a:solidFill>
                <a:latin typeface="Consolas" panose="020B0609020204030204" pitchFamily="49" charset="0"/>
              </a:rPr>
              <a:t>NodeKind</a:t>
            </a:r>
            <a:r>
              <a:rPr lang="en-US" altLang="zh-CN" sz="2400" b="1" dirty="0">
                <a:solidFill>
                  <a:srgbClr val="070709"/>
                </a:solidFill>
                <a:latin typeface="Consolas" panose="020B0609020204030204" pitchFamily="49" charset="0"/>
              </a:rPr>
              <a:t>;</a:t>
            </a:r>
            <a:endParaRPr lang="zh-CN" altLang="en-US" sz="2400" b="1" dirty="0">
              <a:solidFill>
                <a:srgbClr val="070709"/>
              </a:solidFill>
              <a:latin typeface="Consolas" panose="020B0609020204030204" pitchFamily="49" charset="0"/>
            </a:endParaRPr>
          </a:p>
        </p:txBody>
      </p:sp>
      <p:sp>
        <p:nvSpPr>
          <p:cNvPr id="8" name="Rectangle 3"/>
          <p:cNvSpPr>
            <a:spLocks noChangeArrowheads="1"/>
          </p:cNvSpPr>
          <p:nvPr/>
        </p:nvSpPr>
        <p:spPr bwMode="auto">
          <a:xfrm>
            <a:off x="293370" y="2272665"/>
            <a:ext cx="482536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SzPct val="90000"/>
            </a:pPr>
            <a:r>
              <a:rPr lang="en-US" altLang="zh-CN" sz="2400" b="1" dirty="0">
                <a:solidFill>
                  <a:srgbClr val="070709"/>
                </a:solidFill>
                <a:latin typeface="Consolas" panose="020B0609020204030204" pitchFamily="49" charset="0"/>
              </a:rPr>
              <a:t>typedef </a:t>
            </a:r>
            <a:r>
              <a:rPr lang="en-US" altLang="zh-CN" sz="2400" b="1" dirty="0" err="1">
                <a:solidFill>
                  <a:srgbClr val="070709"/>
                </a:solidFill>
                <a:latin typeface="Consolas" panose="020B0609020204030204" pitchFamily="49" charset="0"/>
              </a:rPr>
              <a:t>enum</a:t>
            </a:r>
            <a:r>
              <a:rPr lang="en-US" altLang="zh-CN" sz="2400" b="1" dirty="0">
                <a:solidFill>
                  <a:srgbClr val="070709"/>
                </a:solidFill>
                <a:latin typeface="Consolas" panose="020B0609020204030204" pitchFamily="49" charset="0"/>
              </a:rPr>
              <a:t>{</a:t>
            </a:r>
            <a:r>
              <a:rPr lang="en-US" altLang="zh-CN" sz="2400" b="1" dirty="0" err="1">
                <a:solidFill>
                  <a:srgbClr val="070709"/>
                </a:solidFill>
                <a:latin typeface="Consolas" panose="020B0609020204030204" pitchFamily="49" charset="0"/>
              </a:rPr>
              <a:t>IfK</a:t>
            </a:r>
            <a:r>
              <a:rPr lang="en-US" altLang="zh-CN" sz="2400" b="1" dirty="0">
                <a:solidFill>
                  <a:srgbClr val="070709"/>
                </a:solidFill>
                <a:latin typeface="Consolas" panose="020B0609020204030204" pitchFamily="49" charset="0"/>
              </a:rPr>
              <a:t>, </a:t>
            </a:r>
            <a:r>
              <a:rPr lang="en-US" altLang="zh-CN" sz="2400" b="1" dirty="0" err="1">
                <a:solidFill>
                  <a:srgbClr val="070709"/>
                </a:solidFill>
                <a:latin typeface="Consolas" panose="020B0609020204030204" pitchFamily="49" charset="0"/>
              </a:rPr>
              <a:t>RepeatK</a:t>
            </a:r>
            <a:r>
              <a:rPr lang="en-US" altLang="zh-CN" sz="2400" b="1" dirty="0">
                <a:solidFill>
                  <a:srgbClr val="070709"/>
                </a:solidFill>
                <a:latin typeface="Consolas" panose="020B0609020204030204" pitchFamily="49" charset="0"/>
              </a:rPr>
              <a:t>, </a:t>
            </a:r>
            <a:r>
              <a:rPr lang="en-US" altLang="zh-CN" sz="2400" b="1" dirty="0" err="1">
                <a:solidFill>
                  <a:srgbClr val="070709"/>
                </a:solidFill>
                <a:latin typeface="Consolas" panose="020B0609020204030204" pitchFamily="49" charset="0"/>
              </a:rPr>
              <a:t>AssignK</a:t>
            </a:r>
            <a:r>
              <a:rPr lang="en-US" altLang="zh-CN" sz="2400" b="1" dirty="0">
                <a:solidFill>
                  <a:srgbClr val="070709"/>
                </a:solidFill>
                <a:latin typeface="Consolas" panose="020B0609020204030204" pitchFamily="49" charset="0"/>
              </a:rPr>
              <a:t>,</a:t>
            </a:r>
            <a:r>
              <a:rPr lang="en-US" altLang="zh-CN" sz="2400" b="1" dirty="0" err="1">
                <a:solidFill>
                  <a:srgbClr val="070709"/>
                </a:solidFill>
                <a:latin typeface="Consolas" panose="020B0609020204030204" pitchFamily="49" charset="0"/>
              </a:rPr>
              <a:t>ReadK</a:t>
            </a:r>
            <a:r>
              <a:rPr lang="en-US" altLang="zh-CN" sz="2400" b="1" dirty="0">
                <a:solidFill>
                  <a:srgbClr val="070709"/>
                </a:solidFill>
                <a:latin typeface="Consolas" panose="020B0609020204030204" pitchFamily="49" charset="0"/>
              </a:rPr>
              <a:t>, </a:t>
            </a:r>
            <a:r>
              <a:rPr lang="en-US" altLang="zh-CN" sz="2400" b="1" dirty="0" err="1">
                <a:solidFill>
                  <a:srgbClr val="070709"/>
                </a:solidFill>
                <a:latin typeface="Consolas" panose="020B0609020204030204" pitchFamily="49" charset="0"/>
              </a:rPr>
              <a:t>WriteK</a:t>
            </a:r>
            <a:r>
              <a:rPr lang="en-US" altLang="zh-CN" sz="2400" b="1" dirty="0">
                <a:solidFill>
                  <a:srgbClr val="070709"/>
                </a:solidFill>
                <a:latin typeface="Consolas" panose="020B0609020204030204" pitchFamily="49" charset="0"/>
              </a:rPr>
              <a:t>}</a:t>
            </a:r>
            <a:r>
              <a:rPr lang="en-US" altLang="zh-CN" sz="2400" b="1" dirty="0" err="1">
                <a:solidFill>
                  <a:srgbClr val="070709"/>
                </a:solidFill>
                <a:latin typeface="Consolas" panose="020B0609020204030204" pitchFamily="49" charset="0"/>
              </a:rPr>
              <a:t>StmtKind</a:t>
            </a:r>
            <a:r>
              <a:rPr lang="en-US" altLang="zh-CN" sz="2400" b="1" dirty="0">
                <a:solidFill>
                  <a:srgbClr val="070709"/>
                </a:solidFill>
                <a:latin typeface="Consolas" panose="020B0609020204030204" pitchFamily="49" charset="0"/>
              </a:rPr>
              <a:t>;</a:t>
            </a:r>
            <a:endParaRPr lang="zh-CN" altLang="en-US" sz="2400" b="1" dirty="0">
              <a:solidFill>
                <a:srgbClr val="070709"/>
              </a:solidFill>
              <a:latin typeface="Consolas" panose="020B0609020204030204" pitchFamily="49" charset="0"/>
            </a:endParaRPr>
          </a:p>
        </p:txBody>
      </p:sp>
      <p:sp>
        <p:nvSpPr>
          <p:cNvPr id="9" name="Rectangle 4"/>
          <p:cNvSpPr>
            <a:spLocks noChangeArrowheads="1"/>
          </p:cNvSpPr>
          <p:nvPr/>
        </p:nvSpPr>
        <p:spPr bwMode="auto">
          <a:xfrm>
            <a:off x="293370" y="3663950"/>
            <a:ext cx="482473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SzPct val="90000"/>
            </a:pPr>
            <a:r>
              <a:rPr lang="en-US" altLang="zh-CN" sz="2400" b="1" dirty="0">
                <a:solidFill>
                  <a:srgbClr val="070709"/>
                </a:solidFill>
                <a:latin typeface="Consolas" panose="020B0609020204030204" pitchFamily="49" charset="0"/>
              </a:rPr>
              <a:t>typedef </a:t>
            </a:r>
            <a:r>
              <a:rPr lang="en-US" altLang="zh-CN" sz="2400" b="1" dirty="0" err="1">
                <a:solidFill>
                  <a:srgbClr val="070709"/>
                </a:solidFill>
                <a:latin typeface="Consolas" panose="020B0609020204030204" pitchFamily="49" charset="0"/>
              </a:rPr>
              <a:t>enum</a:t>
            </a:r>
            <a:r>
              <a:rPr lang="en-US" altLang="zh-CN" sz="2400" b="1" dirty="0">
                <a:solidFill>
                  <a:srgbClr val="070709"/>
                </a:solidFill>
                <a:latin typeface="Consolas" panose="020B0609020204030204" pitchFamily="49" charset="0"/>
              </a:rPr>
              <a:t>{</a:t>
            </a:r>
            <a:r>
              <a:rPr lang="en-US" altLang="zh-CN" sz="2400" b="1" dirty="0" err="1">
                <a:solidFill>
                  <a:srgbClr val="070709"/>
                </a:solidFill>
                <a:latin typeface="Consolas" panose="020B0609020204030204" pitchFamily="49" charset="0"/>
              </a:rPr>
              <a:t>OpK</a:t>
            </a:r>
            <a:r>
              <a:rPr lang="en-US" altLang="zh-CN" sz="2400" b="1" dirty="0">
                <a:solidFill>
                  <a:srgbClr val="070709"/>
                </a:solidFill>
                <a:latin typeface="Consolas" panose="020B0609020204030204" pitchFamily="49" charset="0"/>
              </a:rPr>
              <a:t>, </a:t>
            </a:r>
            <a:r>
              <a:rPr lang="en-US" altLang="zh-CN" sz="2400" b="1" dirty="0" err="1">
                <a:solidFill>
                  <a:srgbClr val="070709"/>
                </a:solidFill>
                <a:latin typeface="Consolas" panose="020B0609020204030204" pitchFamily="49" charset="0"/>
              </a:rPr>
              <a:t>ConstK</a:t>
            </a:r>
            <a:r>
              <a:rPr lang="en-US" altLang="zh-CN" sz="2400" b="1" dirty="0">
                <a:solidFill>
                  <a:srgbClr val="070709"/>
                </a:solidFill>
                <a:latin typeface="Consolas" panose="020B0609020204030204" pitchFamily="49" charset="0"/>
              </a:rPr>
              <a:t>, </a:t>
            </a:r>
            <a:r>
              <a:rPr lang="en-US" altLang="zh-CN" sz="2400" b="1" dirty="0" err="1">
                <a:solidFill>
                  <a:srgbClr val="070709"/>
                </a:solidFill>
                <a:latin typeface="Consolas" panose="020B0609020204030204" pitchFamily="49" charset="0"/>
              </a:rPr>
              <a:t>IdK</a:t>
            </a:r>
            <a:r>
              <a:rPr lang="en-US" altLang="zh-CN" sz="2400" b="1" dirty="0">
                <a:solidFill>
                  <a:srgbClr val="070709"/>
                </a:solidFill>
                <a:latin typeface="Consolas" panose="020B0609020204030204" pitchFamily="49" charset="0"/>
              </a:rPr>
              <a:t>}</a:t>
            </a:r>
            <a:r>
              <a:rPr lang="en-US" altLang="zh-CN" sz="2400" b="1" dirty="0" err="1">
                <a:solidFill>
                  <a:srgbClr val="070709"/>
                </a:solidFill>
                <a:latin typeface="Consolas" panose="020B0609020204030204" pitchFamily="49" charset="0"/>
              </a:rPr>
              <a:t>ExpKind</a:t>
            </a:r>
            <a:r>
              <a:rPr lang="en-US" altLang="zh-CN" sz="2400" b="1" dirty="0">
                <a:solidFill>
                  <a:srgbClr val="070709"/>
                </a:solidFill>
                <a:latin typeface="Consolas" panose="020B0609020204030204" pitchFamily="49" charset="0"/>
              </a:rPr>
              <a:t>;</a:t>
            </a:r>
            <a:endParaRPr lang="zh-CN" altLang="en-US" sz="2400" b="1" dirty="0">
              <a:solidFill>
                <a:srgbClr val="070709"/>
              </a:solidFill>
              <a:latin typeface="Consolas" panose="020B0609020204030204" pitchFamily="49" charset="0"/>
            </a:endParaRPr>
          </a:p>
        </p:txBody>
      </p:sp>
      <p:sp>
        <p:nvSpPr>
          <p:cNvPr id="10" name="Rectangle 5"/>
          <p:cNvSpPr>
            <a:spLocks noChangeArrowheads="1"/>
          </p:cNvSpPr>
          <p:nvPr/>
        </p:nvSpPr>
        <p:spPr bwMode="auto">
          <a:xfrm>
            <a:off x="293370" y="4686935"/>
            <a:ext cx="551434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SzPct val="90000"/>
            </a:pPr>
            <a:r>
              <a:rPr lang="en-US" altLang="zh-CN" sz="2400" b="1" dirty="0">
                <a:solidFill>
                  <a:srgbClr val="070709"/>
                </a:solidFill>
                <a:latin typeface="Consolas" panose="020B0609020204030204" pitchFamily="49" charset="0"/>
              </a:rPr>
              <a:t>typedef </a:t>
            </a:r>
            <a:r>
              <a:rPr lang="en-US" altLang="zh-CN" sz="2400" b="1" dirty="0" err="1">
                <a:solidFill>
                  <a:srgbClr val="070709"/>
                </a:solidFill>
                <a:latin typeface="Consolas" panose="020B0609020204030204" pitchFamily="49" charset="0"/>
              </a:rPr>
              <a:t>enum</a:t>
            </a:r>
            <a:r>
              <a:rPr lang="en-US" altLang="zh-CN" sz="2400" b="1" dirty="0">
                <a:solidFill>
                  <a:srgbClr val="070709"/>
                </a:solidFill>
                <a:latin typeface="Consolas" panose="020B0609020204030204" pitchFamily="49" charset="0"/>
              </a:rPr>
              <a:t>{Void, Integer, Boolean}</a:t>
            </a:r>
            <a:r>
              <a:rPr lang="en-US" altLang="zh-CN" sz="2400" b="1" dirty="0" err="1">
                <a:solidFill>
                  <a:srgbClr val="070709"/>
                </a:solidFill>
                <a:latin typeface="Consolas" panose="020B0609020204030204" pitchFamily="49" charset="0"/>
              </a:rPr>
              <a:t>ExpType</a:t>
            </a:r>
            <a:r>
              <a:rPr lang="en-US" altLang="zh-CN" sz="2400" b="1" dirty="0">
                <a:solidFill>
                  <a:srgbClr val="070709"/>
                </a:solidFill>
                <a:latin typeface="Consolas" panose="020B0609020204030204" pitchFamily="49" charset="0"/>
              </a:rPr>
              <a:t>;</a:t>
            </a:r>
            <a:endParaRPr lang="zh-CN" altLang="en-US" sz="2400" b="1" dirty="0">
              <a:solidFill>
                <a:srgbClr val="070709"/>
              </a:solidFill>
              <a:latin typeface="Consolas" panose="020B0609020204030204" pitchFamily="49" charset="0"/>
            </a:endParaRPr>
          </a:p>
        </p:txBody>
      </p:sp>
      <p:sp>
        <p:nvSpPr>
          <p:cNvPr id="11" name="Rectangle 6"/>
          <p:cNvSpPr>
            <a:spLocks noChangeArrowheads="1"/>
          </p:cNvSpPr>
          <p:nvPr/>
        </p:nvSpPr>
        <p:spPr bwMode="auto">
          <a:xfrm>
            <a:off x="448945" y="5709920"/>
            <a:ext cx="39509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SzPct val="90000"/>
            </a:pPr>
            <a:r>
              <a:rPr lang="zh-CN" altLang="en-US" sz="2400" b="1">
                <a:solidFill>
                  <a:srgbClr val="070709"/>
                </a:solidFill>
                <a:latin typeface="Consolas" panose="020B0609020204030204" pitchFamily="49" charset="0"/>
              </a:rPr>
              <a:t>#</a:t>
            </a:r>
            <a:r>
              <a:rPr lang="en-US" altLang="zh-CN" sz="2400" b="1">
                <a:solidFill>
                  <a:srgbClr val="070709"/>
                </a:solidFill>
                <a:latin typeface="Consolas" panose="020B0609020204030204" pitchFamily="49" charset="0"/>
              </a:rPr>
              <a:t>define MAXCHILDREN 3</a:t>
            </a:r>
            <a:endParaRPr lang="zh-CN" altLang="en-US" sz="2400" b="1">
              <a:solidFill>
                <a:srgbClr val="070709"/>
              </a:solidFill>
              <a:latin typeface="Consolas" panose="020B0609020204030204" pitchFamily="49" charset="0"/>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Rectangle 2"/>
          <p:cNvSpPr>
            <a:spLocks noChangeArrowheads="1"/>
          </p:cNvSpPr>
          <p:nvPr>
            <p:custDataLst>
              <p:tags r:id="rId1"/>
            </p:custDataLst>
          </p:nvPr>
        </p:nvSpPr>
        <p:spPr bwMode="auto">
          <a:xfrm>
            <a:off x="5887085" y="1229360"/>
            <a:ext cx="5854700" cy="4891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typedef struct </a:t>
            </a:r>
            <a:r>
              <a:rPr lang="en-US" altLang="zh-CN" sz="2400" b="1" dirty="0" err="1">
                <a:solidFill>
                  <a:srgbClr val="070709"/>
                </a:solidFill>
                <a:latin typeface="Times New Roman" panose="02020603050405020304" pitchFamily="18" charset="0"/>
                <a:cs typeface="Times New Roman" panose="02020603050405020304" pitchFamily="18" charset="0"/>
              </a:rPr>
              <a:t>treeNode</a:t>
            </a:r>
            <a:endParaRPr lang="en-US" altLang="zh-CN" sz="2400" b="1" dirty="0">
              <a:solidFill>
                <a:srgbClr val="070709"/>
              </a:solidFill>
              <a:latin typeface="Times New Roman" panose="02020603050405020304" pitchFamily="18" charset="0"/>
              <a:cs typeface="Times New Roman" panose="02020603050405020304" pitchFamily="18" charset="0"/>
            </a:endParaRPr>
          </a:p>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{struct </a:t>
            </a:r>
            <a:r>
              <a:rPr lang="en-US" altLang="zh-CN" sz="2400" b="1" dirty="0" err="1">
                <a:solidFill>
                  <a:srgbClr val="070709"/>
                </a:solidFill>
                <a:latin typeface="Times New Roman" panose="02020603050405020304" pitchFamily="18" charset="0"/>
                <a:cs typeface="Times New Roman" panose="02020603050405020304" pitchFamily="18" charset="0"/>
              </a:rPr>
              <a:t>treeNode</a:t>
            </a:r>
            <a:r>
              <a:rPr lang="en-US" altLang="zh-CN" sz="2400" b="1" dirty="0">
                <a:solidFill>
                  <a:srgbClr val="070709"/>
                </a:solidFill>
                <a:latin typeface="Times New Roman" panose="02020603050405020304" pitchFamily="18" charset="0"/>
                <a:cs typeface="Times New Roman" panose="02020603050405020304" pitchFamily="18" charset="0"/>
              </a:rPr>
              <a:t>* child[MAXCHILDREN];</a:t>
            </a:r>
            <a:endParaRPr lang="en-US" altLang="zh-CN" sz="2400" b="1" dirty="0">
              <a:solidFill>
                <a:srgbClr val="070709"/>
              </a:solidFill>
              <a:latin typeface="Times New Roman" panose="02020603050405020304" pitchFamily="18" charset="0"/>
              <a:cs typeface="Times New Roman" panose="02020603050405020304" pitchFamily="18" charset="0"/>
            </a:endParaRPr>
          </a:p>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 struct </a:t>
            </a:r>
            <a:r>
              <a:rPr lang="en-US" altLang="zh-CN" sz="2400" b="1" dirty="0" err="1">
                <a:solidFill>
                  <a:srgbClr val="070709"/>
                </a:solidFill>
                <a:latin typeface="Times New Roman" panose="02020603050405020304" pitchFamily="18" charset="0"/>
                <a:cs typeface="Times New Roman" panose="02020603050405020304" pitchFamily="18" charset="0"/>
              </a:rPr>
              <a:t>treeNode</a:t>
            </a:r>
            <a:r>
              <a:rPr lang="en-US" altLang="zh-CN" sz="2400" b="1" dirty="0">
                <a:solidFill>
                  <a:srgbClr val="070709"/>
                </a:solidFill>
                <a:latin typeface="Times New Roman" panose="02020603050405020304" pitchFamily="18" charset="0"/>
                <a:cs typeface="Times New Roman" panose="02020603050405020304" pitchFamily="18" charset="0"/>
              </a:rPr>
              <a:t>* sibling;</a:t>
            </a:r>
            <a:endParaRPr lang="en-US" altLang="zh-CN" sz="2400" b="1" dirty="0">
              <a:solidFill>
                <a:srgbClr val="070709"/>
              </a:solidFill>
              <a:latin typeface="Times New Roman" panose="02020603050405020304" pitchFamily="18" charset="0"/>
              <a:cs typeface="Times New Roman" panose="02020603050405020304" pitchFamily="18" charset="0"/>
            </a:endParaRPr>
          </a:p>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 int </a:t>
            </a:r>
            <a:r>
              <a:rPr lang="en-US" altLang="zh-CN" sz="2400" b="1" dirty="0" err="1">
                <a:solidFill>
                  <a:srgbClr val="070709"/>
                </a:solidFill>
                <a:latin typeface="Times New Roman" panose="02020603050405020304" pitchFamily="18" charset="0"/>
                <a:cs typeface="Times New Roman" panose="02020603050405020304" pitchFamily="18" charset="0"/>
              </a:rPr>
              <a:t>lineno</a:t>
            </a:r>
            <a:r>
              <a:rPr lang="en-US" altLang="zh-CN" sz="2400" b="1" dirty="0">
                <a:solidFill>
                  <a:srgbClr val="070709"/>
                </a:solidFill>
                <a:latin typeface="Times New Roman" panose="02020603050405020304" pitchFamily="18" charset="0"/>
                <a:cs typeface="Times New Roman" panose="02020603050405020304" pitchFamily="18" charset="0"/>
              </a:rPr>
              <a:t>;</a:t>
            </a:r>
            <a:endParaRPr lang="en-US" altLang="zh-CN" sz="2400" b="1" dirty="0">
              <a:solidFill>
                <a:srgbClr val="070709"/>
              </a:solidFill>
              <a:latin typeface="Times New Roman" panose="02020603050405020304" pitchFamily="18" charset="0"/>
              <a:cs typeface="Times New Roman" panose="02020603050405020304" pitchFamily="18" charset="0"/>
            </a:endParaRPr>
          </a:p>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 </a:t>
            </a:r>
            <a:r>
              <a:rPr lang="en-US" altLang="zh-CN" sz="2400" b="1" dirty="0" err="1">
                <a:solidFill>
                  <a:srgbClr val="070709"/>
                </a:solidFill>
                <a:latin typeface="Times New Roman" panose="02020603050405020304" pitchFamily="18" charset="0"/>
                <a:cs typeface="Times New Roman" panose="02020603050405020304" pitchFamily="18" charset="0"/>
              </a:rPr>
              <a:t>NodeKind</a:t>
            </a:r>
            <a:r>
              <a:rPr lang="en-US" altLang="zh-CN" sz="2400" b="1" dirty="0">
                <a:solidFill>
                  <a:srgbClr val="070709"/>
                </a:solidFill>
                <a:latin typeface="Times New Roman" panose="02020603050405020304" pitchFamily="18" charset="0"/>
                <a:cs typeface="Times New Roman" panose="02020603050405020304" pitchFamily="18" charset="0"/>
              </a:rPr>
              <a:t> </a:t>
            </a:r>
            <a:r>
              <a:rPr lang="en-US" altLang="zh-CN" sz="2400" b="1" dirty="0" err="1">
                <a:solidFill>
                  <a:srgbClr val="070709"/>
                </a:solidFill>
                <a:latin typeface="Times New Roman" panose="02020603050405020304" pitchFamily="18" charset="0"/>
                <a:cs typeface="Times New Roman" panose="02020603050405020304" pitchFamily="18" charset="0"/>
              </a:rPr>
              <a:t>nodekind</a:t>
            </a:r>
            <a:r>
              <a:rPr lang="en-US" altLang="zh-CN" sz="2400" b="1" dirty="0">
                <a:solidFill>
                  <a:srgbClr val="070709"/>
                </a:solidFill>
                <a:latin typeface="Times New Roman" panose="02020603050405020304" pitchFamily="18" charset="0"/>
                <a:cs typeface="Times New Roman" panose="02020603050405020304" pitchFamily="18" charset="0"/>
              </a:rPr>
              <a:t>;</a:t>
            </a:r>
            <a:endParaRPr lang="en-US" altLang="zh-CN" sz="2400" b="1" dirty="0">
              <a:solidFill>
                <a:srgbClr val="070709"/>
              </a:solidFill>
              <a:latin typeface="Times New Roman" panose="02020603050405020304" pitchFamily="18" charset="0"/>
              <a:cs typeface="Times New Roman" panose="02020603050405020304" pitchFamily="18" charset="0"/>
            </a:endParaRPr>
          </a:p>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 union{ </a:t>
            </a:r>
            <a:r>
              <a:rPr lang="en-US" altLang="zh-CN" sz="2400" b="1" dirty="0" err="1">
                <a:solidFill>
                  <a:srgbClr val="070709"/>
                </a:solidFill>
                <a:latin typeface="Times New Roman" panose="02020603050405020304" pitchFamily="18" charset="0"/>
                <a:cs typeface="Times New Roman" panose="02020603050405020304" pitchFamily="18" charset="0"/>
              </a:rPr>
              <a:t>StmtKind</a:t>
            </a:r>
            <a:r>
              <a:rPr lang="en-US" altLang="zh-CN" sz="2400" b="1" dirty="0">
                <a:solidFill>
                  <a:srgbClr val="070709"/>
                </a:solidFill>
                <a:latin typeface="Times New Roman" panose="02020603050405020304" pitchFamily="18" charset="0"/>
                <a:cs typeface="Times New Roman" panose="02020603050405020304" pitchFamily="18" charset="0"/>
              </a:rPr>
              <a:t> </a:t>
            </a:r>
            <a:r>
              <a:rPr lang="en-US" altLang="zh-CN" sz="2400" b="1" dirty="0" err="1">
                <a:solidFill>
                  <a:srgbClr val="070709"/>
                </a:solidFill>
                <a:latin typeface="Times New Roman" panose="02020603050405020304" pitchFamily="18" charset="0"/>
                <a:cs typeface="Times New Roman" panose="02020603050405020304" pitchFamily="18" charset="0"/>
              </a:rPr>
              <a:t>stmt;ExpKind</a:t>
            </a:r>
            <a:r>
              <a:rPr lang="en-US" altLang="zh-CN" sz="2400" b="1" dirty="0">
                <a:solidFill>
                  <a:srgbClr val="070709"/>
                </a:solidFill>
                <a:latin typeface="Times New Roman" panose="02020603050405020304" pitchFamily="18" charset="0"/>
                <a:cs typeface="Times New Roman" panose="02020603050405020304" pitchFamily="18" charset="0"/>
              </a:rPr>
              <a:t> exp;} kind;</a:t>
            </a:r>
            <a:endParaRPr lang="en-US" altLang="zh-CN" sz="2400" b="1" dirty="0">
              <a:solidFill>
                <a:srgbClr val="070709"/>
              </a:solidFill>
              <a:latin typeface="Times New Roman" panose="02020603050405020304" pitchFamily="18" charset="0"/>
              <a:cs typeface="Times New Roman" panose="02020603050405020304" pitchFamily="18" charset="0"/>
            </a:endParaRPr>
          </a:p>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 union{ </a:t>
            </a:r>
            <a:r>
              <a:rPr lang="en-US" altLang="zh-CN" sz="2400" b="1" dirty="0" err="1">
                <a:solidFill>
                  <a:srgbClr val="070709"/>
                </a:solidFill>
                <a:latin typeface="Times New Roman" panose="02020603050405020304" pitchFamily="18" charset="0"/>
                <a:cs typeface="Times New Roman" panose="02020603050405020304" pitchFamily="18" charset="0"/>
              </a:rPr>
              <a:t>TokenType</a:t>
            </a:r>
            <a:r>
              <a:rPr lang="en-US" altLang="zh-CN" sz="2400" b="1" dirty="0">
                <a:solidFill>
                  <a:srgbClr val="070709"/>
                </a:solidFill>
                <a:latin typeface="Times New Roman" panose="02020603050405020304" pitchFamily="18" charset="0"/>
                <a:cs typeface="Times New Roman" panose="02020603050405020304" pitchFamily="18" charset="0"/>
              </a:rPr>
              <a:t> op;</a:t>
            </a:r>
            <a:endParaRPr lang="en-US" altLang="zh-CN" sz="2400" b="1" dirty="0">
              <a:solidFill>
                <a:srgbClr val="070709"/>
              </a:solidFill>
              <a:latin typeface="Times New Roman" panose="02020603050405020304" pitchFamily="18" charset="0"/>
              <a:cs typeface="Times New Roman" panose="02020603050405020304" pitchFamily="18" charset="0"/>
            </a:endParaRPr>
          </a:p>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		int </a:t>
            </a:r>
            <a:r>
              <a:rPr lang="en-US" altLang="zh-CN" sz="2400" b="1" dirty="0" err="1">
                <a:solidFill>
                  <a:srgbClr val="070709"/>
                </a:solidFill>
                <a:latin typeface="Times New Roman" panose="02020603050405020304" pitchFamily="18" charset="0"/>
                <a:cs typeface="Times New Roman" panose="02020603050405020304" pitchFamily="18" charset="0"/>
              </a:rPr>
              <a:t>val</a:t>
            </a:r>
            <a:r>
              <a:rPr lang="en-US" altLang="zh-CN" sz="2400" b="1" dirty="0">
                <a:solidFill>
                  <a:srgbClr val="070709"/>
                </a:solidFill>
                <a:latin typeface="Times New Roman" panose="02020603050405020304" pitchFamily="18" charset="0"/>
                <a:cs typeface="Times New Roman" panose="02020603050405020304" pitchFamily="18" charset="0"/>
              </a:rPr>
              <a:t>;</a:t>
            </a:r>
            <a:endParaRPr lang="en-US" altLang="zh-CN" sz="2400" b="1" dirty="0">
              <a:solidFill>
                <a:srgbClr val="070709"/>
              </a:solidFill>
              <a:latin typeface="Times New Roman" panose="02020603050405020304" pitchFamily="18" charset="0"/>
              <a:cs typeface="Times New Roman" panose="02020603050405020304" pitchFamily="18" charset="0"/>
            </a:endParaRPr>
          </a:p>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		char * name;} </a:t>
            </a:r>
            <a:r>
              <a:rPr lang="en-US" altLang="zh-CN" sz="2400" b="1" dirty="0" err="1">
                <a:solidFill>
                  <a:srgbClr val="070709"/>
                </a:solidFill>
                <a:latin typeface="Times New Roman" panose="02020603050405020304" pitchFamily="18" charset="0"/>
                <a:cs typeface="Times New Roman" panose="02020603050405020304" pitchFamily="18" charset="0"/>
              </a:rPr>
              <a:t>attr</a:t>
            </a:r>
            <a:r>
              <a:rPr lang="en-US" altLang="zh-CN" sz="2400" b="1" dirty="0">
                <a:solidFill>
                  <a:srgbClr val="070709"/>
                </a:solidFill>
                <a:latin typeface="Times New Roman" panose="02020603050405020304" pitchFamily="18" charset="0"/>
                <a:cs typeface="Times New Roman" panose="02020603050405020304" pitchFamily="18" charset="0"/>
              </a:rPr>
              <a:t>;</a:t>
            </a:r>
            <a:endParaRPr lang="en-US" altLang="zh-CN" sz="2400" b="1" dirty="0">
              <a:solidFill>
                <a:srgbClr val="070709"/>
              </a:solidFill>
              <a:latin typeface="Times New Roman" panose="02020603050405020304" pitchFamily="18" charset="0"/>
              <a:cs typeface="Times New Roman" panose="02020603050405020304" pitchFamily="18" charset="0"/>
            </a:endParaRPr>
          </a:p>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 </a:t>
            </a:r>
            <a:r>
              <a:rPr lang="en-US" altLang="zh-CN" sz="2400" b="1" dirty="0" err="1">
                <a:solidFill>
                  <a:srgbClr val="070709"/>
                </a:solidFill>
                <a:latin typeface="Times New Roman" panose="02020603050405020304" pitchFamily="18" charset="0"/>
                <a:cs typeface="Times New Roman" panose="02020603050405020304" pitchFamily="18" charset="0"/>
              </a:rPr>
              <a:t>ExpType</a:t>
            </a:r>
            <a:r>
              <a:rPr lang="en-US" altLang="zh-CN" sz="2400" b="1" dirty="0">
                <a:solidFill>
                  <a:srgbClr val="070709"/>
                </a:solidFill>
                <a:latin typeface="Times New Roman" panose="02020603050405020304" pitchFamily="18" charset="0"/>
                <a:cs typeface="Times New Roman" panose="02020603050405020304" pitchFamily="18" charset="0"/>
              </a:rPr>
              <a:t> type;</a:t>
            </a:r>
            <a:endParaRPr lang="en-US" altLang="zh-CN" sz="2400" b="1" dirty="0">
              <a:solidFill>
                <a:srgbClr val="070709"/>
              </a:solidFill>
              <a:latin typeface="Times New Roman" panose="02020603050405020304" pitchFamily="18" charset="0"/>
              <a:cs typeface="Times New Roman" panose="02020603050405020304" pitchFamily="18" charset="0"/>
            </a:endParaRPr>
          </a:p>
          <a:p>
            <a:pPr>
              <a:spcBef>
                <a:spcPct val="20000"/>
              </a:spcBef>
              <a:buSzPct val="90000"/>
            </a:pPr>
            <a:r>
              <a:rPr lang="en-US" altLang="zh-CN" sz="2400" b="1" dirty="0">
                <a:solidFill>
                  <a:srgbClr val="070709"/>
                </a:solidFill>
                <a:latin typeface="Times New Roman" panose="02020603050405020304" pitchFamily="18" charset="0"/>
                <a:cs typeface="Times New Roman" panose="02020603050405020304" pitchFamily="18" charset="0"/>
              </a:rPr>
              <a:t>} </a:t>
            </a:r>
            <a:r>
              <a:rPr lang="en-US" altLang="zh-CN" sz="2400" b="1" dirty="0" err="1">
                <a:solidFill>
                  <a:srgbClr val="070709"/>
                </a:solidFill>
                <a:latin typeface="Times New Roman" panose="02020603050405020304" pitchFamily="18" charset="0"/>
                <a:cs typeface="Times New Roman" panose="02020603050405020304" pitchFamily="18" charset="0"/>
              </a:rPr>
              <a:t>TreeNode</a:t>
            </a:r>
            <a:r>
              <a:rPr lang="en-US" altLang="zh-CN" sz="2400" b="1" dirty="0">
                <a:solidFill>
                  <a:srgbClr val="070709"/>
                </a:solidFill>
                <a:latin typeface="Times New Roman" panose="02020603050405020304" pitchFamily="18" charset="0"/>
                <a:cs typeface="Times New Roman" panose="02020603050405020304" pitchFamily="18" charset="0"/>
              </a:rPr>
              <a:t>;</a:t>
            </a:r>
            <a:endParaRPr lang="en-US" altLang="zh-CN" sz="2400" b="1" dirty="0">
              <a:solidFill>
                <a:srgbClr val="07070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514985" y="276860"/>
            <a:ext cx="7472680" cy="593090"/>
          </a:xfrm>
        </p:spPr>
        <p:txBody>
          <a:bodyPr/>
          <a:lstStyle/>
          <a:p>
            <a:r>
              <a:rPr lang="en-US" altLang="zh-CN" sz="3200" dirty="0"/>
              <a:t>Tiny</a:t>
            </a:r>
            <a:r>
              <a:rPr lang="zh-CN" altLang="en-US" sz="3200" dirty="0"/>
              <a:t>语法分析程序：</a:t>
            </a:r>
            <a:r>
              <a:rPr lang="en-US" altLang="zh-CN" sz="3200" dirty="0"/>
              <a:t>PARSE.C</a:t>
            </a:r>
            <a:endParaRPr lang="en-US" altLang="zh-CN" sz="3200" dirty="0"/>
          </a:p>
        </p:txBody>
      </p:sp>
      <p:sp>
        <p:nvSpPr>
          <p:cNvPr id="8" name="Rectangle 6"/>
          <p:cNvSpPr txBox="1">
            <a:spLocks noChangeArrowheads="1"/>
          </p:cNvSpPr>
          <p:nvPr/>
        </p:nvSpPr>
        <p:spPr>
          <a:xfrm>
            <a:off x="2090738" y="1143000"/>
            <a:ext cx="8254533" cy="11604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i="1" dirty="0" err="1"/>
              <a:t>statement</a:t>
            </a:r>
            <a:r>
              <a:rPr lang="en-US" altLang="zh-CN" dirty="0" err="1">
                <a:sym typeface="Symbol" panose="05050102010706020507" pitchFamily="18" charset="2"/>
              </a:rPr>
              <a:t></a:t>
            </a:r>
            <a:r>
              <a:rPr lang="en-US" altLang="zh-CN" i="1" dirty="0" err="1"/>
              <a:t>if-stmt|repeat-stmt|assign-stmt</a:t>
            </a:r>
            <a:r>
              <a:rPr lang="en-US" altLang="zh-CN" i="1" dirty="0"/>
              <a:t>|                  </a:t>
            </a:r>
            <a:r>
              <a:rPr lang="en-US" altLang="zh-CN" i="1" dirty="0" err="1"/>
              <a:t>read-stmt|write-stmt</a:t>
            </a:r>
            <a:endParaRPr lang="en-US" altLang="zh-CN" i="1" dirty="0"/>
          </a:p>
          <a:p>
            <a:endParaRPr lang="en-US" altLang="zh-CN" dirty="0"/>
          </a:p>
        </p:txBody>
      </p:sp>
      <p:pic>
        <p:nvPicPr>
          <p:cNvPr id="9"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95500" y="2053590"/>
            <a:ext cx="7029450" cy="4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Horizontal)">
                                      <p:cBhvr>
                                        <p:cTn id="7" dur="500"/>
                                        <p:tgtEl>
                                          <p:spTgt spid="8">
                                            <p:txEl>
                                              <p:pRg st="0" end="0"/>
                                            </p:txEl>
                                          </p:spTgt>
                                        </p:tgtEl>
                                      </p:cBhvr>
                                    </p:animEffect>
                                  </p:childTnLst>
                                  <p:subTnLst>
                                    <p:set>
                                      <p:cBhvr override="childStyle">
                                        <p:cTn dur="1" fill="hold" display="0" masterRel="nextClick" afterEffect="1"/>
                                        <p:tgtEl>
                                          <p:spTgt spid="8">
                                            <p:txEl>
                                              <p:pRg st="0" end="0"/>
                                            </p:txEl>
                                          </p:spTgt>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537210" y="276860"/>
            <a:ext cx="7450455" cy="593090"/>
          </a:xfrm>
        </p:spPr>
        <p:txBody>
          <a:bodyPr/>
          <a:lstStyle/>
          <a:p>
            <a:r>
              <a:rPr lang="en-US" altLang="zh-CN" sz="3200" dirty="0"/>
              <a:t>Tiny</a:t>
            </a:r>
            <a:r>
              <a:rPr lang="zh-CN" altLang="en-US" sz="3200" dirty="0"/>
              <a:t>语法分析程序：</a:t>
            </a:r>
            <a:r>
              <a:rPr lang="en-US" altLang="zh-CN" sz="3200" dirty="0"/>
              <a:t>PARSE.C</a:t>
            </a:r>
            <a:endParaRPr lang="en-US" altLang="zh-CN" sz="3200" dirty="0"/>
          </a:p>
        </p:txBody>
      </p:sp>
      <p:sp>
        <p:nvSpPr>
          <p:cNvPr id="17" name="Rectangle 10"/>
          <p:cNvSpPr txBox="1">
            <a:spLocks noChangeArrowheads="1"/>
          </p:cNvSpPr>
          <p:nvPr/>
        </p:nvSpPr>
        <p:spPr>
          <a:xfrm>
            <a:off x="1972889" y="1128116"/>
            <a:ext cx="8293100" cy="12858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i="1">
                <a:latin typeface="Times New Roman" panose="02020603050405020304" pitchFamily="18" charset="0"/>
                <a:cs typeface="Times New Roman" panose="02020603050405020304" pitchFamily="18" charset="0"/>
              </a:rPr>
              <a:t>if-stmt</a:t>
            </a:r>
            <a:r>
              <a:rPr lang="en-US" altLang="zh-CN" i="1">
                <a:latin typeface="Times New Roman" panose="02020603050405020304" pitchFamily="18" charset="0"/>
                <a:cs typeface="Times New Roman" panose="02020603050405020304" pitchFamily="18" charset="0"/>
                <a:sym typeface="Symbol" panose="05050102010706020507" pitchFamily="18" charset="2"/>
              </a:rPr>
              <a:t></a:t>
            </a:r>
            <a:r>
              <a:rPr lang="en-US" altLang="zh-CN">
                <a:solidFill>
                  <a:srgbClr val="FF0000"/>
                </a:solidFill>
                <a:latin typeface="Times New Roman" panose="02020603050405020304" pitchFamily="18" charset="0"/>
                <a:cs typeface="Times New Roman" panose="02020603050405020304" pitchFamily="18" charset="0"/>
              </a:rPr>
              <a:t>if</a:t>
            </a:r>
            <a:r>
              <a:rPr lang="en-US" altLang="zh-CN" i="1">
                <a:latin typeface="Times New Roman" panose="02020603050405020304" pitchFamily="18" charset="0"/>
                <a:cs typeface="Times New Roman" panose="02020603050405020304" pitchFamily="18" charset="0"/>
              </a:rPr>
              <a:t> exp </a:t>
            </a:r>
            <a:r>
              <a:rPr lang="en-US" altLang="zh-CN">
                <a:solidFill>
                  <a:srgbClr val="FF0000"/>
                </a:solidFill>
                <a:latin typeface="Times New Roman" panose="02020603050405020304" pitchFamily="18" charset="0"/>
                <a:cs typeface="Times New Roman" panose="02020603050405020304" pitchFamily="18" charset="0"/>
              </a:rPr>
              <a:t>then</a:t>
            </a:r>
            <a:r>
              <a:rPr lang="en-US" altLang="zh-CN" i="1">
                <a:latin typeface="Times New Roman" panose="02020603050405020304" pitchFamily="18" charset="0"/>
                <a:cs typeface="Times New Roman" panose="02020603050405020304" pitchFamily="18" charset="0"/>
              </a:rPr>
              <a:t> stmt-sequence </a:t>
            </a:r>
            <a:r>
              <a:rPr lang="en-US" altLang="zh-CN">
                <a:latin typeface="Times New Roman" panose="02020603050405020304" pitchFamily="18" charset="0"/>
                <a:cs typeface="Times New Roman" panose="02020603050405020304" pitchFamily="18" charset="0"/>
              </a:rPr>
              <a:t>[</a:t>
            </a:r>
            <a:r>
              <a:rPr lang="en-US" altLang="zh-CN" i="1">
                <a:latin typeface="Times New Roman" panose="02020603050405020304" pitchFamily="18" charset="0"/>
                <a:cs typeface="Times New Roman" panose="02020603050405020304" pitchFamily="18" charset="0"/>
              </a:rPr>
              <a:t> </a:t>
            </a:r>
            <a:r>
              <a:rPr lang="en-US" altLang="zh-CN">
                <a:solidFill>
                  <a:srgbClr val="FF0000"/>
                </a:solidFill>
                <a:latin typeface="Times New Roman" panose="02020603050405020304" pitchFamily="18" charset="0"/>
                <a:cs typeface="Times New Roman" panose="02020603050405020304" pitchFamily="18" charset="0"/>
              </a:rPr>
              <a:t>else</a:t>
            </a:r>
            <a:r>
              <a:rPr lang="en-US" altLang="zh-CN" i="1">
                <a:latin typeface="Times New Roman" panose="02020603050405020304" pitchFamily="18" charset="0"/>
                <a:cs typeface="Times New Roman" panose="02020603050405020304" pitchFamily="18" charset="0"/>
              </a:rPr>
              <a:t> stmt-squence </a:t>
            </a:r>
            <a:r>
              <a:rPr lang="en-US" altLang="zh-CN">
                <a:latin typeface="Times New Roman" panose="02020603050405020304" pitchFamily="18" charset="0"/>
                <a:cs typeface="Times New Roman" panose="02020603050405020304" pitchFamily="18" charset="0"/>
              </a:rPr>
              <a:t>]</a:t>
            </a:r>
            <a:r>
              <a:rPr lang="en-US" altLang="zh-CN" i="1">
                <a:latin typeface="Times New Roman" panose="02020603050405020304" pitchFamily="18" charset="0"/>
                <a:cs typeface="Times New Roman" panose="02020603050405020304" pitchFamily="18" charset="0"/>
              </a:rPr>
              <a:t> </a:t>
            </a:r>
            <a:r>
              <a:rPr lang="en-US" altLang="zh-CN">
                <a:solidFill>
                  <a:srgbClr val="FF0000"/>
                </a:solidFill>
                <a:latin typeface="Times New Roman" panose="02020603050405020304" pitchFamily="18" charset="0"/>
                <a:cs typeface="Times New Roman" panose="02020603050405020304" pitchFamily="18" charset="0"/>
              </a:rPr>
              <a:t>end</a:t>
            </a:r>
            <a:r>
              <a:rPr lang="en-US" altLang="zh-CN">
                <a:latin typeface="Times New Roman" panose="02020603050405020304" pitchFamily="18" charset="0"/>
                <a:cs typeface="Times New Roman" panose="02020603050405020304" pitchFamily="18" charset="0"/>
              </a:rPr>
              <a:t> </a:t>
            </a:r>
            <a:endParaRPr lang="en-US" altLang="zh-CN">
              <a:latin typeface="Times New Roman" panose="02020603050405020304" pitchFamily="18" charset="0"/>
              <a:cs typeface="Times New Roman" panose="02020603050405020304" pitchFamily="18" charset="0"/>
            </a:endParaRPr>
          </a:p>
        </p:txBody>
      </p:sp>
      <p:pic>
        <p:nvPicPr>
          <p:cNvPr id="18"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50110" y="2028825"/>
            <a:ext cx="7324725" cy="4266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19" name="Ink 8"/>
          <p:cNvPicPr>
            <a:picLocks noRot="1" noChangeAspect="1" noEditPoint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5371" y="2727363"/>
            <a:ext cx="2936875"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Ink 9"/>
          <p:cNvPicPr>
            <a:picLocks noRot="1" noChangeAspect="1" noEditPoint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7171" y="3375063"/>
            <a:ext cx="2936875"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Ink 10"/>
          <p:cNvPicPr>
            <a:picLocks noRot="1" noChangeAspect="1" noEditPoint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3434" y="4095788"/>
            <a:ext cx="2936875"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Ink 11"/>
          <p:cNvPicPr>
            <a:picLocks noRot="1" noChangeAspect="1" noEditPoint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3434" y="5103851"/>
            <a:ext cx="2936875"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barn(inHorizontal)">
                                      <p:cBhvr>
                                        <p:cTn id="7" dur="500"/>
                                        <p:tgtEl>
                                          <p:spTgt spid="17">
                                            <p:txEl>
                                              <p:pRg st="0" end="0"/>
                                            </p:txEl>
                                          </p:spTgt>
                                        </p:tgtEl>
                                      </p:cBhvr>
                                    </p:animEffect>
                                  </p:childTnLst>
                                  <p:subTnLst>
                                    <p:set>
                                      <p:cBhvr override="childStyle">
                                        <p:cTn dur="1" fill="hold" display="0" masterRel="nextClick" afterEffect="1"/>
                                        <p:tgtEl>
                                          <p:spTgt spid="17">
                                            <p:txEl>
                                              <p:pRg st="0" end="0"/>
                                            </p:txEl>
                                          </p:spTgt>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Horizont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arn(inHorizontal)">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arn(inHorizontal)">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arn(inHorizontal)">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barn(inHorizontal)">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587375" y="276860"/>
            <a:ext cx="7400290" cy="593090"/>
          </a:xfrm>
        </p:spPr>
        <p:txBody>
          <a:bodyPr/>
          <a:lstStyle/>
          <a:p>
            <a:r>
              <a:rPr lang="en-US" altLang="zh-CN" sz="3200" dirty="0"/>
              <a:t>Tiny</a:t>
            </a:r>
            <a:r>
              <a:rPr lang="zh-CN" altLang="en-US" sz="3200" dirty="0"/>
              <a:t>语法分析程序：</a:t>
            </a:r>
            <a:r>
              <a:rPr lang="en-US" altLang="zh-CN" sz="3200" dirty="0"/>
              <a:t>PARSE.C</a:t>
            </a:r>
            <a:endParaRPr lang="en-US" altLang="zh-CN" sz="3200" dirty="0"/>
          </a:p>
        </p:txBody>
      </p:sp>
      <p:sp>
        <p:nvSpPr>
          <p:cNvPr id="9" name="Rectangle 10"/>
          <p:cNvSpPr txBox="1">
            <a:spLocks noChangeArrowheads="1"/>
          </p:cNvSpPr>
          <p:nvPr/>
        </p:nvSpPr>
        <p:spPr>
          <a:xfrm>
            <a:off x="716915" y="1196975"/>
            <a:ext cx="9747250" cy="5168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i="1"/>
              <a:t>产生式：</a:t>
            </a:r>
            <a:r>
              <a:rPr lang="en-US" altLang="zh-CN" i="1"/>
              <a:t>repeat-stmt-〉</a:t>
            </a:r>
            <a:r>
              <a:rPr lang="en-US" altLang="zh-CN" i="1">
                <a:solidFill>
                  <a:srgbClr val="FF0000"/>
                </a:solidFill>
              </a:rPr>
              <a:t>repeat</a:t>
            </a:r>
            <a:r>
              <a:rPr lang="en-US" altLang="zh-CN" i="1"/>
              <a:t> stmt-sequence </a:t>
            </a:r>
            <a:r>
              <a:rPr lang="en-US" altLang="zh-CN" i="1">
                <a:solidFill>
                  <a:srgbClr val="FF0000"/>
                </a:solidFill>
              </a:rPr>
              <a:t>until</a:t>
            </a:r>
            <a:r>
              <a:rPr lang="en-US" altLang="zh-CN" i="1"/>
              <a:t> exp</a:t>
            </a:r>
            <a:endParaRPr lang="en-US" altLang="zh-CN"/>
          </a:p>
        </p:txBody>
      </p:sp>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81250" y="2214563"/>
            <a:ext cx="7793038"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11" name="Ink 3"/>
          <p:cNvPicPr>
            <a:picLocks noRot="1" noChangeAspect="1" noEditPoint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2150" y="2847975"/>
            <a:ext cx="2936875"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Ink 4"/>
          <p:cNvPicPr>
            <a:picLocks noRot="1" noChangeAspect="1" noEditPoint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9850" y="3711575"/>
            <a:ext cx="2936875"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Ink 5"/>
          <p:cNvPicPr>
            <a:picLocks noRot="1" noChangeAspect="1" noEditPoint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4313" y="4503738"/>
            <a:ext cx="2936875"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arn(inHorizont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521970" y="276860"/>
            <a:ext cx="7465695" cy="593090"/>
          </a:xfrm>
        </p:spPr>
        <p:txBody>
          <a:bodyPr/>
          <a:lstStyle/>
          <a:p>
            <a:r>
              <a:rPr lang="en-US" altLang="zh-CN" sz="3200" dirty="0"/>
              <a:t>Tiny</a:t>
            </a:r>
            <a:r>
              <a:rPr lang="zh-CN" altLang="en-US" sz="3200" dirty="0"/>
              <a:t>语法分析程序：</a:t>
            </a:r>
            <a:r>
              <a:rPr lang="en-US" altLang="zh-CN" sz="3200" dirty="0"/>
              <a:t>PARSE.C</a:t>
            </a:r>
            <a:endParaRPr lang="en-US" altLang="zh-CN" sz="3200" dirty="0"/>
          </a:p>
        </p:txBody>
      </p:sp>
      <p:sp>
        <p:nvSpPr>
          <p:cNvPr id="4" name="椭圆 3"/>
          <p:cNvSpPr/>
          <p:nvPr>
            <p:custDataLst>
              <p:tags r:id="rId1"/>
            </p:custDataLst>
          </p:nvPr>
        </p:nvSpPr>
        <p:spPr>
          <a:xfrm>
            <a:off x="8284429" y="4948701"/>
            <a:ext cx="914400" cy="49019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rPr>
              <a:t>term</a:t>
            </a:r>
            <a:endParaRPr lang="zh-CN" altLang="en-US" dirty="0">
              <a:solidFill>
                <a:schemeClr val="tx1"/>
              </a:solidFill>
            </a:endParaRPr>
          </a:p>
        </p:txBody>
      </p:sp>
      <p:sp>
        <p:nvSpPr>
          <p:cNvPr id="5" name="椭圆 4"/>
          <p:cNvSpPr/>
          <p:nvPr>
            <p:custDataLst>
              <p:tags r:id="rId2"/>
            </p:custDataLst>
          </p:nvPr>
        </p:nvSpPr>
        <p:spPr>
          <a:xfrm>
            <a:off x="6390106" y="4944992"/>
            <a:ext cx="914400" cy="49019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rPr>
              <a:t>term</a:t>
            </a:r>
            <a:endParaRPr lang="zh-CN" altLang="en-US" dirty="0">
              <a:solidFill>
                <a:schemeClr val="tx1"/>
              </a:solidFill>
            </a:endParaRPr>
          </a:p>
        </p:txBody>
      </p:sp>
      <p:sp>
        <p:nvSpPr>
          <p:cNvPr id="6" name="椭圆 5"/>
          <p:cNvSpPr/>
          <p:nvPr>
            <p:custDataLst>
              <p:tags r:id="rId3"/>
            </p:custDataLst>
          </p:nvPr>
        </p:nvSpPr>
        <p:spPr>
          <a:xfrm>
            <a:off x="7052009" y="4016252"/>
            <a:ext cx="1203489" cy="49019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err="1">
                <a:solidFill>
                  <a:schemeClr val="tx1"/>
                </a:solidFill>
              </a:rPr>
              <a:t>addop</a:t>
            </a:r>
            <a:endParaRPr lang="zh-CN" altLang="en-US" dirty="0">
              <a:solidFill>
                <a:schemeClr val="tx1"/>
              </a:solidFill>
            </a:endParaRPr>
          </a:p>
        </p:txBody>
      </p:sp>
      <p:sp>
        <p:nvSpPr>
          <p:cNvPr id="8" name="椭圆 7"/>
          <p:cNvSpPr/>
          <p:nvPr>
            <p:custDataLst>
              <p:tags r:id="rId4"/>
            </p:custDataLst>
          </p:nvPr>
        </p:nvSpPr>
        <p:spPr>
          <a:xfrm>
            <a:off x="9462348" y="4004810"/>
            <a:ext cx="914400" cy="49019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rPr>
              <a:t>term</a:t>
            </a:r>
            <a:endParaRPr lang="zh-CN" altLang="en-US" dirty="0">
              <a:solidFill>
                <a:schemeClr val="tx1"/>
              </a:solidFill>
            </a:endParaRPr>
          </a:p>
        </p:txBody>
      </p:sp>
      <p:sp>
        <p:nvSpPr>
          <p:cNvPr id="3" name="椭圆 2"/>
          <p:cNvSpPr/>
          <p:nvPr>
            <p:custDataLst>
              <p:tags r:id="rId5"/>
            </p:custDataLst>
          </p:nvPr>
        </p:nvSpPr>
        <p:spPr>
          <a:xfrm>
            <a:off x="8139884" y="3121135"/>
            <a:ext cx="1203489" cy="49019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err="1">
                <a:solidFill>
                  <a:schemeClr val="tx1"/>
                </a:solidFill>
              </a:rPr>
              <a:t>addop</a:t>
            </a:r>
            <a:endParaRPr lang="zh-CN" altLang="en-US" dirty="0">
              <a:solidFill>
                <a:schemeClr val="tx1"/>
              </a:solidFill>
            </a:endParaRPr>
          </a:p>
        </p:txBody>
      </p:sp>
      <p:sp>
        <p:nvSpPr>
          <p:cNvPr id="14" name="文本框 13"/>
          <p:cNvSpPr txBox="1"/>
          <p:nvPr>
            <p:custDataLst>
              <p:tags r:id="rId6"/>
            </p:custDataLst>
          </p:nvPr>
        </p:nvSpPr>
        <p:spPr>
          <a:xfrm>
            <a:off x="1971439" y="1315519"/>
            <a:ext cx="3535052" cy="368300"/>
          </a:xfrm>
          <a:prstGeom prst="rect">
            <a:avLst/>
          </a:prstGeom>
          <a:noFill/>
        </p:spPr>
        <p:txBody>
          <a:bodyPr wrap="square" rtlCol="0">
            <a:spAutoFit/>
          </a:bodyPr>
          <a:p>
            <a:r>
              <a:rPr lang="en-US" altLang="zh-CN" sz="1800" b="1" i="1" kern="100" dirty="0" err="1">
                <a:solidFill>
                  <a:schemeClr val="accent1"/>
                </a:solidFill>
                <a:effectLst/>
                <a:latin typeface="Times New Roman" panose="02020603050405020304" pitchFamily="18" charset="0"/>
                <a:ea typeface="宋体" panose="02010600030101010101" pitchFamily="2" charset="-122"/>
              </a:rPr>
              <a:t>simple-exp</a:t>
            </a:r>
            <a:r>
              <a:rPr lang="en-US" altLang="zh-CN" sz="1800" b="1" kern="100" dirty="0" err="1">
                <a:solidFill>
                  <a:schemeClr val="accent1"/>
                </a:solidFill>
                <a:effectLst/>
                <a:latin typeface="Times New Roman" panose="02020603050405020304" pitchFamily="18" charset="0"/>
                <a:ea typeface="宋体" panose="02010600030101010101" pitchFamily="2" charset="-122"/>
                <a:sym typeface="Symbol" panose="05050102010706020507" pitchFamily="18" charset="2"/>
              </a:rPr>
              <a:t></a:t>
            </a:r>
            <a:r>
              <a:rPr lang="en-US" altLang="zh-CN" sz="1800" b="1" i="1" kern="100" dirty="0" err="1">
                <a:solidFill>
                  <a:schemeClr val="accent1"/>
                </a:solidFill>
                <a:effectLst/>
                <a:latin typeface="Times New Roman" panose="02020603050405020304" pitchFamily="18" charset="0"/>
                <a:ea typeface="宋体" panose="02010600030101010101" pitchFamily="2" charset="-122"/>
              </a:rPr>
              <a:t>term</a:t>
            </a:r>
            <a:r>
              <a:rPr lang="en-US" altLang="zh-CN" sz="1800" b="1" i="1" kern="100" dirty="0">
                <a:solidFill>
                  <a:schemeClr val="accent1"/>
                </a:solidFill>
                <a:effectLst/>
                <a:latin typeface="Times New Roman" panose="02020603050405020304" pitchFamily="18" charset="0"/>
                <a:ea typeface="宋体" panose="02010600030101010101" pitchFamily="2" charset="-122"/>
              </a:rPr>
              <a:t> </a:t>
            </a:r>
            <a:r>
              <a:rPr lang="en-US" altLang="zh-CN" sz="1800" b="1" kern="100" dirty="0">
                <a:solidFill>
                  <a:schemeClr val="accent1"/>
                </a:solidFill>
                <a:effectLst/>
                <a:latin typeface="Times New Roman" panose="02020603050405020304" pitchFamily="18" charset="0"/>
                <a:ea typeface="宋体" panose="02010600030101010101" pitchFamily="2" charset="-122"/>
              </a:rPr>
              <a:t>{ </a:t>
            </a:r>
            <a:r>
              <a:rPr lang="en-US" altLang="zh-CN" sz="1800" b="1" i="1" kern="100" dirty="0" err="1">
                <a:solidFill>
                  <a:schemeClr val="accent1"/>
                </a:solidFill>
                <a:effectLst/>
                <a:latin typeface="Times New Roman" panose="02020603050405020304" pitchFamily="18" charset="0"/>
                <a:ea typeface="宋体" panose="02010600030101010101" pitchFamily="2" charset="-122"/>
              </a:rPr>
              <a:t>addop</a:t>
            </a:r>
            <a:r>
              <a:rPr lang="en-US" altLang="zh-CN" sz="1800" b="1" i="1" kern="100" dirty="0">
                <a:solidFill>
                  <a:schemeClr val="accent1"/>
                </a:solidFill>
                <a:effectLst/>
                <a:latin typeface="Times New Roman" panose="02020603050405020304" pitchFamily="18" charset="0"/>
                <a:ea typeface="宋体" panose="02010600030101010101" pitchFamily="2" charset="-122"/>
              </a:rPr>
              <a:t> term </a:t>
            </a:r>
            <a:r>
              <a:rPr lang="en-US" altLang="zh-CN" sz="1800" b="1" kern="100" dirty="0">
                <a:solidFill>
                  <a:schemeClr val="accent1"/>
                </a:solidFill>
                <a:effectLst/>
                <a:latin typeface="Times New Roman" panose="02020603050405020304" pitchFamily="18" charset="0"/>
                <a:ea typeface="宋体" panose="02010600030101010101" pitchFamily="2" charset="-122"/>
              </a:rPr>
              <a:t>}</a:t>
            </a:r>
            <a:endParaRPr lang="en-US" altLang="zh-CN" sz="1800" b="1" kern="100" dirty="0">
              <a:solidFill>
                <a:schemeClr val="accent1"/>
              </a:solidFill>
              <a:effectLst/>
              <a:latin typeface="Times New Roman" panose="02020603050405020304" pitchFamily="18" charset="0"/>
              <a:ea typeface="宋体" panose="02010600030101010101" pitchFamily="2" charset="-122"/>
            </a:endParaRPr>
          </a:p>
        </p:txBody>
      </p:sp>
      <p:sp>
        <p:nvSpPr>
          <p:cNvPr id="17" name="文本框 16"/>
          <p:cNvSpPr txBox="1"/>
          <p:nvPr>
            <p:custDataLst>
              <p:tags r:id="rId7"/>
            </p:custDataLst>
          </p:nvPr>
        </p:nvSpPr>
        <p:spPr>
          <a:xfrm>
            <a:off x="2390641" y="2506765"/>
            <a:ext cx="4712454" cy="368300"/>
          </a:xfrm>
          <a:prstGeom prst="rect">
            <a:avLst/>
          </a:prstGeom>
          <a:noFill/>
        </p:spPr>
        <p:txBody>
          <a:bodyPr wrap="square" rtlCol="0">
            <a:spAutoFit/>
          </a:bodyPr>
          <a:p>
            <a:r>
              <a:rPr lang="en-US" altLang="zh-CN" sz="1800" dirty="0"/>
              <a:t>while((token==PLUS)||(token==MINUS)){</a:t>
            </a:r>
            <a:endParaRPr lang="zh-CN" altLang="en-US" dirty="0"/>
          </a:p>
        </p:txBody>
      </p:sp>
      <p:sp>
        <p:nvSpPr>
          <p:cNvPr id="15" name="文本框 14"/>
          <p:cNvSpPr txBox="1"/>
          <p:nvPr>
            <p:custDataLst>
              <p:tags r:id="rId8"/>
            </p:custDataLst>
          </p:nvPr>
        </p:nvSpPr>
        <p:spPr>
          <a:xfrm>
            <a:off x="2047506" y="1754612"/>
            <a:ext cx="3566160" cy="368300"/>
          </a:xfrm>
          <a:prstGeom prst="rect">
            <a:avLst/>
          </a:prstGeom>
          <a:noFill/>
        </p:spPr>
        <p:txBody>
          <a:bodyPr wrap="square" rtlCol="0">
            <a:spAutoFit/>
          </a:bodyPr>
          <a:p>
            <a:r>
              <a:rPr lang="en-US" altLang="zh-CN" sz="1800" dirty="0" err="1"/>
              <a:t>TreeNode</a:t>
            </a:r>
            <a:r>
              <a:rPr lang="en-US" altLang="zh-CN" sz="1800" dirty="0"/>
              <a:t> * </a:t>
            </a:r>
            <a:r>
              <a:rPr lang="en-US" altLang="zh-CN" sz="1800" dirty="0" err="1"/>
              <a:t>simple_exp</a:t>
            </a:r>
            <a:r>
              <a:rPr lang="en-US" altLang="zh-CN" sz="1800" dirty="0"/>
              <a:t>(void){</a:t>
            </a:r>
            <a:endParaRPr lang="zh-CN" altLang="en-US" dirty="0"/>
          </a:p>
        </p:txBody>
      </p:sp>
      <p:sp>
        <p:nvSpPr>
          <p:cNvPr id="16" name="文本框 15"/>
          <p:cNvSpPr txBox="1"/>
          <p:nvPr>
            <p:custDataLst>
              <p:tags r:id="rId9"/>
            </p:custDataLst>
          </p:nvPr>
        </p:nvSpPr>
        <p:spPr>
          <a:xfrm>
            <a:off x="2320409" y="2146913"/>
            <a:ext cx="3696039" cy="368300"/>
          </a:xfrm>
          <a:prstGeom prst="rect">
            <a:avLst/>
          </a:prstGeom>
          <a:noFill/>
        </p:spPr>
        <p:txBody>
          <a:bodyPr wrap="square" rtlCol="0">
            <a:spAutoFit/>
          </a:bodyPr>
          <a:p>
            <a:r>
              <a:rPr lang="en-US" altLang="zh-CN" sz="1800" dirty="0" err="1"/>
              <a:t>TreeNode</a:t>
            </a:r>
            <a:r>
              <a:rPr lang="en-US" altLang="zh-CN" sz="1800" dirty="0"/>
              <a:t> *t = term();</a:t>
            </a:r>
            <a:endParaRPr lang="zh-CN" altLang="en-US" dirty="0"/>
          </a:p>
        </p:txBody>
      </p:sp>
      <p:sp>
        <p:nvSpPr>
          <p:cNvPr id="18" name="文本框 17"/>
          <p:cNvSpPr txBox="1"/>
          <p:nvPr>
            <p:custDataLst>
              <p:tags r:id="rId10"/>
            </p:custDataLst>
          </p:nvPr>
        </p:nvSpPr>
        <p:spPr>
          <a:xfrm>
            <a:off x="2634387" y="2879227"/>
            <a:ext cx="5047843" cy="368300"/>
          </a:xfrm>
          <a:prstGeom prst="rect">
            <a:avLst/>
          </a:prstGeom>
          <a:noFill/>
        </p:spPr>
        <p:txBody>
          <a:bodyPr wrap="square" rtlCol="0">
            <a:spAutoFit/>
          </a:bodyPr>
          <a:p>
            <a:r>
              <a:rPr lang="en-US" altLang="zh-CN" sz="1800" dirty="0" err="1"/>
              <a:t>TreeNode</a:t>
            </a:r>
            <a:r>
              <a:rPr lang="en-US" altLang="zh-CN" sz="1800" dirty="0"/>
              <a:t> *  p=</a:t>
            </a:r>
            <a:r>
              <a:rPr lang="en-US" altLang="zh-CN" sz="1800" dirty="0" err="1"/>
              <a:t>newExpNode</a:t>
            </a:r>
            <a:r>
              <a:rPr lang="en-US" altLang="zh-CN" sz="1800" dirty="0"/>
              <a:t>(</a:t>
            </a:r>
            <a:r>
              <a:rPr lang="en-US" altLang="zh-CN" sz="1800" dirty="0" err="1"/>
              <a:t>OpK</a:t>
            </a:r>
            <a:r>
              <a:rPr lang="en-US" altLang="zh-CN" sz="1800" dirty="0"/>
              <a:t>);</a:t>
            </a:r>
            <a:endParaRPr lang="zh-CN" altLang="en-US" dirty="0"/>
          </a:p>
        </p:txBody>
      </p:sp>
      <p:sp>
        <p:nvSpPr>
          <p:cNvPr id="19" name="文本框 18"/>
          <p:cNvSpPr txBox="1"/>
          <p:nvPr>
            <p:custDataLst>
              <p:tags r:id="rId11"/>
            </p:custDataLst>
          </p:nvPr>
        </p:nvSpPr>
        <p:spPr>
          <a:xfrm>
            <a:off x="2616701" y="3245429"/>
            <a:ext cx="3696039" cy="368300"/>
          </a:xfrm>
          <a:prstGeom prst="rect">
            <a:avLst/>
          </a:prstGeom>
          <a:noFill/>
        </p:spPr>
        <p:txBody>
          <a:bodyPr wrap="square" rtlCol="0">
            <a:spAutoFit/>
          </a:bodyPr>
          <a:p>
            <a:r>
              <a:rPr lang="en-US" altLang="zh-CN" sz="1800" dirty="0"/>
              <a:t>if(p!=NULL){</a:t>
            </a:r>
            <a:endParaRPr lang="zh-CN" altLang="en-US" dirty="0"/>
          </a:p>
        </p:txBody>
      </p:sp>
      <p:sp>
        <p:nvSpPr>
          <p:cNvPr id="20" name="文本框 19"/>
          <p:cNvSpPr txBox="1"/>
          <p:nvPr>
            <p:custDataLst>
              <p:tags r:id="rId12"/>
            </p:custDataLst>
          </p:nvPr>
        </p:nvSpPr>
        <p:spPr>
          <a:xfrm>
            <a:off x="2855565" y="3557429"/>
            <a:ext cx="3139440" cy="368300"/>
          </a:xfrm>
          <a:prstGeom prst="rect">
            <a:avLst/>
          </a:prstGeom>
          <a:noFill/>
        </p:spPr>
        <p:txBody>
          <a:bodyPr wrap="square" rtlCol="0">
            <a:spAutoFit/>
          </a:bodyPr>
          <a:p>
            <a:r>
              <a:rPr lang="en-US" altLang="zh-CN" sz="1800" dirty="0"/>
              <a:t> p-&gt;child[0] = t;</a:t>
            </a:r>
            <a:endParaRPr lang="zh-CN" altLang="en-US" dirty="0"/>
          </a:p>
        </p:txBody>
      </p:sp>
      <p:sp>
        <p:nvSpPr>
          <p:cNvPr id="21" name="文本框 20"/>
          <p:cNvSpPr txBox="1"/>
          <p:nvPr>
            <p:custDataLst>
              <p:tags r:id="rId13"/>
            </p:custDataLst>
          </p:nvPr>
        </p:nvSpPr>
        <p:spPr>
          <a:xfrm>
            <a:off x="2881437" y="3838117"/>
            <a:ext cx="3156406" cy="368300"/>
          </a:xfrm>
          <a:prstGeom prst="rect">
            <a:avLst/>
          </a:prstGeom>
          <a:noFill/>
        </p:spPr>
        <p:txBody>
          <a:bodyPr wrap="square" rtlCol="0">
            <a:spAutoFit/>
          </a:bodyPr>
          <a:p>
            <a:r>
              <a:rPr lang="en-US" altLang="zh-CN" sz="1800" dirty="0"/>
              <a:t>p-&gt;</a:t>
            </a:r>
            <a:r>
              <a:rPr lang="en-US" altLang="zh-CN" sz="1800" dirty="0" err="1"/>
              <a:t>attr.op</a:t>
            </a:r>
            <a:r>
              <a:rPr lang="en-US" altLang="zh-CN" sz="1800" dirty="0"/>
              <a:t>= token;</a:t>
            </a:r>
            <a:endParaRPr lang="en-US" altLang="zh-CN" sz="1800" dirty="0"/>
          </a:p>
        </p:txBody>
      </p:sp>
      <p:sp>
        <p:nvSpPr>
          <p:cNvPr id="22" name="文本框 21"/>
          <p:cNvSpPr txBox="1"/>
          <p:nvPr>
            <p:custDataLst>
              <p:tags r:id="rId14"/>
            </p:custDataLst>
          </p:nvPr>
        </p:nvSpPr>
        <p:spPr>
          <a:xfrm>
            <a:off x="2918726" y="4194356"/>
            <a:ext cx="2133600" cy="368300"/>
          </a:xfrm>
          <a:prstGeom prst="rect">
            <a:avLst/>
          </a:prstGeom>
          <a:noFill/>
        </p:spPr>
        <p:txBody>
          <a:bodyPr wrap="square" rtlCol="0">
            <a:spAutoFit/>
          </a:bodyPr>
          <a:p>
            <a:r>
              <a:rPr lang="en-US" altLang="zh-CN" sz="1800" dirty="0"/>
              <a:t>t= p ;</a:t>
            </a:r>
            <a:endParaRPr lang="zh-CN" altLang="en-US" dirty="0"/>
          </a:p>
        </p:txBody>
      </p:sp>
      <p:sp>
        <p:nvSpPr>
          <p:cNvPr id="23" name="文本框 22"/>
          <p:cNvSpPr txBox="1"/>
          <p:nvPr>
            <p:custDataLst>
              <p:tags r:id="rId15"/>
            </p:custDataLst>
          </p:nvPr>
        </p:nvSpPr>
        <p:spPr>
          <a:xfrm>
            <a:off x="2918726" y="4497391"/>
            <a:ext cx="1940560" cy="368300"/>
          </a:xfrm>
          <a:prstGeom prst="rect">
            <a:avLst/>
          </a:prstGeom>
          <a:noFill/>
        </p:spPr>
        <p:txBody>
          <a:bodyPr wrap="square" rtlCol="0">
            <a:spAutoFit/>
          </a:bodyPr>
          <a:p>
            <a:r>
              <a:rPr lang="en-US" altLang="zh-CN" sz="1800" dirty="0"/>
              <a:t>match(token);</a:t>
            </a:r>
            <a:endParaRPr lang="zh-CN" altLang="en-US" dirty="0"/>
          </a:p>
        </p:txBody>
      </p:sp>
      <p:sp>
        <p:nvSpPr>
          <p:cNvPr id="24" name="文本框 23"/>
          <p:cNvSpPr txBox="1"/>
          <p:nvPr>
            <p:custDataLst>
              <p:tags r:id="rId16"/>
            </p:custDataLst>
          </p:nvPr>
        </p:nvSpPr>
        <p:spPr>
          <a:xfrm>
            <a:off x="2918726" y="4770346"/>
            <a:ext cx="3170914" cy="368300"/>
          </a:xfrm>
          <a:prstGeom prst="rect">
            <a:avLst/>
          </a:prstGeom>
          <a:noFill/>
        </p:spPr>
        <p:txBody>
          <a:bodyPr wrap="square" rtlCol="0">
            <a:spAutoFit/>
          </a:bodyPr>
          <a:p>
            <a:r>
              <a:rPr lang="en-US" altLang="zh-CN" sz="1800" dirty="0"/>
              <a:t>t-&gt;child[1] = term();</a:t>
            </a:r>
            <a:endParaRPr lang="zh-CN" altLang="en-US" dirty="0"/>
          </a:p>
        </p:txBody>
      </p:sp>
      <p:sp>
        <p:nvSpPr>
          <p:cNvPr id="25" name="文本框 24"/>
          <p:cNvSpPr txBox="1"/>
          <p:nvPr>
            <p:custDataLst>
              <p:tags r:id="rId17"/>
            </p:custDataLst>
          </p:nvPr>
        </p:nvSpPr>
        <p:spPr>
          <a:xfrm>
            <a:off x="2047506" y="5139678"/>
            <a:ext cx="2783840" cy="1198880"/>
          </a:xfrm>
          <a:prstGeom prst="rect">
            <a:avLst/>
          </a:prstGeom>
          <a:noFill/>
        </p:spPr>
        <p:txBody>
          <a:bodyPr wrap="square" rtlCol="0">
            <a:spAutoFit/>
          </a:bodyPr>
          <a:p>
            <a:r>
              <a:rPr lang="en-US" altLang="zh-CN" sz="1800" dirty="0"/>
              <a:t>      }</a:t>
            </a:r>
            <a:br>
              <a:rPr lang="en-US" altLang="zh-CN" sz="1800" dirty="0"/>
            </a:br>
            <a:r>
              <a:rPr lang="en-US" altLang="zh-CN" sz="1800" dirty="0"/>
              <a:t>   }</a:t>
            </a:r>
            <a:br>
              <a:rPr lang="en-US" altLang="zh-CN" sz="1800" dirty="0"/>
            </a:br>
            <a:r>
              <a:rPr lang="en-US" altLang="zh-CN" sz="1800" dirty="0"/>
              <a:t>   return t;</a:t>
            </a:r>
            <a:br>
              <a:rPr lang="en-US" altLang="zh-CN" sz="1800" dirty="0"/>
            </a:br>
            <a:r>
              <a:rPr lang="en-US" altLang="zh-CN" sz="1800" dirty="0"/>
              <a:t>}</a:t>
            </a:r>
            <a:endParaRPr lang="zh-CN" altLang="en-US" dirty="0"/>
          </a:p>
        </p:txBody>
      </p:sp>
      <p:grpSp>
        <p:nvGrpSpPr>
          <p:cNvPr id="58" name="组合 57"/>
          <p:cNvGrpSpPr/>
          <p:nvPr/>
        </p:nvGrpSpPr>
        <p:grpSpPr>
          <a:xfrm>
            <a:off x="5860519" y="4557043"/>
            <a:ext cx="544947" cy="377789"/>
            <a:chOff x="6481556" y="4252294"/>
            <a:chExt cx="544947" cy="377789"/>
          </a:xfrm>
        </p:grpSpPr>
        <p:sp>
          <p:nvSpPr>
            <p:cNvPr id="55" name="文本框 54"/>
            <p:cNvSpPr txBox="1"/>
            <p:nvPr>
              <p:custDataLst>
                <p:tags r:id="rId18"/>
              </p:custDataLst>
            </p:nvPr>
          </p:nvSpPr>
          <p:spPr>
            <a:xfrm>
              <a:off x="6481556" y="4252294"/>
              <a:ext cx="317735" cy="368300"/>
            </a:xfrm>
            <a:prstGeom prst="rect">
              <a:avLst/>
            </a:prstGeom>
            <a:noFill/>
          </p:spPr>
          <p:txBody>
            <a:bodyPr wrap="square" rtlCol="0">
              <a:spAutoFit/>
            </a:bodyPr>
            <a:p>
              <a:r>
                <a:rPr lang="en-US" altLang="zh-CN" dirty="0"/>
                <a:t>t</a:t>
              </a:r>
              <a:endParaRPr lang="zh-CN" altLang="en-US" dirty="0"/>
            </a:p>
          </p:txBody>
        </p:sp>
        <p:cxnSp>
          <p:nvCxnSpPr>
            <p:cNvPr id="57" name="直接箭头连接符 56"/>
            <p:cNvCxnSpPr/>
            <p:nvPr>
              <p:custDataLst>
                <p:tags r:id="rId19"/>
              </p:custDataLst>
            </p:nvPr>
          </p:nvCxnSpPr>
          <p:spPr>
            <a:xfrm>
              <a:off x="6674596" y="4481363"/>
              <a:ext cx="351907" cy="14872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59" name="组合 58"/>
          <p:cNvGrpSpPr/>
          <p:nvPr/>
        </p:nvGrpSpPr>
        <p:grpSpPr>
          <a:xfrm>
            <a:off x="6565878" y="3699008"/>
            <a:ext cx="544947" cy="377789"/>
            <a:chOff x="6481556" y="4252294"/>
            <a:chExt cx="544947" cy="377789"/>
          </a:xfrm>
        </p:grpSpPr>
        <p:sp>
          <p:nvSpPr>
            <p:cNvPr id="60" name="文本框 59"/>
            <p:cNvSpPr txBox="1"/>
            <p:nvPr>
              <p:custDataLst>
                <p:tags r:id="rId20"/>
              </p:custDataLst>
            </p:nvPr>
          </p:nvSpPr>
          <p:spPr>
            <a:xfrm>
              <a:off x="6481556" y="4252294"/>
              <a:ext cx="317735" cy="368300"/>
            </a:xfrm>
            <a:prstGeom prst="rect">
              <a:avLst/>
            </a:prstGeom>
            <a:noFill/>
          </p:spPr>
          <p:txBody>
            <a:bodyPr wrap="square" rtlCol="0">
              <a:spAutoFit/>
            </a:bodyPr>
            <a:p>
              <a:r>
                <a:rPr lang="en-US" altLang="zh-CN" dirty="0"/>
                <a:t>p</a:t>
              </a:r>
              <a:endParaRPr lang="zh-CN" altLang="en-US" dirty="0"/>
            </a:p>
          </p:txBody>
        </p:sp>
        <p:cxnSp>
          <p:nvCxnSpPr>
            <p:cNvPr id="61" name="直接箭头连接符 60"/>
            <p:cNvCxnSpPr/>
            <p:nvPr>
              <p:custDataLst>
                <p:tags r:id="rId21"/>
              </p:custDataLst>
            </p:nvPr>
          </p:nvCxnSpPr>
          <p:spPr>
            <a:xfrm>
              <a:off x="6674596" y="4481363"/>
              <a:ext cx="351907" cy="14872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cxnSp>
        <p:nvCxnSpPr>
          <p:cNvPr id="63" name="直接连接符 62"/>
          <p:cNvCxnSpPr>
            <a:stCxn id="6" idx="4"/>
            <a:endCxn id="5" idx="0"/>
          </p:cNvCxnSpPr>
          <p:nvPr>
            <p:custDataLst>
              <p:tags r:id="rId22"/>
            </p:custDataLst>
          </p:nvPr>
        </p:nvCxnSpPr>
        <p:spPr>
          <a:xfrm flipH="1">
            <a:off x="6847306" y="4506445"/>
            <a:ext cx="806448" cy="438547"/>
          </a:xfrm>
          <a:prstGeom prst="line">
            <a:avLst/>
          </a:prstGeom>
        </p:spPr>
        <p:style>
          <a:lnRef idx="1">
            <a:schemeClr val="dk1"/>
          </a:lnRef>
          <a:fillRef idx="0">
            <a:schemeClr val="dk1"/>
          </a:fillRef>
          <a:effectRef idx="0">
            <a:schemeClr val="dk1"/>
          </a:effectRef>
          <a:fontRef idx="minor">
            <a:schemeClr val="tx1"/>
          </a:fontRef>
        </p:style>
      </p:cxnSp>
      <p:grpSp>
        <p:nvGrpSpPr>
          <p:cNvPr id="64" name="组合 63"/>
          <p:cNvGrpSpPr/>
          <p:nvPr/>
        </p:nvGrpSpPr>
        <p:grpSpPr>
          <a:xfrm>
            <a:off x="6767872" y="3580803"/>
            <a:ext cx="544947" cy="377789"/>
            <a:chOff x="6481556" y="4252294"/>
            <a:chExt cx="544947" cy="377789"/>
          </a:xfrm>
        </p:grpSpPr>
        <p:sp>
          <p:nvSpPr>
            <p:cNvPr id="65" name="文本框 64"/>
            <p:cNvSpPr txBox="1"/>
            <p:nvPr>
              <p:custDataLst>
                <p:tags r:id="rId23"/>
              </p:custDataLst>
            </p:nvPr>
          </p:nvSpPr>
          <p:spPr>
            <a:xfrm>
              <a:off x="6481556" y="4252294"/>
              <a:ext cx="317735" cy="368300"/>
            </a:xfrm>
            <a:prstGeom prst="rect">
              <a:avLst/>
            </a:prstGeom>
            <a:noFill/>
          </p:spPr>
          <p:txBody>
            <a:bodyPr wrap="square" rtlCol="0">
              <a:spAutoFit/>
            </a:bodyPr>
            <a:p>
              <a:r>
                <a:rPr lang="en-US" altLang="zh-CN" dirty="0"/>
                <a:t>t</a:t>
              </a:r>
              <a:endParaRPr lang="zh-CN" altLang="en-US" dirty="0"/>
            </a:p>
          </p:txBody>
        </p:sp>
        <p:cxnSp>
          <p:nvCxnSpPr>
            <p:cNvPr id="66" name="直接箭头连接符 65"/>
            <p:cNvCxnSpPr/>
            <p:nvPr>
              <p:custDataLst>
                <p:tags r:id="rId24"/>
              </p:custDataLst>
            </p:nvPr>
          </p:nvCxnSpPr>
          <p:spPr>
            <a:xfrm>
              <a:off x="6674596" y="4481363"/>
              <a:ext cx="351907" cy="14872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cxnSp>
        <p:nvCxnSpPr>
          <p:cNvPr id="68" name="直接连接符 67"/>
          <p:cNvCxnSpPr>
            <a:stCxn id="6" idx="4"/>
            <a:endCxn id="4" idx="0"/>
          </p:cNvCxnSpPr>
          <p:nvPr>
            <p:custDataLst>
              <p:tags r:id="rId25"/>
            </p:custDataLst>
          </p:nvPr>
        </p:nvCxnSpPr>
        <p:spPr>
          <a:xfrm>
            <a:off x="7653754" y="4506445"/>
            <a:ext cx="1087875" cy="442256"/>
          </a:xfrm>
          <a:prstGeom prst="line">
            <a:avLst/>
          </a:prstGeom>
        </p:spPr>
        <p:style>
          <a:lnRef idx="1">
            <a:schemeClr val="dk1"/>
          </a:lnRef>
          <a:fillRef idx="0">
            <a:schemeClr val="dk1"/>
          </a:fillRef>
          <a:effectRef idx="0">
            <a:schemeClr val="dk1"/>
          </a:effectRef>
          <a:fontRef idx="minor">
            <a:schemeClr val="tx1"/>
          </a:fontRef>
        </p:style>
      </p:cxnSp>
      <p:grpSp>
        <p:nvGrpSpPr>
          <p:cNvPr id="69" name="组合 68"/>
          <p:cNvGrpSpPr/>
          <p:nvPr/>
        </p:nvGrpSpPr>
        <p:grpSpPr>
          <a:xfrm>
            <a:off x="7710551" y="2744638"/>
            <a:ext cx="544947" cy="377789"/>
            <a:chOff x="6481556" y="4252294"/>
            <a:chExt cx="544947" cy="377789"/>
          </a:xfrm>
        </p:grpSpPr>
        <p:sp>
          <p:nvSpPr>
            <p:cNvPr id="70" name="文本框 69"/>
            <p:cNvSpPr txBox="1"/>
            <p:nvPr>
              <p:custDataLst>
                <p:tags r:id="rId26"/>
              </p:custDataLst>
            </p:nvPr>
          </p:nvSpPr>
          <p:spPr>
            <a:xfrm>
              <a:off x="6481556" y="4252294"/>
              <a:ext cx="317735" cy="368300"/>
            </a:xfrm>
            <a:prstGeom prst="rect">
              <a:avLst/>
            </a:prstGeom>
            <a:noFill/>
          </p:spPr>
          <p:txBody>
            <a:bodyPr wrap="square" rtlCol="0">
              <a:spAutoFit/>
            </a:bodyPr>
            <a:p>
              <a:r>
                <a:rPr lang="en-US" altLang="zh-CN" dirty="0"/>
                <a:t>p</a:t>
              </a:r>
              <a:endParaRPr lang="zh-CN" altLang="en-US" dirty="0"/>
            </a:p>
          </p:txBody>
        </p:sp>
        <p:cxnSp>
          <p:nvCxnSpPr>
            <p:cNvPr id="71" name="直接箭头连接符 70"/>
            <p:cNvCxnSpPr/>
            <p:nvPr>
              <p:custDataLst>
                <p:tags r:id="rId27"/>
              </p:custDataLst>
            </p:nvPr>
          </p:nvCxnSpPr>
          <p:spPr>
            <a:xfrm>
              <a:off x="6674596" y="4481363"/>
              <a:ext cx="351907" cy="14872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cxnSp>
        <p:nvCxnSpPr>
          <p:cNvPr id="73" name="直接连接符 72"/>
          <p:cNvCxnSpPr>
            <a:stCxn id="3" idx="4"/>
            <a:endCxn id="6" idx="0"/>
          </p:cNvCxnSpPr>
          <p:nvPr>
            <p:custDataLst>
              <p:tags r:id="rId28"/>
            </p:custDataLst>
          </p:nvPr>
        </p:nvCxnSpPr>
        <p:spPr>
          <a:xfrm flipH="1">
            <a:off x="7653754" y="3611328"/>
            <a:ext cx="1087875" cy="404924"/>
          </a:xfrm>
          <a:prstGeom prst="line">
            <a:avLst/>
          </a:prstGeom>
        </p:spPr>
        <p:style>
          <a:lnRef idx="1">
            <a:schemeClr val="dk1"/>
          </a:lnRef>
          <a:fillRef idx="0">
            <a:schemeClr val="dk1"/>
          </a:fillRef>
          <a:effectRef idx="0">
            <a:schemeClr val="dk1"/>
          </a:effectRef>
          <a:fontRef idx="minor">
            <a:schemeClr val="tx1"/>
          </a:fontRef>
        </p:style>
      </p:cxnSp>
      <p:grpSp>
        <p:nvGrpSpPr>
          <p:cNvPr id="74" name="组合 73"/>
          <p:cNvGrpSpPr/>
          <p:nvPr/>
        </p:nvGrpSpPr>
        <p:grpSpPr>
          <a:xfrm>
            <a:off x="7948852" y="2667750"/>
            <a:ext cx="544947" cy="377789"/>
            <a:chOff x="6481556" y="4252294"/>
            <a:chExt cx="544947" cy="377789"/>
          </a:xfrm>
        </p:grpSpPr>
        <p:sp>
          <p:nvSpPr>
            <p:cNvPr id="75" name="文本框 74"/>
            <p:cNvSpPr txBox="1"/>
            <p:nvPr>
              <p:custDataLst>
                <p:tags r:id="rId29"/>
              </p:custDataLst>
            </p:nvPr>
          </p:nvSpPr>
          <p:spPr>
            <a:xfrm>
              <a:off x="6481556" y="4252294"/>
              <a:ext cx="317735" cy="368300"/>
            </a:xfrm>
            <a:prstGeom prst="rect">
              <a:avLst/>
            </a:prstGeom>
            <a:noFill/>
          </p:spPr>
          <p:txBody>
            <a:bodyPr wrap="square" rtlCol="0">
              <a:spAutoFit/>
            </a:bodyPr>
            <a:p>
              <a:r>
                <a:rPr lang="en-US" altLang="zh-CN" dirty="0"/>
                <a:t>t</a:t>
              </a:r>
              <a:endParaRPr lang="zh-CN" altLang="en-US" dirty="0"/>
            </a:p>
          </p:txBody>
        </p:sp>
        <p:cxnSp>
          <p:nvCxnSpPr>
            <p:cNvPr id="76" name="直接箭头连接符 75"/>
            <p:cNvCxnSpPr/>
            <p:nvPr>
              <p:custDataLst>
                <p:tags r:id="rId30"/>
              </p:custDataLst>
            </p:nvPr>
          </p:nvCxnSpPr>
          <p:spPr>
            <a:xfrm>
              <a:off x="6674596" y="4481363"/>
              <a:ext cx="351907" cy="14872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cxnSp>
        <p:nvCxnSpPr>
          <p:cNvPr id="78" name="直接连接符 77"/>
          <p:cNvCxnSpPr>
            <a:stCxn id="3" idx="4"/>
            <a:endCxn id="8" idx="0"/>
          </p:cNvCxnSpPr>
          <p:nvPr>
            <p:custDataLst>
              <p:tags r:id="rId31"/>
            </p:custDataLst>
          </p:nvPr>
        </p:nvCxnSpPr>
        <p:spPr>
          <a:xfrm>
            <a:off x="8741629" y="3611328"/>
            <a:ext cx="1177919" cy="393482"/>
          </a:xfrm>
          <a:prstGeom prst="line">
            <a:avLst/>
          </a:prstGeom>
        </p:spPr>
        <p:style>
          <a:lnRef idx="1">
            <a:schemeClr val="dk1"/>
          </a:lnRef>
          <a:fillRef idx="0">
            <a:schemeClr val="dk1"/>
          </a:fillRef>
          <a:effectRef idx="0">
            <a:schemeClr val="dk1"/>
          </a:effectRef>
          <a:fontRef idx="minor">
            <a:schemeClr val="tx1"/>
          </a:fontRef>
        </p:style>
      </p:cxnSp>
      <p:sp>
        <p:nvSpPr>
          <p:cNvPr id="7" name="文本框 6"/>
          <p:cNvSpPr txBox="1"/>
          <p:nvPr>
            <p:custDataLst>
              <p:tags r:id="rId32"/>
            </p:custDataLst>
          </p:nvPr>
        </p:nvSpPr>
        <p:spPr>
          <a:xfrm>
            <a:off x="6753838" y="1491315"/>
            <a:ext cx="709144" cy="337185"/>
          </a:xfrm>
          <a:prstGeom prst="rect">
            <a:avLst/>
          </a:prstGeom>
          <a:noFill/>
        </p:spPr>
        <p:txBody>
          <a:bodyPr wrap="square" rtlCol="0">
            <a:spAutoFit/>
          </a:bodyPr>
          <a:p>
            <a:r>
              <a:rPr lang="en-US" altLang="zh-CN" sz="1600" dirty="0"/>
              <a:t>term</a:t>
            </a:r>
            <a:endParaRPr lang="zh-CN" altLang="en-US" sz="1600" dirty="0"/>
          </a:p>
        </p:txBody>
      </p:sp>
      <p:sp>
        <p:nvSpPr>
          <p:cNvPr id="26" name="文本框 25"/>
          <p:cNvSpPr txBox="1"/>
          <p:nvPr>
            <p:custDataLst>
              <p:tags r:id="rId33"/>
            </p:custDataLst>
          </p:nvPr>
        </p:nvSpPr>
        <p:spPr>
          <a:xfrm>
            <a:off x="7462981" y="1484454"/>
            <a:ext cx="780288" cy="337185"/>
          </a:xfrm>
          <a:prstGeom prst="rect">
            <a:avLst/>
          </a:prstGeom>
          <a:noFill/>
        </p:spPr>
        <p:txBody>
          <a:bodyPr wrap="square" rtlCol="0">
            <a:spAutoFit/>
          </a:bodyPr>
          <a:p>
            <a:r>
              <a:rPr lang="en-US" altLang="zh-CN" sz="1600" dirty="0" err="1"/>
              <a:t>addop</a:t>
            </a:r>
            <a:endParaRPr lang="zh-CN" altLang="en-US" sz="1600" dirty="0"/>
          </a:p>
        </p:txBody>
      </p:sp>
      <p:sp>
        <p:nvSpPr>
          <p:cNvPr id="41" name="文本框 40"/>
          <p:cNvSpPr txBox="1"/>
          <p:nvPr>
            <p:custDataLst>
              <p:tags r:id="rId34"/>
            </p:custDataLst>
          </p:nvPr>
        </p:nvSpPr>
        <p:spPr>
          <a:xfrm>
            <a:off x="9609214" y="1470995"/>
            <a:ext cx="621015" cy="337185"/>
          </a:xfrm>
          <a:prstGeom prst="rect">
            <a:avLst/>
          </a:prstGeom>
          <a:noFill/>
        </p:spPr>
        <p:txBody>
          <a:bodyPr wrap="square" rtlCol="0">
            <a:spAutoFit/>
          </a:bodyPr>
          <a:p>
            <a:r>
              <a:rPr lang="en-US" altLang="zh-CN" sz="1600" dirty="0"/>
              <a:t>term</a:t>
            </a:r>
            <a:endParaRPr lang="zh-CN" altLang="en-US" sz="1600" dirty="0"/>
          </a:p>
        </p:txBody>
      </p:sp>
      <p:sp>
        <p:nvSpPr>
          <p:cNvPr id="42" name="文本框 41"/>
          <p:cNvSpPr txBox="1"/>
          <p:nvPr>
            <p:custDataLst>
              <p:tags r:id="rId35"/>
            </p:custDataLst>
          </p:nvPr>
        </p:nvSpPr>
        <p:spPr>
          <a:xfrm>
            <a:off x="8232299" y="1475781"/>
            <a:ext cx="631985" cy="337185"/>
          </a:xfrm>
          <a:prstGeom prst="rect">
            <a:avLst/>
          </a:prstGeom>
          <a:noFill/>
        </p:spPr>
        <p:txBody>
          <a:bodyPr wrap="square" rtlCol="0">
            <a:spAutoFit/>
          </a:bodyPr>
          <a:p>
            <a:r>
              <a:rPr lang="en-US" altLang="zh-CN" sz="1600" dirty="0"/>
              <a:t>term</a:t>
            </a:r>
            <a:endParaRPr lang="zh-CN" altLang="en-US" sz="1600" dirty="0"/>
          </a:p>
        </p:txBody>
      </p:sp>
      <p:sp>
        <p:nvSpPr>
          <p:cNvPr id="44" name="文本框 43"/>
          <p:cNvSpPr txBox="1"/>
          <p:nvPr>
            <p:custDataLst>
              <p:tags r:id="rId36"/>
            </p:custDataLst>
          </p:nvPr>
        </p:nvSpPr>
        <p:spPr>
          <a:xfrm>
            <a:off x="8828926" y="1473519"/>
            <a:ext cx="804676" cy="337185"/>
          </a:xfrm>
          <a:prstGeom prst="rect">
            <a:avLst/>
          </a:prstGeom>
          <a:noFill/>
        </p:spPr>
        <p:txBody>
          <a:bodyPr wrap="square" rtlCol="0">
            <a:spAutoFit/>
          </a:bodyPr>
          <a:p>
            <a:r>
              <a:rPr lang="en-US" altLang="zh-CN" sz="1600" dirty="0" err="1"/>
              <a:t>addop</a:t>
            </a:r>
            <a:endParaRPr lang="zh-CN" altLang="en-US" sz="1600" dirty="0"/>
          </a:p>
        </p:txBody>
      </p:sp>
      <p:sp>
        <p:nvSpPr>
          <p:cNvPr id="27" name="文本框 26"/>
          <p:cNvSpPr txBox="1"/>
          <p:nvPr>
            <p:custDataLst>
              <p:tags r:id="rId37"/>
            </p:custDataLst>
          </p:nvPr>
        </p:nvSpPr>
        <p:spPr>
          <a:xfrm>
            <a:off x="5882023" y="1475926"/>
            <a:ext cx="709144" cy="368300"/>
          </a:xfrm>
          <a:prstGeom prst="rect">
            <a:avLst/>
          </a:prstGeom>
          <a:noFill/>
        </p:spPr>
        <p:txBody>
          <a:bodyPr wrap="square" rtlCol="0">
            <a:spAutoFit/>
          </a:bodyPr>
          <a:p>
            <a:r>
              <a:rPr lang="en-US" altLang="zh-CN" dirty="0" err="1"/>
              <a:t>eg</a:t>
            </a:r>
            <a:r>
              <a:rPr lang="zh-CN" altLang="en-US" dirty="0"/>
              <a:t>：</a:t>
            </a:r>
            <a:endParaRPr lang="zh-CN" altLang="en-US" dirty="0"/>
          </a:p>
        </p:txBody>
      </p:sp>
      <p:sp>
        <p:nvSpPr>
          <p:cNvPr id="9" name="灯片编号占位符 8"/>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mph" presetSubtype="0" grpId="0" nodeType="clickEffect">
                                  <p:stCondLst>
                                    <p:cond delay="0"/>
                                  </p:stCondLst>
                                  <p:iterate type="lt">
                                    <p:tmAbs val="25"/>
                                  </p:iterate>
                                  <p:childTnLst>
                                    <p:set>
                                      <p:cBhvr override="childStyle">
                                        <p:cTn id="11" dur="indefinite"/>
                                        <p:tgtEl>
                                          <p:spTgt spid="16"/>
                                        </p:tgtEl>
                                        <p:attrNameLst>
                                          <p:attrName>style.fontWeight</p:attrName>
                                        </p:attrNameLst>
                                      </p:cBhvr>
                                      <p:to>
                                        <p:strVal val="bold"/>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500"/>
                                        <p:tgtEl>
                                          <p:spTgt spid="5"/>
                                        </p:tgtEl>
                                      </p:cBhvr>
                                    </p:animEffect>
                                  </p:childTnLst>
                                </p:cTn>
                              </p:par>
                              <p:par>
                                <p:cTn id="17" presetID="16" presetClass="entr" presetSubtype="21" fill="hold" nodeType="with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barn(inVertical)">
                                      <p:cBhvr>
                                        <p:cTn id="19" dur="500"/>
                                        <p:tgtEl>
                                          <p:spTgt spid="5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mph" presetSubtype="2" fill="hold" grpId="0" nodeType="clickEffect">
                                  <p:stCondLst>
                                    <p:cond delay="0"/>
                                  </p:stCondLst>
                                  <p:childTnLst>
                                    <p:animClr clrSpc="rgb" dir="cw">
                                      <p:cBhvr>
                                        <p:cTn id="23" dur="2000" fill="hold"/>
                                        <p:tgtEl>
                                          <p:spTgt spid="7"/>
                                        </p:tgtEl>
                                        <p:attrNameLst>
                                          <p:attrName>fillcolor</p:attrName>
                                        </p:attrNameLst>
                                      </p:cBhvr>
                                      <p:to>
                                        <a:schemeClr val="accent2"/>
                                      </p:to>
                                    </p:animClr>
                                    <p:set>
                                      <p:cBhvr>
                                        <p:cTn id="24" dur="2000" fill="hold"/>
                                        <p:tgtEl>
                                          <p:spTgt spid="7"/>
                                        </p:tgtEl>
                                        <p:attrNameLst>
                                          <p:attrName>fill.type</p:attrName>
                                        </p:attrNameLst>
                                      </p:cBhvr>
                                      <p:to>
                                        <p:strVal val="solid"/>
                                      </p:to>
                                    </p:set>
                                    <p:set>
                                      <p:cBhvr>
                                        <p:cTn id="25" dur="2000" fill="hold"/>
                                        <p:tgtEl>
                                          <p:spTgt spid="7"/>
                                        </p:tgtEl>
                                        <p:attrNameLst>
                                          <p:attrName>fill.on</p:attrName>
                                        </p:attrNameLst>
                                      </p:cBhvr>
                                      <p:to>
                                        <p:strVal val="true"/>
                                      </p:to>
                                    </p:set>
                                  </p:childTnLst>
                                </p:cTn>
                              </p:par>
                            </p:childTnLst>
                          </p:cTn>
                        </p:par>
                      </p:childTnLst>
                    </p:cTn>
                  </p:par>
                  <p:par>
                    <p:cTn id="26" fill="hold">
                      <p:stCondLst>
                        <p:cond delay="indefinite"/>
                      </p:stCondLst>
                      <p:childTnLst>
                        <p:par>
                          <p:cTn id="27" fill="hold">
                            <p:stCondLst>
                              <p:cond delay="0"/>
                            </p:stCondLst>
                            <p:childTnLst>
                              <p:par>
                                <p:cTn id="28" presetID="15" presetClass="emph" presetSubtype="0" grpId="0" nodeType="clickEffect">
                                  <p:stCondLst>
                                    <p:cond delay="0"/>
                                  </p:stCondLst>
                                  <p:iterate type="lt">
                                    <p:tmAbs val="25"/>
                                  </p:iterate>
                                  <p:childTnLst>
                                    <p:set>
                                      <p:cBhvr override="childStyle">
                                        <p:cTn id="29" dur="indefinite"/>
                                        <p:tgtEl>
                                          <p:spTgt spid="17"/>
                                        </p:tgtEl>
                                        <p:attrNameLst>
                                          <p:attrName>style.fontWeight</p:attrName>
                                        </p:attrNameLst>
                                      </p:cBhvr>
                                      <p:to>
                                        <p:strVal val="bold"/>
                                      </p:to>
                                    </p:set>
                                  </p:childTnLst>
                                </p:cTn>
                              </p:par>
                            </p:childTnLst>
                          </p:cTn>
                        </p:par>
                      </p:childTnLst>
                    </p:cTn>
                  </p:par>
                  <p:par>
                    <p:cTn id="30" fill="hold">
                      <p:stCondLst>
                        <p:cond delay="indefinite"/>
                      </p:stCondLst>
                      <p:childTnLst>
                        <p:par>
                          <p:cTn id="31" fill="hold">
                            <p:stCondLst>
                              <p:cond delay="0"/>
                            </p:stCondLst>
                            <p:childTnLst>
                              <p:par>
                                <p:cTn id="32" presetID="15" presetClass="emph" presetSubtype="0" grpId="0" nodeType="clickEffect">
                                  <p:stCondLst>
                                    <p:cond delay="0"/>
                                  </p:stCondLst>
                                  <p:iterate type="lt">
                                    <p:tmAbs val="25"/>
                                  </p:iterate>
                                  <p:childTnLst>
                                    <p:set>
                                      <p:cBhvr override="childStyle">
                                        <p:cTn id="33" dur="indefinite"/>
                                        <p:tgtEl>
                                          <p:spTgt spid="18"/>
                                        </p:tgtEl>
                                        <p:attrNameLst>
                                          <p:attrName>style.fontWeight</p:attrName>
                                        </p:attrNameLst>
                                      </p:cBhvr>
                                      <p:to>
                                        <p:strVal val="bold"/>
                                      </p:to>
                                    </p:se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barn(inVertical)">
                                      <p:cBhvr>
                                        <p:cTn id="38" dur="500"/>
                                        <p:tgtEl>
                                          <p:spTgt spid="6"/>
                                        </p:tgtEl>
                                      </p:cBhvr>
                                    </p:animEffect>
                                  </p:childTnLst>
                                </p:cTn>
                              </p:par>
                              <p:par>
                                <p:cTn id="39" presetID="16" presetClass="entr" presetSubtype="21" fill="hold" nodeType="with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barn(inVertical)">
                                      <p:cBhvr>
                                        <p:cTn id="41" dur="500"/>
                                        <p:tgtEl>
                                          <p:spTgt spid="59"/>
                                        </p:tgtEl>
                                      </p:cBhvr>
                                    </p:animEffect>
                                  </p:childTnLst>
                                </p:cTn>
                              </p:par>
                            </p:childTnLst>
                          </p:cTn>
                        </p:par>
                      </p:childTnLst>
                    </p:cTn>
                  </p:par>
                  <p:par>
                    <p:cTn id="42" fill="hold">
                      <p:stCondLst>
                        <p:cond delay="indefinite"/>
                      </p:stCondLst>
                      <p:childTnLst>
                        <p:par>
                          <p:cTn id="43" fill="hold">
                            <p:stCondLst>
                              <p:cond delay="0"/>
                            </p:stCondLst>
                            <p:childTnLst>
                              <p:par>
                                <p:cTn id="44" presetID="15" presetClass="emph" presetSubtype="0" grpId="0" nodeType="clickEffect">
                                  <p:stCondLst>
                                    <p:cond delay="0"/>
                                  </p:stCondLst>
                                  <p:iterate type="lt">
                                    <p:tmAbs val="25"/>
                                  </p:iterate>
                                  <p:childTnLst>
                                    <p:set>
                                      <p:cBhvr override="childStyle">
                                        <p:cTn id="45" dur="indefinite"/>
                                        <p:tgtEl>
                                          <p:spTgt spid="19"/>
                                        </p:tgtEl>
                                        <p:attrNameLst>
                                          <p:attrName>style.fontWeight</p:attrName>
                                        </p:attrNameLst>
                                      </p:cBhvr>
                                      <p:to>
                                        <p:strVal val="bold"/>
                                      </p:to>
                                    </p:set>
                                  </p:childTnLst>
                                </p:cTn>
                              </p:par>
                            </p:childTnLst>
                          </p:cTn>
                        </p:par>
                      </p:childTnLst>
                    </p:cTn>
                  </p:par>
                  <p:par>
                    <p:cTn id="46" fill="hold">
                      <p:stCondLst>
                        <p:cond delay="indefinite"/>
                      </p:stCondLst>
                      <p:childTnLst>
                        <p:par>
                          <p:cTn id="47" fill="hold">
                            <p:stCondLst>
                              <p:cond delay="0"/>
                            </p:stCondLst>
                            <p:childTnLst>
                              <p:par>
                                <p:cTn id="48" presetID="15" presetClass="emph" presetSubtype="0" grpId="0" nodeType="clickEffect">
                                  <p:stCondLst>
                                    <p:cond delay="0"/>
                                  </p:stCondLst>
                                  <p:iterate type="lt">
                                    <p:tmAbs val="25"/>
                                  </p:iterate>
                                  <p:childTnLst>
                                    <p:set>
                                      <p:cBhvr override="childStyle">
                                        <p:cTn id="49" dur="indefinite"/>
                                        <p:tgtEl>
                                          <p:spTgt spid="20"/>
                                        </p:tgtEl>
                                        <p:attrNameLst>
                                          <p:attrName>style.fontWeight</p:attrName>
                                        </p:attrNameLst>
                                      </p:cBhvr>
                                      <p:to>
                                        <p:strVal val="bold"/>
                                      </p:to>
                                    </p:se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nodeType="clickEffect">
                                  <p:stCondLst>
                                    <p:cond delay="0"/>
                                  </p:stCondLst>
                                  <p:childTnLst>
                                    <p:set>
                                      <p:cBhvr>
                                        <p:cTn id="53" dur="1" fill="hold">
                                          <p:stCondLst>
                                            <p:cond delay="0"/>
                                          </p:stCondLst>
                                        </p:cTn>
                                        <p:tgtEl>
                                          <p:spTgt spid="63"/>
                                        </p:tgtEl>
                                        <p:attrNameLst>
                                          <p:attrName>style.visibility</p:attrName>
                                        </p:attrNameLst>
                                      </p:cBhvr>
                                      <p:to>
                                        <p:strVal val="visible"/>
                                      </p:to>
                                    </p:set>
                                    <p:animEffect transition="in" filter="barn(inVertical)">
                                      <p:cBhvr>
                                        <p:cTn id="54" dur="500"/>
                                        <p:tgtEl>
                                          <p:spTgt spid="63"/>
                                        </p:tgtEl>
                                      </p:cBhvr>
                                    </p:animEffect>
                                  </p:childTnLst>
                                </p:cTn>
                              </p:par>
                            </p:childTnLst>
                          </p:cTn>
                        </p:par>
                      </p:childTnLst>
                    </p:cTn>
                  </p:par>
                  <p:par>
                    <p:cTn id="55" fill="hold">
                      <p:stCondLst>
                        <p:cond delay="indefinite"/>
                      </p:stCondLst>
                      <p:childTnLst>
                        <p:par>
                          <p:cTn id="56" fill="hold">
                            <p:stCondLst>
                              <p:cond delay="0"/>
                            </p:stCondLst>
                            <p:childTnLst>
                              <p:par>
                                <p:cTn id="57" presetID="15" presetClass="emph" presetSubtype="0" grpId="0" nodeType="clickEffect">
                                  <p:stCondLst>
                                    <p:cond delay="0"/>
                                  </p:stCondLst>
                                  <p:iterate type="lt">
                                    <p:tmAbs val="25"/>
                                  </p:iterate>
                                  <p:childTnLst>
                                    <p:set>
                                      <p:cBhvr override="childStyle">
                                        <p:cTn id="58" dur="indefinite"/>
                                        <p:tgtEl>
                                          <p:spTgt spid="21"/>
                                        </p:tgtEl>
                                        <p:attrNameLst>
                                          <p:attrName>style.fontWeight</p:attrName>
                                        </p:attrNameLst>
                                      </p:cBhvr>
                                      <p:to>
                                        <p:strVal val="bold"/>
                                      </p:to>
                                    </p:set>
                                  </p:childTnLst>
                                </p:cTn>
                              </p:par>
                            </p:childTnLst>
                          </p:cTn>
                        </p:par>
                      </p:childTnLst>
                    </p:cTn>
                  </p:par>
                  <p:par>
                    <p:cTn id="59" fill="hold">
                      <p:stCondLst>
                        <p:cond delay="indefinite"/>
                      </p:stCondLst>
                      <p:childTnLst>
                        <p:par>
                          <p:cTn id="60" fill="hold">
                            <p:stCondLst>
                              <p:cond delay="0"/>
                            </p:stCondLst>
                            <p:childTnLst>
                              <p:par>
                                <p:cTn id="61" presetID="15" presetClass="emph" presetSubtype="0" grpId="0" nodeType="clickEffect">
                                  <p:stCondLst>
                                    <p:cond delay="0"/>
                                  </p:stCondLst>
                                  <p:iterate type="lt">
                                    <p:tmAbs val="25"/>
                                  </p:iterate>
                                  <p:childTnLst>
                                    <p:set>
                                      <p:cBhvr override="childStyle">
                                        <p:cTn id="62" dur="indefinite"/>
                                        <p:tgtEl>
                                          <p:spTgt spid="22"/>
                                        </p:tgtEl>
                                        <p:attrNameLst>
                                          <p:attrName>style.fontWeight</p:attrName>
                                        </p:attrNameLst>
                                      </p:cBhvr>
                                      <p:to>
                                        <p:strVal val="bold"/>
                                      </p:to>
                                    </p:se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nodeType="clickEffect">
                                  <p:stCondLst>
                                    <p:cond delay="0"/>
                                  </p:stCondLst>
                                  <p:childTnLst>
                                    <p:set>
                                      <p:cBhvr>
                                        <p:cTn id="66" dur="1" fill="hold">
                                          <p:stCondLst>
                                            <p:cond delay="0"/>
                                          </p:stCondLst>
                                        </p:cTn>
                                        <p:tgtEl>
                                          <p:spTgt spid="64"/>
                                        </p:tgtEl>
                                        <p:attrNameLst>
                                          <p:attrName>style.visibility</p:attrName>
                                        </p:attrNameLst>
                                      </p:cBhvr>
                                      <p:to>
                                        <p:strVal val="visible"/>
                                      </p:to>
                                    </p:set>
                                    <p:animEffect transition="in" filter="barn(inVertical)">
                                      <p:cBhvr>
                                        <p:cTn id="67" dur="500"/>
                                        <p:tgtEl>
                                          <p:spTgt spid="64"/>
                                        </p:tgtEl>
                                      </p:cBhvr>
                                    </p:animEffect>
                                  </p:childTnLst>
                                </p:cTn>
                              </p:par>
                              <p:par>
                                <p:cTn id="68" presetID="16" presetClass="exit" presetSubtype="21" fill="hold" nodeType="withEffect">
                                  <p:stCondLst>
                                    <p:cond delay="0"/>
                                  </p:stCondLst>
                                  <p:childTnLst>
                                    <p:animEffect transition="out" filter="barn(inVertical)">
                                      <p:cBhvr>
                                        <p:cTn id="69" dur="500"/>
                                        <p:tgtEl>
                                          <p:spTgt spid="58"/>
                                        </p:tgtEl>
                                      </p:cBhvr>
                                    </p:animEffect>
                                    <p:set>
                                      <p:cBhvr>
                                        <p:cTn id="70" dur="1" fill="hold">
                                          <p:stCondLst>
                                            <p:cond delay="499"/>
                                          </p:stCondLst>
                                        </p:cTn>
                                        <p:tgtEl>
                                          <p:spTgt spid="58"/>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5" presetClass="emph" presetSubtype="0" grpId="0" nodeType="clickEffect">
                                  <p:stCondLst>
                                    <p:cond delay="0"/>
                                  </p:stCondLst>
                                  <p:iterate type="lt">
                                    <p:tmAbs val="25"/>
                                  </p:iterate>
                                  <p:childTnLst>
                                    <p:set>
                                      <p:cBhvr override="childStyle">
                                        <p:cTn id="74" dur="indefinite"/>
                                        <p:tgtEl>
                                          <p:spTgt spid="23"/>
                                        </p:tgtEl>
                                        <p:attrNameLst>
                                          <p:attrName>style.fontWeight</p:attrName>
                                        </p:attrNameLst>
                                      </p:cBhvr>
                                      <p:to>
                                        <p:strVal val="bold"/>
                                      </p:to>
                                    </p:set>
                                  </p:childTnLst>
                                </p:cTn>
                              </p:par>
                            </p:childTnLst>
                          </p:cTn>
                        </p:par>
                      </p:childTnLst>
                    </p:cTn>
                  </p:par>
                  <p:par>
                    <p:cTn id="75" fill="hold">
                      <p:stCondLst>
                        <p:cond delay="indefinite"/>
                      </p:stCondLst>
                      <p:childTnLst>
                        <p:par>
                          <p:cTn id="76" fill="hold">
                            <p:stCondLst>
                              <p:cond delay="0"/>
                            </p:stCondLst>
                            <p:childTnLst>
                              <p:par>
                                <p:cTn id="77" presetID="1" presetClass="emph" presetSubtype="2" fill="hold" nodeType="clickEffect">
                                  <p:stCondLst>
                                    <p:cond delay="0"/>
                                  </p:stCondLst>
                                  <p:childTnLst>
                                    <p:animClr clrSpc="rgb" dir="cw">
                                      <p:cBhvr>
                                        <p:cTn id="78" dur="2000" fill="hold"/>
                                        <p:tgtEl>
                                          <p:spTgt spid="26"/>
                                        </p:tgtEl>
                                        <p:attrNameLst>
                                          <p:attrName>fillcolor</p:attrName>
                                        </p:attrNameLst>
                                      </p:cBhvr>
                                      <p:to>
                                        <a:schemeClr val="accent2"/>
                                      </p:to>
                                    </p:animClr>
                                    <p:set>
                                      <p:cBhvr>
                                        <p:cTn id="79" dur="2000" fill="hold"/>
                                        <p:tgtEl>
                                          <p:spTgt spid="26"/>
                                        </p:tgtEl>
                                        <p:attrNameLst>
                                          <p:attrName>fill.type</p:attrName>
                                        </p:attrNameLst>
                                      </p:cBhvr>
                                      <p:to>
                                        <p:strVal val="solid"/>
                                      </p:to>
                                    </p:set>
                                    <p:set>
                                      <p:cBhvr>
                                        <p:cTn id="80" dur="2000" fill="hold"/>
                                        <p:tgtEl>
                                          <p:spTgt spid="26"/>
                                        </p:tgtEl>
                                        <p:attrNameLst>
                                          <p:attrName>fill.on</p:attrName>
                                        </p:attrNameLst>
                                      </p:cBhvr>
                                      <p:to>
                                        <p:strVal val="true"/>
                                      </p:to>
                                    </p:set>
                                  </p:childTnLst>
                                </p:cTn>
                              </p:par>
                            </p:childTnLst>
                          </p:cTn>
                        </p:par>
                      </p:childTnLst>
                    </p:cTn>
                  </p:par>
                  <p:par>
                    <p:cTn id="81" fill="hold">
                      <p:stCondLst>
                        <p:cond delay="indefinite"/>
                      </p:stCondLst>
                      <p:childTnLst>
                        <p:par>
                          <p:cTn id="82" fill="hold">
                            <p:stCondLst>
                              <p:cond delay="0"/>
                            </p:stCondLst>
                            <p:childTnLst>
                              <p:par>
                                <p:cTn id="83" presetID="15" presetClass="emph" presetSubtype="0" grpId="0" nodeType="clickEffect">
                                  <p:stCondLst>
                                    <p:cond delay="0"/>
                                  </p:stCondLst>
                                  <p:iterate type="lt">
                                    <p:tmAbs val="25"/>
                                  </p:iterate>
                                  <p:childTnLst>
                                    <p:set>
                                      <p:cBhvr override="childStyle">
                                        <p:cTn id="84" dur="indefinite"/>
                                        <p:tgtEl>
                                          <p:spTgt spid="24"/>
                                        </p:tgtEl>
                                        <p:attrNameLst>
                                          <p:attrName>style.fontWeight</p:attrName>
                                        </p:attrNameLst>
                                      </p:cBhvr>
                                      <p:to>
                                        <p:strVal val="bold"/>
                                      </p:to>
                                    </p:set>
                                  </p:childTnLst>
                                </p:cTn>
                              </p:par>
                            </p:childTnLst>
                          </p:cTn>
                        </p:par>
                      </p:childTnLst>
                    </p:cTn>
                  </p:par>
                  <p:par>
                    <p:cTn id="85" fill="hold">
                      <p:stCondLst>
                        <p:cond delay="indefinite"/>
                      </p:stCondLst>
                      <p:childTnLst>
                        <p:par>
                          <p:cTn id="86" fill="hold">
                            <p:stCondLst>
                              <p:cond delay="0"/>
                            </p:stCondLst>
                            <p:childTnLst>
                              <p:par>
                                <p:cTn id="87" presetID="16" presetClass="entr" presetSubtype="21" fill="hold" grpId="0" nodeType="clickEffect">
                                  <p:stCondLst>
                                    <p:cond delay="0"/>
                                  </p:stCondLst>
                                  <p:childTnLst>
                                    <p:set>
                                      <p:cBhvr>
                                        <p:cTn id="88" dur="1" fill="hold">
                                          <p:stCondLst>
                                            <p:cond delay="0"/>
                                          </p:stCondLst>
                                        </p:cTn>
                                        <p:tgtEl>
                                          <p:spTgt spid="4"/>
                                        </p:tgtEl>
                                        <p:attrNameLst>
                                          <p:attrName>style.visibility</p:attrName>
                                        </p:attrNameLst>
                                      </p:cBhvr>
                                      <p:to>
                                        <p:strVal val="visible"/>
                                      </p:to>
                                    </p:set>
                                    <p:animEffect transition="in" filter="barn(inVertical)">
                                      <p:cBhvr>
                                        <p:cTn id="89" dur="500"/>
                                        <p:tgtEl>
                                          <p:spTgt spid="4"/>
                                        </p:tgtEl>
                                      </p:cBhvr>
                                    </p:animEffect>
                                  </p:childTnLst>
                                </p:cTn>
                              </p:par>
                              <p:par>
                                <p:cTn id="90" presetID="16" presetClass="entr" presetSubtype="21" fill="hold" nodeType="with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barn(inVertical)">
                                      <p:cBhvr>
                                        <p:cTn id="92" dur="500"/>
                                        <p:tgtEl>
                                          <p:spTgt spid="68"/>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mph" presetSubtype="2" fill="hold" nodeType="clickEffect">
                                  <p:stCondLst>
                                    <p:cond delay="0"/>
                                  </p:stCondLst>
                                  <p:childTnLst>
                                    <p:animClr clrSpc="rgb" dir="cw">
                                      <p:cBhvr>
                                        <p:cTn id="96" dur="2000" fill="hold"/>
                                        <p:tgtEl>
                                          <p:spTgt spid="42"/>
                                        </p:tgtEl>
                                        <p:attrNameLst>
                                          <p:attrName>fillcolor</p:attrName>
                                        </p:attrNameLst>
                                      </p:cBhvr>
                                      <p:to>
                                        <a:schemeClr val="accent2"/>
                                      </p:to>
                                    </p:animClr>
                                    <p:set>
                                      <p:cBhvr>
                                        <p:cTn id="97" dur="2000" fill="hold"/>
                                        <p:tgtEl>
                                          <p:spTgt spid="42"/>
                                        </p:tgtEl>
                                        <p:attrNameLst>
                                          <p:attrName>fill.type</p:attrName>
                                        </p:attrNameLst>
                                      </p:cBhvr>
                                      <p:to>
                                        <p:strVal val="solid"/>
                                      </p:to>
                                    </p:set>
                                    <p:set>
                                      <p:cBhvr>
                                        <p:cTn id="98" dur="2000" fill="hold"/>
                                        <p:tgtEl>
                                          <p:spTgt spid="42"/>
                                        </p:tgtEl>
                                        <p:attrNameLst>
                                          <p:attrName>fill.on</p:attrName>
                                        </p:attrNameLst>
                                      </p:cBhvr>
                                      <p:to>
                                        <p:strVal val="true"/>
                                      </p:to>
                                    </p:set>
                                  </p:childTnLst>
                                </p:cTn>
                              </p:par>
                            </p:childTnLst>
                          </p:cTn>
                        </p:par>
                      </p:childTnLst>
                    </p:cTn>
                  </p:par>
                  <p:par>
                    <p:cTn id="99" fill="hold">
                      <p:stCondLst>
                        <p:cond delay="indefinite"/>
                      </p:stCondLst>
                      <p:childTnLst>
                        <p:par>
                          <p:cTn id="100" fill="hold">
                            <p:stCondLst>
                              <p:cond delay="0"/>
                            </p:stCondLst>
                            <p:childTnLst>
                              <p:par>
                                <p:cTn id="101" presetID="3" presetClass="emph" presetSubtype="2" fill="hold" grpId="1" nodeType="clickEffect">
                                  <p:stCondLst>
                                    <p:cond delay="0"/>
                                  </p:stCondLst>
                                  <p:iterate type="lt">
                                    <p:tmPct val="0"/>
                                  </p:iterate>
                                  <p:childTnLst>
                                    <p:animClr clrSpc="rgb" dir="cw">
                                      <p:cBhvr override="childStyle">
                                        <p:cTn id="102" dur="500" fill="hold"/>
                                        <p:tgtEl>
                                          <p:spTgt spid="17"/>
                                        </p:tgtEl>
                                        <p:attrNameLst>
                                          <p:attrName>style.color</p:attrName>
                                        </p:attrNameLst>
                                      </p:cBhvr>
                                      <p:to>
                                        <a:schemeClr val="accent2"/>
                                      </p:to>
                                    </p:animClr>
                                  </p:childTnLst>
                                </p:cTn>
                              </p:par>
                            </p:childTnLst>
                          </p:cTn>
                        </p:par>
                      </p:childTnLst>
                    </p:cTn>
                  </p:par>
                  <p:par>
                    <p:cTn id="103" fill="hold">
                      <p:stCondLst>
                        <p:cond delay="indefinite"/>
                      </p:stCondLst>
                      <p:childTnLst>
                        <p:par>
                          <p:cTn id="104" fill="hold">
                            <p:stCondLst>
                              <p:cond delay="0"/>
                            </p:stCondLst>
                            <p:childTnLst>
                              <p:par>
                                <p:cTn id="105" presetID="3" presetClass="emph" presetSubtype="2" fill="hold" grpId="1" nodeType="clickEffect">
                                  <p:stCondLst>
                                    <p:cond delay="0"/>
                                  </p:stCondLst>
                                  <p:iterate type="lt">
                                    <p:tmPct val="0"/>
                                  </p:iterate>
                                  <p:childTnLst>
                                    <p:animClr clrSpc="rgb" dir="cw">
                                      <p:cBhvr override="childStyle">
                                        <p:cTn id="106" dur="500" fill="hold"/>
                                        <p:tgtEl>
                                          <p:spTgt spid="18"/>
                                        </p:tgtEl>
                                        <p:attrNameLst>
                                          <p:attrName>style.color</p:attrName>
                                        </p:attrNameLst>
                                      </p:cBhvr>
                                      <p:to>
                                        <a:schemeClr val="accent2"/>
                                      </p:to>
                                    </p:animClr>
                                  </p:childTnLst>
                                </p:cTn>
                              </p:par>
                            </p:childTnLst>
                          </p:cTn>
                        </p:par>
                      </p:childTnLst>
                    </p:cTn>
                  </p:par>
                  <p:par>
                    <p:cTn id="107" fill="hold">
                      <p:stCondLst>
                        <p:cond delay="indefinite"/>
                      </p:stCondLst>
                      <p:childTnLst>
                        <p:par>
                          <p:cTn id="108" fill="hold">
                            <p:stCondLst>
                              <p:cond delay="0"/>
                            </p:stCondLst>
                            <p:childTnLst>
                              <p:par>
                                <p:cTn id="109" presetID="16" presetClass="entr" presetSubtype="21" fill="hold" grpId="0" nodeType="clickEffect">
                                  <p:stCondLst>
                                    <p:cond delay="0"/>
                                  </p:stCondLst>
                                  <p:childTnLst>
                                    <p:set>
                                      <p:cBhvr>
                                        <p:cTn id="110" dur="1" fill="hold">
                                          <p:stCondLst>
                                            <p:cond delay="0"/>
                                          </p:stCondLst>
                                        </p:cTn>
                                        <p:tgtEl>
                                          <p:spTgt spid="3"/>
                                        </p:tgtEl>
                                        <p:attrNameLst>
                                          <p:attrName>style.visibility</p:attrName>
                                        </p:attrNameLst>
                                      </p:cBhvr>
                                      <p:to>
                                        <p:strVal val="visible"/>
                                      </p:to>
                                    </p:set>
                                    <p:animEffect transition="in" filter="barn(inVertical)">
                                      <p:cBhvr>
                                        <p:cTn id="111" dur="500"/>
                                        <p:tgtEl>
                                          <p:spTgt spid="3"/>
                                        </p:tgtEl>
                                      </p:cBhvr>
                                    </p:animEffect>
                                  </p:childTnLst>
                                </p:cTn>
                              </p:par>
                              <p:par>
                                <p:cTn id="112" presetID="16" presetClass="entr" presetSubtype="21" fill="hold" nodeType="withEffect">
                                  <p:stCondLst>
                                    <p:cond delay="0"/>
                                  </p:stCondLst>
                                  <p:childTnLst>
                                    <p:set>
                                      <p:cBhvr>
                                        <p:cTn id="113" dur="1" fill="hold">
                                          <p:stCondLst>
                                            <p:cond delay="0"/>
                                          </p:stCondLst>
                                        </p:cTn>
                                        <p:tgtEl>
                                          <p:spTgt spid="69"/>
                                        </p:tgtEl>
                                        <p:attrNameLst>
                                          <p:attrName>style.visibility</p:attrName>
                                        </p:attrNameLst>
                                      </p:cBhvr>
                                      <p:to>
                                        <p:strVal val="visible"/>
                                      </p:to>
                                    </p:set>
                                    <p:animEffect transition="in" filter="barn(inVertical)">
                                      <p:cBhvr>
                                        <p:cTn id="114" dur="500"/>
                                        <p:tgtEl>
                                          <p:spTgt spid="69"/>
                                        </p:tgtEl>
                                      </p:cBhvr>
                                    </p:animEffect>
                                  </p:childTnLst>
                                </p:cTn>
                              </p:par>
                              <p:par>
                                <p:cTn id="115" presetID="16" presetClass="exit" presetSubtype="21" fill="hold" nodeType="withEffect">
                                  <p:stCondLst>
                                    <p:cond delay="0"/>
                                  </p:stCondLst>
                                  <p:childTnLst>
                                    <p:animEffect transition="out" filter="barn(inVertical)">
                                      <p:cBhvr>
                                        <p:cTn id="116" dur="500"/>
                                        <p:tgtEl>
                                          <p:spTgt spid="59"/>
                                        </p:tgtEl>
                                      </p:cBhvr>
                                    </p:animEffect>
                                    <p:set>
                                      <p:cBhvr>
                                        <p:cTn id="117" dur="1" fill="hold">
                                          <p:stCondLst>
                                            <p:cond delay="499"/>
                                          </p:stCondLst>
                                        </p:cTn>
                                        <p:tgtEl>
                                          <p:spTgt spid="59"/>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3" presetClass="emph" presetSubtype="2" fill="hold" grpId="1" nodeType="clickEffect">
                                  <p:stCondLst>
                                    <p:cond delay="0"/>
                                  </p:stCondLst>
                                  <p:iterate type="lt">
                                    <p:tmPct val="0"/>
                                  </p:iterate>
                                  <p:childTnLst>
                                    <p:animClr clrSpc="rgb" dir="cw">
                                      <p:cBhvr override="childStyle">
                                        <p:cTn id="121" dur="300" fill="hold"/>
                                        <p:tgtEl>
                                          <p:spTgt spid="20"/>
                                        </p:tgtEl>
                                        <p:attrNameLst>
                                          <p:attrName>style.color</p:attrName>
                                        </p:attrNameLst>
                                      </p:cBhvr>
                                      <p:to>
                                        <a:schemeClr val="accent2"/>
                                      </p:to>
                                    </p:animClr>
                                  </p:childTnLst>
                                </p:cTn>
                              </p:par>
                            </p:childTnLst>
                          </p:cTn>
                        </p:par>
                      </p:childTnLst>
                    </p:cTn>
                  </p:par>
                  <p:par>
                    <p:cTn id="122" fill="hold">
                      <p:stCondLst>
                        <p:cond delay="indefinite"/>
                      </p:stCondLst>
                      <p:childTnLst>
                        <p:par>
                          <p:cTn id="123" fill="hold">
                            <p:stCondLst>
                              <p:cond delay="0"/>
                            </p:stCondLst>
                            <p:childTnLst>
                              <p:par>
                                <p:cTn id="124" presetID="16" presetClass="entr" presetSubtype="21" fill="hold" nodeType="clickEffect">
                                  <p:stCondLst>
                                    <p:cond delay="0"/>
                                  </p:stCondLst>
                                  <p:childTnLst>
                                    <p:set>
                                      <p:cBhvr>
                                        <p:cTn id="125" dur="1" fill="hold">
                                          <p:stCondLst>
                                            <p:cond delay="0"/>
                                          </p:stCondLst>
                                        </p:cTn>
                                        <p:tgtEl>
                                          <p:spTgt spid="73"/>
                                        </p:tgtEl>
                                        <p:attrNameLst>
                                          <p:attrName>style.visibility</p:attrName>
                                        </p:attrNameLst>
                                      </p:cBhvr>
                                      <p:to>
                                        <p:strVal val="visible"/>
                                      </p:to>
                                    </p:set>
                                    <p:animEffect transition="in" filter="barn(inVertical)">
                                      <p:cBhvr>
                                        <p:cTn id="126" dur="500"/>
                                        <p:tgtEl>
                                          <p:spTgt spid="73"/>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mph" presetSubtype="2" fill="hold" grpId="1" nodeType="clickEffect">
                                  <p:stCondLst>
                                    <p:cond delay="0"/>
                                  </p:stCondLst>
                                  <p:iterate type="lt">
                                    <p:tmPct val="0"/>
                                  </p:iterate>
                                  <p:childTnLst>
                                    <p:animClr clrSpc="rgb" dir="cw">
                                      <p:cBhvr override="childStyle">
                                        <p:cTn id="130" dur="500" fill="hold"/>
                                        <p:tgtEl>
                                          <p:spTgt spid="22"/>
                                        </p:tgtEl>
                                        <p:attrNameLst>
                                          <p:attrName>style.color</p:attrName>
                                        </p:attrNameLst>
                                      </p:cBhvr>
                                      <p:to>
                                        <a:schemeClr val="accent2"/>
                                      </p:to>
                                    </p:animClr>
                                  </p:childTnLst>
                                </p:cTn>
                              </p:par>
                            </p:childTnLst>
                          </p:cTn>
                        </p:par>
                      </p:childTnLst>
                    </p:cTn>
                  </p:par>
                  <p:par>
                    <p:cTn id="131" fill="hold">
                      <p:stCondLst>
                        <p:cond delay="indefinite"/>
                      </p:stCondLst>
                      <p:childTnLst>
                        <p:par>
                          <p:cTn id="132" fill="hold">
                            <p:stCondLst>
                              <p:cond delay="0"/>
                            </p:stCondLst>
                            <p:childTnLst>
                              <p:par>
                                <p:cTn id="133" presetID="16" presetClass="entr" presetSubtype="21" fill="hold" nodeType="clickEffect">
                                  <p:stCondLst>
                                    <p:cond delay="0"/>
                                  </p:stCondLst>
                                  <p:childTnLst>
                                    <p:set>
                                      <p:cBhvr>
                                        <p:cTn id="134" dur="1" fill="hold">
                                          <p:stCondLst>
                                            <p:cond delay="0"/>
                                          </p:stCondLst>
                                        </p:cTn>
                                        <p:tgtEl>
                                          <p:spTgt spid="74"/>
                                        </p:tgtEl>
                                        <p:attrNameLst>
                                          <p:attrName>style.visibility</p:attrName>
                                        </p:attrNameLst>
                                      </p:cBhvr>
                                      <p:to>
                                        <p:strVal val="visible"/>
                                      </p:to>
                                    </p:set>
                                    <p:animEffect transition="in" filter="barn(inVertical)">
                                      <p:cBhvr>
                                        <p:cTn id="135" dur="500"/>
                                        <p:tgtEl>
                                          <p:spTgt spid="74"/>
                                        </p:tgtEl>
                                      </p:cBhvr>
                                    </p:animEffect>
                                  </p:childTnLst>
                                </p:cTn>
                              </p:par>
                              <p:par>
                                <p:cTn id="136" presetID="16" presetClass="exit" presetSubtype="21" fill="hold" nodeType="withEffect">
                                  <p:stCondLst>
                                    <p:cond delay="0"/>
                                  </p:stCondLst>
                                  <p:childTnLst>
                                    <p:animEffect transition="out" filter="barn(inVertical)">
                                      <p:cBhvr>
                                        <p:cTn id="137" dur="500"/>
                                        <p:tgtEl>
                                          <p:spTgt spid="64"/>
                                        </p:tgtEl>
                                      </p:cBhvr>
                                    </p:animEffect>
                                    <p:set>
                                      <p:cBhvr>
                                        <p:cTn id="138" dur="1" fill="hold">
                                          <p:stCondLst>
                                            <p:cond delay="499"/>
                                          </p:stCondLst>
                                        </p:cTn>
                                        <p:tgtEl>
                                          <p:spTgt spid="64"/>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3" presetClass="emph" presetSubtype="2" fill="hold" grpId="1" nodeType="clickEffect">
                                  <p:stCondLst>
                                    <p:cond delay="0"/>
                                  </p:stCondLst>
                                  <p:iterate type="lt">
                                    <p:tmPct val="0"/>
                                  </p:iterate>
                                  <p:childTnLst>
                                    <p:animClr clrSpc="rgb" dir="cw">
                                      <p:cBhvr override="childStyle">
                                        <p:cTn id="142" dur="300" fill="hold"/>
                                        <p:tgtEl>
                                          <p:spTgt spid="23"/>
                                        </p:tgtEl>
                                        <p:attrNameLst>
                                          <p:attrName>style.color</p:attrName>
                                        </p:attrNameLst>
                                      </p:cBhvr>
                                      <p:to>
                                        <a:schemeClr val="accent2"/>
                                      </p:to>
                                    </p:animClr>
                                  </p:childTnLst>
                                </p:cTn>
                              </p:par>
                            </p:childTnLst>
                          </p:cTn>
                        </p:par>
                      </p:childTnLst>
                    </p:cTn>
                  </p:par>
                  <p:par>
                    <p:cTn id="143" fill="hold">
                      <p:stCondLst>
                        <p:cond delay="indefinite"/>
                      </p:stCondLst>
                      <p:childTnLst>
                        <p:par>
                          <p:cTn id="144" fill="hold">
                            <p:stCondLst>
                              <p:cond delay="0"/>
                            </p:stCondLst>
                            <p:childTnLst>
                              <p:par>
                                <p:cTn id="145" presetID="1" presetClass="emph" presetSubtype="2" fill="hold" nodeType="clickEffect">
                                  <p:stCondLst>
                                    <p:cond delay="0"/>
                                  </p:stCondLst>
                                  <p:childTnLst>
                                    <p:animClr clrSpc="rgb" dir="cw">
                                      <p:cBhvr>
                                        <p:cTn id="146" dur="2000" fill="hold"/>
                                        <p:tgtEl>
                                          <p:spTgt spid="44"/>
                                        </p:tgtEl>
                                        <p:attrNameLst>
                                          <p:attrName>fillcolor</p:attrName>
                                        </p:attrNameLst>
                                      </p:cBhvr>
                                      <p:to>
                                        <a:schemeClr val="accent2"/>
                                      </p:to>
                                    </p:animClr>
                                    <p:set>
                                      <p:cBhvr>
                                        <p:cTn id="147" dur="2000" fill="hold"/>
                                        <p:tgtEl>
                                          <p:spTgt spid="44"/>
                                        </p:tgtEl>
                                        <p:attrNameLst>
                                          <p:attrName>fill.type</p:attrName>
                                        </p:attrNameLst>
                                      </p:cBhvr>
                                      <p:to>
                                        <p:strVal val="solid"/>
                                      </p:to>
                                    </p:set>
                                    <p:set>
                                      <p:cBhvr>
                                        <p:cTn id="148" dur="2000" fill="hold"/>
                                        <p:tgtEl>
                                          <p:spTgt spid="44"/>
                                        </p:tgtEl>
                                        <p:attrNameLst>
                                          <p:attrName>fill.on</p:attrName>
                                        </p:attrNameLst>
                                      </p:cBhvr>
                                      <p:to>
                                        <p:strVal val="true"/>
                                      </p:to>
                                    </p:set>
                                  </p:childTnLst>
                                </p:cTn>
                              </p:par>
                            </p:childTnLst>
                          </p:cTn>
                        </p:par>
                      </p:childTnLst>
                    </p:cTn>
                  </p:par>
                  <p:par>
                    <p:cTn id="149" fill="hold">
                      <p:stCondLst>
                        <p:cond delay="indefinite"/>
                      </p:stCondLst>
                      <p:childTnLst>
                        <p:par>
                          <p:cTn id="150" fill="hold">
                            <p:stCondLst>
                              <p:cond delay="0"/>
                            </p:stCondLst>
                            <p:childTnLst>
                              <p:par>
                                <p:cTn id="151" presetID="3" presetClass="emph" presetSubtype="2" fill="hold" grpId="1" nodeType="clickEffect">
                                  <p:stCondLst>
                                    <p:cond delay="0"/>
                                  </p:stCondLst>
                                  <p:iterate type="lt">
                                    <p:tmPct val="0"/>
                                  </p:iterate>
                                  <p:childTnLst>
                                    <p:animClr clrSpc="rgb" dir="cw">
                                      <p:cBhvr override="childStyle">
                                        <p:cTn id="152" dur="600" fill="hold"/>
                                        <p:tgtEl>
                                          <p:spTgt spid="24"/>
                                        </p:tgtEl>
                                        <p:attrNameLst>
                                          <p:attrName>style.color</p:attrName>
                                        </p:attrNameLst>
                                      </p:cBhvr>
                                      <p:to>
                                        <a:schemeClr val="accent2"/>
                                      </p:to>
                                    </p:animClr>
                                  </p:childTnLst>
                                </p:cTn>
                              </p:par>
                            </p:childTnLst>
                          </p:cTn>
                        </p:par>
                      </p:childTnLst>
                    </p:cTn>
                  </p:par>
                  <p:par>
                    <p:cTn id="153" fill="hold">
                      <p:stCondLst>
                        <p:cond delay="indefinite"/>
                      </p:stCondLst>
                      <p:childTnLst>
                        <p:par>
                          <p:cTn id="154" fill="hold">
                            <p:stCondLst>
                              <p:cond delay="0"/>
                            </p:stCondLst>
                            <p:childTnLst>
                              <p:par>
                                <p:cTn id="155" presetID="16" presetClass="entr" presetSubtype="21" fill="hold" grpId="0" nodeType="clickEffect">
                                  <p:stCondLst>
                                    <p:cond delay="0"/>
                                  </p:stCondLst>
                                  <p:childTnLst>
                                    <p:set>
                                      <p:cBhvr>
                                        <p:cTn id="156" dur="1" fill="hold">
                                          <p:stCondLst>
                                            <p:cond delay="0"/>
                                          </p:stCondLst>
                                        </p:cTn>
                                        <p:tgtEl>
                                          <p:spTgt spid="8"/>
                                        </p:tgtEl>
                                        <p:attrNameLst>
                                          <p:attrName>style.visibility</p:attrName>
                                        </p:attrNameLst>
                                      </p:cBhvr>
                                      <p:to>
                                        <p:strVal val="visible"/>
                                      </p:to>
                                    </p:set>
                                    <p:animEffect transition="in" filter="barn(inVertical)">
                                      <p:cBhvr>
                                        <p:cTn id="157" dur="500"/>
                                        <p:tgtEl>
                                          <p:spTgt spid="8"/>
                                        </p:tgtEl>
                                      </p:cBhvr>
                                    </p:animEffect>
                                  </p:childTnLst>
                                </p:cTn>
                              </p:par>
                              <p:par>
                                <p:cTn id="158" presetID="16" presetClass="entr" presetSubtype="21" fill="hold" nodeType="withEffect">
                                  <p:stCondLst>
                                    <p:cond delay="0"/>
                                  </p:stCondLst>
                                  <p:childTnLst>
                                    <p:set>
                                      <p:cBhvr>
                                        <p:cTn id="159" dur="1" fill="hold">
                                          <p:stCondLst>
                                            <p:cond delay="0"/>
                                          </p:stCondLst>
                                        </p:cTn>
                                        <p:tgtEl>
                                          <p:spTgt spid="78"/>
                                        </p:tgtEl>
                                        <p:attrNameLst>
                                          <p:attrName>style.visibility</p:attrName>
                                        </p:attrNameLst>
                                      </p:cBhvr>
                                      <p:to>
                                        <p:strVal val="visible"/>
                                      </p:to>
                                    </p:set>
                                    <p:animEffect transition="in" filter="barn(inVertical)">
                                      <p:cBhvr>
                                        <p:cTn id="160" dur="500"/>
                                        <p:tgtEl>
                                          <p:spTgt spid="78"/>
                                        </p:tgtEl>
                                      </p:cBhvr>
                                    </p:animEffect>
                                  </p:childTnLst>
                                </p:cTn>
                              </p:par>
                            </p:childTnLst>
                          </p:cTn>
                        </p:par>
                      </p:childTnLst>
                    </p:cTn>
                  </p:par>
                  <p:par>
                    <p:cTn id="161" fill="hold">
                      <p:stCondLst>
                        <p:cond delay="indefinite"/>
                      </p:stCondLst>
                      <p:childTnLst>
                        <p:par>
                          <p:cTn id="162" fill="hold">
                            <p:stCondLst>
                              <p:cond delay="0"/>
                            </p:stCondLst>
                            <p:childTnLst>
                              <p:par>
                                <p:cTn id="163" presetID="1" presetClass="emph" presetSubtype="2" fill="hold" grpId="2" nodeType="clickEffect">
                                  <p:stCondLst>
                                    <p:cond delay="0"/>
                                  </p:stCondLst>
                                  <p:childTnLst>
                                    <p:animClr clrSpc="rgb" dir="cw">
                                      <p:cBhvr>
                                        <p:cTn id="164" dur="2000" fill="hold"/>
                                        <p:tgtEl>
                                          <p:spTgt spid="17"/>
                                        </p:tgtEl>
                                        <p:attrNameLst>
                                          <p:attrName>fillcolor</p:attrName>
                                        </p:attrNameLst>
                                      </p:cBhvr>
                                      <p:to>
                                        <a:srgbClr val="FFFF00"/>
                                      </p:to>
                                    </p:animClr>
                                    <p:set>
                                      <p:cBhvr>
                                        <p:cTn id="165" dur="2000" fill="hold"/>
                                        <p:tgtEl>
                                          <p:spTgt spid="17"/>
                                        </p:tgtEl>
                                        <p:attrNameLst>
                                          <p:attrName>fill.type</p:attrName>
                                        </p:attrNameLst>
                                      </p:cBhvr>
                                      <p:to>
                                        <p:strVal val="solid"/>
                                      </p:to>
                                    </p:set>
                                    <p:set>
                                      <p:cBhvr>
                                        <p:cTn id="166" dur="2000" fill="hold"/>
                                        <p:tgtEl>
                                          <p:spTgt spid="17"/>
                                        </p:tgtEl>
                                        <p:attrNameLst>
                                          <p:attrName>fill.on</p:attrName>
                                        </p:attrNameLst>
                                      </p:cBhvr>
                                      <p:to>
                                        <p:strVal val="true"/>
                                      </p:to>
                                    </p:set>
                                  </p:childTnLst>
                                </p:cTn>
                              </p:par>
                            </p:childTnLst>
                          </p:cTn>
                        </p:par>
                      </p:childTnLst>
                    </p:cTn>
                  </p:par>
                  <p:par>
                    <p:cTn id="167" fill="hold">
                      <p:stCondLst>
                        <p:cond delay="indefinite"/>
                      </p:stCondLst>
                      <p:childTnLst>
                        <p:par>
                          <p:cTn id="168" fill="hold">
                            <p:stCondLst>
                              <p:cond delay="0"/>
                            </p:stCondLst>
                            <p:childTnLst>
                              <p:par>
                                <p:cTn id="169" presetID="1" presetClass="emph" presetSubtype="2" fill="hold" nodeType="clickEffect">
                                  <p:stCondLst>
                                    <p:cond delay="0"/>
                                  </p:stCondLst>
                                  <p:childTnLst>
                                    <p:animClr clrSpc="rgb" dir="cw">
                                      <p:cBhvr>
                                        <p:cTn id="170" dur="2000" fill="hold"/>
                                        <p:tgtEl>
                                          <p:spTgt spid="41"/>
                                        </p:tgtEl>
                                        <p:attrNameLst>
                                          <p:attrName>fillcolor</p:attrName>
                                        </p:attrNameLst>
                                      </p:cBhvr>
                                      <p:to>
                                        <a:schemeClr val="accent2"/>
                                      </p:to>
                                    </p:animClr>
                                    <p:set>
                                      <p:cBhvr>
                                        <p:cTn id="171" dur="2000" fill="hold"/>
                                        <p:tgtEl>
                                          <p:spTgt spid="41"/>
                                        </p:tgtEl>
                                        <p:attrNameLst>
                                          <p:attrName>fill.type</p:attrName>
                                        </p:attrNameLst>
                                      </p:cBhvr>
                                      <p:to>
                                        <p:strVal val="solid"/>
                                      </p:to>
                                    </p:set>
                                    <p:set>
                                      <p:cBhvr>
                                        <p:cTn id="172" dur="2000" fill="hold"/>
                                        <p:tgtEl>
                                          <p:spTgt spid="41"/>
                                        </p:tgtEl>
                                        <p:attrNameLst>
                                          <p:attrName>fill.on</p:attrName>
                                        </p:attrNameLst>
                                      </p:cBhvr>
                                      <p:to>
                                        <p:strVal val="true"/>
                                      </p:to>
                                    </p:set>
                                  </p:childTnLst>
                                </p:cTn>
                              </p:par>
                            </p:childTnLst>
                          </p:cTn>
                        </p:par>
                      </p:childTnLst>
                    </p:cTn>
                  </p:par>
                  <p:par>
                    <p:cTn id="173" fill="hold">
                      <p:stCondLst>
                        <p:cond delay="indefinite"/>
                      </p:stCondLst>
                      <p:childTnLst>
                        <p:par>
                          <p:cTn id="174" fill="hold">
                            <p:stCondLst>
                              <p:cond delay="0"/>
                            </p:stCondLst>
                            <p:childTnLst>
                              <p:par>
                                <p:cTn id="175" presetID="15" presetClass="emph" presetSubtype="0" grpId="0" nodeType="clickEffect">
                                  <p:stCondLst>
                                    <p:cond delay="0"/>
                                  </p:stCondLst>
                                  <p:iterate type="lt">
                                    <p:tmAbs val="25"/>
                                  </p:iterate>
                                  <p:childTnLst>
                                    <p:set>
                                      <p:cBhvr override="childStyle">
                                        <p:cTn id="176" dur="indefinite"/>
                                        <p:tgtEl>
                                          <p:spTgt spid="25"/>
                                        </p:tgtEl>
                                        <p:attrNameLst>
                                          <p:attrName>style.fontWeight</p:attrName>
                                        </p:attrNameLst>
                                      </p:cBhvr>
                                      <p:to>
                                        <p:strVal val="bold"/>
                                      </p:to>
                                    </p:set>
                                  </p:childTnLst>
                                </p:cTn>
                              </p:par>
                            </p:childTnLst>
                          </p:cTn>
                        </p:par>
                      </p:childTnLst>
                    </p:cTn>
                  </p:par>
                  <p:par>
                    <p:cTn id="177" fill="hold">
                      <p:stCondLst>
                        <p:cond delay="indefinite"/>
                      </p:stCondLst>
                      <p:childTnLst>
                        <p:par>
                          <p:cTn id="178" fill="hold">
                            <p:stCondLst>
                              <p:cond delay="0"/>
                            </p:stCondLst>
                            <p:childTnLst>
                              <p:par>
                                <p:cTn id="179" presetID="6" presetClass="emph" presetSubtype="0" fill="hold" nodeType="clickEffect">
                                  <p:stCondLst>
                                    <p:cond delay="0"/>
                                  </p:stCondLst>
                                  <p:childTnLst>
                                    <p:animScale>
                                      <p:cBhvr>
                                        <p:cTn id="180" dur="2000" fill="hold"/>
                                        <p:tgtEl>
                                          <p:spTgt spid="7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8" grpId="0" bldLvl="0" animBg="1"/>
      <p:bldP spid="3" grpId="0" bldLvl="0" animBg="1"/>
      <p:bldP spid="14" grpId="0"/>
      <p:bldP spid="17" grpId="0"/>
      <p:bldP spid="17" grpId="1"/>
      <p:bldP spid="17" grpId="2"/>
      <p:bldP spid="16" grpId="0"/>
      <p:bldP spid="18" grpId="0"/>
      <p:bldP spid="18" grpId="1"/>
      <p:bldP spid="19" grpId="0"/>
      <p:bldP spid="20" grpId="0"/>
      <p:bldP spid="20" grpId="1"/>
      <p:bldP spid="21" grpId="0"/>
      <p:bldP spid="22" grpId="0"/>
      <p:bldP spid="22" grpId="1"/>
      <p:bldP spid="23" grpId="0"/>
      <p:bldP spid="23" grpId="1"/>
      <p:bldP spid="24" grpId="0"/>
      <p:bldP spid="24" grpId="1"/>
      <p:bldP spid="25" grpId="0"/>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4"/>
          </p:nvPr>
        </p:nvSpPr>
        <p:spPr>
          <a:xfrm>
            <a:off x="652780" y="276860"/>
            <a:ext cx="7084060" cy="593090"/>
          </a:xfrm>
        </p:spPr>
        <p:txBody>
          <a:bodyPr>
            <a:normAutofit/>
          </a:bodyPr>
          <a:lstStyle/>
          <a:p>
            <a:r>
              <a:rPr lang="en-US" altLang="zh-CN" sz="3200" dirty="0"/>
              <a:t>4.2.5 </a:t>
            </a:r>
            <a:r>
              <a:rPr lang="zh-CN" altLang="en-US" sz="3200" dirty="0"/>
              <a:t>案例：</a:t>
            </a:r>
            <a:r>
              <a:rPr lang="en-US" altLang="zh-CN" sz="3200" dirty="0"/>
              <a:t>Tiny</a:t>
            </a:r>
            <a:r>
              <a:rPr lang="zh-CN" altLang="en-US" sz="3200" dirty="0"/>
              <a:t>语法分析</a:t>
            </a:r>
            <a:endParaRPr lang="zh-CN" altLang="en-US" sz="3200" dirty="0"/>
          </a:p>
        </p:txBody>
      </p:sp>
      <p:sp>
        <p:nvSpPr>
          <p:cNvPr id="21" name="文本占位符 2"/>
          <p:cNvSpPr txBox="1"/>
          <p:nvPr/>
        </p:nvSpPr>
        <p:spPr>
          <a:xfrm>
            <a:off x="466725" y="1317625"/>
            <a:ext cx="3300730" cy="46259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50000"/>
              </a:spcBef>
              <a:buSzPct val="90000"/>
              <a:buNone/>
            </a:pPr>
            <a:r>
              <a:rPr lang="zh-CN" altLang="en-US" dirty="0">
                <a:solidFill>
                  <a:srgbClr val="070709"/>
                </a:solidFill>
              </a:rPr>
              <a:t>一个输出其输入阶乘的</a:t>
            </a:r>
            <a:r>
              <a:rPr lang="en-US" altLang="zh-CN" dirty="0">
                <a:solidFill>
                  <a:srgbClr val="070709"/>
                </a:solidFill>
              </a:rPr>
              <a:t>TINY</a:t>
            </a:r>
            <a:r>
              <a:rPr lang="zh-CN" altLang="en-US" dirty="0">
                <a:solidFill>
                  <a:srgbClr val="070709"/>
                </a:solidFill>
              </a:rPr>
              <a:t>语言程序</a:t>
            </a:r>
            <a:endParaRPr lang="zh-CN" altLang="en-US" dirty="0">
              <a:solidFill>
                <a:srgbClr val="070709"/>
              </a:solidFill>
            </a:endParaRPr>
          </a:p>
          <a:p>
            <a:pPr marL="0" indent="0">
              <a:lnSpc>
                <a:spcPct val="100000"/>
              </a:lnSpc>
              <a:spcBef>
                <a:spcPct val="50000"/>
              </a:spcBef>
              <a:buSzPct val="90000"/>
              <a:buNone/>
            </a:pPr>
            <a:r>
              <a:rPr lang="en-US" altLang="zh-CN" sz="2000" b="0" dirty="0">
                <a:solidFill>
                  <a:srgbClr val="070709"/>
                </a:solidFill>
                <a:latin typeface="Consolas" panose="020B0609020204030204" pitchFamily="49" charset="0"/>
              </a:rPr>
              <a:t>read x;</a:t>
            </a:r>
            <a:endParaRPr lang="en-US" altLang="zh-CN" sz="2000" b="0" dirty="0">
              <a:solidFill>
                <a:srgbClr val="070709"/>
              </a:solidFill>
              <a:latin typeface="Consolas" panose="020B0609020204030204" pitchFamily="49" charset="0"/>
            </a:endParaRPr>
          </a:p>
          <a:p>
            <a:pPr marL="0" indent="0">
              <a:lnSpc>
                <a:spcPct val="100000"/>
              </a:lnSpc>
              <a:spcBef>
                <a:spcPct val="50000"/>
              </a:spcBef>
              <a:buSzPct val="90000"/>
              <a:buNone/>
            </a:pPr>
            <a:r>
              <a:rPr lang="en-US" altLang="zh-CN" sz="2000" b="0" dirty="0">
                <a:solidFill>
                  <a:srgbClr val="070709"/>
                </a:solidFill>
                <a:latin typeface="Consolas" panose="020B0609020204030204" pitchFamily="49" charset="0"/>
              </a:rPr>
              <a:t>if x&gt;0 then</a:t>
            </a:r>
            <a:endParaRPr lang="en-US" altLang="zh-CN" sz="2000" b="0" dirty="0">
              <a:solidFill>
                <a:srgbClr val="070709"/>
              </a:solidFill>
              <a:latin typeface="Consolas" panose="020B0609020204030204" pitchFamily="49" charset="0"/>
            </a:endParaRPr>
          </a:p>
          <a:p>
            <a:pPr marL="0" indent="0">
              <a:lnSpc>
                <a:spcPct val="100000"/>
              </a:lnSpc>
              <a:spcBef>
                <a:spcPct val="50000"/>
              </a:spcBef>
              <a:buSzPct val="90000"/>
              <a:buNone/>
            </a:pPr>
            <a:r>
              <a:rPr lang="en-US" altLang="zh-CN" sz="2000" b="0" dirty="0">
                <a:solidFill>
                  <a:srgbClr val="070709"/>
                </a:solidFill>
                <a:latin typeface="Consolas" panose="020B0609020204030204" pitchFamily="49" charset="0"/>
              </a:rPr>
              <a:t>   fact:=1;</a:t>
            </a:r>
            <a:endParaRPr lang="en-US" altLang="zh-CN" sz="2000" b="0" dirty="0">
              <a:solidFill>
                <a:srgbClr val="070709"/>
              </a:solidFill>
              <a:latin typeface="Consolas" panose="020B0609020204030204" pitchFamily="49" charset="0"/>
            </a:endParaRPr>
          </a:p>
          <a:p>
            <a:pPr marL="0" indent="0">
              <a:lnSpc>
                <a:spcPct val="100000"/>
              </a:lnSpc>
              <a:spcBef>
                <a:spcPct val="50000"/>
              </a:spcBef>
              <a:buSzPct val="90000"/>
              <a:buNone/>
            </a:pPr>
            <a:r>
              <a:rPr lang="en-US" altLang="zh-CN" sz="2000" b="0" dirty="0">
                <a:solidFill>
                  <a:srgbClr val="070709"/>
                </a:solidFill>
                <a:latin typeface="Consolas" panose="020B0609020204030204" pitchFamily="49" charset="0"/>
              </a:rPr>
              <a:t>   repeat </a:t>
            </a:r>
            <a:endParaRPr lang="en-US" altLang="zh-CN" sz="2000" b="0" dirty="0">
              <a:solidFill>
                <a:srgbClr val="070709"/>
              </a:solidFill>
              <a:latin typeface="Consolas" panose="020B0609020204030204" pitchFamily="49" charset="0"/>
            </a:endParaRPr>
          </a:p>
          <a:p>
            <a:pPr marL="0" indent="0">
              <a:lnSpc>
                <a:spcPct val="100000"/>
              </a:lnSpc>
              <a:spcBef>
                <a:spcPct val="50000"/>
              </a:spcBef>
              <a:buSzPct val="90000"/>
              <a:buNone/>
            </a:pPr>
            <a:r>
              <a:rPr lang="en-US" altLang="zh-CN" sz="2000" b="0" dirty="0">
                <a:solidFill>
                  <a:srgbClr val="070709"/>
                </a:solidFill>
                <a:latin typeface="Consolas" panose="020B0609020204030204" pitchFamily="49" charset="0"/>
              </a:rPr>
              <a:t>        fact:=fact* x;</a:t>
            </a:r>
            <a:endParaRPr lang="en-US" altLang="zh-CN" sz="2000" b="0" dirty="0">
              <a:solidFill>
                <a:srgbClr val="070709"/>
              </a:solidFill>
              <a:latin typeface="Consolas" panose="020B0609020204030204" pitchFamily="49" charset="0"/>
            </a:endParaRPr>
          </a:p>
          <a:p>
            <a:pPr marL="0" indent="0">
              <a:lnSpc>
                <a:spcPct val="100000"/>
              </a:lnSpc>
              <a:spcBef>
                <a:spcPct val="50000"/>
              </a:spcBef>
              <a:buSzPct val="90000"/>
              <a:buNone/>
            </a:pPr>
            <a:r>
              <a:rPr lang="en-US" altLang="zh-CN" sz="2000" b="0" dirty="0">
                <a:solidFill>
                  <a:srgbClr val="070709"/>
                </a:solidFill>
                <a:latin typeface="Consolas" panose="020B0609020204030204" pitchFamily="49" charset="0"/>
              </a:rPr>
              <a:t>        x:=x-1</a:t>
            </a:r>
            <a:endParaRPr lang="en-US" altLang="zh-CN" sz="2000" b="0" dirty="0">
              <a:solidFill>
                <a:srgbClr val="070709"/>
              </a:solidFill>
              <a:latin typeface="Consolas" panose="020B0609020204030204" pitchFamily="49" charset="0"/>
            </a:endParaRPr>
          </a:p>
          <a:p>
            <a:pPr marL="0" indent="0">
              <a:lnSpc>
                <a:spcPct val="100000"/>
              </a:lnSpc>
              <a:spcBef>
                <a:spcPct val="50000"/>
              </a:spcBef>
              <a:buSzPct val="90000"/>
              <a:buNone/>
            </a:pPr>
            <a:r>
              <a:rPr lang="en-US" altLang="zh-CN" sz="2000" b="0" dirty="0">
                <a:solidFill>
                  <a:srgbClr val="070709"/>
                </a:solidFill>
                <a:latin typeface="Consolas" panose="020B0609020204030204" pitchFamily="49" charset="0"/>
              </a:rPr>
              <a:t>   until x=0;</a:t>
            </a:r>
            <a:endParaRPr lang="en-US" altLang="zh-CN" sz="2000" b="0" dirty="0">
              <a:solidFill>
                <a:srgbClr val="070709"/>
              </a:solidFill>
              <a:latin typeface="Consolas" panose="020B0609020204030204" pitchFamily="49" charset="0"/>
            </a:endParaRPr>
          </a:p>
          <a:p>
            <a:pPr marL="0" indent="0">
              <a:lnSpc>
                <a:spcPct val="100000"/>
              </a:lnSpc>
              <a:spcBef>
                <a:spcPct val="50000"/>
              </a:spcBef>
              <a:buSzPct val="90000"/>
              <a:buNone/>
            </a:pPr>
            <a:r>
              <a:rPr lang="en-US" altLang="zh-CN" sz="2000" b="0" dirty="0">
                <a:solidFill>
                  <a:srgbClr val="070709"/>
                </a:solidFill>
                <a:latin typeface="Consolas" panose="020B0609020204030204" pitchFamily="49" charset="0"/>
              </a:rPr>
              <a:t>   write fact </a:t>
            </a:r>
            <a:endParaRPr lang="en-US" altLang="zh-CN" sz="2000" b="0" dirty="0">
              <a:solidFill>
                <a:srgbClr val="070709"/>
              </a:solidFill>
              <a:latin typeface="Consolas" panose="020B0609020204030204" pitchFamily="49" charset="0"/>
            </a:endParaRPr>
          </a:p>
          <a:p>
            <a:pPr marL="0" indent="0">
              <a:lnSpc>
                <a:spcPct val="100000"/>
              </a:lnSpc>
              <a:spcBef>
                <a:spcPct val="50000"/>
              </a:spcBef>
              <a:buSzPct val="90000"/>
              <a:buNone/>
            </a:pPr>
            <a:r>
              <a:rPr lang="en-US" altLang="zh-CN" sz="2000" b="0" dirty="0">
                <a:solidFill>
                  <a:srgbClr val="070709"/>
                </a:solidFill>
                <a:latin typeface="Consolas" panose="020B0609020204030204" pitchFamily="49" charset="0"/>
              </a:rPr>
              <a:t>end</a:t>
            </a:r>
            <a:endParaRPr lang="en-US" altLang="zh-CN" sz="2000" b="0" dirty="0">
              <a:solidFill>
                <a:srgbClr val="070709"/>
              </a:solidFill>
              <a:latin typeface="Consolas" panose="020B0609020204030204" pitchFamily="49" charset="0"/>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5" name="Rectangle 4"/>
          <p:cNvSpPr>
            <a:spLocks noChangeArrowheads="1"/>
          </p:cNvSpPr>
          <p:nvPr>
            <p:custDataLst>
              <p:tags r:id="rId1"/>
            </p:custDataLst>
          </p:nvPr>
        </p:nvSpPr>
        <p:spPr bwMode="auto">
          <a:xfrm>
            <a:off x="3926597" y="1401538"/>
            <a:ext cx="1295400"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lnSpc>
                <a:spcPct val="75000"/>
              </a:lnSpc>
              <a:spcBef>
                <a:spcPct val="20000"/>
              </a:spcBef>
              <a:buClr>
                <a:schemeClr val="accent2"/>
              </a:buClr>
              <a:buFont typeface="Wingdings" panose="05000000000000000000" pitchFamily="2" charset="2"/>
              <a:buNone/>
            </a:pPr>
            <a:r>
              <a:rPr lang="en-US" altLang="zh-CN" sz="2800" b="0" dirty="0">
                <a:solidFill>
                  <a:schemeClr val="tx1"/>
                </a:solidFill>
              </a:rPr>
              <a:t>Read(x)</a:t>
            </a:r>
            <a:endParaRPr lang="en-US" altLang="zh-CN" sz="2800" b="0" dirty="0">
              <a:solidFill>
                <a:schemeClr val="tx1"/>
              </a:solidFill>
            </a:endParaRPr>
          </a:p>
        </p:txBody>
      </p:sp>
      <p:sp>
        <p:nvSpPr>
          <p:cNvPr id="6" name="Rectangle 5"/>
          <p:cNvSpPr>
            <a:spLocks noChangeArrowheads="1"/>
          </p:cNvSpPr>
          <p:nvPr>
            <p:custDataLst>
              <p:tags r:id="rId2"/>
            </p:custDataLst>
          </p:nvPr>
        </p:nvSpPr>
        <p:spPr bwMode="auto">
          <a:xfrm>
            <a:off x="5726822" y="1401538"/>
            <a:ext cx="1295400"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lnSpc>
                <a:spcPct val="75000"/>
              </a:lnSpc>
              <a:spcBef>
                <a:spcPct val="20000"/>
              </a:spcBef>
              <a:buClr>
                <a:schemeClr val="accent2"/>
              </a:buClr>
              <a:buFont typeface="Wingdings" panose="05000000000000000000" pitchFamily="2" charset="2"/>
              <a:buNone/>
            </a:pPr>
            <a:r>
              <a:rPr lang="en-US" altLang="zh-CN" sz="2800" b="0">
                <a:solidFill>
                  <a:schemeClr val="tx1"/>
                </a:solidFill>
              </a:rPr>
              <a:t>IF</a:t>
            </a:r>
            <a:endParaRPr lang="en-US" altLang="zh-CN" sz="2800" b="0">
              <a:solidFill>
                <a:schemeClr val="tx1"/>
              </a:solidFill>
            </a:endParaRPr>
          </a:p>
        </p:txBody>
      </p:sp>
      <p:sp>
        <p:nvSpPr>
          <p:cNvPr id="7" name="Line 6"/>
          <p:cNvSpPr>
            <a:spLocks noChangeShapeType="1"/>
          </p:cNvSpPr>
          <p:nvPr>
            <p:custDataLst>
              <p:tags r:id="rId3"/>
            </p:custDataLst>
          </p:nvPr>
        </p:nvSpPr>
        <p:spPr bwMode="auto">
          <a:xfrm>
            <a:off x="5223584" y="1617438"/>
            <a:ext cx="503238" cy="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p>
            <a:endParaRPr lang="zh-CN" altLang="en-US"/>
          </a:p>
        </p:txBody>
      </p:sp>
      <p:sp>
        <p:nvSpPr>
          <p:cNvPr id="8" name="Line 7"/>
          <p:cNvSpPr>
            <a:spLocks noChangeShapeType="1"/>
          </p:cNvSpPr>
          <p:nvPr>
            <p:custDataLst>
              <p:tags r:id="rId4"/>
            </p:custDataLst>
          </p:nvPr>
        </p:nvSpPr>
        <p:spPr bwMode="auto">
          <a:xfrm flipH="1">
            <a:off x="5366459" y="1833338"/>
            <a:ext cx="865188" cy="360362"/>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p>
            <a:endParaRPr lang="zh-CN" altLang="en-US"/>
          </a:p>
        </p:txBody>
      </p:sp>
      <p:sp>
        <p:nvSpPr>
          <p:cNvPr id="9" name="Oval 8"/>
          <p:cNvSpPr>
            <a:spLocks noChangeArrowheads="1"/>
          </p:cNvSpPr>
          <p:nvPr>
            <p:custDataLst>
              <p:tags r:id="rId5"/>
            </p:custDataLst>
          </p:nvPr>
        </p:nvSpPr>
        <p:spPr bwMode="auto">
          <a:xfrm>
            <a:off x="4502859" y="2193700"/>
            <a:ext cx="1150938" cy="647700"/>
          </a:xfrm>
          <a:prstGeom prst="ellipse">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p>
            <a:pPr algn="ctr">
              <a:lnSpc>
                <a:spcPct val="75000"/>
              </a:lnSpc>
              <a:spcBef>
                <a:spcPct val="20000"/>
              </a:spcBef>
              <a:buClr>
                <a:schemeClr val="accent2"/>
              </a:buClr>
              <a:buFont typeface="Wingdings" panose="05000000000000000000" pitchFamily="2" charset="2"/>
              <a:buNone/>
            </a:pPr>
            <a:r>
              <a:rPr lang="en-US" altLang="zh-CN" sz="2800" b="0">
                <a:solidFill>
                  <a:schemeClr val="tx1"/>
                </a:solidFill>
              </a:rPr>
              <a:t>op(&lt;)</a:t>
            </a:r>
            <a:endParaRPr lang="en-US" altLang="zh-CN" sz="2800" b="0">
              <a:solidFill>
                <a:schemeClr val="tx1"/>
              </a:solidFill>
            </a:endParaRPr>
          </a:p>
        </p:txBody>
      </p:sp>
      <p:sp>
        <p:nvSpPr>
          <p:cNvPr id="10" name="Line 9"/>
          <p:cNvSpPr>
            <a:spLocks noChangeShapeType="1"/>
          </p:cNvSpPr>
          <p:nvPr>
            <p:custDataLst>
              <p:tags r:id="rId6"/>
            </p:custDataLst>
          </p:nvPr>
        </p:nvSpPr>
        <p:spPr bwMode="auto">
          <a:xfrm flipH="1">
            <a:off x="4286959" y="2769963"/>
            <a:ext cx="431800" cy="433387"/>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p>
            <a:endParaRPr lang="zh-CN" altLang="en-US"/>
          </a:p>
        </p:txBody>
      </p:sp>
      <p:sp>
        <p:nvSpPr>
          <p:cNvPr id="11" name="Line 11"/>
          <p:cNvSpPr>
            <a:spLocks noChangeShapeType="1"/>
          </p:cNvSpPr>
          <p:nvPr>
            <p:custDataLst>
              <p:tags r:id="rId7"/>
            </p:custDataLst>
          </p:nvPr>
        </p:nvSpPr>
        <p:spPr bwMode="auto">
          <a:xfrm>
            <a:off x="5223584" y="2841400"/>
            <a:ext cx="287338" cy="433388"/>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p>
            <a:endParaRPr lang="zh-CN" altLang="en-US"/>
          </a:p>
        </p:txBody>
      </p:sp>
      <p:sp>
        <p:nvSpPr>
          <p:cNvPr id="12" name="Oval 12"/>
          <p:cNvSpPr>
            <a:spLocks noChangeArrowheads="1"/>
          </p:cNvSpPr>
          <p:nvPr>
            <p:custDataLst>
              <p:tags r:id="rId8"/>
            </p:custDataLst>
          </p:nvPr>
        </p:nvSpPr>
        <p:spPr bwMode="auto">
          <a:xfrm>
            <a:off x="5080709" y="3274788"/>
            <a:ext cx="1293813" cy="647700"/>
          </a:xfrm>
          <a:prstGeom prst="ellipse">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p>
            <a:pPr algn="ctr">
              <a:lnSpc>
                <a:spcPct val="75000"/>
              </a:lnSpc>
              <a:spcBef>
                <a:spcPct val="20000"/>
              </a:spcBef>
              <a:buClr>
                <a:schemeClr val="accent2"/>
              </a:buClr>
              <a:buFont typeface="Wingdings" panose="05000000000000000000" pitchFamily="2" charset="2"/>
              <a:buNone/>
            </a:pPr>
            <a:r>
              <a:rPr lang="en-US" altLang="zh-CN" sz="2800" b="0">
                <a:solidFill>
                  <a:schemeClr val="tx1"/>
                </a:solidFill>
              </a:rPr>
              <a:t>id(x)</a:t>
            </a:r>
            <a:endParaRPr lang="en-US" altLang="zh-CN" sz="2800" b="0">
              <a:solidFill>
                <a:schemeClr val="tx1"/>
              </a:solidFill>
            </a:endParaRPr>
          </a:p>
        </p:txBody>
      </p:sp>
      <p:sp>
        <p:nvSpPr>
          <p:cNvPr id="13" name="Line 13"/>
          <p:cNvSpPr>
            <a:spLocks noChangeShapeType="1"/>
          </p:cNvSpPr>
          <p:nvPr>
            <p:custDataLst>
              <p:tags r:id="rId9"/>
            </p:custDataLst>
          </p:nvPr>
        </p:nvSpPr>
        <p:spPr bwMode="auto">
          <a:xfrm>
            <a:off x="6663447" y="1833338"/>
            <a:ext cx="71437" cy="649287"/>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p>
            <a:endParaRPr lang="zh-CN" altLang="en-US"/>
          </a:p>
        </p:txBody>
      </p:sp>
      <p:sp>
        <p:nvSpPr>
          <p:cNvPr id="15" name="Rectangle 14"/>
          <p:cNvSpPr>
            <a:spLocks noChangeArrowheads="1"/>
          </p:cNvSpPr>
          <p:nvPr>
            <p:custDataLst>
              <p:tags r:id="rId10"/>
            </p:custDataLst>
          </p:nvPr>
        </p:nvSpPr>
        <p:spPr bwMode="auto">
          <a:xfrm>
            <a:off x="6303084" y="2482625"/>
            <a:ext cx="1871663"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lnSpc>
                <a:spcPct val="75000"/>
              </a:lnSpc>
              <a:spcBef>
                <a:spcPct val="20000"/>
              </a:spcBef>
              <a:buClr>
                <a:schemeClr val="accent2"/>
              </a:buClr>
              <a:buFont typeface="Wingdings" panose="05000000000000000000" pitchFamily="2" charset="2"/>
              <a:buNone/>
            </a:pPr>
            <a:r>
              <a:rPr lang="en-US" altLang="zh-CN" sz="2800" b="0">
                <a:solidFill>
                  <a:schemeClr val="tx1"/>
                </a:solidFill>
              </a:rPr>
              <a:t>Assign(fact)</a:t>
            </a:r>
            <a:endParaRPr lang="en-US" altLang="zh-CN" sz="2800" b="0">
              <a:solidFill>
                <a:schemeClr val="tx1"/>
              </a:solidFill>
            </a:endParaRPr>
          </a:p>
        </p:txBody>
      </p:sp>
      <p:sp>
        <p:nvSpPr>
          <p:cNvPr id="16" name="Oval 15"/>
          <p:cNvSpPr>
            <a:spLocks noChangeArrowheads="1"/>
          </p:cNvSpPr>
          <p:nvPr>
            <p:custDataLst>
              <p:tags r:id="rId11"/>
            </p:custDataLst>
          </p:nvPr>
        </p:nvSpPr>
        <p:spPr bwMode="auto">
          <a:xfrm>
            <a:off x="3567822" y="3217638"/>
            <a:ext cx="1441450" cy="647700"/>
          </a:xfrm>
          <a:prstGeom prst="ellipse">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p>
            <a:pPr algn="ctr">
              <a:lnSpc>
                <a:spcPct val="75000"/>
              </a:lnSpc>
              <a:spcBef>
                <a:spcPct val="20000"/>
              </a:spcBef>
              <a:buClr>
                <a:schemeClr val="accent2"/>
              </a:buClr>
              <a:buFont typeface="Wingdings" panose="05000000000000000000" pitchFamily="2" charset="2"/>
              <a:buNone/>
            </a:pPr>
            <a:r>
              <a:rPr lang="en-US" altLang="zh-CN" sz="2800" b="0">
                <a:solidFill>
                  <a:schemeClr val="tx1"/>
                </a:solidFill>
              </a:rPr>
              <a:t>const(0)</a:t>
            </a:r>
            <a:endParaRPr lang="en-US" altLang="zh-CN" sz="2800" b="0">
              <a:solidFill>
                <a:schemeClr val="tx1"/>
              </a:solidFill>
            </a:endParaRPr>
          </a:p>
        </p:txBody>
      </p:sp>
      <p:sp>
        <p:nvSpPr>
          <p:cNvPr id="17" name="Line 16"/>
          <p:cNvSpPr>
            <a:spLocks noChangeShapeType="1"/>
          </p:cNvSpPr>
          <p:nvPr>
            <p:custDataLst>
              <p:tags r:id="rId12"/>
            </p:custDataLst>
          </p:nvPr>
        </p:nvSpPr>
        <p:spPr bwMode="auto">
          <a:xfrm>
            <a:off x="7023809" y="2914425"/>
            <a:ext cx="71438" cy="503238"/>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p>
            <a:endParaRPr lang="zh-CN" altLang="en-US"/>
          </a:p>
        </p:txBody>
      </p:sp>
      <p:sp>
        <p:nvSpPr>
          <p:cNvPr id="18" name="Oval 17"/>
          <p:cNvSpPr>
            <a:spLocks noChangeArrowheads="1"/>
          </p:cNvSpPr>
          <p:nvPr>
            <p:custDataLst>
              <p:tags r:id="rId13"/>
            </p:custDataLst>
          </p:nvPr>
        </p:nvSpPr>
        <p:spPr bwMode="auto">
          <a:xfrm>
            <a:off x="6447547" y="3417663"/>
            <a:ext cx="1441450" cy="647700"/>
          </a:xfrm>
          <a:prstGeom prst="ellipse">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p>
            <a:pPr algn="ctr">
              <a:lnSpc>
                <a:spcPct val="75000"/>
              </a:lnSpc>
              <a:spcBef>
                <a:spcPct val="20000"/>
              </a:spcBef>
              <a:buClr>
                <a:schemeClr val="accent2"/>
              </a:buClr>
              <a:buFont typeface="Wingdings" panose="05000000000000000000" pitchFamily="2" charset="2"/>
              <a:buNone/>
            </a:pPr>
            <a:r>
              <a:rPr lang="en-US" altLang="zh-CN" sz="2800" b="0">
                <a:solidFill>
                  <a:schemeClr val="tx1"/>
                </a:solidFill>
              </a:rPr>
              <a:t>const(1)</a:t>
            </a:r>
            <a:endParaRPr lang="en-US" altLang="zh-CN" sz="2800" b="0">
              <a:solidFill>
                <a:schemeClr val="tx1"/>
              </a:solidFill>
            </a:endParaRPr>
          </a:p>
        </p:txBody>
      </p:sp>
      <p:sp>
        <p:nvSpPr>
          <p:cNvPr id="19" name="Line 18"/>
          <p:cNvSpPr>
            <a:spLocks noChangeShapeType="1"/>
          </p:cNvSpPr>
          <p:nvPr>
            <p:custDataLst>
              <p:tags r:id="rId14"/>
            </p:custDataLst>
          </p:nvPr>
        </p:nvSpPr>
        <p:spPr bwMode="auto">
          <a:xfrm>
            <a:off x="8174747" y="2625500"/>
            <a:ext cx="576262" cy="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p>
            <a:endParaRPr lang="zh-CN" altLang="en-US"/>
          </a:p>
        </p:txBody>
      </p:sp>
      <p:sp>
        <p:nvSpPr>
          <p:cNvPr id="20" name="Rectangle 19"/>
          <p:cNvSpPr>
            <a:spLocks noChangeArrowheads="1"/>
          </p:cNvSpPr>
          <p:nvPr>
            <p:custDataLst>
              <p:tags r:id="rId15"/>
            </p:custDataLst>
          </p:nvPr>
        </p:nvSpPr>
        <p:spPr bwMode="auto">
          <a:xfrm>
            <a:off x="8751009" y="2409600"/>
            <a:ext cx="1152525"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lnSpc>
                <a:spcPct val="75000"/>
              </a:lnSpc>
              <a:spcBef>
                <a:spcPct val="20000"/>
              </a:spcBef>
              <a:buClr>
                <a:schemeClr val="accent2"/>
              </a:buClr>
              <a:buFont typeface="Wingdings" panose="05000000000000000000" pitchFamily="2" charset="2"/>
              <a:buNone/>
            </a:pPr>
            <a:r>
              <a:rPr lang="en-US" altLang="zh-CN" sz="2800" b="0">
                <a:solidFill>
                  <a:schemeClr val="tx1"/>
                </a:solidFill>
              </a:rPr>
              <a:t>repeat</a:t>
            </a:r>
            <a:endParaRPr lang="en-US" altLang="zh-CN" sz="2800" b="0">
              <a:solidFill>
                <a:schemeClr val="tx1"/>
              </a:solidFill>
            </a:endParaRPr>
          </a:p>
        </p:txBody>
      </p:sp>
      <p:sp>
        <p:nvSpPr>
          <p:cNvPr id="22" name="Line 20"/>
          <p:cNvSpPr>
            <a:spLocks noChangeShapeType="1"/>
          </p:cNvSpPr>
          <p:nvPr>
            <p:custDataLst>
              <p:tags r:id="rId16"/>
            </p:custDataLst>
          </p:nvPr>
        </p:nvSpPr>
        <p:spPr bwMode="auto">
          <a:xfrm>
            <a:off x="9903534" y="2625500"/>
            <a:ext cx="576263" cy="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p>
            <a:endParaRPr lang="zh-CN" altLang="en-US"/>
          </a:p>
        </p:txBody>
      </p:sp>
      <p:sp>
        <p:nvSpPr>
          <p:cNvPr id="23" name="Rectangle 21"/>
          <p:cNvSpPr>
            <a:spLocks noChangeArrowheads="1"/>
          </p:cNvSpPr>
          <p:nvPr>
            <p:custDataLst>
              <p:tags r:id="rId17"/>
            </p:custDataLst>
          </p:nvPr>
        </p:nvSpPr>
        <p:spPr bwMode="auto">
          <a:xfrm>
            <a:off x="10479797" y="2409600"/>
            <a:ext cx="936625"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lnSpc>
                <a:spcPct val="75000"/>
              </a:lnSpc>
              <a:spcBef>
                <a:spcPct val="20000"/>
              </a:spcBef>
              <a:buClr>
                <a:schemeClr val="accent2"/>
              </a:buClr>
              <a:buFont typeface="Wingdings" panose="05000000000000000000" pitchFamily="2" charset="2"/>
              <a:buNone/>
            </a:pPr>
            <a:r>
              <a:rPr lang="en-US" altLang="zh-CN" sz="2800" b="0">
                <a:solidFill>
                  <a:schemeClr val="tx1"/>
                </a:solidFill>
              </a:rPr>
              <a:t>write</a:t>
            </a:r>
            <a:endParaRPr lang="en-US" altLang="zh-CN" sz="2800" b="0">
              <a:solidFill>
                <a:schemeClr val="tx1"/>
              </a:solidFill>
            </a:endParaRPr>
          </a:p>
        </p:txBody>
      </p:sp>
      <p:sp>
        <p:nvSpPr>
          <p:cNvPr id="24" name="Line 22"/>
          <p:cNvSpPr>
            <a:spLocks noChangeShapeType="1"/>
          </p:cNvSpPr>
          <p:nvPr>
            <p:custDataLst>
              <p:tags r:id="rId18"/>
            </p:custDataLst>
          </p:nvPr>
        </p:nvSpPr>
        <p:spPr bwMode="auto">
          <a:xfrm>
            <a:off x="9255834" y="2841400"/>
            <a:ext cx="0" cy="936625"/>
          </a:xfrm>
          <a:prstGeom prst="line">
            <a:avLst/>
          </a:prstGeom>
          <a:noFill/>
          <a:ln w="28575" cap="rnd">
            <a:solidFill>
              <a:schemeClr val="tx1"/>
            </a:solidFill>
            <a:prstDash val="sysDot"/>
            <a:miter lim="800000"/>
          </a:ln>
          <a:extLst>
            <a:ext uri="{909E8E84-426E-40DD-AFC4-6F175D3DCCD1}">
              <a14:hiddenFill xmlns:a14="http://schemas.microsoft.com/office/drawing/2010/main">
                <a:noFill/>
              </a14:hiddenFill>
            </a:ext>
          </a:extLst>
        </p:spPr>
        <p:txBody>
          <a:bodyPr/>
          <a:p>
            <a:endParaRPr lang="zh-CN" altLang="en-US"/>
          </a:p>
        </p:txBody>
      </p:sp>
      <p:sp>
        <p:nvSpPr>
          <p:cNvPr id="25" name="Line 23"/>
          <p:cNvSpPr>
            <a:spLocks noChangeShapeType="1"/>
          </p:cNvSpPr>
          <p:nvPr>
            <p:custDataLst>
              <p:tags r:id="rId19"/>
            </p:custDataLst>
          </p:nvPr>
        </p:nvSpPr>
        <p:spPr bwMode="auto">
          <a:xfrm>
            <a:off x="10840159" y="2841400"/>
            <a:ext cx="0" cy="936625"/>
          </a:xfrm>
          <a:prstGeom prst="line">
            <a:avLst/>
          </a:prstGeom>
          <a:noFill/>
          <a:ln w="28575" cap="rnd">
            <a:solidFill>
              <a:schemeClr val="tx1"/>
            </a:solidFill>
            <a:prstDash val="sysDot"/>
            <a:miter lim="800000"/>
          </a:ln>
          <a:extLst>
            <a:ext uri="{909E8E84-426E-40DD-AFC4-6F175D3DCCD1}">
              <a14:hiddenFill xmlns:a14="http://schemas.microsoft.com/office/drawing/2010/main">
                <a:noFill/>
              </a14:hiddenFill>
            </a:ext>
          </a:extLst>
        </p:spPr>
        <p:txBody>
          <a:bodyPr/>
          <a:p>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4</a:t>
            </a:r>
            <a:r>
              <a:rPr lang="zh-CN" altLang="en-US" dirty="0"/>
              <a:t>单元</a:t>
            </a:r>
            <a:endParaRPr lang="zh-CN" altLang="en-US" dirty="0"/>
          </a:p>
        </p:txBody>
      </p:sp>
      <p:sp>
        <p:nvSpPr>
          <p:cNvPr id="24" name="文本占位符 23"/>
          <p:cNvSpPr>
            <a:spLocks noGrp="1"/>
          </p:cNvSpPr>
          <p:nvPr>
            <p:ph type="body" sz="quarter" idx="14"/>
          </p:nvPr>
        </p:nvSpPr>
        <p:spPr>
          <a:xfrm>
            <a:off x="1135380" y="2106295"/>
            <a:ext cx="9531985" cy="3630930"/>
          </a:xfrm>
        </p:spPr>
        <p:txBody>
          <a:bodyPr>
            <a:normAutofit/>
          </a:bodyPr>
          <a:lstStyle/>
          <a:p>
            <a:r>
              <a:rPr lang="en-US" altLang="zh-CN" dirty="0">
                <a:solidFill>
                  <a:schemeClr val="tx1"/>
                </a:solidFill>
              </a:rPr>
              <a:t>4.1</a:t>
            </a:r>
            <a:r>
              <a:rPr lang="zh-CN" altLang="en-US" dirty="0">
                <a:solidFill>
                  <a:schemeClr val="tx1"/>
                </a:solidFill>
              </a:rPr>
              <a:t>自上而下的语法分析算法概述</a:t>
            </a:r>
            <a:endParaRPr lang="en-US" altLang="zh-CN" dirty="0">
              <a:solidFill>
                <a:schemeClr val="tx1"/>
              </a:solidFill>
            </a:endParaRPr>
          </a:p>
          <a:p>
            <a:r>
              <a:rPr lang="en-US" altLang="zh-CN" dirty="0">
                <a:solidFill>
                  <a:schemeClr val="tx1"/>
                </a:solidFill>
              </a:rPr>
              <a:t>4.2</a:t>
            </a:r>
            <a:r>
              <a:rPr lang="zh-CN" altLang="en-US" dirty="0">
                <a:solidFill>
                  <a:schemeClr val="tx1"/>
                </a:solidFill>
              </a:rPr>
              <a:t>递归下降分析（</a:t>
            </a:r>
            <a:r>
              <a:rPr lang="en-US" altLang="zh-CN" dirty="0">
                <a:solidFill>
                  <a:schemeClr val="tx1"/>
                </a:solidFill>
              </a:rPr>
              <a:t>Recursive-Descent Top-Down Parsing</a:t>
            </a:r>
            <a:r>
              <a:rPr lang="zh-CN" altLang="en-US" dirty="0">
                <a:solidFill>
                  <a:schemeClr val="tx1"/>
                </a:solidFill>
              </a:rPr>
              <a:t>）</a:t>
            </a:r>
            <a:endParaRPr lang="zh-CN" altLang="en-US" dirty="0">
              <a:solidFill>
                <a:schemeClr val="tx1"/>
              </a:solidFill>
            </a:endParaRPr>
          </a:p>
          <a:p>
            <a:r>
              <a:rPr lang="en-US" altLang="zh-CN" dirty="0">
                <a:solidFill>
                  <a:srgbClr val="0070C0"/>
                </a:solidFill>
              </a:rPr>
              <a:t>4.3 LL(1)</a:t>
            </a:r>
            <a:r>
              <a:rPr lang="zh-CN" altLang="en-US" dirty="0">
                <a:solidFill>
                  <a:srgbClr val="0070C0"/>
                </a:solidFill>
              </a:rPr>
              <a:t>分析</a:t>
            </a:r>
            <a:endParaRPr lang="en-US" altLang="zh-CN" dirty="0">
              <a:solidFill>
                <a:srgbClr val="0070C0"/>
              </a:solidFill>
            </a:endParaRPr>
          </a:p>
          <a:p>
            <a:r>
              <a:rPr lang="en-US" altLang="zh-CN" dirty="0">
                <a:solidFill>
                  <a:schemeClr val="tx1"/>
                </a:solidFill>
              </a:rPr>
              <a:t>4.4 </a:t>
            </a:r>
            <a:r>
              <a:rPr lang="zh-CN" altLang="en-US" dirty="0">
                <a:solidFill>
                  <a:schemeClr val="tx1"/>
                </a:solidFill>
              </a:rPr>
              <a:t>自上而下的语法分析器自动生成工具</a:t>
            </a:r>
            <a:endParaRPr lang="zh-CN" altLang="en-US" dirty="0">
              <a:solidFill>
                <a:schemeClr val="tx1"/>
              </a:solidFill>
            </a:endParaRPr>
          </a:p>
        </p:txBody>
      </p:sp>
      <p:sp>
        <p:nvSpPr>
          <p:cNvPr id="25" name="文本占位符 24"/>
          <p:cNvSpPr>
            <a:spLocks noGrp="1"/>
          </p:cNvSpPr>
          <p:nvPr>
            <p:ph type="body" sz="quarter" idx="15"/>
          </p:nvPr>
        </p:nvSpPr>
        <p:spPr>
          <a:xfrm>
            <a:off x="156210" y="384175"/>
            <a:ext cx="4737100" cy="589915"/>
          </a:xfrm>
        </p:spPr>
        <p:txBody>
          <a:bodyPr>
            <a:normAutofit lnSpcReduction="20000"/>
          </a:bodyPr>
          <a:lstStyle/>
          <a:p>
            <a:endParaRPr lang="zh-CN" altLang="en-US"/>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586740" y="276860"/>
            <a:ext cx="762508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文本占位符 2"/>
          <p:cNvSpPr txBox="1"/>
          <p:nvPr/>
        </p:nvSpPr>
        <p:spPr>
          <a:xfrm>
            <a:off x="5813425" y="1287145"/>
            <a:ext cx="5898515" cy="4523740"/>
          </a:xfrm>
          <a:prstGeom prst="rect">
            <a:avLst/>
          </a:prstGeom>
        </p:spPr>
        <p:txBody>
          <a:bodyPr vert="horz" lIns="91440" tIns="45720" rIns="91440" bIns="45720" rtlCol="0">
            <a:noAutofit/>
          </a:bodyPr>
          <a:p>
            <a:pPr marL="0" indent="0">
              <a:lnSpc>
                <a:spcPct val="125000"/>
              </a:lnSpc>
              <a:spcBef>
                <a:spcPts val="0"/>
              </a:spcBef>
              <a:spcAft>
                <a:spcPts val="0"/>
              </a:spcAft>
              <a:buNone/>
            </a:pPr>
            <a:r>
              <a:rPr lang="zh-CN" altLang="en-US" sz="2800" b="1" dirty="0">
                <a:solidFill>
                  <a:srgbClr val="050507"/>
                </a:solidFill>
              </a:rPr>
              <a:t>针对每一步推导，构造最左推导的语法分析程序要解决的问题：</a:t>
            </a:r>
            <a:endParaRPr lang="zh-CN" altLang="en-US" sz="2800" b="1" dirty="0">
              <a:solidFill>
                <a:srgbClr val="050507"/>
              </a:solidFill>
            </a:endParaRPr>
          </a:p>
          <a:p>
            <a:pPr marL="967105" lvl="1" indent="-495300">
              <a:lnSpc>
                <a:spcPct val="125000"/>
              </a:lnSpc>
              <a:spcBef>
                <a:spcPts val="0"/>
              </a:spcBef>
              <a:spcAft>
                <a:spcPts val="0"/>
              </a:spcAft>
              <a:buFont typeface="Wingdings" panose="05000000000000000000" pitchFamily="2" charset="2"/>
              <a:buAutoNum type="arabicPeriod"/>
            </a:pPr>
            <a:r>
              <a:rPr lang="zh-CN" altLang="en-US" sz="2400" b="1" dirty="0">
                <a:solidFill>
                  <a:srgbClr val="0070C0"/>
                </a:solidFill>
              </a:rPr>
              <a:t>定位当前句型进行下一步推导的非终结符</a:t>
            </a:r>
            <a:r>
              <a:rPr lang="zh-CN" altLang="en-US" sz="2400" b="1" dirty="0">
                <a:solidFill>
                  <a:srgbClr val="050507"/>
                </a:solidFill>
              </a:rPr>
              <a:t>：每一步推导是针对当前句型中最左一个非终结符进行推导；</a:t>
            </a:r>
            <a:endParaRPr lang="zh-CN" altLang="en-US" sz="2400" b="1" dirty="0">
              <a:solidFill>
                <a:srgbClr val="050507"/>
              </a:solidFill>
            </a:endParaRPr>
          </a:p>
          <a:p>
            <a:pPr marL="967105" lvl="1" indent="-495300">
              <a:lnSpc>
                <a:spcPct val="125000"/>
              </a:lnSpc>
              <a:spcBef>
                <a:spcPts val="0"/>
              </a:spcBef>
              <a:spcAft>
                <a:spcPts val="0"/>
              </a:spcAft>
              <a:buFont typeface="Wingdings" panose="05000000000000000000" pitchFamily="2" charset="2"/>
              <a:buAutoNum type="arabicPeriod" startAt="2"/>
            </a:pPr>
            <a:r>
              <a:rPr lang="zh-CN" altLang="en-US" sz="2400" b="1" dirty="0">
                <a:solidFill>
                  <a:srgbClr val="0070C0"/>
                </a:solidFill>
              </a:rPr>
              <a:t>选择产生式：</a:t>
            </a:r>
            <a:r>
              <a:rPr lang="zh-CN" altLang="en-US" sz="2400" b="1" dirty="0">
                <a:solidFill>
                  <a:srgbClr val="050507"/>
                </a:solidFill>
              </a:rPr>
              <a:t>用该非终结符对应的哪一个产生式进行推导最有可能成功？</a:t>
            </a:r>
            <a:endParaRPr lang="zh-CN" altLang="en-US" sz="2400" b="1" dirty="0">
              <a:solidFill>
                <a:srgbClr val="050507"/>
              </a:solidFill>
            </a:endParaRPr>
          </a:p>
          <a:p>
            <a:pPr marL="967105" lvl="1" indent="-495300">
              <a:lnSpc>
                <a:spcPct val="125000"/>
              </a:lnSpc>
              <a:spcBef>
                <a:spcPts val="0"/>
              </a:spcBef>
              <a:spcAft>
                <a:spcPts val="0"/>
              </a:spcAft>
              <a:buFont typeface="Wingdings" panose="05000000000000000000" pitchFamily="2" charset="2"/>
              <a:buAutoNum type="arabicPeriod" startAt="3"/>
            </a:pPr>
            <a:r>
              <a:rPr lang="zh-CN" altLang="en-US" sz="2400" b="1" dirty="0">
                <a:solidFill>
                  <a:srgbClr val="0070C0"/>
                </a:solidFill>
              </a:rPr>
              <a:t>符号串的替换：</a:t>
            </a:r>
            <a:r>
              <a:rPr lang="zh-CN" altLang="en-US" sz="2400" b="1" dirty="0">
                <a:solidFill>
                  <a:srgbClr val="050507"/>
                </a:solidFill>
              </a:rPr>
              <a:t>用选择产生式的左部替换右部。</a:t>
            </a:r>
            <a:endParaRPr lang="zh-CN" altLang="en-US" sz="2400" b="1" dirty="0">
              <a:solidFill>
                <a:srgbClr val="050507"/>
              </a:solidFill>
            </a:endParaRPr>
          </a:p>
        </p:txBody>
      </p:sp>
      <p:sp>
        <p:nvSpPr>
          <p:cNvPr id="5" name="文本占位符 2"/>
          <p:cNvSpPr txBox="1"/>
          <p:nvPr>
            <p:custDataLst>
              <p:tags r:id="rId1"/>
            </p:custDataLst>
          </p:nvPr>
        </p:nvSpPr>
        <p:spPr>
          <a:xfrm>
            <a:off x="873125" y="1257300"/>
            <a:ext cx="4396105" cy="21513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dirty="0">
                <a:latin typeface="+mn-ea"/>
                <a:ea typeface="+mn-ea"/>
              </a:rPr>
              <a:t>例如：假设有简单文法</a:t>
            </a:r>
            <a:endParaRPr lang="en-US" altLang="zh-CN" dirty="0">
              <a:latin typeface="+mn-ea"/>
              <a:ea typeface="+mn-ea"/>
            </a:endParaRPr>
          </a:p>
          <a:p>
            <a:pPr marL="0" indent="0">
              <a:lnSpc>
                <a:spcPct val="75000"/>
              </a:lnSpc>
              <a:spcBef>
                <a:spcPct val="50000"/>
              </a:spcBef>
              <a:buSzPct val="90000"/>
              <a:buNone/>
            </a:pPr>
            <a:r>
              <a:rPr lang="en-US" altLang="zh-CN" sz="2800" dirty="0">
                <a:solidFill>
                  <a:srgbClr val="E10B34"/>
                </a:solidFill>
                <a:latin typeface="+mn-ea"/>
                <a:ea typeface="+mn-ea"/>
              </a:rPr>
              <a:t>S</a:t>
            </a:r>
            <a:r>
              <a:rPr lang="en-US" altLang="zh-CN" sz="2800" dirty="0">
                <a:solidFill>
                  <a:srgbClr val="E10B34"/>
                </a:solidFill>
                <a:latin typeface="+mn-ea"/>
                <a:ea typeface="+mn-ea"/>
                <a:sym typeface="Symbol" panose="05050102010706020507" pitchFamily="18" charset="2"/>
              </a:rPr>
              <a:t>(S)</a:t>
            </a:r>
            <a:r>
              <a:rPr lang="en-US" altLang="zh-CN" sz="2800" dirty="0" err="1">
                <a:solidFill>
                  <a:srgbClr val="E10B34"/>
                </a:solidFill>
                <a:latin typeface="+mn-ea"/>
                <a:ea typeface="+mn-ea"/>
                <a:sym typeface="Symbol" panose="05050102010706020507" pitchFamily="18" charset="2"/>
              </a:rPr>
              <a:t>S|a</a:t>
            </a:r>
            <a:r>
              <a:rPr lang="en-US" altLang="zh-CN" sz="2800" dirty="0">
                <a:solidFill>
                  <a:srgbClr val="050507"/>
                </a:solidFill>
                <a:latin typeface="+mn-ea"/>
                <a:ea typeface="+mn-ea"/>
                <a:sym typeface="Symbol" panose="05050102010706020507" pitchFamily="18" charset="2"/>
              </a:rPr>
              <a:t> </a:t>
            </a:r>
            <a:endParaRPr lang="en-US" altLang="zh-CN" sz="2800" dirty="0">
              <a:solidFill>
                <a:srgbClr val="050507"/>
              </a:solidFill>
              <a:latin typeface="+mn-ea"/>
              <a:ea typeface="+mn-ea"/>
              <a:sym typeface="Symbol" panose="05050102010706020507" pitchFamily="18" charset="2"/>
            </a:endParaRPr>
          </a:p>
          <a:p>
            <a:pPr marL="0" indent="0">
              <a:lnSpc>
                <a:spcPct val="100000"/>
              </a:lnSpc>
              <a:buNone/>
            </a:pPr>
            <a:r>
              <a:rPr lang="zh-CN" altLang="en-US" dirty="0">
                <a:solidFill>
                  <a:srgbClr val="070709"/>
                </a:solidFill>
                <a:latin typeface="+mn-ea"/>
                <a:ea typeface="+mn-ea"/>
              </a:rPr>
              <a:t>判断输入串</a:t>
            </a:r>
            <a:r>
              <a:rPr lang="en-US" altLang="zh-CN" dirty="0">
                <a:solidFill>
                  <a:srgbClr val="070709"/>
                </a:solidFill>
                <a:latin typeface="+mn-ea"/>
                <a:ea typeface="+mn-ea"/>
              </a:rPr>
              <a:t>(a)a</a:t>
            </a:r>
            <a:r>
              <a:rPr lang="zh-CN" altLang="en-US" dirty="0">
                <a:solidFill>
                  <a:srgbClr val="070709"/>
                </a:solidFill>
                <a:latin typeface="+mn-ea"/>
                <a:ea typeface="+mn-ea"/>
              </a:rPr>
              <a:t>是否是符合该文法规则的句子？</a:t>
            </a:r>
            <a:endParaRPr lang="zh-CN" altLang="en-US" dirty="0">
              <a:solidFill>
                <a:srgbClr val="070709"/>
              </a:solidFill>
              <a:latin typeface="+mn-ea"/>
              <a:ea typeface="+mn-ea"/>
            </a:endParaRPr>
          </a:p>
        </p:txBody>
      </p:sp>
      <p:grpSp>
        <p:nvGrpSpPr>
          <p:cNvPr id="6" name="Group 6"/>
          <p:cNvGrpSpPr/>
          <p:nvPr/>
        </p:nvGrpSpPr>
        <p:grpSpPr bwMode="auto">
          <a:xfrm>
            <a:off x="2918567" y="3542119"/>
            <a:ext cx="2438400" cy="2133600"/>
            <a:chOff x="2736" y="384"/>
            <a:chExt cx="1536" cy="1344"/>
          </a:xfrm>
        </p:grpSpPr>
        <p:sp>
          <p:nvSpPr>
            <p:cNvPr id="25" name="Rectangle 7"/>
            <p:cNvSpPr>
              <a:spLocks noChangeArrowheads="1"/>
            </p:cNvSpPr>
            <p:nvPr>
              <p:custDataLst>
                <p:tags r:id="rId2"/>
              </p:custDataLst>
            </p:nvPr>
          </p:nvSpPr>
          <p:spPr bwMode="auto">
            <a:xfrm>
              <a:off x="3456" y="38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S</a:t>
              </a:r>
              <a:endParaRPr lang="en-US" altLang="zh-CN" sz="2800">
                <a:solidFill>
                  <a:srgbClr val="070709"/>
                </a:solidFill>
                <a:cs typeface="Times New Roman" panose="02020603050405020304" pitchFamily="18" charset="0"/>
                <a:sym typeface="Symbol" panose="05050102010706020507" pitchFamily="18" charset="2"/>
              </a:endParaRPr>
            </a:p>
          </p:txBody>
        </p:sp>
        <p:sp>
          <p:nvSpPr>
            <p:cNvPr id="26" name="Line 8"/>
            <p:cNvSpPr>
              <a:spLocks noChangeShapeType="1"/>
            </p:cNvSpPr>
            <p:nvPr>
              <p:custDataLst>
                <p:tags r:id="rId3"/>
              </p:custDataLst>
            </p:nvPr>
          </p:nvSpPr>
          <p:spPr bwMode="auto">
            <a:xfrm flipH="1">
              <a:off x="3360" y="720"/>
              <a:ext cx="192" cy="288"/>
            </a:xfrm>
            <a:prstGeom prst="line">
              <a:avLst/>
            </a:prstGeom>
            <a:noFill/>
            <a:ln w="9525">
              <a:solidFill>
                <a:srgbClr val="050507"/>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27" name="Line 9"/>
            <p:cNvSpPr>
              <a:spLocks noChangeShapeType="1"/>
            </p:cNvSpPr>
            <p:nvPr>
              <p:custDataLst>
                <p:tags r:id="rId4"/>
              </p:custDataLst>
            </p:nvPr>
          </p:nvSpPr>
          <p:spPr bwMode="auto">
            <a:xfrm>
              <a:off x="3600" y="720"/>
              <a:ext cx="384" cy="288"/>
            </a:xfrm>
            <a:prstGeom prst="line">
              <a:avLst/>
            </a:prstGeom>
            <a:noFill/>
            <a:ln w="9525">
              <a:solidFill>
                <a:srgbClr val="050507"/>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28" name="Rectangle 10"/>
            <p:cNvSpPr>
              <a:spLocks noChangeArrowheads="1"/>
            </p:cNvSpPr>
            <p:nvPr>
              <p:custDataLst>
                <p:tags r:id="rId5"/>
              </p:custDataLst>
            </p:nvPr>
          </p:nvSpPr>
          <p:spPr bwMode="auto">
            <a:xfrm>
              <a:off x="2736" y="1008"/>
              <a:ext cx="33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a:t>
              </a:r>
              <a:endParaRPr lang="en-US" altLang="zh-CN" sz="2800">
                <a:solidFill>
                  <a:srgbClr val="070709"/>
                </a:solidFill>
                <a:cs typeface="Times New Roman" panose="02020603050405020304" pitchFamily="18" charset="0"/>
                <a:sym typeface="Symbol" panose="05050102010706020507" pitchFamily="18" charset="2"/>
              </a:endParaRPr>
            </a:p>
          </p:txBody>
        </p:sp>
        <p:sp>
          <p:nvSpPr>
            <p:cNvPr id="29" name="Line 11"/>
            <p:cNvSpPr>
              <a:spLocks noChangeShapeType="1"/>
            </p:cNvSpPr>
            <p:nvPr>
              <p:custDataLst>
                <p:tags r:id="rId6"/>
              </p:custDataLst>
            </p:nvPr>
          </p:nvSpPr>
          <p:spPr bwMode="auto">
            <a:xfrm flipH="1">
              <a:off x="2976" y="720"/>
              <a:ext cx="528" cy="28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30" name="Line 12"/>
            <p:cNvSpPr>
              <a:spLocks noChangeShapeType="1"/>
            </p:cNvSpPr>
            <p:nvPr>
              <p:custDataLst>
                <p:tags r:id="rId7"/>
              </p:custDataLst>
            </p:nvPr>
          </p:nvSpPr>
          <p:spPr bwMode="auto">
            <a:xfrm>
              <a:off x="3600" y="720"/>
              <a:ext cx="0" cy="28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31" name="Rectangle 13"/>
            <p:cNvSpPr>
              <a:spLocks noChangeArrowheads="1"/>
            </p:cNvSpPr>
            <p:nvPr>
              <p:custDataLst>
                <p:tags r:id="rId8"/>
              </p:custDataLst>
            </p:nvPr>
          </p:nvSpPr>
          <p:spPr bwMode="auto">
            <a:xfrm>
              <a:off x="3504" y="1008"/>
              <a:ext cx="33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a:t>
              </a:r>
              <a:endParaRPr lang="en-US" altLang="zh-CN" sz="2800">
                <a:solidFill>
                  <a:srgbClr val="070709"/>
                </a:solidFill>
                <a:cs typeface="Times New Roman" panose="02020603050405020304" pitchFamily="18" charset="0"/>
                <a:sym typeface="Symbol" panose="05050102010706020507" pitchFamily="18" charset="2"/>
              </a:endParaRPr>
            </a:p>
          </p:txBody>
        </p:sp>
        <p:sp>
          <p:nvSpPr>
            <p:cNvPr id="32" name="Rectangle 14"/>
            <p:cNvSpPr>
              <a:spLocks noChangeArrowheads="1"/>
            </p:cNvSpPr>
            <p:nvPr>
              <p:custDataLst>
                <p:tags r:id="rId9"/>
              </p:custDataLst>
            </p:nvPr>
          </p:nvSpPr>
          <p:spPr bwMode="auto">
            <a:xfrm>
              <a:off x="3168" y="1008"/>
              <a:ext cx="32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S</a:t>
              </a:r>
              <a:endParaRPr lang="en-US" altLang="zh-CN" sz="2800">
                <a:solidFill>
                  <a:srgbClr val="070709"/>
                </a:solidFill>
                <a:cs typeface="Times New Roman" panose="02020603050405020304" pitchFamily="18" charset="0"/>
                <a:sym typeface="Symbol" panose="05050102010706020507" pitchFamily="18" charset="2"/>
              </a:endParaRPr>
            </a:p>
          </p:txBody>
        </p:sp>
        <p:sp>
          <p:nvSpPr>
            <p:cNvPr id="33" name="Rectangle 15"/>
            <p:cNvSpPr>
              <a:spLocks noChangeArrowheads="1"/>
            </p:cNvSpPr>
            <p:nvPr>
              <p:custDataLst>
                <p:tags r:id="rId10"/>
              </p:custDataLst>
            </p:nvPr>
          </p:nvSpPr>
          <p:spPr bwMode="auto">
            <a:xfrm>
              <a:off x="3888" y="960"/>
              <a:ext cx="38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S</a:t>
              </a:r>
              <a:endParaRPr lang="en-US" altLang="zh-CN" sz="2800">
                <a:solidFill>
                  <a:srgbClr val="070709"/>
                </a:solidFill>
                <a:cs typeface="Times New Roman" panose="02020603050405020304" pitchFamily="18" charset="0"/>
                <a:sym typeface="Symbol" panose="05050102010706020507" pitchFamily="18" charset="2"/>
              </a:endParaRPr>
            </a:p>
          </p:txBody>
        </p:sp>
        <p:sp>
          <p:nvSpPr>
            <p:cNvPr id="34" name="Line 16"/>
            <p:cNvSpPr>
              <a:spLocks noChangeShapeType="1"/>
            </p:cNvSpPr>
            <p:nvPr>
              <p:custDataLst>
                <p:tags r:id="rId11"/>
              </p:custDataLst>
            </p:nvPr>
          </p:nvSpPr>
          <p:spPr bwMode="auto">
            <a:xfrm>
              <a:off x="3264" y="1344"/>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35" name="Rectangle 17"/>
            <p:cNvSpPr>
              <a:spLocks noChangeArrowheads="1"/>
            </p:cNvSpPr>
            <p:nvPr>
              <p:custDataLst>
                <p:tags r:id="rId12"/>
              </p:custDataLst>
            </p:nvPr>
          </p:nvSpPr>
          <p:spPr bwMode="auto">
            <a:xfrm>
              <a:off x="3072"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 a</a:t>
              </a:r>
              <a:endParaRPr lang="en-US" altLang="zh-CN" sz="2800">
                <a:solidFill>
                  <a:srgbClr val="050507"/>
                </a:solidFill>
                <a:cs typeface="Times New Roman" panose="02020603050405020304" pitchFamily="18" charset="0"/>
                <a:sym typeface="Symbol" panose="05050102010706020507" pitchFamily="18" charset="2"/>
              </a:endParaRPr>
            </a:p>
          </p:txBody>
        </p:sp>
        <p:sp>
          <p:nvSpPr>
            <p:cNvPr id="36" name="Line 18"/>
            <p:cNvSpPr>
              <a:spLocks noChangeShapeType="1"/>
            </p:cNvSpPr>
            <p:nvPr>
              <p:custDataLst>
                <p:tags r:id="rId13"/>
              </p:custDataLst>
            </p:nvPr>
          </p:nvSpPr>
          <p:spPr bwMode="auto">
            <a:xfrm>
              <a:off x="4008" y="1236"/>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37" name="Rectangle 19"/>
            <p:cNvSpPr>
              <a:spLocks noChangeArrowheads="1"/>
            </p:cNvSpPr>
            <p:nvPr>
              <p:custDataLst>
                <p:tags r:id="rId14"/>
              </p:custDataLst>
            </p:nvPr>
          </p:nvSpPr>
          <p:spPr bwMode="auto">
            <a:xfrm>
              <a:off x="3864" y="1428"/>
              <a:ext cx="408"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 a</a:t>
              </a:r>
              <a:endParaRPr lang="en-US" altLang="zh-CN" sz="2800">
                <a:solidFill>
                  <a:srgbClr val="050507"/>
                </a:solidFill>
                <a:cs typeface="Times New Roman" panose="02020603050405020304" pitchFamily="18" charset="0"/>
                <a:sym typeface="Symbol" panose="05050102010706020507" pitchFamily="18" charset="2"/>
              </a:endParaRPr>
            </a:p>
          </p:txBody>
        </p:sp>
      </p:grpSp>
      <p:sp>
        <p:nvSpPr>
          <p:cNvPr id="38" name="Rectangle 5"/>
          <p:cNvSpPr>
            <a:spLocks noChangeArrowheads="1"/>
          </p:cNvSpPr>
          <p:nvPr>
            <p:custDataLst>
              <p:tags r:id="rId15"/>
            </p:custDataLst>
          </p:nvPr>
        </p:nvSpPr>
        <p:spPr bwMode="auto">
          <a:xfrm>
            <a:off x="979781" y="3551604"/>
            <a:ext cx="2568481"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400" dirty="0">
                <a:solidFill>
                  <a:srgbClr val="E10B34"/>
                </a:solidFill>
                <a:latin typeface="+mn-ea"/>
                <a:ea typeface="+mn-ea"/>
                <a:sym typeface="Symbol" panose="05050102010706020507" pitchFamily="18" charset="2"/>
              </a:rPr>
              <a:t>(a)a</a:t>
            </a:r>
            <a:r>
              <a:rPr lang="zh-CN" altLang="en-US" sz="2400" dirty="0">
                <a:solidFill>
                  <a:srgbClr val="E10B34"/>
                </a:solidFill>
                <a:latin typeface="+mn-ea"/>
                <a:ea typeface="+mn-ea"/>
                <a:sym typeface="Symbol" panose="05050102010706020507" pitchFamily="18" charset="2"/>
              </a:rPr>
              <a:t>的最左推导</a:t>
            </a:r>
            <a:endParaRPr lang="zh-CN" altLang="en-US" sz="2400" dirty="0">
              <a:solidFill>
                <a:srgbClr val="E10B34"/>
              </a:solidFill>
              <a:latin typeface="+mn-ea"/>
              <a:ea typeface="+mn-ea"/>
              <a:sym typeface="Symbol" panose="05050102010706020507" pitchFamily="18" charset="2"/>
            </a:endParaRPr>
          </a:p>
        </p:txBody>
      </p:sp>
      <p:sp>
        <p:nvSpPr>
          <p:cNvPr id="39" name="Rectangle 4"/>
          <p:cNvSpPr>
            <a:spLocks noChangeArrowheads="1"/>
          </p:cNvSpPr>
          <p:nvPr>
            <p:custDataLst>
              <p:tags r:id="rId16"/>
            </p:custDataLst>
          </p:nvPr>
        </p:nvSpPr>
        <p:spPr bwMode="auto">
          <a:xfrm>
            <a:off x="979805" y="4180840"/>
            <a:ext cx="16605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400" b="0" dirty="0">
                <a:solidFill>
                  <a:srgbClr val="050507"/>
                </a:solidFill>
                <a:sym typeface="Symbol" panose="05050102010706020507" pitchFamily="18" charset="2"/>
              </a:rPr>
              <a:t>S</a:t>
            </a:r>
            <a:r>
              <a:rPr lang="en-US" altLang="zh-CN" sz="2400" b="0" dirty="0">
                <a:solidFill>
                  <a:srgbClr val="070709"/>
                </a:solidFill>
                <a:sym typeface="Symbol" panose="05050102010706020507" pitchFamily="18" charset="2"/>
              </a:rPr>
              <a:t></a:t>
            </a:r>
            <a:r>
              <a:rPr lang="en-US" altLang="zh-CN" sz="2400" b="0" dirty="0">
                <a:solidFill>
                  <a:schemeClr val="tx1"/>
                </a:solidFill>
                <a:sym typeface="Symbol" panose="05050102010706020507" pitchFamily="18" charset="2"/>
              </a:rPr>
              <a:t>(S)S</a:t>
            </a:r>
            <a:endParaRPr lang="en-US" altLang="zh-CN" sz="2400" b="0" dirty="0">
              <a:solidFill>
                <a:schemeClr val="tx1"/>
              </a:solidFill>
              <a:sym typeface="Symbol" panose="05050102010706020507" pitchFamily="18" charset="2"/>
            </a:endParaRPr>
          </a:p>
          <a:p>
            <a:pPr>
              <a:lnSpc>
                <a:spcPct val="75000"/>
              </a:lnSpc>
              <a:spcBef>
                <a:spcPct val="20000"/>
              </a:spcBef>
              <a:buSzPct val="90000"/>
            </a:pPr>
            <a:r>
              <a:rPr lang="en-US" altLang="zh-CN" sz="2400" b="0" dirty="0">
                <a:solidFill>
                  <a:schemeClr val="tx1"/>
                </a:solidFill>
                <a:sym typeface="Symbol" panose="05050102010706020507" pitchFamily="18" charset="2"/>
              </a:rPr>
              <a:t>  (a)S</a:t>
            </a:r>
            <a:endParaRPr lang="en-US" altLang="zh-CN" sz="2400" b="0" dirty="0">
              <a:solidFill>
                <a:schemeClr val="tx1"/>
              </a:solidFill>
              <a:sym typeface="Symbol" panose="05050102010706020507" pitchFamily="18" charset="2"/>
            </a:endParaRPr>
          </a:p>
          <a:p>
            <a:pPr>
              <a:lnSpc>
                <a:spcPct val="75000"/>
              </a:lnSpc>
              <a:spcBef>
                <a:spcPct val="20000"/>
              </a:spcBef>
              <a:buSzPct val="90000"/>
            </a:pPr>
            <a:r>
              <a:rPr lang="en-US" altLang="zh-CN" sz="2400" b="0" dirty="0">
                <a:solidFill>
                  <a:schemeClr val="tx1"/>
                </a:solidFill>
                <a:sym typeface="Symbol" panose="05050102010706020507" pitchFamily="18" charset="2"/>
              </a:rPr>
              <a:t>  (a)a</a:t>
            </a:r>
            <a:endParaRPr lang="en-US" altLang="zh-CN" sz="2400" b="0" dirty="0">
              <a:solidFill>
                <a:schemeClr val="tx1"/>
              </a:solidFill>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strips(downLeft)">
                                      <p:cBhvr>
                                        <p:cTn id="7" dur="500"/>
                                        <p:tgtEl>
                                          <p:spTgt spid="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nodeType="clickEffect">
                                  <p:stCondLst>
                                    <p:cond delay="0"/>
                                  </p:stCondLst>
                                  <p:childTnLst>
                                    <p:set>
                                      <p:cBhvr>
                                        <p:cTn id="15" dur="1" fill="hold">
                                          <p:stCondLst>
                                            <p:cond delay="0"/>
                                          </p:stCondLst>
                                        </p:cTn>
                                        <p:tgtEl>
                                          <p:spTgt spid="39">
                                            <p:txEl>
                                              <p:pRg st="1" end="1"/>
                                            </p:txEl>
                                          </p:spTgt>
                                        </p:tgtEl>
                                        <p:attrNameLst>
                                          <p:attrName>style.visibility</p:attrName>
                                        </p:attrNameLst>
                                      </p:cBhvr>
                                      <p:to>
                                        <p:strVal val="visible"/>
                                      </p:to>
                                    </p:set>
                                    <p:animEffect transition="in" filter="strips(downLeft)">
                                      <p:cBhvr>
                                        <p:cTn id="16" dur="500"/>
                                        <p:tgtEl>
                                          <p:spTgt spid="3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8" presetClass="entr" presetSubtype="12" fill="hold" nodeType="clickEffect">
                                  <p:stCondLst>
                                    <p:cond delay="0"/>
                                  </p:stCondLst>
                                  <p:childTnLst>
                                    <p:set>
                                      <p:cBhvr>
                                        <p:cTn id="28" dur="1" fill="hold">
                                          <p:stCondLst>
                                            <p:cond delay="0"/>
                                          </p:stCondLst>
                                        </p:cTn>
                                        <p:tgtEl>
                                          <p:spTgt spid="39">
                                            <p:txEl>
                                              <p:pRg st="2" end="2"/>
                                            </p:txEl>
                                          </p:spTgt>
                                        </p:tgtEl>
                                        <p:attrNameLst>
                                          <p:attrName>style.visibility</p:attrName>
                                        </p:attrNameLst>
                                      </p:cBhvr>
                                      <p:to>
                                        <p:strVal val="visible"/>
                                      </p:to>
                                    </p:set>
                                    <p:animEffect transition="in" filter="strips(downLeft)">
                                      <p:cBhvr>
                                        <p:cTn id="29" dur="500"/>
                                        <p:tgtEl>
                                          <p:spTgt spid="3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476250" y="276860"/>
            <a:ext cx="773557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7" name="文本占位符 2"/>
          <p:cNvSpPr txBox="1"/>
          <p:nvPr/>
        </p:nvSpPr>
        <p:spPr>
          <a:xfrm>
            <a:off x="476250" y="1304290"/>
            <a:ext cx="9518015" cy="15417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dirty="0">
                <a:latin typeface="+mn-ea"/>
                <a:ea typeface="+mn-ea"/>
              </a:rPr>
              <a:t>例如：假设有简单文法</a:t>
            </a:r>
            <a:endParaRPr lang="en-US" altLang="zh-CN" dirty="0">
              <a:latin typeface="+mn-ea"/>
              <a:ea typeface="+mn-ea"/>
            </a:endParaRPr>
          </a:p>
          <a:p>
            <a:pPr marL="0" indent="0">
              <a:lnSpc>
                <a:spcPct val="75000"/>
              </a:lnSpc>
              <a:spcBef>
                <a:spcPct val="50000"/>
              </a:spcBef>
              <a:buSzPct val="90000"/>
              <a:buNone/>
            </a:pPr>
            <a:r>
              <a:rPr lang="en-US" altLang="zh-CN" b="0" dirty="0">
                <a:solidFill>
                  <a:srgbClr val="E10B34"/>
                </a:solidFill>
                <a:latin typeface="+mn-ea"/>
                <a:ea typeface="+mn-ea"/>
              </a:rPr>
              <a:t>S</a:t>
            </a:r>
            <a:r>
              <a:rPr lang="en-US" altLang="zh-CN" b="0" dirty="0">
                <a:solidFill>
                  <a:srgbClr val="E10B34"/>
                </a:solidFill>
                <a:latin typeface="+mn-ea"/>
                <a:ea typeface="+mn-ea"/>
                <a:sym typeface="Symbol" panose="05050102010706020507" pitchFamily="18" charset="2"/>
              </a:rPr>
              <a:t>(S)</a:t>
            </a:r>
            <a:r>
              <a:rPr lang="en-US" altLang="zh-CN" b="0" dirty="0" err="1">
                <a:solidFill>
                  <a:srgbClr val="E10B34"/>
                </a:solidFill>
                <a:latin typeface="+mn-ea"/>
                <a:ea typeface="+mn-ea"/>
                <a:sym typeface="Symbol" panose="05050102010706020507" pitchFamily="18" charset="2"/>
              </a:rPr>
              <a:t>S|a</a:t>
            </a:r>
            <a:r>
              <a:rPr lang="en-US" altLang="zh-CN" b="0" dirty="0">
                <a:solidFill>
                  <a:srgbClr val="050507"/>
                </a:solidFill>
                <a:latin typeface="+mn-ea"/>
                <a:ea typeface="+mn-ea"/>
                <a:sym typeface="Symbol" panose="05050102010706020507" pitchFamily="18" charset="2"/>
              </a:rPr>
              <a:t> </a:t>
            </a:r>
            <a:endParaRPr lang="en-US" altLang="zh-CN" b="0" dirty="0">
              <a:solidFill>
                <a:srgbClr val="050507"/>
              </a:solidFill>
              <a:latin typeface="+mn-ea"/>
              <a:ea typeface="+mn-ea"/>
              <a:sym typeface="Symbol" panose="05050102010706020507" pitchFamily="18" charset="2"/>
            </a:endParaRPr>
          </a:p>
          <a:p>
            <a:pPr marL="0" indent="0">
              <a:lnSpc>
                <a:spcPct val="100000"/>
              </a:lnSpc>
              <a:buNone/>
            </a:pPr>
            <a:r>
              <a:rPr lang="zh-CN" altLang="en-US" b="0" i="1" dirty="0">
                <a:solidFill>
                  <a:srgbClr val="070709"/>
                </a:solidFill>
                <a:latin typeface="+mn-ea"/>
                <a:ea typeface="+mn-ea"/>
              </a:rPr>
              <a:t>判断输入串</a:t>
            </a:r>
            <a:r>
              <a:rPr lang="en-US" altLang="zh-CN" b="0" i="1" dirty="0">
                <a:solidFill>
                  <a:srgbClr val="070709"/>
                </a:solidFill>
                <a:latin typeface="+mn-ea"/>
                <a:ea typeface="+mn-ea"/>
              </a:rPr>
              <a:t>(a)a</a:t>
            </a:r>
            <a:r>
              <a:rPr lang="zh-CN" altLang="en-US" b="0" i="1" dirty="0">
                <a:solidFill>
                  <a:srgbClr val="070709"/>
                </a:solidFill>
                <a:latin typeface="+mn-ea"/>
                <a:ea typeface="+mn-ea"/>
              </a:rPr>
              <a:t>是否是符合该文法规则的句子？</a:t>
            </a:r>
            <a:endParaRPr lang="zh-CN" altLang="en-US" b="0" i="1" dirty="0">
              <a:solidFill>
                <a:srgbClr val="070709"/>
              </a:solidFill>
              <a:latin typeface="+mn-ea"/>
              <a:ea typeface="+mn-ea"/>
            </a:endParaRPr>
          </a:p>
        </p:txBody>
      </p:sp>
      <p:grpSp>
        <p:nvGrpSpPr>
          <p:cNvPr id="8" name="Group 6"/>
          <p:cNvGrpSpPr/>
          <p:nvPr/>
        </p:nvGrpSpPr>
        <p:grpSpPr bwMode="auto">
          <a:xfrm>
            <a:off x="7452467" y="2917914"/>
            <a:ext cx="2438400" cy="2133600"/>
            <a:chOff x="2736" y="384"/>
            <a:chExt cx="1536" cy="1344"/>
          </a:xfrm>
        </p:grpSpPr>
        <p:sp>
          <p:nvSpPr>
            <p:cNvPr id="9" name="Rectangle 7"/>
            <p:cNvSpPr>
              <a:spLocks noChangeArrowheads="1"/>
            </p:cNvSpPr>
            <p:nvPr/>
          </p:nvSpPr>
          <p:spPr bwMode="auto">
            <a:xfrm>
              <a:off x="3456" y="38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S</a:t>
              </a:r>
              <a:endParaRPr lang="en-US" altLang="zh-CN" sz="2800">
                <a:solidFill>
                  <a:srgbClr val="070709"/>
                </a:solidFill>
                <a:cs typeface="Times New Roman" panose="02020603050405020304" pitchFamily="18" charset="0"/>
                <a:sym typeface="Symbol" panose="05050102010706020507" pitchFamily="18" charset="2"/>
              </a:endParaRPr>
            </a:p>
          </p:txBody>
        </p:sp>
        <p:sp>
          <p:nvSpPr>
            <p:cNvPr id="10" name="Line 8"/>
            <p:cNvSpPr>
              <a:spLocks noChangeShapeType="1"/>
            </p:cNvSpPr>
            <p:nvPr/>
          </p:nvSpPr>
          <p:spPr bwMode="auto">
            <a:xfrm flipH="1">
              <a:off x="3360" y="720"/>
              <a:ext cx="192" cy="288"/>
            </a:xfrm>
            <a:prstGeom prst="line">
              <a:avLst/>
            </a:prstGeom>
            <a:noFill/>
            <a:ln w="9525">
              <a:solidFill>
                <a:srgbClr val="050507"/>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11" name="Line 9"/>
            <p:cNvSpPr>
              <a:spLocks noChangeShapeType="1"/>
            </p:cNvSpPr>
            <p:nvPr/>
          </p:nvSpPr>
          <p:spPr bwMode="auto">
            <a:xfrm>
              <a:off x="3600" y="720"/>
              <a:ext cx="384" cy="288"/>
            </a:xfrm>
            <a:prstGeom prst="line">
              <a:avLst/>
            </a:prstGeom>
            <a:noFill/>
            <a:ln w="9525">
              <a:solidFill>
                <a:srgbClr val="050507"/>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12" name="Rectangle 10"/>
            <p:cNvSpPr>
              <a:spLocks noChangeArrowheads="1"/>
            </p:cNvSpPr>
            <p:nvPr/>
          </p:nvSpPr>
          <p:spPr bwMode="auto">
            <a:xfrm>
              <a:off x="2736" y="1008"/>
              <a:ext cx="33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a:t>
              </a:r>
              <a:endParaRPr lang="en-US" altLang="zh-CN" sz="2800">
                <a:solidFill>
                  <a:srgbClr val="070709"/>
                </a:solidFill>
                <a:cs typeface="Times New Roman" panose="02020603050405020304" pitchFamily="18" charset="0"/>
                <a:sym typeface="Symbol" panose="05050102010706020507" pitchFamily="18" charset="2"/>
              </a:endParaRPr>
            </a:p>
          </p:txBody>
        </p:sp>
        <p:sp>
          <p:nvSpPr>
            <p:cNvPr id="13" name="Line 11"/>
            <p:cNvSpPr>
              <a:spLocks noChangeShapeType="1"/>
            </p:cNvSpPr>
            <p:nvPr/>
          </p:nvSpPr>
          <p:spPr bwMode="auto">
            <a:xfrm flipH="1">
              <a:off x="2976" y="720"/>
              <a:ext cx="528" cy="28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14" name="Line 12"/>
            <p:cNvSpPr>
              <a:spLocks noChangeShapeType="1"/>
            </p:cNvSpPr>
            <p:nvPr/>
          </p:nvSpPr>
          <p:spPr bwMode="auto">
            <a:xfrm>
              <a:off x="3600" y="720"/>
              <a:ext cx="0" cy="28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15" name="Rectangle 13"/>
            <p:cNvSpPr>
              <a:spLocks noChangeArrowheads="1"/>
            </p:cNvSpPr>
            <p:nvPr/>
          </p:nvSpPr>
          <p:spPr bwMode="auto">
            <a:xfrm>
              <a:off x="3504" y="1008"/>
              <a:ext cx="33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a:t>
              </a:r>
              <a:endParaRPr lang="en-US" altLang="zh-CN" sz="2800">
                <a:solidFill>
                  <a:srgbClr val="070709"/>
                </a:solidFill>
                <a:cs typeface="Times New Roman" panose="02020603050405020304" pitchFamily="18" charset="0"/>
                <a:sym typeface="Symbol" panose="05050102010706020507" pitchFamily="18" charset="2"/>
              </a:endParaRPr>
            </a:p>
          </p:txBody>
        </p:sp>
        <p:sp>
          <p:nvSpPr>
            <p:cNvPr id="16" name="Rectangle 14"/>
            <p:cNvSpPr>
              <a:spLocks noChangeArrowheads="1"/>
            </p:cNvSpPr>
            <p:nvPr/>
          </p:nvSpPr>
          <p:spPr bwMode="auto">
            <a:xfrm>
              <a:off x="3168" y="1008"/>
              <a:ext cx="32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S</a:t>
              </a:r>
              <a:endParaRPr lang="en-US" altLang="zh-CN" sz="2800">
                <a:solidFill>
                  <a:srgbClr val="070709"/>
                </a:solidFill>
                <a:cs typeface="Times New Roman" panose="02020603050405020304" pitchFamily="18" charset="0"/>
                <a:sym typeface="Symbol" panose="05050102010706020507" pitchFamily="18" charset="2"/>
              </a:endParaRPr>
            </a:p>
          </p:txBody>
        </p:sp>
        <p:sp>
          <p:nvSpPr>
            <p:cNvPr id="17" name="Rectangle 15"/>
            <p:cNvSpPr>
              <a:spLocks noChangeArrowheads="1"/>
            </p:cNvSpPr>
            <p:nvPr/>
          </p:nvSpPr>
          <p:spPr bwMode="auto">
            <a:xfrm>
              <a:off x="3888" y="960"/>
              <a:ext cx="38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S</a:t>
              </a:r>
              <a:endParaRPr lang="en-US" altLang="zh-CN" sz="2800">
                <a:solidFill>
                  <a:srgbClr val="070709"/>
                </a:solidFill>
                <a:cs typeface="Times New Roman" panose="02020603050405020304" pitchFamily="18" charset="0"/>
                <a:sym typeface="Symbol" panose="05050102010706020507" pitchFamily="18" charset="2"/>
              </a:endParaRPr>
            </a:p>
          </p:txBody>
        </p:sp>
        <p:sp>
          <p:nvSpPr>
            <p:cNvPr id="18" name="Line 16"/>
            <p:cNvSpPr>
              <a:spLocks noChangeShapeType="1"/>
            </p:cNvSpPr>
            <p:nvPr/>
          </p:nvSpPr>
          <p:spPr bwMode="auto">
            <a:xfrm>
              <a:off x="3264" y="1344"/>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19" name="Rectangle 17"/>
            <p:cNvSpPr>
              <a:spLocks noChangeArrowheads="1"/>
            </p:cNvSpPr>
            <p:nvPr/>
          </p:nvSpPr>
          <p:spPr bwMode="auto">
            <a:xfrm>
              <a:off x="3072"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 a</a:t>
              </a:r>
              <a:endParaRPr lang="en-US" altLang="zh-CN" sz="2800">
                <a:solidFill>
                  <a:srgbClr val="050507"/>
                </a:solidFill>
                <a:cs typeface="Times New Roman" panose="02020603050405020304" pitchFamily="18" charset="0"/>
                <a:sym typeface="Symbol" panose="05050102010706020507" pitchFamily="18" charset="2"/>
              </a:endParaRPr>
            </a:p>
          </p:txBody>
        </p:sp>
        <p:sp>
          <p:nvSpPr>
            <p:cNvPr id="20" name="Line 18"/>
            <p:cNvSpPr>
              <a:spLocks noChangeShapeType="1"/>
            </p:cNvSpPr>
            <p:nvPr/>
          </p:nvSpPr>
          <p:spPr bwMode="auto">
            <a:xfrm>
              <a:off x="4008" y="1236"/>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21" name="Rectangle 19"/>
            <p:cNvSpPr>
              <a:spLocks noChangeArrowheads="1"/>
            </p:cNvSpPr>
            <p:nvPr/>
          </p:nvSpPr>
          <p:spPr bwMode="auto">
            <a:xfrm>
              <a:off x="3864" y="1428"/>
              <a:ext cx="408"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800">
                  <a:solidFill>
                    <a:srgbClr val="050507"/>
                  </a:solidFill>
                  <a:cs typeface="Times New Roman" panose="02020603050405020304" pitchFamily="18" charset="0"/>
                  <a:sym typeface="Symbol" panose="05050102010706020507" pitchFamily="18" charset="2"/>
                </a:rPr>
                <a:t> a</a:t>
              </a:r>
              <a:endParaRPr lang="en-US" altLang="zh-CN" sz="2800">
                <a:solidFill>
                  <a:srgbClr val="050507"/>
                </a:solidFill>
                <a:cs typeface="Times New Roman" panose="02020603050405020304" pitchFamily="18" charset="0"/>
                <a:sym typeface="Symbol" panose="05050102010706020507" pitchFamily="18" charset="2"/>
              </a:endParaRPr>
            </a:p>
          </p:txBody>
        </p:sp>
      </p:grpSp>
      <p:sp>
        <p:nvSpPr>
          <p:cNvPr id="22" name="Rectangle 5"/>
          <p:cNvSpPr>
            <a:spLocks noChangeArrowheads="1"/>
          </p:cNvSpPr>
          <p:nvPr/>
        </p:nvSpPr>
        <p:spPr bwMode="auto">
          <a:xfrm>
            <a:off x="1955141" y="3116629"/>
            <a:ext cx="2568481"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400" b="0" dirty="0">
                <a:solidFill>
                  <a:srgbClr val="E10B34"/>
                </a:solidFill>
                <a:latin typeface="+mn-ea"/>
                <a:ea typeface="+mn-ea"/>
                <a:sym typeface="Symbol" panose="05050102010706020507" pitchFamily="18" charset="2"/>
              </a:rPr>
              <a:t>(a)a</a:t>
            </a:r>
            <a:r>
              <a:rPr lang="zh-CN" altLang="en-US" sz="2400" b="0" dirty="0">
                <a:solidFill>
                  <a:srgbClr val="E10B34"/>
                </a:solidFill>
                <a:latin typeface="+mn-ea"/>
                <a:ea typeface="+mn-ea"/>
                <a:sym typeface="Symbol" panose="05050102010706020507" pitchFamily="18" charset="2"/>
              </a:rPr>
              <a:t>的最左推导</a:t>
            </a:r>
            <a:endParaRPr lang="zh-CN" altLang="en-US" sz="2400" b="0" dirty="0">
              <a:solidFill>
                <a:srgbClr val="E10B34"/>
              </a:solidFill>
              <a:latin typeface="+mn-ea"/>
              <a:ea typeface="+mn-ea"/>
              <a:sym typeface="Symbol" panose="05050102010706020507" pitchFamily="18" charset="2"/>
            </a:endParaRPr>
          </a:p>
        </p:txBody>
      </p:sp>
      <p:sp>
        <p:nvSpPr>
          <p:cNvPr id="23" name="Rectangle 4"/>
          <p:cNvSpPr>
            <a:spLocks noChangeArrowheads="1"/>
          </p:cNvSpPr>
          <p:nvPr/>
        </p:nvSpPr>
        <p:spPr bwMode="auto">
          <a:xfrm>
            <a:off x="1996418" y="3676923"/>
            <a:ext cx="281734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SzPct val="90000"/>
            </a:pPr>
            <a:r>
              <a:rPr lang="en-US" altLang="zh-CN" sz="2400" b="0" dirty="0">
                <a:solidFill>
                  <a:srgbClr val="050507"/>
                </a:solidFill>
                <a:sym typeface="Symbol" panose="05050102010706020507" pitchFamily="18" charset="2"/>
              </a:rPr>
              <a:t>S</a:t>
            </a:r>
            <a:r>
              <a:rPr lang="en-US" altLang="zh-CN" sz="2400" b="0" dirty="0">
                <a:solidFill>
                  <a:srgbClr val="070709"/>
                </a:solidFill>
                <a:sym typeface="Symbol" panose="05050102010706020507" pitchFamily="18" charset="2"/>
              </a:rPr>
              <a:t></a:t>
            </a:r>
            <a:r>
              <a:rPr lang="en-US" altLang="zh-CN" sz="2400" b="0" dirty="0">
                <a:solidFill>
                  <a:schemeClr val="tx1"/>
                </a:solidFill>
                <a:sym typeface="Symbol" panose="05050102010706020507" pitchFamily="18" charset="2"/>
              </a:rPr>
              <a:t>(S)S</a:t>
            </a:r>
            <a:endParaRPr lang="en-US" altLang="zh-CN" sz="2400" b="0" dirty="0">
              <a:solidFill>
                <a:schemeClr val="tx1"/>
              </a:solidFill>
              <a:sym typeface="Symbol" panose="05050102010706020507" pitchFamily="18" charset="2"/>
            </a:endParaRPr>
          </a:p>
          <a:p>
            <a:pPr>
              <a:lnSpc>
                <a:spcPct val="75000"/>
              </a:lnSpc>
              <a:spcBef>
                <a:spcPct val="20000"/>
              </a:spcBef>
              <a:buSzPct val="90000"/>
            </a:pPr>
            <a:r>
              <a:rPr lang="en-US" altLang="zh-CN" sz="2400" b="0" dirty="0">
                <a:solidFill>
                  <a:schemeClr val="tx1"/>
                </a:solidFill>
                <a:sym typeface="Symbol" panose="05050102010706020507" pitchFamily="18" charset="2"/>
              </a:rPr>
              <a:t>  (a)S</a:t>
            </a:r>
            <a:endParaRPr lang="en-US" altLang="zh-CN" sz="2400" b="0" dirty="0">
              <a:solidFill>
                <a:schemeClr val="tx1"/>
              </a:solidFill>
              <a:sym typeface="Symbol" panose="05050102010706020507" pitchFamily="18" charset="2"/>
            </a:endParaRPr>
          </a:p>
          <a:p>
            <a:pPr>
              <a:lnSpc>
                <a:spcPct val="75000"/>
              </a:lnSpc>
              <a:spcBef>
                <a:spcPct val="20000"/>
              </a:spcBef>
              <a:buSzPct val="90000"/>
            </a:pPr>
            <a:r>
              <a:rPr lang="en-US" altLang="zh-CN" sz="2400" b="0" dirty="0">
                <a:solidFill>
                  <a:schemeClr val="tx1"/>
                </a:solidFill>
                <a:sym typeface="Symbol" panose="05050102010706020507" pitchFamily="18" charset="2"/>
              </a:rPr>
              <a:t>  (a)a</a:t>
            </a:r>
            <a:endParaRPr lang="en-US" altLang="zh-CN" sz="2400" b="0" dirty="0">
              <a:solidFill>
                <a:schemeClr val="tx1"/>
              </a:solidFill>
              <a:sym typeface="Symbol" panose="05050102010706020507" pitchFamily="18" charset="2"/>
            </a:endParaRPr>
          </a:p>
        </p:txBody>
      </p:sp>
      <p:sp useBgFill="1">
        <p:nvSpPr>
          <p:cNvPr id="24" name="AutoShape 20"/>
          <p:cNvSpPr>
            <a:spLocks noChangeArrowheads="1"/>
          </p:cNvSpPr>
          <p:nvPr/>
        </p:nvSpPr>
        <p:spPr bwMode="auto">
          <a:xfrm>
            <a:off x="8801100" y="5553075"/>
            <a:ext cx="762000" cy="304800"/>
          </a:xfrm>
          <a:prstGeom prst="curvedDownArrow">
            <a:avLst>
              <a:gd name="adj1" fmla="val 50000"/>
              <a:gd name="adj2" fmla="val 100000"/>
              <a:gd name="adj3" fmla="val 33319"/>
            </a:avLst>
          </a:prstGeom>
          <a:ln w="9525">
            <a:solidFill>
              <a:srgbClr val="050507"/>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2100" b="0">
              <a:solidFill>
                <a:schemeClr val="tx1"/>
              </a:solidFill>
            </a:endParaRPr>
          </a:p>
        </p:txBody>
      </p:sp>
      <p:grpSp>
        <p:nvGrpSpPr>
          <p:cNvPr id="37" name="组合 36"/>
          <p:cNvGrpSpPr/>
          <p:nvPr/>
        </p:nvGrpSpPr>
        <p:grpSpPr>
          <a:xfrm>
            <a:off x="4770755" y="3035935"/>
            <a:ext cx="2385695" cy="2046605"/>
            <a:chOff x="5113" y="4781"/>
            <a:chExt cx="3757" cy="3223"/>
          </a:xfrm>
        </p:grpSpPr>
        <p:grpSp>
          <p:nvGrpSpPr>
            <p:cNvPr id="48" name="组合 47"/>
            <p:cNvGrpSpPr/>
            <p:nvPr/>
          </p:nvGrpSpPr>
          <p:grpSpPr>
            <a:xfrm>
              <a:off x="5372" y="7279"/>
              <a:ext cx="3460" cy="725"/>
              <a:chOff x="5372" y="7279"/>
              <a:chExt cx="3460" cy="725"/>
            </a:xfrm>
          </p:grpSpPr>
          <mc:AlternateContent xmlns:mc="http://schemas.openxmlformats.org/markup-compatibility/2006" xmlns:p14="http://schemas.microsoft.com/office/powerpoint/2010/main">
            <mc:Choice Requires="p14">
              <p:contentPart r:id="rId1" p14:bwMode="auto">
                <p14:nvContentPartPr>
                  <p14:cNvPr id="40" name="墨迹 39"/>
                  <p14:cNvContentPartPr/>
                  <p14:nvPr>
                    <p:custDataLst>
                      <p:tags r:id="rId2"/>
                    </p:custDataLst>
                  </p14:nvPr>
                </p14:nvContentPartPr>
                <p14:xfrm>
                  <a:off x="5372" y="7284"/>
                  <a:ext cx="3353" cy="50"/>
                </p14:xfrm>
              </p:contentPart>
            </mc:Choice>
            <mc:Fallback xmlns="">
              <p:pic>
                <p:nvPicPr>
                  <p:cNvPr id="40" name="墨迹 39"/>
                </p:nvPicPr>
                <p:blipFill>
                  <a:blip r:embed="rId3"/>
                </p:blipFill>
                <p:spPr>
                  <a:xfrm>
                    <a:off x="5372" y="7284"/>
                    <a:ext cx="3353" cy="5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1" name="墨迹 40"/>
                  <p14:cNvContentPartPr/>
                  <p14:nvPr>
                    <p:custDataLst>
                      <p:tags r:id="rId5"/>
                    </p:custDataLst>
                  </p14:nvPr>
                </p14:nvContentPartPr>
                <p14:xfrm>
                  <a:off x="5445" y="7858"/>
                  <a:ext cx="3387" cy="22"/>
                </p14:xfrm>
              </p:contentPart>
            </mc:Choice>
            <mc:Fallback xmlns="">
              <p:pic>
                <p:nvPicPr>
                  <p:cNvPr id="41" name="墨迹 40"/>
                </p:nvPicPr>
                <p:blipFill>
                  <a:blip r:embed="rId6"/>
                </p:blipFill>
                <p:spPr>
                  <a:xfrm>
                    <a:off x="5445" y="7858"/>
                    <a:ext cx="3387" cy="22"/>
                  </a:xfrm>
                  <a:prstGeom prst="rect"/>
                </p:spPr>
              </p:pic>
            </mc:Fallback>
          </mc:AlternateContent>
          <p:sp>
            <p:nvSpPr>
              <p:cNvPr id="42" name="文本框 41"/>
              <p:cNvSpPr txBox="1"/>
              <p:nvPr>
                <p:custDataLst>
                  <p:tags r:id="rId7"/>
                </p:custDataLst>
              </p:nvPr>
            </p:nvSpPr>
            <p:spPr>
              <a:xfrm>
                <a:off x="5686" y="7279"/>
                <a:ext cx="2049" cy="725"/>
              </a:xfrm>
              <a:prstGeom prst="rect">
                <a:avLst/>
              </a:prstGeom>
              <a:noFill/>
            </p:spPr>
            <p:txBody>
              <a:bodyPr wrap="square" rtlCol="0" anchor="t">
                <a:spAutoFit/>
              </a:bodyPr>
              <a:p>
                <a:r>
                  <a:rPr lang="en-US" altLang="zh-CN" sz="2400" dirty="0">
                    <a:sym typeface="Symbol" panose="05050102010706020507" pitchFamily="18" charset="2"/>
                  </a:rPr>
                  <a:t>)Sa</a:t>
                </a:r>
                <a:endParaRPr lang="en-US" altLang="zh-CN" sz="2400" dirty="0">
                  <a:sym typeface="Symbol" panose="05050102010706020507" pitchFamily="18" charset="2"/>
                </a:endParaRPr>
              </a:p>
            </p:txBody>
          </p:sp>
        </p:grpSp>
        <p:grpSp>
          <p:nvGrpSpPr>
            <p:cNvPr id="47" name="组合 46"/>
            <p:cNvGrpSpPr/>
            <p:nvPr/>
          </p:nvGrpSpPr>
          <p:grpSpPr>
            <a:xfrm>
              <a:off x="5113" y="4781"/>
              <a:ext cx="3757" cy="2214"/>
              <a:chOff x="5113" y="4781"/>
              <a:chExt cx="3757" cy="2214"/>
            </a:xfrm>
          </p:grpSpPr>
          <mc:AlternateContent xmlns:mc="http://schemas.openxmlformats.org/markup-compatibility/2006" xmlns:p14="http://schemas.microsoft.com/office/powerpoint/2010/main">
            <mc:Choice Requires="p14">
              <p:contentPart r:id="rId8" p14:bwMode="auto">
                <p14:nvContentPartPr>
                  <p14:cNvPr id="2" name="墨迹 1"/>
                  <p14:cNvContentPartPr/>
                  <p14:nvPr/>
                </p14:nvContentPartPr>
                <p14:xfrm>
                  <a:off x="5298" y="6311"/>
                  <a:ext cx="3353" cy="50"/>
                </p14:xfrm>
              </p:contentPart>
            </mc:Choice>
            <mc:Fallback xmlns="">
              <p:pic>
                <p:nvPicPr>
                  <p:cNvPr id="2" name="墨迹 1"/>
                </p:nvPicPr>
                <p:blipFill>
                  <a:blip r:embed="rId3"/>
                </p:blipFill>
                <p:spPr>
                  <a:xfrm>
                    <a:off x="5298" y="6311"/>
                    <a:ext cx="3353" cy="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3" name="墨迹 2"/>
                  <p14:cNvContentPartPr/>
                  <p14:nvPr/>
                </p14:nvContentPartPr>
                <p14:xfrm>
                  <a:off x="5371" y="6885"/>
                  <a:ext cx="3387" cy="22"/>
                </p14:xfrm>
              </p:contentPart>
            </mc:Choice>
            <mc:Fallback xmlns="">
              <p:pic>
                <p:nvPicPr>
                  <p:cNvPr id="3" name="墨迹 2"/>
                </p:nvPicPr>
                <p:blipFill>
                  <a:blip r:embed="rId6"/>
                </p:blipFill>
                <p:spPr>
                  <a:xfrm>
                    <a:off x="5371" y="6885"/>
                    <a:ext cx="3387" cy="22"/>
                  </a:xfrm>
                  <a:prstGeom prst="rect"/>
                </p:spPr>
              </p:pic>
            </mc:Fallback>
          </mc:AlternateContent>
          <p:sp>
            <p:nvSpPr>
              <p:cNvPr id="5" name="文本框 4"/>
              <p:cNvSpPr txBox="1"/>
              <p:nvPr/>
            </p:nvSpPr>
            <p:spPr>
              <a:xfrm>
                <a:off x="5668" y="6270"/>
                <a:ext cx="1179" cy="725"/>
              </a:xfrm>
              <a:prstGeom prst="rect">
                <a:avLst/>
              </a:prstGeom>
              <a:noFill/>
            </p:spPr>
            <p:txBody>
              <a:bodyPr wrap="square" rtlCol="0" anchor="t">
                <a:spAutoFit/>
              </a:bodyPr>
              <a:p>
                <a:r>
                  <a:rPr lang="en-US" altLang="zh-CN" sz="2400" dirty="0">
                    <a:highlight>
                      <a:srgbClr val="FFFF00"/>
                    </a:highlight>
                    <a:sym typeface="Symbol" panose="05050102010706020507" pitchFamily="18" charset="2"/>
                  </a:rPr>
                  <a:t>(S</a:t>
                </a:r>
                <a:r>
                  <a:rPr lang="en-US" altLang="zh-CN" sz="2400" dirty="0">
                    <a:sym typeface="Symbol" panose="05050102010706020507" pitchFamily="18" charset="2"/>
                  </a:rPr>
                  <a:t>)S</a:t>
                </a:r>
                <a:endParaRPr lang="en-US" altLang="zh-CN" sz="2400" dirty="0">
                  <a:sym typeface="Symbol" panose="05050102010706020507" pitchFamily="18" charset="2"/>
                </a:endParaRPr>
              </a:p>
            </p:txBody>
          </p:sp>
          <mc:AlternateContent xmlns:mc="http://schemas.openxmlformats.org/markup-compatibility/2006" xmlns:p14="http://schemas.microsoft.com/office/powerpoint/2010/main">
            <mc:Choice Requires="p14">
              <p:contentPart r:id="rId10" p14:bwMode="auto">
                <p14:nvContentPartPr>
                  <p14:cNvPr id="6" name="墨迹 5"/>
                  <p14:cNvContentPartPr/>
                  <p14:nvPr/>
                </p14:nvContentPartPr>
                <p14:xfrm>
                  <a:off x="5332" y="5658"/>
                  <a:ext cx="113" cy="79"/>
                </p14:xfrm>
              </p:contentPart>
            </mc:Choice>
            <mc:Fallback xmlns="">
              <p:pic>
                <p:nvPicPr>
                  <p:cNvPr id="6" name="墨迹 5"/>
                </p:nvPicPr>
                <p:blipFill>
                  <a:blip r:embed="rId11"/>
                </p:blipFill>
                <p:spPr>
                  <a:xfrm>
                    <a:off x="5332" y="5658"/>
                    <a:ext cx="113" cy="79"/>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25" name="墨迹 24"/>
                  <p14:cNvContentPartPr/>
                  <p14:nvPr/>
                </p14:nvContentPartPr>
                <p14:xfrm>
                  <a:off x="5310" y="5748"/>
                  <a:ext cx="163" cy="57"/>
                </p14:xfrm>
              </p:contentPart>
            </mc:Choice>
            <mc:Fallback xmlns="">
              <p:pic>
                <p:nvPicPr>
                  <p:cNvPr id="25" name="墨迹 24"/>
                </p:nvPicPr>
                <p:blipFill>
                  <a:blip r:embed="rId13"/>
                </p:blipFill>
                <p:spPr>
                  <a:xfrm>
                    <a:off x="5310" y="5748"/>
                    <a:ext cx="163" cy="57"/>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26" name="墨迹 25"/>
                  <p14:cNvContentPartPr/>
                  <p14:nvPr/>
                </p14:nvContentPartPr>
                <p14:xfrm>
                  <a:off x="5113" y="5872"/>
                  <a:ext cx="630" cy="1"/>
                </p14:xfrm>
              </p:contentPart>
            </mc:Choice>
            <mc:Fallback xmlns="">
              <p:pic>
                <p:nvPicPr>
                  <p:cNvPr id="26" name="墨迹 25"/>
                </p:nvPicPr>
                <p:blipFill>
                  <a:blip r:embed="rId15"/>
                </p:blipFill>
                <p:spPr>
                  <a:xfrm>
                    <a:off x="5113" y="5872"/>
                    <a:ext cx="630" cy="1"/>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27" name="墨迹 26"/>
                  <p14:cNvContentPartPr/>
                  <p14:nvPr/>
                </p14:nvContentPartPr>
                <p14:xfrm>
                  <a:off x="5242" y="5602"/>
                  <a:ext cx="264" cy="512"/>
                </p14:xfrm>
              </p:contentPart>
            </mc:Choice>
            <mc:Fallback xmlns="">
              <p:pic>
                <p:nvPicPr>
                  <p:cNvPr id="27" name="墨迹 26"/>
                </p:nvPicPr>
                <p:blipFill>
                  <a:blip r:embed="rId17"/>
                </p:blipFill>
                <p:spPr>
                  <a:xfrm>
                    <a:off x="5242" y="5602"/>
                    <a:ext cx="264" cy="512"/>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28" name="墨迹 27"/>
                  <p14:cNvContentPartPr/>
                  <p14:nvPr/>
                </p14:nvContentPartPr>
                <p14:xfrm>
                  <a:off x="5608" y="5996"/>
                  <a:ext cx="78" cy="22"/>
                </p14:xfrm>
              </p:contentPart>
            </mc:Choice>
            <mc:Fallback xmlns="">
              <p:pic>
                <p:nvPicPr>
                  <p:cNvPr id="28" name="墨迹 27"/>
                </p:nvPicPr>
                <p:blipFill>
                  <a:blip r:embed="rId19"/>
                </p:blipFill>
                <p:spPr>
                  <a:xfrm>
                    <a:off x="5608" y="5996"/>
                    <a:ext cx="78" cy="22"/>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29" name="墨迹 28"/>
                  <p14:cNvContentPartPr/>
                  <p14:nvPr/>
                </p14:nvContentPartPr>
                <p14:xfrm>
                  <a:off x="8161" y="5568"/>
                  <a:ext cx="507" cy="40"/>
                </p14:xfrm>
              </p:contentPart>
            </mc:Choice>
            <mc:Fallback xmlns="">
              <p:pic>
                <p:nvPicPr>
                  <p:cNvPr id="29" name="墨迹 28"/>
                </p:nvPicPr>
                <p:blipFill>
                  <a:blip r:embed="rId21"/>
                </p:blipFill>
                <p:spPr>
                  <a:xfrm>
                    <a:off x="8161" y="5568"/>
                    <a:ext cx="507" cy="4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30" name="墨迹 29"/>
                  <p14:cNvContentPartPr/>
                  <p14:nvPr/>
                </p14:nvContentPartPr>
                <p14:xfrm>
                  <a:off x="8235" y="5591"/>
                  <a:ext cx="410" cy="146"/>
                </p14:xfrm>
              </p:contentPart>
            </mc:Choice>
            <mc:Fallback xmlns="">
              <p:pic>
                <p:nvPicPr>
                  <p:cNvPr id="30" name="墨迹 29"/>
                </p:nvPicPr>
                <p:blipFill>
                  <a:blip r:embed="rId23"/>
                </p:blipFill>
                <p:spPr>
                  <a:xfrm>
                    <a:off x="8235" y="5591"/>
                    <a:ext cx="410" cy="146"/>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31" name="墨迹 30"/>
                  <p14:cNvContentPartPr/>
                  <p14:nvPr/>
                </p14:nvContentPartPr>
                <p14:xfrm>
                  <a:off x="8128" y="5580"/>
                  <a:ext cx="191" cy="495"/>
                </p14:xfrm>
              </p:contentPart>
            </mc:Choice>
            <mc:Fallback xmlns="">
              <p:pic>
                <p:nvPicPr>
                  <p:cNvPr id="31" name="墨迹 30"/>
                </p:nvPicPr>
                <p:blipFill>
                  <a:blip r:embed="rId25"/>
                </p:blipFill>
                <p:spPr>
                  <a:xfrm>
                    <a:off x="8128" y="5580"/>
                    <a:ext cx="191" cy="495"/>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32" name="墨迹 31"/>
                  <p14:cNvContentPartPr/>
                  <p14:nvPr/>
                </p14:nvContentPartPr>
                <p14:xfrm>
                  <a:off x="8353" y="5765"/>
                  <a:ext cx="298" cy="124"/>
                </p14:xfrm>
              </p:contentPart>
            </mc:Choice>
            <mc:Fallback xmlns="">
              <p:pic>
                <p:nvPicPr>
                  <p:cNvPr id="32" name="墨迹 31"/>
                </p:nvPicPr>
                <p:blipFill>
                  <a:blip r:embed="rId27"/>
                </p:blipFill>
                <p:spPr>
                  <a:xfrm>
                    <a:off x="8353" y="5765"/>
                    <a:ext cx="298" cy="124"/>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33" name="墨迹 32"/>
                  <p14:cNvContentPartPr/>
                  <p14:nvPr/>
                </p14:nvContentPartPr>
                <p14:xfrm>
                  <a:off x="8392" y="5962"/>
                  <a:ext cx="439" cy="34"/>
                </p14:xfrm>
              </p:contentPart>
            </mc:Choice>
            <mc:Fallback xmlns="">
              <p:pic>
                <p:nvPicPr>
                  <p:cNvPr id="33" name="墨迹 32"/>
                </p:nvPicPr>
                <p:blipFill>
                  <a:blip r:embed="rId29"/>
                </p:blipFill>
                <p:spPr>
                  <a:xfrm>
                    <a:off x="8392" y="5962"/>
                    <a:ext cx="439" cy="34"/>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34" name="墨迹 33"/>
                  <p14:cNvContentPartPr/>
                  <p14:nvPr/>
                </p14:nvContentPartPr>
                <p14:xfrm>
                  <a:off x="8533" y="5827"/>
                  <a:ext cx="337" cy="309"/>
                </p14:xfrm>
              </p:contentPart>
            </mc:Choice>
            <mc:Fallback xmlns="">
              <p:pic>
                <p:nvPicPr>
                  <p:cNvPr id="34" name="墨迹 33"/>
                </p:nvPicPr>
                <p:blipFill>
                  <a:blip r:embed="rId31"/>
                </p:blipFill>
                <p:spPr>
                  <a:xfrm>
                    <a:off x="8533" y="5827"/>
                    <a:ext cx="337" cy="309"/>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35" name="墨迹 34"/>
                  <p14:cNvContentPartPr/>
                  <p14:nvPr/>
                </p14:nvContentPartPr>
                <p14:xfrm>
                  <a:off x="6356" y="5878"/>
                  <a:ext cx="1614" cy="56"/>
                </p14:xfrm>
              </p:contentPart>
            </mc:Choice>
            <mc:Fallback xmlns="">
              <p:pic>
                <p:nvPicPr>
                  <p:cNvPr id="35" name="墨迹 34"/>
                </p:nvPicPr>
                <p:blipFill>
                  <a:blip r:embed="rId33"/>
                </p:blipFill>
                <p:spPr>
                  <a:xfrm>
                    <a:off x="6356" y="5878"/>
                    <a:ext cx="1614" cy="56"/>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36" name="墨迹 35"/>
                  <p14:cNvContentPartPr/>
                  <p14:nvPr/>
                </p14:nvContentPartPr>
                <p14:xfrm>
                  <a:off x="6367" y="5776"/>
                  <a:ext cx="298" cy="265"/>
                </p14:xfrm>
              </p:contentPart>
            </mc:Choice>
            <mc:Fallback xmlns="">
              <p:pic>
                <p:nvPicPr>
                  <p:cNvPr id="36" name="墨迹 35"/>
                </p:nvPicPr>
                <p:blipFill>
                  <a:blip r:embed="rId35"/>
                </p:blipFill>
                <p:spPr>
                  <a:xfrm>
                    <a:off x="6367" y="5776"/>
                    <a:ext cx="298" cy="265"/>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43" name="墨迹 42"/>
                  <p14:cNvContentPartPr/>
                  <p14:nvPr/>
                </p14:nvContentPartPr>
                <p14:xfrm>
                  <a:off x="6322" y="4938"/>
                  <a:ext cx="253" cy="231"/>
                </p14:xfrm>
              </p:contentPart>
            </mc:Choice>
            <mc:Fallback xmlns="">
              <p:pic>
                <p:nvPicPr>
                  <p:cNvPr id="43" name="墨迹 42"/>
                </p:nvPicPr>
                <p:blipFill>
                  <a:blip r:embed="rId37"/>
                </p:blipFill>
                <p:spPr>
                  <a:xfrm>
                    <a:off x="6322" y="4938"/>
                    <a:ext cx="253" cy="231"/>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44" name="墨迹 43"/>
                  <p14:cNvContentPartPr/>
                  <p14:nvPr/>
                </p14:nvContentPartPr>
                <p14:xfrm>
                  <a:off x="6361" y="4944"/>
                  <a:ext cx="45" cy="512"/>
                </p14:xfrm>
              </p:contentPart>
            </mc:Choice>
            <mc:Fallback xmlns="">
              <p:pic>
                <p:nvPicPr>
                  <p:cNvPr id="44" name="墨迹 43"/>
                </p:nvPicPr>
                <p:blipFill>
                  <a:blip r:embed="rId39"/>
                </p:blipFill>
                <p:spPr>
                  <a:xfrm>
                    <a:off x="6361" y="4944"/>
                    <a:ext cx="45" cy="512"/>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45" name="墨迹 44"/>
                  <p14:cNvContentPartPr/>
                  <p14:nvPr/>
                </p14:nvContentPartPr>
                <p14:xfrm>
                  <a:off x="6480" y="4781"/>
                  <a:ext cx="281" cy="641"/>
                </p14:xfrm>
              </p:contentPart>
            </mc:Choice>
            <mc:Fallback xmlns="">
              <p:pic>
                <p:nvPicPr>
                  <p:cNvPr id="45" name="墨迹 44"/>
                </p:nvPicPr>
                <p:blipFill>
                  <a:blip r:embed="rId41"/>
                </p:blipFill>
                <p:spPr>
                  <a:xfrm>
                    <a:off x="6480" y="4781"/>
                    <a:ext cx="281" cy="641"/>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46" name="墨迹 45"/>
                  <p14:cNvContentPartPr/>
                  <p14:nvPr/>
                </p14:nvContentPartPr>
                <p14:xfrm>
                  <a:off x="6755" y="5079"/>
                  <a:ext cx="388" cy="197"/>
                </p14:xfrm>
              </p:contentPart>
            </mc:Choice>
            <mc:Fallback xmlns="">
              <p:pic>
                <p:nvPicPr>
                  <p:cNvPr id="46" name="墨迹 45"/>
                </p:nvPicPr>
                <p:blipFill>
                  <a:blip r:embed="rId43"/>
                </p:blipFill>
                <p:spPr>
                  <a:xfrm>
                    <a:off x="6755" y="5079"/>
                    <a:ext cx="388" cy="197"/>
                  </a:xfrm>
                  <a:prstGeom prst="rect"/>
                </p:spPr>
              </p:pic>
            </mc:Fallback>
          </mc:AlternateContent>
        </p:grpSp>
      </p:grpSp>
      <p:sp>
        <p:nvSpPr>
          <p:cNvPr id="38" name="灯片编号占位符 37"/>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Horizont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23">
                                            <p:txEl>
                                              <p:pRg st="0" end="0"/>
                                            </p:txEl>
                                          </p:spTgt>
                                        </p:tgtEl>
                                        <p:attrNameLst>
                                          <p:attrName>style.visibility</p:attrName>
                                        </p:attrNameLst>
                                      </p:cBhvr>
                                      <p:to>
                                        <p:strVal val="visible"/>
                                      </p:to>
                                    </p:set>
                                    <p:animEffect transition="in" filter="strips(downLeft)">
                                      <p:cBhvr>
                                        <p:cTn id="12" dur="500"/>
                                        <p:tgtEl>
                                          <p:spTgt spid="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3">
                                            <p:txEl>
                                              <p:pRg st="1" end="1"/>
                                            </p:txEl>
                                          </p:spTgt>
                                        </p:tgtEl>
                                        <p:attrNameLst>
                                          <p:attrName>style.visibility</p:attrName>
                                        </p:attrNameLst>
                                      </p:cBhvr>
                                      <p:to>
                                        <p:strVal val="visible"/>
                                      </p:to>
                                    </p:set>
                                    <p:animEffect transition="in" filter="strips(downLeft)">
                                      <p:cBhvr>
                                        <p:cTn id="17" dur="500"/>
                                        <p:tgtEl>
                                          <p:spTgt spid="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23">
                                            <p:txEl>
                                              <p:pRg st="2" end="2"/>
                                            </p:txEl>
                                          </p:spTgt>
                                        </p:tgtEl>
                                        <p:attrNameLst>
                                          <p:attrName>style.visibility</p:attrName>
                                        </p:attrNameLst>
                                      </p:cBhvr>
                                      <p:to>
                                        <p:strVal val="visible"/>
                                      </p:to>
                                    </p:set>
                                    <p:animEffect transition="in" filter="strips(downLeft)">
                                      <p:cBhvr>
                                        <p:cTn id="22" dur="500"/>
                                        <p:tgtEl>
                                          <p:spTgt spid="2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521970" y="276860"/>
            <a:ext cx="7689850" cy="593090"/>
          </a:xfrm>
        </p:spPr>
        <p:txBody>
          <a:bodyPr/>
          <a:lstStyle/>
          <a:p>
            <a:r>
              <a:rPr lang="en-US" altLang="zh-CN" dirty="0"/>
              <a:t>LL (1)</a:t>
            </a:r>
            <a:r>
              <a:rPr lang="zh-CN" altLang="en-US" dirty="0"/>
              <a:t>分析方法示例</a:t>
            </a:r>
            <a:endParaRPr lang="zh-CN" altLang="en-US" dirty="0"/>
          </a:p>
        </p:txBody>
      </p:sp>
      <p:sp>
        <p:nvSpPr>
          <p:cNvPr id="7" name="矩形 6"/>
          <p:cNvSpPr/>
          <p:nvPr/>
        </p:nvSpPr>
        <p:spPr>
          <a:xfrm>
            <a:off x="2084153" y="5375185"/>
            <a:ext cx="5244352" cy="829945"/>
          </a:xfrm>
          <a:prstGeom prst="rect">
            <a:avLst/>
          </a:prstGeom>
        </p:spPr>
        <p:txBody>
          <a:bodyPr wrap="square">
            <a:spAutoFit/>
          </a:bodyPr>
          <a:lstStyle/>
          <a:p>
            <a:pPr marL="342900" indent="-342900">
              <a:buFont typeface="Arial" panose="020B0604020202020204" pitchFamily="34" charset="0"/>
              <a:buChar char="•"/>
            </a:pPr>
            <a:r>
              <a:rPr lang="zh-CN" altLang="en-US" sz="2400" b="1" dirty="0">
                <a:solidFill>
                  <a:srgbClr val="F72F89"/>
                </a:solidFill>
                <a:latin typeface="+mn-ea"/>
                <a:sym typeface="Symbol" panose="05050102010706020507" pitchFamily="18" charset="2"/>
              </a:rPr>
              <a:t>引入</a:t>
            </a:r>
            <a:r>
              <a:rPr lang="zh-CN" altLang="en-US" sz="2400" b="1" dirty="0">
                <a:solidFill>
                  <a:srgbClr val="050507"/>
                </a:solidFill>
                <a:latin typeface="+mn-ea"/>
              </a:rPr>
              <a:t>$作为输入符号串的限界符；</a:t>
            </a:r>
            <a:endParaRPr lang="zh-CN" altLang="en-US" sz="2400" b="1" dirty="0">
              <a:solidFill>
                <a:srgbClr val="050507"/>
              </a:solidFill>
              <a:latin typeface="+mn-ea"/>
            </a:endParaRPr>
          </a:p>
          <a:p>
            <a:pPr marL="342900" indent="-342900">
              <a:buFont typeface="Arial" panose="020B0604020202020204" pitchFamily="34" charset="0"/>
              <a:buChar char="•"/>
            </a:pPr>
            <a:r>
              <a:rPr lang="zh-CN" altLang="en-US" sz="2400" b="1" dirty="0">
                <a:solidFill>
                  <a:srgbClr val="F72F89"/>
                </a:solidFill>
                <a:latin typeface="+mn-ea"/>
                <a:sym typeface="Symbol" panose="05050102010706020507" pitchFamily="18" charset="2"/>
              </a:rPr>
              <a:t>句型自右至左入栈</a:t>
            </a:r>
            <a:endParaRPr lang="zh-CN" altLang="en-US" sz="2400" b="1" dirty="0">
              <a:solidFill>
                <a:srgbClr val="F72F89"/>
              </a:solidFill>
              <a:latin typeface="+mn-ea"/>
              <a:sym typeface="Symbol" panose="05050102010706020507" pitchFamily="18" charset="2"/>
            </a:endParaRPr>
          </a:p>
        </p:txBody>
      </p:sp>
      <p:sp>
        <p:nvSpPr>
          <p:cNvPr id="9" name="Line 3"/>
          <p:cNvSpPr>
            <a:spLocks noChangeShapeType="1"/>
          </p:cNvSpPr>
          <p:nvPr/>
        </p:nvSpPr>
        <p:spPr bwMode="auto">
          <a:xfrm>
            <a:off x="1619436" y="1860627"/>
            <a:ext cx="66119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sz="2000">
              <a:latin typeface="+mn-ea"/>
            </a:endParaRPr>
          </a:p>
        </p:txBody>
      </p:sp>
      <p:sp useBgFill="1">
        <p:nvSpPr>
          <p:cNvPr id="10" name="Rectangle 7"/>
          <p:cNvSpPr>
            <a:spLocks noChangeArrowheads="1"/>
          </p:cNvSpPr>
          <p:nvPr/>
        </p:nvSpPr>
        <p:spPr bwMode="auto">
          <a:xfrm>
            <a:off x="2049229" y="1364304"/>
            <a:ext cx="927552" cy="3460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000" b="1" dirty="0">
                <a:solidFill>
                  <a:srgbClr val="050507"/>
                </a:solidFill>
                <a:latin typeface="+mn-ea"/>
              </a:rPr>
              <a:t>步骤</a:t>
            </a:r>
            <a:endParaRPr lang="zh-CN" altLang="en-US" sz="2000" b="1" dirty="0">
              <a:solidFill>
                <a:srgbClr val="050507"/>
              </a:solidFill>
              <a:latin typeface="+mn-ea"/>
            </a:endParaRPr>
          </a:p>
        </p:txBody>
      </p:sp>
      <p:sp useBgFill="1">
        <p:nvSpPr>
          <p:cNvPr id="11" name="Rectangle 4"/>
          <p:cNvSpPr>
            <a:spLocks noChangeArrowheads="1"/>
          </p:cNvSpPr>
          <p:nvPr/>
        </p:nvSpPr>
        <p:spPr bwMode="auto">
          <a:xfrm>
            <a:off x="3343041" y="1303979"/>
            <a:ext cx="902276"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000" b="1" dirty="0">
                <a:solidFill>
                  <a:srgbClr val="050507"/>
                </a:solidFill>
                <a:latin typeface="+mn-ea"/>
              </a:rPr>
              <a:t>分析栈</a:t>
            </a:r>
            <a:endParaRPr lang="zh-CN" altLang="en-US" sz="2000" b="1" dirty="0">
              <a:solidFill>
                <a:srgbClr val="050507"/>
              </a:solidFill>
              <a:latin typeface="+mn-ea"/>
            </a:endParaRPr>
          </a:p>
        </p:txBody>
      </p:sp>
      <p:sp useBgFill="1">
        <p:nvSpPr>
          <p:cNvPr id="12" name="Rectangle 5"/>
          <p:cNvSpPr>
            <a:spLocks noChangeArrowheads="1"/>
          </p:cNvSpPr>
          <p:nvPr/>
        </p:nvSpPr>
        <p:spPr bwMode="auto">
          <a:xfrm>
            <a:off x="5510491" y="1328579"/>
            <a:ext cx="1167375" cy="3905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000" b="1" dirty="0">
                <a:solidFill>
                  <a:srgbClr val="050507"/>
                </a:solidFill>
                <a:latin typeface="+mn-ea"/>
              </a:rPr>
              <a:t>输入</a:t>
            </a:r>
            <a:endParaRPr lang="zh-CN" altLang="en-US" sz="2000" b="1" dirty="0">
              <a:solidFill>
                <a:srgbClr val="050507"/>
              </a:solidFill>
              <a:latin typeface="+mn-ea"/>
            </a:endParaRPr>
          </a:p>
        </p:txBody>
      </p:sp>
      <p:grpSp>
        <p:nvGrpSpPr>
          <p:cNvPr id="13" name="Group 61"/>
          <p:cNvGrpSpPr/>
          <p:nvPr/>
        </p:nvGrpSpPr>
        <p:grpSpPr bwMode="auto">
          <a:xfrm>
            <a:off x="2084153" y="1731809"/>
            <a:ext cx="4070350" cy="434975"/>
            <a:chOff x="612" y="982"/>
            <a:chExt cx="2564" cy="274"/>
          </a:xfrm>
        </p:grpSpPr>
        <p:sp useBgFill="1">
          <p:nvSpPr>
            <p:cNvPr id="14" name="Rectangle 9"/>
            <p:cNvSpPr>
              <a:spLocks noChangeArrowheads="1"/>
            </p:cNvSpPr>
            <p:nvPr/>
          </p:nvSpPr>
          <p:spPr bwMode="auto">
            <a:xfrm>
              <a:off x="1408" y="982"/>
              <a:ext cx="390" cy="2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dirty="0">
                  <a:solidFill>
                    <a:srgbClr val="050507"/>
                  </a:solidFill>
                  <a:latin typeface="+mn-ea"/>
                </a:rPr>
                <a:t>$</a:t>
              </a:r>
              <a:r>
                <a:rPr lang="en-US" altLang="zh-CN" sz="2000" b="1" dirty="0">
                  <a:solidFill>
                    <a:srgbClr val="050507"/>
                  </a:solidFill>
                  <a:latin typeface="+mn-ea"/>
                </a:rPr>
                <a:t>S</a:t>
              </a:r>
              <a:endParaRPr lang="en-US" altLang="zh-CN" sz="2000" b="1" dirty="0">
                <a:solidFill>
                  <a:srgbClr val="050507"/>
                </a:solidFill>
                <a:latin typeface="+mn-ea"/>
              </a:endParaRPr>
            </a:p>
          </p:txBody>
        </p:sp>
        <p:sp useBgFill="1">
          <p:nvSpPr>
            <p:cNvPr id="15" name="Rectangle 10"/>
            <p:cNvSpPr>
              <a:spLocks noChangeArrowheads="1"/>
            </p:cNvSpPr>
            <p:nvPr/>
          </p:nvSpPr>
          <p:spPr bwMode="auto">
            <a:xfrm>
              <a:off x="612" y="1016"/>
              <a:ext cx="243" cy="2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a:solidFill>
                    <a:srgbClr val="050507"/>
                  </a:solidFill>
                  <a:latin typeface="+mn-ea"/>
                </a:rPr>
                <a:t>1</a:t>
              </a:r>
              <a:endParaRPr lang="zh-CN" altLang="en-US" sz="2000" b="1">
                <a:solidFill>
                  <a:srgbClr val="050507"/>
                </a:solidFill>
                <a:latin typeface="+mn-ea"/>
              </a:endParaRPr>
            </a:p>
          </p:txBody>
        </p:sp>
        <p:sp useBgFill="1">
          <p:nvSpPr>
            <p:cNvPr id="16" name="Rectangle 11"/>
            <p:cNvSpPr>
              <a:spLocks noChangeArrowheads="1"/>
            </p:cNvSpPr>
            <p:nvPr/>
          </p:nvSpPr>
          <p:spPr bwMode="auto">
            <a:xfrm>
              <a:off x="2787" y="1016"/>
              <a:ext cx="389" cy="234"/>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(a)a</a:t>
              </a:r>
              <a:r>
                <a:rPr lang="zh-CN" altLang="en-US" sz="2000" b="1" dirty="0">
                  <a:solidFill>
                    <a:srgbClr val="050507"/>
                  </a:solidFill>
                  <a:latin typeface="+mn-ea"/>
                </a:rPr>
                <a:t>$</a:t>
              </a:r>
              <a:endParaRPr lang="en-US" altLang="zh-CN" sz="2000" b="1" dirty="0">
                <a:solidFill>
                  <a:srgbClr val="050507"/>
                </a:solidFill>
                <a:latin typeface="+mn-ea"/>
              </a:endParaRPr>
            </a:p>
          </p:txBody>
        </p:sp>
      </p:grpSp>
      <p:sp useBgFill="1">
        <p:nvSpPr>
          <p:cNvPr id="17" name="Rectangle 12"/>
          <p:cNvSpPr>
            <a:spLocks noChangeArrowheads="1"/>
          </p:cNvSpPr>
          <p:nvPr/>
        </p:nvSpPr>
        <p:spPr bwMode="auto">
          <a:xfrm>
            <a:off x="7214159" y="1761179"/>
            <a:ext cx="2471738" cy="2952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000" b="1" dirty="0">
                <a:solidFill>
                  <a:srgbClr val="050507"/>
                </a:solidFill>
                <a:latin typeface="+mn-ea"/>
              </a:rPr>
              <a:t>S </a:t>
            </a:r>
            <a:r>
              <a:rPr lang="en-US" altLang="zh-CN" sz="2000" b="1" dirty="0">
                <a:solidFill>
                  <a:srgbClr val="050507"/>
                </a:solidFill>
                <a:latin typeface="+mn-ea"/>
                <a:sym typeface="Symbol" panose="05050102010706020507" pitchFamily="18" charset="2"/>
              </a:rPr>
              <a:t></a:t>
            </a:r>
            <a:r>
              <a:rPr lang="en-US" altLang="zh-CN" sz="2000" b="1" dirty="0">
                <a:solidFill>
                  <a:srgbClr val="050507"/>
                </a:solidFill>
                <a:latin typeface="+mn-ea"/>
              </a:rPr>
              <a:t>（S）S</a:t>
            </a:r>
            <a:endParaRPr lang="en-US" altLang="zh-CN" sz="2000" b="1" dirty="0">
              <a:solidFill>
                <a:srgbClr val="050507"/>
              </a:solidFill>
              <a:latin typeface="+mn-ea"/>
            </a:endParaRPr>
          </a:p>
        </p:txBody>
      </p:sp>
      <p:grpSp>
        <p:nvGrpSpPr>
          <p:cNvPr id="18" name="Group 62"/>
          <p:cNvGrpSpPr/>
          <p:nvPr/>
        </p:nvGrpSpPr>
        <p:grpSpPr bwMode="auto">
          <a:xfrm>
            <a:off x="2084153" y="2208063"/>
            <a:ext cx="4130675" cy="457200"/>
            <a:chOff x="582" y="1282"/>
            <a:chExt cx="2602" cy="288"/>
          </a:xfrm>
        </p:grpSpPr>
        <p:sp useBgFill="1">
          <p:nvSpPr>
            <p:cNvPr id="19" name="Rectangle 14"/>
            <p:cNvSpPr>
              <a:spLocks noChangeArrowheads="1"/>
            </p:cNvSpPr>
            <p:nvPr/>
          </p:nvSpPr>
          <p:spPr bwMode="auto">
            <a:xfrm>
              <a:off x="1316" y="1302"/>
              <a:ext cx="740" cy="234"/>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dirty="0">
                  <a:solidFill>
                    <a:srgbClr val="050507"/>
                  </a:solidFill>
                  <a:latin typeface="+mn-ea"/>
                </a:rPr>
                <a:t>$</a:t>
              </a:r>
              <a:r>
                <a:rPr lang="en-US" altLang="zh-CN" sz="2000" b="1" dirty="0">
                  <a:solidFill>
                    <a:srgbClr val="050507"/>
                  </a:solidFill>
                  <a:latin typeface="+mn-ea"/>
                </a:rPr>
                <a:t>S)S(</a:t>
              </a:r>
              <a:endParaRPr lang="en-US" altLang="zh-CN" sz="2000" b="1" dirty="0">
                <a:solidFill>
                  <a:srgbClr val="050507"/>
                </a:solidFill>
                <a:latin typeface="+mn-ea"/>
              </a:endParaRPr>
            </a:p>
          </p:txBody>
        </p:sp>
        <p:sp useBgFill="1">
          <p:nvSpPr>
            <p:cNvPr id="20" name="Rectangle 15"/>
            <p:cNvSpPr>
              <a:spLocks noChangeArrowheads="1"/>
            </p:cNvSpPr>
            <p:nvPr/>
          </p:nvSpPr>
          <p:spPr bwMode="auto">
            <a:xfrm>
              <a:off x="582" y="1330"/>
              <a:ext cx="258" cy="2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a:solidFill>
                    <a:srgbClr val="050507"/>
                  </a:solidFill>
                  <a:latin typeface="+mn-ea"/>
                </a:rPr>
                <a:t>2</a:t>
              </a:r>
              <a:endParaRPr lang="zh-CN" altLang="en-US" sz="2000" b="1">
                <a:solidFill>
                  <a:srgbClr val="050507"/>
                </a:solidFill>
                <a:latin typeface="+mn-ea"/>
              </a:endParaRPr>
            </a:p>
          </p:txBody>
        </p:sp>
        <p:sp useBgFill="1">
          <p:nvSpPr>
            <p:cNvPr id="21" name="Rectangle 16"/>
            <p:cNvSpPr>
              <a:spLocks noChangeArrowheads="1"/>
            </p:cNvSpPr>
            <p:nvPr/>
          </p:nvSpPr>
          <p:spPr bwMode="auto">
            <a:xfrm>
              <a:off x="2772" y="1282"/>
              <a:ext cx="412" cy="234"/>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(a)a</a:t>
              </a:r>
              <a:r>
                <a:rPr lang="zh-CN" altLang="en-US" sz="2000" b="1" dirty="0">
                  <a:solidFill>
                    <a:srgbClr val="050507"/>
                  </a:solidFill>
                  <a:latin typeface="+mn-ea"/>
                </a:rPr>
                <a:t>$</a:t>
              </a:r>
              <a:endParaRPr lang="en-US" altLang="zh-CN" sz="2000" b="1" dirty="0">
                <a:solidFill>
                  <a:srgbClr val="050507"/>
                </a:solidFill>
                <a:latin typeface="+mn-ea"/>
              </a:endParaRPr>
            </a:p>
          </p:txBody>
        </p:sp>
      </p:grpSp>
      <p:sp useBgFill="1">
        <p:nvSpPr>
          <p:cNvPr id="22" name="Rectangle 17"/>
          <p:cNvSpPr>
            <a:spLocks noChangeArrowheads="1"/>
          </p:cNvSpPr>
          <p:nvPr/>
        </p:nvSpPr>
        <p:spPr bwMode="auto">
          <a:xfrm>
            <a:off x="7214159" y="2264417"/>
            <a:ext cx="1139825" cy="223837"/>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000" b="1" dirty="0">
                <a:solidFill>
                  <a:srgbClr val="050507"/>
                </a:solidFill>
                <a:latin typeface="+mn-ea"/>
              </a:rPr>
              <a:t>匹配</a:t>
            </a:r>
            <a:endParaRPr lang="zh-CN" altLang="en-US" sz="2000" b="1" dirty="0">
              <a:solidFill>
                <a:srgbClr val="050507"/>
              </a:solidFill>
              <a:latin typeface="+mn-ea"/>
            </a:endParaRPr>
          </a:p>
        </p:txBody>
      </p:sp>
      <p:grpSp>
        <p:nvGrpSpPr>
          <p:cNvPr id="23" name="Group 63"/>
          <p:cNvGrpSpPr/>
          <p:nvPr/>
        </p:nvGrpSpPr>
        <p:grpSpPr bwMode="auto">
          <a:xfrm>
            <a:off x="2084153" y="2663676"/>
            <a:ext cx="4125913" cy="463551"/>
            <a:chOff x="582" y="1569"/>
            <a:chExt cx="2599" cy="292"/>
          </a:xfrm>
        </p:grpSpPr>
        <p:sp useBgFill="1">
          <p:nvSpPr>
            <p:cNvPr id="24" name="Rectangle 19"/>
            <p:cNvSpPr>
              <a:spLocks noChangeArrowheads="1"/>
            </p:cNvSpPr>
            <p:nvPr/>
          </p:nvSpPr>
          <p:spPr bwMode="auto">
            <a:xfrm>
              <a:off x="1349" y="1621"/>
              <a:ext cx="636" cy="2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dirty="0">
                  <a:solidFill>
                    <a:srgbClr val="050507"/>
                  </a:solidFill>
                  <a:latin typeface="+mn-ea"/>
                </a:rPr>
                <a:t>$</a:t>
              </a:r>
              <a:r>
                <a:rPr lang="en-US" altLang="zh-CN" sz="2000" b="1" dirty="0">
                  <a:solidFill>
                    <a:srgbClr val="050507"/>
                  </a:solidFill>
                  <a:latin typeface="+mn-ea"/>
                </a:rPr>
                <a:t>S)S</a:t>
              </a:r>
              <a:endParaRPr lang="en-US" altLang="zh-CN" sz="2000" b="1" dirty="0">
                <a:solidFill>
                  <a:srgbClr val="050507"/>
                </a:solidFill>
                <a:latin typeface="+mn-ea"/>
              </a:endParaRPr>
            </a:p>
          </p:txBody>
        </p:sp>
        <p:sp useBgFill="1">
          <p:nvSpPr>
            <p:cNvPr id="25" name="Rectangle 20"/>
            <p:cNvSpPr>
              <a:spLocks noChangeArrowheads="1"/>
            </p:cNvSpPr>
            <p:nvPr/>
          </p:nvSpPr>
          <p:spPr bwMode="auto">
            <a:xfrm>
              <a:off x="582" y="1618"/>
              <a:ext cx="265" cy="2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dirty="0">
                  <a:solidFill>
                    <a:srgbClr val="050507"/>
                  </a:solidFill>
                  <a:latin typeface="+mn-ea"/>
                </a:rPr>
                <a:t>3</a:t>
              </a:r>
              <a:endParaRPr lang="zh-CN" altLang="en-US" sz="2000" b="1" dirty="0">
                <a:solidFill>
                  <a:srgbClr val="050507"/>
                </a:solidFill>
                <a:latin typeface="+mn-ea"/>
              </a:endParaRPr>
            </a:p>
          </p:txBody>
        </p:sp>
        <p:sp useBgFill="1">
          <p:nvSpPr>
            <p:cNvPr id="26" name="Rectangle 21"/>
            <p:cNvSpPr>
              <a:spLocks noChangeArrowheads="1"/>
            </p:cNvSpPr>
            <p:nvPr/>
          </p:nvSpPr>
          <p:spPr bwMode="auto">
            <a:xfrm>
              <a:off x="2757" y="1569"/>
              <a:ext cx="424" cy="234"/>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a)a</a:t>
              </a:r>
              <a:r>
                <a:rPr lang="zh-CN" altLang="en-US" sz="2000" b="1" dirty="0">
                  <a:solidFill>
                    <a:srgbClr val="050507"/>
                  </a:solidFill>
                  <a:latin typeface="+mn-ea"/>
                </a:rPr>
                <a:t>$</a:t>
              </a:r>
              <a:endParaRPr lang="en-US" altLang="zh-CN" sz="2000" b="1" dirty="0">
                <a:solidFill>
                  <a:srgbClr val="050507"/>
                </a:solidFill>
                <a:latin typeface="+mn-ea"/>
              </a:endParaRPr>
            </a:p>
          </p:txBody>
        </p:sp>
      </p:grpSp>
      <p:sp useBgFill="1">
        <p:nvSpPr>
          <p:cNvPr id="27" name="Rectangle 22"/>
          <p:cNvSpPr>
            <a:spLocks noChangeArrowheads="1"/>
          </p:cNvSpPr>
          <p:nvPr/>
        </p:nvSpPr>
        <p:spPr bwMode="auto">
          <a:xfrm>
            <a:off x="7214159" y="2640654"/>
            <a:ext cx="1458913"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000" b="1">
                <a:solidFill>
                  <a:srgbClr val="050507"/>
                </a:solidFill>
                <a:latin typeface="+mn-ea"/>
              </a:rPr>
              <a:t>S </a:t>
            </a:r>
            <a:r>
              <a:rPr lang="en-US" altLang="zh-CN" sz="2000" b="1">
                <a:solidFill>
                  <a:srgbClr val="050507"/>
                </a:solidFill>
                <a:latin typeface="+mn-ea"/>
                <a:sym typeface="Symbol" panose="05050102010706020507" pitchFamily="18" charset="2"/>
              </a:rPr>
              <a:t> a</a:t>
            </a:r>
            <a:endParaRPr lang="en-US" altLang="zh-CN" sz="2000" b="1">
              <a:solidFill>
                <a:srgbClr val="050507"/>
              </a:solidFill>
              <a:latin typeface="+mn-ea"/>
              <a:sym typeface="Symbol" panose="05050102010706020507" pitchFamily="18" charset="2"/>
            </a:endParaRPr>
          </a:p>
        </p:txBody>
      </p:sp>
      <p:grpSp>
        <p:nvGrpSpPr>
          <p:cNvPr id="28" name="Group 64"/>
          <p:cNvGrpSpPr/>
          <p:nvPr/>
        </p:nvGrpSpPr>
        <p:grpSpPr bwMode="auto">
          <a:xfrm>
            <a:off x="2084153" y="3222477"/>
            <a:ext cx="4156075" cy="468313"/>
            <a:chOff x="567" y="1921"/>
            <a:chExt cx="2618" cy="295"/>
          </a:xfrm>
        </p:grpSpPr>
        <p:sp useBgFill="1">
          <p:nvSpPr>
            <p:cNvPr id="29" name="Rectangle 24"/>
            <p:cNvSpPr>
              <a:spLocks noChangeArrowheads="1"/>
            </p:cNvSpPr>
            <p:nvPr/>
          </p:nvSpPr>
          <p:spPr bwMode="auto">
            <a:xfrm>
              <a:off x="1411" y="1938"/>
              <a:ext cx="478" cy="278"/>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dirty="0">
                  <a:solidFill>
                    <a:srgbClr val="050507"/>
                  </a:solidFill>
                  <a:latin typeface="+mn-ea"/>
                </a:rPr>
                <a:t>$</a:t>
              </a:r>
              <a:r>
                <a:rPr lang="en-US" altLang="zh-CN" sz="2000" b="1" dirty="0">
                  <a:solidFill>
                    <a:srgbClr val="050507"/>
                  </a:solidFill>
                  <a:latin typeface="+mn-ea"/>
                </a:rPr>
                <a:t>S)a</a:t>
              </a:r>
              <a:endParaRPr lang="en-US" altLang="zh-CN" sz="2000" b="1" dirty="0">
                <a:solidFill>
                  <a:srgbClr val="050507"/>
                </a:solidFill>
                <a:latin typeface="+mn-ea"/>
              </a:endParaRPr>
            </a:p>
          </p:txBody>
        </p:sp>
        <p:sp useBgFill="1">
          <p:nvSpPr>
            <p:cNvPr id="30" name="Rectangle 25"/>
            <p:cNvSpPr>
              <a:spLocks noChangeArrowheads="1"/>
            </p:cNvSpPr>
            <p:nvPr/>
          </p:nvSpPr>
          <p:spPr bwMode="auto">
            <a:xfrm>
              <a:off x="567" y="1923"/>
              <a:ext cx="268" cy="278"/>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a:solidFill>
                    <a:srgbClr val="050507"/>
                  </a:solidFill>
                  <a:latin typeface="+mn-ea"/>
                </a:rPr>
                <a:t>4</a:t>
              </a:r>
              <a:endParaRPr lang="zh-CN" altLang="en-US" sz="2000" b="1">
                <a:solidFill>
                  <a:srgbClr val="050507"/>
                </a:solidFill>
                <a:latin typeface="+mn-ea"/>
              </a:endParaRPr>
            </a:p>
          </p:txBody>
        </p:sp>
        <p:sp useBgFill="1">
          <p:nvSpPr>
            <p:cNvPr id="31" name="Rectangle 26"/>
            <p:cNvSpPr>
              <a:spLocks noChangeArrowheads="1"/>
            </p:cNvSpPr>
            <p:nvPr/>
          </p:nvSpPr>
          <p:spPr bwMode="auto">
            <a:xfrm>
              <a:off x="2757" y="1921"/>
              <a:ext cx="428" cy="27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a)a</a:t>
              </a:r>
              <a:r>
                <a:rPr lang="zh-CN" altLang="en-US" sz="2000" b="1" dirty="0">
                  <a:solidFill>
                    <a:srgbClr val="050507"/>
                  </a:solidFill>
                  <a:latin typeface="+mn-ea"/>
                </a:rPr>
                <a:t>$</a:t>
              </a:r>
              <a:endParaRPr lang="en-US" altLang="zh-CN" sz="2000" b="1" dirty="0">
                <a:solidFill>
                  <a:srgbClr val="050507"/>
                </a:solidFill>
                <a:latin typeface="+mn-ea"/>
              </a:endParaRPr>
            </a:p>
          </p:txBody>
        </p:sp>
      </p:grpSp>
      <p:sp useBgFill="1">
        <p:nvSpPr>
          <p:cNvPr id="32" name="Rectangle 27"/>
          <p:cNvSpPr>
            <a:spLocks noChangeArrowheads="1"/>
          </p:cNvSpPr>
          <p:nvPr/>
        </p:nvSpPr>
        <p:spPr bwMode="auto">
          <a:xfrm>
            <a:off x="7214159" y="3201042"/>
            <a:ext cx="1182687" cy="258762"/>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000" b="1">
                <a:solidFill>
                  <a:srgbClr val="050507"/>
                </a:solidFill>
                <a:latin typeface="+mn-ea"/>
              </a:rPr>
              <a:t>匹配</a:t>
            </a:r>
            <a:endParaRPr lang="zh-CN" altLang="en-US" sz="2000" b="1">
              <a:solidFill>
                <a:srgbClr val="050507"/>
              </a:solidFill>
              <a:latin typeface="+mn-ea"/>
            </a:endParaRPr>
          </a:p>
        </p:txBody>
      </p:sp>
      <p:grpSp>
        <p:nvGrpSpPr>
          <p:cNvPr id="33" name="Group 66"/>
          <p:cNvGrpSpPr/>
          <p:nvPr/>
        </p:nvGrpSpPr>
        <p:grpSpPr bwMode="auto">
          <a:xfrm>
            <a:off x="2084153" y="4154333"/>
            <a:ext cx="4133850" cy="406399"/>
            <a:chOff x="575" y="2508"/>
            <a:chExt cx="2604" cy="256"/>
          </a:xfrm>
        </p:grpSpPr>
        <p:sp useBgFill="1">
          <p:nvSpPr>
            <p:cNvPr id="34" name="Rectangle 29"/>
            <p:cNvSpPr>
              <a:spLocks noChangeArrowheads="1"/>
            </p:cNvSpPr>
            <p:nvPr/>
          </p:nvSpPr>
          <p:spPr bwMode="auto">
            <a:xfrm>
              <a:off x="1410" y="2543"/>
              <a:ext cx="418" cy="22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dirty="0">
                  <a:solidFill>
                    <a:srgbClr val="050507"/>
                  </a:solidFill>
                  <a:latin typeface="+mn-ea"/>
                </a:rPr>
                <a:t>$</a:t>
              </a:r>
              <a:r>
                <a:rPr lang="en-US" altLang="zh-CN" sz="2000" b="1" dirty="0">
                  <a:solidFill>
                    <a:srgbClr val="050507"/>
                  </a:solidFill>
                  <a:latin typeface="+mn-ea"/>
                </a:rPr>
                <a:t>S</a:t>
              </a:r>
              <a:endParaRPr lang="en-US" altLang="zh-CN" sz="2000" b="1" dirty="0">
                <a:solidFill>
                  <a:srgbClr val="050507"/>
                </a:solidFill>
                <a:latin typeface="+mn-ea"/>
              </a:endParaRPr>
            </a:p>
          </p:txBody>
        </p:sp>
        <p:sp useBgFill="1">
          <p:nvSpPr>
            <p:cNvPr id="35" name="Rectangle 30"/>
            <p:cNvSpPr>
              <a:spLocks noChangeArrowheads="1"/>
            </p:cNvSpPr>
            <p:nvPr/>
          </p:nvSpPr>
          <p:spPr bwMode="auto">
            <a:xfrm>
              <a:off x="575" y="2513"/>
              <a:ext cx="261" cy="22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50507"/>
                  </a:solidFill>
                  <a:latin typeface="+mn-ea"/>
                </a:rPr>
                <a:t>6</a:t>
              </a:r>
              <a:endParaRPr lang="en-US" altLang="zh-CN" sz="2000" b="1">
                <a:solidFill>
                  <a:srgbClr val="050507"/>
                </a:solidFill>
                <a:latin typeface="+mn-ea"/>
              </a:endParaRPr>
            </a:p>
          </p:txBody>
        </p:sp>
        <p:sp useBgFill="1">
          <p:nvSpPr>
            <p:cNvPr id="36" name="Rectangle 31"/>
            <p:cNvSpPr>
              <a:spLocks noChangeArrowheads="1"/>
            </p:cNvSpPr>
            <p:nvPr/>
          </p:nvSpPr>
          <p:spPr bwMode="auto">
            <a:xfrm>
              <a:off x="2761" y="2508"/>
              <a:ext cx="418" cy="216"/>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a$</a:t>
              </a:r>
              <a:endParaRPr lang="en-US" altLang="zh-CN" sz="2000" b="1" dirty="0">
                <a:solidFill>
                  <a:srgbClr val="050507"/>
                </a:solidFill>
                <a:latin typeface="+mn-ea"/>
              </a:endParaRPr>
            </a:p>
          </p:txBody>
        </p:sp>
      </p:grpSp>
      <p:sp useBgFill="1">
        <p:nvSpPr>
          <p:cNvPr id="37" name="Rectangle 32"/>
          <p:cNvSpPr>
            <a:spLocks noChangeArrowheads="1"/>
          </p:cNvSpPr>
          <p:nvPr/>
        </p:nvSpPr>
        <p:spPr bwMode="auto">
          <a:xfrm>
            <a:off x="7214159" y="4137667"/>
            <a:ext cx="1436687" cy="280987"/>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000" b="1">
                <a:solidFill>
                  <a:srgbClr val="050507"/>
                </a:solidFill>
                <a:latin typeface="+mn-ea"/>
              </a:rPr>
              <a:t>S </a:t>
            </a:r>
            <a:r>
              <a:rPr lang="en-US" altLang="zh-CN" sz="2000" b="1">
                <a:solidFill>
                  <a:srgbClr val="050507"/>
                </a:solidFill>
                <a:latin typeface="+mn-ea"/>
                <a:sym typeface="Symbol" panose="05050102010706020507" pitchFamily="18" charset="2"/>
              </a:rPr>
              <a:t> a</a:t>
            </a:r>
            <a:endParaRPr lang="en-US" altLang="zh-CN" sz="2000" b="1">
              <a:solidFill>
                <a:srgbClr val="050507"/>
              </a:solidFill>
              <a:latin typeface="+mn-ea"/>
              <a:sym typeface="Symbol" panose="05050102010706020507" pitchFamily="18" charset="2"/>
            </a:endParaRPr>
          </a:p>
        </p:txBody>
      </p:sp>
      <p:sp>
        <p:nvSpPr>
          <p:cNvPr id="38" name="Line 34"/>
          <p:cNvSpPr>
            <a:spLocks noChangeShapeType="1"/>
          </p:cNvSpPr>
          <p:nvPr/>
        </p:nvSpPr>
        <p:spPr bwMode="auto">
          <a:xfrm>
            <a:off x="2084153" y="5055242"/>
            <a:ext cx="80041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sz="2000">
              <a:latin typeface="+mn-ea"/>
            </a:endParaRPr>
          </a:p>
        </p:txBody>
      </p:sp>
      <p:grpSp>
        <p:nvGrpSpPr>
          <p:cNvPr id="39" name="Group 67"/>
          <p:cNvGrpSpPr/>
          <p:nvPr/>
        </p:nvGrpSpPr>
        <p:grpSpPr bwMode="auto">
          <a:xfrm>
            <a:off x="2084153" y="4555974"/>
            <a:ext cx="4010025" cy="384175"/>
            <a:chOff x="582" y="2761"/>
            <a:chExt cx="2526" cy="242"/>
          </a:xfrm>
        </p:grpSpPr>
        <p:sp useBgFill="1">
          <p:nvSpPr>
            <p:cNvPr id="40" name="Rectangle 35"/>
            <p:cNvSpPr>
              <a:spLocks noChangeArrowheads="1"/>
            </p:cNvSpPr>
            <p:nvPr/>
          </p:nvSpPr>
          <p:spPr bwMode="auto">
            <a:xfrm>
              <a:off x="1396" y="2761"/>
              <a:ext cx="469" cy="2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a:solidFill>
                    <a:srgbClr val="050507"/>
                  </a:solidFill>
                  <a:latin typeface="+mn-ea"/>
                </a:rPr>
                <a:t>$</a:t>
              </a:r>
              <a:r>
                <a:rPr lang="en-US" altLang="zh-CN" sz="2000" b="1">
                  <a:solidFill>
                    <a:srgbClr val="050507"/>
                  </a:solidFill>
                  <a:latin typeface="+mn-ea"/>
                </a:rPr>
                <a:t>a</a:t>
              </a:r>
              <a:endParaRPr lang="en-US" altLang="zh-CN" sz="2000" b="1">
                <a:solidFill>
                  <a:srgbClr val="050507"/>
                </a:solidFill>
                <a:latin typeface="+mn-ea"/>
              </a:endParaRPr>
            </a:p>
          </p:txBody>
        </p:sp>
        <p:sp useBgFill="1">
          <p:nvSpPr>
            <p:cNvPr id="41" name="Rectangle 36"/>
            <p:cNvSpPr>
              <a:spLocks noChangeArrowheads="1"/>
            </p:cNvSpPr>
            <p:nvPr/>
          </p:nvSpPr>
          <p:spPr bwMode="auto">
            <a:xfrm>
              <a:off x="582" y="2763"/>
              <a:ext cx="263" cy="2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50507"/>
                  </a:solidFill>
                  <a:latin typeface="+mn-ea"/>
                </a:rPr>
                <a:t>7</a:t>
              </a:r>
              <a:endParaRPr lang="en-US" altLang="zh-CN" sz="2000" b="1">
                <a:solidFill>
                  <a:srgbClr val="050507"/>
                </a:solidFill>
                <a:latin typeface="+mn-ea"/>
              </a:endParaRPr>
            </a:p>
          </p:txBody>
        </p:sp>
        <p:sp useBgFill="1">
          <p:nvSpPr>
            <p:cNvPr id="42" name="Rectangle 37"/>
            <p:cNvSpPr>
              <a:spLocks noChangeArrowheads="1"/>
            </p:cNvSpPr>
            <p:nvPr/>
          </p:nvSpPr>
          <p:spPr bwMode="auto">
            <a:xfrm>
              <a:off x="2827" y="2766"/>
              <a:ext cx="281" cy="234"/>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50507"/>
                  </a:solidFill>
                  <a:latin typeface="+mn-ea"/>
                </a:rPr>
                <a:t>a$</a:t>
              </a:r>
              <a:endParaRPr lang="en-US" altLang="zh-CN" sz="2000" b="1">
                <a:solidFill>
                  <a:srgbClr val="050507"/>
                </a:solidFill>
                <a:latin typeface="+mn-ea"/>
              </a:endParaRPr>
            </a:p>
          </p:txBody>
        </p:sp>
      </p:grpSp>
      <p:sp useBgFill="1">
        <p:nvSpPr>
          <p:cNvPr id="43" name="Rectangle 38"/>
          <p:cNvSpPr>
            <a:spLocks noChangeArrowheads="1"/>
          </p:cNvSpPr>
          <p:nvPr/>
        </p:nvSpPr>
        <p:spPr bwMode="auto">
          <a:xfrm>
            <a:off x="7214159" y="4569467"/>
            <a:ext cx="1163637" cy="223837"/>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000" b="1">
                <a:solidFill>
                  <a:srgbClr val="050507"/>
                </a:solidFill>
                <a:latin typeface="+mn-ea"/>
              </a:rPr>
              <a:t>匹配</a:t>
            </a:r>
            <a:endParaRPr lang="zh-CN" altLang="en-US" sz="2000" b="1">
              <a:solidFill>
                <a:srgbClr val="050507"/>
              </a:solidFill>
              <a:latin typeface="+mn-ea"/>
            </a:endParaRPr>
          </a:p>
        </p:txBody>
      </p:sp>
      <p:grpSp>
        <p:nvGrpSpPr>
          <p:cNvPr id="44" name="Group 65"/>
          <p:cNvGrpSpPr/>
          <p:nvPr/>
        </p:nvGrpSpPr>
        <p:grpSpPr bwMode="auto">
          <a:xfrm>
            <a:off x="2084153" y="3728890"/>
            <a:ext cx="4156075" cy="449263"/>
            <a:chOff x="567" y="2240"/>
            <a:chExt cx="2618" cy="283"/>
          </a:xfrm>
        </p:grpSpPr>
        <p:sp useBgFill="1">
          <p:nvSpPr>
            <p:cNvPr id="45" name="Rectangle 45"/>
            <p:cNvSpPr>
              <a:spLocks noChangeArrowheads="1"/>
            </p:cNvSpPr>
            <p:nvPr/>
          </p:nvSpPr>
          <p:spPr bwMode="auto">
            <a:xfrm>
              <a:off x="1379" y="2245"/>
              <a:ext cx="478" cy="278"/>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a:solidFill>
                    <a:srgbClr val="050507"/>
                  </a:solidFill>
                  <a:latin typeface="+mn-ea"/>
                </a:rPr>
                <a:t>$</a:t>
              </a:r>
              <a:r>
                <a:rPr lang="en-US" altLang="zh-CN" sz="2000" b="1">
                  <a:solidFill>
                    <a:srgbClr val="050507"/>
                  </a:solidFill>
                  <a:latin typeface="+mn-ea"/>
                </a:rPr>
                <a:t>S)</a:t>
              </a:r>
              <a:endParaRPr lang="en-US" altLang="zh-CN" sz="2000" b="1">
                <a:solidFill>
                  <a:srgbClr val="050507"/>
                </a:solidFill>
                <a:latin typeface="+mn-ea"/>
              </a:endParaRPr>
            </a:p>
          </p:txBody>
        </p:sp>
        <p:sp useBgFill="1">
          <p:nvSpPr>
            <p:cNvPr id="46" name="Rectangle 46"/>
            <p:cNvSpPr>
              <a:spLocks noChangeArrowheads="1"/>
            </p:cNvSpPr>
            <p:nvPr/>
          </p:nvSpPr>
          <p:spPr bwMode="auto">
            <a:xfrm>
              <a:off x="567" y="2240"/>
              <a:ext cx="268" cy="278"/>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50507"/>
                  </a:solidFill>
                  <a:latin typeface="+mn-ea"/>
                </a:rPr>
                <a:t>5</a:t>
              </a:r>
              <a:endParaRPr lang="en-US" altLang="zh-CN" sz="2000" b="1">
                <a:solidFill>
                  <a:srgbClr val="050507"/>
                </a:solidFill>
                <a:latin typeface="+mn-ea"/>
              </a:endParaRPr>
            </a:p>
          </p:txBody>
        </p:sp>
        <p:sp useBgFill="1">
          <p:nvSpPr>
            <p:cNvPr id="47" name="Rectangle 47"/>
            <p:cNvSpPr>
              <a:spLocks noChangeArrowheads="1"/>
            </p:cNvSpPr>
            <p:nvPr/>
          </p:nvSpPr>
          <p:spPr bwMode="auto">
            <a:xfrm>
              <a:off x="2757" y="2240"/>
              <a:ext cx="428" cy="27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)a</a:t>
              </a:r>
              <a:r>
                <a:rPr lang="zh-CN" altLang="en-US" sz="2000" b="1" dirty="0">
                  <a:solidFill>
                    <a:srgbClr val="050507"/>
                  </a:solidFill>
                  <a:latin typeface="+mn-ea"/>
                </a:rPr>
                <a:t>$</a:t>
              </a:r>
              <a:endParaRPr lang="en-US" altLang="zh-CN" sz="2000" b="1" dirty="0">
                <a:solidFill>
                  <a:srgbClr val="050507"/>
                </a:solidFill>
                <a:latin typeface="+mn-ea"/>
              </a:endParaRPr>
            </a:p>
          </p:txBody>
        </p:sp>
      </p:grpSp>
      <p:sp useBgFill="1">
        <p:nvSpPr>
          <p:cNvPr id="48" name="Rectangle 48"/>
          <p:cNvSpPr>
            <a:spLocks noChangeArrowheads="1"/>
          </p:cNvSpPr>
          <p:nvPr/>
        </p:nvSpPr>
        <p:spPr bwMode="auto">
          <a:xfrm>
            <a:off x="7214159" y="3704279"/>
            <a:ext cx="1182687" cy="258763"/>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000" b="1">
                <a:solidFill>
                  <a:srgbClr val="050507"/>
                </a:solidFill>
                <a:latin typeface="+mn-ea"/>
              </a:rPr>
              <a:t>匹配</a:t>
            </a:r>
            <a:endParaRPr lang="zh-CN" altLang="en-US" sz="2000" b="1">
              <a:solidFill>
                <a:srgbClr val="050507"/>
              </a:solidFill>
              <a:latin typeface="+mn-ea"/>
            </a:endParaRPr>
          </a:p>
        </p:txBody>
      </p:sp>
      <p:grpSp>
        <p:nvGrpSpPr>
          <p:cNvPr id="49" name="Group 68"/>
          <p:cNvGrpSpPr/>
          <p:nvPr/>
        </p:nvGrpSpPr>
        <p:grpSpPr bwMode="auto">
          <a:xfrm>
            <a:off x="2084153" y="4938568"/>
            <a:ext cx="4090988" cy="392113"/>
            <a:chOff x="612" y="3002"/>
            <a:chExt cx="2577" cy="247"/>
          </a:xfrm>
        </p:grpSpPr>
        <p:sp useBgFill="1">
          <p:nvSpPr>
            <p:cNvPr id="50" name="Rectangle 49"/>
            <p:cNvSpPr>
              <a:spLocks noChangeArrowheads="1"/>
            </p:cNvSpPr>
            <p:nvPr/>
          </p:nvSpPr>
          <p:spPr bwMode="auto">
            <a:xfrm>
              <a:off x="1396" y="3003"/>
              <a:ext cx="469" cy="2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dirty="0">
                  <a:solidFill>
                    <a:srgbClr val="050507"/>
                  </a:solidFill>
                  <a:latin typeface="+mn-ea"/>
                </a:rPr>
                <a:t>$</a:t>
              </a:r>
              <a:endParaRPr lang="zh-CN" altLang="en-US" sz="2000" b="1" dirty="0">
                <a:solidFill>
                  <a:srgbClr val="050507"/>
                </a:solidFill>
                <a:latin typeface="+mn-ea"/>
              </a:endParaRPr>
            </a:p>
          </p:txBody>
        </p:sp>
        <p:sp useBgFill="1">
          <p:nvSpPr>
            <p:cNvPr id="51" name="Rectangle 50"/>
            <p:cNvSpPr>
              <a:spLocks noChangeArrowheads="1"/>
            </p:cNvSpPr>
            <p:nvPr/>
          </p:nvSpPr>
          <p:spPr bwMode="auto">
            <a:xfrm>
              <a:off x="612" y="3009"/>
              <a:ext cx="263" cy="2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50507"/>
                  </a:solidFill>
                  <a:latin typeface="+mn-ea"/>
                </a:rPr>
                <a:t>8</a:t>
              </a:r>
              <a:endParaRPr lang="en-US" altLang="zh-CN" sz="2000" b="1">
                <a:solidFill>
                  <a:srgbClr val="050507"/>
                </a:solidFill>
                <a:latin typeface="+mn-ea"/>
              </a:endParaRPr>
            </a:p>
          </p:txBody>
        </p:sp>
        <p:sp useBgFill="1">
          <p:nvSpPr>
            <p:cNvPr id="52" name="Rectangle 51"/>
            <p:cNvSpPr>
              <a:spLocks noChangeArrowheads="1"/>
            </p:cNvSpPr>
            <p:nvPr/>
          </p:nvSpPr>
          <p:spPr bwMode="auto">
            <a:xfrm>
              <a:off x="2908" y="3002"/>
              <a:ext cx="281" cy="234"/>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50507"/>
                  </a:solidFill>
                  <a:latin typeface="+mn-ea"/>
                </a:rPr>
                <a:t>$</a:t>
              </a:r>
              <a:endParaRPr lang="en-US" altLang="zh-CN" sz="2000" b="1">
                <a:solidFill>
                  <a:srgbClr val="050507"/>
                </a:solidFill>
                <a:latin typeface="+mn-ea"/>
              </a:endParaRPr>
            </a:p>
          </p:txBody>
        </p:sp>
      </p:grpSp>
      <p:sp useBgFill="1">
        <p:nvSpPr>
          <p:cNvPr id="53" name="Rectangle 52"/>
          <p:cNvSpPr>
            <a:spLocks noChangeArrowheads="1"/>
          </p:cNvSpPr>
          <p:nvPr/>
        </p:nvSpPr>
        <p:spPr bwMode="auto">
          <a:xfrm>
            <a:off x="7214159" y="4959992"/>
            <a:ext cx="1163637" cy="223837"/>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000" b="1">
                <a:solidFill>
                  <a:srgbClr val="050507"/>
                </a:solidFill>
                <a:latin typeface="+mn-ea"/>
              </a:rPr>
              <a:t>接受</a:t>
            </a:r>
            <a:endParaRPr lang="zh-CN" altLang="en-US" sz="2000" b="1">
              <a:solidFill>
                <a:srgbClr val="050507"/>
              </a:solidFill>
              <a:latin typeface="+mn-ea"/>
            </a:endParaRPr>
          </a:p>
        </p:txBody>
      </p:sp>
      <p:sp>
        <p:nvSpPr>
          <p:cNvPr id="54" name="Rectangle 57"/>
          <p:cNvSpPr>
            <a:spLocks noChangeArrowheads="1"/>
          </p:cNvSpPr>
          <p:nvPr/>
        </p:nvSpPr>
        <p:spPr bwMode="auto">
          <a:xfrm>
            <a:off x="8229455" y="2181553"/>
            <a:ext cx="436880" cy="321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469900" indent="-469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Clr>
                <a:schemeClr val="accent2"/>
              </a:buClr>
              <a:buFont typeface="Wingdings" panose="05000000000000000000" pitchFamily="2" charset="2"/>
              <a:buNone/>
            </a:pPr>
            <a:r>
              <a:rPr lang="zh-CN" altLang="en-US" sz="2000" dirty="0">
                <a:latin typeface="+mn-ea"/>
                <a:ea typeface="+mn-ea"/>
              </a:rPr>
              <a:t>？</a:t>
            </a:r>
            <a:endParaRPr lang="zh-CN" altLang="en-US" sz="2000" dirty="0">
              <a:latin typeface="+mn-ea"/>
              <a:ea typeface="+mn-ea"/>
            </a:endParaRPr>
          </a:p>
        </p:txBody>
      </p:sp>
      <p:sp>
        <p:nvSpPr>
          <p:cNvPr id="8" name="Rectangle 56"/>
          <p:cNvSpPr>
            <a:spLocks noChangeArrowheads="1"/>
          </p:cNvSpPr>
          <p:nvPr/>
        </p:nvSpPr>
        <p:spPr bwMode="auto">
          <a:xfrm>
            <a:off x="7169336" y="1327824"/>
            <a:ext cx="3185273" cy="321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marL="469900" indent="-469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75000"/>
              </a:lnSpc>
              <a:spcBef>
                <a:spcPct val="20000"/>
              </a:spcBef>
              <a:buClr>
                <a:schemeClr val="accent2"/>
              </a:buClr>
              <a:buFont typeface="Wingdings" panose="05000000000000000000" pitchFamily="2" charset="2"/>
              <a:buNone/>
            </a:pPr>
            <a:r>
              <a:rPr lang="en-US" altLang="zh-CN" sz="2000" dirty="0">
                <a:solidFill>
                  <a:srgbClr val="050507"/>
                </a:solidFill>
                <a:ea typeface="+mn-ea"/>
                <a:cs typeface="Times New Roman" panose="02020603050405020304" pitchFamily="18" charset="0"/>
                <a:sym typeface="Symbol" panose="05050102010706020507" pitchFamily="18" charset="2"/>
              </a:rPr>
              <a:t>S</a:t>
            </a:r>
            <a:r>
              <a:rPr lang="en-US" altLang="zh-CN" sz="2000" dirty="0">
                <a:solidFill>
                  <a:srgbClr val="070709"/>
                </a:solidFill>
                <a:ea typeface="+mn-ea"/>
                <a:cs typeface="Times New Roman" panose="02020603050405020304" pitchFamily="18" charset="0"/>
                <a:sym typeface="Symbol" panose="05050102010706020507" pitchFamily="18" charset="2"/>
              </a:rPr>
              <a:t></a:t>
            </a:r>
            <a:r>
              <a:rPr lang="en-US" altLang="zh-CN" sz="2000" dirty="0">
                <a:solidFill>
                  <a:schemeClr val="tx1"/>
                </a:solidFill>
                <a:ea typeface="+mn-ea"/>
                <a:cs typeface="Times New Roman" panose="02020603050405020304" pitchFamily="18" charset="0"/>
                <a:sym typeface="Symbol" panose="05050102010706020507" pitchFamily="18" charset="2"/>
              </a:rPr>
              <a:t>(S)S  (a)S (a)a</a:t>
            </a:r>
            <a:endParaRPr lang="en-US" altLang="zh-CN" sz="2000" dirty="0">
              <a:solidFill>
                <a:schemeClr val="tx1"/>
              </a:solidFill>
              <a:ea typeface="+mn-ea"/>
              <a:cs typeface="Times New Roman" panose="02020603050405020304" pitchFamily="18" charset="0"/>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in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in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arn(inHorizontal)">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6" presetClass="entr" presetSubtype="26"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barn(inHorizontal)">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6"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barn(inHorizontal)">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6" fill="hold"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barn(inHorizontal)">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6"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barn(inHorizontal)">
                                      <p:cBhvr>
                                        <p:cTn id="51" dur="500"/>
                                        <p:tgtEl>
                                          <p:spTgt spid="32"/>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6" fill="hold" nodeType="click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barn(inHorizontal)">
                                      <p:cBhvr>
                                        <p:cTn id="56" dur="500"/>
                                        <p:tgtEl>
                                          <p:spTgt spid="44"/>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6" fill="hold" grpId="0" nodeType="click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barn(inHorizontal)">
                                      <p:cBhvr>
                                        <p:cTn id="61" dur="500"/>
                                        <p:tgtEl>
                                          <p:spTgt spid="48"/>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6" fill="hold" nodeType="click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barn(inHorizontal)">
                                      <p:cBhvr>
                                        <p:cTn id="66" dur="500"/>
                                        <p:tgtEl>
                                          <p:spTgt spid="33"/>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6" fill="hold" grpId="0" nodeType="click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barn(inHorizontal)">
                                      <p:cBhvr>
                                        <p:cTn id="71" dur="5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6" fill="hold" nodeType="click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barn(inHorizontal)">
                                      <p:cBhvr>
                                        <p:cTn id="76" dur="500"/>
                                        <p:tgtEl>
                                          <p:spTgt spid="39"/>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6" fill="hold" grpId="0" nodeType="click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barn(inHorizontal)">
                                      <p:cBhvr>
                                        <p:cTn id="81" dur="500"/>
                                        <p:tgtEl>
                                          <p:spTgt spid="43"/>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6" fill="hold" nodeType="clickEffect">
                                  <p:stCondLst>
                                    <p:cond delay="0"/>
                                  </p:stCondLst>
                                  <p:childTnLst>
                                    <p:set>
                                      <p:cBhvr>
                                        <p:cTn id="85" dur="1" fill="hold">
                                          <p:stCondLst>
                                            <p:cond delay="0"/>
                                          </p:stCondLst>
                                        </p:cTn>
                                        <p:tgtEl>
                                          <p:spTgt spid="49"/>
                                        </p:tgtEl>
                                        <p:attrNameLst>
                                          <p:attrName>style.visibility</p:attrName>
                                        </p:attrNameLst>
                                      </p:cBhvr>
                                      <p:to>
                                        <p:strVal val="visible"/>
                                      </p:to>
                                    </p:set>
                                    <p:animEffect transition="in" filter="barn(inHorizontal)">
                                      <p:cBhvr>
                                        <p:cTn id="86" dur="500"/>
                                        <p:tgtEl>
                                          <p:spTgt spid="49"/>
                                        </p:tgtEl>
                                      </p:cBhvr>
                                    </p:animEffect>
                                  </p:childTnLst>
                                </p:cTn>
                              </p:par>
                            </p:childTnLst>
                          </p:cTn>
                        </p:par>
                      </p:childTnLst>
                    </p:cTn>
                  </p:par>
                  <p:par>
                    <p:cTn id="87" fill="hold">
                      <p:stCondLst>
                        <p:cond delay="indefinite"/>
                      </p:stCondLst>
                      <p:childTnLst>
                        <p:par>
                          <p:cTn id="88" fill="hold">
                            <p:stCondLst>
                              <p:cond delay="0"/>
                            </p:stCondLst>
                            <p:childTnLst>
                              <p:par>
                                <p:cTn id="89" presetID="16" presetClass="entr" presetSubtype="26" fill="hold" grpId="0" nodeType="clickEffect">
                                  <p:stCondLst>
                                    <p:cond delay="0"/>
                                  </p:stCondLst>
                                  <p:childTnLst>
                                    <p:set>
                                      <p:cBhvr>
                                        <p:cTn id="90" dur="1" fill="hold">
                                          <p:stCondLst>
                                            <p:cond delay="0"/>
                                          </p:stCondLst>
                                        </p:cTn>
                                        <p:tgtEl>
                                          <p:spTgt spid="53"/>
                                        </p:tgtEl>
                                        <p:attrNameLst>
                                          <p:attrName>style.visibility</p:attrName>
                                        </p:attrNameLst>
                                      </p:cBhvr>
                                      <p:to>
                                        <p:strVal val="visible"/>
                                      </p:to>
                                    </p:set>
                                    <p:animEffect transition="in" filter="barn(inHorizontal)">
                                      <p:cBhvr>
                                        <p:cTn id="91"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bldP spid="22" grpId="0" animBg="1"/>
      <p:bldP spid="27" grpId="0" animBg="1"/>
      <p:bldP spid="32" grpId="0" animBg="1"/>
      <p:bldP spid="37" grpId="0" animBg="1"/>
      <p:bldP spid="43" grpId="0" animBg="1"/>
      <p:bldP spid="48" grpId="0" animBg="1"/>
      <p:bldP spid="53" grpId="0" animBg="1"/>
      <p:bldP spid="5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608965" y="276860"/>
            <a:ext cx="7602855"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7" name="文本占位符 2"/>
          <p:cNvSpPr txBox="1"/>
          <p:nvPr/>
        </p:nvSpPr>
        <p:spPr>
          <a:xfrm>
            <a:off x="448945" y="1209040"/>
            <a:ext cx="11348720" cy="44399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defTabSz="914400" rtl="0" eaLnBrk="1" latinLnBrk="0" hangingPunct="1">
              <a:lnSpc>
                <a:spcPct val="90000"/>
              </a:lnSpc>
              <a:spcBef>
                <a:spcPts val="500"/>
              </a:spcBef>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spcBef>
                <a:spcPct val="50000"/>
              </a:spcBef>
              <a:buClrTx/>
              <a:buSzPct val="90000"/>
              <a:buNone/>
            </a:pPr>
            <a:r>
              <a:rPr lang="en-US" altLang="zh-CN" dirty="0">
                <a:solidFill>
                  <a:srgbClr val="050507"/>
                </a:solidFill>
                <a:latin typeface="+mn-ea"/>
                <a:ea typeface="+mn-ea"/>
              </a:rPr>
              <a:t>LL (1)</a:t>
            </a:r>
            <a:r>
              <a:rPr lang="zh-CN" altLang="en-US" dirty="0">
                <a:solidFill>
                  <a:srgbClr val="050507"/>
                </a:solidFill>
                <a:latin typeface="+mn-ea"/>
                <a:ea typeface="+mn-ea"/>
              </a:rPr>
              <a:t>分析方法如下：</a:t>
            </a:r>
            <a:endParaRPr lang="zh-CN" altLang="en-US" dirty="0">
              <a:solidFill>
                <a:srgbClr val="050507"/>
              </a:solidFill>
              <a:latin typeface="+mn-ea"/>
              <a:ea typeface="+mn-ea"/>
            </a:endParaRPr>
          </a:p>
          <a:p>
            <a:pPr marL="609600" indent="-609600">
              <a:lnSpc>
                <a:spcPct val="150000"/>
              </a:lnSpc>
              <a:spcBef>
                <a:spcPct val="0"/>
              </a:spcBef>
              <a:buClrTx/>
              <a:buFontTx/>
              <a:buAutoNum type="arabicPeriod"/>
            </a:pPr>
            <a:r>
              <a:rPr lang="zh-CN" altLang="en-US" dirty="0">
                <a:solidFill>
                  <a:srgbClr val="050507"/>
                </a:solidFill>
                <a:latin typeface="+mn-ea"/>
                <a:ea typeface="+mn-ea"/>
              </a:rPr>
              <a:t>通过栈来“记忆”针对当前句型中的哪一个非终结符进行推导，首先将文法的开始符号</a:t>
            </a:r>
            <a:r>
              <a:rPr lang="en-US" altLang="zh-CN" dirty="0">
                <a:solidFill>
                  <a:srgbClr val="050507"/>
                </a:solidFill>
                <a:latin typeface="+mn-ea"/>
                <a:ea typeface="+mn-ea"/>
              </a:rPr>
              <a:t>S</a:t>
            </a:r>
            <a:r>
              <a:rPr lang="zh-CN" altLang="en-US" dirty="0">
                <a:solidFill>
                  <a:srgbClr val="050507"/>
                </a:solidFill>
                <a:latin typeface="+mn-ea"/>
                <a:ea typeface="+mn-ea"/>
              </a:rPr>
              <a:t>入栈；</a:t>
            </a:r>
            <a:endParaRPr lang="zh-CN" altLang="en-US" dirty="0">
              <a:solidFill>
                <a:srgbClr val="050507"/>
              </a:solidFill>
              <a:latin typeface="+mn-ea"/>
              <a:ea typeface="+mn-ea"/>
            </a:endParaRPr>
          </a:p>
          <a:p>
            <a:pPr marL="990600" lvl="1" indent="-519430">
              <a:lnSpc>
                <a:spcPct val="150000"/>
              </a:lnSpc>
              <a:spcBef>
                <a:spcPct val="0"/>
              </a:spcBef>
              <a:buClrTx/>
              <a:buFont typeface="+mj-ea"/>
              <a:buAutoNum type="circleNumDbPlain"/>
            </a:pPr>
            <a:r>
              <a:rPr lang="zh-CN" altLang="en-US" dirty="0">
                <a:solidFill>
                  <a:srgbClr val="050507"/>
                </a:solidFill>
                <a:latin typeface="+mn-ea"/>
                <a:ea typeface="+mn-ea"/>
              </a:rPr>
              <a:t>如果栈顶部是非终结符</a:t>
            </a:r>
            <a:r>
              <a:rPr lang="en-US" altLang="zh-CN" dirty="0">
                <a:solidFill>
                  <a:srgbClr val="050507"/>
                </a:solidFill>
                <a:latin typeface="+mn-ea"/>
                <a:ea typeface="+mn-ea"/>
              </a:rPr>
              <a:t>A</a:t>
            </a:r>
            <a:r>
              <a:rPr dirty="0">
                <a:solidFill>
                  <a:srgbClr val="050507"/>
                </a:solidFill>
                <a:latin typeface="+mn-ea"/>
                <a:ea typeface="+mn-ea"/>
              </a:rPr>
              <a:t>，</a:t>
            </a:r>
            <a:r>
              <a:rPr lang="zh-CN" altLang="en-US" dirty="0">
                <a:solidFill>
                  <a:srgbClr val="050507"/>
                </a:solidFill>
                <a:latin typeface="+mn-ea"/>
                <a:ea typeface="+mn-ea"/>
              </a:rPr>
              <a:t>则</a:t>
            </a:r>
            <a:r>
              <a:rPr lang="zh-CN" altLang="en-US" dirty="0">
                <a:solidFill>
                  <a:schemeClr val="hlink"/>
                </a:solidFill>
                <a:latin typeface="+mn-ea"/>
                <a:ea typeface="+mn-ea"/>
              </a:rPr>
              <a:t>将</a:t>
            </a:r>
            <a:r>
              <a:rPr lang="en-US" altLang="zh-CN" dirty="0">
                <a:solidFill>
                  <a:schemeClr val="hlink"/>
                </a:solidFill>
                <a:latin typeface="+mn-ea"/>
                <a:ea typeface="+mn-ea"/>
              </a:rPr>
              <a:t>A</a:t>
            </a:r>
            <a:r>
              <a:rPr dirty="0">
                <a:solidFill>
                  <a:schemeClr val="hlink"/>
                </a:solidFill>
                <a:latin typeface="+mn-ea"/>
                <a:ea typeface="+mn-ea"/>
              </a:rPr>
              <a:t>对应的</a:t>
            </a:r>
            <a:r>
              <a:rPr lang="zh-CN" altLang="en-US" dirty="0">
                <a:solidFill>
                  <a:schemeClr val="hlink"/>
                </a:solidFill>
                <a:latin typeface="+mn-ea"/>
                <a:ea typeface="+mn-ea"/>
              </a:rPr>
              <a:t>某个文法规则</a:t>
            </a:r>
            <a:r>
              <a:rPr lang="en-US" altLang="zh-CN" dirty="0">
                <a:solidFill>
                  <a:schemeClr val="hlink"/>
                </a:solidFill>
                <a:latin typeface="+mn-ea"/>
                <a:ea typeface="+mn-ea"/>
              </a:rPr>
              <a:t>A</a:t>
            </a:r>
            <a:r>
              <a:rPr lang="en-US" altLang="zh-CN" dirty="0">
                <a:solidFill>
                  <a:schemeClr val="hlink"/>
                </a:solidFill>
                <a:latin typeface="+mn-ea"/>
                <a:ea typeface="+mn-ea"/>
                <a:sym typeface="Symbol" panose="05050102010706020507" pitchFamily="18" charset="2"/>
              </a:rPr>
              <a:t>α</a:t>
            </a:r>
            <a:r>
              <a:rPr lang="zh-CN" altLang="en-US" dirty="0">
                <a:solidFill>
                  <a:srgbClr val="050507"/>
                </a:solidFill>
                <a:latin typeface="+mn-ea"/>
                <a:ea typeface="+mn-ea"/>
                <a:sym typeface="Symbol" panose="05050102010706020507" pitchFamily="18" charset="2"/>
              </a:rPr>
              <a:t>将栈顶部的非终结符</a:t>
            </a:r>
            <a:r>
              <a:rPr lang="en-US" altLang="zh-CN" dirty="0">
                <a:solidFill>
                  <a:srgbClr val="050507"/>
                </a:solidFill>
                <a:latin typeface="+mn-ea"/>
                <a:ea typeface="+mn-ea"/>
                <a:sym typeface="Symbol" panose="05050102010706020507" pitchFamily="18" charset="2"/>
              </a:rPr>
              <a:t>A(</a:t>
            </a:r>
            <a:r>
              <a:rPr lang="zh-CN" altLang="en-US" dirty="0">
                <a:solidFill>
                  <a:srgbClr val="FF0000"/>
                </a:solidFill>
                <a:latin typeface="+mn-ea"/>
                <a:ea typeface="+mn-ea"/>
                <a:sym typeface="Symbol" panose="05050102010706020507" pitchFamily="18" charset="2"/>
              </a:rPr>
              <a:t>出栈</a:t>
            </a:r>
            <a:r>
              <a:rPr lang="zh-CN" altLang="en-US" dirty="0">
                <a:solidFill>
                  <a:srgbClr val="050507"/>
                </a:solidFill>
                <a:latin typeface="+mn-ea"/>
                <a:ea typeface="+mn-ea"/>
                <a:sym typeface="Symbol" panose="05050102010706020507" pitchFamily="18" charset="2"/>
              </a:rPr>
              <a:t>)</a:t>
            </a:r>
            <a:r>
              <a:rPr lang="zh-CN" altLang="en-US" dirty="0">
                <a:solidFill>
                  <a:srgbClr val="E10B34"/>
                </a:solidFill>
                <a:latin typeface="+mn-ea"/>
                <a:ea typeface="+mn-ea"/>
                <a:sym typeface="Symbol" panose="05050102010706020507" pitchFamily="18" charset="2"/>
              </a:rPr>
              <a:t>替换</a:t>
            </a:r>
            <a:r>
              <a:rPr lang="zh-CN" altLang="en-US" dirty="0">
                <a:solidFill>
                  <a:srgbClr val="050507"/>
                </a:solidFill>
                <a:latin typeface="+mn-ea"/>
                <a:ea typeface="+mn-ea"/>
                <a:sym typeface="Symbol" panose="05050102010706020507" pitchFamily="18" charset="2"/>
              </a:rPr>
              <a:t>成串</a:t>
            </a:r>
            <a:r>
              <a:rPr lang="en-US" altLang="zh-CN" dirty="0">
                <a:solidFill>
                  <a:srgbClr val="050507"/>
                </a:solidFill>
                <a:latin typeface="+mn-ea"/>
                <a:ea typeface="+mn-ea"/>
                <a:sym typeface="Symbol" panose="05050102010706020507" pitchFamily="18" charset="2"/>
              </a:rPr>
              <a:t>α(</a:t>
            </a:r>
            <a:r>
              <a:rPr lang="zh-CN" altLang="en-US" dirty="0">
                <a:solidFill>
                  <a:srgbClr val="050507"/>
                </a:solidFill>
                <a:latin typeface="+mn-ea"/>
                <a:ea typeface="+mn-ea"/>
                <a:sym typeface="Symbol" panose="05050102010706020507" pitchFamily="18" charset="2"/>
              </a:rPr>
              <a:t>将串</a:t>
            </a:r>
            <a:r>
              <a:rPr lang="en-US" altLang="zh-CN" dirty="0">
                <a:solidFill>
                  <a:srgbClr val="050507"/>
                </a:solidFill>
                <a:latin typeface="+mn-ea"/>
                <a:ea typeface="+mn-ea"/>
                <a:sym typeface="Symbol" panose="05050102010706020507" pitchFamily="18" charset="2"/>
              </a:rPr>
              <a:t>α</a:t>
            </a:r>
            <a:r>
              <a:rPr lang="zh-CN" altLang="en-US" dirty="0">
                <a:solidFill>
                  <a:srgbClr val="050507"/>
                </a:solidFill>
                <a:latin typeface="+mn-ea"/>
                <a:ea typeface="+mn-ea"/>
                <a:sym typeface="Symbol" panose="05050102010706020507" pitchFamily="18" charset="2"/>
              </a:rPr>
              <a:t>自左至右还是自右至左入栈？)。</a:t>
            </a:r>
            <a:endParaRPr lang="zh-CN" altLang="en-US" dirty="0">
              <a:solidFill>
                <a:srgbClr val="050507"/>
              </a:solidFill>
              <a:latin typeface="+mn-ea"/>
              <a:ea typeface="+mn-ea"/>
              <a:sym typeface="Symbol" panose="05050102010706020507" pitchFamily="18" charset="2"/>
            </a:endParaRPr>
          </a:p>
          <a:p>
            <a:pPr marL="1447800" lvl="2" indent="-519430">
              <a:lnSpc>
                <a:spcPct val="150000"/>
              </a:lnSpc>
              <a:spcBef>
                <a:spcPct val="0"/>
              </a:spcBef>
              <a:buClrTx/>
              <a:buFont typeface="Wingdings" panose="05000000000000000000" charset="0"/>
              <a:buChar char="p"/>
            </a:pPr>
            <a:r>
              <a:rPr>
                <a:solidFill>
                  <a:srgbClr val="050507"/>
                </a:solidFill>
                <a:sym typeface="+mn-ea"/>
              </a:rPr>
              <a:t>构造一个</a:t>
            </a:r>
            <a:r>
              <a:rPr>
                <a:solidFill>
                  <a:srgbClr val="F72F89"/>
                </a:solidFill>
                <a:sym typeface="+mn-ea"/>
              </a:rPr>
              <a:t>非终结符</a:t>
            </a:r>
            <a:r>
              <a:rPr lang="en-US" altLang="zh-CN">
                <a:solidFill>
                  <a:srgbClr val="F72F89"/>
                </a:solidFill>
                <a:sym typeface="+mn-ea"/>
              </a:rPr>
              <a:t>(</a:t>
            </a:r>
            <a:r>
              <a:rPr>
                <a:solidFill>
                  <a:srgbClr val="F72F89"/>
                </a:solidFill>
                <a:sym typeface="+mn-ea"/>
              </a:rPr>
              <a:t>集合</a:t>
            </a:r>
            <a:r>
              <a:rPr lang="en-US" altLang="zh-CN">
                <a:solidFill>
                  <a:srgbClr val="F72F89"/>
                </a:solidFill>
                <a:sym typeface="+mn-ea"/>
              </a:rPr>
              <a:t>N)</a:t>
            </a:r>
            <a:r>
              <a:rPr>
                <a:solidFill>
                  <a:srgbClr val="050507"/>
                </a:solidFill>
                <a:sym typeface="+mn-ea"/>
              </a:rPr>
              <a:t>和</a:t>
            </a:r>
            <a:r>
              <a:rPr>
                <a:solidFill>
                  <a:srgbClr val="F72F89"/>
                </a:solidFill>
                <a:sym typeface="+mn-ea"/>
              </a:rPr>
              <a:t>终结符</a:t>
            </a:r>
            <a:r>
              <a:rPr lang="en-US" altLang="zh-CN">
                <a:solidFill>
                  <a:srgbClr val="F72F89"/>
                </a:solidFill>
                <a:sym typeface="+mn-ea"/>
              </a:rPr>
              <a:t>(</a:t>
            </a:r>
            <a:r>
              <a:rPr>
                <a:solidFill>
                  <a:srgbClr val="F72F89"/>
                </a:solidFill>
                <a:sym typeface="+mn-ea"/>
              </a:rPr>
              <a:t>集合</a:t>
            </a:r>
            <a:r>
              <a:rPr lang="en-US" altLang="zh-CN">
                <a:solidFill>
                  <a:srgbClr val="F72F89"/>
                </a:solidFill>
                <a:sym typeface="+mn-ea"/>
              </a:rPr>
              <a:t>T)</a:t>
            </a:r>
            <a:r>
              <a:rPr>
                <a:solidFill>
                  <a:srgbClr val="F72F89"/>
                </a:solidFill>
                <a:sym typeface="+mn-ea"/>
              </a:rPr>
              <a:t>索引</a:t>
            </a:r>
            <a:r>
              <a:rPr>
                <a:solidFill>
                  <a:srgbClr val="050507"/>
                </a:solidFill>
                <a:sym typeface="+mn-ea"/>
              </a:rPr>
              <a:t>的二维表格</a:t>
            </a:r>
            <a:r>
              <a:rPr lang="en-US" altLang="zh-CN">
                <a:solidFill>
                  <a:srgbClr val="E10B34"/>
                </a:solidFill>
                <a:sym typeface="+mn-ea"/>
              </a:rPr>
              <a:t>M[N</a:t>
            </a:r>
            <a:r>
              <a:rPr>
                <a:solidFill>
                  <a:srgbClr val="E10B34"/>
                </a:solidFill>
                <a:sym typeface="+mn-ea"/>
              </a:rPr>
              <a:t>，</a:t>
            </a:r>
            <a:r>
              <a:rPr lang="en-US" altLang="zh-CN">
                <a:solidFill>
                  <a:srgbClr val="E10B34"/>
                </a:solidFill>
                <a:sym typeface="+mn-ea"/>
              </a:rPr>
              <a:t>T]</a:t>
            </a:r>
            <a:r>
              <a:rPr>
                <a:solidFill>
                  <a:srgbClr val="050507"/>
                </a:solidFill>
                <a:sym typeface="+mn-ea"/>
              </a:rPr>
              <a:t>，通过表格指出用哪一个产生式进行进行下一步推导。</a:t>
            </a:r>
            <a:endParaRPr lang="zh-CN" altLang="en-US" dirty="0">
              <a:solidFill>
                <a:srgbClr val="050507"/>
              </a:solidFill>
              <a:latin typeface="+mn-ea"/>
              <a:ea typeface="+mn-ea"/>
              <a:sym typeface="Symbol" panose="05050102010706020507" pitchFamily="18" charset="2"/>
            </a:endParaRPr>
          </a:p>
          <a:p>
            <a:pPr marL="990600" lvl="1" indent="-519430">
              <a:lnSpc>
                <a:spcPct val="150000"/>
              </a:lnSpc>
              <a:spcBef>
                <a:spcPct val="0"/>
              </a:spcBef>
              <a:buClrTx/>
              <a:buFont typeface="+mj-ea"/>
              <a:buAutoNum type="circleNumDbPlain"/>
            </a:pPr>
            <a:r>
              <a:rPr lang="zh-CN" altLang="en-US" dirty="0">
                <a:solidFill>
                  <a:srgbClr val="050507"/>
                </a:solidFill>
                <a:latin typeface="+mn-ea"/>
                <a:ea typeface="+mn-ea"/>
              </a:rPr>
              <a:t>如果栈顶部是终结符</a:t>
            </a:r>
            <a:r>
              <a:rPr lang="en-US" altLang="zh-CN" dirty="0">
                <a:solidFill>
                  <a:srgbClr val="050507"/>
                </a:solidFill>
                <a:latin typeface="+mn-ea"/>
                <a:ea typeface="+mn-ea"/>
              </a:rPr>
              <a:t>a,</a:t>
            </a:r>
            <a:r>
              <a:rPr lang="zh-CN" altLang="en-US" dirty="0">
                <a:solidFill>
                  <a:srgbClr val="050507"/>
                </a:solidFill>
                <a:latin typeface="+mn-ea"/>
                <a:ea typeface="+mn-ea"/>
              </a:rPr>
              <a:t>则查看</a:t>
            </a:r>
            <a:r>
              <a:rPr lang="en-US" altLang="zh-CN" dirty="0">
                <a:solidFill>
                  <a:srgbClr val="050507"/>
                </a:solidFill>
                <a:latin typeface="+mn-ea"/>
                <a:ea typeface="+mn-ea"/>
              </a:rPr>
              <a:t>a</a:t>
            </a:r>
            <a:r>
              <a:rPr lang="zh-CN" altLang="en-US" dirty="0">
                <a:solidFill>
                  <a:srgbClr val="050507"/>
                </a:solidFill>
                <a:latin typeface="+mn-ea"/>
                <a:ea typeface="+mn-ea"/>
              </a:rPr>
              <a:t>是否与当前输入单词</a:t>
            </a:r>
            <a:r>
              <a:rPr lang="zh-CN" altLang="en-US" dirty="0">
                <a:solidFill>
                  <a:srgbClr val="E10B34"/>
                </a:solidFill>
                <a:latin typeface="+mn-ea"/>
                <a:ea typeface="+mn-ea"/>
              </a:rPr>
              <a:t>匹配？(如匹配则出栈，不匹配报错</a:t>
            </a:r>
            <a:r>
              <a:rPr lang="en-US" altLang="zh-CN" dirty="0">
                <a:solidFill>
                  <a:srgbClr val="E10B34"/>
                </a:solidFill>
                <a:latin typeface="+mn-ea"/>
                <a:ea typeface="+mn-ea"/>
              </a:rPr>
              <a:t>)</a:t>
            </a:r>
            <a:r>
              <a:rPr lang="en-US" altLang="zh-CN" dirty="0">
                <a:solidFill>
                  <a:srgbClr val="050507"/>
                </a:solidFill>
                <a:latin typeface="+mn-ea"/>
                <a:ea typeface="+mn-ea"/>
              </a:rPr>
              <a:t>。</a:t>
            </a:r>
            <a:endParaRPr lang="zh-CN" altLang="en-US" dirty="0">
              <a:solidFill>
                <a:srgbClr val="050507"/>
              </a:solidFill>
              <a:latin typeface="+mn-ea"/>
              <a:ea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500"/>
                                        <p:tgtEl>
                                          <p:spTgt spid="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544195" y="276860"/>
            <a:ext cx="7667625"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5" name="Line 3"/>
          <p:cNvSpPr>
            <a:spLocks noChangeShapeType="1"/>
          </p:cNvSpPr>
          <p:nvPr/>
        </p:nvSpPr>
        <p:spPr bwMode="auto">
          <a:xfrm>
            <a:off x="1979613" y="2458291"/>
            <a:ext cx="7705725"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000" b="1">
              <a:latin typeface="+mn-ea"/>
            </a:endParaRPr>
          </a:p>
        </p:txBody>
      </p:sp>
      <p:sp>
        <p:nvSpPr>
          <p:cNvPr id="6" name="Line 4"/>
          <p:cNvSpPr>
            <a:spLocks noChangeShapeType="1"/>
          </p:cNvSpPr>
          <p:nvPr/>
        </p:nvSpPr>
        <p:spPr bwMode="auto">
          <a:xfrm>
            <a:off x="2073275" y="1924891"/>
            <a:ext cx="7518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000" b="1">
              <a:latin typeface="+mn-ea"/>
            </a:endParaRPr>
          </a:p>
        </p:txBody>
      </p:sp>
      <p:sp>
        <p:nvSpPr>
          <p:cNvPr id="8" name="Line 5"/>
          <p:cNvSpPr>
            <a:spLocks noChangeShapeType="1"/>
          </p:cNvSpPr>
          <p:nvPr/>
        </p:nvSpPr>
        <p:spPr bwMode="auto">
          <a:xfrm>
            <a:off x="3765550" y="1467691"/>
            <a:ext cx="0" cy="9906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000" b="1">
              <a:latin typeface="+mn-ea"/>
            </a:endParaRPr>
          </a:p>
        </p:txBody>
      </p:sp>
      <p:sp useBgFill="1">
        <p:nvSpPr>
          <p:cNvPr id="9" name="Rectangle 6"/>
          <p:cNvSpPr>
            <a:spLocks noChangeArrowheads="1"/>
          </p:cNvSpPr>
          <p:nvPr/>
        </p:nvSpPr>
        <p:spPr bwMode="auto">
          <a:xfrm>
            <a:off x="2166938" y="1391491"/>
            <a:ext cx="1222375"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M[N,T]</a:t>
            </a:r>
            <a:endParaRPr lang="en-US" altLang="zh-CN" sz="2000" b="1" dirty="0">
              <a:solidFill>
                <a:srgbClr val="050507"/>
              </a:solidFill>
              <a:latin typeface="+mn-ea"/>
            </a:endParaRPr>
          </a:p>
        </p:txBody>
      </p:sp>
      <p:sp useBgFill="1">
        <p:nvSpPr>
          <p:cNvPr id="10" name="Rectangle 7"/>
          <p:cNvSpPr>
            <a:spLocks noChangeArrowheads="1"/>
          </p:cNvSpPr>
          <p:nvPr/>
        </p:nvSpPr>
        <p:spPr bwMode="auto">
          <a:xfrm>
            <a:off x="2262188" y="2001091"/>
            <a:ext cx="46990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S</a:t>
            </a:r>
            <a:endParaRPr lang="en-US" altLang="zh-CN" sz="2000" b="1" dirty="0">
              <a:solidFill>
                <a:srgbClr val="050507"/>
              </a:solidFill>
              <a:latin typeface="+mn-ea"/>
            </a:endParaRPr>
          </a:p>
        </p:txBody>
      </p:sp>
      <p:sp useBgFill="1">
        <p:nvSpPr>
          <p:cNvPr id="11" name="Rectangle 8"/>
          <p:cNvSpPr>
            <a:spLocks noChangeArrowheads="1"/>
          </p:cNvSpPr>
          <p:nvPr/>
        </p:nvSpPr>
        <p:spPr bwMode="auto">
          <a:xfrm>
            <a:off x="4224338" y="1628028"/>
            <a:ext cx="469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a:t>
            </a:r>
            <a:endParaRPr lang="en-US" altLang="zh-CN" sz="2000" b="1" dirty="0">
              <a:solidFill>
                <a:srgbClr val="050507"/>
              </a:solidFill>
              <a:latin typeface="+mn-ea"/>
            </a:endParaRPr>
          </a:p>
        </p:txBody>
      </p:sp>
      <p:sp useBgFill="1">
        <p:nvSpPr>
          <p:cNvPr id="12" name="Rectangle 9"/>
          <p:cNvSpPr>
            <a:spLocks noChangeArrowheads="1"/>
          </p:cNvSpPr>
          <p:nvPr/>
        </p:nvSpPr>
        <p:spPr bwMode="auto">
          <a:xfrm>
            <a:off x="5735638" y="1556591"/>
            <a:ext cx="46990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a:t>
            </a:r>
            <a:endParaRPr lang="en-US" altLang="zh-CN" sz="2000" b="1" dirty="0">
              <a:solidFill>
                <a:srgbClr val="050507"/>
              </a:solidFill>
              <a:latin typeface="+mn-ea"/>
            </a:endParaRPr>
          </a:p>
        </p:txBody>
      </p:sp>
      <p:sp useBgFill="1">
        <p:nvSpPr>
          <p:cNvPr id="13" name="Rectangle 10"/>
          <p:cNvSpPr>
            <a:spLocks noChangeArrowheads="1"/>
          </p:cNvSpPr>
          <p:nvPr/>
        </p:nvSpPr>
        <p:spPr bwMode="auto">
          <a:xfrm>
            <a:off x="8275638" y="1467691"/>
            <a:ext cx="563562"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50507"/>
                </a:solidFill>
                <a:latin typeface="+mn-ea"/>
              </a:rPr>
              <a:t>$</a:t>
            </a:r>
            <a:endParaRPr lang="en-US" altLang="zh-CN" sz="2000" b="1">
              <a:solidFill>
                <a:srgbClr val="050507"/>
              </a:solidFill>
              <a:latin typeface="+mn-ea"/>
            </a:endParaRPr>
          </a:p>
        </p:txBody>
      </p:sp>
      <p:sp useBgFill="1">
        <p:nvSpPr>
          <p:cNvPr id="14" name="Rectangle 11"/>
          <p:cNvSpPr>
            <a:spLocks noChangeArrowheads="1"/>
          </p:cNvSpPr>
          <p:nvPr/>
        </p:nvSpPr>
        <p:spPr bwMode="auto">
          <a:xfrm>
            <a:off x="3792538" y="1988391"/>
            <a:ext cx="187960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S </a:t>
            </a:r>
            <a:r>
              <a:rPr lang="en-US" altLang="zh-CN" sz="2000" b="1" dirty="0">
                <a:solidFill>
                  <a:srgbClr val="050507"/>
                </a:solidFill>
                <a:latin typeface="+mn-ea"/>
                <a:sym typeface="Symbol" panose="05050102010706020507" pitchFamily="18" charset="2"/>
              </a:rPr>
              <a:t></a:t>
            </a:r>
            <a:r>
              <a:rPr lang="en-US" altLang="zh-CN" sz="2000" b="1" dirty="0">
                <a:solidFill>
                  <a:srgbClr val="050507"/>
                </a:solidFill>
                <a:latin typeface="+mn-ea"/>
              </a:rPr>
              <a:t>(S)S</a:t>
            </a:r>
            <a:endParaRPr lang="en-US" altLang="zh-CN" sz="2000" b="1" dirty="0">
              <a:solidFill>
                <a:srgbClr val="050507"/>
              </a:solidFill>
              <a:latin typeface="+mn-ea"/>
            </a:endParaRPr>
          </a:p>
        </p:txBody>
      </p:sp>
      <p:sp useBgFill="1">
        <p:nvSpPr>
          <p:cNvPr id="15" name="Rectangle 13"/>
          <p:cNvSpPr>
            <a:spLocks noChangeArrowheads="1"/>
          </p:cNvSpPr>
          <p:nvPr/>
        </p:nvSpPr>
        <p:spPr bwMode="auto">
          <a:xfrm>
            <a:off x="6456363" y="1988391"/>
            <a:ext cx="1222375"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050507"/>
                </a:solidFill>
                <a:latin typeface="+mn-ea"/>
              </a:rPr>
              <a:t>S </a:t>
            </a:r>
            <a:r>
              <a:rPr lang="en-US" altLang="zh-CN" sz="2000" b="1" dirty="0">
                <a:solidFill>
                  <a:srgbClr val="050507"/>
                </a:solidFill>
                <a:latin typeface="+mn-ea"/>
                <a:sym typeface="Symbol" panose="05050102010706020507" pitchFamily="18" charset="2"/>
              </a:rPr>
              <a:t> a</a:t>
            </a:r>
            <a:endParaRPr lang="en-US" altLang="zh-CN" sz="2000" b="1" dirty="0">
              <a:solidFill>
                <a:srgbClr val="050507"/>
              </a:solidFill>
              <a:latin typeface="+mn-ea"/>
              <a:sym typeface="Symbol" panose="05050102010706020507" pitchFamily="18" charset="2"/>
            </a:endParaRPr>
          </a:p>
        </p:txBody>
      </p:sp>
      <p:sp>
        <p:nvSpPr>
          <p:cNvPr id="16" name="Rectangle 14"/>
          <p:cNvSpPr>
            <a:spLocks noChangeArrowheads="1"/>
          </p:cNvSpPr>
          <p:nvPr/>
        </p:nvSpPr>
        <p:spPr bwMode="auto">
          <a:xfrm>
            <a:off x="4004854" y="2567982"/>
            <a:ext cx="33045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050507"/>
                </a:solidFill>
                <a:latin typeface="+mn-ea"/>
              </a:rPr>
              <a:t>文法</a:t>
            </a:r>
            <a:r>
              <a:rPr lang="en-US" altLang="zh-CN" sz="2000" b="1" dirty="0">
                <a:solidFill>
                  <a:srgbClr val="050507"/>
                </a:solidFill>
                <a:latin typeface="+mn-ea"/>
              </a:rPr>
              <a:t>S</a:t>
            </a:r>
            <a:r>
              <a:rPr lang="en-US" altLang="zh-CN" sz="2000" b="1" dirty="0">
                <a:solidFill>
                  <a:srgbClr val="050507"/>
                </a:solidFill>
                <a:latin typeface="+mn-ea"/>
                <a:sym typeface="Symbol" panose="05050102010706020507" pitchFamily="18" charset="2"/>
              </a:rPr>
              <a:t>(S)</a:t>
            </a:r>
            <a:r>
              <a:rPr lang="en-US" altLang="zh-CN" sz="2000" b="1" dirty="0" err="1">
                <a:solidFill>
                  <a:srgbClr val="050507"/>
                </a:solidFill>
                <a:latin typeface="+mn-ea"/>
                <a:sym typeface="Symbol" panose="05050102010706020507" pitchFamily="18" charset="2"/>
              </a:rPr>
              <a:t>S|a</a:t>
            </a:r>
            <a:r>
              <a:rPr lang="zh-CN" altLang="en-US" sz="2000" b="1" dirty="0">
                <a:solidFill>
                  <a:srgbClr val="050507"/>
                </a:solidFill>
                <a:latin typeface="+mn-ea"/>
                <a:sym typeface="Symbol" panose="05050102010706020507" pitchFamily="18" charset="2"/>
              </a:rPr>
              <a:t>的</a:t>
            </a:r>
            <a:r>
              <a:rPr lang="en-US" altLang="zh-CN" sz="2000" b="1" dirty="0">
                <a:solidFill>
                  <a:srgbClr val="E10B34"/>
                </a:solidFill>
                <a:latin typeface="+mn-ea"/>
                <a:sym typeface="Symbol" panose="05050102010706020507" pitchFamily="18" charset="2"/>
              </a:rPr>
              <a:t>LL(1)</a:t>
            </a:r>
            <a:r>
              <a:rPr lang="zh-CN" altLang="en-US" sz="2000" b="1" dirty="0">
                <a:solidFill>
                  <a:srgbClr val="E10B34"/>
                </a:solidFill>
                <a:latin typeface="+mn-ea"/>
                <a:sym typeface="Symbol" panose="05050102010706020507" pitchFamily="18" charset="2"/>
              </a:rPr>
              <a:t>分析表</a:t>
            </a:r>
            <a:endParaRPr lang="zh-CN" altLang="en-US" sz="2000" b="1" dirty="0">
              <a:solidFill>
                <a:srgbClr val="E10B34"/>
              </a:solidFill>
              <a:latin typeface="+mn-ea"/>
              <a:sym typeface="Symbol" panose="05050102010706020507" pitchFamily="18" charset="2"/>
            </a:endParaRPr>
          </a:p>
        </p:txBody>
      </p:sp>
      <p:sp>
        <p:nvSpPr>
          <p:cNvPr id="18" name="Rectangle 20"/>
          <p:cNvSpPr txBox="1">
            <a:spLocks noChangeArrowheads="1"/>
          </p:cNvSpPr>
          <p:nvPr/>
        </p:nvSpPr>
        <p:spPr>
          <a:xfrm>
            <a:off x="544830" y="3054985"/>
            <a:ext cx="11282045" cy="11893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Aft>
                <a:spcPts val="0"/>
              </a:spcAft>
            </a:pPr>
            <a:r>
              <a:rPr lang="en-US" altLang="zh-CN" sz="2400" b="1" dirty="0">
                <a:solidFill>
                  <a:srgbClr val="050507"/>
                </a:solidFill>
                <a:latin typeface="+mn-ea"/>
              </a:rPr>
              <a:t>M[</a:t>
            </a:r>
            <a:r>
              <a:rPr lang="en-US" altLang="zh-CN" sz="2400" b="1" dirty="0">
                <a:solidFill>
                  <a:srgbClr val="E10B34"/>
                </a:solidFill>
                <a:latin typeface="+mn-ea"/>
              </a:rPr>
              <a:t>S</a:t>
            </a:r>
            <a:r>
              <a:rPr lang="zh-CN" altLang="en-US" sz="2400" b="1" dirty="0">
                <a:solidFill>
                  <a:srgbClr val="E10B34"/>
                </a:solidFill>
                <a:latin typeface="+mn-ea"/>
              </a:rPr>
              <a:t>,(</a:t>
            </a:r>
            <a:r>
              <a:rPr lang="en-US" altLang="zh-CN" sz="2400" b="1" dirty="0">
                <a:solidFill>
                  <a:srgbClr val="050507"/>
                </a:solidFill>
                <a:latin typeface="+mn-ea"/>
              </a:rPr>
              <a:t>]</a:t>
            </a:r>
            <a:r>
              <a:rPr lang="zh-CN" altLang="en-US" sz="2400" b="1" dirty="0">
                <a:solidFill>
                  <a:srgbClr val="E10B34"/>
                </a:solidFill>
                <a:latin typeface="+mn-ea"/>
              </a:rPr>
              <a:t>表示</a:t>
            </a:r>
            <a:r>
              <a:rPr lang="zh-CN" altLang="en-US" sz="2400" b="1" dirty="0">
                <a:solidFill>
                  <a:srgbClr val="050507"/>
                </a:solidFill>
                <a:latin typeface="+mn-ea"/>
              </a:rPr>
              <a:t>当栈顶符号为</a:t>
            </a:r>
            <a:r>
              <a:rPr lang="en-US" altLang="zh-CN" sz="2400" b="1" dirty="0">
                <a:solidFill>
                  <a:srgbClr val="050507"/>
                </a:solidFill>
                <a:latin typeface="+mn-ea"/>
              </a:rPr>
              <a:t>S</a:t>
            </a:r>
            <a:r>
              <a:rPr lang="zh-CN" altLang="en-US" sz="2400" b="1" dirty="0">
                <a:solidFill>
                  <a:srgbClr val="050507"/>
                </a:solidFill>
                <a:latin typeface="+mn-ea"/>
              </a:rPr>
              <a:t>，而当前输入单词为‘(’时，按产生式</a:t>
            </a:r>
            <a:r>
              <a:rPr lang="en-US" altLang="zh-CN" sz="2400" b="1" dirty="0">
                <a:solidFill>
                  <a:srgbClr val="F72F89"/>
                </a:solidFill>
                <a:latin typeface="+mn-ea"/>
              </a:rPr>
              <a:t>S</a:t>
            </a:r>
            <a:r>
              <a:rPr lang="en-US" altLang="zh-CN" sz="2400" b="1" dirty="0">
                <a:solidFill>
                  <a:srgbClr val="F72F89"/>
                </a:solidFill>
                <a:latin typeface="+mn-ea"/>
                <a:sym typeface="Symbol" panose="05050102010706020507" pitchFamily="18" charset="2"/>
              </a:rPr>
              <a:t></a:t>
            </a:r>
            <a:r>
              <a:rPr lang="en-US" altLang="zh-CN" sz="2400" b="1" dirty="0">
                <a:solidFill>
                  <a:srgbClr val="F72F89"/>
                </a:solidFill>
                <a:latin typeface="+mn-ea"/>
              </a:rPr>
              <a:t>(S)S</a:t>
            </a:r>
            <a:r>
              <a:rPr lang="zh-CN" altLang="en-US" sz="2400" b="1" dirty="0">
                <a:solidFill>
                  <a:srgbClr val="050507"/>
                </a:solidFill>
                <a:latin typeface="+mn-ea"/>
              </a:rPr>
              <a:t>进行推导；</a:t>
            </a:r>
            <a:endParaRPr lang="zh-CN" altLang="en-US" sz="2400" b="1" dirty="0">
              <a:solidFill>
                <a:srgbClr val="050507"/>
              </a:solidFill>
              <a:latin typeface="+mn-ea"/>
            </a:endParaRPr>
          </a:p>
          <a:p>
            <a:pPr>
              <a:lnSpc>
                <a:spcPct val="125000"/>
              </a:lnSpc>
              <a:spcAft>
                <a:spcPts val="0"/>
              </a:spcAft>
            </a:pPr>
            <a:r>
              <a:rPr lang="en-US" altLang="zh-CN" sz="2400" b="1" dirty="0">
                <a:solidFill>
                  <a:srgbClr val="050507"/>
                </a:solidFill>
                <a:latin typeface="+mn-ea"/>
              </a:rPr>
              <a:t>M[</a:t>
            </a:r>
            <a:r>
              <a:rPr lang="en-US" altLang="zh-CN" sz="2400" b="1" dirty="0">
                <a:solidFill>
                  <a:srgbClr val="E10B34"/>
                </a:solidFill>
                <a:latin typeface="+mn-ea"/>
              </a:rPr>
              <a:t>S</a:t>
            </a:r>
            <a:r>
              <a:rPr lang="zh-CN" altLang="en-US" sz="2400" b="1" dirty="0">
                <a:solidFill>
                  <a:srgbClr val="E10B34"/>
                </a:solidFill>
                <a:latin typeface="+mn-ea"/>
              </a:rPr>
              <a:t>,</a:t>
            </a:r>
            <a:r>
              <a:rPr lang="en-US" altLang="zh-CN" sz="2400" b="1" dirty="0">
                <a:solidFill>
                  <a:srgbClr val="E10B34"/>
                </a:solidFill>
                <a:latin typeface="+mn-ea"/>
              </a:rPr>
              <a:t>a</a:t>
            </a:r>
            <a:r>
              <a:rPr lang="en-US" altLang="zh-CN" sz="2400" b="1" dirty="0">
                <a:solidFill>
                  <a:srgbClr val="050507"/>
                </a:solidFill>
                <a:latin typeface="+mn-ea"/>
              </a:rPr>
              <a:t>]</a:t>
            </a:r>
            <a:r>
              <a:rPr lang="zh-CN" altLang="en-US" sz="2400" b="1" dirty="0">
                <a:solidFill>
                  <a:srgbClr val="E10B34"/>
                </a:solidFill>
                <a:latin typeface="+mn-ea"/>
              </a:rPr>
              <a:t>表示</a:t>
            </a:r>
            <a:r>
              <a:rPr lang="zh-CN" altLang="en-US" sz="2400" b="1" dirty="0">
                <a:solidFill>
                  <a:srgbClr val="050507"/>
                </a:solidFill>
                <a:latin typeface="+mn-ea"/>
              </a:rPr>
              <a:t>当前栈顶符号为</a:t>
            </a:r>
            <a:r>
              <a:rPr lang="en-US" altLang="zh-CN" sz="2400" b="1" dirty="0">
                <a:solidFill>
                  <a:srgbClr val="050507"/>
                </a:solidFill>
                <a:latin typeface="+mn-ea"/>
              </a:rPr>
              <a:t>S</a:t>
            </a:r>
            <a:r>
              <a:rPr lang="zh-CN" altLang="en-US" sz="2400" b="1" dirty="0">
                <a:solidFill>
                  <a:srgbClr val="050507"/>
                </a:solidFill>
                <a:latin typeface="+mn-ea"/>
              </a:rPr>
              <a:t>，而当前输入单词为‘</a:t>
            </a:r>
            <a:r>
              <a:rPr lang="en-US" altLang="zh-CN" sz="2400" b="1" dirty="0">
                <a:solidFill>
                  <a:srgbClr val="050507"/>
                </a:solidFill>
                <a:latin typeface="+mn-ea"/>
              </a:rPr>
              <a:t>a’</a:t>
            </a:r>
            <a:r>
              <a:rPr lang="zh-CN" altLang="en-US" sz="2400" b="1" dirty="0">
                <a:solidFill>
                  <a:srgbClr val="050507"/>
                </a:solidFill>
                <a:latin typeface="+mn-ea"/>
              </a:rPr>
              <a:t>时，按产生式</a:t>
            </a:r>
            <a:r>
              <a:rPr lang="en-US" altLang="zh-CN" sz="2400" b="1" dirty="0" err="1">
                <a:solidFill>
                  <a:srgbClr val="F72F89"/>
                </a:solidFill>
                <a:latin typeface="+mn-ea"/>
              </a:rPr>
              <a:t>S</a:t>
            </a:r>
            <a:r>
              <a:rPr lang="en-US" altLang="zh-CN" sz="2400" b="1" dirty="0" err="1">
                <a:solidFill>
                  <a:srgbClr val="F72F89"/>
                </a:solidFill>
                <a:latin typeface="+mn-ea"/>
                <a:sym typeface="Symbol" panose="05050102010706020507" pitchFamily="18" charset="2"/>
              </a:rPr>
              <a:t>a</a:t>
            </a:r>
            <a:r>
              <a:rPr lang="zh-CN" altLang="en-US" sz="2400" b="1" dirty="0">
                <a:solidFill>
                  <a:srgbClr val="050507"/>
                </a:solidFill>
                <a:latin typeface="+mn-ea"/>
              </a:rPr>
              <a:t>进行推导。</a:t>
            </a:r>
            <a:endParaRPr lang="zh-CN" altLang="en-US" sz="2400" b="1" dirty="0">
              <a:solidFill>
                <a:srgbClr val="050507"/>
              </a:solidFill>
              <a:latin typeface="+mn-ea"/>
            </a:endParaRPr>
          </a:p>
        </p:txBody>
      </p:sp>
      <p:sp useBgFill="1">
        <p:nvSpPr>
          <p:cNvPr id="19" name="Rectangle 21"/>
          <p:cNvSpPr>
            <a:spLocks noChangeArrowheads="1"/>
          </p:cNvSpPr>
          <p:nvPr/>
        </p:nvSpPr>
        <p:spPr bwMode="auto">
          <a:xfrm>
            <a:off x="6743700" y="1556591"/>
            <a:ext cx="46990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50507"/>
                </a:solidFill>
                <a:latin typeface="+mn-ea"/>
              </a:rPr>
              <a:t>a</a:t>
            </a:r>
            <a:endParaRPr lang="en-US" altLang="zh-CN" sz="2000" b="1">
              <a:solidFill>
                <a:srgbClr val="050507"/>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文本框 2"/>
          <p:cNvSpPr txBox="1"/>
          <p:nvPr/>
        </p:nvSpPr>
        <p:spPr>
          <a:xfrm>
            <a:off x="607695" y="4455795"/>
            <a:ext cx="11219815" cy="1198880"/>
          </a:xfrm>
          <a:prstGeom prst="rect">
            <a:avLst/>
          </a:prstGeom>
          <a:noFill/>
        </p:spPr>
        <p:txBody>
          <a:bodyPr wrap="square" rtlCol="0" anchor="t">
            <a:spAutoFit/>
          </a:bodyPr>
          <a:p>
            <a:pPr>
              <a:lnSpc>
                <a:spcPct val="150000"/>
              </a:lnSpc>
            </a:pPr>
            <a:r>
              <a:rPr lang="en-US" altLang="zh-CN" sz="2400" b="1" dirty="0">
                <a:sym typeface="+mn-ea"/>
              </a:rPr>
              <a:t>LL (1)</a:t>
            </a:r>
            <a:r>
              <a:rPr lang="zh-CN" altLang="en-US" sz="2400" b="1" dirty="0">
                <a:sym typeface="+mn-ea"/>
              </a:rPr>
              <a:t>分析方法：</a:t>
            </a:r>
            <a:r>
              <a:rPr lang="zh-CN" altLang="en-US" sz="2400" b="1" dirty="0">
                <a:solidFill>
                  <a:schemeClr val="accent1"/>
                </a:solidFill>
                <a:sym typeface="+mn-ea"/>
              </a:rPr>
              <a:t>第</a:t>
            </a:r>
            <a:r>
              <a:rPr lang="en-US" altLang="zh-CN" sz="2400" b="1" dirty="0">
                <a:solidFill>
                  <a:schemeClr val="accent1"/>
                </a:solidFill>
                <a:sym typeface="+mn-ea"/>
              </a:rPr>
              <a:t>1</a:t>
            </a:r>
            <a:r>
              <a:rPr lang="zh-CN" altLang="en-US" sz="2400" b="1" dirty="0">
                <a:solidFill>
                  <a:schemeClr val="accent1"/>
                </a:solidFill>
                <a:sym typeface="+mn-ea"/>
              </a:rPr>
              <a:t>个“</a:t>
            </a:r>
            <a:r>
              <a:rPr lang="en-US" altLang="zh-CN" sz="2400" b="1" dirty="0">
                <a:solidFill>
                  <a:schemeClr val="accent1"/>
                </a:solidFill>
                <a:sym typeface="+mn-ea"/>
              </a:rPr>
              <a:t>L”</a:t>
            </a:r>
            <a:r>
              <a:rPr lang="zh-CN" altLang="en-US" sz="2400" b="1" dirty="0">
                <a:solidFill>
                  <a:schemeClr val="accent1"/>
                </a:solidFill>
                <a:sym typeface="+mn-ea"/>
              </a:rPr>
              <a:t>，</a:t>
            </a:r>
            <a:r>
              <a:rPr lang="zh-CN" altLang="en-US" sz="2400" b="1" dirty="0">
                <a:sym typeface="+mn-ea"/>
              </a:rPr>
              <a:t>由左向右地处理输入；</a:t>
            </a:r>
            <a:r>
              <a:rPr lang="zh-CN" altLang="en-US" sz="2400" b="1" dirty="0">
                <a:solidFill>
                  <a:schemeClr val="accent1"/>
                </a:solidFill>
                <a:sym typeface="+mn-ea"/>
              </a:rPr>
              <a:t>第</a:t>
            </a:r>
            <a:r>
              <a:rPr lang="en-US" altLang="zh-CN" sz="2400" b="1" dirty="0">
                <a:solidFill>
                  <a:schemeClr val="accent1"/>
                </a:solidFill>
                <a:sym typeface="+mn-ea"/>
              </a:rPr>
              <a:t>2</a:t>
            </a:r>
            <a:r>
              <a:rPr lang="zh-CN" altLang="en-US" sz="2400" b="1" dirty="0">
                <a:solidFill>
                  <a:schemeClr val="accent1"/>
                </a:solidFill>
                <a:sym typeface="+mn-ea"/>
              </a:rPr>
              <a:t>个“</a:t>
            </a:r>
            <a:r>
              <a:rPr lang="en-US" altLang="zh-CN" sz="2400" b="1" dirty="0">
                <a:solidFill>
                  <a:schemeClr val="accent1"/>
                </a:solidFill>
                <a:sym typeface="+mn-ea"/>
              </a:rPr>
              <a:t>L”</a:t>
            </a:r>
            <a:r>
              <a:rPr lang="zh-CN" altLang="en-US" sz="2400" b="1" dirty="0">
                <a:sym typeface="+mn-ea"/>
              </a:rPr>
              <a:t>，它为输入串找出一个最左推导；</a:t>
            </a:r>
            <a:r>
              <a:rPr lang="zh-CN" altLang="en-US" sz="2400" b="1" dirty="0">
                <a:solidFill>
                  <a:schemeClr val="accent1"/>
                </a:solidFill>
                <a:sym typeface="+mn-ea"/>
              </a:rPr>
              <a:t>括号中的数字</a:t>
            </a:r>
            <a:r>
              <a:rPr lang="en-US" altLang="zh-CN" sz="2400" b="1" dirty="0">
                <a:solidFill>
                  <a:schemeClr val="accent1"/>
                </a:solidFill>
                <a:sym typeface="+mn-ea"/>
              </a:rPr>
              <a:t>1</a:t>
            </a:r>
            <a:r>
              <a:rPr lang="zh-CN" altLang="en-US" sz="2400" b="1" dirty="0">
                <a:sym typeface="+mn-ea"/>
              </a:rPr>
              <a:t>，使用输入单词序列中的一个单词预测分析的动作。</a:t>
            </a:r>
            <a:endParaRPr lang="zh-CN" altLang="en-US" sz="2400" b="1"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barn(inHorizontal)">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barn(inHorizontal)">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3" grpId="0"/>
      <p:bldP spid="3"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586740" y="276860"/>
            <a:ext cx="762508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18" name="Rectangle 20"/>
          <p:cNvSpPr txBox="1">
            <a:spLocks noChangeArrowheads="1"/>
          </p:cNvSpPr>
          <p:nvPr/>
        </p:nvSpPr>
        <p:spPr>
          <a:xfrm>
            <a:off x="526415" y="1352550"/>
            <a:ext cx="9356090" cy="11842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solidFill>
                  <a:srgbClr val="0070C0"/>
                </a:solidFill>
                <a:latin typeface="+mn-ea"/>
              </a:rPr>
              <a:t>问题</a:t>
            </a:r>
            <a:r>
              <a:rPr lang="zh-CN" altLang="en-US" sz="2400" b="1" dirty="0">
                <a:solidFill>
                  <a:srgbClr val="050507"/>
                </a:solidFill>
                <a:latin typeface="+mn-ea"/>
              </a:rPr>
              <a:t>：如何构造</a:t>
            </a:r>
            <a:r>
              <a:rPr lang="en-US" altLang="zh-CN" sz="2400" b="1" dirty="0">
                <a:solidFill>
                  <a:srgbClr val="050507"/>
                </a:solidFill>
                <a:latin typeface="+mn-ea"/>
              </a:rPr>
              <a:t>LL(1)</a:t>
            </a:r>
            <a:r>
              <a:rPr lang="zh-CN" altLang="en-US" sz="2400" b="1" dirty="0">
                <a:solidFill>
                  <a:srgbClr val="050507"/>
                </a:solidFill>
                <a:latin typeface="+mn-ea"/>
              </a:rPr>
              <a:t>分析表？</a:t>
            </a:r>
            <a:endParaRPr lang="zh-CN" altLang="en-US" sz="2400" b="1" dirty="0">
              <a:solidFill>
                <a:srgbClr val="050507"/>
              </a:solidFill>
              <a:latin typeface="+mn-ea"/>
            </a:endParaRPr>
          </a:p>
        </p:txBody>
      </p:sp>
      <p:sp>
        <p:nvSpPr>
          <p:cNvPr id="20" name="Rectangle 20"/>
          <p:cNvSpPr txBox="1">
            <a:spLocks noChangeArrowheads="1"/>
          </p:cNvSpPr>
          <p:nvPr/>
        </p:nvSpPr>
        <p:spPr>
          <a:xfrm>
            <a:off x="671195" y="2021205"/>
            <a:ext cx="9211310" cy="17443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solidFill>
                  <a:srgbClr val="050507"/>
                </a:solidFill>
                <a:latin typeface="+mn-ea"/>
              </a:rPr>
              <a:t>构造分析表的步骤：</a:t>
            </a:r>
            <a:endParaRPr lang="zh-CN" altLang="en-US" sz="2400" b="1" dirty="0">
              <a:solidFill>
                <a:srgbClr val="050507"/>
              </a:solidFill>
              <a:latin typeface="+mn-ea"/>
            </a:endParaRPr>
          </a:p>
          <a:p>
            <a:pPr marL="457200" indent="-457200">
              <a:buFont typeface="+mj-lt"/>
              <a:buAutoNum type="arabicPeriod"/>
            </a:pPr>
            <a:r>
              <a:rPr lang="zh-CN" altLang="en-US" sz="2400" b="1" dirty="0">
                <a:solidFill>
                  <a:srgbClr val="C00000"/>
                </a:solidFill>
                <a:latin typeface="+mn-ea"/>
              </a:rPr>
              <a:t>求</a:t>
            </a:r>
            <a:r>
              <a:rPr lang="en-US" altLang="zh-CN" sz="2400" b="1" dirty="0">
                <a:solidFill>
                  <a:srgbClr val="C00000"/>
                </a:solidFill>
                <a:latin typeface="+mn-ea"/>
              </a:rPr>
              <a:t>First</a:t>
            </a:r>
            <a:r>
              <a:rPr lang="zh-CN" altLang="en-US" sz="2400" b="1" dirty="0">
                <a:solidFill>
                  <a:srgbClr val="C00000"/>
                </a:solidFill>
                <a:latin typeface="+mn-ea"/>
              </a:rPr>
              <a:t>集合</a:t>
            </a:r>
            <a:endParaRPr lang="zh-CN" altLang="en-US" sz="2400" b="1" dirty="0">
              <a:solidFill>
                <a:srgbClr val="C00000"/>
              </a:solidFill>
              <a:latin typeface="+mn-ea"/>
            </a:endParaRPr>
          </a:p>
          <a:p>
            <a:pPr marL="457200" indent="-457200">
              <a:buFont typeface="+mj-lt"/>
              <a:buAutoNum type="arabicPeriod"/>
            </a:pPr>
            <a:r>
              <a:rPr lang="zh-CN" altLang="en-US" sz="2400" b="1" dirty="0">
                <a:solidFill>
                  <a:srgbClr val="0070C0"/>
                </a:solidFill>
                <a:latin typeface="+mn-ea"/>
              </a:rPr>
              <a:t>求</a:t>
            </a:r>
            <a:r>
              <a:rPr lang="en-US" altLang="zh-CN" sz="2400" b="1" dirty="0">
                <a:solidFill>
                  <a:srgbClr val="0070C0"/>
                </a:solidFill>
                <a:latin typeface="+mn-ea"/>
              </a:rPr>
              <a:t>Follow</a:t>
            </a:r>
            <a:r>
              <a:rPr lang="zh-CN" altLang="en-US" sz="2400" b="1" dirty="0">
                <a:solidFill>
                  <a:srgbClr val="0070C0"/>
                </a:solidFill>
                <a:latin typeface="+mn-ea"/>
              </a:rPr>
              <a:t>集合</a:t>
            </a:r>
            <a:endParaRPr lang="zh-CN" altLang="en-US" sz="2400" b="1" dirty="0">
              <a:solidFill>
                <a:srgbClr val="0070C0"/>
              </a:solidFill>
              <a:latin typeface="+mn-ea"/>
            </a:endParaRPr>
          </a:p>
          <a:p>
            <a:pPr marL="457200" indent="-457200">
              <a:buFont typeface="+mj-lt"/>
              <a:buAutoNum type="arabicPeriod"/>
            </a:pPr>
            <a:r>
              <a:rPr lang="zh-CN" altLang="en-US" sz="2400" b="1" dirty="0">
                <a:solidFill>
                  <a:srgbClr val="0070C0"/>
                </a:solidFill>
                <a:latin typeface="+mn-ea"/>
              </a:rPr>
              <a:t>构造</a:t>
            </a:r>
            <a:r>
              <a:rPr lang="en-US" altLang="zh-CN" sz="2400" b="1" dirty="0">
                <a:solidFill>
                  <a:srgbClr val="0070C0"/>
                </a:solidFill>
                <a:latin typeface="+mn-ea"/>
              </a:rPr>
              <a:t>LL(1)</a:t>
            </a:r>
            <a:r>
              <a:rPr lang="zh-CN" altLang="en-US" sz="2400" b="1" dirty="0">
                <a:solidFill>
                  <a:srgbClr val="0070C0"/>
                </a:solidFill>
                <a:latin typeface="+mn-ea"/>
              </a:rPr>
              <a:t>分析表</a:t>
            </a:r>
            <a:endParaRPr lang="zh-CN" altLang="en-US" sz="2400" b="1" dirty="0">
              <a:solidFill>
                <a:srgbClr val="0070C0"/>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pic>
        <p:nvPicPr>
          <p:cNvPr id="5"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4755832" y="1624461"/>
            <a:ext cx="66579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barn(inHorizontal)">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barn(inHorizontal)">
                                      <p:cBhvr>
                                        <p:cTn id="12" dur="500"/>
                                        <p:tgtEl>
                                          <p:spTgt spid="2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20">
                                            <p:txEl>
                                              <p:pRg st="1" end="1"/>
                                            </p:txEl>
                                          </p:spTgt>
                                        </p:tgtEl>
                                        <p:attrNameLst>
                                          <p:attrName>style.visibility</p:attrName>
                                        </p:attrNameLst>
                                      </p:cBhvr>
                                      <p:to>
                                        <p:strVal val="visible"/>
                                      </p:to>
                                    </p:set>
                                    <p:animEffect transition="in" filter="barn(inHorizontal)">
                                      <p:cBhvr>
                                        <p:cTn id="17" dur="500"/>
                                        <p:tgtEl>
                                          <p:spTgt spid="2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20">
                                            <p:txEl>
                                              <p:pRg st="2" end="2"/>
                                            </p:txEl>
                                          </p:spTgt>
                                        </p:tgtEl>
                                        <p:attrNameLst>
                                          <p:attrName>style.visibility</p:attrName>
                                        </p:attrNameLst>
                                      </p:cBhvr>
                                      <p:to>
                                        <p:strVal val="visible"/>
                                      </p:to>
                                    </p:set>
                                    <p:animEffect transition="in" filter="barn(inHorizontal)">
                                      <p:cBhvr>
                                        <p:cTn id="22" dur="500"/>
                                        <p:tgtEl>
                                          <p:spTgt spid="2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20">
                                            <p:txEl>
                                              <p:pRg st="3" end="3"/>
                                            </p:txEl>
                                          </p:spTgt>
                                        </p:tgtEl>
                                        <p:attrNameLst>
                                          <p:attrName>style.visibility</p:attrName>
                                        </p:attrNameLst>
                                      </p:cBhvr>
                                      <p:to>
                                        <p:strVal val="visible"/>
                                      </p:to>
                                    </p:set>
                                    <p:animEffect transition="in" filter="barn(inHorizontal)">
                                      <p:cBhvr>
                                        <p:cTn id="27" dur="500"/>
                                        <p:tgtEl>
                                          <p:spTgt spid="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20"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601345" y="276860"/>
            <a:ext cx="7610475"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18" name="Rectangle 20"/>
          <p:cNvSpPr txBox="1">
            <a:spLocks noChangeArrowheads="1"/>
          </p:cNvSpPr>
          <p:nvPr/>
        </p:nvSpPr>
        <p:spPr>
          <a:xfrm>
            <a:off x="698500" y="1352550"/>
            <a:ext cx="9184005" cy="502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zh-CN" altLang="en-US" b="1" dirty="0">
                <a:solidFill>
                  <a:srgbClr val="0070C0"/>
                </a:solidFill>
                <a:latin typeface="+mn-ea"/>
              </a:rPr>
              <a:t>求</a:t>
            </a:r>
            <a:r>
              <a:rPr lang="en-US" altLang="zh-CN" b="1" dirty="0">
                <a:solidFill>
                  <a:srgbClr val="0070C0"/>
                </a:solidFill>
                <a:latin typeface="+mn-ea"/>
              </a:rPr>
              <a:t>First</a:t>
            </a:r>
            <a:r>
              <a:rPr lang="zh-CN" altLang="en-US" b="1" dirty="0">
                <a:solidFill>
                  <a:srgbClr val="0070C0"/>
                </a:solidFill>
                <a:latin typeface="+mn-ea"/>
              </a:rPr>
              <a:t>集合</a:t>
            </a:r>
            <a:endParaRPr lang="zh-CN" altLang="en-US" b="1" dirty="0">
              <a:solidFill>
                <a:srgbClr val="0070C0"/>
              </a:solidFill>
              <a:latin typeface="+mn-ea"/>
            </a:endParaRPr>
          </a:p>
        </p:txBody>
      </p:sp>
      <p:sp>
        <p:nvSpPr>
          <p:cNvPr id="7" name="Rectangle 3"/>
          <p:cNvSpPr>
            <a:spLocks noChangeArrowheads="1"/>
          </p:cNvSpPr>
          <p:nvPr/>
        </p:nvSpPr>
        <p:spPr bwMode="auto">
          <a:xfrm>
            <a:off x="746425" y="3070132"/>
            <a:ext cx="669495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buFont typeface="+mj-ea"/>
              <a:buAutoNum type="circleNumDbPlain"/>
            </a:pPr>
            <a:r>
              <a:rPr lang="zh-CN" altLang="en-US" sz="2400" dirty="0">
                <a:solidFill>
                  <a:srgbClr val="050507"/>
                </a:solidFill>
                <a:latin typeface="+mn-ea"/>
                <a:ea typeface="+mn-ea"/>
              </a:rPr>
              <a:t>若</a:t>
            </a:r>
            <a:r>
              <a:rPr lang="en-US" altLang="zh-CN" sz="2400" dirty="0">
                <a:solidFill>
                  <a:srgbClr val="050507"/>
                </a:solidFill>
                <a:latin typeface="+mn-ea"/>
                <a:ea typeface="+mn-ea"/>
              </a:rPr>
              <a:t>X</a:t>
            </a:r>
            <a:r>
              <a:rPr lang="zh-CN" altLang="en-US" sz="2400" dirty="0">
                <a:solidFill>
                  <a:srgbClr val="050507"/>
                </a:solidFill>
                <a:latin typeface="+mn-ea"/>
                <a:ea typeface="+mn-ea"/>
              </a:rPr>
              <a:t>是终结符或</a:t>
            </a:r>
            <a:r>
              <a:rPr lang="en-US" altLang="zh-CN" sz="2400" dirty="0">
                <a:solidFill>
                  <a:srgbClr val="050507"/>
                </a:solidFill>
                <a:latin typeface="+mn-ea"/>
                <a:ea typeface="+mn-ea"/>
                <a:sym typeface="Symbol" panose="05050102010706020507" pitchFamily="18" charset="2"/>
              </a:rPr>
              <a:t>ε</a:t>
            </a:r>
            <a:r>
              <a:rPr lang="zh-CN" altLang="en-US" sz="2400" dirty="0">
                <a:solidFill>
                  <a:srgbClr val="050507"/>
                </a:solidFill>
                <a:latin typeface="+mn-ea"/>
                <a:ea typeface="+mn-ea"/>
              </a:rPr>
              <a:t>，则</a:t>
            </a:r>
            <a:r>
              <a:rPr lang="en-US" altLang="zh-CN" sz="2400" dirty="0">
                <a:solidFill>
                  <a:srgbClr val="050507"/>
                </a:solidFill>
                <a:latin typeface="+mn-ea"/>
                <a:ea typeface="+mn-ea"/>
              </a:rPr>
              <a:t>First(X) =</a:t>
            </a:r>
            <a:endParaRPr lang="zh-CN" altLang="en-US" sz="2400" dirty="0">
              <a:solidFill>
                <a:srgbClr val="050507"/>
              </a:solidFill>
              <a:latin typeface="+mn-ea"/>
              <a:ea typeface="+mn-ea"/>
            </a:endParaRPr>
          </a:p>
        </p:txBody>
      </p:sp>
      <p:sp>
        <p:nvSpPr>
          <p:cNvPr id="8" name="Rectangle 5"/>
          <p:cNvSpPr>
            <a:spLocks noChangeArrowheads="1"/>
          </p:cNvSpPr>
          <p:nvPr/>
        </p:nvSpPr>
        <p:spPr bwMode="auto">
          <a:xfrm>
            <a:off x="5411844" y="3070132"/>
            <a:ext cx="13684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rgbClr val="050507"/>
                </a:solidFill>
                <a:latin typeface="+mn-ea"/>
              </a:rPr>
              <a:t>{X}</a:t>
            </a:r>
            <a:endParaRPr lang="zh-CN" altLang="en-US" sz="2400" b="1" dirty="0">
              <a:solidFill>
                <a:srgbClr val="050507"/>
              </a:solidFill>
              <a:latin typeface="+mn-ea"/>
            </a:endParaRPr>
          </a:p>
        </p:txBody>
      </p:sp>
      <p:sp>
        <p:nvSpPr>
          <p:cNvPr id="9" name="Rectangle 7"/>
          <p:cNvSpPr txBox="1">
            <a:spLocks noChangeArrowheads="1"/>
          </p:cNvSpPr>
          <p:nvPr/>
        </p:nvSpPr>
        <p:spPr>
          <a:xfrm>
            <a:off x="698500" y="1917700"/>
            <a:ext cx="11203940" cy="1090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pPr>
            <a:r>
              <a:rPr lang="zh-CN" altLang="en-US" sz="2600" b="1" dirty="0">
                <a:solidFill>
                  <a:srgbClr val="050507"/>
                </a:solidFill>
                <a:latin typeface="+mn-ea"/>
              </a:rPr>
              <a:t>令</a:t>
            </a:r>
            <a:r>
              <a:rPr lang="en-US" altLang="zh-CN" sz="2600" b="1" dirty="0">
                <a:solidFill>
                  <a:srgbClr val="F72F89"/>
                </a:solidFill>
                <a:latin typeface="+mn-ea"/>
              </a:rPr>
              <a:t>X</a:t>
            </a:r>
            <a:r>
              <a:rPr lang="zh-CN" altLang="en-US" sz="2600" b="1" dirty="0">
                <a:solidFill>
                  <a:srgbClr val="050507"/>
                </a:solidFill>
                <a:latin typeface="+mn-ea"/>
              </a:rPr>
              <a:t>为一个</a:t>
            </a:r>
            <a:r>
              <a:rPr lang="zh-CN" altLang="en-US" sz="2600" b="1" dirty="0">
                <a:solidFill>
                  <a:srgbClr val="F72F89"/>
                </a:solidFill>
                <a:latin typeface="+mn-ea"/>
              </a:rPr>
              <a:t>文法符号</a:t>
            </a:r>
            <a:r>
              <a:rPr lang="zh-CN" altLang="en-US" sz="2600" b="1" dirty="0">
                <a:solidFill>
                  <a:srgbClr val="050507"/>
                </a:solidFill>
                <a:latin typeface="+mn-ea"/>
              </a:rPr>
              <a:t>（一个终结符或非终结符）或</a:t>
            </a:r>
            <a:r>
              <a:rPr lang="en-US" altLang="zh-CN" sz="2600" b="1" dirty="0">
                <a:solidFill>
                  <a:srgbClr val="050507"/>
                </a:solidFill>
                <a:latin typeface="+mn-ea"/>
                <a:sym typeface="Symbol" panose="05050102010706020507" pitchFamily="18" charset="2"/>
              </a:rPr>
              <a:t>ε</a:t>
            </a:r>
            <a:r>
              <a:rPr lang="zh-CN" altLang="en-US" sz="2600" b="1" dirty="0">
                <a:solidFill>
                  <a:srgbClr val="050507"/>
                </a:solidFill>
                <a:latin typeface="+mn-ea"/>
              </a:rPr>
              <a:t>，则</a:t>
            </a:r>
            <a:r>
              <a:rPr lang="en-US" altLang="zh-CN" sz="2600" b="1" dirty="0">
                <a:solidFill>
                  <a:srgbClr val="F72F89"/>
                </a:solidFill>
                <a:latin typeface="+mn-ea"/>
              </a:rPr>
              <a:t>First(X)</a:t>
            </a:r>
            <a:r>
              <a:rPr lang="zh-CN" altLang="en-US" sz="2600" b="1" dirty="0">
                <a:solidFill>
                  <a:srgbClr val="050507"/>
                </a:solidFill>
                <a:latin typeface="+mn-ea"/>
              </a:rPr>
              <a:t>是</a:t>
            </a:r>
            <a:r>
              <a:rPr lang="zh-CN" altLang="en-US" sz="2600" b="1" dirty="0">
                <a:solidFill>
                  <a:srgbClr val="F72F89"/>
                </a:solidFill>
                <a:latin typeface="+mn-ea"/>
              </a:rPr>
              <a:t>终结符的集合</a:t>
            </a:r>
            <a:r>
              <a:rPr lang="zh-CN" altLang="en-US" sz="2600" b="1" dirty="0">
                <a:solidFill>
                  <a:srgbClr val="050507"/>
                </a:solidFill>
                <a:latin typeface="+mn-ea"/>
              </a:rPr>
              <a:t>，此外可能还有</a:t>
            </a:r>
            <a:r>
              <a:rPr lang="en-US" altLang="zh-CN" sz="2600" b="1" dirty="0">
                <a:solidFill>
                  <a:srgbClr val="050507"/>
                </a:solidFill>
                <a:latin typeface="+mn-ea"/>
                <a:sym typeface="Symbol" panose="05050102010706020507" pitchFamily="18" charset="2"/>
              </a:rPr>
              <a:t>ε</a:t>
            </a:r>
            <a:r>
              <a:rPr lang="zh-CN" altLang="en-US" sz="2600" b="1" dirty="0">
                <a:solidFill>
                  <a:srgbClr val="050507"/>
                </a:solidFill>
                <a:latin typeface="+mn-ea"/>
              </a:rPr>
              <a:t>，它的定义如下：</a:t>
            </a:r>
            <a:endParaRPr lang="zh-CN" altLang="en-US" sz="2600" b="1" dirty="0">
              <a:solidFill>
                <a:srgbClr val="050507"/>
              </a:solidFill>
              <a:latin typeface="+mn-ea"/>
            </a:endParaRPr>
          </a:p>
        </p:txBody>
      </p:sp>
      <p:sp>
        <p:nvSpPr>
          <p:cNvPr id="2" name="Rectangle 7"/>
          <p:cNvSpPr txBox="1">
            <a:spLocks noChangeArrowheads="1"/>
          </p:cNvSpPr>
          <p:nvPr/>
        </p:nvSpPr>
        <p:spPr>
          <a:xfrm>
            <a:off x="746125" y="3632200"/>
            <a:ext cx="10988040" cy="22561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ct val="50000"/>
              </a:spcBef>
              <a:buFont typeface="+mj-ea"/>
              <a:buAutoNum type="circleNumDbPlain" startAt="2"/>
            </a:pPr>
            <a:r>
              <a:rPr lang="zh-CN" altLang="en-US" sz="2400" b="1" dirty="0">
                <a:solidFill>
                  <a:srgbClr val="050507"/>
                </a:solidFill>
              </a:rPr>
              <a:t>若</a:t>
            </a:r>
            <a:r>
              <a:rPr lang="en-US" altLang="zh-CN" sz="2400" b="1" dirty="0">
                <a:solidFill>
                  <a:srgbClr val="050507"/>
                </a:solidFill>
              </a:rPr>
              <a:t>X</a:t>
            </a:r>
            <a:r>
              <a:rPr lang="zh-CN" altLang="en-US" sz="2400" b="1" dirty="0">
                <a:solidFill>
                  <a:srgbClr val="050507"/>
                </a:solidFill>
              </a:rPr>
              <a:t>是非终结符，则对于</a:t>
            </a:r>
            <a:r>
              <a:rPr lang="en-US" altLang="zh-CN" sz="2400" b="1" dirty="0">
                <a:solidFill>
                  <a:srgbClr val="050507"/>
                </a:solidFill>
              </a:rPr>
              <a:t>X</a:t>
            </a:r>
            <a:r>
              <a:rPr lang="zh-CN" altLang="en-US" sz="2400" b="1" dirty="0">
                <a:solidFill>
                  <a:srgbClr val="050507"/>
                </a:solidFill>
              </a:rPr>
              <a:t>对应的</a:t>
            </a:r>
            <a:r>
              <a:rPr lang="zh-CN" altLang="en-US" sz="2400" b="1" dirty="0">
                <a:solidFill>
                  <a:srgbClr val="F72F89"/>
                </a:solidFill>
              </a:rPr>
              <a:t>每个产生式</a:t>
            </a:r>
            <a:r>
              <a:rPr lang="en-US" altLang="zh-CN" sz="2400" b="1" dirty="0">
                <a:solidFill>
                  <a:srgbClr val="F72F89"/>
                </a:solidFill>
              </a:rPr>
              <a:t>X→X</a:t>
            </a:r>
            <a:r>
              <a:rPr lang="en-US" altLang="zh-CN" sz="2400" b="1" baseline="-25000" dirty="0">
                <a:solidFill>
                  <a:srgbClr val="F72F89"/>
                </a:solidFill>
              </a:rPr>
              <a:t>1</a:t>
            </a:r>
            <a:r>
              <a:rPr lang="en-US" altLang="zh-CN" sz="2400" b="1" dirty="0">
                <a:solidFill>
                  <a:srgbClr val="F72F89"/>
                </a:solidFill>
              </a:rPr>
              <a:t>X</a:t>
            </a:r>
            <a:r>
              <a:rPr lang="en-US" altLang="zh-CN" sz="2400" b="1" baseline="-25000" dirty="0">
                <a:solidFill>
                  <a:srgbClr val="F72F89"/>
                </a:solidFill>
              </a:rPr>
              <a:t>2</a:t>
            </a:r>
            <a:r>
              <a:rPr lang="en-US" altLang="zh-CN" sz="2400" b="1" dirty="0">
                <a:solidFill>
                  <a:srgbClr val="F72F89"/>
                </a:solidFill>
              </a:rPr>
              <a:t>...</a:t>
            </a:r>
            <a:r>
              <a:rPr lang="en-US" altLang="zh-CN" sz="2400" b="1" dirty="0" err="1">
                <a:solidFill>
                  <a:srgbClr val="F72F89"/>
                </a:solidFill>
              </a:rPr>
              <a:t>X</a:t>
            </a:r>
            <a:r>
              <a:rPr lang="en-US" altLang="zh-CN" sz="2400" b="1" baseline="-25000" dirty="0" err="1">
                <a:solidFill>
                  <a:srgbClr val="F72F89"/>
                </a:solidFill>
              </a:rPr>
              <a:t>n</a:t>
            </a:r>
            <a:r>
              <a:rPr lang="en-US" altLang="zh-CN" sz="2400" b="1" i="1" dirty="0">
                <a:solidFill>
                  <a:srgbClr val="050507"/>
                </a:solidFill>
              </a:rPr>
              <a:t> </a:t>
            </a:r>
            <a:r>
              <a:rPr lang="en-US" altLang="zh-CN" sz="2400" b="1" dirty="0">
                <a:solidFill>
                  <a:srgbClr val="050507"/>
                </a:solidFill>
              </a:rPr>
              <a:t>，</a:t>
            </a:r>
            <a:endParaRPr lang="zh-CN" altLang="en-US" sz="2400" b="1" dirty="0">
              <a:solidFill>
                <a:srgbClr val="050507"/>
              </a:solidFill>
            </a:endParaRPr>
          </a:p>
          <a:p>
            <a:pPr marL="914400" lvl="1" indent="-457200">
              <a:lnSpc>
                <a:spcPct val="120000"/>
              </a:lnSpc>
              <a:spcBef>
                <a:spcPts val="50"/>
              </a:spcBef>
              <a:spcAft>
                <a:spcPts val="0"/>
              </a:spcAft>
              <a:buFont typeface="+mj-lt"/>
              <a:buAutoNum type="alphaLcParenR"/>
            </a:pPr>
            <a:r>
              <a:rPr lang="en-US" altLang="zh-CN" b="1" dirty="0">
                <a:solidFill>
                  <a:srgbClr val="F72F89"/>
                </a:solidFill>
              </a:rPr>
              <a:t>First(X)</a:t>
            </a:r>
            <a:r>
              <a:rPr lang="zh-CN" altLang="en-US" b="1" dirty="0">
                <a:solidFill>
                  <a:srgbClr val="F72F89"/>
                </a:solidFill>
              </a:rPr>
              <a:t>包括 </a:t>
            </a:r>
            <a:r>
              <a:rPr lang="en-US" altLang="zh-CN" b="1" dirty="0">
                <a:solidFill>
                  <a:srgbClr val="F72F89"/>
                </a:solidFill>
              </a:rPr>
              <a:t>First(X</a:t>
            </a:r>
            <a:r>
              <a:rPr lang="en-US" altLang="zh-CN" b="1" baseline="-25000" dirty="0">
                <a:solidFill>
                  <a:srgbClr val="F72F89"/>
                </a:solidFill>
              </a:rPr>
              <a:t>1</a:t>
            </a:r>
            <a:r>
              <a:rPr lang="en-US" altLang="zh-CN" b="1" dirty="0">
                <a:solidFill>
                  <a:srgbClr val="F72F89"/>
                </a:solidFill>
              </a:rPr>
              <a:t>)-{</a:t>
            </a:r>
            <a:r>
              <a:rPr lang="en-US" altLang="zh-CN" b="1" dirty="0">
                <a:solidFill>
                  <a:srgbClr val="F72F89"/>
                </a:solidFill>
                <a:sym typeface="Symbol" panose="05050102010706020507" pitchFamily="18" charset="2"/>
              </a:rPr>
              <a:t>ε</a:t>
            </a:r>
            <a:r>
              <a:rPr lang="en-US" altLang="zh-CN" b="1" dirty="0">
                <a:solidFill>
                  <a:srgbClr val="F72F89"/>
                </a:solidFill>
              </a:rPr>
              <a:t>}</a:t>
            </a:r>
            <a:r>
              <a:rPr lang="en-US" altLang="zh-CN" b="1" dirty="0">
                <a:solidFill>
                  <a:srgbClr val="050507"/>
                </a:solidFill>
              </a:rPr>
              <a:t>。</a:t>
            </a:r>
            <a:endParaRPr lang="en-US" altLang="zh-CN" b="1" dirty="0">
              <a:solidFill>
                <a:srgbClr val="050507"/>
              </a:solidFill>
            </a:endParaRPr>
          </a:p>
          <a:p>
            <a:pPr marL="914400" lvl="1" indent="-457200">
              <a:lnSpc>
                <a:spcPct val="120000"/>
              </a:lnSpc>
              <a:spcBef>
                <a:spcPts val="50"/>
              </a:spcBef>
              <a:spcAft>
                <a:spcPts val="0"/>
              </a:spcAft>
              <a:buFont typeface="+mj-lt"/>
              <a:buAutoNum type="alphaLcParenR"/>
            </a:pPr>
            <a:r>
              <a:rPr lang="zh-CN" altLang="en-US" b="1" dirty="0">
                <a:solidFill>
                  <a:srgbClr val="050507"/>
                </a:solidFill>
              </a:rPr>
              <a:t>对于</a:t>
            </a:r>
            <a:r>
              <a:rPr lang="en-US" altLang="zh-CN" b="1" dirty="0" err="1">
                <a:solidFill>
                  <a:srgbClr val="F72F89"/>
                </a:solidFill>
              </a:rPr>
              <a:t>i</a:t>
            </a:r>
            <a:r>
              <a:rPr lang="en-US" altLang="zh-CN" b="1" dirty="0">
                <a:solidFill>
                  <a:srgbClr val="F72F89"/>
                </a:solidFill>
              </a:rPr>
              <a:t>&lt;n</a:t>
            </a:r>
            <a:r>
              <a:rPr lang="en-US" altLang="zh-CN" b="1" dirty="0">
                <a:solidFill>
                  <a:srgbClr val="050507"/>
                </a:solidFill>
              </a:rPr>
              <a:t>，</a:t>
            </a:r>
            <a:r>
              <a:rPr lang="zh-CN" altLang="en-US" b="1" dirty="0">
                <a:solidFill>
                  <a:srgbClr val="050507"/>
                </a:solidFill>
              </a:rPr>
              <a:t>若</a:t>
            </a:r>
            <a:r>
              <a:rPr lang="en-US" altLang="zh-CN" b="1" dirty="0">
                <a:solidFill>
                  <a:srgbClr val="050507"/>
                </a:solidFill>
              </a:rPr>
              <a:t>First(X</a:t>
            </a:r>
            <a:r>
              <a:rPr lang="en-US" altLang="zh-CN" b="1" baseline="-25000" dirty="0">
                <a:solidFill>
                  <a:srgbClr val="F72F89"/>
                </a:solidFill>
              </a:rPr>
              <a:t>1</a:t>
            </a:r>
            <a:r>
              <a:rPr lang="en-US" altLang="zh-CN" b="1" dirty="0">
                <a:solidFill>
                  <a:srgbClr val="050507"/>
                </a:solidFill>
              </a:rPr>
              <a:t>),…,First(X</a:t>
            </a:r>
            <a:r>
              <a:rPr lang="en-US" altLang="zh-CN" b="1" baseline="-25000" dirty="0">
                <a:solidFill>
                  <a:srgbClr val="F72F89"/>
                </a:solidFill>
              </a:rPr>
              <a:t>i</a:t>
            </a:r>
            <a:r>
              <a:rPr lang="en-US" altLang="zh-CN" b="1" dirty="0">
                <a:solidFill>
                  <a:srgbClr val="050507"/>
                </a:solidFill>
              </a:rPr>
              <a:t>)</a:t>
            </a:r>
            <a:r>
              <a:rPr lang="zh-CN" altLang="en-US" b="1" dirty="0">
                <a:solidFill>
                  <a:srgbClr val="050507"/>
                </a:solidFill>
              </a:rPr>
              <a:t>都包括了</a:t>
            </a:r>
            <a:r>
              <a:rPr lang="en-US" altLang="zh-CN" b="1" dirty="0">
                <a:solidFill>
                  <a:srgbClr val="050507"/>
                </a:solidFill>
                <a:sym typeface="Symbol" panose="05050102010706020507" pitchFamily="18" charset="2"/>
              </a:rPr>
              <a:t>ε</a:t>
            </a:r>
            <a:r>
              <a:rPr lang="zh-CN" altLang="en-US" b="1" dirty="0">
                <a:solidFill>
                  <a:srgbClr val="050507"/>
                </a:solidFill>
              </a:rPr>
              <a:t>，则</a:t>
            </a:r>
            <a:r>
              <a:rPr lang="en-US" altLang="zh-CN" b="1" dirty="0">
                <a:solidFill>
                  <a:srgbClr val="F72F89"/>
                </a:solidFill>
              </a:rPr>
              <a:t>First(X)</a:t>
            </a:r>
            <a:r>
              <a:rPr lang="zh-CN" altLang="en-US" b="1" dirty="0">
                <a:solidFill>
                  <a:srgbClr val="F72F89"/>
                </a:solidFill>
              </a:rPr>
              <a:t>也包括</a:t>
            </a:r>
            <a:r>
              <a:rPr lang="en-US" altLang="zh-CN" b="1" dirty="0">
                <a:solidFill>
                  <a:srgbClr val="F72F89"/>
                </a:solidFill>
              </a:rPr>
              <a:t>First(X</a:t>
            </a:r>
            <a:r>
              <a:rPr lang="en-US" altLang="zh-CN" b="1" baseline="-25000" dirty="0">
                <a:solidFill>
                  <a:srgbClr val="F72F89"/>
                </a:solidFill>
              </a:rPr>
              <a:t>i+1</a:t>
            </a:r>
            <a:r>
              <a:rPr lang="en-US" altLang="zh-CN" b="1" dirty="0">
                <a:solidFill>
                  <a:srgbClr val="F72F89"/>
                </a:solidFill>
              </a:rPr>
              <a:t>)-{</a:t>
            </a:r>
            <a:r>
              <a:rPr lang="en-US" altLang="zh-CN" b="1" dirty="0">
                <a:solidFill>
                  <a:srgbClr val="F72F89"/>
                </a:solidFill>
                <a:sym typeface="Symbol" panose="05050102010706020507" pitchFamily="18" charset="2"/>
              </a:rPr>
              <a:t>ε</a:t>
            </a:r>
            <a:r>
              <a:rPr lang="en-US" altLang="zh-CN" b="1" dirty="0">
                <a:solidFill>
                  <a:srgbClr val="F72F89"/>
                </a:solidFill>
              </a:rPr>
              <a:t>}</a:t>
            </a:r>
            <a:r>
              <a:rPr lang="en-US" altLang="zh-CN" b="1" dirty="0">
                <a:solidFill>
                  <a:srgbClr val="050507"/>
                </a:solidFill>
              </a:rPr>
              <a:t>。</a:t>
            </a:r>
            <a:endParaRPr lang="en-US" altLang="zh-CN" b="1" dirty="0">
              <a:solidFill>
                <a:srgbClr val="050507"/>
              </a:solidFill>
            </a:endParaRPr>
          </a:p>
          <a:p>
            <a:pPr marL="914400" lvl="1" indent="-457200">
              <a:lnSpc>
                <a:spcPct val="120000"/>
              </a:lnSpc>
              <a:spcBef>
                <a:spcPts val="50"/>
              </a:spcBef>
              <a:spcAft>
                <a:spcPts val="0"/>
              </a:spcAft>
              <a:buFont typeface="+mj-lt"/>
              <a:buAutoNum type="alphaLcParenR"/>
            </a:pPr>
            <a:r>
              <a:rPr lang="zh-CN" altLang="en-US" b="1" dirty="0">
                <a:solidFill>
                  <a:srgbClr val="050507"/>
                </a:solidFill>
              </a:rPr>
              <a:t>若</a:t>
            </a:r>
            <a:r>
              <a:rPr lang="en-US" altLang="zh-CN" b="1" dirty="0">
                <a:solidFill>
                  <a:srgbClr val="050507"/>
                </a:solidFill>
              </a:rPr>
              <a:t>First (X</a:t>
            </a:r>
            <a:r>
              <a:rPr lang="en-US" altLang="zh-CN" b="1" baseline="-25000" dirty="0">
                <a:solidFill>
                  <a:srgbClr val="050507"/>
                </a:solidFill>
              </a:rPr>
              <a:t>1</a:t>
            </a:r>
            <a:r>
              <a:rPr lang="en-US" altLang="zh-CN" b="1" dirty="0">
                <a:solidFill>
                  <a:srgbClr val="050507"/>
                </a:solidFill>
              </a:rPr>
              <a:t>),..., First(</a:t>
            </a:r>
            <a:r>
              <a:rPr lang="en-US" altLang="zh-CN" b="1" dirty="0" err="1">
                <a:solidFill>
                  <a:srgbClr val="050507"/>
                </a:solidFill>
              </a:rPr>
              <a:t>X</a:t>
            </a:r>
            <a:r>
              <a:rPr lang="en-US" altLang="zh-CN" b="1" baseline="-25000" dirty="0" err="1">
                <a:solidFill>
                  <a:srgbClr val="050507"/>
                </a:solidFill>
              </a:rPr>
              <a:t>n</a:t>
            </a:r>
            <a:r>
              <a:rPr lang="en-US" altLang="zh-CN" b="1" dirty="0">
                <a:solidFill>
                  <a:srgbClr val="050507"/>
                </a:solidFill>
              </a:rPr>
              <a:t>)</a:t>
            </a:r>
            <a:r>
              <a:rPr lang="zh-CN" altLang="en-US" b="1" dirty="0">
                <a:solidFill>
                  <a:srgbClr val="050507"/>
                </a:solidFill>
              </a:rPr>
              <a:t>包括了</a:t>
            </a:r>
            <a:r>
              <a:rPr lang="en-US" altLang="zh-CN" b="1" dirty="0">
                <a:solidFill>
                  <a:srgbClr val="050507"/>
                </a:solidFill>
                <a:sym typeface="Symbol" panose="05050102010706020507" pitchFamily="18" charset="2"/>
              </a:rPr>
              <a:t>ε</a:t>
            </a:r>
            <a:r>
              <a:rPr lang="zh-CN" altLang="en-US" b="1" dirty="0">
                <a:solidFill>
                  <a:srgbClr val="050507"/>
                </a:solidFill>
              </a:rPr>
              <a:t>，则</a:t>
            </a:r>
            <a:r>
              <a:rPr lang="en-US" altLang="zh-CN" b="1" dirty="0">
                <a:solidFill>
                  <a:srgbClr val="F72F89"/>
                </a:solidFill>
              </a:rPr>
              <a:t>First(X)</a:t>
            </a:r>
            <a:r>
              <a:rPr lang="zh-CN" altLang="en-US" b="1" dirty="0">
                <a:solidFill>
                  <a:srgbClr val="F72F89"/>
                </a:solidFill>
              </a:rPr>
              <a:t>也包括</a:t>
            </a:r>
            <a:r>
              <a:rPr lang="en-US" altLang="zh-CN" b="1" dirty="0">
                <a:solidFill>
                  <a:srgbClr val="F72F89"/>
                </a:solidFill>
                <a:sym typeface="Symbol" panose="05050102010706020507" pitchFamily="18" charset="2"/>
              </a:rPr>
              <a:t>ε</a:t>
            </a:r>
            <a:r>
              <a:rPr lang="zh-CN" altLang="en-US" b="1" dirty="0">
                <a:solidFill>
                  <a:srgbClr val="050507"/>
                </a:solidFill>
              </a:rPr>
              <a:t>。</a:t>
            </a:r>
            <a:endParaRPr lang="zh-CN" altLang="en-US" b="1" dirty="0">
              <a:solidFill>
                <a:srgbClr val="050507"/>
              </a:solidFill>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arn(in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out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trips(down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608965" y="219075"/>
            <a:ext cx="7602855"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18" name="Rectangle 20"/>
          <p:cNvSpPr txBox="1">
            <a:spLocks noChangeArrowheads="1"/>
          </p:cNvSpPr>
          <p:nvPr/>
        </p:nvSpPr>
        <p:spPr>
          <a:xfrm>
            <a:off x="565150" y="1352550"/>
            <a:ext cx="9822815" cy="502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solidFill>
                  <a:srgbClr val="0070C0"/>
                </a:solidFill>
                <a:latin typeface="+mn-ea"/>
              </a:rPr>
              <a:t>例：考虑下述简单整型表达式文法，求各非终结符的</a:t>
            </a:r>
            <a:r>
              <a:rPr lang="en-US" altLang="zh-CN" sz="2400" b="1" dirty="0">
                <a:solidFill>
                  <a:srgbClr val="0070C0"/>
                </a:solidFill>
                <a:latin typeface="+mn-ea"/>
              </a:rPr>
              <a:t>First()</a:t>
            </a:r>
            <a:r>
              <a:rPr lang="zh-CN" altLang="en-US" sz="2400" b="1" dirty="0">
                <a:solidFill>
                  <a:srgbClr val="0070C0"/>
                </a:solidFill>
                <a:latin typeface="+mn-ea"/>
              </a:rPr>
              <a:t>集合；</a:t>
            </a:r>
            <a:endParaRPr lang="zh-CN" altLang="en-US" sz="2400" b="1" dirty="0">
              <a:solidFill>
                <a:srgbClr val="0070C0"/>
              </a:solidFill>
              <a:latin typeface="+mn-ea"/>
            </a:endParaRPr>
          </a:p>
        </p:txBody>
      </p:sp>
      <p:sp>
        <p:nvSpPr>
          <p:cNvPr id="9" name="Rectangle 7"/>
          <p:cNvSpPr txBox="1">
            <a:spLocks noChangeArrowheads="1"/>
          </p:cNvSpPr>
          <p:nvPr/>
        </p:nvSpPr>
        <p:spPr>
          <a:xfrm>
            <a:off x="1856796" y="1930857"/>
            <a:ext cx="8001000" cy="37972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5000"/>
              </a:lnSpc>
              <a:buNone/>
            </a:pPr>
            <a:r>
              <a:rPr lang="en-US" altLang="zh-CN" sz="2400" dirty="0">
                <a:solidFill>
                  <a:srgbClr val="050507"/>
                </a:solidFill>
              </a:rPr>
              <a:t>(1)</a:t>
            </a:r>
            <a:r>
              <a:rPr lang="en-US" altLang="zh-CN" sz="2400" i="1" dirty="0" err="1">
                <a:solidFill>
                  <a:srgbClr val="050507"/>
                </a:solidFill>
              </a:rPr>
              <a:t>exp→exp</a:t>
            </a:r>
            <a:r>
              <a:rPr lang="en-US" altLang="zh-CN" sz="2400" i="1" dirty="0">
                <a:solidFill>
                  <a:srgbClr val="050507"/>
                </a:solidFill>
              </a:rPr>
              <a:t> </a:t>
            </a:r>
            <a:r>
              <a:rPr lang="en-US" altLang="zh-CN" sz="2400" i="1" dirty="0" err="1">
                <a:solidFill>
                  <a:srgbClr val="050507"/>
                </a:solidFill>
              </a:rPr>
              <a:t>addop</a:t>
            </a:r>
            <a:r>
              <a:rPr lang="en-US" altLang="zh-CN" sz="2400" i="1" dirty="0">
                <a:solidFill>
                  <a:srgbClr val="050507"/>
                </a:solidFill>
              </a:rPr>
              <a:t> term </a:t>
            </a:r>
            <a:endParaRPr lang="en-US" altLang="zh-CN" sz="2400" i="1" dirty="0">
              <a:solidFill>
                <a:srgbClr val="050507"/>
              </a:solidFill>
            </a:endParaRPr>
          </a:p>
          <a:p>
            <a:pPr marL="0" indent="0">
              <a:lnSpc>
                <a:spcPct val="75000"/>
              </a:lnSpc>
              <a:buNone/>
            </a:pPr>
            <a:r>
              <a:rPr lang="zh-CN" altLang="en-US" sz="2400" dirty="0">
                <a:solidFill>
                  <a:srgbClr val="050507"/>
                </a:solidFill>
              </a:rPr>
              <a:t>(2) </a:t>
            </a:r>
            <a:r>
              <a:rPr lang="en-US" altLang="zh-CN" sz="2400" i="1" dirty="0" err="1">
                <a:solidFill>
                  <a:srgbClr val="050507"/>
                </a:solidFill>
              </a:rPr>
              <a:t>exp</a:t>
            </a:r>
            <a:r>
              <a:rPr lang="en-US" altLang="zh-CN" sz="2400" dirty="0" err="1">
                <a:solidFill>
                  <a:srgbClr val="050507"/>
                </a:solidFill>
              </a:rPr>
              <a:t>→</a:t>
            </a:r>
            <a:r>
              <a:rPr lang="en-US" altLang="zh-CN" sz="2400" i="1" dirty="0" err="1">
                <a:solidFill>
                  <a:srgbClr val="050507"/>
                </a:solidFill>
              </a:rPr>
              <a:t>term</a:t>
            </a:r>
            <a:endParaRPr lang="en-US" altLang="zh-CN" sz="2400" i="1" dirty="0">
              <a:solidFill>
                <a:srgbClr val="050507"/>
              </a:solidFill>
            </a:endParaRPr>
          </a:p>
          <a:p>
            <a:pPr marL="0" indent="0">
              <a:lnSpc>
                <a:spcPct val="75000"/>
              </a:lnSpc>
              <a:buNone/>
            </a:pPr>
            <a:r>
              <a:rPr lang="zh-CN" altLang="en-US" sz="2400" dirty="0">
                <a:solidFill>
                  <a:srgbClr val="050507"/>
                </a:solidFill>
              </a:rPr>
              <a:t>(3) </a:t>
            </a:r>
            <a:r>
              <a:rPr lang="en-US" altLang="zh-CN" sz="2400" i="1" dirty="0" err="1">
                <a:solidFill>
                  <a:srgbClr val="050507"/>
                </a:solidFill>
              </a:rPr>
              <a:t>addop</a:t>
            </a:r>
            <a:r>
              <a:rPr lang="en-US" altLang="zh-CN" sz="2400" dirty="0">
                <a:solidFill>
                  <a:srgbClr val="050507"/>
                </a:solidFill>
              </a:rPr>
              <a:t>→</a:t>
            </a:r>
            <a:r>
              <a:rPr lang="en-US" altLang="zh-CN" sz="2400" dirty="0">
                <a:solidFill>
                  <a:srgbClr val="F72F89"/>
                </a:solidFill>
              </a:rPr>
              <a:t>+</a:t>
            </a:r>
            <a:r>
              <a:rPr lang="en-US" altLang="zh-CN" sz="2400" dirty="0">
                <a:solidFill>
                  <a:srgbClr val="050507"/>
                </a:solidFill>
              </a:rPr>
              <a:t> </a:t>
            </a:r>
            <a:endParaRPr lang="en-US" altLang="zh-CN" sz="2400" dirty="0">
              <a:solidFill>
                <a:srgbClr val="050507"/>
              </a:solidFill>
            </a:endParaRPr>
          </a:p>
          <a:p>
            <a:pPr marL="0" indent="0">
              <a:lnSpc>
                <a:spcPct val="75000"/>
              </a:lnSpc>
              <a:buNone/>
            </a:pPr>
            <a:r>
              <a:rPr lang="zh-CN" altLang="en-US" sz="2400" dirty="0">
                <a:solidFill>
                  <a:srgbClr val="050507"/>
                </a:solidFill>
              </a:rPr>
              <a:t>(4) </a:t>
            </a:r>
            <a:r>
              <a:rPr lang="en-US" altLang="zh-CN" sz="2400" i="1" dirty="0" err="1">
                <a:solidFill>
                  <a:srgbClr val="050507"/>
                </a:solidFill>
              </a:rPr>
              <a:t>addop</a:t>
            </a:r>
            <a:r>
              <a:rPr lang="en-US" altLang="zh-CN" sz="2400" dirty="0">
                <a:solidFill>
                  <a:srgbClr val="050507"/>
                </a:solidFill>
              </a:rPr>
              <a:t>→</a:t>
            </a:r>
            <a:r>
              <a:rPr lang="en-US" altLang="zh-CN" sz="2400" dirty="0">
                <a:solidFill>
                  <a:srgbClr val="F72F89"/>
                </a:solidFill>
              </a:rPr>
              <a:t>-</a:t>
            </a:r>
            <a:endParaRPr lang="en-US" altLang="zh-CN" sz="2400" dirty="0">
              <a:solidFill>
                <a:srgbClr val="F72F89"/>
              </a:solidFill>
            </a:endParaRPr>
          </a:p>
          <a:p>
            <a:pPr marL="0" indent="0">
              <a:lnSpc>
                <a:spcPct val="75000"/>
              </a:lnSpc>
              <a:buNone/>
            </a:pPr>
            <a:r>
              <a:rPr lang="zh-CN" altLang="en-US" sz="2400" dirty="0">
                <a:solidFill>
                  <a:srgbClr val="050507"/>
                </a:solidFill>
              </a:rPr>
              <a:t>(5) </a:t>
            </a:r>
            <a:r>
              <a:rPr lang="en-US" altLang="zh-CN" sz="2400" i="1" dirty="0" err="1">
                <a:solidFill>
                  <a:srgbClr val="050507"/>
                </a:solidFill>
              </a:rPr>
              <a:t>term</a:t>
            </a:r>
            <a:r>
              <a:rPr lang="en-US" altLang="zh-CN" sz="2400" dirty="0" err="1">
                <a:solidFill>
                  <a:srgbClr val="050507"/>
                </a:solidFill>
              </a:rPr>
              <a:t>→</a:t>
            </a:r>
            <a:r>
              <a:rPr lang="en-US" altLang="zh-CN" sz="2400" i="1" dirty="0" err="1">
                <a:solidFill>
                  <a:srgbClr val="050507"/>
                </a:solidFill>
              </a:rPr>
              <a:t>term</a:t>
            </a:r>
            <a:r>
              <a:rPr lang="en-US" altLang="zh-CN" sz="2400" i="1" dirty="0">
                <a:solidFill>
                  <a:srgbClr val="050507"/>
                </a:solidFill>
              </a:rPr>
              <a:t> </a:t>
            </a:r>
            <a:r>
              <a:rPr lang="en-US" altLang="zh-CN" sz="2400" i="1" dirty="0" err="1">
                <a:solidFill>
                  <a:srgbClr val="050507"/>
                </a:solidFill>
              </a:rPr>
              <a:t>mulop</a:t>
            </a:r>
            <a:r>
              <a:rPr lang="en-US" altLang="zh-CN" sz="2400" i="1" dirty="0">
                <a:solidFill>
                  <a:srgbClr val="050507"/>
                </a:solidFill>
              </a:rPr>
              <a:t> factor</a:t>
            </a:r>
            <a:endParaRPr lang="en-US" altLang="zh-CN" sz="2400" i="1" dirty="0">
              <a:solidFill>
                <a:srgbClr val="050507"/>
              </a:solidFill>
            </a:endParaRPr>
          </a:p>
          <a:p>
            <a:pPr marL="0" indent="0">
              <a:lnSpc>
                <a:spcPct val="75000"/>
              </a:lnSpc>
              <a:buNone/>
            </a:pPr>
            <a:r>
              <a:rPr lang="zh-CN" altLang="en-US" sz="2400" i="1" dirty="0">
                <a:solidFill>
                  <a:srgbClr val="050507"/>
                </a:solidFill>
              </a:rPr>
              <a:t>(6) </a:t>
            </a:r>
            <a:r>
              <a:rPr lang="en-US" altLang="zh-CN" sz="2400" i="1" dirty="0">
                <a:solidFill>
                  <a:srgbClr val="050507"/>
                </a:solidFill>
              </a:rPr>
              <a:t>term </a:t>
            </a:r>
            <a:r>
              <a:rPr lang="en-US" altLang="zh-CN" sz="2400" dirty="0">
                <a:solidFill>
                  <a:srgbClr val="050507"/>
                </a:solidFill>
              </a:rPr>
              <a:t>→</a:t>
            </a:r>
            <a:r>
              <a:rPr lang="en-US" altLang="zh-CN" sz="2400" i="1" dirty="0">
                <a:solidFill>
                  <a:srgbClr val="050507"/>
                </a:solidFill>
              </a:rPr>
              <a:t> factor</a:t>
            </a:r>
            <a:endParaRPr lang="en-US" altLang="zh-CN" sz="2400" i="1" dirty="0">
              <a:solidFill>
                <a:srgbClr val="050507"/>
              </a:solidFill>
            </a:endParaRPr>
          </a:p>
          <a:p>
            <a:pPr marL="0" indent="0">
              <a:lnSpc>
                <a:spcPct val="75000"/>
              </a:lnSpc>
              <a:buNone/>
            </a:pPr>
            <a:r>
              <a:rPr lang="zh-CN" altLang="en-US" sz="2400" dirty="0">
                <a:solidFill>
                  <a:srgbClr val="050507"/>
                </a:solidFill>
              </a:rPr>
              <a:t>(7) </a:t>
            </a:r>
            <a:r>
              <a:rPr lang="en-US" altLang="zh-CN" sz="2400" i="1" dirty="0" err="1">
                <a:solidFill>
                  <a:srgbClr val="050507"/>
                </a:solidFill>
              </a:rPr>
              <a:t>mulop</a:t>
            </a:r>
            <a:r>
              <a:rPr lang="en-US" altLang="zh-CN" sz="2400" dirty="0">
                <a:solidFill>
                  <a:srgbClr val="050507"/>
                </a:solidFill>
              </a:rPr>
              <a:t>→</a:t>
            </a:r>
            <a:r>
              <a:rPr lang="en-US" altLang="zh-CN" sz="2400" dirty="0">
                <a:solidFill>
                  <a:srgbClr val="F72F89"/>
                </a:solidFill>
              </a:rPr>
              <a:t>*</a:t>
            </a:r>
            <a:r>
              <a:rPr lang="en-US" altLang="zh-CN" sz="2400" dirty="0">
                <a:solidFill>
                  <a:srgbClr val="050507"/>
                </a:solidFill>
              </a:rPr>
              <a:t> </a:t>
            </a:r>
            <a:endParaRPr lang="en-US" altLang="zh-CN" sz="2400" dirty="0">
              <a:solidFill>
                <a:srgbClr val="050507"/>
              </a:solidFill>
            </a:endParaRPr>
          </a:p>
          <a:p>
            <a:pPr marL="0" indent="0">
              <a:lnSpc>
                <a:spcPct val="75000"/>
              </a:lnSpc>
              <a:buNone/>
            </a:pPr>
            <a:r>
              <a:rPr lang="zh-CN" altLang="en-US" sz="2400" dirty="0">
                <a:solidFill>
                  <a:srgbClr val="050507"/>
                </a:solidFill>
              </a:rPr>
              <a:t>(8) </a:t>
            </a:r>
            <a:r>
              <a:rPr lang="en-US" altLang="zh-CN" sz="2400" i="1" dirty="0">
                <a:solidFill>
                  <a:srgbClr val="050507"/>
                </a:solidFill>
              </a:rPr>
              <a:t>factor</a:t>
            </a:r>
            <a:r>
              <a:rPr lang="en-US" altLang="zh-CN" sz="2400" dirty="0">
                <a:solidFill>
                  <a:srgbClr val="050507"/>
                </a:solidFill>
              </a:rPr>
              <a:t>→</a:t>
            </a:r>
            <a:r>
              <a:rPr lang="en-US" altLang="zh-CN" sz="2400" dirty="0">
                <a:solidFill>
                  <a:srgbClr val="F72F89"/>
                </a:solidFill>
              </a:rPr>
              <a:t>(</a:t>
            </a:r>
            <a:r>
              <a:rPr lang="en-US" altLang="zh-CN" sz="2400" i="1" dirty="0">
                <a:solidFill>
                  <a:srgbClr val="050507"/>
                </a:solidFill>
              </a:rPr>
              <a:t>exp</a:t>
            </a:r>
            <a:r>
              <a:rPr lang="en-US" altLang="zh-CN" sz="2400" dirty="0">
                <a:solidFill>
                  <a:srgbClr val="F72F89"/>
                </a:solidFill>
              </a:rPr>
              <a:t>)</a:t>
            </a:r>
            <a:endParaRPr lang="en-US" altLang="zh-CN" sz="2400" dirty="0">
              <a:solidFill>
                <a:srgbClr val="F72F89"/>
              </a:solidFill>
            </a:endParaRPr>
          </a:p>
          <a:p>
            <a:pPr marL="0" indent="0">
              <a:lnSpc>
                <a:spcPct val="75000"/>
              </a:lnSpc>
              <a:buNone/>
            </a:pPr>
            <a:r>
              <a:rPr lang="zh-CN" altLang="en-US" sz="2400" dirty="0">
                <a:solidFill>
                  <a:srgbClr val="050507"/>
                </a:solidFill>
              </a:rPr>
              <a:t>(9) </a:t>
            </a:r>
            <a:r>
              <a:rPr lang="en-US" altLang="zh-CN" sz="2400" i="1" dirty="0" err="1">
                <a:solidFill>
                  <a:srgbClr val="050507"/>
                </a:solidFill>
              </a:rPr>
              <a:t>factor</a:t>
            </a:r>
            <a:r>
              <a:rPr lang="en-US" altLang="zh-CN" sz="2400" dirty="0" err="1">
                <a:solidFill>
                  <a:srgbClr val="050507"/>
                </a:solidFill>
              </a:rPr>
              <a:t>→</a:t>
            </a:r>
            <a:r>
              <a:rPr lang="en-US" altLang="zh-CN" sz="2400" dirty="0" err="1">
                <a:solidFill>
                  <a:srgbClr val="F72F89"/>
                </a:solidFill>
              </a:rPr>
              <a:t>number</a:t>
            </a:r>
            <a:endParaRPr lang="en-US" altLang="zh-CN" sz="2400" dirty="0">
              <a:solidFill>
                <a:srgbClr val="F72F89"/>
              </a:solidFill>
            </a:endParaRPr>
          </a:p>
        </p:txBody>
      </p:sp>
      <p:sp>
        <p:nvSpPr>
          <p:cNvPr id="2" name="Rectangle 3"/>
          <p:cNvSpPr>
            <a:spLocks noChangeArrowheads="1"/>
          </p:cNvSpPr>
          <p:nvPr/>
        </p:nvSpPr>
        <p:spPr bwMode="auto">
          <a:xfrm>
            <a:off x="6786581" y="2644381"/>
            <a:ext cx="200473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dirty="0">
                <a:solidFill>
                  <a:srgbClr val="050507"/>
                </a:solidFill>
              </a:rPr>
              <a:t>First(</a:t>
            </a:r>
            <a:r>
              <a:rPr lang="en-US" altLang="zh-CN" sz="2400" b="0" i="1" dirty="0" err="1">
                <a:solidFill>
                  <a:srgbClr val="050507"/>
                </a:solidFill>
              </a:rPr>
              <a:t>mulop</a:t>
            </a:r>
            <a:r>
              <a:rPr lang="en-US" altLang="zh-CN" sz="2400" b="0" dirty="0">
                <a:solidFill>
                  <a:srgbClr val="050507"/>
                </a:solidFill>
              </a:rPr>
              <a:t>)=</a:t>
            </a:r>
            <a:endParaRPr lang="en-US" altLang="zh-CN" sz="2400" b="0" dirty="0">
              <a:solidFill>
                <a:srgbClr val="050507"/>
              </a:solidFill>
            </a:endParaRPr>
          </a:p>
        </p:txBody>
      </p:sp>
      <p:sp>
        <p:nvSpPr>
          <p:cNvPr id="7" name="Rectangle 4"/>
          <p:cNvSpPr>
            <a:spLocks noChangeArrowheads="1"/>
          </p:cNvSpPr>
          <p:nvPr/>
        </p:nvSpPr>
        <p:spPr bwMode="auto">
          <a:xfrm>
            <a:off x="6786581" y="3801966"/>
            <a:ext cx="2057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dirty="0">
                <a:solidFill>
                  <a:srgbClr val="050507"/>
                </a:solidFill>
              </a:rPr>
              <a:t>First(</a:t>
            </a:r>
            <a:r>
              <a:rPr lang="en-US" altLang="zh-CN" sz="2400" b="0" i="1" dirty="0">
                <a:solidFill>
                  <a:srgbClr val="050507"/>
                </a:solidFill>
              </a:rPr>
              <a:t>factor</a:t>
            </a:r>
            <a:r>
              <a:rPr lang="en-US" altLang="zh-CN" sz="2400" b="0" dirty="0">
                <a:solidFill>
                  <a:srgbClr val="050507"/>
                </a:solidFill>
              </a:rPr>
              <a:t>)=</a:t>
            </a:r>
            <a:endParaRPr lang="en-US" altLang="zh-CN" sz="2400" b="0" dirty="0">
              <a:solidFill>
                <a:srgbClr val="050507"/>
              </a:solidFill>
            </a:endParaRPr>
          </a:p>
        </p:txBody>
      </p:sp>
      <p:sp>
        <p:nvSpPr>
          <p:cNvPr id="8" name="Rectangle 5"/>
          <p:cNvSpPr>
            <a:spLocks noChangeArrowheads="1"/>
          </p:cNvSpPr>
          <p:nvPr/>
        </p:nvSpPr>
        <p:spPr bwMode="auto">
          <a:xfrm>
            <a:off x="6786581" y="3211118"/>
            <a:ext cx="200473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dirty="0">
                <a:solidFill>
                  <a:srgbClr val="050507"/>
                </a:solidFill>
              </a:rPr>
              <a:t>First(</a:t>
            </a:r>
            <a:r>
              <a:rPr lang="en-US" altLang="zh-CN" sz="2400" b="0" i="1" dirty="0">
                <a:solidFill>
                  <a:srgbClr val="050507"/>
                </a:solidFill>
              </a:rPr>
              <a:t>term</a:t>
            </a:r>
            <a:r>
              <a:rPr lang="en-US" altLang="zh-CN" sz="2400" b="0" dirty="0">
                <a:solidFill>
                  <a:srgbClr val="050507"/>
                </a:solidFill>
              </a:rPr>
              <a:t>)=</a:t>
            </a:r>
            <a:endParaRPr lang="en-US" altLang="zh-CN" sz="2400" b="0" dirty="0">
              <a:solidFill>
                <a:srgbClr val="050507"/>
              </a:solidFill>
            </a:endParaRPr>
          </a:p>
        </p:txBody>
      </p:sp>
      <p:sp>
        <p:nvSpPr>
          <p:cNvPr id="11" name="Rectangle 6"/>
          <p:cNvSpPr>
            <a:spLocks noChangeArrowheads="1"/>
          </p:cNvSpPr>
          <p:nvPr/>
        </p:nvSpPr>
        <p:spPr bwMode="auto">
          <a:xfrm>
            <a:off x="6786581" y="4425556"/>
            <a:ext cx="185597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dirty="0">
                <a:solidFill>
                  <a:srgbClr val="050507"/>
                </a:solidFill>
              </a:rPr>
              <a:t>First(</a:t>
            </a:r>
            <a:r>
              <a:rPr lang="en-US" altLang="zh-CN" sz="2400" b="0" i="1" dirty="0">
                <a:solidFill>
                  <a:srgbClr val="050507"/>
                </a:solidFill>
              </a:rPr>
              <a:t>exp</a:t>
            </a:r>
            <a:r>
              <a:rPr lang="en-US" altLang="zh-CN" sz="2400" b="0" dirty="0">
                <a:solidFill>
                  <a:srgbClr val="050507"/>
                </a:solidFill>
              </a:rPr>
              <a:t>)=</a:t>
            </a:r>
            <a:endParaRPr lang="en-US" altLang="zh-CN" sz="2400" b="0" dirty="0">
              <a:solidFill>
                <a:srgbClr val="050507"/>
              </a:solidFill>
            </a:endParaRPr>
          </a:p>
        </p:txBody>
      </p:sp>
      <p:sp>
        <p:nvSpPr>
          <p:cNvPr id="12" name="Rectangle 8"/>
          <p:cNvSpPr>
            <a:spLocks noChangeArrowheads="1"/>
          </p:cNvSpPr>
          <p:nvPr/>
        </p:nvSpPr>
        <p:spPr bwMode="auto">
          <a:xfrm>
            <a:off x="8772964" y="2644381"/>
            <a:ext cx="75480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dirty="0">
                <a:solidFill>
                  <a:srgbClr val="050507"/>
                </a:solidFill>
              </a:rPr>
              <a:t>{*}</a:t>
            </a:r>
            <a:endParaRPr lang="zh-CN" altLang="en-US" sz="2400" b="0" dirty="0">
              <a:solidFill>
                <a:srgbClr val="050507"/>
              </a:solidFill>
            </a:endParaRPr>
          </a:p>
        </p:txBody>
      </p:sp>
      <p:sp>
        <p:nvSpPr>
          <p:cNvPr id="13" name="Rectangle 9"/>
          <p:cNvSpPr>
            <a:spLocks noChangeArrowheads="1"/>
          </p:cNvSpPr>
          <p:nvPr/>
        </p:nvSpPr>
        <p:spPr bwMode="auto">
          <a:xfrm>
            <a:off x="8585785" y="3203292"/>
            <a:ext cx="14593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dirty="0">
                <a:solidFill>
                  <a:srgbClr val="050507"/>
                </a:solidFill>
              </a:rPr>
              <a:t>{(,number}</a:t>
            </a:r>
            <a:endParaRPr lang="zh-CN" altLang="en-US" sz="2400" b="0" dirty="0">
              <a:solidFill>
                <a:srgbClr val="050507"/>
              </a:solidFill>
            </a:endParaRPr>
          </a:p>
        </p:txBody>
      </p:sp>
      <p:sp>
        <p:nvSpPr>
          <p:cNvPr id="14" name="Rectangle 10"/>
          <p:cNvSpPr>
            <a:spLocks noChangeArrowheads="1"/>
          </p:cNvSpPr>
          <p:nvPr/>
        </p:nvSpPr>
        <p:spPr bwMode="auto">
          <a:xfrm>
            <a:off x="8585785" y="3809792"/>
            <a:ext cx="2057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a:solidFill>
                  <a:srgbClr val="050507"/>
                </a:solidFill>
              </a:rPr>
              <a:t>{(,number}</a:t>
            </a:r>
            <a:endParaRPr lang="en-US" altLang="zh-CN" sz="2400" b="0">
              <a:solidFill>
                <a:srgbClr val="050507"/>
              </a:solidFill>
            </a:endParaRPr>
          </a:p>
        </p:txBody>
      </p:sp>
      <p:sp>
        <p:nvSpPr>
          <p:cNvPr id="15" name="Rectangle 11"/>
          <p:cNvSpPr>
            <a:spLocks noChangeArrowheads="1"/>
          </p:cNvSpPr>
          <p:nvPr/>
        </p:nvSpPr>
        <p:spPr bwMode="auto">
          <a:xfrm>
            <a:off x="8378843" y="4416292"/>
            <a:ext cx="1543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dirty="0">
                <a:solidFill>
                  <a:srgbClr val="050507"/>
                </a:solidFill>
              </a:rPr>
              <a:t>{(,number}</a:t>
            </a:r>
            <a:endParaRPr lang="en-US" altLang="zh-CN" sz="2400" b="0" dirty="0">
              <a:solidFill>
                <a:srgbClr val="050507"/>
              </a:solidFill>
            </a:endParaRPr>
          </a:p>
        </p:txBody>
      </p:sp>
      <p:sp>
        <p:nvSpPr>
          <p:cNvPr id="20" name="Rectangle 2"/>
          <p:cNvSpPr>
            <a:spLocks noChangeArrowheads="1"/>
          </p:cNvSpPr>
          <p:nvPr/>
        </p:nvSpPr>
        <p:spPr bwMode="auto">
          <a:xfrm>
            <a:off x="6786581" y="2064943"/>
            <a:ext cx="200473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dirty="0">
                <a:solidFill>
                  <a:srgbClr val="050507"/>
                </a:solidFill>
              </a:rPr>
              <a:t>First(</a:t>
            </a:r>
            <a:r>
              <a:rPr lang="en-US" altLang="zh-CN" sz="2400" b="0" i="1" dirty="0" err="1">
                <a:solidFill>
                  <a:srgbClr val="050507"/>
                </a:solidFill>
              </a:rPr>
              <a:t>addop</a:t>
            </a:r>
            <a:r>
              <a:rPr lang="en-US" altLang="zh-CN" sz="2400" b="0" dirty="0">
                <a:solidFill>
                  <a:srgbClr val="050507"/>
                </a:solidFill>
              </a:rPr>
              <a:t>)=</a:t>
            </a:r>
            <a:endParaRPr lang="en-US" altLang="zh-CN" sz="2400" b="0" dirty="0">
              <a:solidFill>
                <a:srgbClr val="050507"/>
              </a:solidFill>
            </a:endParaRPr>
          </a:p>
        </p:txBody>
      </p:sp>
      <p:sp>
        <p:nvSpPr>
          <p:cNvPr id="21" name="Rectangle 7"/>
          <p:cNvSpPr>
            <a:spLocks noChangeArrowheads="1"/>
          </p:cNvSpPr>
          <p:nvPr/>
        </p:nvSpPr>
        <p:spPr bwMode="auto">
          <a:xfrm>
            <a:off x="8772963" y="2064943"/>
            <a:ext cx="75480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dirty="0">
                <a:solidFill>
                  <a:srgbClr val="050507"/>
                </a:solidFill>
              </a:rPr>
              <a:t>{+,-}</a:t>
            </a:r>
            <a:endParaRPr lang="zh-CN" altLang="en-US" sz="2400" b="0" dirty="0">
              <a:solidFill>
                <a:srgbClr val="050507"/>
              </a:solidFill>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out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out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out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out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arn(outHorizontal)">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2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570230" y="276860"/>
            <a:ext cx="764159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18" name="Rectangle 20"/>
          <p:cNvSpPr txBox="1">
            <a:spLocks noChangeArrowheads="1"/>
          </p:cNvSpPr>
          <p:nvPr/>
        </p:nvSpPr>
        <p:spPr>
          <a:xfrm>
            <a:off x="569595" y="1352550"/>
            <a:ext cx="10108565" cy="502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solidFill>
                  <a:srgbClr val="0070C0"/>
                </a:solidFill>
                <a:latin typeface="+mn-ea"/>
              </a:rPr>
              <a:t>例：考虑下述文法</a:t>
            </a:r>
            <a:r>
              <a:rPr lang="zh-CN" altLang="en-US" sz="2400" dirty="0">
                <a:solidFill>
                  <a:srgbClr val="050507"/>
                </a:solidFill>
                <a:latin typeface="+mn-ea"/>
                <a:sym typeface="+mn-ea"/>
              </a:rPr>
              <a:t>文法</a:t>
            </a:r>
            <a:r>
              <a:rPr lang="en-US" altLang="zh-CN" sz="2400" dirty="0">
                <a:solidFill>
                  <a:srgbClr val="050507"/>
                </a:solidFill>
                <a:latin typeface="+mn-ea"/>
                <a:sym typeface="+mn-ea"/>
              </a:rPr>
              <a:t>G[ E]:</a:t>
            </a:r>
            <a:r>
              <a:rPr lang="zh-CN" altLang="en-US" sz="2400" b="1" dirty="0">
                <a:solidFill>
                  <a:srgbClr val="0070C0"/>
                </a:solidFill>
                <a:latin typeface="+mn-ea"/>
                <a:sym typeface="+mn-ea"/>
              </a:rPr>
              <a:t>，求各非终结符的</a:t>
            </a:r>
            <a:r>
              <a:rPr lang="en-US" altLang="zh-CN" sz="2400" b="1" dirty="0">
                <a:solidFill>
                  <a:srgbClr val="0070C0"/>
                </a:solidFill>
                <a:latin typeface="+mn-ea"/>
                <a:sym typeface="+mn-ea"/>
              </a:rPr>
              <a:t>First()</a:t>
            </a:r>
            <a:r>
              <a:rPr lang="zh-CN" altLang="en-US" sz="2400" b="1" dirty="0">
                <a:solidFill>
                  <a:srgbClr val="0070C0"/>
                </a:solidFill>
                <a:latin typeface="+mn-ea"/>
                <a:sym typeface="+mn-ea"/>
              </a:rPr>
              <a:t>集合；</a:t>
            </a:r>
            <a:endParaRPr lang="zh-CN" altLang="en-US" sz="2400" b="1" dirty="0">
              <a:solidFill>
                <a:srgbClr val="0070C0"/>
              </a:solidFill>
              <a:latin typeface="+mn-ea"/>
            </a:endParaRPr>
          </a:p>
        </p:txBody>
      </p:sp>
      <p:sp>
        <p:nvSpPr>
          <p:cNvPr id="22" name="Rectangle 2"/>
          <p:cNvSpPr>
            <a:spLocks noChangeArrowheads="1"/>
          </p:cNvSpPr>
          <p:nvPr/>
        </p:nvSpPr>
        <p:spPr bwMode="auto">
          <a:xfrm>
            <a:off x="569595" y="1748790"/>
            <a:ext cx="5548630" cy="125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indent="0" fontAlgn="auto">
              <a:lnSpc>
                <a:spcPct val="125000"/>
              </a:lnSpc>
            </a:pPr>
            <a:r>
              <a:rPr lang="en-US" altLang="zh-CN" sz="2400" b="1" dirty="0">
                <a:solidFill>
                  <a:srgbClr val="050507"/>
                </a:solidFill>
                <a:latin typeface="+mn-ea"/>
              </a:rPr>
              <a:t>(1) E –&gt; TE’   (2) E’ –&gt; +TE’   (3) E’ –&gt; </a:t>
            </a:r>
            <a:r>
              <a:rPr lang="en-US" altLang="zh-CN" sz="2400" b="1" dirty="0">
                <a:solidFill>
                  <a:srgbClr val="050507"/>
                </a:solidFill>
                <a:latin typeface="+mn-ea"/>
                <a:sym typeface="Symbol" panose="05050102010706020507" pitchFamily="18" charset="2"/>
              </a:rPr>
              <a:t></a:t>
            </a:r>
            <a:endParaRPr lang="en-US" altLang="zh-CN" sz="2400" b="1" dirty="0">
              <a:solidFill>
                <a:srgbClr val="050507"/>
              </a:solidFill>
              <a:latin typeface="+mn-ea"/>
            </a:endParaRPr>
          </a:p>
          <a:p>
            <a:pPr indent="0" fontAlgn="auto">
              <a:lnSpc>
                <a:spcPct val="125000"/>
              </a:lnSpc>
            </a:pPr>
            <a:r>
              <a:rPr lang="en-US" altLang="zh-CN" sz="2400" b="1" dirty="0">
                <a:solidFill>
                  <a:srgbClr val="050507"/>
                </a:solidFill>
                <a:latin typeface="+mn-ea"/>
              </a:rPr>
              <a:t>(4) T –&gt; FT’   (5) T’ –&gt; *FT’    (6) T’ –&gt; </a:t>
            </a:r>
            <a:r>
              <a:rPr lang="en-US" altLang="zh-CN" sz="2400" b="1" dirty="0">
                <a:solidFill>
                  <a:srgbClr val="050507"/>
                </a:solidFill>
                <a:latin typeface="+mn-ea"/>
                <a:sym typeface="Symbol" panose="05050102010706020507" pitchFamily="18" charset="2"/>
              </a:rPr>
              <a:t></a:t>
            </a:r>
            <a:br>
              <a:rPr lang="en-US" altLang="zh-CN" sz="2400" b="1" dirty="0">
                <a:solidFill>
                  <a:srgbClr val="050507"/>
                </a:solidFill>
                <a:latin typeface="+mn-ea"/>
              </a:rPr>
            </a:br>
            <a:r>
              <a:rPr lang="en-US" altLang="zh-CN" sz="2400" b="1" dirty="0">
                <a:solidFill>
                  <a:srgbClr val="050507"/>
                </a:solidFill>
                <a:latin typeface="+mn-ea"/>
              </a:rPr>
              <a:t>(7) F –&gt; (E)    (8) F –&gt; a</a:t>
            </a:r>
            <a:endParaRPr lang="zh-CN" altLang="en-US" sz="2400" b="1" dirty="0">
              <a:solidFill>
                <a:srgbClr val="050507"/>
              </a:solidFill>
              <a:latin typeface="+mn-ea"/>
            </a:endParaRPr>
          </a:p>
        </p:txBody>
      </p:sp>
      <p:sp>
        <p:nvSpPr>
          <p:cNvPr id="23" name="Rectangle 3"/>
          <p:cNvSpPr>
            <a:spLocks noChangeArrowheads="1"/>
          </p:cNvSpPr>
          <p:nvPr/>
        </p:nvSpPr>
        <p:spPr bwMode="auto">
          <a:xfrm>
            <a:off x="570230" y="3190875"/>
            <a:ext cx="78447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marL="0" indent="0">
              <a:buFont typeface="+mj-ea"/>
              <a:buNone/>
            </a:pPr>
            <a:r>
              <a:rPr lang="zh-CN" altLang="en-US" sz="2400" dirty="0">
                <a:solidFill>
                  <a:srgbClr val="050507"/>
                </a:solidFill>
                <a:latin typeface="+mn-ea"/>
                <a:ea typeface="+mn-ea"/>
              </a:rPr>
              <a:t>先求其</a:t>
            </a:r>
            <a:r>
              <a:rPr lang="en-US" altLang="zh-CN" sz="2400" dirty="0">
                <a:solidFill>
                  <a:srgbClr val="050507"/>
                </a:solidFill>
                <a:latin typeface="+mn-ea"/>
                <a:ea typeface="+mn-ea"/>
              </a:rPr>
              <a:t>First( )</a:t>
            </a:r>
            <a:r>
              <a:rPr lang="zh-CN" altLang="en-US" sz="2400" dirty="0">
                <a:solidFill>
                  <a:srgbClr val="050507"/>
                </a:solidFill>
                <a:latin typeface="+mn-ea"/>
                <a:ea typeface="+mn-ea"/>
              </a:rPr>
              <a:t>集包含</a:t>
            </a:r>
            <a:r>
              <a:rPr lang="en-US" altLang="zh-CN" sz="2400" dirty="0">
                <a:solidFill>
                  <a:srgbClr val="050507"/>
                </a:solidFill>
                <a:latin typeface="+mn-ea"/>
                <a:ea typeface="+mn-ea"/>
                <a:sym typeface="Symbol" panose="05050102010706020507" pitchFamily="18" charset="2"/>
              </a:rPr>
              <a:t></a:t>
            </a:r>
            <a:r>
              <a:rPr lang="zh-CN" altLang="en-US" sz="2400" dirty="0">
                <a:solidFill>
                  <a:srgbClr val="050507"/>
                </a:solidFill>
                <a:latin typeface="+mn-ea"/>
                <a:ea typeface="+mn-ea"/>
                <a:sym typeface="Symbol" panose="05050102010706020507" pitchFamily="18" charset="2"/>
              </a:rPr>
              <a:t>的非终结符：</a:t>
            </a:r>
            <a:r>
              <a:rPr lang="en-US" altLang="zh-CN" sz="2400">
                <a:solidFill>
                  <a:srgbClr val="050507"/>
                </a:solidFill>
                <a:latin typeface="+mn-ea"/>
                <a:sym typeface="+mn-ea"/>
              </a:rPr>
              <a:t>E′,T′</a:t>
            </a:r>
            <a:endParaRPr lang="zh-CN" altLang="en-US" sz="2400" dirty="0">
              <a:solidFill>
                <a:srgbClr val="050507"/>
              </a:solidFill>
              <a:latin typeface="+mn-ea"/>
              <a:ea typeface="+mn-ea"/>
            </a:endParaRPr>
          </a:p>
        </p:txBody>
      </p:sp>
      <p:sp>
        <p:nvSpPr>
          <p:cNvPr id="9" name="Rectangle 2"/>
          <p:cNvSpPr>
            <a:spLocks noChangeArrowheads="1"/>
          </p:cNvSpPr>
          <p:nvPr/>
        </p:nvSpPr>
        <p:spPr bwMode="auto">
          <a:xfrm>
            <a:off x="8347150" y="2129155"/>
            <a:ext cx="1981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0">
                <a:solidFill>
                  <a:srgbClr val="050507"/>
                </a:solidFill>
              </a:rPr>
              <a:t>First(E)</a:t>
            </a:r>
            <a:endParaRPr lang="zh-CN" altLang="en-US" sz="2400" b="0">
              <a:solidFill>
                <a:srgbClr val="050507"/>
              </a:solidFill>
            </a:endParaRPr>
          </a:p>
        </p:txBody>
      </p:sp>
      <p:sp>
        <p:nvSpPr>
          <p:cNvPr id="10" name="Rectangle 3"/>
          <p:cNvSpPr>
            <a:spLocks noChangeArrowheads="1"/>
          </p:cNvSpPr>
          <p:nvPr/>
        </p:nvSpPr>
        <p:spPr bwMode="auto">
          <a:xfrm>
            <a:off x="10297795" y="2311400"/>
            <a:ext cx="1510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a:solidFill>
                  <a:srgbClr val="050507"/>
                </a:solidFill>
              </a:rPr>
              <a:t>First(E’)</a:t>
            </a:r>
            <a:endParaRPr lang="zh-CN" altLang="en-US" sz="2400" b="0">
              <a:solidFill>
                <a:srgbClr val="050507"/>
              </a:solidFill>
            </a:endParaRPr>
          </a:p>
        </p:txBody>
      </p:sp>
      <p:sp>
        <p:nvSpPr>
          <p:cNvPr id="11" name="Rectangle 4"/>
          <p:cNvSpPr>
            <a:spLocks noChangeArrowheads="1"/>
          </p:cNvSpPr>
          <p:nvPr/>
        </p:nvSpPr>
        <p:spPr bwMode="auto">
          <a:xfrm>
            <a:off x="9992995" y="3683000"/>
            <a:ext cx="18148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0">
                <a:solidFill>
                  <a:srgbClr val="050507"/>
                </a:solidFill>
              </a:rPr>
              <a:t>First(T’)</a:t>
            </a:r>
            <a:endParaRPr lang="zh-CN" altLang="en-US" sz="2400" b="0">
              <a:solidFill>
                <a:srgbClr val="050507"/>
              </a:solidFill>
            </a:endParaRPr>
          </a:p>
        </p:txBody>
      </p:sp>
      <p:grpSp>
        <p:nvGrpSpPr>
          <p:cNvPr id="12" name="Group 5"/>
          <p:cNvGrpSpPr/>
          <p:nvPr/>
        </p:nvGrpSpPr>
        <p:grpSpPr bwMode="auto">
          <a:xfrm>
            <a:off x="7432750" y="2738756"/>
            <a:ext cx="1905000" cy="738832"/>
            <a:chOff x="1584" y="2064"/>
            <a:chExt cx="816" cy="511"/>
          </a:xfrm>
        </p:grpSpPr>
        <p:sp>
          <p:nvSpPr>
            <p:cNvPr id="13" name="Rectangle 6"/>
            <p:cNvSpPr>
              <a:spLocks noChangeArrowheads="1"/>
            </p:cNvSpPr>
            <p:nvPr/>
          </p:nvSpPr>
          <p:spPr bwMode="auto">
            <a:xfrm>
              <a:off x="1584" y="2257"/>
              <a:ext cx="44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rgbClr val="050507"/>
                  </a:solidFill>
                </a:rPr>
                <a:t>First(T)</a:t>
              </a:r>
              <a:endParaRPr lang="zh-CN" altLang="en-US" sz="2400" b="0">
                <a:solidFill>
                  <a:srgbClr val="050507"/>
                </a:solidFill>
              </a:endParaRPr>
            </a:p>
          </p:txBody>
        </p:sp>
        <p:sp>
          <p:nvSpPr>
            <p:cNvPr id="14" name="Line 7"/>
            <p:cNvSpPr>
              <a:spLocks noChangeShapeType="1"/>
            </p:cNvSpPr>
            <p:nvPr/>
          </p:nvSpPr>
          <p:spPr bwMode="auto">
            <a:xfrm flipH="1">
              <a:off x="2064" y="2064"/>
              <a:ext cx="336"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grpSp>
      <p:grpSp>
        <p:nvGrpSpPr>
          <p:cNvPr id="15" name="Group 8"/>
          <p:cNvGrpSpPr/>
          <p:nvPr/>
        </p:nvGrpSpPr>
        <p:grpSpPr bwMode="auto">
          <a:xfrm>
            <a:off x="6899350" y="3424555"/>
            <a:ext cx="1768475" cy="839788"/>
            <a:chOff x="1248" y="2544"/>
            <a:chExt cx="720" cy="529"/>
          </a:xfrm>
        </p:grpSpPr>
        <p:sp>
          <p:nvSpPr>
            <p:cNvPr id="16" name="Rectangle 9"/>
            <p:cNvSpPr>
              <a:spLocks noChangeArrowheads="1"/>
            </p:cNvSpPr>
            <p:nvPr/>
          </p:nvSpPr>
          <p:spPr bwMode="auto">
            <a:xfrm>
              <a:off x="1248" y="2783"/>
              <a:ext cx="4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rgbClr val="050507"/>
                  </a:solidFill>
                </a:rPr>
                <a:t>First(F)</a:t>
              </a:r>
              <a:endParaRPr lang="zh-CN" altLang="en-US" sz="2400" b="0">
                <a:solidFill>
                  <a:srgbClr val="050507"/>
                </a:solidFill>
              </a:endParaRPr>
            </a:p>
          </p:txBody>
        </p:sp>
        <p:sp>
          <p:nvSpPr>
            <p:cNvPr id="17" name="Line 10"/>
            <p:cNvSpPr>
              <a:spLocks noChangeShapeType="1"/>
            </p:cNvSpPr>
            <p:nvPr/>
          </p:nvSpPr>
          <p:spPr bwMode="auto">
            <a:xfrm flipH="1">
              <a:off x="1680" y="2544"/>
              <a:ext cx="288"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grpSp>
      <p:grpSp>
        <p:nvGrpSpPr>
          <p:cNvPr id="19" name="Group 11"/>
          <p:cNvGrpSpPr/>
          <p:nvPr/>
        </p:nvGrpSpPr>
        <p:grpSpPr bwMode="auto">
          <a:xfrm>
            <a:off x="6670750" y="4338955"/>
            <a:ext cx="1852613" cy="915988"/>
            <a:chOff x="960" y="3120"/>
            <a:chExt cx="1167" cy="577"/>
          </a:xfrm>
        </p:grpSpPr>
        <p:sp>
          <p:nvSpPr>
            <p:cNvPr id="20" name="Rectangle 12"/>
            <p:cNvSpPr>
              <a:spLocks noChangeArrowheads="1"/>
            </p:cNvSpPr>
            <p:nvPr/>
          </p:nvSpPr>
          <p:spPr bwMode="auto">
            <a:xfrm>
              <a:off x="960" y="3407"/>
              <a:ext cx="17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rgbClr val="050507"/>
                  </a:solidFill>
                </a:rPr>
                <a:t>(</a:t>
              </a:r>
              <a:endParaRPr lang="zh-CN" altLang="en-US" sz="2400" b="0">
                <a:solidFill>
                  <a:srgbClr val="050507"/>
                </a:solidFill>
              </a:endParaRPr>
            </a:p>
          </p:txBody>
        </p:sp>
        <p:sp>
          <p:nvSpPr>
            <p:cNvPr id="21" name="Rectangle 13"/>
            <p:cNvSpPr>
              <a:spLocks noChangeArrowheads="1"/>
            </p:cNvSpPr>
            <p:nvPr/>
          </p:nvSpPr>
          <p:spPr bwMode="auto">
            <a:xfrm>
              <a:off x="1920" y="3407"/>
              <a:ext cx="20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rgbClr val="050507"/>
                  </a:solidFill>
                </a:rPr>
                <a:t>a</a:t>
              </a:r>
              <a:endParaRPr lang="zh-CN" altLang="en-US" sz="2400" b="0">
                <a:solidFill>
                  <a:srgbClr val="050507"/>
                </a:solidFill>
              </a:endParaRPr>
            </a:p>
          </p:txBody>
        </p:sp>
        <p:sp>
          <p:nvSpPr>
            <p:cNvPr id="27" name="Line 14"/>
            <p:cNvSpPr>
              <a:spLocks noChangeShapeType="1"/>
            </p:cNvSpPr>
            <p:nvPr/>
          </p:nvSpPr>
          <p:spPr bwMode="auto">
            <a:xfrm flipH="1">
              <a:off x="1104" y="3120"/>
              <a:ext cx="384" cy="288"/>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28" name="Line 15"/>
            <p:cNvSpPr>
              <a:spLocks noChangeShapeType="1"/>
            </p:cNvSpPr>
            <p:nvPr/>
          </p:nvSpPr>
          <p:spPr bwMode="auto">
            <a:xfrm>
              <a:off x="1680" y="3120"/>
              <a:ext cx="336" cy="33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grpSp>
      <p:grpSp>
        <p:nvGrpSpPr>
          <p:cNvPr id="29" name="Group 16"/>
          <p:cNvGrpSpPr/>
          <p:nvPr/>
        </p:nvGrpSpPr>
        <p:grpSpPr bwMode="auto">
          <a:xfrm>
            <a:off x="9916870" y="2770188"/>
            <a:ext cx="838200" cy="763588"/>
            <a:chOff x="3072" y="2112"/>
            <a:chExt cx="528" cy="481"/>
          </a:xfrm>
        </p:grpSpPr>
        <p:sp>
          <p:nvSpPr>
            <p:cNvPr id="30" name="Rectangle 17"/>
            <p:cNvSpPr>
              <a:spLocks noChangeArrowheads="1"/>
            </p:cNvSpPr>
            <p:nvPr/>
          </p:nvSpPr>
          <p:spPr bwMode="auto">
            <a:xfrm>
              <a:off x="3072" y="2303"/>
              <a:ext cx="21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rgbClr val="050507"/>
                  </a:solidFill>
                </a:rPr>
                <a:t>+</a:t>
              </a:r>
              <a:endParaRPr lang="zh-CN" altLang="en-US" sz="2400" b="0">
                <a:solidFill>
                  <a:srgbClr val="050507"/>
                </a:solidFill>
              </a:endParaRPr>
            </a:p>
          </p:txBody>
        </p:sp>
        <p:sp>
          <p:nvSpPr>
            <p:cNvPr id="31" name="Line 18"/>
            <p:cNvSpPr>
              <a:spLocks noChangeShapeType="1"/>
            </p:cNvSpPr>
            <p:nvPr/>
          </p:nvSpPr>
          <p:spPr bwMode="auto">
            <a:xfrm flipH="1">
              <a:off x="3216" y="2112"/>
              <a:ext cx="384"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grpSp>
      <p:grpSp>
        <p:nvGrpSpPr>
          <p:cNvPr id="32" name="Group 19"/>
          <p:cNvGrpSpPr/>
          <p:nvPr/>
        </p:nvGrpSpPr>
        <p:grpSpPr bwMode="auto">
          <a:xfrm>
            <a:off x="9916870" y="4217988"/>
            <a:ext cx="685800" cy="839788"/>
            <a:chOff x="3168" y="3216"/>
            <a:chExt cx="432" cy="529"/>
          </a:xfrm>
        </p:grpSpPr>
        <p:sp>
          <p:nvSpPr>
            <p:cNvPr id="33" name="Rectangle 20"/>
            <p:cNvSpPr>
              <a:spLocks noChangeArrowheads="1"/>
            </p:cNvSpPr>
            <p:nvPr/>
          </p:nvSpPr>
          <p:spPr bwMode="auto">
            <a:xfrm>
              <a:off x="3168" y="3455"/>
              <a:ext cx="21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rgbClr val="050507"/>
                  </a:solidFill>
                </a:rPr>
                <a:t>*</a:t>
              </a:r>
              <a:endParaRPr lang="zh-CN" altLang="en-US" sz="2400" b="0">
                <a:solidFill>
                  <a:srgbClr val="050507"/>
                </a:solidFill>
              </a:endParaRPr>
            </a:p>
          </p:txBody>
        </p:sp>
        <p:sp>
          <p:nvSpPr>
            <p:cNvPr id="34" name="Line 21"/>
            <p:cNvSpPr>
              <a:spLocks noChangeShapeType="1"/>
            </p:cNvSpPr>
            <p:nvPr/>
          </p:nvSpPr>
          <p:spPr bwMode="auto">
            <a:xfrm flipH="1">
              <a:off x="3312" y="3216"/>
              <a:ext cx="288"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Rectangle 22"/>
          <p:cNvSpPr>
            <a:spLocks noChangeArrowheads="1"/>
          </p:cNvSpPr>
          <p:nvPr>
            <p:custDataLst>
              <p:tags r:id="rId1"/>
            </p:custDataLst>
          </p:nvPr>
        </p:nvSpPr>
        <p:spPr bwMode="auto">
          <a:xfrm>
            <a:off x="569595" y="3723005"/>
            <a:ext cx="6311900" cy="197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marL="0" indent="0">
              <a:lnSpc>
                <a:spcPct val="150000"/>
              </a:lnSpc>
            </a:pPr>
            <a:r>
              <a:rPr lang="zh-CN" altLang="en-US" sz="2400" dirty="0">
                <a:solidFill>
                  <a:srgbClr val="050507"/>
                </a:solidFill>
                <a:latin typeface="+mn-ea"/>
                <a:ea typeface="+mn-ea"/>
              </a:rPr>
              <a:t>各非终结符的</a:t>
            </a:r>
            <a:r>
              <a:rPr lang="en-US" altLang="zh-CN" sz="2400" dirty="0">
                <a:solidFill>
                  <a:srgbClr val="050507"/>
                </a:solidFill>
                <a:latin typeface="+mn-ea"/>
                <a:ea typeface="+mn-ea"/>
              </a:rPr>
              <a:t>First</a:t>
            </a:r>
            <a:r>
              <a:rPr lang="zh-CN" altLang="en-US" sz="2400" dirty="0">
                <a:solidFill>
                  <a:srgbClr val="050507"/>
                </a:solidFill>
                <a:latin typeface="+mn-ea"/>
                <a:ea typeface="+mn-ea"/>
              </a:rPr>
              <a:t>集合如下：</a:t>
            </a:r>
            <a:r>
              <a:rPr lang="en-US" altLang="zh-CN" sz="2400" dirty="0">
                <a:solidFill>
                  <a:srgbClr val="050507"/>
                </a:solidFill>
                <a:latin typeface="+mn-ea"/>
                <a:ea typeface="+mn-ea"/>
              </a:rPr>
              <a:t>First(E)=</a:t>
            </a:r>
            <a:r>
              <a:rPr lang="zh-CN" altLang="en-US" sz="2400" dirty="0">
                <a:solidFill>
                  <a:srgbClr val="050507"/>
                </a:solidFill>
                <a:latin typeface="+mn-ea"/>
                <a:ea typeface="+mn-ea"/>
              </a:rPr>
              <a:t>｛</a:t>
            </a:r>
            <a:r>
              <a:rPr lang="en-US" altLang="zh-CN" sz="2400" dirty="0">
                <a:solidFill>
                  <a:srgbClr val="050507"/>
                </a:solidFill>
                <a:latin typeface="+mn-ea"/>
                <a:ea typeface="+mn-ea"/>
              </a:rPr>
              <a:t>(,a</a:t>
            </a:r>
            <a:r>
              <a:rPr lang="zh-CN" altLang="en-US" sz="2400" dirty="0">
                <a:solidFill>
                  <a:srgbClr val="050507"/>
                </a:solidFill>
                <a:latin typeface="+mn-ea"/>
                <a:ea typeface="+mn-ea"/>
              </a:rPr>
              <a:t>｝；</a:t>
            </a:r>
            <a:r>
              <a:rPr lang="en-US" altLang="zh-CN" sz="2400" dirty="0">
                <a:solidFill>
                  <a:srgbClr val="050507"/>
                </a:solidFill>
                <a:latin typeface="+mn-ea"/>
                <a:ea typeface="+mn-ea"/>
              </a:rPr>
              <a:t>First(E’)=</a:t>
            </a:r>
            <a:r>
              <a:rPr lang="zh-CN" altLang="en-US" sz="2400" dirty="0">
                <a:solidFill>
                  <a:srgbClr val="050507"/>
                </a:solidFill>
                <a:latin typeface="+mn-ea"/>
                <a:ea typeface="+mn-ea"/>
              </a:rPr>
              <a:t>｛</a:t>
            </a:r>
            <a:r>
              <a:rPr lang="en-US" altLang="zh-CN" sz="2400" dirty="0">
                <a:solidFill>
                  <a:srgbClr val="050507"/>
                </a:solidFill>
                <a:latin typeface="+mn-ea"/>
                <a:ea typeface="+mn-ea"/>
              </a:rPr>
              <a:t>+,</a:t>
            </a:r>
            <a:r>
              <a:rPr lang="el-GR" altLang="zh-CN" sz="2400" dirty="0">
                <a:solidFill>
                  <a:srgbClr val="050507"/>
                </a:solidFill>
                <a:latin typeface="+mn-ea"/>
                <a:ea typeface="+mn-ea"/>
              </a:rPr>
              <a:t>ε</a:t>
            </a:r>
            <a:r>
              <a:rPr lang="zh-CN" altLang="el-GR" sz="2400" dirty="0">
                <a:solidFill>
                  <a:srgbClr val="050507"/>
                </a:solidFill>
                <a:latin typeface="+mn-ea"/>
                <a:ea typeface="+mn-ea"/>
              </a:rPr>
              <a:t>｝；</a:t>
            </a:r>
            <a:r>
              <a:rPr lang="en-US" altLang="zh-CN" sz="2400" dirty="0">
                <a:solidFill>
                  <a:srgbClr val="050507"/>
                </a:solidFill>
                <a:latin typeface="+mn-ea"/>
                <a:ea typeface="+mn-ea"/>
              </a:rPr>
              <a:t>First(T)=</a:t>
            </a:r>
            <a:r>
              <a:rPr lang="zh-CN" altLang="en-US" sz="2400" dirty="0">
                <a:solidFill>
                  <a:srgbClr val="050507"/>
                </a:solidFill>
                <a:latin typeface="+mn-ea"/>
                <a:ea typeface="+mn-ea"/>
              </a:rPr>
              <a:t>｛</a:t>
            </a:r>
            <a:r>
              <a:rPr lang="en-US" altLang="zh-CN" sz="2400" dirty="0">
                <a:solidFill>
                  <a:srgbClr val="050507"/>
                </a:solidFill>
                <a:latin typeface="+mn-ea"/>
                <a:ea typeface="+mn-ea"/>
              </a:rPr>
              <a:t>(,a</a:t>
            </a:r>
            <a:r>
              <a:rPr lang="zh-CN" altLang="en-US" sz="2400" dirty="0">
                <a:solidFill>
                  <a:srgbClr val="050507"/>
                </a:solidFill>
                <a:latin typeface="+mn-ea"/>
                <a:ea typeface="+mn-ea"/>
              </a:rPr>
              <a:t>｝；</a:t>
            </a:r>
            <a:r>
              <a:rPr lang="en-US" altLang="zh-CN" sz="2400" dirty="0">
                <a:solidFill>
                  <a:srgbClr val="050507"/>
                </a:solidFill>
                <a:latin typeface="+mn-ea"/>
                <a:ea typeface="+mn-ea"/>
              </a:rPr>
              <a:t>First(T’)=</a:t>
            </a:r>
            <a:r>
              <a:rPr lang="zh-CN" altLang="en-US" sz="2400" dirty="0">
                <a:solidFill>
                  <a:srgbClr val="050507"/>
                </a:solidFill>
                <a:latin typeface="+mn-ea"/>
                <a:ea typeface="+mn-ea"/>
              </a:rPr>
              <a:t>｛*</a:t>
            </a:r>
            <a:r>
              <a:rPr lang="en-US" altLang="zh-CN" sz="2400" dirty="0">
                <a:solidFill>
                  <a:srgbClr val="050507"/>
                </a:solidFill>
                <a:latin typeface="+mn-ea"/>
                <a:ea typeface="+mn-ea"/>
              </a:rPr>
              <a:t>,</a:t>
            </a:r>
            <a:r>
              <a:rPr lang="el-GR" altLang="zh-CN" sz="2400" dirty="0">
                <a:solidFill>
                  <a:srgbClr val="050507"/>
                </a:solidFill>
                <a:latin typeface="+mn-ea"/>
                <a:ea typeface="+mn-ea"/>
              </a:rPr>
              <a:t>ε</a:t>
            </a:r>
            <a:r>
              <a:rPr lang="zh-CN" altLang="el-GR" sz="2400" dirty="0">
                <a:solidFill>
                  <a:srgbClr val="050507"/>
                </a:solidFill>
                <a:latin typeface="+mn-ea"/>
                <a:ea typeface="+mn-ea"/>
              </a:rPr>
              <a:t>｝；</a:t>
            </a:r>
            <a:r>
              <a:rPr lang="en-US" altLang="zh-CN" sz="2400" dirty="0">
                <a:solidFill>
                  <a:srgbClr val="050507"/>
                </a:solidFill>
                <a:latin typeface="+mn-ea"/>
                <a:ea typeface="+mn-ea"/>
              </a:rPr>
              <a:t>First(F)=</a:t>
            </a:r>
            <a:r>
              <a:rPr lang="zh-CN" altLang="en-US" sz="2400" dirty="0">
                <a:solidFill>
                  <a:srgbClr val="050507"/>
                </a:solidFill>
                <a:latin typeface="+mn-ea"/>
                <a:ea typeface="+mn-ea"/>
              </a:rPr>
              <a:t>｛</a:t>
            </a:r>
            <a:r>
              <a:rPr lang="en-US" altLang="zh-CN" sz="2400" dirty="0">
                <a:solidFill>
                  <a:srgbClr val="050507"/>
                </a:solidFill>
                <a:latin typeface="+mn-ea"/>
                <a:ea typeface="+mn-ea"/>
              </a:rPr>
              <a:t>(,a</a:t>
            </a:r>
            <a:r>
              <a:rPr lang="zh-CN" altLang="en-US" sz="2400" dirty="0">
                <a:solidFill>
                  <a:srgbClr val="050507"/>
                </a:solidFill>
                <a:latin typeface="+mn-ea"/>
                <a:ea typeface="+mn-ea"/>
              </a:rPr>
              <a:t>｝</a:t>
            </a:r>
            <a:endParaRPr lang="zh-CN" altLang="en-US" sz="2400" dirty="0">
              <a:solidFill>
                <a:srgbClr val="050507"/>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out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out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arn(outHorizont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arn(outHorizontal)">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out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barn(outHorizontal)">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arn(outHorizontal)">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arn(outHorizontal)">
                                      <p:cBhvr>
                                        <p:cTn id="47" dur="5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9" grpId="0"/>
      <p:bldP spid="10" grpId="0"/>
      <p:bldP spid="11" grpId="0"/>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479425" y="276860"/>
            <a:ext cx="7732395"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22" name="Rectangle 2"/>
          <p:cNvSpPr>
            <a:spLocks noChangeArrowheads="1"/>
          </p:cNvSpPr>
          <p:nvPr/>
        </p:nvSpPr>
        <p:spPr bwMode="auto">
          <a:xfrm>
            <a:off x="546735" y="1361440"/>
            <a:ext cx="1117219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400" b="1" dirty="0">
                <a:solidFill>
                  <a:srgbClr val="0070C0"/>
                </a:solidFill>
                <a:latin typeface="+mn-ea"/>
              </a:rPr>
              <a:t>文法符号串的</a:t>
            </a:r>
            <a:r>
              <a:rPr lang="en-US" altLang="zh-CN" sz="2400" b="1" dirty="0">
                <a:solidFill>
                  <a:srgbClr val="0070C0"/>
                </a:solidFill>
                <a:latin typeface="+mn-ea"/>
              </a:rPr>
              <a:t>First()</a:t>
            </a:r>
            <a:r>
              <a:rPr lang="zh-CN" altLang="en-US" sz="2400" b="1" dirty="0">
                <a:solidFill>
                  <a:srgbClr val="0070C0"/>
                </a:solidFill>
                <a:latin typeface="+mn-ea"/>
              </a:rPr>
              <a:t>集合：</a:t>
            </a:r>
            <a:endParaRPr lang="zh-CN" altLang="en-US" sz="2400" b="1" dirty="0">
              <a:solidFill>
                <a:srgbClr val="0070C0"/>
              </a:solidFill>
              <a:latin typeface="+mn-ea"/>
            </a:endParaRPr>
          </a:p>
          <a:p>
            <a:pPr>
              <a:lnSpc>
                <a:spcPct val="150000"/>
              </a:lnSpc>
            </a:pPr>
            <a:r>
              <a:rPr lang="zh-CN" altLang="en-US" sz="2400" b="1" dirty="0">
                <a:solidFill>
                  <a:srgbClr val="0000AE"/>
                </a:solidFill>
                <a:latin typeface="+mn-ea"/>
              </a:rPr>
              <a:t>设</a:t>
            </a:r>
            <a:r>
              <a:rPr lang="zh-CN" altLang="en-US" sz="2400" b="1" dirty="0">
                <a:solidFill>
                  <a:srgbClr val="050507"/>
                </a:solidFill>
                <a:latin typeface="+mn-ea"/>
              </a:rPr>
              <a:t>任意串</a:t>
            </a:r>
            <a:r>
              <a:rPr lang="en-US" altLang="zh-CN" sz="2400" b="1" dirty="0">
                <a:solidFill>
                  <a:srgbClr val="D20A30"/>
                </a:solidFill>
                <a:latin typeface="+mn-ea"/>
              </a:rPr>
              <a:t>a</a:t>
            </a:r>
            <a:r>
              <a:rPr lang="en-US" altLang="zh-CN" sz="2400" b="1" dirty="0">
                <a:solidFill>
                  <a:srgbClr val="050507"/>
                </a:solidFill>
                <a:latin typeface="+mn-ea"/>
              </a:rPr>
              <a:t>=X</a:t>
            </a:r>
            <a:r>
              <a:rPr lang="en-US" altLang="zh-CN" sz="2400" b="1" baseline="-25000" dirty="0">
                <a:solidFill>
                  <a:srgbClr val="050507"/>
                </a:solidFill>
                <a:latin typeface="+mn-ea"/>
              </a:rPr>
              <a:t>1</a:t>
            </a:r>
            <a:r>
              <a:rPr lang="en-US" altLang="zh-CN" sz="2400" b="1" dirty="0">
                <a:solidFill>
                  <a:srgbClr val="050507"/>
                </a:solidFill>
                <a:latin typeface="+mn-ea"/>
              </a:rPr>
              <a:t>X</a:t>
            </a:r>
            <a:r>
              <a:rPr lang="en-US" altLang="zh-CN" sz="2400" b="1" baseline="-25000" dirty="0">
                <a:solidFill>
                  <a:srgbClr val="050507"/>
                </a:solidFill>
                <a:latin typeface="+mn-ea"/>
              </a:rPr>
              <a:t>2</a:t>
            </a:r>
            <a:r>
              <a:rPr lang="en-US" altLang="zh-CN" sz="2400" b="1" baseline="30000" dirty="0">
                <a:solidFill>
                  <a:srgbClr val="050507"/>
                </a:solidFill>
                <a:latin typeface="+mn-ea"/>
              </a:rPr>
              <a:t>...</a:t>
            </a:r>
            <a:r>
              <a:rPr lang="en-US" altLang="zh-CN" sz="2400" b="1" dirty="0" err="1">
                <a:solidFill>
                  <a:srgbClr val="050507"/>
                </a:solidFill>
                <a:latin typeface="+mn-ea"/>
              </a:rPr>
              <a:t>X</a:t>
            </a:r>
            <a:r>
              <a:rPr lang="en-US" altLang="zh-CN" sz="2400" b="1" baseline="-25000" dirty="0" err="1">
                <a:solidFill>
                  <a:srgbClr val="050507"/>
                </a:solidFill>
                <a:latin typeface="+mn-ea"/>
              </a:rPr>
              <a:t>n</a:t>
            </a:r>
            <a:r>
              <a:rPr lang="en-US" altLang="zh-CN" sz="2400" b="1" dirty="0">
                <a:solidFill>
                  <a:srgbClr val="050507"/>
                </a:solidFill>
                <a:latin typeface="+mn-ea"/>
              </a:rPr>
              <a:t>（</a:t>
            </a:r>
            <a:r>
              <a:rPr lang="zh-CN" altLang="en-US" sz="2400" b="1" dirty="0">
                <a:solidFill>
                  <a:srgbClr val="050507"/>
                </a:solidFill>
                <a:latin typeface="+mn-ea"/>
              </a:rPr>
              <a:t>终结符和非终结符组成的符号串），则</a:t>
            </a:r>
            <a:r>
              <a:rPr lang="en-US" altLang="zh-CN" sz="2400" b="1" dirty="0">
                <a:solidFill>
                  <a:srgbClr val="E10B34"/>
                </a:solidFill>
                <a:latin typeface="+mn-ea"/>
              </a:rPr>
              <a:t>First(a)</a:t>
            </a:r>
            <a:r>
              <a:rPr lang="zh-CN" altLang="en-US" sz="2400" b="1" dirty="0">
                <a:solidFill>
                  <a:srgbClr val="E10B34"/>
                </a:solidFill>
                <a:latin typeface="+mn-ea"/>
              </a:rPr>
              <a:t>的定义如下：</a:t>
            </a:r>
            <a:endParaRPr lang="zh-CN" altLang="en-US" sz="2400" b="1" dirty="0">
              <a:solidFill>
                <a:srgbClr val="050507"/>
              </a:solidFill>
              <a:latin typeface="+mn-ea"/>
            </a:endParaRPr>
          </a:p>
        </p:txBody>
      </p:sp>
      <p:sp>
        <p:nvSpPr>
          <p:cNvPr id="23" name="Rectangle 3"/>
          <p:cNvSpPr>
            <a:spLocks noChangeArrowheads="1"/>
          </p:cNvSpPr>
          <p:nvPr/>
        </p:nvSpPr>
        <p:spPr bwMode="auto">
          <a:xfrm>
            <a:off x="547370" y="2654935"/>
            <a:ext cx="1095248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150000"/>
              </a:lnSpc>
              <a:buFont typeface="+mj-ea"/>
              <a:buAutoNum type="circleNumDbPlain"/>
            </a:pPr>
            <a:r>
              <a:rPr lang="en-US" altLang="zh-CN" sz="2400" dirty="0">
                <a:solidFill>
                  <a:srgbClr val="E10B34"/>
                </a:solidFill>
                <a:latin typeface="+mn-ea"/>
                <a:ea typeface="+mn-ea"/>
              </a:rPr>
              <a:t>First(a)</a:t>
            </a:r>
            <a:r>
              <a:rPr lang="zh-CN" altLang="en-US" sz="2400" dirty="0">
                <a:solidFill>
                  <a:srgbClr val="D20A30"/>
                </a:solidFill>
                <a:latin typeface="+mn-ea"/>
                <a:ea typeface="+mn-ea"/>
              </a:rPr>
              <a:t>包括</a:t>
            </a:r>
            <a:r>
              <a:rPr lang="en-US" altLang="zh-CN" sz="2400" dirty="0">
                <a:solidFill>
                  <a:srgbClr val="D20A30"/>
                </a:solidFill>
                <a:latin typeface="+mn-ea"/>
                <a:ea typeface="+mn-ea"/>
              </a:rPr>
              <a:t>First(X</a:t>
            </a:r>
            <a:r>
              <a:rPr lang="en-US" altLang="zh-CN" sz="2400" baseline="-25000" dirty="0">
                <a:solidFill>
                  <a:srgbClr val="D20A30"/>
                </a:solidFill>
                <a:latin typeface="+mn-ea"/>
                <a:ea typeface="+mn-ea"/>
              </a:rPr>
              <a:t>1</a:t>
            </a:r>
            <a:r>
              <a:rPr lang="en-US" altLang="zh-CN" sz="2400" dirty="0">
                <a:solidFill>
                  <a:srgbClr val="D20A30"/>
                </a:solidFill>
                <a:latin typeface="+mn-ea"/>
                <a:ea typeface="+mn-ea"/>
              </a:rPr>
              <a:t>)- {</a:t>
            </a:r>
            <a:r>
              <a:rPr lang="en-US" altLang="zh-CN" sz="2400" dirty="0">
                <a:solidFill>
                  <a:srgbClr val="D20A30"/>
                </a:solidFill>
                <a:latin typeface="+mn-ea"/>
                <a:ea typeface="+mn-ea"/>
                <a:sym typeface="Symbol" panose="05050102010706020507" pitchFamily="18" charset="2"/>
              </a:rPr>
              <a:t>ε</a:t>
            </a:r>
            <a:r>
              <a:rPr lang="en-US" altLang="zh-CN" sz="2400" dirty="0">
                <a:solidFill>
                  <a:srgbClr val="D20A30"/>
                </a:solidFill>
                <a:latin typeface="+mn-ea"/>
                <a:ea typeface="+mn-ea"/>
              </a:rPr>
              <a:t>}。</a:t>
            </a:r>
            <a:endParaRPr lang="en-US" altLang="zh-CN" sz="2400" dirty="0">
              <a:solidFill>
                <a:srgbClr val="D20A30"/>
              </a:solidFill>
              <a:latin typeface="+mn-ea"/>
              <a:ea typeface="+mn-ea"/>
            </a:endParaRPr>
          </a:p>
          <a:p>
            <a:pPr>
              <a:lnSpc>
                <a:spcPct val="150000"/>
              </a:lnSpc>
              <a:buFont typeface="+mj-ea"/>
              <a:buAutoNum type="circleNumDbPlain"/>
            </a:pPr>
            <a:r>
              <a:rPr lang="zh-CN" altLang="en-US" sz="2400" dirty="0">
                <a:solidFill>
                  <a:srgbClr val="050507"/>
                </a:solidFill>
                <a:latin typeface="+mn-ea"/>
                <a:ea typeface="+mn-ea"/>
              </a:rPr>
              <a:t>对于每个</a:t>
            </a:r>
            <a:r>
              <a:rPr lang="en-US" altLang="zh-CN" sz="2400" dirty="0" err="1">
                <a:solidFill>
                  <a:srgbClr val="050507"/>
                </a:solidFill>
                <a:latin typeface="+mn-ea"/>
                <a:ea typeface="+mn-ea"/>
              </a:rPr>
              <a:t>i</a:t>
            </a:r>
            <a:r>
              <a:rPr lang="en-US" altLang="zh-CN" sz="2400" dirty="0">
                <a:solidFill>
                  <a:srgbClr val="050507"/>
                </a:solidFill>
                <a:latin typeface="+mn-ea"/>
                <a:ea typeface="+mn-ea"/>
              </a:rPr>
              <a:t> = 2,...,n，</a:t>
            </a:r>
            <a:r>
              <a:rPr lang="zh-CN" altLang="en-US" sz="2400" dirty="0">
                <a:solidFill>
                  <a:srgbClr val="050507"/>
                </a:solidFill>
                <a:latin typeface="+mn-ea"/>
                <a:ea typeface="+mn-ea"/>
              </a:rPr>
              <a:t>如果对于所有的</a:t>
            </a:r>
            <a:r>
              <a:rPr lang="en-US" altLang="zh-CN" sz="2400" dirty="0">
                <a:solidFill>
                  <a:srgbClr val="050507"/>
                </a:solidFill>
                <a:latin typeface="+mn-ea"/>
                <a:ea typeface="+mn-ea"/>
              </a:rPr>
              <a:t>k=1,...,i-1，First(</a:t>
            </a:r>
            <a:r>
              <a:rPr lang="en-US" altLang="zh-CN" sz="2400" dirty="0" err="1">
                <a:solidFill>
                  <a:srgbClr val="050507"/>
                </a:solidFill>
                <a:latin typeface="+mn-ea"/>
                <a:ea typeface="+mn-ea"/>
              </a:rPr>
              <a:t>X</a:t>
            </a:r>
            <a:r>
              <a:rPr lang="en-US" altLang="zh-CN" sz="2400" baseline="-25000" dirty="0" err="1">
                <a:solidFill>
                  <a:srgbClr val="050507"/>
                </a:solidFill>
                <a:latin typeface="+mn-ea"/>
                <a:ea typeface="+mn-ea"/>
              </a:rPr>
              <a:t>k</a:t>
            </a:r>
            <a:r>
              <a:rPr lang="en-US" altLang="zh-CN" sz="2400" dirty="0">
                <a:solidFill>
                  <a:srgbClr val="050507"/>
                </a:solidFill>
                <a:latin typeface="+mn-ea"/>
                <a:ea typeface="+mn-ea"/>
              </a:rPr>
              <a:t>)</a:t>
            </a:r>
            <a:r>
              <a:rPr lang="zh-CN" altLang="en-US" sz="2400" dirty="0">
                <a:solidFill>
                  <a:srgbClr val="050507"/>
                </a:solidFill>
                <a:latin typeface="+mn-ea"/>
                <a:ea typeface="+mn-ea"/>
              </a:rPr>
              <a:t>包括了</a:t>
            </a:r>
            <a:r>
              <a:rPr lang="en-US" altLang="zh-CN" sz="2400" dirty="0">
                <a:solidFill>
                  <a:srgbClr val="050507"/>
                </a:solidFill>
                <a:latin typeface="+mn-ea"/>
                <a:ea typeface="+mn-ea"/>
                <a:sym typeface="Symbol" panose="05050102010706020507" pitchFamily="18" charset="2"/>
              </a:rPr>
              <a:t>ε</a:t>
            </a:r>
            <a:r>
              <a:rPr lang="zh-CN" altLang="en-US" sz="2400" dirty="0">
                <a:solidFill>
                  <a:srgbClr val="050507"/>
                </a:solidFill>
                <a:latin typeface="+mn-ea"/>
                <a:ea typeface="+mn-ea"/>
              </a:rPr>
              <a:t>，则</a:t>
            </a:r>
            <a:r>
              <a:rPr lang="en-US" altLang="zh-CN" sz="2400" dirty="0">
                <a:solidFill>
                  <a:srgbClr val="D20A30"/>
                </a:solidFill>
                <a:latin typeface="+mn-ea"/>
                <a:ea typeface="+mn-ea"/>
              </a:rPr>
              <a:t>First(a)</a:t>
            </a:r>
            <a:r>
              <a:rPr lang="zh-CN" altLang="en-US" sz="2400" dirty="0">
                <a:solidFill>
                  <a:srgbClr val="D20A30"/>
                </a:solidFill>
                <a:latin typeface="+mn-ea"/>
                <a:ea typeface="+mn-ea"/>
              </a:rPr>
              <a:t>也包括</a:t>
            </a:r>
            <a:r>
              <a:rPr lang="en-US" altLang="zh-CN" sz="2400" dirty="0">
                <a:solidFill>
                  <a:srgbClr val="D20A30"/>
                </a:solidFill>
                <a:latin typeface="+mn-ea"/>
                <a:ea typeface="+mn-ea"/>
              </a:rPr>
              <a:t>First(X</a:t>
            </a:r>
            <a:r>
              <a:rPr lang="en-US" altLang="zh-CN" sz="2400" baseline="-25000" dirty="0">
                <a:solidFill>
                  <a:srgbClr val="D20A30"/>
                </a:solidFill>
                <a:latin typeface="+mn-ea"/>
                <a:ea typeface="+mn-ea"/>
              </a:rPr>
              <a:t>i</a:t>
            </a:r>
            <a:r>
              <a:rPr lang="en-US" altLang="zh-CN" sz="2400" dirty="0">
                <a:solidFill>
                  <a:srgbClr val="D20A30"/>
                </a:solidFill>
                <a:latin typeface="+mn-ea"/>
                <a:ea typeface="+mn-ea"/>
              </a:rPr>
              <a:t>)-{</a:t>
            </a:r>
            <a:r>
              <a:rPr lang="en-US" altLang="zh-CN" sz="2400" dirty="0">
                <a:solidFill>
                  <a:srgbClr val="D20A30"/>
                </a:solidFill>
                <a:latin typeface="+mn-ea"/>
                <a:ea typeface="+mn-ea"/>
                <a:sym typeface="Symbol" panose="05050102010706020507" pitchFamily="18" charset="2"/>
              </a:rPr>
              <a:t>ε</a:t>
            </a:r>
            <a:r>
              <a:rPr lang="en-US" altLang="zh-CN" sz="2400" dirty="0">
                <a:solidFill>
                  <a:srgbClr val="D20A30"/>
                </a:solidFill>
                <a:latin typeface="+mn-ea"/>
                <a:ea typeface="+mn-ea"/>
              </a:rPr>
              <a:t>}。</a:t>
            </a:r>
            <a:endParaRPr lang="en-US" altLang="zh-CN" sz="2400" dirty="0">
              <a:solidFill>
                <a:srgbClr val="D20A30"/>
              </a:solidFill>
              <a:latin typeface="+mn-ea"/>
              <a:ea typeface="+mn-ea"/>
            </a:endParaRPr>
          </a:p>
          <a:p>
            <a:pPr>
              <a:lnSpc>
                <a:spcPct val="150000"/>
              </a:lnSpc>
              <a:buFont typeface="+mj-ea"/>
              <a:buAutoNum type="circleNumDbPlain"/>
            </a:pPr>
            <a:r>
              <a:rPr lang="zh-CN" altLang="en-US" sz="2400" dirty="0">
                <a:solidFill>
                  <a:srgbClr val="050507"/>
                </a:solidFill>
                <a:latin typeface="+mn-ea"/>
                <a:ea typeface="+mn-ea"/>
              </a:rPr>
              <a:t>如果对于所有的</a:t>
            </a:r>
            <a:r>
              <a:rPr lang="en-US" altLang="zh-CN" sz="2400" dirty="0" err="1">
                <a:solidFill>
                  <a:srgbClr val="050507"/>
                </a:solidFill>
                <a:latin typeface="+mn-ea"/>
                <a:ea typeface="+mn-ea"/>
              </a:rPr>
              <a:t>i</a:t>
            </a:r>
            <a:r>
              <a:rPr lang="en-US" altLang="zh-CN" sz="2400" dirty="0">
                <a:solidFill>
                  <a:srgbClr val="050507"/>
                </a:solidFill>
                <a:latin typeface="+mn-ea"/>
                <a:ea typeface="+mn-ea"/>
              </a:rPr>
              <a:t> =1,...,</a:t>
            </a:r>
            <a:r>
              <a:rPr lang="en-US" altLang="zh-CN" sz="2400" dirty="0" err="1">
                <a:solidFill>
                  <a:srgbClr val="050507"/>
                </a:solidFill>
                <a:latin typeface="+mn-ea"/>
                <a:ea typeface="+mn-ea"/>
              </a:rPr>
              <a:t>n，First</a:t>
            </a:r>
            <a:r>
              <a:rPr lang="en-US" altLang="zh-CN" sz="2400" dirty="0">
                <a:solidFill>
                  <a:srgbClr val="050507"/>
                </a:solidFill>
                <a:latin typeface="+mn-ea"/>
                <a:ea typeface="+mn-ea"/>
              </a:rPr>
              <a:t>(X</a:t>
            </a:r>
            <a:r>
              <a:rPr lang="en-US" altLang="zh-CN" sz="2400" baseline="-25000" dirty="0">
                <a:solidFill>
                  <a:srgbClr val="050507"/>
                </a:solidFill>
                <a:latin typeface="+mn-ea"/>
                <a:ea typeface="+mn-ea"/>
              </a:rPr>
              <a:t>i</a:t>
            </a:r>
            <a:r>
              <a:rPr lang="en-US" altLang="zh-CN" sz="2400" dirty="0">
                <a:solidFill>
                  <a:srgbClr val="050507"/>
                </a:solidFill>
                <a:latin typeface="+mn-ea"/>
                <a:ea typeface="+mn-ea"/>
              </a:rPr>
              <a:t>)</a:t>
            </a:r>
            <a:r>
              <a:rPr lang="zh-CN" altLang="en-US" sz="2400" dirty="0">
                <a:solidFill>
                  <a:srgbClr val="050507"/>
                </a:solidFill>
                <a:latin typeface="+mn-ea"/>
                <a:ea typeface="+mn-ea"/>
              </a:rPr>
              <a:t>包括了</a:t>
            </a:r>
            <a:r>
              <a:rPr lang="en-US" altLang="zh-CN" sz="2400" dirty="0">
                <a:solidFill>
                  <a:srgbClr val="050507"/>
                </a:solidFill>
                <a:latin typeface="+mn-ea"/>
                <a:ea typeface="+mn-ea"/>
                <a:sym typeface="Symbol" panose="05050102010706020507" pitchFamily="18" charset="2"/>
              </a:rPr>
              <a:t>ε</a:t>
            </a:r>
            <a:r>
              <a:rPr lang="zh-CN" altLang="en-US" sz="2400" dirty="0">
                <a:solidFill>
                  <a:srgbClr val="050507"/>
                </a:solidFill>
                <a:latin typeface="+mn-ea"/>
                <a:ea typeface="+mn-ea"/>
              </a:rPr>
              <a:t>，则</a:t>
            </a:r>
            <a:r>
              <a:rPr lang="en-US" altLang="zh-CN" sz="2400" dirty="0">
                <a:solidFill>
                  <a:srgbClr val="D20A30"/>
                </a:solidFill>
                <a:latin typeface="+mn-ea"/>
                <a:ea typeface="+mn-ea"/>
              </a:rPr>
              <a:t>First(a)</a:t>
            </a:r>
            <a:r>
              <a:rPr lang="zh-CN" altLang="en-US" sz="2400" dirty="0">
                <a:solidFill>
                  <a:srgbClr val="D20A30"/>
                </a:solidFill>
                <a:latin typeface="+mn-ea"/>
                <a:ea typeface="+mn-ea"/>
              </a:rPr>
              <a:t>也包括</a:t>
            </a:r>
            <a:r>
              <a:rPr lang="en-US" altLang="zh-CN" sz="2400" dirty="0">
                <a:solidFill>
                  <a:srgbClr val="D20A30"/>
                </a:solidFill>
                <a:latin typeface="+mn-ea"/>
                <a:ea typeface="+mn-ea"/>
                <a:sym typeface="Symbol" panose="05050102010706020507" pitchFamily="18" charset="2"/>
              </a:rPr>
              <a:t>ε</a:t>
            </a:r>
            <a:r>
              <a:rPr lang="zh-CN" altLang="en-US" sz="2400" dirty="0">
                <a:solidFill>
                  <a:srgbClr val="050507"/>
                </a:solidFill>
                <a:latin typeface="+mn-ea"/>
                <a:ea typeface="+mn-ea"/>
              </a:rPr>
              <a:t>。</a:t>
            </a:r>
            <a:endParaRPr lang="zh-CN" altLang="en-US" sz="2400" dirty="0">
              <a:solidFill>
                <a:srgbClr val="050507"/>
              </a:solidFill>
              <a:latin typeface="+mn-ea"/>
              <a:ea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barn(outHorizontal)">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barn(outHorizontal)">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barn(outHorizontal)">
                                      <p:cBhvr>
                                        <p:cTn id="17" dur="500"/>
                                        <p:tgtEl>
                                          <p:spTgt spid="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440690" y="276860"/>
            <a:ext cx="777113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18" name="Rectangle 20"/>
          <p:cNvSpPr txBox="1">
            <a:spLocks noChangeArrowheads="1"/>
          </p:cNvSpPr>
          <p:nvPr/>
        </p:nvSpPr>
        <p:spPr>
          <a:xfrm>
            <a:off x="330835" y="1352550"/>
            <a:ext cx="9551670" cy="502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b="1" dirty="0">
                <a:solidFill>
                  <a:srgbClr val="0070C0"/>
                </a:solidFill>
                <a:latin typeface="+mn-ea"/>
              </a:rPr>
              <a:t>2. </a:t>
            </a:r>
            <a:r>
              <a:rPr lang="zh-CN" altLang="en-US" sz="2400" b="1" dirty="0">
                <a:solidFill>
                  <a:srgbClr val="0070C0"/>
                </a:solidFill>
                <a:latin typeface="+mn-ea"/>
              </a:rPr>
              <a:t>求</a:t>
            </a:r>
            <a:r>
              <a:rPr lang="en-US" altLang="zh-CN" sz="2400" b="1" dirty="0">
                <a:solidFill>
                  <a:srgbClr val="0070C0"/>
                </a:solidFill>
                <a:latin typeface="+mn-ea"/>
              </a:rPr>
              <a:t>Follow</a:t>
            </a:r>
            <a:r>
              <a:rPr lang="zh-CN" altLang="en-US" sz="2400" b="1" dirty="0">
                <a:solidFill>
                  <a:srgbClr val="0070C0"/>
                </a:solidFill>
                <a:latin typeface="+mn-ea"/>
              </a:rPr>
              <a:t>集合</a:t>
            </a:r>
            <a:endParaRPr lang="zh-CN" altLang="en-US" sz="2400" b="1" dirty="0">
              <a:solidFill>
                <a:srgbClr val="0070C0"/>
              </a:solidFill>
              <a:latin typeface="+mn-ea"/>
            </a:endParaRPr>
          </a:p>
        </p:txBody>
      </p:sp>
      <p:sp>
        <p:nvSpPr>
          <p:cNvPr id="25" name="Rectangle 2"/>
          <p:cNvSpPr>
            <a:spLocks noChangeArrowheads="1"/>
          </p:cNvSpPr>
          <p:nvPr/>
        </p:nvSpPr>
        <p:spPr bwMode="auto">
          <a:xfrm>
            <a:off x="440055" y="1732915"/>
            <a:ext cx="11645900"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ts val="50"/>
              </a:spcBef>
              <a:spcAft>
                <a:spcPts val="0"/>
              </a:spcAft>
            </a:pPr>
            <a:r>
              <a:rPr lang="en-US" altLang="zh-CN" sz="2400" b="1" dirty="0">
                <a:solidFill>
                  <a:srgbClr val="0070C0"/>
                </a:solidFill>
                <a:latin typeface="+mn-ea"/>
              </a:rPr>
              <a:t>Follow</a:t>
            </a:r>
            <a:r>
              <a:rPr lang="zh-CN" altLang="en-US" sz="2400" b="1" dirty="0">
                <a:solidFill>
                  <a:srgbClr val="0070C0"/>
                </a:solidFill>
                <a:latin typeface="+mn-ea"/>
              </a:rPr>
              <a:t>集合的定义：</a:t>
            </a:r>
            <a:r>
              <a:rPr lang="zh-CN" altLang="en-US" sz="2400" b="1" dirty="0">
                <a:solidFill>
                  <a:srgbClr val="050507"/>
                </a:solidFill>
                <a:latin typeface="+mn-ea"/>
              </a:rPr>
              <a:t>给出一个非终结符</a:t>
            </a:r>
            <a:r>
              <a:rPr lang="en-US" altLang="zh-CN" sz="2400" b="1" dirty="0">
                <a:solidFill>
                  <a:srgbClr val="050507"/>
                </a:solidFill>
                <a:latin typeface="+mn-ea"/>
              </a:rPr>
              <a:t>A，</a:t>
            </a:r>
            <a:r>
              <a:rPr lang="zh-CN" altLang="en-US" sz="2400" b="1" dirty="0">
                <a:solidFill>
                  <a:srgbClr val="050507"/>
                </a:solidFill>
                <a:latin typeface="+mn-ea"/>
              </a:rPr>
              <a:t>集合</a:t>
            </a:r>
            <a:r>
              <a:rPr lang="en-US" altLang="zh-CN" sz="2400" b="1" dirty="0">
                <a:solidFill>
                  <a:srgbClr val="050507"/>
                </a:solidFill>
                <a:latin typeface="+mn-ea"/>
              </a:rPr>
              <a:t>Follow(A)</a:t>
            </a:r>
            <a:r>
              <a:rPr lang="zh-CN" altLang="en-US" sz="2400" b="1" dirty="0">
                <a:solidFill>
                  <a:srgbClr val="050507"/>
                </a:solidFill>
                <a:latin typeface="+mn-ea"/>
              </a:rPr>
              <a:t>是由终结符</a:t>
            </a:r>
            <a:r>
              <a:rPr lang="en-US" altLang="zh-CN" sz="2400" b="1" dirty="0">
                <a:solidFill>
                  <a:srgbClr val="050507"/>
                </a:solidFill>
                <a:latin typeface="+mn-ea"/>
              </a:rPr>
              <a:t>(</a:t>
            </a:r>
            <a:r>
              <a:rPr lang="zh-CN" altLang="en-US" sz="2400" b="1" dirty="0">
                <a:solidFill>
                  <a:srgbClr val="050507"/>
                </a:solidFill>
                <a:latin typeface="+mn-ea"/>
                <a:sym typeface="+mn-ea"/>
              </a:rPr>
              <a:t>不包含</a:t>
            </a:r>
            <a:r>
              <a:rPr lang="en-US" altLang="zh-CN" sz="2400" b="1" dirty="0">
                <a:solidFill>
                  <a:srgbClr val="050507"/>
                </a:solidFill>
                <a:latin typeface="+mn-ea"/>
                <a:sym typeface="Symbol" panose="05050102010706020507" pitchFamily="18" charset="2"/>
              </a:rPr>
              <a:t></a:t>
            </a:r>
            <a:r>
              <a:rPr lang="en-US" altLang="zh-CN" sz="2400" b="1" dirty="0">
                <a:solidFill>
                  <a:srgbClr val="050507"/>
                </a:solidFill>
                <a:latin typeface="+mn-ea"/>
              </a:rPr>
              <a:t>)</a:t>
            </a:r>
            <a:r>
              <a:rPr lang="zh-CN" altLang="en-US" sz="2400" b="1" dirty="0">
                <a:solidFill>
                  <a:srgbClr val="050507"/>
                </a:solidFill>
                <a:latin typeface="+mn-ea"/>
              </a:rPr>
              <a:t>、</a:t>
            </a:r>
            <a:r>
              <a:rPr lang="zh-CN" altLang="en-US" sz="2400" b="1" dirty="0">
                <a:solidFill>
                  <a:srgbClr val="050507"/>
                </a:solidFill>
                <a:latin typeface="+mn-ea"/>
                <a:sym typeface="+mn-ea"/>
              </a:rPr>
              <a:t>$</a:t>
            </a:r>
            <a:r>
              <a:rPr lang="zh-CN" altLang="en-US" sz="2400" b="1" dirty="0">
                <a:solidFill>
                  <a:srgbClr val="050507"/>
                </a:solidFill>
                <a:latin typeface="+mn-ea"/>
              </a:rPr>
              <a:t>组成。集合</a:t>
            </a:r>
            <a:r>
              <a:rPr lang="en-US" altLang="zh-CN" sz="2400" b="1" dirty="0">
                <a:solidFill>
                  <a:srgbClr val="050507"/>
                </a:solidFill>
                <a:latin typeface="+mn-ea"/>
              </a:rPr>
              <a:t>Follow(A)</a:t>
            </a:r>
            <a:r>
              <a:rPr lang="zh-CN" altLang="en-US" sz="2400" b="1" dirty="0">
                <a:solidFill>
                  <a:srgbClr val="050507"/>
                </a:solidFill>
                <a:latin typeface="+mn-ea"/>
              </a:rPr>
              <a:t>的定义如下：</a:t>
            </a:r>
            <a:endParaRPr lang="en-US" altLang="zh-CN" sz="2400" b="1" dirty="0">
              <a:solidFill>
                <a:srgbClr val="050507"/>
              </a:solidFill>
              <a:latin typeface="+mn-ea"/>
            </a:endParaRPr>
          </a:p>
        </p:txBody>
      </p:sp>
      <p:sp>
        <p:nvSpPr>
          <p:cNvPr id="26" name="Rectangle 4"/>
          <p:cNvSpPr>
            <a:spLocks noChangeArrowheads="1"/>
          </p:cNvSpPr>
          <p:nvPr/>
        </p:nvSpPr>
        <p:spPr bwMode="auto">
          <a:xfrm>
            <a:off x="511810" y="2807970"/>
            <a:ext cx="5526405" cy="332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fontAlgn="auto">
              <a:lnSpc>
                <a:spcPct val="125000"/>
              </a:lnSpc>
              <a:spcBef>
                <a:spcPts val="0"/>
              </a:spcBef>
              <a:spcAft>
                <a:spcPts val="0"/>
              </a:spcAft>
              <a:buFont typeface="+mj-ea"/>
              <a:buAutoNum type="circleNumDbPlain"/>
            </a:pPr>
            <a:r>
              <a:rPr lang="zh-CN" altLang="en-US" sz="2400" b="1" dirty="0">
                <a:solidFill>
                  <a:srgbClr val="050507"/>
                </a:solidFill>
                <a:latin typeface="+mn-ea"/>
              </a:rPr>
              <a:t>若</a:t>
            </a:r>
            <a:r>
              <a:rPr lang="en-US" altLang="zh-CN" sz="2400" b="1" dirty="0">
                <a:solidFill>
                  <a:srgbClr val="0070C0"/>
                </a:solidFill>
                <a:latin typeface="+mn-ea"/>
              </a:rPr>
              <a:t>A</a:t>
            </a:r>
            <a:r>
              <a:rPr lang="zh-CN" altLang="en-US" sz="2400" b="1" dirty="0">
                <a:solidFill>
                  <a:srgbClr val="0070C0"/>
                </a:solidFill>
                <a:latin typeface="+mn-ea"/>
              </a:rPr>
              <a:t>是开始符号</a:t>
            </a:r>
            <a:r>
              <a:rPr lang="zh-CN" altLang="en-US" sz="2400" b="1" dirty="0">
                <a:solidFill>
                  <a:srgbClr val="050507"/>
                </a:solidFill>
                <a:latin typeface="+mn-ea"/>
              </a:rPr>
              <a:t>,则</a:t>
            </a:r>
            <a:r>
              <a:rPr lang="en-US" altLang="zh-CN" sz="2400" b="1" dirty="0">
                <a:solidFill>
                  <a:srgbClr val="050507"/>
                </a:solidFill>
                <a:latin typeface="+mn-ea"/>
              </a:rPr>
              <a:t>Follow(A)</a:t>
            </a:r>
            <a:r>
              <a:rPr lang="zh-CN" altLang="en-US" sz="2400" b="1" dirty="0">
                <a:solidFill>
                  <a:srgbClr val="050507"/>
                </a:solidFill>
                <a:latin typeface="+mn-ea"/>
              </a:rPr>
              <a:t>包含$</a:t>
            </a:r>
            <a:endParaRPr lang="zh-CN" altLang="en-US" sz="2400" b="1" dirty="0">
              <a:solidFill>
                <a:srgbClr val="050507"/>
              </a:solidFill>
              <a:latin typeface="+mn-ea"/>
            </a:endParaRPr>
          </a:p>
          <a:p>
            <a:pPr marL="457200" indent="-457200" fontAlgn="auto">
              <a:lnSpc>
                <a:spcPct val="125000"/>
              </a:lnSpc>
              <a:spcBef>
                <a:spcPts val="0"/>
              </a:spcBef>
              <a:spcAft>
                <a:spcPts val="0"/>
              </a:spcAft>
              <a:buFont typeface="+mj-ea"/>
              <a:buAutoNum type="circleNumDbPlain"/>
            </a:pPr>
            <a:r>
              <a:rPr lang="zh-CN" altLang="en-US" sz="2400" b="1" dirty="0">
                <a:solidFill>
                  <a:srgbClr val="050507"/>
                </a:solidFill>
                <a:latin typeface="+mn-ea"/>
              </a:rPr>
              <a:t>对于</a:t>
            </a:r>
            <a:r>
              <a:rPr lang="en-US" altLang="zh-CN" sz="2400" b="1" dirty="0">
                <a:solidFill>
                  <a:srgbClr val="050507"/>
                </a:solidFill>
                <a:latin typeface="+mn-ea"/>
              </a:rPr>
              <a:t>A</a:t>
            </a:r>
            <a:r>
              <a:rPr lang="zh-CN" altLang="en-US" sz="2400" b="1" dirty="0">
                <a:solidFill>
                  <a:srgbClr val="050507"/>
                </a:solidFill>
                <a:latin typeface="+mn-ea"/>
              </a:rPr>
              <a:t>出现右部的产生</a:t>
            </a:r>
            <a:r>
              <a:rPr lang="zh-CN" altLang="en-US" sz="2400" b="1" dirty="0">
                <a:solidFill>
                  <a:srgbClr val="050507"/>
                </a:solidFill>
                <a:latin typeface="+mn-ea"/>
              </a:rPr>
              <a:t>式：</a:t>
            </a:r>
            <a:endParaRPr lang="zh-CN" altLang="en-US" sz="2400" b="1" dirty="0">
              <a:solidFill>
                <a:srgbClr val="050507"/>
              </a:solidFill>
              <a:latin typeface="+mn-ea"/>
            </a:endParaRPr>
          </a:p>
          <a:p>
            <a:pPr marL="914400" lvl="1" indent="-457200" fontAlgn="auto">
              <a:lnSpc>
                <a:spcPct val="125000"/>
              </a:lnSpc>
              <a:spcBef>
                <a:spcPts val="0"/>
              </a:spcBef>
              <a:spcAft>
                <a:spcPts val="0"/>
              </a:spcAft>
              <a:buFont typeface="Wingdings" panose="05000000000000000000" charset="0"/>
              <a:buChar char="p"/>
            </a:pPr>
            <a:r>
              <a:rPr lang="zh-CN" altLang="en-US" sz="2400" b="1" dirty="0">
                <a:solidFill>
                  <a:srgbClr val="050507"/>
                </a:solidFill>
                <a:latin typeface="+mn-ea"/>
              </a:rPr>
              <a:t>若存在产生式</a:t>
            </a:r>
            <a:r>
              <a:rPr lang="en-US" altLang="zh-CN" sz="2400" b="1" dirty="0">
                <a:solidFill>
                  <a:srgbClr val="0070C0"/>
                </a:solidFill>
                <a:latin typeface="+mn-ea"/>
              </a:rPr>
              <a:t>B→</a:t>
            </a:r>
            <a:r>
              <a:rPr lang="en-US" altLang="zh-CN" sz="2400" b="1" dirty="0">
                <a:solidFill>
                  <a:srgbClr val="0070C0"/>
                </a:solidFill>
                <a:latin typeface="+mn-ea"/>
                <a:sym typeface="Symbol" panose="05050102010706020507" pitchFamily="18" charset="2"/>
              </a:rPr>
              <a:t></a:t>
            </a:r>
            <a:r>
              <a:rPr lang="en-US" altLang="zh-CN" sz="2400" b="1" dirty="0">
                <a:solidFill>
                  <a:srgbClr val="0070C0"/>
                </a:solidFill>
                <a:latin typeface="+mn-ea"/>
              </a:rPr>
              <a:t>A</a:t>
            </a:r>
            <a:r>
              <a:rPr lang="en-US" altLang="zh-CN" sz="2400" b="1" dirty="0">
                <a:solidFill>
                  <a:srgbClr val="0070C0"/>
                </a:solidFill>
                <a:latin typeface="+mn-ea"/>
                <a:sym typeface="Symbol" panose="05050102010706020507" pitchFamily="18" charset="2"/>
              </a:rPr>
              <a:t></a:t>
            </a:r>
            <a:r>
              <a:rPr lang="zh-CN" altLang="en-US" sz="2400" b="1" dirty="0">
                <a:solidFill>
                  <a:srgbClr val="050507"/>
                </a:solidFill>
                <a:latin typeface="+mn-ea"/>
              </a:rPr>
              <a:t>，则</a:t>
            </a:r>
            <a:r>
              <a:rPr lang="en-US" altLang="zh-CN" sz="2400" b="1" dirty="0">
                <a:solidFill>
                  <a:srgbClr val="0070C0"/>
                </a:solidFill>
                <a:latin typeface="+mn-ea"/>
              </a:rPr>
              <a:t>Follow(A)</a:t>
            </a:r>
            <a:r>
              <a:rPr lang="zh-CN" altLang="en-US" sz="2400" b="1" dirty="0">
                <a:solidFill>
                  <a:srgbClr val="0070C0"/>
                </a:solidFill>
                <a:latin typeface="+mn-ea"/>
              </a:rPr>
              <a:t>包含 </a:t>
            </a:r>
            <a:r>
              <a:rPr lang="en-US" altLang="zh-CN" sz="2400" b="1" dirty="0">
                <a:solidFill>
                  <a:srgbClr val="0070C0"/>
                </a:solidFill>
                <a:latin typeface="+mn-ea"/>
              </a:rPr>
              <a:t>First(</a:t>
            </a:r>
            <a:r>
              <a:rPr lang="en-US" altLang="zh-CN" sz="2400" b="1" dirty="0">
                <a:solidFill>
                  <a:srgbClr val="0070C0"/>
                </a:solidFill>
                <a:latin typeface="+mn-ea"/>
                <a:sym typeface="Symbol" panose="05050102010706020507" pitchFamily="18" charset="2"/>
              </a:rPr>
              <a:t></a:t>
            </a:r>
            <a:r>
              <a:rPr lang="en-US" altLang="zh-CN" sz="2400" b="1" dirty="0">
                <a:solidFill>
                  <a:srgbClr val="0070C0"/>
                </a:solidFill>
                <a:latin typeface="+mn-ea"/>
              </a:rPr>
              <a:t>)-{</a:t>
            </a:r>
            <a:r>
              <a:rPr lang="en-US" altLang="zh-CN" sz="2400" b="1" dirty="0">
                <a:solidFill>
                  <a:srgbClr val="0070C0"/>
                </a:solidFill>
                <a:latin typeface="+mn-ea"/>
                <a:sym typeface="Symbol" panose="05050102010706020507" pitchFamily="18" charset="2"/>
              </a:rPr>
              <a:t></a:t>
            </a:r>
            <a:r>
              <a:rPr lang="en-US" altLang="zh-CN" sz="2400" b="1" dirty="0">
                <a:solidFill>
                  <a:srgbClr val="0070C0"/>
                </a:solidFill>
                <a:latin typeface="+mn-ea"/>
              </a:rPr>
              <a:t>}</a:t>
            </a:r>
            <a:endParaRPr lang="zh-CN" altLang="en-US" sz="2400" b="1" dirty="0">
              <a:solidFill>
                <a:srgbClr val="0070C0"/>
              </a:solidFill>
              <a:latin typeface="+mn-ea"/>
            </a:endParaRPr>
          </a:p>
          <a:p>
            <a:pPr marL="914400" lvl="1" indent="-457200" fontAlgn="auto">
              <a:lnSpc>
                <a:spcPct val="125000"/>
              </a:lnSpc>
              <a:spcBef>
                <a:spcPts val="0"/>
              </a:spcBef>
              <a:spcAft>
                <a:spcPts val="0"/>
              </a:spcAft>
              <a:buFont typeface="Wingdings" panose="05000000000000000000" charset="0"/>
              <a:buChar char="p"/>
            </a:pPr>
            <a:r>
              <a:rPr lang="zh-CN" altLang="en-US" sz="2400" b="1" dirty="0">
                <a:solidFill>
                  <a:srgbClr val="050507"/>
                </a:solidFill>
                <a:latin typeface="+mn-ea"/>
              </a:rPr>
              <a:t>若存在产生式</a:t>
            </a:r>
            <a:r>
              <a:rPr lang="en-US" altLang="zh-CN" sz="2400" b="1" dirty="0">
                <a:solidFill>
                  <a:srgbClr val="0070C0"/>
                </a:solidFill>
                <a:latin typeface="+mn-ea"/>
              </a:rPr>
              <a:t>B→</a:t>
            </a:r>
            <a:r>
              <a:rPr lang="en-US" altLang="zh-CN" sz="2400" b="1" dirty="0">
                <a:solidFill>
                  <a:srgbClr val="0070C0"/>
                </a:solidFill>
                <a:latin typeface="+mn-ea"/>
                <a:sym typeface="Symbol" panose="05050102010706020507" pitchFamily="18" charset="2"/>
              </a:rPr>
              <a:t></a:t>
            </a:r>
            <a:r>
              <a:rPr lang="en-US" altLang="zh-CN" sz="2400" b="1" dirty="0">
                <a:solidFill>
                  <a:srgbClr val="0070C0"/>
                </a:solidFill>
                <a:latin typeface="+mn-ea"/>
              </a:rPr>
              <a:t>A</a:t>
            </a:r>
            <a:r>
              <a:rPr lang="en-US" altLang="zh-CN" sz="2400" b="1" dirty="0">
                <a:solidFill>
                  <a:srgbClr val="0070C0"/>
                </a:solidFill>
                <a:latin typeface="+mn-ea"/>
                <a:sym typeface="Symbol" panose="05050102010706020507" pitchFamily="18" charset="2"/>
              </a:rPr>
              <a:t></a:t>
            </a:r>
            <a:r>
              <a:rPr lang="en-US" altLang="zh-CN" sz="2400" b="1" dirty="0">
                <a:solidFill>
                  <a:srgbClr val="050507"/>
                </a:solidFill>
                <a:latin typeface="+mn-ea"/>
              </a:rPr>
              <a:t>，</a:t>
            </a:r>
            <a:r>
              <a:rPr lang="zh-CN" altLang="en-US" sz="2400" b="1" dirty="0">
                <a:solidFill>
                  <a:srgbClr val="050507"/>
                </a:solidFill>
                <a:latin typeface="+mn-ea"/>
              </a:rPr>
              <a:t>且</a:t>
            </a:r>
            <a:r>
              <a:rPr lang="en-US" altLang="zh-CN" sz="2400" b="1" dirty="0">
                <a:solidFill>
                  <a:srgbClr val="C00000"/>
                </a:solidFill>
                <a:latin typeface="+mn-ea"/>
                <a:sym typeface="Symbol" panose="05050102010706020507" pitchFamily="18" charset="2"/>
              </a:rPr>
              <a:t></a:t>
            </a:r>
            <a:r>
              <a:rPr lang="zh-CN" altLang="en-US" sz="2400" b="1" dirty="0">
                <a:solidFill>
                  <a:srgbClr val="C00000"/>
                </a:solidFill>
                <a:latin typeface="+mn-ea"/>
              </a:rPr>
              <a:t>在</a:t>
            </a:r>
            <a:r>
              <a:rPr lang="en-US" altLang="zh-CN" sz="2400" b="1" dirty="0">
                <a:solidFill>
                  <a:srgbClr val="C00000"/>
                </a:solidFill>
                <a:latin typeface="+mn-ea"/>
              </a:rPr>
              <a:t>First(</a:t>
            </a:r>
            <a:r>
              <a:rPr lang="en-US" altLang="zh-CN" sz="2400" b="1" dirty="0">
                <a:solidFill>
                  <a:srgbClr val="C00000"/>
                </a:solidFill>
                <a:latin typeface="+mn-ea"/>
                <a:sym typeface="Symbol" panose="05050102010706020507" pitchFamily="18" charset="2"/>
              </a:rPr>
              <a:t></a:t>
            </a:r>
            <a:r>
              <a:rPr lang="en-US" altLang="zh-CN" sz="2400" b="1" dirty="0">
                <a:solidFill>
                  <a:srgbClr val="C00000"/>
                </a:solidFill>
                <a:latin typeface="+mn-ea"/>
              </a:rPr>
              <a:t>)</a:t>
            </a:r>
            <a:r>
              <a:rPr lang="zh-CN" altLang="en-US" sz="2400" b="1" dirty="0">
                <a:solidFill>
                  <a:srgbClr val="C00000"/>
                </a:solidFill>
                <a:latin typeface="+mn-ea"/>
              </a:rPr>
              <a:t>中</a:t>
            </a:r>
            <a:r>
              <a:rPr lang="zh-CN" altLang="en-US" sz="2400" b="1" dirty="0">
                <a:solidFill>
                  <a:srgbClr val="0070C0"/>
                </a:solidFill>
                <a:latin typeface="+mn-ea"/>
              </a:rPr>
              <a:t>，则</a:t>
            </a:r>
            <a:r>
              <a:rPr lang="en-US" altLang="zh-CN" sz="2400" b="1" dirty="0">
                <a:solidFill>
                  <a:srgbClr val="0070C0"/>
                </a:solidFill>
                <a:latin typeface="+mn-ea"/>
              </a:rPr>
              <a:t>Follow(A)</a:t>
            </a:r>
            <a:r>
              <a:rPr lang="zh-CN" altLang="en-US" sz="2400" b="1" dirty="0">
                <a:solidFill>
                  <a:srgbClr val="0070C0"/>
                </a:solidFill>
                <a:latin typeface="+mn-ea"/>
              </a:rPr>
              <a:t>包含</a:t>
            </a:r>
            <a:r>
              <a:rPr lang="en-US" altLang="zh-CN" sz="2400" b="1" dirty="0">
                <a:solidFill>
                  <a:srgbClr val="0070C0"/>
                </a:solidFill>
                <a:latin typeface="+mn-ea"/>
              </a:rPr>
              <a:t>Follow(B)</a:t>
            </a:r>
            <a:endParaRPr lang="zh-CN" altLang="en-US" sz="2400" b="1" dirty="0">
              <a:solidFill>
                <a:srgbClr val="050507"/>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文本框 2"/>
          <p:cNvSpPr txBox="1"/>
          <p:nvPr/>
        </p:nvSpPr>
        <p:spPr>
          <a:xfrm>
            <a:off x="6124575" y="2946400"/>
            <a:ext cx="5681980" cy="3184525"/>
          </a:xfrm>
          <a:prstGeom prst="rect">
            <a:avLst/>
          </a:prstGeom>
          <a:noFill/>
        </p:spPr>
        <p:txBody>
          <a:bodyPr wrap="square" rtlCol="0" anchor="t">
            <a:noAutofit/>
          </a:bodyPr>
          <a:p>
            <a:pPr marL="0" lvl="2">
              <a:lnSpc>
                <a:spcPct val="120000"/>
              </a:lnSpc>
              <a:spcBef>
                <a:spcPct val="0"/>
              </a:spcBef>
              <a:spcAft>
                <a:spcPts val="0"/>
              </a:spcAft>
            </a:pPr>
            <a:r>
              <a:rPr lang="en-US" altLang="zh-CN" sz="2800" dirty="0" err="1">
                <a:latin typeface="Times New Roman" panose="02020603050405020304" pitchFamily="18" charset="0"/>
                <a:sym typeface="+mn-ea"/>
              </a:rPr>
              <a:t>例如：</a:t>
            </a:r>
            <a:r>
              <a:rPr lang="en-US" altLang="zh-CN" sz="2800" b="1" dirty="0" err="1">
                <a:latin typeface="Times New Roman" panose="02020603050405020304" pitchFamily="18" charset="0"/>
                <a:sym typeface="+mn-ea"/>
              </a:rPr>
              <a:t>a</a:t>
            </a:r>
            <a:r>
              <a:rPr lang="en-US" altLang="zh-CN" sz="2800" b="1" dirty="0" err="1">
                <a:latin typeface="Times New Roman" panose="02020603050405020304" pitchFamily="18" charset="0"/>
                <a:sym typeface="Symbol" panose="05050102010706020507" pitchFamily="18" charset="2"/>
              </a:rPr>
              <a:t>Follow(B)，</a:t>
            </a:r>
            <a:r>
              <a:rPr lang="zh-CN" altLang="en-US" sz="2400" b="1" dirty="0">
                <a:latin typeface="Times New Roman" panose="02020603050405020304" pitchFamily="18" charset="0"/>
                <a:sym typeface="Symbol" panose="05050102010706020507" pitchFamily="18" charset="2"/>
              </a:rPr>
              <a:t>若</a:t>
            </a:r>
            <a:r>
              <a:rPr lang="en-US" altLang="zh-CN" sz="2400" b="1" dirty="0">
                <a:solidFill>
                  <a:srgbClr val="050507"/>
                </a:solidFill>
                <a:latin typeface="Times New Roman" panose="02020603050405020304" pitchFamily="18" charset="0"/>
                <a:sym typeface="+mn-ea"/>
              </a:rPr>
              <a:t>B→</a:t>
            </a:r>
            <a:r>
              <a:rPr lang="en-US" altLang="zh-CN" sz="2400" b="1" dirty="0">
                <a:solidFill>
                  <a:srgbClr val="050507"/>
                </a:solidFill>
                <a:latin typeface="Times New Roman" panose="02020603050405020304" pitchFamily="18" charset="0"/>
                <a:sym typeface="Symbol" panose="05050102010706020507" pitchFamily="18" charset="2"/>
              </a:rPr>
              <a:t></a:t>
            </a:r>
            <a:r>
              <a:rPr lang="en-US" altLang="zh-CN" sz="2400" b="1" dirty="0">
                <a:solidFill>
                  <a:srgbClr val="050507"/>
                </a:solidFill>
                <a:latin typeface="Times New Roman" panose="02020603050405020304" pitchFamily="18" charset="0"/>
                <a:sym typeface="+mn-ea"/>
              </a:rPr>
              <a:t>A</a:t>
            </a:r>
            <a:r>
              <a:rPr lang="en-US" altLang="zh-CN" sz="2400" b="1" dirty="0">
                <a:solidFill>
                  <a:srgbClr val="050507"/>
                </a:solidFill>
                <a:latin typeface="Times New Roman" panose="02020603050405020304" pitchFamily="18" charset="0"/>
                <a:sym typeface="Symbol" panose="05050102010706020507" pitchFamily="18" charset="2"/>
              </a:rPr>
              <a:t></a:t>
            </a:r>
            <a:r>
              <a:rPr lang="en-US" altLang="zh-CN" sz="2400" b="1" dirty="0">
                <a:solidFill>
                  <a:srgbClr val="050507"/>
                </a:solidFill>
                <a:latin typeface="Times New Roman" panose="02020603050405020304" pitchFamily="18" charset="0"/>
                <a:sym typeface="+mn-ea"/>
              </a:rPr>
              <a:t>，</a:t>
            </a:r>
            <a:r>
              <a:rPr lang="zh-CN" altLang="en-US" sz="2400" b="1" dirty="0">
                <a:solidFill>
                  <a:srgbClr val="050507"/>
                </a:solidFill>
                <a:latin typeface="Times New Roman" panose="02020603050405020304" pitchFamily="18" charset="0"/>
                <a:sym typeface="+mn-ea"/>
              </a:rPr>
              <a:t>且</a:t>
            </a:r>
            <a:r>
              <a:rPr lang="en-US" altLang="zh-CN" sz="2400" b="1" dirty="0">
                <a:solidFill>
                  <a:srgbClr val="050507"/>
                </a:solidFill>
                <a:latin typeface="Times New Roman" panose="02020603050405020304" pitchFamily="18" charset="0"/>
                <a:sym typeface="Symbol" panose="05050102010706020507" pitchFamily="18" charset="2"/>
              </a:rPr>
              <a:t></a:t>
            </a:r>
            <a:r>
              <a:rPr lang="zh-CN" altLang="en-US" sz="2400" b="1" dirty="0">
                <a:solidFill>
                  <a:srgbClr val="D20A30"/>
                </a:solidFill>
                <a:latin typeface="Times New Roman" panose="02020603050405020304" pitchFamily="18" charset="0"/>
                <a:sym typeface="+mn-ea"/>
              </a:rPr>
              <a:t>在</a:t>
            </a:r>
            <a:r>
              <a:rPr lang="en-US" altLang="zh-CN" sz="2400" b="1" dirty="0">
                <a:solidFill>
                  <a:srgbClr val="050507"/>
                </a:solidFill>
                <a:latin typeface="Times New Roman" panose="02020603050405020304" pitchFamily="18" charset="0"/>
                <a:sym typeface="+mn-ea"/>
              </a:rPr>
              <a:t>First(</a:t>
            </a:r>
            <a:r>
              <a:rPr lang="en-US" altLang="zh-CN" sz="2400" b="1" dirty="0">
                <a:solidFill>
                  <a:srgbClr val="050507"/>
                </a:solidFill>
                <a:latin typeface="Times New Roman" panose="02020603050405020304" pitchFamily="18" charset="0"/>
                <a:sym typeface="Symbol" panose="05050102010706020507" pitchFamily="18" charset="2"/>
              </a:rPr>
              <a:t></a:t>
            </a:r>
            <a:r>
              <a:rPr lang="en-US" altLang="zh-CN" sz="2400" b="1" dirty="0">
                <a:solidFill>
                  <a:srgbClr val="050507"/>
                </a:solidFill>
                <a:latin typeface="Times New Roman" panose="02020603050405020304" pitchFamily="18" charset="0"/>
                <a:sym typeface="+mn-ea"/>
              </a:rPr>
              <a:t>)</a:t>
            </a:r>
            <a:r>
              <a:rPr lang="zh-CN" altLang="en-US" sz="2400" b="1" dirty="0">
                <a:solidFill>
                  <a:srgbClr val="050507"/>
                </a:solidFill>
                <a:latin typeface="Times New Roman" panose="02020603050405020304" pitchFamily="18" charset="0"/>
                <a:sym typeface="+mn-ea"/>
              </a:rPr>
              <a:t>中，则有：</a:t>
            </a:r>
            <a:r>
              <a:rPr lang="en-US" altLang="zh-CN" sz="2800" b="1" dirty="0" err="1">
                <a:latin typeface="Times New Roman" panose="02020603050405020304" pitchFamily="18" charset="0"/>
                <a:sym typeface="+mn-ea"/>
              </a:rPr>
              <a:t>a</a:t>
            </a:r>
            <a:r>
              <a:rPr lang="en-US" altLang="zh-CN" sz="2800" b="1" dirty="0" err="1">
                <a:latin typeface="Times New Roman" panose="02020603050405020304" pitchFamily="18" charset="0"/>
                <a:sym typeface="Symbol" panose="05050102010706020507" pitchFamily="18" charset="2"/>
              </a:rPr>
              <a:t>Follow</a:t>
            </a:r>
            <a:r>
              <a:rPr lang="en-US" altLang="zh-CN" sz="2800" b="1" dirty="0">
                <a:latin typeface="Times New Roman" panose="02020603050405020304" pitchFamily="18" charset="0"/>
                <a:sym typeface="Symbol" panose="05050102010706020507" pitchFamily="18" charset="2"/>
              </a:rPr>
              <a:t>(A)</a:t>
            </a:r>
            <a:endParaRPr lang="en-US" altLang="zh-CN" sz="2800" b="1" dirty="0">
              <a:latin typeface="Times New Roman" panose="02020603050405020304" pitchFamily="18" charset="0"/>
              <a:sym typeface="Symbol" panose="05050102010706020507" pitchFamily="18" charset="2"/>
            </a:endParaRPr>
          </a:p>
          <a:p>
            <a:pPr>
              <a:lnSpc>
                <a:spcPct val="120000"/>
              </a:lnSpc>
              <a:spcBef>
                <a:spcPct val="0"/>
              </a:spcBef>
              <a:spcAft>
                <a:spcPts val="0"/>
              </a:spcAft>
            </a:pPr>
            <a:endParaRPr lang="zh-CN" altLang="en-US" sz="2400" dirty="0">
              <a:solidFill>
                <a:srgbClr val="050507"/>
              </a:solidFill>
              <a:latin typeface="Times New Roman" panose="02020603050405020304" pitchFamily="18" charset="0"/>
            </a:endParaRPr>
          </a:p>
          <a:p>
            <a:pPr lvl="2">
              <a:lnSpc>
                <a:spcPct val="120000"/>
              </a:lnSpc>
              <a:spcBef>
                <a:spcPct val="0"/>
              </a:spcBef>
              <a:spcAft>
                <a:spcPts val="0"/>
              </a:spcAft>
            </a:pPr>
            <a:r>
              <a:rPr lang="en-US" altLang="zh-CN" sz="2800" dirty="0">
                <a:solidFill>
                  <a:srgbClr val="C00000"/>
                </a:solidFill>
                <a:latin typeface="Times New Roman" panose="02020603050405020304" pitchFamily="18" charset="0"/>
                <a:sym typeface="Symbol" panose="05050102010706020507" pitchFamily="18" charset="2"/>
              </a:rPr>
              <a:t>…Ba…</a:t>
            </a:r>
            <a:r>
              <a:rPr lang="en-US" altLang="zh-CN" sz="2800" dirty="0">
                <a:solidFill>
                  <a:srgbClr val="070709"/>
                </a:solidFill>
                <a:latin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sym typeface="Symbol" panose="05050102010706020507" pitchFamily="18" charset="2"/>
              </a:rPr>
              <a:t>…</a:t>
            </a:r>
            <a:r>
              <a:rPr lang="en-US" altLang="zh-CN" sz="2800" dirty="0">
                <a:solidFill>
                  <a:srgbClr val="050507"/>
                </a:solidFill>
                <a:latin typeface="Times New Roman" panose="02020603050405020304" pitchFamily="18" charset="0"/>
                <a:sym typeface="Symbol" panose="05050102010706020507" pitchFamily="18" charset="2"/>
              </a:rPr>
              <a:t></a:t>
            </a:r>
            <a:r>
              <a:rPr lang="en-US" altLang="zh-CN" sz="2800" dirty="0" err="1">
                <a:solidFill>
                  <a:srgbClr val="050507"/>
                </a:solidFill>
                <a:latin typeface="Times New Roman" panose="02020603050405020304" pitchFamily="18" charset="0"/>
                <a:sym typeface="+mn-ea"/>
              </a:rPr>
              <a:t>A</a:t>
            </a:r>
            <a:r>
              <a:rPr lang="en-US" altLang="zh-CN" sz="2800" dirty="0" err="1">
                <a:solidFill>
                  <a:srgbClr val="050507"/>
                </a:solidFill>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sym typeface="Symbol" panose="05050102010706020507" pitchFamily="18" charset="2"/>
              </a:rPr>
              <a:t>a</a:t>
            </a:r>
            <a:r>
              <a:rPr lang="en-US" altLang="zh-CN" sz="2800" dirty="0">
                <a:latin typeface="Times New Roman" panose="02020603050405020304" pitchFamily="18" charset="0"/>
                <a:sym typeface="Symbol" panose="05050102010706020507" pitchFamily="18" charset="2"/>
              </a:rPr>
              <a:t>… </a:t>
            </a:r>
            <a:r>
              <a:rPr lang="en-US" altLang="zh-CN" sz="2800" dirty="0">
                <a:solidFill>
                  <a:srgbClr val="070709"/>
                </a:solidFill>
                <a:latin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sym typeface="Symbol" panose="05050102010706020507" pitchFamily="18" charset="2"/>
              </a:rPr>
              <a:t>…</a:t>
            </a:r>
            <a:r>
              <a:rPr lang="en-US" altLang="zh-CN" sz="2800" dirty="0">
                <a:solidFill>
                  <a:srgbClr val="050507"/>
                </a:solidFill>
                <a:latin typeface="Times New Roman" panose="02020603050405020304" pitchFamily="18" charset="0"/>
                <a:sym typeface="Symbol" panose="05050102010706020507" pitchFamily="18" charset="2"/>
              </a:rPr>
              <a:t></a:t>
            </a:r>
            <a:r>
              <a:rPr lang="en-US" altLang="zh-CN" sz="2800" dirty="0">
                <a:solidFill>
                  <a:srgbClr val="050507"/>
                </a:solidFill>
                <a:latin typeface="Times New Roman" panose="02020603050405020304" pitchFamily="18" charset="0"/>
                <a:sym typeface="+mn-ea"/>
              </a:rPr>
              <a:t>A </a:t>
            </a:r>
            <a:r>
              <a:rPr lang="en-US" altLang="zh-CN" sz="2800" dirty="0">
                <a:solidFill>
                  <a:srgbClr val="050507"/>
                </a:solidFill>
                <a:latin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sym typeface="Symbol" panose="05050102010706020507" pitchFamily="18" charset="2"/>
              </a:rPr>
              <a:t>a… =</a:t>
            </a:r>
            <a:r>
              <a:rPr lang="en-US" altLang="zh-CN" sz="2800" dirty="0">
                <a:solidFill>
                  <a:srgbClr val="C00000"/>
                </a:solidFill>
                <a:latin typeface="Times New Roman" panose="02020603050405020304" pitchFamily="18" charset="0"/>
                <a:sym typeface="Symbol" panose="05050102010706020507" pitchFamily="18" charset="2"/>
              </a:rPr>
              <a:t> …</a:t>
            </a:r>
            <a:r>
              <a:rPr lang="en-US" altLang="zh-CN" sz="2800" dirty="0">
                <a:solidFill>
                  <a:srgbClr val="C00000"/>
                </a:solidFill>
                <a:latin typeface="Times New Roman" panose="02020603050405020304" pitchFamily="18" charset="0"/>
                <a:sym typeface="+mn-ea"/>
              </a:rPr>
              <a:t>A</a:t>
            </a:r>
            <a:r>
              <a:rPr lang="en-US" altLang="zh-CN" sz="2800" dirty="0">
                <a:solidFill>
                  <a:srgbClr val="C00000"/>
                </a:solidFill>
                <a:latin typeface="Times New Roman" panose="02020603050405020304" pitchFamily="18" charset="0"/>
                <a:sym typeface="Symbol" panose="05050102010706020507" pitchFamily="18" charset="2"/>
              </a:rPr>
              <a:t>a…</a:t>
            </a:r>
            <a:endParaRPr lang="en-US" altLang="zh-CN" sz="2800" dirty="0">
              <a:latin typeface="Times New Roman" panose="02020603050405020304" pitchFamily="18" charset="0"/>
              <a:sym typeface="Symbol" panose="05050102010706020507" pitchFamily="18" charset="2"/>
            </a:endParaRPr>
          </a:p>
          <a:p>
            <a:pPr lvl="2">
              <a:lnSpc>
                <a:spcPct val="120000"/>
              </a:lnSpc>
              <a:spcBef>
                <a:spcPct val="0"/>
              </a:spcBef>
              <a:spcAft>
                <a:spcPts val="0"/>
              </a:spcAft>
            </a:pPr>
            <a:endParaRPr lang="en-US" altLang="zh-CN" sz="2800" dirty="0">
              <a:latin typeface="Times New Roman" panose="0202060305040502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barn(outHorizontal)">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barn(outHorizontal)">
                                      <p:cBhvr>
                                        <p:cTn id="12" dur="500"/>
                                        <p:tgtEl>
                                          <p:spTgt spid="26">
                                            <p:txEl>
                                              <p:pRg st="1" end="1"/>
                                            </p:txEl>
                                          </p:spTgt>
                                        </p:tgtEl>
                                      </p:cBhvr>
                                    </p:animEffect>
                                  </p:childTnLst>
                                </p:cTn>
                              </p:par>
                              <p:par>
                                <p:cTn id="13" presetID="16" presetClass="entr" presetSubtype="42" fill="hold" grpId="0" nodeType="withEffect">
                                  <p:stCondLst>
                                    <p:cond delay="0"/>
                                  </p:stCondLst>
                                  <p:childTnLst>
                                    <p:set>
                                      <p:cBhvr>
                                        <p:cTn id="14" dur="1" fill="hold">
                                          <p:stCondLst>
                                            <p:cond delay="0"/>
                                          </p:stCondLst>
                                        </p:cTn>
                                        <p:tgtEl>
                                          <p:spTgt spid="26">
                                            <p:txEl>
                                              <p:pRg st="2" end="2"/>
                                            </p:txEl>
                                          </p:spTgt>
                                        </p:tgtEl>
                                        <p:attrNameLst>
                                          <p:attrName>style.visibility</p:attrName>
                                        </p:attrNameLst>
                                      </p:cBhvr>
                                      <p:to>
                                        <p:strVal val="visible"/>
                                      </p:to>
                                    </p:set>
                                    <p:animEffect transition="in" filter="barn(outHorizontal)">
                                      <p:cBhvr>
                                        <p:cTn id="15" dur="500"/>
                                        <p:tgtEl>
                                          <p:spTgt spid="2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42" fill="hold" grpId="0" nodeType="clickEffect">
                                  <p:stCondLst>
                                    <p:cond delay="0"/>
                                  </p:stCondLst>
                                  <p:childTnLst>
                                    <p:set>
                                      <p:cBhvr>
                                        <p:cTn id="19" dur="1" fill="hold">
                                          <p:stCondLst>
                                            <p:cond delay="0"/>
                                          </p:stCondLst>
                                        </p:cTn>
                                        <p:tgtEl>
                                          <p:spTgt spid="26">
                                            <p:txEl>
                                              <p:pRg st="3" end="3"/>
                                            </p:txEl>
                                          </p:spTgt>
                                        </p:tgtEl>
                                        <p:attrNameLst>
                                          <p:attrName>style.visibility</p:attrName>
                                        </p:attrNameLst>
                                      </p:cBhvr>
                                      <p:to>
                                        <p:strVal val="visible"/>
                                      </p:to>
                                    </p:set>
                                    <p:animEffect transition="in" filter="barn(outHorizontal)">
                                      <p:cBhvr>
                                        <p:cTn id="20" dur="500"/>
                                        <p:tgtEl>
                                          <p:spTgt spid="2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p"/>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450215" y="276860"/>
            <a:ext cx="7761605"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18" name="Rectangle 20"/>
          <p:cNvSpPr txBox="1">
            <a:spLocks noChangeArrowheads="1"/>
          </p:cNvSpPr>
          <p:nvPr/>
        </p:nvSpPr>
        <p:spPr>
          <a:xfrm>
            <a:off x="403860" y="1352550"/>
            <a:ext cx="9478645" cy="502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solidFill>
                  <a:srgbClr val="0070C0"/>
                </a:solidFill>
                <a:latin typeface="+mn-ea"/>
              </a:rPr>
              <a:t>例：考虑下述简单整型表达式文法，求各非终结符的</a:t>
            </a:r>
            <a:r>
              <a:rPr lang="en-US" altLang="zh-CN" sz="2400" b="1" dirty="0">
                <a:solidFill>
                  <a:srgbClr val="0070C0"/>
                </a:solidFill>
                <a:latin typeface="+mn-ea"/>
              </a:rPr>
              <a:t>Follow()</a:t>
            </a:r>
            <a:r>
              <a:rPr lang="zh-CN" altLang="en-US" sz="2400" b="1" dirty="0">
                <a:solidFill>
                  <a:srgbClr val="0070C0"/>
                </a:solidFill>
                <a:latin typeface="+mn-ea"/>
              </a:rPr>
              <a:t>集合；</a:t>
            </a:r>
            <a:endParaRPr lang="zh-CN" altLang="en-US" sz="2400" b="1" dirty="0">
              <a:solidFill>
                <a:srgbClr val="0070C0"/>
              </a:solidFill>
              <a:latin typeface="+mn-ea"/>
            </a:endParaRPr>
          </a:p>
        </p:txBody>
      </p:sp>
      <p:sp>
        <p:nvSpPr>
          <p:cNvPr id="7" name="Rectangle 5"/>
          <p:cNvSpPr>
            <a:spLocks noChangeArrowheads="1"/>
          </p:cNvSpPr>
          <p:nvPr/>
        </p:nvSpPr>
        <p:spPr bwMode="auto">
          <a:xfrm>
            <a:off x="403860" y="1855470"/>
            <a:ext cx="4605020"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marL="514350" indent="-514350">
              <a:lnSpc>
                <a:spcPct val="100000"/>
              </a:lnSpc>
              <a:spcBef>
                <a:spcPts val="0"/>
              </a:spcBef>
              <a:spcAft>
                <a:spcPts val="0"/>
              </a:spcAft>
              <a:buFont typeface="+mj-ea"/>
              <a:buAutoNum type="circleNumDbPlain"/>
            </a:pPr>
            <a:r>
              <a:rPr lang="en-US" altLang="zh-CN" sz="2800" b="0">
                <a:solidFill>
                  <a:srgbClr val="050507"/>
                </a:solidFill>
              </a:rPr>
              <a:t> </a:t>
            </a:r>
            <a:r>
              <a:rPr lang="en-US" altLang="zh-CN" sz="2800" b="0">
                <a:solidFill>
                  <a:srgbClr val="050507"/>
                </a:solidFill>
              </a:rPr>
              <a:t>exp→exp</a:t>
            </a:r>
            <a:r>
              <a:rPr lang="en-US" altLang="zh-CN" sz="2800" b="0">
                <a:solidFill>
                  <a:srgbClr val="050507"/>
                </a:solidFill>
              </a:rPr>
              <a:t> addop term </a:t>
            </a:r>
            <a:endParaRPr lang="en-US" altLang="zh-CN" sz="2800" b="0">
              <a:solidFill>
                <a:srgbClr val="050507"/>
              </a:solidFill>
            </a:endParaRPr>
          </a:p>
          <a:p>
            <a:pPr marL="514350" indent="-514350">
              <a:lnSpc>
                <a:spcPct val="100000"/>
              </a:lnSpc>
              <a:spcBef>
                <a:spcPts val="0"/>
              </a:spcBef>
              <a:spcAft>
                <a:spcPts val="0"/>
              </a:spcAft>
              <a:buFont typeface="+mj-ea"/>
              <a:buAutoNum type="circleNumDbPlain"/>
            </a:pPr>
            <a:r>
              <a:rPr lang="zh-CN" altLang="en-US" sz="2800" b="0">
                <a:solidFill>
                  <a:srgbClr val="050507"/>
                </a:solidFill>
              </a:rPr>
              <a:t> </a:t>
            </a:r>
            <a:r>
              <a:rPr lang="en-US" altLang="zh-CN" sz="2800" b="0">
                <a:solidFill>
                  <a:srgbClr val="050507"/>
                </a:solidFill>
              </a:rPr>
              <a:t>exp→term</a:t>
            </a:r>
            <a:endParaRPr lang="en-US" altLang="zh-CN" sz="2800" b="0">
              <a:solidFill>
                <a:srgbClr val="050507"/>
              </a:solidFill>
            </a:endParaRPr>
          </a:p>
          <a:p>
            <a:pPr marL="514350" indent="-514350">
              <a:lnSpc>
                <a:spcPct val="100000"/>
              </a:lnSpc>
              <a:spcBef>
                <a:spcPts val="0"/>
              </a:spcBef>
              <a:spcAft>
                <a:spcPts val="0"/>
              </a:spcAft>
              <a:buFont typeface="+mj-ea"/>
              <a:buAutoNum type="circleNumDbPlain"/>
            </a:pPr>
            <a:r>
              <a:rPr lang="en-US" altLang="zh-CN" sz="2800" b="0">
                <a:solidFill>
                  <a:srgbClr val="050507"/>
                </a:solidFill>
              </a:rPr>
              <a:t> addop→</a:t>
            </a:r>
            <a:r>
              <a:rPr lang="en-US" altLang="zh-CN" sz="2800" b="0">
                <a:solidFill>
                  <a:srgbClr val="F72F89"/>
                </a:solidFill>
              </a:rPr>
              <a:t>+</a:t>
            </a:r>
            <a:r>
              <a:rPr lang="en-US" altLang="zh-CN" sz="2800" b="0">
                <a:solidFill>
                  <a:srgbClr val="050507"/>
                </a:solidFill>
              </a:rPr>
              <a:t> </a:t>
            </a:r>
            <a:endParaRPr lang="en-US" altLang="zh-CN" sz="2800" b="0">
              <a:solidFill>
                <a:srgbClr val="050507"/>
              </a:solidFill>
            </a:endParaRPr>
          </a:p>
          <a:p>
            <a:pPr marL="514350" indent="-514350">
              <a:lnSpc>
                <a:spcPct val="100000"/>
              </a:lnSpc>
              <a:spcBef>
                <a:spcPts val="0"/>
              </a:spcBef>
              <a:spcAft>
                <a:spcPts val="0"/>
              </a:spcAft>
              <a:buFont typeface="+mj-ea"/>
              <a:buAutoNum type="circleNumDbPlain"/>
            </a:pPr>
            <a:r>
              <a:rPr lang="en-US" altLang="zh-CN" sz="2800" b="0">
                <a:solidFill>
                  <a:srgbClr val="050507"/>
                </a:solidFill>
              </a:rPr>
              <a:t> addop→</a:t>
            </a:r>
            <a:r>
              <a:rPr lang="en-US" altLang="zh-CN" sz="2800" b="0">
                <a:solidFill>
                  <a:srgbClr val="F72F89"/>
                </a:solidFill>
              </a:rPr>
              <a:t>-</a:t>
            </a:r>
            <a:endParaRPr lang="en-US" altLang="zh-CN" sz="2800" b="0">
              <a:solidFill>
                <a:srgbClr val="F72F89"/>
              </a:solidFill>
            </a:endParaRPr>
          </a:p>
          <a:p>
            <a:pPr marL="514350" indent="-514350">
              <a:lnSpc>
                <a:spcPct val="100000"/>
              </a:lnSpc>
              <a:spcBef>
                <a:spcPts val="0"/>
              </a:spcBef>
              <a:spcAft>
                <a:spcPts val="0"/>
              </a:spcAft>
              <a:buFont typeface="+mj-ea"/>
              <a:buAutoNum type="circleNumDbPlain"/>
            </a:pPr>
            <a:r>
              <a:rPr lang="en-US" altLang="zh-CN" sz="2800" b="0">
                <a:solidFill>
                  <a:srgbClr val="050507"/>
                </a:solidFill>
              </a:rPr>
              <a:t> </a:t>
            </a:r>
            <a:r>
              <a:rPr lang="zh-CN" altLang="en-US" sz="2800" b="0">
                <a:solidFill>
                  <a:srgbClr val="050507"/>
                </a:solidFill>
              </a:rPr>
              <a:t> </a:t>
            </a:r>
            <a:r>
              <a:rPr lang="en-US" altLang="zh-CN" sz="2800" b="0">
                <a:solidFill>
                  <a:srgbClr val="050507"/>
                </a:solidFill>
              </a:rPr>
              <a:t>term→term mulop factor</a:t>
            </a:r>
            <a:endParaRPr lang="en-US" altLang="zh-CN" sz="2800" b="0">
              <a:solidFill>
                <a:srgbClr val="050507"/>
              </a:solidFill>
            </a:endParaRPr>
          </a:p>
          <a:p>
            <a:pPr marL="514350" indent="-514350">
              <a:lnSpc>
                <a:spcPct val="100000"/>
              </a:lnSpc>
              <a:spcBef>
                <a:spcPts val="0"/>
              </a:spcBef>
              <a:spcAft>
                <a:spcPts val="0"/>
              </a:spcAft>
              <a:buFont typeface="+mj-ea"/>
              <a:buAutoNum type="circleNumDbPlain"/>
            </a:pPr>
            <a:r>
              <a:rPr lang="en-US" altLang="zh-CN" sz="2800" b="0">
                <a:solidFill>
                  <a:srgbClr val="050507"/>
                </a:solidFill>
              </a:rPr>
              <a:t> </a:t>
            </a:r>
            <a:r>
              <a:rPr lang="zh-CN" altLang="en-US" sz="2800" b="0">
                <a:solidFill>
                  <a:srgbClr val="050507"/>
                </a:solidFill>
              </a:rPr>
              <a:t> </a:t>
            </a:r>
            <a:r>
              <a:rPr lang="en-US" altLang="zh-CN" sz="2800" b="0">
                <a:solidFill>
                  <a:srgbClr val="050507"/>
                </a:solidFill>
              </a:rPr>
              <a:t>term → factor</a:t>
            </a:r>
            <a:endParaRPr lang="en-US" altLang="zh-CN" sz="2800" b="0">
              <a:solidFill>
                <a:srgbClr val="050507"/>
              </a:solidFill>
            </a:endParaRPr>
          </a:p>
          <a:p>
            <a:pPr marL="514350" indent="-514350">
              <a:lnSpc>
                <a:spcPct val="100000"/>
              </a:lnSpc>
              <a:spcBef>
                <a:spcPts val="0"/>
              </a:spcBef>
              <a:spcAft>
                <a:spcPts val="0"/>
              </a:spcAft>
              <a:buFont typeface="+mj-ea"/>
              <a:buAutoNum type="circleNumDbPlain"/>
            </a:pPr>
            <a:r>
              <a:rPr lang="en-US" altLang="zh-CN" sz="2800" b="0">
                <a:solidFill>
                  <a:srgbClr val="050507"/>
                </a:solidFill>
              </a:rPr>
              <a:t> mulop→</a:t>
            </a:r>
            <a:r>
              <a:rPr lang="en-US" altLang="zh-CN" sz="2800" b="0">
                <a:solidFill>
                  <a:srgbClr val="F72F89"/>
                </a:solidFill>
              </a:rPr>
              <a:t>*</a:t>
            </a:r>
            <a:r>
              <a:rPr lang="en-US" altLang="zh-CN" sz="2800" b="0">
                <a:solidFill>
                  <a:srgbClr val="050507"/>
                </a:solidFill>
              </a:rPr>
              <a:t> </a:t>
            </a:r>
            <a:endParaRPr lang="en-US" altLang="zh-CN" sz="2800" b="0">
              <a:solidFill>
                <a:srgbClr val="050507"/>
              </a:solidFill>
            </a:endParaRPr>
          </a:p>
          <a:p>
            <a:pPr marL="514350" indent="-514350">
              <a:lnSpc>
                <a:spcPct val="100000"/>
              </a:lnSpc>
              <a:spcBef>
                <a:spcPts val="0"/>
              </a:spcBef>
              <a:spcAft>
                <a:spcPts val="0"/>
              </a:spcAft>
              <a:buFont typeface="+mj-ea"/>
              <a:buAutoNum type="circleNumDbPlain"/>
            </a:pPr>
            <a:r>
              <a:rPr lang="en-US" altLang="zh-CN" sz="2800" b="0">
                <a:solidFill>
                  <a:srgbClr val="050507"/>
                </a:solidFill>
              </a:rPr>
              <a:t> factor→</a:t>
            </a:r>
            <a:r>
              <a:rPr lang="en-US" altLang="zh-CN" sz="2800" b="0">
                <a:solidFill>
                  <a:srgbClr val="F72F89"/>
                </a:solidFill>
              </a:rPr>
              <a:t>(</a:t>
            </a:r>
            <a:r>
              <a:rPr lang="en-US" altLang="zh-CN" sz="2800" b="0">
                <a:solidFill>
                  <a:srgbClr val="050507"/>
                </a:solidFill>
              </a:rPr>
              <a:t>exp</a:t>
            </a:r>
            <a:r>
              <a:rPr lang="en-US" altLang="zh-CN" sz="2800" b="0">
                <a:solidFill>
                  <a:srgbClr val="F72F89"/>
                </a:solidFill>
              </a:rPr>
              <a:t>)</a:t>
            </a:r>
            <a:endParaRPr lang="en-US" altLang="zh-CN" sz="2800" b="0">
              <a:solidFill>
                <a:srgbClr val="F72F89"/>
              </a:solidFill>
            </a:endParaRPr>
          </a:p>
          <a:p>
            <a:pPr marL="514350" indent="-514350">
              <a:lnSpc>
                <a:spcPct val="100000"/>
              </a:lnSpc>
              <a:spcBef>
                <a:spcPts val="0"/>
              </a:spcBef>
              <a:spcAft>
                <a:spcPts val="0"/>
              </a:spcAft>
              <a:buFont typeface="+mj-ea"/>
              <a:buAutoNum type="circleNumDbPlain"/>
            </a:pPr>
            <a:r>
              <a:rPr lang="en-US" altLang="zh-CN" sz="2800" b="0">
                <a:solidFill>
                  <a:srgbClr val="050507"/>
                </a:solidFill>
              </a:rPr>
              <a:t> factor→</a:t>
            </a:r>
            <a:r>
              <a:rPr lang="en-US" altLang="zh-CN" sz="2800" b="0">
                <a:solidFill>
                  <a:srgbClr val="F72F89"/>
                </a:solidFill>
              </a:rPr>
              <a:t>number</a:t>
            </a:r>
            <a:endParaRPr lang="en-US" altLang="zh-CN" sz="2800" b="0">
              <a:solidFill>
                <a:srgbClr val="F72F89"/>
              </a:solidFill>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Rectangle 2"/>
          <p:cNvSpPr>
            <a:spLocks noChangeArrowheads="1"/>
          </p:cNvSpPr>
          <p:nvPr>
            <p:custDataLst>
              <p:tags r:id="rId1"/>
            </p:custDataLst>
          </p:nvPr>
        </p:nvSpPr>
        <p:spPr bwMode="auto">
          <a:xfrm>
            <a:off x="6650168" y="2108107"/>
            <a:ext cx="2743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0">
                <a:solidFill>
                  <a:srgbClr val="050507"/>
                </a:solidFill>
              </a:rPr>
              <a:t>Follow(exp)=</a:t>
            </a:r>
            <a:endParaRPr lang="zh-CN" altLang="en-US" sz="2400" b="0">
              <a:solidFill>
                <a:srgbClr val="050507"/>
              </a:solidFill>
            </a:endParaRPr>
          </a:p>
        </p:txBody>
      </p:sp>
      <p:sp>
        <p:nvSpPr>
          <p:cNvPr id="5" name="Rectangle 3"/>
          <p:cNvSpPr>
            <a:spLocks noChangeArrowheads="1"/>
          </p:cNvSpPr>
          <p:nvPr>
            <p:custDataLst>
              <p:tags r:id="rId2"/>
            </p:custDataLst>
          </p:nvPr>
        </p:nvSpPr>
        <p:spPr bwMode="auto">
          <a:xfrm>
            <a:off x="6650168" y="2793907"/>
            <a:ext cx="39417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0">
                <a:solidFill>
                  <a:srgbClr val="050507"/>
                </a:solidFill>
              </a:rPr>
              <a:t>Follow(addop)=</a:t>
            </a:r>
            <a:endParaRPr lang="en-US" altLang="zh-CN" sz="2400" b="0">
              <a:solidFill>
                <a:srgbClr val="050507"/>
              </a:solidFill>
            </a:endParaRPr>
          </a:p>
        </p:txBody>
      </p:sp>
      <p:sp>
        <p:nvSpPr>
          <p:cNvPr id="8" name="Rectangle 4"/>
          <p:cNvSpPr>
            <a:spLocks noChangeArrowheads="1"/>
          </p:cNvSpPr>
          <p:nvPr>
            <p:custDataLst>
              <p:tags r:id="rId3"/>
            </p:custDataLst>
          </p:nvPr>
        </p:nvSpPr>
        <p:spPr bwMode="auto">
          <a:xfrm>
            <a:off x="6650168" y="3479707"/>
            <a:ext cx="3352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0">
                <a:solidFill>
                  <a:srgbClr val="050507"/>
                </a:solidFill>
              </a:rPr>
              <a:t>Follow(term)=</a:t>
            </a:r>
            <a:endParaRPr lang="en-US" altLang="zh-CN" sz="2400" b="0">
              <a:solidFill>
                <a:srgbClr val="050507"/>
              </a:solidFill>
            </a:endParaRPr>
          </a:p>
        </p:txBody>
      </p:sp>
      <p:sp>
        <p:nvSpPr>
          <p:cNvPr id="11" name="Rectangle 5"/>
          <p:cNvSpPr>
            <a:spLocks noChangeArrowheads="1"/>
          </p:cNvSpPr>
          <p:nvPr>
            <p:custDataLst>
              <p:tags r:id="rId4"/>
            </p:custDataLst>
          </p:nvPr>
        </p:nvSpPr>
        <p:spPr bwMode="auto">
          <a:xfrm>
            <a:off x="6650168" y="4241707"/>
            <a:ext cx="39417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0">
                <a:solidFill>
                  <a:srgbClr val="050507"/>
                </a:solidFill>
              </a:rPr>
              <a:t>Follow(mulop)=</a:t>
            </a:r>
            <a:endParaRPr lang="en-US" altLang="zh-CN" sz="2400" b="0">
              <a:solidFill>
                <a:srgbClr val="050507"/>
              </a:solidFill>
            </a:endParaRPr>
          </a:p>
        </p:txBody>
      </p:sp>
      <p:sp>
        <p:nvSpPr>
          <p:cNvPr id="12" name="Rectangle 6"/>
          <p:cNvSpPr>
            <a:spLocks noChangeArrowheads="1"/>
          </p:cNvSpPr>
          <p:nvPr>
            <p:custDataLst>
              <p:tags r:id="rId5"/>
            </p:custDataLst>
          </p:nvPr>
        </p:nvSpPr>
        <p:spPr bwMode="auto">
          <a:xfrm>
            <a:off x="6650168" y="5030694"/>
            <a:ext cx="20605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0">
                <a:solidFill>
                  <a:srgbClr val="050507"/>
                </a:solidFill>
              </a:rPr>
              <a:t>Follow(factor)=</a:t>
            </a:r>
            <a:endParaRPr lang="zh-CN" altLang="en-US" sz="2400" b="0">
              <a:solidFill>
                <a:srgbClr val="050507"/>
              </a:solidFill>
            </a:endParaRPr>
          </a:p>
        </p:txBody>
      </p:sp>
      <p:sp>
        <p:nvSpPr>
          <p:cNvPr id="13" name="Rectangle 7"/>
          <p:cNvSpPr>
            <a:spLocks noChangeArrowheads="1"/>
          </p:cNvSpPr>
          <p:nvPr>
            <p:custDataLst>
              <p:tags r:id="rId6"/>
            </p:custDataLst>
          </p:nvPr>
        </p:nvSpPr>
        <p:spPr bwMode="auto">
          <a:xfrm>
            <a:off x="8954098" y="2108107"/>
            <a:ext cx="19047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0" dirty="0">
                <a:solidFill>
                  <a:srgbClr val="050507"/>
                </a:solidFill>
              </a:rPr>
              <a:t>{$,+,-,)}</a:t>
            </a:r>
            <a:endParaRPr lang="zh-CN" altLang="en-US" sz="2400" b="0" dirty="0">
              <a:solidFill>
                <a:srgbClr val="050507"/>
              </a:solidFill>
            </a:endParaRPr>
          </a:p>
        </p:txBody>
      </p:sp>
      <p:sp>
        <p:nvSpPr>
          <p:cNvPr id="14" name="Rectangle 8"/>
          <p:cNvSpPr>
            <a:spLocks noChangeArrowheads="1"/>
          </p:cNvSpPr>
          <p:nvPr>
            <p:custDataLst>
              <p:tags r:id="rId7"/>
            </p:custDataLst>
          </p:nvPr>
        </p:nvSpPr>
        <p:spPr bwMode="auto">
          <a:xfrm>
            <a:off x="8954098" y="2814544"/>
            <a:ext cx="214899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en-US" altLang="zh-CN" sz="2400" b="0" dirty="0">
                <a:solidFill>
                  <a:srgbClr val="050507"/>
                </a:solidFill>
              </a:rPr>
              <a:t>{(,number}</a:t>
            </a:r>
            <a:endParaRPr lang="en-US" altLang="zh-CN" sz="2400" b="0" dirty="0">
              <a:solidFill>
                <a:srgbClr val="050507"/>
              </a:solidFill>
            </a:endParaRPr>
          </a:p>
        </p:txBody>
      </p:sp>
      <p:sp>
        <p:nvSpPr>
          <p:cNvPr id="15" name="Rectangle 9"/>
          <p:cNvSpPr>
            <a:spLocks noChangeArrowheads="1"/>
          </p:cNvSpPr>
          <p:nvPr>
            <p:custDataLst>
              <p:tags r:id="rId8"/>
            </p:custDataLst>
          </p:nvPr>
        </p:nvSpPr>
        <p:spPr bwMode="auto">
          <a:xfrm>
            <a:off x="8954098" y="3479707"/>
            <a:ext cx="258855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en-US" altLang="zh-CN" sz="2400" b="0">
                <a:solidFill>
                  <a:srgbClr val="050507"/>
                </a:solidFill>
              </a:rPr>
              <a:t>{$,+,-,*,)}</a:t>
            </a:r>
            <a:endParaRPr lang="en-US" altLang="zh-CN" sz="2400" b="0">
              <a:solidFill>
                <a:srgbClr val="050507"/>
              </a:solidFill>
            </a:endParaRPr>
          </a:p>
        </p:txBody>
      </p:sp>
      <p:sp>
        <p:nvSpPr>
          <p:cNvPr id="16" name="Rectangle 10"/>
          <p:cNvSpPr>
            <a:spLocks noChangeArrowheads="1"/>
          </p:cNvSpPr>
          <p:nvPr>
            <p:custDataLst>
              <p:tags r:id="rId9"/>
            </p:custDataLst>
          </p:nvPr>
        </p:nvSpPr>
        <p:spPr bwMode="auto">
          <a:xfrm>
            <a:off x="8954098" y="4262344"/>
            <a:ext cx="234435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0">
                <a:solidFill>
                  <a:srgbClr val="050507"/>
                </a:solidFill>
              </a:rPr>
              <a:t>{(,number}</a:t>
            </a:r>
            <a:endParaRPr lang="zh-CN" altLang="en-US" sz="2400" b="0">
              <a:solidFill>
                <a:srgbClr val="050507"/>
              </a:solidFill>
            </a:endParaRPr>
          </a:p>
        </p:txBody>
      </p:sp>
      <p:sp>
        <p:nvSpPr>
          <p:cNvPr id="17" name="Rectangle 11"/>
          <p:cNvSpPr>
            <a:spLocks noChangeArrowheads="1"/>
          </p:cNvSpPr>
          <p:nvPr>
            <p:custDataLst>
              <p:tags r:id="rId10"/>
            </p:custDataLst>
          </p:nvPr>
        </p:nvSpPr>
        <p:spPr bwMode="auto">
          <a:xfrm>
            <a:off x="8954098" y="5003707"/>
            <a:ext cx="234435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0">
                <a:solidFill>
                  <a:srgbClr val="050507"/>
                </a:solidFill>
              </a:rPr>
              <a:t>{$,+,-,*,)}</a:t>
            </a:r>
            <a:endParaRPr lang="zh-CN" altLang="en-US" sz="2400" b="0">
              <a:solidFill>
                <a:srgbClr val="05050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out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out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outHorizont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outHorizontal)">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398780" y="276860"/>
            <a:ext cx="781304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18" name="Rectangle 20"/>
          <p:cNvSpPr txBox="1">
            <a:spLocks noChangeArrowheads="1"/>
          </p:cNvSpPr>
          <p:nvPr/>
        </p:nvSpPr>
        <p:spPr>
          <a:xfrm>
            <a:off x="398780" y="1208405"/>
            <a:ext cx="9341485" cy="502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solidFill>
                  <a:srgbClr val="0070C0"/>
                </a:solidFill>
                <a:latin typeface="+mn-ea"/>
              </a:rPr>
              <a:t>例</a:t>
            </a:r>
            <a:r>
              <a:rPr lang="en-US" altLang="zh-CN" sz="2400" b="1" dirty="0">
                <a:solidFill>
                  <a:srgbClr val="0070C0"/>
                </a:solidFill>
                <a:latin typeface="+mn-ea"/>
              </a:rPr>
              <a:t>2</a:t>
            </a:r>
            <a:r>
              <a:rPr lang="zh-CN" altLang="en-US" sz="2400" b="1" dirty="0">
                <a:solidFill>
                  <a:srgbClr val="0070C0"/>
                </a:solidFill>
                <a:latin typeface="+mn-ea"/>
              </a:rPr>
              <a:t>：考虑下述文法</a:t>
            </a:r>
            <a:r>
              <a:rPr lang="zh-CN" altLang="en-US" sz="2400" dirty="0">
                <a:solidFill>
                  <a:srgbClr val="050507"/>
                </a:solidFill>
                <a:sym typeface="+mn-ea"/>
              </a:rPr>
              <a:t>文法</a:t>
            </a:r>
            <a:r>
              <a:rPr lang="en-US" altLang="zh-CN" sz="2400" dirty="0">
                <a:solidFill>
                  <a:srgbClr val="050507"/>
                </a:solidFill>
                <a:sym typeface="+mn-ea"/>
              </a:rPr>
              <a:t>G[ E]</a:t>
            </a:r>
            <a:r>
              <a:rPr lang="zh-CN" altLang="en-US" sz="2400" b="1" dirty="0">
                <a:solidFill>
                  <a:srgbClr val="0070C0"/>
                </a:solidFill>
                <a:latin typeface="+mn-ea"/>
              </a:rPr>
              <a:t>，求各非终结符的</a:t>
            </a:r>
            <a:r>
              <a:rPr lang="en-US" altLang="zh-CN" sz="2400" b="1" dirty="0">
                <a:solidFill>
                  <a:srgbClr val="0070C0"/>
                </a:solidFill>
                <a:latin typeface="+mn-ea"/>
              </a:rPr>
              <a:t>Follow()</a:t>
            </a:r>
            <a:r>
              <a:rPr lang="zh-CN" altLang="en-US" sz="2400" b="1" dirty="0">
                <a:solidFill>
                  <a:srgbClr val="0070C0"/>
                </a:solidFill>
                <a:latin typeface="+mn-ea"/>
              </a:rPr>
              <a:t>集合；</a:t>
            </a:r>
            <a:endParaRPr lang="zh-CN" altLang="en-US" sz="2400" b="1" dirty="0">
              <a:solidFill>
                <a:srgbClr val="0070C0"/>
              </a:solidFill>
              <a:latin typeface="+mn-ea"/>
            </a:endParaRPr>
          </a:p>
        </p:txBody>
      </p:sp>
      <p:sp>
        <p:nvSpPr>
          <p:cNvPr id="10" name="Rectangle 5"/>
          <p:cNvSpPr>
            <a:spLocks noChangeArrowheads="1"/>
          </p:cNvSpPr>
          <p:nvPr/>
        </p:nvSpPr>
        <p:spPr bwMode="auto">
          <a:xfrm>
            <a:off x="493395" y="1583055"/>
            <a:ext cx="57531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0" fontAlgn="auto">
              <a:lnSpc>
                <a:spcPct val="125000"/>
              </a:lnSpc>
            </a:pPr>
            <a:r>
              <a:rPr lang="en-US" altLang="zh-CN" sz="2400" b="0">
                <a:solidFill>
                  <a:srgbClr val="050507"/>
                </a:solidFill>
              </a:rPr>
              <a:t>(1) E –&gt; TE’   (2) E’ –&gt; +TE’   (3) E’ –&gt; </a:t>
            </a:r>
            <a:r>
              <a:rPr lang="en-US" altLang="zh-CN" sz="2400" b="0">
                <a:solidFill>
                  <a:srgbClr val="050507"/>
                </a:solidFill>
                <a:sym typeface="Symbol" panose="05050102010706020507" pitchFamily="18" charset="2"/>
              </a:rPr>
              <a:t></a:t>
            </a:r>
            <a:endParaRPr lang="en-US" altLang="zh-CN" sz="2400" b="0">
              <a:solidFill>
                <a:srgbClr val="050507"/>
              </a:solidFill>
            </a:endParaRPr>
          </a:p>
          <a:p>
            <a:pPr indent="0" fontAlgn="auto">
              <a:lnSpc>
                <a:spcPct val="125000"/>
              </a:lnSpc>
            </a:pPr>
            <a:r>
              <a:rPr lang="en-US" altLang="zh-CN" sz="2400" b="0">
                <a:solidFill>
                  <a:srgbClr val="050507"/>
                </a:solidFill>
              </a:rPr>
              <a:t>(4) T –&gt; FT’   (5) T’ –&gt; *FT’    (6) T’ –&gt; </a:t>
            </a:r>
            <a:r>
              <a:rPr lang="en-US" altLang="zh-CN" sz="2400" b="0">
                <a:solidFill>
                  <a:srgbClr val="050507"/>
                </a:solidFill>
                <a:sym typeface="Symbol" panose="05050102010706020507" pitchFamily="18" charset="2"/>
              </a:rPr>
              <a:t></a:t>
            </a:r>
            <a:br>
              <a:rPr lang="en-US" altLang="zh-CN" sz="2400" b="0">
                <a:solidFill>
                  <a:srgbClr val="050507"/>
                </a:solidFill>
              </a:rPr>
            </a:br>
            <a:r>
              <a:rPr lang="en-US" altLang="zh-CN" sz="2400" b="0">
                <a:solidFill>
                  <a:srgbClr val="050507"/>
                </a:solidFill>
              </a:rPr>
              <a:t>(7) F –&gt; (E)    (8) F –&gt; a</a:t>
            </a:r>
            <a:endParaRPr lang="zh-CN" altLang="en-US" sz="2400" b="0">
              <a:solidFill>
                <a:srgbClr val="050507"/>
              </a:solidFill>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44" name="Group 2"/>
          <p:cNvGrpSpPr/>
          <p:nvPr/>
        </p:nvGrpSpPr>
        <p:grpSpPr bwMode="auto">
          <a:xfrm>
            <a:off x="6484694" y="1777663"/>
            <a:ext cx="2133600" cy="1542585"/>
            <a:chOff x="720" y="576"/>
            <a:chExt cx="1036" cy="684"/>
          </a:xfrm>
        </p:grpSpPr>
        <p:sp>
          <p:nvSpPr>
            <p:cNvPr id="45" name="Rectangle 3"/>
            <p:cNvSpPr>
              <a:spLocks noChangeArrowheads="1"/>
            </p:cNvSpPr>
            <p:nvPr>
              <p:custDataLst>
                <p:tags r:id="rId1"/>
              </p:custDataLst>
            </p:nvPr>
          </p:nvSpPr>
          <p:spPr bwMode="auto">
            <a:xfrm>
              <a:off x="720" y="576"/>
              <a:ext cx="103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rPr>
                <a:t>Follow(E)</a:t>
              </a:r>
              <a:endParaRPr lang="zh-CN" altLang="en-US" sz="2400" b="1">
                <a:solidFill>
                  <a:srgbClr val="050507"/>
                </a:solidFill>
                <a:latin typeface="+mn-ea"/>
              </a:endParaRPr>
            </a:p>
          </p:txBody>
        </p:sp>
        <p:grpSp>
          <p:nvGrpSpPr>
            <p:cNvPr id="46" name="Group 4"/>
            <p:cNvGrpSpPr/>
            <p:nvPr/>
          </p:nvGrpSpPr>
          <p:grpSpPr bwMode="auto">
            <a:xfrm>
              <a:off x="1272" y="816"/>
              <a:ext cx="288" cy="444"/>
              <a:chOff x="1056" y="2064"/>
              <a:chExt cx="288" cy="444"/>
            </a:xfrm>
          </p:grpSpPr>
          <p:sp>
            <p:nvSpPr>
              <p:cNvPr id="47" name="Rectangle 5"/>
              <p:cNvSpPr>
                <a:spLocks noChangeArrowheads="1"/>
              </p:cNvSpPr>
              <p:nvPr>
                <p:custDataLst>
                  <p:tags r:id="rId2"/>
                </p:custDataLst>
              </p:nvPr>
            </p:nvSpPr>
            <p:spPr bwMode="auto">
              <a:xfrm>
                <a:off x="1200" y="2304"/>
                <a:ext cx="14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rPr>
                  <a:t>)</a:t>
                </a:r>
                <a:endParaRPr lang="zh-CN" altLang="en-US" sz="2400" b="1">
                  <a:solidFill>
                    <a:srgbClr val="050507"/>
                  </a:solidFill>
                  <a:latin typeface="+mn-ea"/>
                </a:endParaRPr>
              </a:p>
            </p:txBody>
          </p:sp>
          <p:sp>
            <p:nvSpPr>
              <p:cNvPr id="48" name="Line 6"/>
              <p:cNvSpPr>
                <a:spLocks noChangeShapeType="1"/>
              </p:cNvSpPr>
              <p:nvPr>
                <p:custDataLst>
                  <p:tags r:id="rId3"/>
                </p:custDataLst>
              </p:nvPr>
            </p:nvSpPr>
            <p:spPr bwMode="auto">
              <a:xfrm>
                <a:off x="1056" y="2064"/>
                <a:ext cx="240"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grpSp>
        <p:grpSp>
          <p:nvGrpSpPr>
            <p:cNvPr id="49" name="Group 7"/>
            <p:cNvGrpSpPr/>
            <p:nvPr/>
          </p:nvGrpSpPr>
          <p:grpSpPr bwMode="auto">
            <a:xfrm>
              <a:off x="744" y="816"/>
              <a:ext cx="408" cy="444"/>
              <a:chOff x="528" y="2064"/>
              <a:chExt cx="408" cy="444"/>
            </a:xfrm>
          </p:grpSpPr>
          <p:sp>
            <p:nvSpPr>
              <p:cNvPr id="50" name="Line 8"/>
              <p:cNvSpPr>
                <a:spLocks noChangeShapeType="1"/>
              </p:cNvSpPr>
              <p:nvPr>
                <p:custDataLst>
                  <p:tags r:id="rId4"/>
                </p:custDataLst>
              </p:nvPr>
            </p:nvSpPr>
            <p:spPr bwMode="auto">
              <a:xfrm flipH="1">
                <a:off x="600" y="2064"/>
                <a:ext cx="336"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52" name="Rectangle 9"/>
              <p:cNvSpPr>
                <a:spLocks noChangeArrowheads="1"/>
              </p:cNvSpPr>
              <p:nvPr>
                <p:custDataLst>
                  <p:tags r:id="rId5"/>
                </p:custDataLst>
              </p:nvPr>
            </p:nvSpPr>
            <p:spPr bwMode="auto">
              <a:xfrm>
                <a:off x="528" y="2304"/>
                <a:ext cx="19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rPr>
                  <a:t>$</a:t>
                </a:r>
                <a:endParaRPr lang="zh-CN" altLang="en-US" sz="2400" b="1">
                  <a:solidFill>
                    <a:srgbClr val="050507"/>
                  </a:solidFill>
                  <a:latin typeface="+mn-ea"/>
                </a:endParaRPr>
              </a:p>
            </p:txBody>
          </p:sp>
        </p:grpSp>
      </p:grpSp>
      <p:grpSp>
        <p:nvGrpSpPr>
          <p:cNvPr id="53" name="Group 10"/>
          <p:cNvGrpSpPr/>
          <p:nvPr/>
        </p:nvGrpSpPr>
        <p:grpSpPr bwMode="auto">
          <a:xfrm>
            <a:off x="6319594" y="3581063"/>
            <a:ext cx="3276600" cy="1301535"/>
            <a:chOff x="528" y="1872"/>
            <a:chExt cx="1152" cy="742"/>
          </a:xfrm>
        </p:grpSpPr>
        <p:sp>
          <p:nvSpPr>
            <p:cNvPr id="54" name="Rectangle 11"/>
            <p:cNvSpPr>
              <a:spLocks noChangeArrowheads="1"/>
            </p:cNvSpPr>
            <p:nvPr>
              <p:custDataLst>
                <p:tags r:id="rId6"/>
              </p:custDataLst>
            </p:nvPr>
          </p:nvSpPr>
          <p:spPr bwMode="auto">
            <a:xfrm>
              <a:off x="576" y="1872"/>
              <a:ext cx="1104"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rgbClr val="050507"/>
                  </a:solidFill>
                  <a:latin typeface="+mn-ea"/>
                </a:rPr>
                <a:t>Follow(E’)</a:t>
              </a:r>
              <a:endParaRPr lang="zh-CN" altLang="en-US" sz="2400" b="1" dirty="0">
                <a:solidFill>
                  <a:srgbClr val="050507"/>
                </a:solidFill>
                <a:latin typeface="+mn-ea"/>
              </a:endParaRPr>
            </a:p>
          </p:txBody>
        </p:sp>
        <p:grpSp>
          <p:nvGrpSpPr>
            <p:cNvPr id="55" name="Group 12"/>
            <p:cNvGrpSpPr/>
            <p:nvPr/>
          </p:nvGrpSpPr>
          <p:grpSpPr bwMode="auto">
            <a:xfrm>
              <a:off x="528" y="2135"/>
              <a:ext cx="1036" cy="479"/>
              <a:chOff x="384" y="3191"/>
              <a:chExt cx="1036" cy="479"/>
            </a:xfrm>
          </p:grpSpPr>
          <p:sp>
            <p:nvSpPr>
              <p:cNvPr id="56" name="Line 13"/>
              <p:cNvSpPr>
                <a:spLocks noChangeShapeType="1"/>
              </p:cNvSpPr>
              <p:nvPr>
                <p:custDataLst>
                  <p:tags r:id="rId7"/>
                </p:custDataLst>
              </p:nvPr>
            </p:nvSpPr>
            <p:spPr bwMode="auto">
              <a:xfrm flipH="1">
                <a:off x="624" y="3191"/>
                <a:ext cx="77" cy="217"/>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57" name="Rectangle 14"/>
              <p:cNvSpPr>
                <a:spLocks noChangeArrowheads="1"/>
              </p:cNvSpPr>
              <p:nvPr>
                <p:custDataLst>
                  <p:tags r:id="rId8"/>
                </p:custDataLst>
              </p:nvPr>
            </p:nvSpPr>
            <p:spPr bwMode="auto">
              <a:xfrm>
                <a:off x="384" y="3408"/>
                <a:ext cx="103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D20A30"/>
                    </a:solidFill>
                    <a:latin typeface="+mn-ea"/>
                  </a:rPr>
                  <a:t>Follow(E)</a:t>
                </a:r>
                <a:endParaRPr lang="zh-CN" altLang="en-US" sz="2400" b="1">
                  <a:solidFill>
                    <a:srgbClr val="D20A30"/>
                  </a:solidFill>
                  <a:latin typeface="+mn-ea"/>
                </a:endParaRPr>
              </a:p>
            </p:txBody>
          </p:sp>
        </p:grpSp>
      </p:grpSp>
      <p:grpSp>
        <p:nvGrpSpPr>
          <p:cNvPr id="58" name="Group 15"/>
          <p:cNvGrpSpPr/>
          <p:nvPr/>
        </p:nvGrpSpPr>
        <p:grpSpPr bwMode="auto">
          <a:xfrm>
            <a:off x="8887800" y="1797397"/>
            <a:ext cx="4383215" cy="1722694"/>
            <a:chOff x="2164" y="624"/>
            <a:chExt cx="1704" cy="696"/>
          </a:xfrm>
        </p:grpSpPr>
        <p:sp>
          <p:nvSpPr>
            <p:cNvPr id="59" name="Rectangle 16"/>
            <p:cNvSpPr>
              <a:spLocks noChangeArrowheads="1"/>
            </p:cNvSpPr>
            <p:nvPr>
              <p:custDataLst>
                <p:tags r:id="rId9"/>
              </p:custDataLst>
            </p:nvPr>
          </p:nvSpPr>
          <p:spPr bwMode="auto">
            <a:xfrm>
              <a:off x="2304" y="624"/>
              <a:ext cx="912"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rPr>
                <a:t>Follow(T)</a:t>
              </a:r>
              <a:endParaRPr lang="zh-CN" altLang="en-US" sz="2400" b="1">
                <a:solidFill>
                  <a:srgbClr val="050507"/>
                </a:solidFill>
              </a:endParaRPr>
            </a:p>
          </p:txBody>
        </p:sp>
        <p:grpSp>
          <p:nvGrpSpPr>
            <p:cNvPr id="60" name="Group 17"/>
            <p:cNvGrpSpPr/>
            <p:nvPr/>
          </p:nvGrpSpPr>
          <p:grpSpPr bwMode="auto">
            <a:xfrm>
              <a:off x="2164" y="864"/>
              <a:ext cx="572" cy="426"/>
              <a:chOff x="1924" y="2112"/>
              <a:chExt cx="572" cy="426"/>
            </a:xfrm>
          </p:grpSpPr>
          <p:sp>
            <p:nvSpPr>
              <p:cNvPr id="61" name="Line 18"/>
              <p:cNvSpPr>
                <a:spLocks noChangeShapeType="1"/>
              </p:cNvSpPr>
              <p:nvPr>
                <p:custDataLst>
                  <p:tags r:id="rId10"/>
                </p:custDataLst>
              </p:nvPr>
            </p:nvSpPr>
            <p:spPr bwMode="auto">
              <a:xfrm flipH="1">
                <a:off x="2064" y="2112"/>
                <a:ext cx="336"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p>
            </p:txBody>
          </p:sp>
          <p:sp>
            <p:nvSpPr>
              <p:cNvPr id="62" name="Rectangle 19"/>
              <p:cNvSpPr>
                <a:spLocks noChangeArrowheads="1"/>
              </p:cNvSpPr>
              <p:nvPr>
                <p:custDataLst>
                  <p:tags r:id="rId11"/>
                </p:custDataLst>
              </p:nvPr>
            </p:nvSpPr>
            <p:spPr bwMode="auto">
              <a:xfrm>
                <a:off x="1924" y="2352"/>
                <a:ext cx="572"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a:solidFill>
                      <a:srgbClr val="D20A30"/>
                    </a:solidFill>
                  </a:rPr>
                  <a:t>First(E’)</a:t>
                </a:r>
                <a:endParaRPr lang="zh-CN" altLang="en-US" sz="2400" b="1">
                  <a:solidFill>
                    <a:srgbClr val="D20A30"/>
                  </a:solidFill>
                </a:endParaRPr>
              </a:p>
            </p:txBody>
          </p:sp>
        </p:grpSp>
        <p:grpSp>
          <p:nvGrpSpPr>
            <p:cNvPr id="63" name="Group 20"/>
            <p:cNvGrpSpPr/>
            <p:nvPr/>
          </p:nvGrpSpPr>
          <p:grpSpPr bwMode="auto">
            <a:xfrm>
              <a:off x="2736" y="846"/>
              <a:ext cx="1132" cy="474"/>
              <a:chOff x="2352" y="2016"/>
              <a:chExt cx="1132" cy="474"/>
            </a:xfrm>
          </p:grpSpPr>
          <p:sp>
            <p:nvSpPr>
              <p:cNvPr id="64" name="Line 21"/>
              <p:cNvSpPr>
                <a:spLocks noChangeShapeType="1"/>
              </p:cNvSpPr>
              <p:nvPr>
                <p:custDataLst>
                  <p:tags r:id="rId12"/>
                </p:custDataLst>
              </p:nvPr>
            </p:nvSpPr>
            <p:spPr bwMode="auto">
              <a:xfrm>
                <a:off x="2352" y="2016"/>
                <a:ext cx="336" cy="288"/>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p>
            </p:txBody>
          </p:sp>
          <p:sp>
            <p:nvSpPr>
              <p:cNvPr id="65" name="Rectangle 22"/>
              <p:cNvSpPr>
                <a:spLocks noChangeArrowheads="1"/>
              </p:cNvSpPr>
              <p:nvPr>
                <p:custDataLst>
                  <p:tags r:id="rId13"/>
                </p:custDataLst>
              </p:nvPr>
            </p:nvSpPr>
            <p:spPr bwMode="auto">
              <a:xfrm>
                <a:off x="2448" y="2304"/>
                <a:ext cx="1036"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rgbClr val="050507"/>
                    </a:solidFill>
                  </a:rPr>
                  <a:t>Follow(E)</a:t>
                </a:r>
                <a:endParaRPr lang="zh-CN" altLang="en-US" sz="2400" b="1" dirty="0">
                  <a:solidFill>
                    <a:srgbClr val="050507"/>
                  </a:solidFill>
                </a:endParaRPr>
              </a:p>
            </p:txBody>
          </p:sp>
        </p:grpSp>
      </p:grpSp>
      <p:grpSp>
        <p:nvGrpSpPr>
          <p:cNvPr id="66" name="Group 2"/>
          <p:cNvGrpSpPr/>
          <p:nvPr/>
        </p:nvGrpSpPr>
        <p:grpSpPr bwMode="auto">
          <a:xfrm>
            <a:off x="5966232" y="4902910"/>
            <a:ext cx="2472959" cy="1296300"/>
            <a:chOff x="1920" y="1424"/>
            <a:chExt cx="912" cy="746"/>
          </a:xfrm>
        </p:grpSpPr>
        <p:sp>
          <p:nvSpPr>
            <p:cNvPr id="67" name="Rectangle 3"/>
            <p:cNvSpPr>
              <a:spLocks noChangeArrowheads="1"/>
            </p:cNvSpPr>
            <p:nvPr>
              <p:custDataLst>
                <p:tags r:id="rId14"/>
              </p:custDataLst>
            </p:nvPr>
          </p:nvSpPr>
          <p:spPr bwMode="auto">
            <a:xfrm>
              <a:off x="2160" y="1424"/>
              <a:ext cx="53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dirty="0">
                  <a:solidFill>
                    <a:srgbClr val="050507"/>
                  </a:solidFill>
                </a:rPr>
                <a:t>Follow(T’)</a:t>
              </a:r>
              <a:endParaRPr lang="zh-CN" altLang="en-US" sz="2400" b="1" dirty="0">
                <a:solidFill>
                  <a:srgbClr val="050507"/>
                </a:solidFill>
              </a:endParaRPr>
            </a:p>
          </p:txBody>
        </p:sp>
        <p:grpSp>
          <p:nvGrpSpPr>
            <p:cNvPr id="68" name="Group 4"/>
            <p:cNvGrpSpPr/>
            <p:nvPr/>
          </p:nvGrpSpPr>
          <p:grpSpPr bwMode="auto">
            <a:xfrm>
              <a:off x="1920" y="1713"/>
              <a:ext cx="912" cy="457"/>
              <a:chOff x="1584" y="2976"/>
              <a:chExt cx="912" cy="457"/>
            </a:xfrm>
          </p:grpSpPr>
          <p:sp>
            <p:nvSpPr>
              <p:cNvPr id="69" name="Line 5"/>
              <p:cNvSpPr>
                <a:spLocks noChangeShapeType="1"/>
              </p:cNvSpPr>
              <p:nvPr>
                <p:custDataLst>
                  <p:tags r:id="rId15"/>
                </p:custDataLst>
              </p:nvPr>
            </p:nvSpPr>
            <p:spPr bwMode="auto">
              <a:xfrm flipH="1">
                <a:off x="1968" y="2976"/>
                <a:ext cx="288"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p>
            </p:txBody>
          </p:sp>
          <p:sp>
            <p:nvSpPr>
              <p:cNvPr id="70" name="Rectangle 6"/>
              <p:cNvSpPr>
                <a:spLocks noChangeArrowheads="1"/>
              </p:cNvSpPr>
              <p:nvPr>
                <p:custDataLst>
                  <p:tags r:id="rId16"/>
                </p:custDataLst>
              </p:nvPr>
            </p:nvSpPr>
            <p:spPr bwMode="auto">
              <a:xfrm>
                <a:off x="1584" y="3168"/>
                <a:ext cx="91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rPr>
                  <a:t>Follow(T)</a:t>
                </a:r>
                <a:endParaRPr lang="zh-CN" altLang="en-US" sz="2400" b="1">
                  <a:solidFill>
                    <a:srgbClr val="050507"/>
                  </a:solidFill>
                </a:endParaRPr>
              </a:p>
            </p:txBody>
          </p:sp>
        </p:grpSp>
      </p:grpSp>
      <p:grpSp>
        <p:nvGrpSpPr>
          <p:cNvPr id="71" name="Group 7"/>
          <p:cNvGrpSpPr/>
          <p:nvPr/>
        </p:nvGrpSpPr>
        <p:grpSpPr bwMode="auto">
          <a:xfrm>
            <a:off x="8766098" y="4821238"/>
            <a:ext cx="3984702" cy="1318750"/>
            <a:chOff x="2232" y="2784"/>
            <a:chExt cx="1608" cy="738"/>
          </a:xfrm>
        </p:grpSpPr>
        <p:sp>
          <p:nvSpPr>
            <p:cNvPr id="72" name="Rectangle 8"/>
            <p:cNvSpPr>
              <a:spLocks noChangeArrowheads="1"/>
            </p:cNvSpPr>
            <p:nvPr>
              <p:custDataLst>
                <p:tags r:id="rId17"/>
              </p:custDataLst>
            </p:nvPr>
          </p:nvSpPr>
          <p:spPr bwMode="auto">
            <a:xfrm>
              <a:off x="2448" y="2784"/>
              <a:ext cx="91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rPr>
                <a:t>Follow(F)</a:t>
              </a:r>
              <a:endParaRPr lang="zh-CN" altLang="en-US" sz="2400" b="1">
                <a:solidFill>
                  <a:srgbClr val="050507"/>
                </a:solidFill>
              </a:endParaRPr>
            </a:p>
          </p:txBody>
        </p:sp>
        <p:grpSp>
          <p:nvGrpSpPr>
            <p:cNvPr id="73" name="Group 9"/>
            <p:cNvGrpSpPr/>
            <p:nvPr/>
          </p:nvGrpSpPr>
          <p:grpSpPr bwMode="auto">
            <a:xfrm>
              <a:off x="2232" y="3024"/>
              <a:ext cx="552" cy="498"/>
              <a:chOff x="1944" y="2112"/>
              <a:chExt cx="552" cy="498"/>
            </a:xfrm>
          </p:grpSpPr>
          <p:sp>
            <p:nvSpPr>
              <p:cNvPr id="74" name="Line 10"/>
              <p:cNvSpPr>
                <a:spLocks noChangeShapeType="1"/>
              </p:cNvSpPr>
              <p:nvPr>
                <p:custDataLst>
                  <p:tags r:id="rId18"/>
                </p:custDataLst>
              </p:nvPr>
            </p:nvSpPr>
            <p:spPr bwMode="auto">
              <a:xfrm flipH="1">
                <a:off x="2064" y="2112"/>
                <a:ext cx="336"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p>
            </p:txBody>
          </p:sp>
          <p:sp>
            <p:nvSpPr>
              <p:cNvPr id="75" name="Rectangle 11"/>
              <p:cNvSpPr>
                <a:spLocks noChangeArrowheads="1"/>
              </p:cNvSpPr>
              <p:nvPr>
                <p:custDataLst>
                  <p:tags r:id="rId19"/>
                </p:custDataLst>
              </p:nvPr>
            </p:nvSpPr>
            <p:spPr bwMode="auto">
              <a:xfrm>
                <a:off x="1944" y="2352"/>
                <a:ext cx="5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a:solidFill>
                      <a:srgbClr val="D20A30"/>
                    </a:solidFill>
                  </a:rPr>
                  <a:t>First(T’)</a:t>
                </a:r>
                <a:endParaRPr lang="zh-CN" altLang="en-US" sz="2400" b="1">
                  <a:solidFill>
                    <a:srgbClr val="D20A30"/>
                  </a:solidFill>
                </a:endParaRPr>
              </a:p>
            </p:txBody>
          </p:sp>
        </p:grpSp>
        <p:grpSp>
          <p:nvGrpSpPr>
            <p:cNvPr id="76" name="Group 12"/>
            <p:cNvGrpSpPr/>
            <p:nvPr/>
          </p:nvGrpSpPr>
          <p:grpSpPr bwMode="auto">
            <a:xfrm>
              <a:off x="2928" y="3024"/>
              <a:ext cx="912" cy="498"/>
              <a:chOff x="1200" y="3504"/>
              <a:chExt cx="912" cy="498"/>
            </a:xfrm>
          </p:grpSpPr>
          <p:sp>
            <p:nvSpPr>
              <p:cNvPr id="77" name="Line 13"/>
              <p:cNvSpPr>
                <a:spLocks noChangeShapeType="1"/>
              </p:cNvSpPr>
              <p:nvPr>
                <p:custDataLst>
                  <p:tags r:id="rId20"/>
                </p:custDataLst>
              </p:nvPr>
            </p:nvSpPr>
            <p:spPr bwMode="auto">
              <a:xfrm>
                <a:off x="1200" y="3504"/>
                <a:ext cx="480"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p>
            </p:txBody>
          </p:sp>
          <p:sp>
            <p:nvSpPr>
              <p:cNvPr id="78" name="Rectangle 14"/>
              <p:cNvSpPr>
                <a:spLocks noChangeArrowheads="1"/>
              </p:cNvSpPr>
              <p:nvPr>
                <p:custDataLst>
                  <p:tags r:id="rId21"/>
                </p:custDataLst>
              </p:nvPr>
            </p:nvSpPr>
            <p:spPr bwMode="auto">
              <a:xfrm>
                <a:off x="1200" y="3744"/>
                <a:ext cx="91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rPr>
                  <a:t>Follow(T)</a:t>
                </a:r>
                <a:endParaRPr lang="zh-CN" altLang="en-US" sz="2400" b="1">
                  <a:solidFill>
                    <a:srgbClr val="050507"/>
                  </a:solidFill>
                </a:endParaRPr>
              </a:p>
            </p:txBody>
          </p:sp>
        </p:grpSp>
      </p:grpSp>
      <p:sp>
        <p:nvSpPr>
          <p:cNvPr id="79" name="Rectangle 3"/>
          <p:cNvSpPr>
            <a:spLocks noChangeArrowheads="1"/>
          </p:cNvSpPr>
          <p:nvPr/>
        </p:nvSpPr>
        <p:spPr bwMode="auto">
          <a:xfrm>
            <a:off x="660307" y="3143345"/>
            <a:ext cx="3285051"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0">
                <a:solidFill>
                  <a:srgbClr val="050507"/>
                </a:solidFill>
              </a:rPr>
              <a:t>Follow(E)=｛) , $｝</a:t>
            </a:r>
            <a:endParaRPr lang="zh-CN" altLang="en-US" sz="2400" b="0">
              <a:solidFill>
                <a:srgbClr val="050507"/>
              </a:solidFill>
            </a:endParaRPr>
          </a:p>
        </p:txBody>
      </p:sp>
      <p:sp>
        <p:nvSpPr>
          <p:cNvPr id="80" name="Rectangle 4"/>
          <p:cNvSpPr>
            <a:spLocks noChangeArrowheads="1"/>
          </p:cNvSpPr>
          <p:nvPr/>
        </p:nvSpPr>
        <p:spPr bwMode="auto">
          <a:xfrm>
            <a:off x="660307" y="3752945"/>
            <a:ext cx="29517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0">
                <a:solidFill>
                  <a:srgbClr val="050507"/>
                </a:solidFill>
              </a:rPr>
              <a:t>Follow(E’)=｛), $｝</a:t>
            </a:r>
            <a:endParaRPr lang="zh-CN" altLang="en-US" sz="2400" b="0">
              <a:solidFill>
                <a:srgbClr val="050507"/>
              </a:solidFill>
            </a:endParaRPr>
          </a:p>
        </p:txBody>
      </p:sp>
      <p:sp>
        <p:nvSpPr>
          <p:cNvPr id="81" name="Rectangle 5"/>
          <p:cNvSpPr>
            <a:spLocks noChangeArrowheads="1"/>
          </p:cNvSpPr>
          <p:nvPr/>
        </p:nvSpPr>
        <p:spPr bwMode="auto">
          <a:xfrm>
            <a:off x="660307" y="4362545"/>
            <a:ext cx="357070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0">
                <a:solidFill>
                  <a:srgbClr val="050507"/>
                </a:solidFill>
              </a:rPr>
              <a:t>Follow(T)=｛+, ), $｝</a:t>
            </a:r>
            <a:endParaRPr lang="zh-CN" altLang="en-US" sz="2400" b="0">
              <a:solidFill>
                <a:srgbClr val="050507"/>
              </a:solidFill>
            </a:endParaRPr>
          </a:p>
        </p:txBody>
      </p:sp>
      <p:sp>
        <p:nvSpPr>
          <p:cNvPr id="82" name="Rectangle 6"/>
          <p:cNvSpPr>
            <a:spLocks noChangeArrowheads="1"/>
          </p:cNvSpPr>
          <p:nvPr/>
        </p:nvSpPr>
        <p:spPr bwMode="auto">
          <a:xfrm>
            <a:off x="660307" y="4972145"/>
            <a:ext cx="428484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20000"/>
              </a:spcBef>
              <a:buSzPct val="90000"/>
            </a:pPr>
            <a:r>
              <a:rPr lang="en-US" altLang="zh-CN" sz="2400" b="0" dirty="0">
                <a:solidFill>
                  <a:srgbClr val="050507"/>
                </a:solidFill>
              </a:rPr>
              <a:t>Follow(T’)=｛+, ), $</a:t>
            </a:r>
            <a:r>
              <a:rPr lang="zh-CN" altLang="zh-CN" sz="2400" b="0" dirty="0">
                <a:solidFill>
                  <a:srgbClr val="050507"/>
                </a:solidFill>
              </a:rPr>
              <a:t> </a:t>
            </a:r>
            <a:r>
              <a:rPr lang="en-US" altLang="zh-CN" sz="2400" b="0" dirty="0">
                <a:solidFill>
                  <a:srgbClr val="050507"/>
                </a:solidFill>
              </a:rPr>
              <a:t>｝</a:t>
            </a:r>
            <a:endParaRPr lang="en-US" altLang="zh-CN" sz="2400" b="0" dirty="0">
              <a:solidFill>
                <a:srgbClr val="050507"/>
              </a:solidFill>
            </a:endParaRPr>
          </a:p>
        </p:txBody>
      </p:sp>
      <p:sp>
        <p:nvSpPr>
          <p:cNvPr id="83" name="Rectangle 7"/>
          <p:cNvSpPr>
            <a:spLocks noChangeArrowheads="1"/>
          </p:cNvSpPr>
          <p:nvPr/>
        </p:nvSpPr>
        <p:spPr bwMode="auto">
          <a:xfrm>
            <a:off x="660307" y="5581745"/>
            <a:ext cx="404680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0">
                <a:solidFill>
                  <a:srgbClr val="050507"/>
                </a:solidFill>
              </a:rPr>
              <a:t>Follow(F)=｛*, +, ), $｝</a:t>
            </a:r>
            <a:endParaRPr lang="zh-CN" altLang="en-US" sz="2400" b="0">
              <a:solidFill>
                <a:srgbClr val="05050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barn(inHorizontal)">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barn(inHorizontal)">
                                      <p:cBhvr>
                                        <p:cTn id="12" dur="500"/>
                                        <p:tgtEl>
                                          <p:spTgt spid="5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P spid="81" grpId="0"/>
      <p:bldP spid="82" grpId="0"/>
      <p:bldP spid="8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439420" y="276860"/>
            <a:ext cx="777240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18" name="Rectangle 20"/>
          <p:cNvSpPr txBox="1">
            <a:spLocks noChangeArrowheads="1"/>
          </p:cNvSpPr>
          <p:nvPr/>
        </p:nvSpPr>
        <p:spPr>
          <a:xfrm>
            <a:off x="440055" y="1352550"/>
            <a:ext cx="9442450" cy="502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b="1" dirty="0">
                <a:solidFill>
                  <a:srgbClr val="0070C0"/>
                </a:solidFill>
                <a:latin typeface="+mn-ea"/>
              </a:rPr>
              <a:t>3. </a:t>
            </a:r>
            <a:r>
              <a:rPr lang="zh-CN" altLang="en-US" sz="2400" b="1" dirty="0">
                <a:solidFill>
                  <a:srgbClr val="0070C0"/>
                </a:solidFill>
                <a:latin typeface="+mn-ea"/>
              </a:rPr>
              <a:t>构造</a:t>
            </a:r>
            <a:r>
              <a:rPr lang="en-US" altLang="zh-CN" sz="2400" b="1" dirty="0">
                <a:solidFill>
                  <a:srgbClr val="0070C0"/>
                </a:solidFill>
                <a:latin typeface="+mn-ea"/>
              </a:rPr>
              <a:t>LL(1)</a:t>
            </a:r>
            <a:r>
              <a:rPr lang="zh-CN" altLang="en-US" sz="2400" b="1" dirty="0">
                <a:solidFill>
                  <a:srgbClr val="0070C0"/>
                </a:solidFill>
                <a:latin typeface="+mn-ea"/>
              </a:rPr>
              <a:t>分析表</a:t>
            </a:r>
            <a:endParaRPr lang="zh-CN" altLang="en-US" sz="2400" b="1" dirty="0">
              <a:solidFill>
                <a:srgbClr val="0070C0"/>
              </a:solidFill>
              <a:latin typeface="+mn-ea"/>
            </a:endParaRPr>
          </a:p>
        </p:txBody>
      </p:sp>
      <p:sp>
        <p:nvSpPr>
          <p:cNvPr id="8" name="Rectangle 3"/>
          <p:cNvSpPr>
            <a:spLocks noChangeArrowheads="1"/>
          </p:cNvSpPr>
          <p:nvPr/>
        </p:nvSpPr>
        <p:spPr bwMode="auto">
          <a:xfrm>
            <a:off x="541020" y="2903855"/>
            <a:ext cx="10882630"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marL="914400" indent="-457200">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50000"/>
              </a:spcBef>
              <a:buFontTx/>
              <a:buAutoNum type="arabicParenR"/>
            </a:pPr>
            <a:r>
              <a:rPr lang="zh-CN" altLang="en-US" sz="2200">
                <a:solidFill>
                  <a:srgbClr val="050507"/>
                </a:solidFill>
                <a:latin typeface="+mn-ea"/>
                <a:ea typeface="+mn-ea"/>
              </a:rPr>
              <a:t>对于</a:t>
            </a:r>
            <a:r>
              <a:rPr lang="en-US" altLang="zh-CN" sz="2200">
                <a:solidFill>
                  <a:srgbClr val="050507"/>
                </a:solidFill>
                <a:latin typeface="+mn-ea"/>
                <a:ea typeface="+mn-ea"/>
              </a:rPr>
              <a:t>First(</a:t>
            </a:r>
            <a:r>
              <a:rPr lang="en-US" altLang="zh-CN" sz="2200">
                <a:solidFill>
                  <a:srgbClr val="050507"/>
                </a:solidFill>
                <a:latin typeface="+mn-ea"/>
                <a:ea typeface="+mn-ea"/>
                <a:sym typeface="Symbol" panose="05050102010706020507" pitchFamily="18" charset="2"/>
              </a:rPr>
              <a:t></a:t>
            </a:r>
            <a:r>
              <a:rPr lang="en-US" altLang="zh-CN" sz="2200">
                <a:solidFill>
                  <a:srgbClr val="050507"/>
                </a:solidFill>
                <a:latin typeface="+mn-ea"/>
                <a:ea typeface="+mn-ea"/>
              </a:rPr>
              <a:t>)</a:t>
            </a:r>
            <a:r>
              <a:rPr lang="zh-CN" altLang="en-US" sz="2200">
                <a:solidFill>
                  <a:srgbClr val="050507"/>
                </a:solidFill>
                <a:latin typeface="+mn-ea"/>
                <a:ea typeface="+mn-ea"/>
              </a:rPr>
              <a:t>中的每个终结符</a:t>
            </a:r>
            <a:r>
              <a:rPr lang="en-US" altLang="zh-CN" sz="2200">
                <a:solidFill>
                  <a:srgbClr val="050507"/>
                </a:solidFill>
                <a:latin typeface="+mn-ea"/>
                <a:ea typeface="+mn-ea"/>
              </a:rPr>
              <a:t>a，</a:t>
            </a:r>
            <a:r>
              <a:rPr lang="zh-CN" altLang="en-US" sz="2200">
                <a:solidFill>
                  <a:srgbClr val="050507"/>
                </a:solidFill>
                <a:latin typeface="+mn-ea"/>
                <a:ea typeface="+mn-ea"/>
              </a:rPr>
              <a:t>都将</a:t>
            </a:r>
            <a:r>
              <a:rPr lang="en-US" altLang="zh-CN" sz="2200">
                <a:solidFill>
                  <a:srgbClr val="050507"/>
                </a:solidFill>
                <a:latin typeface="+mn-ea"/>
                <a:ea typeface="+mn-ea"/>
              </a:rPr>
              <a:t>A→</a:t>
            </a:r>
            <a:r>
              <a:rPr lang="en-US" altLang="zh-CN" sz="2200">
                <a:solidFill>
                  <a:srgbClr val="050507"/>
                </a:solidFill>
                <a:latin typeface="+mn-ea"/>
                <a:ea typeface="+mn-ea"/>
                <a:sym typeface="Symbol" panose="05050102010706020507" pitchFamily="18" charset="2"/>
              </a:rPr>
              <a:t></a:t>
            </a:r>
            <a:r>
              <a:rPr lang="zh-CN" altLang="en-US" sz="2200">
                <a:solidFill>
                  <a:srgbClr val="050507"/>
                </a:solidFill>
                <a:latin typeface="+mn-ea"/>
                <a:ea typeface="+mn-ea"/>
              </a:rPr>
              <a:t>添加到</a:t>
            </a:r>
            <a:r>
              <a:rPr lang="en-US" altLang="zh-CN" sz="2200">
                <a:solidFill>
                  <a:srgbClr val="050507"/>
                </a:solidFill>
                <a:latin typeface="+mn-ea"/>
                <a:ea typeface="+mn-ea"/>
              </a:rPr>
              <a:t>M[A,a]</a:t>
            </a:r>
            <a:r>
              <a:rPr lang="zh-CN" altLang="en-US" sz="2200">
                <a:solidFill>
                  <a:srgbClr val="050507"/>
                </a:solidFill>
                <a:latin typeface="+mn-ea"/>
                <a:ea typeface="+mn-ea"/>
              </a:rPr>
              <a:t>元素位置，置</a:t>
            </a:r>
            <a:r>
              <a:rPr lang="en-US" altLang="zh-CN" sz="2200">
                <a:solidFill>
                  <a:srgbClr val="050507"/>
                </a:solidFill>
                <a:latin typeface="+mn-ea"/>
                <a:ea typeface="+mn-ea"/>
              </a:rPr>
              <a:t>M[A,a]</a:t>
            </a:r>
            <a:r>
              <a:rPr lang="zh-CN" altLang="en-US" sz="2200">
                <a:solidFill>
                  <a:srgbClr val="050507"/>
                </a:solidFill>
                <a:latin typeface="+mn-ea"/>
                <a:ea typeface="+mn-ea"/>
              </a:rPr>
              <a:t> =“</a:t>
            </a:r>
            <a:r>
              <a:rPr lang="en-US" altLang="zh-CN" sz="2200">
                <a:solidFill>
                  <a:srgbClr val="050507"/>
                </a:solidFill>
                <a:latin typeface="+mn-ea"/>
                <a:ea typeface="+mn-ea"/>
              </a:rPr>
              <a:t>A→</a:t>
            </a:r>
            <a:r>
              <a:rPr lang="en-US" altLang="zh-CN" sz="2200">
                <a:solidFill>
                  <a:srgbClr val="050507"/>
                </a:solidFill>
                <a:latin typeface="+mn-ea"/>
                <a:ea typeface="+mn-ea"/>
                <a:sym typeface="Symbol" panose="05050102010706020507" pitchFamily="18" charset="2"/>
              </a:rPr>
              <a:t></a:t>
            </a:r>
            <a:r>
              <a:rPr lang="en-US" altLang="zh-CN" sz="2200">
                <a:solidFill>
                  <a:srgbClr val="050507"/>
                </a:solidFill>
                <a:latin typeface="+mn-ea"/>
                <a:ea typeface="+mn-ea"/>
              </a:rPr>
              <a:t>”。</a:t>
            </a:r>
            <a:endParaRPr lang="en-US" altLang="zh-CN" sz="2200">
              <a:solidFill>
                <a:srgbClr val="050507"/>
              </a:solidFill>
              <a:latin typeface="+mn-ea"/>
              <a:ea typeface="+mn-ea"/>
            </a:endParaRPr>
          </a:p>
          <a:p>
            <a:pPr>
              <a:spcBef>
                <a:spcPct val="50000"/>
              </a:spcBef>
              <a:buFontTx/>
              <a:buAutoNum type="arabicParenR"/>
            </a:pPr>
            <a:endParaRPr lang="en-US" altLang="zh-CN" sz="2200">
              <a:solidFill>
                <a:srgbClr val="050507"/>
              </a:solidFill>
              <a:latin typeface="+mn-ea"/>
              <a:ea typeface="+mn-ea"/>
            </a:endParaRPr>
          </a:p>
          <a:p>
            <a:pPr>
              <a:spcBef>
                <a:spcPct val="50000"/>
              </a:spcBef>
              <a:buFontTx/>
              <a:buAutoNum type="arabicParenR"/>
            </a:pPr>
            <a:endParaRPr lang="en-US" altLang="zh-CN" sz="2200">
              <a:solidFill>
                <a:srgbClr val="050507"/>
              </a:solidFill>
              <a:latin typeface="+mn-ea"/>
              <a:ea typeface="+mn-ea"/>
            </a:endParaRPr>
          </a:p>
          <a:p>
            <a:pPr lvl="1">
              <a:spcBef>
                <a:spcPct val="50000"/>
              </a:spcBef>
              <a:buFont typeface="Wingdings" panose="05000000000000000000" pitchFamily="2" charset="2"/>
              <a:buChar char="ü"/>
            </a:pPr>
            <a:r>
              <a:rPr lang="zh-CN" altLang="en-US" sz="2200">
                <a:solidFill>
                  <a:srgbClr val="050507"/>
                </a:solidFill>
                <a:latin typeface="+mn-ea"/>
                <a:ea typeface="+mn-ea"/>
              </a:rPr>
              <a:t>即当当前分析栈的栈顶符号为</a:t>
            </a:r>
            <a:r>
              <a:rPr lang="en-US" altLang="zh-CN" sz="2200">
                <a:solidFill>
                  <a:srgbClr val="050507"/>
                </a:solidFill>
                <a:latin typeface="+mn-ea"/>
                <a:ea typeface="+mn-ea"/>
              </a:rPr>
              <a:t>A</a:t>
            </a:r>
            <a:r>
              <a:rPr lang="zh-CN" altLang="en-US" sz="2200">
                <a:solidFill>
                  <a:srgbClr val="050507"/>
                </a:solidFill>
                <a:latin typeface="+mn-ea"/>
                <a:ea typeface="+mn-ea"/>
              </a:rPr>
              <a:t>时，而当前词法分析的输入单词为</a:t>
            </a:r>
            <a:r>
              <a:rPr lang="en-US" altLang="zh-CN" sz="2200">
                <a:solidFill>
                  <a:srgbClr val="050507"/>
                </a:solidFill>
                <a:latin typeface="+mn-ea"/>
                <a:ea typeface="+mn-ea"/>
              </a:rPr>
              <a:t>a</a:t>
            </a:r>
            <a:r>
              <a:rPr lang="zh-CN" altLang="en-US" sz="2200">
                <a:solidFill>
                  <a:srgbClr val="050507"/>
                </a:solidFill>
                <a:latin typeface="+mn-ea"/>
                <a:ea typeface="+mn-ea"/>
              </a:rPr>
              <a:t>时，按产生式</a:t>
            </a:r>
            <a:r>
              <a:rPr lang="en-US" altLang="zh-CN" sz="2200">
                <a:solidFill>
                  <a:srgbClr val="050507"/>
                </a:solidFill>
                <a:latin typeface="+mn-ea"/>
                <a:ea typeface="+mn-ea"/>
              </a:rPr>
              <a:t>A→</a:t>
            </a:r>
            <a:r>
              <a:rPr lang="en-US" altLang="zh-CN" sz="2200">
                <a:solidFill>
                  <a:srgbClr val="050507"/>
                </a:solidFill>
                <a:latin typeface="+mn-ea"/>
                <a:ea typeface="+mn-ea"/>
                <a:sym typeface="Symbol" panose="05050102010706020507" pitchFamily="18" charset="2"/>
              </a:rPr>
              <a:t></a:t>
            </a:r>
            <a:r>
              <a:rPr lang="zh-CN" altLang="en-US" sz="2200">
                <a:solidFill>
                  <a:srgbClr val="050507"/>
                </a:solidFill>
                <a:latin typeface="+mn-ea"/>
                <a:ea typeface="+mn-ea"/>
              </a:rPr>
              <a:t>进行推导；</a:t>
            </a:r>
            <a:endParaRPr lang="zh-CN" altLang="en-US" sz="2200">
              <a:solidFill>
                <a:srgbClr val="F72F89"/>
              </a:solidFill>
              <a:latin typeface="+mn-ea"/>
              <a:ea typeface="+mn-ea"/>
            </a:endParaRPr>
          </a:p>
        </p:txBody>
      </p:sp>
      <p:sp>
        <p:nvSpPr>
          <p:cNvPr id="9" name="Rectangle 5"/>
          <p:cNvSpPr>
            <a:spLocks noChangeArrowheads="1"/>
          </p:cNvSpPr>
          <p:nvPr/>
        </p:nvSpPr>
        <p:spPr bwMode="auto">
          <a:xfrm>
            <a:off x="541020" y="1964055"/>
            <a:ext cx="1113028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200" b="1" dirty="0">
                <a:solidFill>
                  <a:srgbClr val="050507"/>
                </a:solidFill>
                <a:latin typeface="+mn-ea"/>
              </a:rPr>
              <a:t>分析表以非终结符作为行索引，以终结符作为列索引，分析表的元素位置存储产生式，为每个非终结符</a:t>
            </a:r>
            <a:r>
              <a:rPr lang="en-US" altLang="zh-CN" sz="2200" b="1" dirty="0">
                <a:solidFill>
                  <a:srgbClr val="050507"/>
                </a:solidFill>
                <a:latin typeface="+mn-ea"/>
              </a:rPr>
              <a:t>A</a:t>
            </a:r>
            <a:r>
              <a:rPr lang="zh-CN" altLang="en-US" sz="2200" b="1" dirty="0">
                <a:solidFill>
                  <a:srgbClr val="050507"/>
                </a:solidFill>
                <a:latin typeface="+mn-ea"/>
              </a:rPr>
              <a:t>和它对应的产生式</a:t>
            </a:r>
            <a:r>
              <a:rPr lang="en-US" altLang="zh-CN" sz="2200" b="1" dirty="0">
                <a:solidFill>
                  <a:srgbClr val="050507"/>
                </a:solidFill>
                <a:latin typeface="+mn-ea"/>
              </a:rPr>
              <a:t>A→</a:t>
            </a:r>
            <a:r>
              <a:rPr lang="en-US" altLang="zh-CN" sz="2200" b="1" dirty="0">
                <a:solidFill>
                  <a:srgbClr val="050507"/>
                </a:solidFill>
                <a:latin typeface="+mn-ea"/>
                <a:sym typeface="Symbol" panose="05050102010706020507" pitchFamily="18" charset="2"/>
              </a:rPr>
              <a:t></a:t>
            </a:r>
            <a:r>
              <a:rPr lang="zh-CN" altLang="en-US" sz="2200" b="1" dirty="0">
                <a:solidFill>
                  <a:srgbClr val="050507"/>
                </a:solidFill>
                <a:latin typeface="+mn-ea"/>
              </a:rPr>
              <a:t>重复以下两步骤：</a:t>
            </a:r>
            <a:endParaRPr lang="zh-CN" altLang="en-US" sz="2200" b="1" dirty="0">
              <a:solidFill>
                <a:srgbClr val="050507"/>
              </a:solidFill>
              <a:latin typeface="+mn-ea"/>
            </a:endParaRPr>
          </a:p>
        </p:txBody>
      </p:sp>
      <p:graphicFrame>
        <p:nvGraphicFramePr>
          <p:cNvPr id="10" name="Group 10"/>
          <p:cNvGraphicFramePr>
            <a:graphicFrameLocks noGrp="1"/>
          </p:cNvGraphicFramePr>
          <p:nvPr/>
        </p:nvGraphicFramePr>
        <p:xfrm>
          <a:off x="3468687" y="3671953"/>
          <a:ext cx="4822825" cy="1022350"/>
        </p:xfrm>
        <a:graphic>
          <a:graphicData uri="http://schemas.openxmlformats.org/drawingml/2006/table">
            <a:tbl>
              <a:tblPr/>
              <a:tblGrid>
                <a:gridCol w="1260475"/>
                <a:gridCol w="1187450"/>
                <a:gridCol w="1187450"/>
                <a:gridCol w="1187450"/>
              </a:tblGrid>
              <a:tr h="5111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11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1" lang="en-US" altLang="zh-CN" sz="2600" b="0" i="0" u="none" strike="noStrike" cap="none" normalizeH="0" baseline="0">
                          <a:ln>
                            <a:noFill/>
                          </a:ln>
                          <a:solidFill>
                            <a:srgbClr val="050507"/>
                          </a:solidFill>
                          <a:effectLst/>
                          <a:latin typeface="Times New Roman" panose="02020603050405020304" pitchFamily="18" charset="0"/>
                          <a:ea typeface="宋体" panose="02010600030101010101" pitchFamily="2" charset="-122"/>
                        </a:rPr>
                        <a:t>A→ </a:t>
                      </a:r>
                      <a:r>
                        <a:rPr kumimoji="1" lang="en-US" altLang="zh-CN" sz="2600" b="0" i="0" u="none" strike="noStrike" cap="none" normalizeH="0" baseline="0">
                          <a:ln>
                            <a:noFill/>
                          </a:ln>
                          <a:solidFill>
                            <a:srgbClr val="050507"/>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2600" b="0" i="0" u="none" strike="noStrike" cap="none" normalizeH="0" baseline="0">
                        <a:ln>
                          <a:noFill/>
                        </a:ln>
                        <a:solidFill>
                          <a:srgbClr val="050507"/>
                        </a:solidFill>
                        <a:effectLst/>
                        <a:latin typeface="Times New Roman" panose="02020603050405020304" pitchFamily="18" charset="0"/>
                        <a:ea typeface="宋体" panose="02010600030101010101" pitchFamily="2"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out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6" fill="hold" nodeType="click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barn(inHorizontal)">
                                      <p:cBhvr>
                                        <p:cTn id="16"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645795" y="276860"/>
            <a:ext cx="7566025"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12" name="Rectangle 2"/>
          <p:cNvSpPr>
            <a:spLocks noChangeArrowheads="1"/>
          </p:cNvSpPr>
          <p:nvPr/>
        </p:nvSpPr>
        <p:spPr bwMode="auto">
          <a:xfrm>
            <a:off x="440055" y="5167630"/>
            <a:ext cx="1155954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b="1" dirty="0">
                <a:solidFill>
                  <a:srgbClr val="050507"/>
                </a:solidFill>
                <a:latin typeface="+mn-ea"/>
              </a:rPr>
              <a:t>若文法</a:t>
            </a:r>
            <a:r>
              <a:rPr lang="en-US" altLang="zh-CN" sz="2400" b="1" dirty="0">
                <a:solidFill>
                  <a:srgbClr val="050507"/>
                </a:solidFill>
                <a:latin typeface="+mn-ea"/>
              </a:rPr>
              <a:t>G</a:t>
            </a:r>
            <a:r>
              <a:rPr lang="zh-CN" altLang="en-US" sz="2400" b="1" dirty="0">
                <a:solidFill>
                  <a:srgbClr val="050507"/>
                </a:solidFill>
                <a:latin typeface="+mn-ea"/>
              </a:rPr>
              <a:t>的</a:t>
            </a:r>
            <a:r>
              <a:rPr lang="en-US" altLang="zh-CN" sz="2400" b="1" dirty="0">
                <a:solidFill>
                  <a:srgbClr val="050507"/>
                </a:solidFill>
                <a:latin typeface="+mn-ea"/>
              </a:rPr>
              <a:t>LL(1)</a:t>
            </a:r>
            <a:r>
              <a:rPr lang="zh-CN" altLang="en-US" sz="2400" b="1" dirty="0">
                <a:solidFill>
                  <a:srgbClr val="050507"/>
                </a:solidFill>
                <a:latin typeface="+mn-ea"/>
              </a:rPr>
              <a:t>分析表每个元素</a:t>
            </a:r>
            <a:r>
              <a:rPr lang="zh-CN" altLang="en-US" sz="2400" b="1" dirty="0">
                <a:solidFill>
                  <a:srgbClr val="050507"/>
                </a:solidFill>
                <a:latin typeface="+mn-ea"/>
              </a:rPr>
              <a:t>位置中至多只有一个产生式，则该文法就是</a:t>
            </a:r>
            <a:r>
              <a:rPr lang="en-US" altLang="zh-CN" sz="2400" b="1" dirty="0">
                <a:solidFill>
                  <a:srgbClr val="F72F89"/>
                </a:solidFill>
                <a:latin typeface="+mn-ea"/>
              </a:rPr>
              <a:t>LL(1)</a:t>
            </a:r>
            <a:r>
              <a:rPr lang="zh-CN" altLang="en-US" sz="2400" b="1" dirty="0">
                <a:solidFill>
                  <a:srgbClr val="F72F89"/>
                </a:solidFill>
                <a:latin typeface="+mn-ea"/>
              </a:rPr>
              <a:t>文法</a:t>
            </a:r>
            <a:r>
              <a:rPr lang="zh-CN" altLang="en-US" sz="2400" b="1" dirty="0">
                <a:solidFill>
                  <a:srgbClr val="050507"/>
                </a:solidFill>
                <a:latin typeface="+mn-ea"/>
              </a:rPr>
              <a:t>。</a:t>
            </a:r>
            <a:endParaRPr lang="zh-CN" altLang="en-US" sz="2400" b="1" dirty="0">
              <a:solidFill>
                <a:srgbClr val="E10B34"/>
              </a:solidFill>
              <a:latin typeface="+mn-ea"/>
              <a:sym typeface="Symbol" panose="05050102010706020507" pitchFamily="18" charset="2"/>
            </a:endParaRPr>
          </a:p>
        </p:txBody>
      </p:sp>
      <p:sp>
        <p:nvSpPr>
          <p:cNvPr id="13" name="Rectangle 3"/>
          <p:cNvSpPr>
            <a:spLocks noChangeArrowheads="1"/>
          </p:cNvSpPr>
          <p:nvPr/>
        </p:nvSpPr>
        <p:spPr bwMode="auto">
          <a:xfrm>
            <a:off x="645795" y="4540250"/>
            <a:ext cx="9359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50507"/>
                </a:solidFill>
                <a:latin typeface="+mn-ea"/>
              </a:rPr>
              <a:t>3)</a:t>
            </a:r>
            <a:r>
              <a:rPr lang="zh-CN" altLang="zh-CN" sz="2400" b="1" dirty="0">
                <a:solidFill>
                  <a:srgbClr val="050507"/>
                </a:solidFill>
                <a:latin typeface="+mn-ea"/>
              </a:rPr>
              <a:t>所有没有定义的元素位置</a:t>
            </a:r>
            <a:r>
              <a:rPr lang="zh-CN" altLang="zh-CN" sz="2400" b="1" dirty="0">
                <a:solidFill>
                  <a:srgbClr val="050507"/>
                </a:solidFill>
                <a:latin typeface="+mn-ea"/>
                <a:sym typeface="Symbol" panose="05050102010706020507" pitchFamily="18" charset="2"/>
              </a:rPr>
              <a:t></a:t>
            </a:r>
            <a:r>
              <a:rPr lang="zh-CN" altLang="en-US" sz="2400" b="1" dirty="0">
                <a:solidFill>
                  <a:srgbClr val="050507"/>
                </a:solidFill>
                <a:latin typeface="+mn-ea"/>
              </a:rPr>
              <a:t>[</a:t>
            </a:r>
            <a:r>
              <a:rPr lang="en-US" altLang="zh-CN" sz="2400" b="1" dirty="0" err="1">
                <a:solidFill>
                  <a:srgbClr val="050507"/>
                </a:solidFill>
                <a:latin typeface="+mn-ea"/>
              </a:rPr>
              <a:t>A,a</a:t>
            </a:r>
            <a:r>
              <a:rPr lang="en-US" altLang="zh-CN" sz="2400" b="1" dirty="0">
                <a:solidFill>
                  <a:srgbClr val="050507"/>
                </a:solidFill>
                <a:latin typeface="+mn-ea"/>
              </a:rPr>
              <a:t>]</a:t>
            </a:r>
            <a:r>
              <a:rPr lang="zh-CN" altLang="zh-CN" sz="2400" b="1" dirty="0">
                <a:solidFill>
                  <a:srgbClr val="050507"/>
                </a:solidFill>
                <a:latin typeface="+mn-ea"/>
              </a:rPr>
              <a:t>标上“出错”标志。</a:t>
            </a:r>
            <a:endParaRPr lang="zh-CN" altLang="en-US" sz="2400" b="1" dirty="0">
              <a:solidFill>
                <a:srgbClr val="050507"/>
              </a:solidFill>
              <a:latin typeface="+mn-ea"/>
            </a:endParaRPr>
          </a:p>
        </p:txBody>
      </p:sp>
      <p:sp>
        <p:nvSpPr>
          <p:cNvPr id="14" name="Rectangle 4"/>
          <p:cNvSpPr>
            <a:spLocks noChangeArrowheads="1"/>
          </p:cNvSpPr>
          <p:nvPr/>
        </p:nvSpPr>
        <p:spPr bwMode="auto">
          <a:xfrm>
            <a:off x="646430" y="1428115"/>
            <a:ext cx="11131550"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120000"/>
              </a:lnSpc>
              <a:buFontTx/>
              <a:buAutoNum type="arabicParenR" startAt="2"/>
            </a:pPr>
            <a:r>
              <a:rPr lang="zh-CN" altLang="en-US" sz="2400">
                <a:solidFill>
                  <a:srgbClr val="050507"/>
                </a:solidFill>
                <a:latin typeface="+mn-ea"/>
                <a:ea typeface="+mn-ea"/>
              </a:rPr>
              <a:t>若</a:t>
            </a:r>
            <a:r>
              <a:rPr lang="en-US" altLang="zh-CN" sz="2400">
                <a:solidFill>
                  <a:srgbClr val="050507"/>
                </a:solidFill>
                <a:latin typeface="+mn-ea"/>
                <a:ea typeface="+mn-ea"/>
                <a:sym typeface="Symbol" panose="05050102010706020507" pitchFamily="18" charset="2"/>
              </a:rPr>
              <a:t></a:t>
            </a:r>
            <a:r>
              <a:rPr lang="zh-CN" altLang="en-US" sz="2400">
                <a:solidFill>
                  <a:srgbClr val="050507"/>
                </a:solidFill>
                <a:latin typeface="+mn-ea"/>
                <a:ea typeface="+mn-ea"/>
              </a:rPr>
              <a:t>在</a:t>
            </a:r>
            <a:r>
              <a:rPr lang="en-US" altLang="zh-CN" sz="2400">
                <a:solidFill>
                  <a:srgbClr val="050507"/>
                </a:solidFill>
                <a:latin typeface="+mn-ea"/>
                <a:ea typeface="+mn-ea"/>
              </a:rPr>
              <a:t>First(</a:t>
            </a:r>
            <a:r>
              <a:rPr lang="en-US" altLang="zh-CN" sz="2400">
                <a:solidFill>
                  <a:srgbClr val="050507"/>
                </a:solidFill>
                <a:latin typeface="+mn-ea"/>
                <a:ea typeface="+mn-ea"/>
                <a:sym typeface="Symbol" panose="05050102010706020507" pitchFamily="18" charset="2"/>
              </a:rPr>
              <a:t></a:t>
            </a:r>
            <a:r>
              <a:rPr lang="en-US" altLang="zh-CN" sz="2400">
                <a:solidFill>
                  <a:srgbClr val="050507"/>
                </a:solidFill>
                <a:latin typeface="+mn-ea"/>
                <a:ea typeface="+mn-ea"/>
              </a:rPr>
              <a:t>)</a:t>
            </a:r>
            <a:r>
              <a:rPr lang="zh-CN" altLang="en-US" sz="2400">
                <a:solidFill>
                  <a:srgbClr val="050507"/>
                </a:solidFill>
                <a:latin typeface="+mn-ea"/>
                <a:ea typeface="+mn-ea"/>
              </a:rPr>
              <a:t>中，则对于</a:t>
            </a:r>
            <a:r>
              <a:rPr lang="en-US" altLang="zh-CN" sz="2400">
                <a:solidFill>
                  <a:srgbClr val="050507"/>
                </a:solidFill>
                <a:latin typeface="+mn-ea"/>
                <a:ea typeface="+mn-ea"/>
              </a:rPr>
              <a:t>Follow(A)</a:t>
            </a:r>
            <a:r>
              <a:rPr lang="zh-CN" altLang="en-US" sz="2400">
                <a:solidFill>
                  <a:srgbClr val="050507"/>
                </a:solidFill>
                <a:latin typeface="+mn-ea"/>
                <a:ea typeface="+mn-ea"/>
              </a:rPr>
              <a:t>的每个元素</a:t>
            </a:r>
            <a:r>
              <a:rPr lang="en-US" altLang="zh-CN" sz="2400">
                <a:solidFill>
                  <a:srgbClr val="050507"/>
                </a:solidFill>
                <a:latin typeface="+mn-ea"/>
                <a:ea typeface="+mn-ea"/>
              </a:rPr>
              <a:t>a(</a:t>
            </a:r>
            <a:r>
              <a:rPr lang="zh-CN" altLang="en-US" sz="2400">
                <a:solidFill>
                  <a:srgbClr val="050507"/>
                </a:solidFill>
                <a:latin typeface="+mn-ea"/>
                <a:ea typeface="+mn-ea"/>
              </a:rPr>
              <a:t>或是$)，都将</a:t>
            </a:r>
            <a:r>
              <a:rPr lang="en-US" altLang="zh-CN" sz="2400">
                <a:solidFill>
                  <a:srgbClr val="050507"/>
                </a:solidFill>
                <a:latin typeface="+mn-ea"/>
                <a:ea typeface="+mn-ea"/>
              </a:rPr>
              <a:t>A→</a:t>
            </a:r>
            <a:r>
              <a:rPr lang="en-US" altLang="zh-CN" sz="2400">
                <a:solidFill>
                  <a:srgbClr val="050507"/>
                </a:solidFill>
                <a:latin typeface="+mn-ea"/>
                <a:ea typeface="+mn-ea"/>
                <a:sym typeface="Symbol" panose="05050102010706020507" pitchFamily="18" charset="2"/>
              </a:rPr>
              <a:t></a:t>
            </a:r>
            <a:r>
              <a:rPr lang="zh-CN" altLang="en-US" sz="2400">
                <a:solidFill>
                  <a:srgbClr val="050507"/>
                </a:solidFill>
                <a:latin typeface="+mn-ea"/>
                <a:ea typeface="+mn-ea"/>
              </a:rPr>
              <a:t>添加到 </a:t>
            </a:r>
            <a:r>
              <a:rPr lang="en-US" altLang="zh-CN" sz="2400">
                <a:solidFill>
                  <a:srgbClr val="050507"/>
                </a:solidFill>
                <a:latin typeface="+mn-ea"/>
                <a:ea typeface="+mn-ea"/>
              </a:rPr>
              <a:t>M[A,a]</a:t>
            </a:r>
            <a:r>
              <a:rPr lang="zh-CN" altLang="en-US" sz="2400">
                <a:solidFill>
                  <a:srgbClr val="050507"/>
                </a:solidFill>
                <a:latin typeface="+mn-ea"/>
                <a:ea typeface="+mn-ea"/>
              </a:rPr>
              <a:t>中。</a:t>
            </a:r>
            <a:r>
              <a:rPr lang="zh-CN" altLang="en-US" sz="2400">
                <a:solidFill>
                  <a:srgbClr val="F72F89"/>
                </a:solidFill>
                <a:latin typeface="+mn-ea"/>
                <a:ea typeface="+mn-ea"/>
              </a:rPr>
              <a:t>即在此情况下按产生式</a:t>
            </a:r>
            <a:r>
              <a:rPr lang="en-US" altLang="zh-CN" sz="2400">
                <a:solidFill>
                  <a:srgbClr val="F72F89"/>
                </a:solidFill>
                <a:latin typeface="+mn-ea"/>
                <a:ea typeface="+mn-ea"/>
              </a:rPr>
              <a:t>A→</a:t>
            </a:r>
            <a:r>
              <a:rPr lang="en-US" altLang="zh-CN" sz="2400">
                <a:solidFill>
                  <a:srgbClr val="F72F89"/>
                </a:solidFill>
                <a:latin typeface="+mn-ea"/>
                <a:ea typeface="+mn-ea"/>
                <a:sym typeface="Symbol" panose="05050102010706020507" pitchFamily="18" charset="2"/>
              </a:rPr>
              <a:t></a:t>
            </a:r>
            <a:r>
              <a:rPr lang="zh-CN" altLang="en-US" sz="2400">
                <a:solidFill>
                  <a:srgbClr val="F72F89"/>
                </a:solidFill>
                <a:latin typeface="+mn-ea"/>
                <a:ea typeface="+mn-ea"/>
              </a:rPr>
              <a:t>进行推导。</a:t>
            </a:r>
            <a:r>
              <a:rPr lang="zh-CN" altLang="en-US" sz="2400">
                <a:solidFill>
                  <a:schemeClr val="tx1"/>
                </a:solidFill>
                <a:latin typeface="+mn-ea"/>
                <a:ea typeface="+mn-ea"/>
              </a:rPr>
              <a:t>   </a:t>
            </a:r>
            <a:endParaRPr lang="en-US" altLang="zh-CN" sz="2400">
              <a:solidFill>
                <a:srgbClr val="F72F89"/>
              </a:solidFill>
              <a:latin typeface="+mn-ea"/>
              <a:ea typeface="+mn-ea"/>
            </a:endParaRPr>
          </a:p>
        </p:txBody>
      </p:sp>
      <p:sp>
        <p:nvSpPr>
          <p:cNvPr id="15" name="Rectangle 7"/>
          <p:cNvSpPr>
            <a:spLocks noChangeArrowheads="1"/>
          </p:cNvSpPr>
          <p:nvPr/>
        </p:nvSpPr>
        <p:spPr bwMode="auto">
          <a:xfrm>
            <a:off x="2295433" y="4003478"/>
            <a:ext cx="7610568"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0000" tIns="46800" rIns="90000" bIns="46800">
            <a:spAutoFit/>
          </a:bodyPr>
          <a:lstStyle/>
          <a:p>
            <a:r>
              <a:rPr lang="zh-CN" altLang="en-US" sz="2400" b="1" dirty="0">
                <a:solidFill>
                  <a:schemeClr val="tx1"/>
                </a:solidFill>
                <a:latin typeface="+mn-ea"/>
              </a:rPr>
              <a:t>例如：</a:t>
            </a:r>
            <a:r>
              <a:rPr lang="en-US" altLang="zh-CN" sz="2400" b="1" dirty="0" err="1">
                <a:solidFill>
                  <a:schemeClr val="tx1"/>
                </a:solidFill>
                <a:latin typeface="+mn-ea"/>
              </a:rPr>
              <a:t>b</a:t>
            </a:r>
            <a:r>
              <a:rPr lang="zh-CN" altLang="en-US" sz="2400" b="1">
                <a:solidFill>
                  <a:srgbClr val="F72F89"/>
                </a:solidFill>
                <a:latin typeface="+mn-ea"/>
              </a:rPr>
              <a:t>Aa</a:t>
            </a:r>
            <a:r>
              <a:rPr lang="en-US" altLang="zh-CN" sz="2400" b="1" dirty="0">
                <a:solidFill>
                  <a:schemeClr val="tx1"/>
                </a:solidFill>
                <a:latin typeface="+mn-ea"/>
              </a:rPr>
              <a:t>…. </a:t>
            </a:r>
            <a:r>
              <a:rPr lang="en-US" altLang="zh-CN" sz="2400" b="1" dirty="0">
                <a:solidFill>
                  <a:schemeClr val="tx1"/>
                </a:solidFill>
                <a:latin typeface="+mn-ea"/>
                <a:sym typeface="Symbol" panose="05050102010706020507" pitchFamily="18" charset="2"/>
              </a:rPr>
              <a:t>b a… * b  a…  </a:t>
            </a:r>
            <a:r>
              <a:rPr lang="en-US" altLang="zh-CN" sz="2400" b="1" dirty="0" err="1">
                <a:solidFill>
                  <a:schemeClr val="tx1"/>
                </a:solidFill>
                <a:latin typeface="+mn-ea"/>
                <a:sym typeface="Symbol" panose="05050102010706020507" pitchFamily="18" charset="2"/>
              </a:rPr>
              <a:t>ba</a:t>
            </a:r>
            <a:r>
              <a:rPr lang="en-US" altLang="zh-CN" sz="2400" b="1" dirty="0">
                <a:solidFill>
                  <a:schemeClr val="tx1"/>
                </a:solidFill>
                <a:latin typeface="+mn-ea"/>
                <a:sym typeface="Symbol" panose="05050102010706020507" pitchFamily="18" charset="2"/>
              </a:rPr>
              <a:t>…</a:t>
            </a:r>
            <a:endParaRPr lang="en-US" altLang="zh-CN" sz="2400" b="1" dirty="0">
              <a:solidFill>
                <a:schemeClr val="tx1"/>
              </a:solidFill>
              <a:latin typeface="+mn-ea"/>
              <a:sym typeface="Symbol" panose="05050102010706020507" pitchFamily="18" charset="2"/>
            </a:endParaRPr>
          </a:p>
        </p:txBody>
      </p:sp>
      <p:sp>
        <p:nvSpPr>
          <p:cNvPr id="16" name="AutoShape 8"/>
          <p:cNvSpPr>
            <a:spLocks noChangeArrowheads="1"/>
          </p:cNvSpPr>
          <p:nvPr/>
        </p:nvSpPr>
        <p:spPr bwMode="auto">
          <a:xfrm>
            <a:off x="8984690" y="5985061"/>
            <a:ext cx="720725" cy="215900"/>
          </a:xfrm>
          <a:prstGeom prst="curvedDownArrow">
            <a:avLst>
              <a:gd name="adj1" fmla="val 66765"/>
              <a:gd name="adj2" fmla="val 133529"/>
              <a:gd name="adj3" fmla="val 33319"/>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400" b="1">
              <a:solidFill>
                <a:schemeClr val="tx1"/>
              </a:solidFill>
              <a:latin typeface="+mn-ea"/>
            </a:endParaRPr>
          </a:p>
        </p:txBody>
      </p:sp>
      <p:graphicFrame>
        <p:nvGraphicFramePr>
          <p:cNvPr id="17" name="Group 34"/>
          <p:cNvGraphicFramePr>
            <a:graphicFrameLocks noGrp="1"/>
          </p:cNvGraphicFramePr>
          <p:nvPr/>
        </p:nvGraphicFramePr>
        <p:xfrm>
          <a:off x="2433078" y="2816411"/>
          <a:ext cx="4822825" cy="1022350"/>
        </p:xfrm>
        <a:graphic>
          <a:graphicData uri="http://schemas.openxmlformats.org/drawingml/2006/table">
            <a:tbl>
              <a:tblPr/>
              <a:tblGrid>
                <a:gridCol w="1260475"/>
                <a:gridCol w="1187450"/>
                <a:gridCol w="1187450"/>
                <a:gridCol w="1187450"/>
              </a:tblGrid>
              <a:tr h="5111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11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1" lang="en-US" altLang="zh-CN" sz="2600" b="0" i="0" u="none" strike="noStrike" cap="none" normalizeH="0" baseline="0">
                          <a:ln>
                            <a:noFill/>
                          </a:ln>
                          <a:solidFill>
                            <a:srgbClr val="050507"/>
                          </a:solidFill>
                          <a:effectLst/>
                          <a:latin typeface="Times New Roman" panose="02020603050405020304" pitchFamily="18" charset="0"/>
                          <a:ea typeface="宋体" panose="02010600030101010101" pitchFamily="2" charset="-122"/>
                        </a:rPr>
                        <a:t>A→ </a:t>
                      </a:r>
                      <a:r>
                        <a:rPr kumimoji="1" lang="en-US" altLang="zh-CN" sz="2600" b="0" i="0" u="none" strike="noStrike" cap="none" normalizeH="0" baseline="0">
                          <a:ln>
                            <a:noFill/>
                          </a:ln>
                          <a:solidFill>
                            <a:srgbClr val="050507"/>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2600" b="0" i="0" u="none" strike="noStrike" cap="none" normalizeH="0" baseline="0">
                        <a:ln>
                          <a:noFill/>
                        </a:ln>
                        <a:solidFill>
                          <a:srgbClr val="050507"/>
                        </a:solidFill>
                        <a:effectLst/>
                        <a:latin typeface="Times New Roman" panose="02020603050405020304" pitchFamily="18" charset="0"/>
                        <a:ea typeface="宋体" panose="02010600030101010101" pitchFamily="2"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471805" eaLnBrk="0" hangingPunct="0">
                        <a:defRPr sz="2600">
                          <a:solidFill>
                            <a:schemeClr val="tx1"/>
                          </a:solidFill>
                          <a:latin typeface="Verdana" panose="020B0604030504040204" pitchFamily="34" charset="0"/>
                          <a:ea typeface="宋体" panose="02010600030101010101" pitchFamily="2" charset="-122"/>
                        </a:defRPr>
                      </a:lvl2pPr>
                      <a:lvl3pPr marL="909955" eaLnBrk="0" hangingPunct="0">
                        <a:defRPr sz="2600">
                          <a:solidFill>
                            <a:schemeClr val="tx1"/>
                          </a:solidFill>
                          <a:latin typeface="Verdana" panose="020B0604030504040204" pitchFamily="34" charset="0"/>
                          <a:ea typeface="宋体" panose="02010600030101010101" pitchFamily="2" charset="-122"/>
                        </a:defRPr>
                      </a:lvl3pPr>
                      <a:lvl4pPr marL="1306830" eaLnBrk="0" hangingPunct="0">
                        <a:defRPr sz="2400">
                          <a:solidFill>
                            <a:schemeClr val="tx1"/>
                          </a:solidFill>
                          <a:latin typeface="Verdana" panose="020B0604030504040204" pitchFamily="34" charset="0"/>
                          <a:ea typeface="宋体" panose="02010600030101010101" pitchFamily="2" charset="-122"/>
                        </a:defRPr>
                      </a:lvl4pPr>
                      <a:lvl5pPr marL="169545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1526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out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6"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barn(inHorizontal)">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42"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arn(outHorizont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42"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outHorizontal)">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465455" y="276860"/>
            <a:ext cx="7746365"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9" name="Rectangle 2"/>
          <p:cNvSpPr>
            <a:spLocks noChangeArrowheads="1"/>
          </p:cNvSpPr>
          <p:nvPr/>
        </p:nvSpPr>
        <p:spPr bwMode="auto">
          <a:xfrm>
            <a:off x="465455" y="1251585"/>
            <a:ext cx="11233150" cy="4078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lnSpc>
                <a:spcPct val="120000"/>
              </a:lnSpc>
            </a:pPr>
            <a:r>
              <a:rPr lang="zh-CN" altLang="en-US" sz="2400">
                <a:solidFill>
                  <a:srgbClr val="050507"/>
                </a:solidFill>
                <a:latin typeface="+mn-ea"/>
                <a:ea typeface="+mn-ea"/>
              </a:rPr>
              <a:t>例：考虑简化了的</a:t>
            </a:r>
            <a:r>
              <a:rPr lang="en-US" altLang="zh-CN" sz="2400">
                <a:solidFill>
                  <a:srgbClr val="050507"/>
                </a:solidFill>
                <a:latin typeface="+mn-ea"/>
                <a:ea typeface="+mn-ea"/>
              </a:rPr>
              <a:t>C</a:t>
            </a:r>
            <a:r>
              <a:rPr lang="zh-CN" altLang="en-US" sz="2400">
                <a:solidFill>
                  <a:srgbClr val="050507"/>
                </a:solidFill>
                <a:latin typeface="+mn-ea"/>
                <a:ea typeface="+mn-ea"/>
              </a:rPr>
              <a:t>变量声明的文法：</a:t>
            </a:r>
            <a:endParaRPr lang="zh-CN" altLang="en-US" sz="2400">
              <a:solidFill>
                <a:srgbClr val="050507"/>
              </a:solidFill>
              <a:latin typeface="+mn-ea"/>
              <a:ea typeface="+mn-ea"/>
            </a:endParaRPr>
          </a:p>
          <a:p>
            <a:pPr>
              <a:lnSpc>
                <a:spcPct val="120000"/>
              </a:lnSpc>
            </a:pPr>
            <a:r>
              <a:rPr lang="en-US" altLang="zh-CN" sz="2400" i="1">
                <a:solidFill>
                  <a:srgbClr val="050507"/>
                </a:solidFill>
                <a:latin typeface="+mn-ea"/>
                <a:ea typeface="+mn-ea"/>
              </a:rPr>
              <a:t>declaration</a:t>
            </a:r>
            <a:r>
              <a:rPr lang="en-US" altLang="zh-CN" sz="2400">
                <a:solidFill>
                  <a:srgbClr val="050507"/>
                </a:solidFill>
                <a:latin typeface="+mn-ea"/>
                <a:ea typeface="+mn-ea"/>
              </a:rPr>
              <a:t>→</a:t>
            </a:r>
            <a:r>
              <a:rPr lang="en-US" altLang="zh-CN" sz="2400" i="1">
                <a:solidFill>
                  <a:srgbClr val="050507"/>
                </a:solidFill>
                <a:latin typeface="+mn-ea"/>
                <a:ea typeface="+mn-ea"/>
              </a:rPr>
              <a:t>type var-list</a:t>
            </a:r>
            <a:endParaRPr lang="en-US" altLang="zh-CN" sz="2400" i="1">
              <a:solidFill>
                <a:srgbClr val="050507"/>
              </a:solidFill>
              <a:latin typeface="+mn-ea"/>
              <a:ea typeface="+mn-ea"/>
            </a:endParaRPr>
          </a:p>
          <a:p>
            <a:pPr>
              <a:lnSpc>
                <a:spcPct val="120000"/>
              </a:lnSpc>
            </a:pPr>
            <a:r>
              <a:rPr lang="en-US" altLang="zh-CN" sz="2400" i="1">
                <a:solidFill>
                  <a:srgbClr val="050507"/>
                </a:solidFill>
                <a:latin typeface="+mn-ea"/>
                <a:ea typeface="+mn-ea"/>
              </a:rPr>
              <a:t>type</a:t>
            </a:r>
            <a:r>
              <a:rPr lang="en-US" altLang="zh-CN" sz="2400">
                <a:solidFill>
                  <a:srgbClr val="050507"/>
                </a:solidFill>
                <a:latin typeface="+mn-ea"/>
                <a:ea typeface="+mn-ea"/>
              </a:rPr>
              <a:t>→</a:t>
            </a:r>
            <a:r>
              <a:rPr lang="en-US" altLang="zh-CN" sz="2400">
                <a:solidFill>
                  <a:srgbClr val="D20A30"/>
                </a:solidFill>
                <a:latin typeface="+mn-ea"/>
                <a:ea typeface="+mn-ea"/>
              </a:rPr>
              <a:t>int</a:t>
            </a:r>
            <a:r>
              <a:rPr lang="en-US" altLang="zh-CN" sz="2400">
                <a:solidFill>
                  <a:srgbClr val="050507"/>
                </a:solidFill>
                <a:latin typeface="+mn-ea"/>
                <a:ea typeface="+mn-ea"/>
              </a:rPr>
              <a:t>|</a:t>
            </a:r>
            <a:r>
              <a:rPr lang="en-US" altLang="zh-CN" sz="2400">
                <a:solidFill>
                  <a:srgbClr val="D20A30"/>
                </a:solidFill>
                <a:latin typeface="+mn-ea"/>
                <a:ea typeface="+mn-ea"/>
              </a:rPr>
              <a:t>float</a:t>
            </a:r>
            <a:endParaRPr lang="en-US" altLang="zh-CN" sz="2400">
              <a:solidFill>
                <a:srgbClr val="D20A30"/>
              </a:solidFill>
              <a:latin typeface="+mn-ea"/>
              <a:ea typeface="+mn-ea"/>
            </a:endParaRPr>
          </a:p>
          <a:p>
            <a:pPr>
              <a:lnSpc>
                <a:spcPct val="120000"/>
              </a:lnSpc>
            </a:pPr>
            <a:r>
              <a:rPr lang="en-US" altLang="zh-CN" sz="2400" i="1">
                <a:solidFill>
                  <a:srgbClr val="050507"/>
                </a:solidFill>
                <a:latin typeface="+mn-ea"/>
                <a:ea typeface="+mn-ea"/>
              </a:rPr>
              <a:t>var-list</a:t>
            </a:r>
            <a:r>
              <a:rPr lang="en-US" altLang="zh-CN" sz="2400">
                <a:solidFill>
                  <a:srgbClr val="050507"/>
                </a:solidFill>
                <a:latin typeface="+mn-ea"/>
                <a:ea typeface="+mn-ea"/>
              </a:rPr>
              <a:t>→</a:t>
            </a:r>
            <a:r>
              <a:rPr lang="en-US" altLang="zh-CN" sz="2400">
                <a:solidFill>
                  <a:srgbClr val="D20A30"/>
                </a:solidFill>
                <a:latin typeface="+mn-ea"/>
                <a:ea typeface="+mn-ea"/>
              </a:rPr>
              <a:t>identifier </a:t>
            </a:r>
            <a:r>
              <a:rPr lang="en-US" altLang="zh-CN" sz="2400" i="1">
                <a:solidFill>
                  <a:srgbClr val="050507"/>
                </a:solidFill>
                <a:latin typeface="+mn-ea"/>
                <a:ea typeface="+mn-ea"/>
              </a:rPr>
              <a:t>list</a:t>
            </a:r>
            <a:endParaRPr lang="en-US" altLang="zh-CN" sz="2400" i="1">
              <a:solidFill>
                <a:srgbClr val="050507"/>
              </a:solidFill>
              <a:latin typeface="+mn-ea"/>
              <a:ea typeface="+mn-ea"/>
            </a:endParaRPr>
          </a:p>
          <a:p>
            <a:pPr>
              <a:lnSpc>
                <a:spcPct val="120000"/>
              </a:lnSpc>
            </a:pPr>
            <a:r>
              <a:rPr lang="en-US" altLang="zh-CN" sz="2400" i="1">
                <a:solidFill>
                  <a:srgbClr val="050507"/>
                </a:solidFill>
                <a:latin typeface="+mn-ea"/>
                <a:ea typeface="+mn-ea"/>
              </a:rPr>
              <a:t>list</a:t>
            </a:r>
            <a:r>
              <a:rPr lang="en-US" altLang="zh-CN" sz="2400">
                <a:solidFill>
                  <a:srgbClr val="050507"/>
                </a:solidFill>
                <a:latin typeface="+mn-ea"/>
                <a:ea typeface="+mn-ea"/>
              </a:rPr>
              <a:t> → </a:t>
            </a:r>
            <a:r>
              <a:rPr lang="en-US" altLang="zh-CN" sz="2400">
                <a:solidFill>
                  <a:srgbClr val="D20A30"/>
                </a:solidFill>
                <a:latin typeface="+mn-ea"/>
                <a:ea typeface="+mn-ea"/>
              </a:rPr>
              <a:t>,</a:t>
            </a:r>
            <a:r>
              <a:rPr lang="en-US" altLang="zh-CN" sz="2400" i="1">
                <a:solidFill>
                  <a:srgbClr val="050507"/>
                </a:solidFill>
                <a:latin typeface="+mn-ea"/>
                <a:ea typeface="+mn-ea"/>
              </a:rPr>
              <a:t>var-list</a:t>
            </a:r>
            <a:r>
              <a:rPr lang="en-US" altLang="zh-CN" sz="2400">
                <a:solidFill>
                  <a:srgbClr val="050507"/>
                </a:solidFill>
                <a:latin typeface="+mn-ea"/>
                <a:ea typeface="+mn-ea"/>
              </a:rPr>
              <a:t>|</a:t>
            </a:r>
            <a:r>
              <a:rPr lang="en-US" altLang="zh-CN" sz="2400">
                <a:solidFill>
                  <a:srgbClr val="F72F89"/>
                </a:solidFill>
                <a:latin typeface="+mn-ea"/>
                <a:ea typeface="+mn-ea"/>
              </a:rPr>
              <a:t> </a:t>
            </a:r>
            <a:r>
              <a:rPr lang="en-US" altLang="zh-CN" sz="2400">
                <a:solidFill>
                  <a:srgbClr val="F72F89"/>
                </a:solidFill>
                <a:latin typeface="+mn-ea"/>
                <a:ea typeface="+mn-ea"/>
                <a:sym typeface="Symbol" panose="05050102010706020507" pitchFamily="18" charset="2"/>
              </a:rPr>
              <a:t></a:t>
            </a:r>
            <a:r>
              <a:rPr lang="en-US" altLang="zh-CN" sz="2400">
                <a:solidFill>
                  <a:srgbClr val="050507"/>
                </a:solidFill>
                <a:latin typeface="+mn-ea"/>
                <a:ea typeface="+mn-ea"/>
              </a:rPr>
              <a:t> </a:t>
            </a:r>
            <a:endParaRPr lang="en-US" altLang="zh-CN" sz="2400">
              <a:solidFill>
                <a:srgbClr val="D20A30"/>
              </a:solidFill>
              <a:latin typeface="+mn-ea"/>
              <a:ea typeface="+mn-ea"/>
            </a:endParaRPr>
          </a:p>
          <a:p>
            <a:pPr>
              <a:lnSpc>
                <a:spcPct val="120000"/>
              </a:lnSpc>
              <a:buFontTx/>
              <a:buAutoNum type="alphaLcPeriod"/>
            </a:pPr>
            <a:r>
              <a:rPr lang="zh-CN" altLang="en-US" sz="2400">
                <a:solidFill>
                  <a:srgbClr val="050507"/>
                </a:solidFill>
                <a:latin typeface="+mn-ea"/>
                <a:ea typeface="+mn-ea"/>
              </a:rPr>
              <a:t>求该文法各非终结符的</a:t>
            </a:r>
            <a:r>
              <a:rPr lang="en-US" altLang="zh-CN" sz="2400">
                <a:solidFill>
                  <a:srgbClr val="050507"/>
                </a:solidFill>
                <a:latin typeface="+mn-ea"/>
                <a:ea typeface="+mn-ea"/>
              </a:rPr>
              <a:t>First()</a:t>
            </a:r>
            <a:r>
              <a:rPr lang="zh-CN" altLang="en-US" sz="2400">
                <a:solidFill>
                  <a:srgbClr val="050507"/>
                </a:solidFill>
                <a:latin typeface="+mn-ea"/>
                <a:ea typeface="+mn-ea"/>
              </a:rPr>
              <a:t>集合和</a:t>
            </a:r>
            <a:r>
              <a:rPr lang="en-US" altLang="zh-CN" sz="2400">
                <a:solidFill>
                  <a:srgbClr val="050507"/>
                </a:solidFill>
                <a:latin typeface="+mn-ea"/>
                <a:ea typeface="+mn-ea"/>
              </a:rPr>
              <a:t>Follow()</a:t>
            </a:r>
            <a:r>
              <a:rPr lang="zh-CN" altLang="en-US" sz="2400">
                <a:solidFill>
                  <a:srgbClr val="050507"/>
                </a:solidFill>
                <a:latin typeface="+mn-ea"/>
                <a:ea typeface="+mn-ea"/>
              </a:rPr>
              <a:t>集合。</a:t>
            </a:r>
            <a:endParaRPr lang="zh-CN" altLang="en-US" sz="2400">
              <a:solidFill>
                <a:srgbClr val="050507"/>
              </a:solidFill>
              <a:latin typeface="+mn-ea"/>
              <a:ea typeface="+mn-ea"/>
            </a:endParaRPr>
          </a:p>
          <a:p>
            <a:pPr>
              <a:lnSpc>
                <a:spcPct val="120000"/>
              </a:lnSpc>
              <a:buFontTx/>
              <a:buAutoNum type="alphaLcPeriod"/>
            </a:pPr>
            <a:r>
              <a:rPr lang="zh-CN" altLang="en-US" sz="2400">
                <a:solidFill>
                  <a:srgbClr val="050507"/>
                </a:solidFill>
                <a:latin typeface="+mn-ea"/>
                <a:ea typeface="+mn-ea"/>
              </a:rPr>
              <a:t>构造该文法的</a:t>
            </a:r>
            <a:r>
              <a:rPr lang="en-US" altLang="zh-CN" sz="2400">
                <a:solidFill>
                  <a:srgbClr val="050507"/>
                </a:solidFill>
                <a:latin typeface="+mn-ea"/>
                <a:ea typeface="+mn-ea"/>
              </a:rPr>
              <a:t>LL(1)</a:t>
            </a:r>
            <a:r>
              <a:rPr lang="zh-CN" altLang="en-US" sz="2400">
                <a:solidFill>
                  <a:srgbClr val="050507"/>
                </a:solidFill>
                <a:latin typeface="+mn-ea"/>
                <a:ea typeface="+mn-ea"/>
              </a:rPr>
              <a:t>分析表。</a:t>
            </a:r>
            <a:endParaRPr lang="zh-CN" altLang="en-US" sz="2400">
              <a:solidFill>
                <a:srgbClr val="050507"/>
              </a:solidFill>
              <a:latin typeface="+mn-ea"/>
              <a:ea typeface="+mn-ea"/>
            </a:endParaRPr>
          </a:p>
          <a:p>
            <a:pPr>
              <a:lnSpc>
                <a:spcPct val="120000"/>
              </a:lnSpc>
              <a:buFontTx/>
              <a:buAutoNum type="alphaLcPeriod"/>
            </a:pPr>
            <a:r>
              <a:rPr lang="zh-CN" altLang="en-US" sz="2400">
                <a:solidFill>
                  <a:srgbClr val="050507"/>
                </a:solidFill>
                <a:latin typeface="+mn-ea"/>
                <a:ea typeface="+mn-ea"/>
              </a:rPr>
              <a:t>说明该文法是</a:t>
            </a:r>
            <a:r>
              <a:rPr lang="en-US" altLang="zh-CN" sz="2400">
                <a:solidFill>
                  <a:srgbClr val="050507"/>
                </a:solidFill>
                <a:latin typeface="+mn-ea"/>
                <a:ea typeface="+mn-ea"/>
              </a:rPr>
              <a:t>LL(1)</a:t>
            </a:r>
            <a:r>
              <a:rPr lang="zh-CN" altLang="en-US" sz="2400">
                <a:solidFill>
                  <a:srgbClr val="050507"/>
                </a:solidFill>
                <a:latin typeface="+mn-ea"/>
                <a:ea typeface="+mn-ea"/>
              </a:rPr>
              <a:t>文法。</a:t>
            </a:r>
            <a:endParaRPr lang="zh-CN" altLang="en-US" sz="2400">
              <a:solidFill>
                <a:srgbClr val="050507"/>
              </a:solidFill>
              <a:latin typeface="+mn-ea"/>
              <a:ea typeface="+mn-ea"/>
            </a:endParaRPr>
          </a:p>
          <a:p>
            <a:pPr>
              <a:lnSpc>
                <a:spcPct val="120000"/>
              </a:lnSpc>
              <a:buFontTx/>
              <a:buAutoNum type="alphaLcPeriod"/>
            </a:pPr>
            <a:r>
              <a:rPr lang="zh-CN" altLang="en-US" sz="2400">
                <a:solidFill>
                  <a:srgbClr val="050507"/>
                </a:solidFill>
                <a:latin typeface="+mn-ea"/>
                <a:ea typeface="+mn-ea"/>
              </a:rPr>
              <a:t>假设有输入串  </a:t>
            </a:r>
            <a:r>
              <a:rPr lang="en-US" altLang="zh-CN" sz="2400">
                <a:solidFill>
                  <a:srgbClr val="050507"/>
                </a:solidFill>
                <a:latin typeface="+mn-ea"/>
                <a:ea typeface="+mn-ea"/>
              </a:rPr>
              <a:t>int x,y,z </a:t>
            </a:r>
            <a:r>
              <a:rPr lang="zh-CN" altLang="en-US" sz="2400">
                <a:solidFill>
                  <a:srgbClr val="050507"/>
                </a:solidFill>
                <a:latin typeface="+mn-ea"/>
                <a:ea typeface="+mn-ea"/>
              </a:rPr>
              <a:t>写出相对应的</a:t>
            </a:r>
            <a:r>
              <a:rPr lang="en-US" altLang="zh-CN" sz="2400">
                <a:solidFill>
                  <a:srgbClr val="050507"/>
                </a:solidFill>
                <a:latin typeface="+mn-ea"/>
                <a:ea typeface="+mn-ea"/>
              </a:rPr>
              <a:t>LL(1)</a:t>
            </a:r>
            <a:r>
              <a:rPr lang="zh-CN" altLang="en-US" sz="2400">
                <a:solidFill>
                  <a:srgbClr val="050507"/>
                </a:solidFill>
                <a:latin typeface="+mn-ea"/>
                <a:ea typeface="+mn-ea"/>
              </a:rPr>
              <a:t>分析程序的动作。</a:t>
            </a:r>
            <a:endParaRPr lang="zh-CN" altLang="en-US" sz="2400">
              <a:solidFill>
                <a:srgbClr val="050507"/>
              </a:solidFill>
              <a:latin typeface="+mn-ea"/>
              <a:ea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586740" y="276860"/>
            <a:ext cx="762508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8" name="Rectangle 2"/>
          <p:cNvSpPr>
            <a:spLocks noChangeArrowheads="1"/>
          </p:cNvSpPr>
          <p:nvPr/>
        </p:nvSpPr>
        <p:spPr bwMode="auto">
          <a:xfrm>
            <a:off x="994803" y="1975243"/>
            <a:ext cx="5947241"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75000"/>
              </a:lnSpc>
              <a:spcBef>
                <a:spcPct val="50000"/>
              </a:spcBef>
            </a:pPr>
            <a:r>
              <a:rPr lang="en-US" altLang="zh-CN" sz="2400" b="1" dirty="0">
                <a:solidFill>
                  <a:srgbClr val="050507"/>
                </a:solidFill>
                <a:latin typeface="+mn-ea"/>
              </a:rPr>
              <a:t>r1:  </a:t>
            </a:r>
            <a:r>
              <a:rPr lang="en-US" altLang="zh-CN" sz="2400" b="1" dirty="0" err="1">
                <a:solidFill>
                  <a:srgbClr val="050507"/>
                </a:solidFill>
                <a:latin typeface="+mn-ea"/>
              </a:rPr>
              <a:t>declaration→type</a:t>
            </a:r>
            <a:r>
              <a:rPr lang="en-US" altLang="zh-CN" sz="2400" b="1" dirty="0">
                <a:solidFill>
                  <a:srgbClr val="050507"/>
                </a:solidFill>
                <a:latin typeface="+mn-ea"/>
              </a:rPr>
              <a:t> var-list</a:t>
            </a:r>
            <a:endParaRPr lang="en-US" altLang="zh-CN" sz="2400" b="1" dirty="0">
              <a:solidFill>
                <a:srgbClr val="050507"/>
              </a:solidFill>
              <a:latin typeface="+mn-ea"/>
            </a:endParaRPr>
          </a:p>
          <a:p>
            <a:pPr>
              <a:lnSpc>
                <a:spcPct val="75000"/>
              </a:lnSpc>
              <a:spcBef>
                <a:spcPct val="50000"/>
              </a:spcBef>
            </a:pPr>
            <a:r>
              <a:rPr lang="en-US" altLang="zh-CN" sz="2400" b="1" dirty="0">
                <a:solidFill>
                  <a:srgbClr val="050507"/>
                </a:solidFill>
                <a:latin typeface="+mn-ea"/>
              </a:rPr>
              <a:t>r2:  </a:t>
            </a:r>
            <a:r>
              <a:rPr lang="en-US" altLang="zh-CN" sz="2400" b="1" dirty="0" err="1">
                <a:solidFill>
                  <a:srgbClr val="050507"/>
                </a:solidFill>
                <a:latin typeface="+mn-ea"/>
              </a:rPr>
              <a:t>type→</a:t>
            </a:r>
            <a:r>
              <a:rPr lang="en-US" altLang="zh-CN" sz="2400" b="1" dirty="0" err="1">
                <a:solidFill>
                  <a:srgbClr val="D20A30"/>
                </a:solidFill>
                <a:latin typeface="+mn-ea"/>
              </a:rPr>
              <a:t>int</a:t>
            </a:r>
            <a:endParaRPr lang="en-US" altLang="zh-CN" sz="2400" b="1" dirty="0">
              <a:solidFill>
                <a:srgbClr val="D20A30"/>
              </a:solidFill>
              <a:latin typeface="+mn-ea"/>
            </a:endParaRPr>
          </a:p>
          <a:p>
            <a:pPr>
              <a:lnSpc>
                <a:spcPct val="75000"/>
              </a:lnSpc>
              <a:spcBef>
                <a:spcPct val="50000"/>
              </a:spcBef>
            </a:pPr>
            <a:r>
              <a:rPr lang="en-US" altLang="zh-CN" sz="2400" b="1" dirty="0">
                <a:solidFill>
                  <a:srgbClr val="050507"/>
                </a:solidFill>
                <a:latin typeface="+mn-ea"/>
              </a:rPr>
              <a:t>r3:  type→</a:t>
            </a:r>
            <a:r>
              <a:rPr lang="en-US" altLang="zh-CN" sz="2400" b="1" dirty="0">
                <a:solidFill>
                  <a:srgbClr val="D20A30"/>
                </a:solidFill>
                <a:latin typeface="+mn-ea"/>
              </a:rPr>
              <a:t> float</a:t>
            </a:r>
            <a:endParaRPr lang="en-US" altLang="zh-CN" sz="2400" b="1" dirty="0">
              <a:solidFill>
                <a:srgbClr val="D20A30"/>
              </a:solidFill>
              <a:latin typeface="+mn-ea"/>
            </a:endParaRPr>
          </a:p>
          <a:p>
            <a:pPr>
              <a:lnSpc>
                <a:spcPct val="75000"/>
              </a:lnSpc>
              <a:spcBef>
                <a:spcPct val="50000"/>
              </a:spcBef>
            </a:pPr>
            <a:r>
              <a:rPr lang="en-US" altLang="zh-CN" sz="2400" b="1" dirty="0">
                <a:solidFill>
                  <a:srgbClr val="050507"/>
                </a:solidFill>
                <a:latin typeface="+mn-ea"/>
              </a:rPr>
              <a:t>r4:  </a:t>
            </a:r>
            <a:r>
              <a:rPr lang="en-US" altLang="zh-CN" sz="2400" b="1" dirty="0" err="1">
                <a:solidFill>
                  <a:srgbClr val="050507"/>
                </a:solidFill>
                <a:latin typeface="+mn-ea"/>
              </a:rPr>
              <a:t>var-list→</a:t>
            </a:r>
            <a:r>
              <a:rPr lang="en-US" altLang="zh-CN" sz="2400" b="1" dirty="0" err="1">
                <a:solidFill>
                  <a:srgbClr val="D20A30"/>
                </a:solidFill>
                <a:latin typeface="+mn-ea"/>
              </a:rPr>
              <a:t>identifier</a:t>
            </a:r>
            <a:r>
              <a:rPr lang="en-US" altLang="zh-CN" sz="2400" b="1" dirty="0">
                <a:solidFill>
                  <a:srgbClr val="D20A30"/>
                </a:solidFill>
                <a:latin typeface="+mn-ea"/>
              </a:rPr>
              <a:t> </a:t>
            </a:r>
            <a:r>
              <a:rPr lang="en-US" altLang="zh-CN" sz="2400" b="1" dirty="0">
                <a:solidFill>
                  <a:srgbClr val="050507"/>
                </a:solidFill>
                <a:latin typeface="+mn-ea"/>
              </a:rPr>
              <a:t>list</a:t>
            </a:r>
            <a:endParaRPr lang="en-US" altLang="zh-CN" sz="2400" b="1" dirty="0">
              <a:solidFill>
                <a:srgbClr val="050507"/>
              </a:solidFill>
              <a:latin typeface="+mn-ea"/>
            </a:endParaRPr>
          </a:p>
          <a:p>
            <a:pPr>
              <a:lnSpc>
                <a:spcPct val="75000"/>
              </a:lnSpc>
              <a:spcBef>
                <a:spcPct val="50000"/>
              </a:spcBef>
            </a:pPr>
            <a:r>
              <a:rPr lang="en-US" altLang="zh-CN" sz="2400" b="1" dirty="0">
                <a:solidFill>
                  <a:srgbClr val="050507"/>
                </a:solidFill>
                <a:latin typeface="+mn-ea"/>
              </a:rPr>
              <a:t>r5:  list → </a:t>
            </a:r>
            <a:r>
              <a:rPr lang="en-US" altLang="zh-CN" sz="2400" b="1" dirty="0">
                <a:solidFill>
                  <a:srgbClr val="D20A30"/>
                </a:solidFill>
                <a:latin typeface="+mn-ea"/>
              </a:rPr>
              <a:t>,</a:t>
            </a:r>
            <a:r>
              <a:rPr lang="en-US" altLang="zh-CN" sz="2400" b="1" dirty="0">
                <a:solidFill>
                  <a:srgbClr val="050507"/>
                </a:solidFill>
                <a:latin typeface="+mn-ea"/>
              </a:rPr>
              <a:t>var-list</a:t>
            </a:r>
            <a:endParaRPr lang="en-US" altLang="zh-CN" sz="2400" b="1" dirty="0">
              <a:solidFill>
                <a:srgbClr val="050507"/>
              </a:solidFill>
              <a:latin typeface="+mn-ea"/>
            </a:endParaRPr>
          </a:p>
          <a:p>
            <a:pPr>
              <a:lnSpc>
                <a:spcPct val="75000"/>
              </a:lnSpc>
              <a:spcBef>
                <a:spcPct val="50000"/>
              </a:spcBef>
            </a:pPr>
            <a:r>
              <a:rPr lang="en-US" altLang="zh-CN" sz="2400" b="1" dirty="0">
                <a:solidFill>
                  <a:srgbClr val="050507"/>
                </a:solidFill>
                <a:latin typeface="+mn-ea"/>
              </a:rPr>
              <a:t>r6:  list → </a:t>
            </a:r>
            <a:r>
              <a:rPr lang="en-US" altLang="zh-CN" sz="2400" b="1" dirty="0">
                <a:solidFill>
                  <a:srgbClr val="F72F89"/>
                </a:solidFill>
                <a:latin typeface="+mn-ea"/>
                <a:sym typeface="Symbol" panose="05050102010706020507" pitchFamily="18" charset="2"/>
              </a:rPr>
              <a:t></a:t>
            </a:r>
            <a:r>
              <a:rPr lang="en-US" altLang="zh-CN" sz="2400" b="1" dirty="0">
                <a:solidFill>
                  <a:srgbClr val="050507"/>
                </a:solidFill>
                <a:latin typeface="+mn-ea"/>
              </a:rPr>
              <a:t> </a:t>
            </a:r>
            <a:endParaRPr lang="en-US" altLang="zh-CN" sz="2400" b="1" dirty="0">
              <a:solidFill>
                <a:srgbClr val="050507"/>
              </a:solidFill>
              <a:latin typeface="+mn-ea"/>
            </a:endParaRPr>
          </a:p>
        </p:txBody>
      </p:sp>
      <p:sp>
        <p:nvSpPr>
          <p:cNvPr id="12" name="Rectangle 3"/>
          <p:cNvSpPr>
            <a:spLocks noChangeArrowheads="1"/>
          </p:cNvSpPr>
          <p:nvPr/>
        </p:nvSpPr>
        <p:spPr bwMode="auto">
          <a:xfrm>
            <a:off x="526415" y="1340485"/>
            <a:ext cx="841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50507"/>
                </a:solidFill>
                <a:latin typeface="+mn-ea"/>
              </a:rPr>
              <a:t>对各产生式进行编号：</a:t>
            </a:r>
            <a:endParaRPr lang="zh-CN" altLang="en-US" sz="2400" b="1" dirty="0">
              <a:solidFill>
                <a:srgbClr val="050507"/>
              </a:solidFill>
              <a:latin typeface="+mn-ea"/>
            </a:endParaRPr>
          </a:p>
        </p:txBody>
      </p:sp>
      <p:sp>
        <p:nvSpPr>
          <p:cNvPr id="13" name="Rectangle 4"/>
          <p:cNvSpPr>
            <a:spLocks noChangeArrowheads="1"/>
          </p:cNvSpPr>
          <p:nvPr/>
        </p:nvSpPr>
        <p:spPr bwMode="auto">
          <a:xfrm>
            <a:off x="651903" y="4809770"/>
            <a:ext cx="43573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buFontTx/>
              <a:buAutoNum type="alphaLcPeriod" startAt="2"/>
            </a:pPr>
            <a:r>
              <a:rPr lang="zh-CN" altLang="en-US" sz="2400" dirty="0">
                <a:solidFill>
                  <a:srgbClr val="050507"/>
                </a:solidFill>
                <a:latin typeface="+mn-ea"/>
                <a:ea typeface="+mn-ea"/>
              </a:rPr>
              <a:t>构造该文法的</a:t>
            </a:r>
            <a:r>
              <a:rPr lang="en-US" altLang="zh-CN" sz="2400" dirty="0">
                <a:solidFill>
                  <a:srgbClr val="050507"/>
                </a:solidFill>
                <a:latin typeface="+mn-ea"/>
                <a:ea typeface="+mn-ea"/>
              </a:rPr>
              <a:t>LL(1)</a:t>
            </a:r>
            <a:r>
              <a:rPr lang="zh-CN" altLang="en-US" sz="2400" dirty="0">
                <a:solidFill>
                  <a:srgbClr val="050507"/>
                </a:solidFill>
                <a:latin typeface="+mn-ea"/>
                <a:ea typeface="+mn-ea"/>
              </a:rPr>
              <a:t>分析表。</a:t>
            </a:r>
            <a:endParaRPr lang="zh-CN" altLang="en-US" sz="2400" dirty="0">
              <a:solidFill>
                <a:srgbClr val="050507"/>
              </a:solidFill>
              <a:latin typeface="+mn-ea"/>
              <a:ea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7" name="Rectangle 2"/>
          <p:cNvSpPr>
            <a:spLocks noChangeArrowheads="1"/>
          </p:cNvSpPr>
          <p:nvPr>
            <p:custDataLst>
              <p:tags r:id="rId1"/>
            </p:custDataLst>
          </p:nvPr>
        </p:nvSpPr>
        <p:spPr bwMode="auto">
          <a:xfrm>
            <a:off x="5715298" y="1504950"/>
            <a:ext cx="6324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50507"/>
                </a:solidFill>
                <a:latin typeface="+mn-ea"/>
              </a:rPr>
              <a:t>First(</a:t>
            </a:r>
            <a:r>
              <a:rPr lang="en-US" altLang="zh-CN" sz="2400" b="1" i="1">
                <a:solidFill>
                  <a:srgbClr val="050507"/>
                </a:solidFill>
                <a:latin typeface="+mn-ea"/>
              </a:rPr>
              <a:t>declaration</a:t>
            </a:r>
            <a:r>
              <a:rPr lang="en-US" altLang="zh-CN" sz="2400" b="1">
                <a:solidFill>
                  <a:srgbClr val="050507"/>
                </a:solidFill>
                <a:latin typeface="+mn-ea"/>
              </a:rPr>
              <a:t>)={int,float}</a:t>
            </a:r>
            <a:endParaRPr lang="zh-CN" altLang="en-US" sz="2400" b="1">
              <a:solidFill>
                <a:srgbClr val="050507"/>
              </a:solidFill>
              <a:latin typeface="+mn-ea"/>
            </a:endParaRPr>
          </a:p>
        </p:txBody>
      </p:sp>
      <p:sp>
        <p:nvSpPr>
          <p:cNvPr id="3" name="Rectangle 3"/>
          <p:cNvSpPr>
            <a:spLocks noChangeArrowheads="1"/>
          </p:cNvSpPr>
          <p:nvPr>
            <p:custDataLst>
              <p:tags r:id="rId2"/>
            </p:custDataLst>
          </p:nvPr>
        </p:nvSpPr>
        <p:spPr bwMode="auto">
          <a:xfrm>
            <a:off x="5755303" y="2022475"/>
            <a:ext cx="6477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50507"/>
                </a:solidFill>
                <a:latin typeface="+mn-ea"/>
              </a:rPr>
              <a:t>First(</a:t>
            </a:r>
            <a:r>
              <a:rPr lang="en-US" altLang="zh-CN" sz="2400" b="1" i="1">
                <a:solidFill>
                  <a:srgbClr val="050507"/>
                </a:solidFill>
                <a:latin typeface="+mn-ea"/>
              </a:rPr>
              <a:t>type</a:t>
            </a:r>
            <a:r>
              <a:rPr lang="en-US" altLang="zh-CN" sz="2400" b="1">
                <a:solidFill>
                  <a:srgbClr val="050507"/>
                </a:solidFill>
                <a:latin typeface="+mn-ea"/>
              </a:rPr>
              <a:t>) ={int,float}</a:t>
            </a:r>
            <a:endParaRPr lang="zh-CN" altLang="en-US" sz="2400" b="1">
              <a:solidFill>
                <a:srgbClr val="050507"/>
              </a:solidFill>
              <a:latin typeface="+mn-ea"/>
            </a:endParaRPr>
          </a:p>
        </p:txBody>
      </p:sp>
      <p:sp>
        <p:nvSpPr>
          <p:cNvPr id="5" name="Rectangle 4"/>
          <p:cNvSpPr>
            <a:spLocks noChangeArrowheads="1"/>
          </p:cNvSpPr>
          <p:nvPr>
            <p:custDataLst>
              <p:tags r:id="rId3"/>
            </p:custDataLst>
          </p:nvPr>
        </p:nvSpPr>
        <p:spPr bwMode="auto">
          <a:xfrm>
            <a:off x="5715298" y="2540000"/>
            <a:ext cx="44851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50507"/>
                </a:solidFill>
                <a:latin typeface="+mn-ea"/>
              </a:rPr>
              <a:t>First(</a:t>
            </a:r>
            <a:r>
              <a:rPr lang="en-US" altLang="zh-CN" sz="2400" b="1" i="1">
                <a:solidFill>
                  <a:srgbClr val="050507"/>
                </a:solidFill>
                <a:latin typeface="+mn-ea"/>
              </a:rPr>
              <a:t>var-list</a:t>
            </a:r>
            <a:r>
              <a:rPr lang="en-US" altLang="zh-CN" sz="2400" b="1">
                <a:solidFill>
                  <a:srgbClr val="050507"/>
                </a:solidFill>
                <a:latin typeface="+mn-ea"/>
              </a:rPr>
              <a:t>) ={identifier}</a:t>
            </a:r>
            <a:endParaRPr lang="zh-CN" altLang="en-US" sz="2400" b="1">
              <a:solidFill>
                <a:srgbClr val="050507"/>
              </a:solidFill>
              <a:latin typeface="+mn-ea"/>
            </a:endParaRPr>
          </a:p>
        </p:txBody>
      </p:sp>
      <p:sp>
        <p:nvSpPr>
          <p:cNvPr id="6" name="Rectangle 5"/>
          <p:cNvSpPr>
            <a:spLocks noChangeArrowheads="1"/>
          </p:cNvSpPr>
          <p:nvPr>
            <p:custDataLst>
              <p:tags r:id="rId4"/>
            </p:custDataLst>
          </p:nvPr>
        </p:nvSpPr>
        <p:spPr bwMode="auto">
          <a:xfrm>
            <a:off x="5715298" y="3057525"/>
            <a:ext cx="670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dirty="0">
                <a:solidFill>
                  <a:srgbClr val="050507"/>
                </a:solidFill>
                <a:latin typeface="+mn-ea"/>
              </a:rPr>
              <a:t>First(</a:t>
            </a:r>
            <a:r>
              <a:rPr lang="en-US" altLang="zh-CN" sz="2400" b="1" i="1" dirty="0">
                <a:solidFill>
                  <a:srgbClr val="050507"/>
                </a:solidFill>
                <a:latin typeface="+mn-ea"/>
              </a:rPr>
              <a:t>list</a:t>
            </a:r>
            <a:r>
              <a:rPr lang="en-US" altLang="zh-CN" sz="2400" b="1" dirty="0">
                <a:solidFill>
                  <a:srgbClr val="050507"/>
                </a:solidFill>
                <a:latin typeface="+mn-ea"/>
              </a:rPr>
              <a:t>) ={</a:t>
            </a:r>
            <a:r>
              <a:rPr lang="en-US" altLang="zh-CN" sz="2400" b="1" dirty="0">
                <a:solidFill>
                  <a:srgbClr val="F72F89"/>
                </a:solidFill>
                <a:latin typeface="+mn-ea"/>
              </a:rPr>
              <a:t>,</a:t>
            </a:r>
            <a:r>
              <a:rPr lang="en-US" altLang="zh-CN" sz="2400" b="1" dirty="0">
                <a:solidFill>
                  <a:srgbClr val="050507"/>
                </a:solidFill>
                <a:latin typeface="+mn-ea"/>
              </a:rPr>
              <a:t>, </a:t>
            </a:r>
            <a:r>
              <a:rPr lang="en-US" altLang="zh-CN" sz="2400" b="1" dirty="0">
                <a:solidFill>
                  <a:srgbClr val="F72F89"/>
                </a:solidFill>
                <a:latin typeface="+mn-ea"/>
                <a:sym typeface="Symbol" panose="05050102010706020507" pitchFamily="18" charset="2"/>
              </a:rPr>
              <a:t></a:t>
            </a:r>
            <a:r>
              <a:rPr lang="en-US" altLang="zh-CN" sz="2400" b="1" dirty="0">
                <a:solidFill>
                  <a:srgbClr val="050507"/>
                </a:solidFill>
                <a:latin typeface="+mn-ea"/>
              </a:rPr>
              <a:t>}</a:t>
            </a:r>
            <a:endParaRPr lang="zh-CN" altLang="en-US" sz="2400" b="1" dirty="0">
              <a:solidFill>
                <a:srgbClr val="050507"/>
              </a:solidFill>
              <a:latin typeface="+mn-ea"/>
            </a:endParaRPr>
          </a:p>
        </p:txBody>
      </p:sp>
      <p:sp>
        <p:nvSpPr>
          <p:cNvPr id="9" name="Rectangle 2"/>
          <p:cNvSpPr>
            <a:spLocks noChangeArrowheads="1"/>
          </p:cNvSpPr>
          <p:nvPr>
            <p:custDataLst>
              <p:tags r:id="rId5"/>
            </p:custDataLst>
          </p:nvPr>
        </p:nvSpPr>
        <p:spPr bwMode="auto">
          <a:xfrm>
            <a:off x="5714739" y="3800158"/>
            <a:ext cx="6248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50507"/>
                </a:solidFill>
                <a:latin typeface="+mn-ea"/>
              </a:rPr>
              <a:t>Follow(</a:t>
            </a:r>
            <a:r>
              <a:rPr lang="en-US" altLang="zh-CN" sz="2400" b="1" i="1">
                <a:solidFill>
                  <a:srgbClr val="050507"/>
                </a:solidFill>
                <a:latin typeface="+mn-ea"/>
              </a:rPr>
              <a:t>declaration</a:t>
            </a:r>
            <a:r>
              <a:rPr lang="en-US" altLang="zh-CN" sz="2400" b="1">
                <a:solidFill>
                  <a:srgbClr val="050507"/>
                </a:solidFill>
                <a:latin typeface="+mn-ea"/>
              </a:rPr>
              <a:t>)={$}</a:t>
            </a:r>
            <a:endParaRPr lang="zh-CN" altLang="en-US" sz="2400" b="1">
              <a:solidFill>
                <a:srgbClr val="050507"/>
              </a:solidFill>
              <a:latin typeface="+mn-ea"/>
            </a:endParaRPr>
          </a:p>
        </p:txBody>
      </p:sp>
      <p:sp>
        <p:nvSpPr>
          <p:cNvPr id="10" name="Rectangle 3"/>
          <p:cNvSpPr>
            <a:spLocks noChangeArrowheads="1"/>
          </p:cNvSpPr>
          <p:nvPr>
            <p:custDataLst>
              <p:tags r:id="rId6"/>
            </p:custDataLst>
          </p:nvPr>
        </p:nvSpPr>
        <p:spPr bwMode="auto">
          <a:xfrm>
            <a:off x="5754744" y="4260533"/>
            <a:ext cx="513677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50507"/>
                </a:solidFill>
                <a:latin typeface="+mn-ea"/>
              </a:rPr>
              <a:t>Follow(</a:t>
            </a:r>
            <a:r>
              <a:rPr lang="en-US" altLang="zh-CN" sz="2400" b="1" i="1">
                <a:solidFill>
                  <a:srgbClr val="050507"/>
                </a:solidFill>
                <a:latin typeface="+mn-ea"/>
              </a:rPr>
              <a:t>type</a:t>
            </a:r>
            <a:r>
              <a:rPr lang="en-US" altLang="zh-CN" sz="2400" b="1">
                <a:solidFill>
                  <a:srgbClr val="050507"/>
                </a:solidFill>
                <a:latin typeface="+mn-ea"/>
              </a:rPr>
              <a:t>)={identifier}</a:t>
            </a:r>
            <a:endParaRPr lang="zh-CN" altLang="en-US" sz="2400" b="1">
              <a:solidFill>
                <a:srgbClr val="050507"/>
              </a:solidFill>
              <a:latin typeface="+mn-ea"/>
            </a:endParaRPr>
          </a:p>
        </p:txBody>
      </p:sp>
      <p:sp>
        <p:nvSpPr>
          <p:cNvPr id="11" name="Rectangle 4"/>
          <p:cNvSpPr>
            <a:spLocks noChangeArrowheads="1"/>
          </p:cNvSpPr>
          <p:nvPr>
            <p:custDataLst>
              <p:tags r:id="rId7"/>
            </p:custDataLst>
          </p:nvPr>
        </p:nvSpPr>
        <p:spPr bwMode="auto">
          <a:xfrm>
            <a:off x="5794749" y="4809173"/>
            <a:ext cx="483197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50507"/>
                </a:solidFill>
                <a:latin typeface="+mn-ea"/>
              </a:rPr>
              <a:t>Follow(</a:t>
            </a:r>
            <a:r>
              <a:rPr lang="en-US" altLang="zh-CN" sz="2400" b="1" i="1">
                <a:solidFill>
                  <a:srgbClr val="050507"/>
                </a:solidFill>
                <a:latin typeface="+mn-ea"/>
              </a:rPr>
              <a:t>var-list</a:t>
            </a:r>
            <a:r>
              <a:rPr lang="en-US" altLang="zh-CN" sz="2400" b="1">
                <a:solidFill>
                  <a:srgbClr val="050507"/>
                </a:solidFill>
                <a:latin typeface="+mn-ea"/>
              </a:rPr>
              <a:t>)={$}</a:t>
            </a:r>
            <a:endParaRPr lang="zh-CN" altLang="en-US" sz="2400" b="1">
              <a:solidFill>
                <a:srgbClr val="050507"/>
              </a:solidFill>
              <a:latin typeface="+mn-ea"/>
            </a:endParaRPr>
          </a:p>
        </p:txBody>
      </p:sp>
      <p:sp>
        <p:nvSpPr>
          <p:cNvPr id="16" name="Rectangle 5"/>
          <p:cNvSpPr>
            <a:spLocks noChangeArrowheads="1"/>
          </p:cNvSpPr>
          <p:nvPr>
            <p:custDataLst>
              <p:tags r:id="rId8"/>
            </p:custDataLst>
          </p:nvPr>
        </p:nvSpPr>
        <p:spPr bwMode="auto">
          <a:xfrm>
            <a:off x="5834754" y="5324793"/>
            <a:ext cx="6096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50507"/>
                </a:solidFill>
                <a:latin typeface="+mn-ea"/>
              </a:rPr>
              <a:t>Follow(</a:t>
            </a:r>
            <a:r>
              <a:rPr lang="en-US" altLang="zh-CN" sz="2400" b="1" i="1">
                <a:solidFill>
                  <a:srgbClr val="050507"/>
                </a:solidFill>
                <a:latin typeface="+mn-ea"/>
              </a:rPr>
              <a:t>list</a:t>
            </a:r>
            <a:r>
              <a:rPr lang="en-US" altLang="zh-CN" sz="2400" b="1">
                <a:solidFill>
                  <a:srgbClr val="050507"/>
                </a:solidFill>
                <a:latin typeface="+mn-ea"/>
              </a:rPr>
              <a:t>) ={$}</a:t>
            </a:r>
            <a:endParaRPr lang="zh-CN" altLang="en-US" sz="2400" b="1">
              <a:solidFill>
                <a:srgbClr val="050507"/>
              </a:solidFill>
              <a:latin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586740" y="276860"/>
            <a:ext cx="762508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7" name="Line 3"/>
          <p:cNvSpPr>
            <a:spLocks noChangeShapeType="1"/>
          </p:cNvSpPr>
          <p:nvPr/>
        </p:nvSpPr>
        <p:spPr bwMode="auto">
          <a:xfrm>
            <a:off x="1943283" y="2462111"/>
            <a:ext cx="8459788"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9" name="Line 4"/>
          <p:cNvSpPr>
            <a:spLocks noChangeShapeType="1"/>
          </p:cNvSpPr>
          <p:nvPr/>
        </p:nvSpPr>
        <p:spPr bwMode="auto">
          <a:xfrm>
            <a:off x="1943283" y="1928711"/>
            <a:ext cx="8459788"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10" name="Line 5"/>
          <p:cNvSpPr>
            <a:spLocks noChangeShapeType="1"/>
          </p:cNvSpPr>
          <p:nvPr/>
        </p:nvSpPr>
        <p:spPr bwMode="auto">
          <a:xfrm>
            <a:off x="4268971" y="1319111"/>
            <a:ext cx="0" cy="28956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11" name="Rectangle 6"/>
          <p:cNvSpPr>
            <a:spLocks noChangeArrowheads="1"/>
          </p:cNvSpPr>
          <p:nvPr/>
        </p:nvSpPr>
        <p:spPr bwMode="auto">
          <a:xfrm>
            <a:off x="2648133" y="1395311"/>
            <a:ext cx="915988"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b="1">
                <a:solidFill>
                  <a:srgbClr val="050507"/>
                </a:solidFill>
                <a:latin typeface="+mn-ea"/>
              </a:rPr>
              <a:t>M[N,T]</a:t>
            </a:r>
            <a:endParaRPr lang="en-US" altLang="zh-CN" sz="2400" b="1">
              <a:solidFill>
                <a:srgbClr val="050507"/>
              </a:solidFill>
              <a:latin typeface="+mn-ea"/>
            </a:endParaRPr>
          </a:p>
        </p:txBody>
      </p:sp>
      <p:sp useBgFill="1">
        <p:nvSpPr>
          <p:cNvPr id="15" name="Rectangle 7"/>
          <p:cNvSpPr>
            <a:spLocks noChangeArrowheads="1"/>
          </p:cNvSpPr>
          <p:nvPr/>
        </p:nvSpPr>
        <p:spPr bwMode="auto">
          <a:xfrm>
            <a:off x="2436996" y="2004911"/>
            <a:ext cx="133985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b="1" i="1">
                <a:solidFill>
                  <a:srgbClr val="050507"/>
                </a:solidFill>
                <a:latin typeface="+mn-ea"/>
              </a:rPr>
              <a:t>declaration</a:t>
            </a:r>
            <a:endParaRPr lang="en-US" altLang="zh-CN" sz="2400" b="1" i="1">
              <a:solidFill>
                <a:srgbClr val="050507"/>
              </a:solidFill>
              <a:latin typeface="+mn-ea"/>
            </a:endParaRPr>
          </a:p>
        </p:txBody>
      </p:sp>
      <p:sp useBgFill="1">
        <p:nvSpPr>
          <p:cNvPr id="16" name="Rectangle 8"/>
          <p:cNvSpPr>
            <a:spLocks noChangeArrowheads="1"/>
          </p:cNvSpPr>
          <p:nvPr/>
        </p:nvSpPr>
        <p:spPr bwMode="auto">
          <a:xfrm>
            <a:off x="4340408" y="1395311"/>
            <a:ext cx="563563"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b="1">
                <a:solidFill>
                  <a:srgbClr val="D20A30"/>
                </a:solidFill>
                <a:latin typeface="+mn-ea"/>
              </a:rPr>
              <a:t>int</a:t>
            </a:r>
            <a:endParaRPr lang="en-US" altLang="zh-CN" sz="2400" b="1">
              <a:solidFill>
                <a:srgbClr val="D20A30"/>
              </a:solidFill>
              <a:latin typeface="+mn-ea"/>
            </a:endParaRPr>
          </a:p>
        </p:txBody>
      </p:sp>
      <p:sp useBgFill="1">
        <p:nvSpPr>
          <p:cNvPr id="17" name="Rectangle 9"/>
          <p:cNvSpPr>
            <a:spLocks noChangeArrowheads="1"/>
          </p:cNvSpPr>
          <p:nvPr/>
        </p:nvSpPr>
        <p:spPr bwMode="auto">
          <a:xfrm>
            <a:off x="6737533" y="1547711"/>
            <a:ext cx="1831975" cy="333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b="1">
                <a:solidFill>
                  <a:srgbClr val="F72F89"/>
                </a:solidFill>
                <a:latin typeface="+mn-ea"/>
              </a:rPr>
              <a:t>identifier</a:t>
            </a:r>
            <a:endParaRPr lang="en-US" altLang="zh-CN" sz="2400" b="1">
              <a:solidFill>
                <a:srgbClr val="F72F89"/>
              </a:solidFill>
              <a:latin typeface="+mn-ea"/>
            </a:endParaRPr>
          </a:p>
        </p:txBody>
      </p:sp>
      <p:sp useBgFill="1">
        <p:nvSpPr>
          <p:cNvPr id="18" name="Rectangle 10"/>
          <p:cNvSpPr>
            <a:spLocks noChangeArrowheads="1"/>
          </p:cNvSpPr>
          <p:nvPr/>
        </p:nvSpPr>
        <p:spPr bwMode="auto">
          <a:xfrm>
            <a:off x="9628371" y="1471511"/>
            <a:ext cx="422275"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b="1">
                <a:solidFill>
                  <a:srgbClr val="F72F89"/>
                </a:solidFill>
                <a:latin typeface="+mn-ea"/>
              </a:rPr>
              <a:t>$</a:t>
            </a:r>
            <a:endParaRPr lang="en-US" altLang="zh-CN" sz="2400" b="1">
              <a:solidFill>
                <a:srgbClr val="F72F89"/>
              </a:solidFill>
              <a:latin typeface="+mn-ea"/>
            </a:endParaRPr>
          </a:p>
        </p:txBody>
      </p:sp>
      <p:sp>
        <p:nvSpPr>
          <p:cNvPr id="19" name="Line 11"/>
          <p:cNvSpPr>
            <a:spLocks noChangeShapeType="1"/>
          </p:cNvSpPr>
          <p:nvPr/>
        </p:nvSpPr>
        <p:spPr bwMode="auto">
          <a:xfrm>
            <a:off x="1943283" y="2919311"/>
            <a:ext cx="8459788"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0" name="Line 12"/>
          <p:cNvSpPr>
            <a:spLocks noChangeShapeType="1"/>
          </p:cNvSpPr>
          <p:nvPr/>
        </p:nvSpPr>
        <p:spPr bwMode="auto">
          <a:xfrm>
            <a:off x="1943283" y="3376511"/>
            <a:ext cx="8459788"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1" name="Line 13"/>
          <p:cNvSpPr>
            <a:spLocks noChangeShapeType="1"/>
          </p:cNvSpPr>
          <p:nvPr/>
        </p:nvSpPr>
        <p:spPr bwMode="auto">
          <a:xfrm>
            <a:off x="1943283" y="3833711"/>
            <a:ext cx="8459788"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2" name="Rectangle 14"/>
          <p:cNvSpPr>
            <a:spLocks noChangeArrowheads="1"/>
          </p:cNvSpPr>
          <p:nvPr/>
        </p:nvSpPr>
        <p:spPr bwMode="auto">
          <a:xfrm>
            <a:off x="8710796" y="1346099"/>
            <a:ext cx="3403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 </a:t>
            </a:r>
            <a:r>
              <a:rPr lang="en-US" altLang="zh-CN" sz="2400" b="1">
                <a:solidFill>
                  <a:srgbClr val="F72F89"/>
                </a:solidFill>
                <a:latin typeface="+mn-ea"/>
              </a:rPr>
              <a:t>,</a:t>
            </a:r>
            <a:endParaRPr lang="zh-CN" altLang="en-US" sz="2400" b="1">
              <a:solidFill>
                <a:srgbClr val="F72F89"/>
              </a:solidFill>
              <a:latin typeface="+mn-ea"/>
            </a:endParaRPr>
          </a:p>
        </p:txBody>
      </p:sp>
      <p:sp>
        <p:nvSpPr>
          <p:cNvPr id="23" name="Rectangle 15"/>
          <p:cNvSpPr>
            <a:spLocks noChangeArrowheads="1"/>
          </p:cNvSpPr>
          <p:nvPr/>
        </p:nvSpPr>
        <p:spPr bwMode="auto">
          <a:xfrm>
            <a:off x="2578283" y="2336699"/>
            <a:ext cx="79311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solidFill>
                  <a:srgbClr val="050507"/>
                </a:solidFill>
                <a:latin typeface="+mn-ea"/>
              </a:rPr>
              <a:t>type</a:t>
            </a:r>
            <a:endParaRPr lang="zh-CN" altLang="en-US" sz="2400" b="1" i="1">
              <a:solidFill>
                <a:srgbClr val="050507"/>
              </a:solidFill>
              <a:latin typeface="+mn-ea"/>
            </a:endParaRPr>
          </a:p>
        </p:txBody>
      </p:sp>
      <p:sp>
        <p:nvSpPr>
          <p:cNvPr id="24" name="Rectangle 16"/>
          <p:cNvSpPr>
            <a:spLocks noChangeArrowheads="1"/>
          </p:cNvSpPr>
          <p:nvPr/>
        </p:nvSpPr>
        <p:spPr bwMode="auto">
          <a:xfrm>
            <a:off x="2154421" y="2870099"/>
            <a:ext cx="11626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solidFill>
                  <a:srgbClr val="050507"/>
                </a:solidFill>
                <a:latin typeface="+mn-ea"/>
              </a:rPr>
              <a:t>var-list</a:t>
            </a:r>
            <a:endParaRPr lang="zh-CN" altLang="en-US" sz="2400" b="1" i="1">
              <a:solidFill>
                <a:srgbClr val="050507"/>
              </a:solidFill>
              <a:latin typeface="+mn-ea"/>
            </a:endParaRPr>
          </a:p>
        </p:txBody>
      </p:sp>
      <p:sp>
        <p:nvSpPr>
          <p:cNvPr id="25" name="Rectangle 17"/>
          <p:cNvSpPr>
            <a:spLocks noChangeArrowheads="1"/>
          </p:cNvSpPr>
          <p:nvPr/>
        </p:nvSpPr>
        <p:spPr bwMode="auto">
          <a:xfrm>
            <a:off x="2648133" y="3327299"/>
            <a:ext cx="5829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solidFill>
                  <a:srgbClr val="050507"/>
                </a:solidFill>
                <a:latin typeface="+mn-ea"/>
              </a:rPr>
              <a:t>list</a:t>
            </a:r>
            <a:endParaRPr lang="zh-CN" altLang="en-US" sz="2400" b="1" i="1">
              <a:solidFill>
                <a:srgbClr val="050507"/>
              </a:solidFill>
              <a:latin typeface="+mn-ea"/>
            </a:endParaRPr>
          </a:p>
        </p:txBody>
      </p:sp>
      <p:sp>
        <p:nvSpPr>
          <p:cNvPr id="26" name="Rectangle 18"/>
          <p:cNvSpPr>
            <a:spLocks noChangeArrowheads="1"/>
          </p:cNvSpPr>
          <p:nvPr/>
        </p:nvSpPr>
        <p:spPr bwMode="auto">
          <a:xfrm>
            <a:off x="5256396" y="1422299"/>
            <a:ext cx="81851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D20A30"/>
                </a:solidFill>
                <a:latin typeface="+mn-ea"/>
              </a:rPr>
              <a:t>float</a:t>
            </a:r>
            <a:endParaRPr lang="zh-CN" altLang="en-US" sz="2400" b="1">
              <a:solidFill>
                <a:srgbClr val="D20A30"/>
              </a:solidFill>
              <a:latin typeface="+mn-ea"/>
            </a:endParaRPr>
          </a:p>
        </p:txBody>
      </p:sp>
      <p:sp>
        <p:nvSpPr>
          <p:cNvPr id="27" name="Rectangle 19"/>
          <p:cNvSpPr>
            <a:spLocks noChangeArrowheads="1"/>
          </p:cNvSpPr>
          <p:nvPr/>
        </p:nvSpPr>
        <p:spPr bwMode="auto">
          <a:xfrm>
            <a:off x="4340408" y="1879499"/>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r1</a:t>
            </a:r>
            <a:endParaRPr lang="zh-CN" altLang="en-US" sz="2400" b="1">
              <a:solidFill>
                <a:srgbClr val="050507"/>
              </a:solidFill>
              <a:latin typeface="+mn-ea"/>
            </a:endParaRPr>
          </a:p>
        </p:txBody>
      </p:sp>
      <p:sp>
        <p:nvSpPr>
          <p:cNvPr id="28" name="Rectangle 20"/>
          <p:cNvSpPr>
            <a:spLocks noChangeArrowheads="1"/>
          </p:cNvSpPr>
          <p:nvPr/>
        </p:nvSpPr>
        <p:spPr bwMode="auto">
          <a:xfrm>
            <a:off x="5538971" y="1879499"/>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r1</a:t>
            </a:r>
            <a:endParaRPr lang="zh-CN" altLang="en-US" sz="2400" b="1">
              <a:solidFill>
                <a:srgbClr val="050507"/>
              </a:solidFill>
              <a:latin typeface="+mn-ea"/>
            </a:endParaRPr>
          </a:p>
        </p:txBody>
      </p:sp>
      <p:sp>
        <p:nvSpPr>
          <p:cNvPr id="29" name="Rectangle 21"/>
          <p:cNvSpPr>
            <a:spLocks noChangeArrowheads="1"/>
          </p:cNvSpPr>
          <p:nvPr/>
        </p:nvSpPr>
        <p:spPr bwMode="auto">
          <a:xfrm>
            <a:off x="4340408" y="2412899"/>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r2</a:t>
            </a:r>
            <a:endParaRPr lang="zh-CN" altLang="en-US" sz="2400" b="1">
              <a:solidFill>
                <a:srgbClr val="050507"/>
              </a:solidFill>
              <a:latin typeface="+mn-ea"/>
            </a:endParaRPr>
          </a:p>
        </p:txBody>
      </p:sp>
      <p:sp>
        <p:nvSpPr>
          <p:cNvPr id="30" name="Rectangle 22"/>
          <p:cNvSpPr>
            <a:spLocks noChangeArrowheads="1"/>
          </p:cNvSpPr>
          <p:nvPr/>
        </p:nvSpPr>
        <p:spPr bwMode="auto">
          <a:xfrm>
            <a:off x="5538971" y="2412899"/>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r3</a:t>
            </a:r>
            <a:endParaRPr lang="zh-CN" altLang="en-US" sz="2400" b="1">
              <a:solidFill>
                <a:srgbClr val="050507"/>
              </a:solidFill>
              <a:latin typeface="+mn-ea"/>
            </a:endParaRPr>
          </a:p>
        </p:txBody>
      </p:sp>
      <p:sp>
        <p:nvSpPr>
          <p:cNvPr id="31" name="Rectangle 23"/>
          <p:cNvSpPr>
            <a:spLocks noChangeArrowheads="1"/>
          </p:cNvSpPr>
          <p:nvPr/>
        </p:nvSpPr>
        <p:spPr bwMode="auto">
          <a:xfrm>
            <a:off x="7231246" y="2793899"/>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r4</a:t>
            </a:r>
            <a:endParaRPr lang="zh-CN" altLang="en-US" sz="2400" b="1">
              <a:solidFill>
                <a:srgbClr val="050507"/>
              </a:solidFill>
              <a:latin typeface="+mn-ea"/>
            </a:endParaRPr>
          </a:p>
        </p:txBody>
      </p:sp>
      <p:sp>
        <p:nvSpPr>
          <p:cNvPr id="32" name="Rectangle 24"/>
          <p:cNvSpPr>
            <a:spLocks noChangeArrowheads="1"/>
          </p:cNvSpPr>
          <p:nvPr/>
        </p:nvSpPr>
        <p:spPr bwMode="auto">
          <a:xfrm>
            <a:off x="8640946" y="3300311"/>
            <a:ext cx="7747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rPr>
              <a:t>r5</a:t>
            </a:r>
            <a:endParaRPr lang="zh-CN" altLang="en-US" sz="2400" b="1">
              <a:solidFill>
                <a:srgbClr val="050507"/>
              </a:solidFill>
              <a:latin typeface="+mn-ea"/>
            </a:endParaRPr>
          </a:p>
        </p:txBody>
      </p:sp>
      <p:sp>
        <p:nvSpPr>
          <p:cNvPr id="33" name="Rectangle 26"/>
          <p:cNvSpPr>
            <a:spLocks noChangeArrowheads="1"/>
          </p:cNvSpPr>
          <p:nvPr/>
        </p:nvSpPr>
        <p:spPr bwMode="auto">
          <a:xfrm>
            <a:off x="1576705" y="4390390"/>
            <a:ext cx="972439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buFontTx/>
              <a:buAutoNum type="alphaLcPeriod" startAt="3"/>
            </a:pPr>
            <a:r>
              <a:rPr lang="zh-CN" altLang="en-US" sz="2400" dirty="0">
                <a:solidFill>
                  <a:srgbClr val="050507"/>
                </a:solidFill>
                <a:latin typeface="+mn-ea"/>
                <a:ea typeface="+mn-ea"/>
              </a:rPr>
              <a:t>由于文法</a:t>
            </a:r>
            <a:r>
              <a:rPr lang="en-US" altLang="zh-CN" sz="2400" dirty="0">
                <a:solidFill>
                  <a:srgbClr val="050507"/>
                </a:solidFill>
                <a:latin typeface="+mn-ea"/>
                <a:ea typeface="+mn-ea"/>
              </a:rPr>
              <a:t>G</a:t>
            </a:r>
            <a:r>
              <a:rPr lang="zh-CN" altLang="en-US" sz="2400" dirty="0">
                <a:solidFill>
                  <a:srgbClr val="050507"/>
                </a:solidFill>
                <a:latin typeface="+mn-ea"/>
                <a:ea typeface="+mn-ea"/>
              </a:rPr>
              <a:t>相关的</a:t>
            </a:r>
            <a:r>
              <a:rPr lang="en-US" altLang="zh-CN" sz="2400" dirty="0">
                <a:solidFill>
                  <a:srgbClr val="050507"/>
                </a:solidFill>
                <a:latin typeface="+mn-ea"/>
                <a:ea typeface="+mn-ea"/>
              </a:rPr>
              <a:t>LL(1)</a:t>
            </a:r>
            <a:r>
              <a:rPr lang="zh-CN" altLang="en-US" sz="2400" dirty="0">
                <a:solidFill>
                  <a:srgbClr val="050507"/>
                </a:solidFill>
                <a:latin typeface="+mn-ea"/>
                <a:ea typeface="+mn-ea"/>
              </a:rPr>
              <a:t>分析表的每个项目中至多只有一个产生式，故该文法是</a:t>
            </a:r>
            <a:r>
              <a:rPr lang="en-US" altLang="zh-CN" sz="2400" dirty="0">
                <a:solidFill>
                  <a:srgbClr val="F72F89"/>
                </a:solidFill>
                <a:latin typeface="+mn-ea"/>
                <a:ea typeface="+mn-ea"/>
              </a:rPr>
              <a:t>LL(1)</a:t>
            </a:r>
            <a:r>
              <a:rPr lang="zh-CN" altLang="en-US" sz="2400" dirty="0">
                <a:solidFill>
                  <a:srgbClr val="F72F89"/>
                </a:solidFill>
                <a:latin typeface="+mn-ea"/>
                <a:ea typeface="+mn-ea"/>
              </a:rPr>
              <a:t>文法</a:t>
            </a:r>
            <a:r>
              <a:rPr lang="zh-CN" altLang="en-US" sz="2400" dirty="0">
                <a:solidFill>
                  <a:srgbClr val="050507"/>
                </a:solidFill>
                <a:latin typeface="+mn-ea"/>
                <a:ea typeface="+mn-ea"/>
              </a:rPr>
              <a:t>。</a:t>
            </a:r>
            <a:endParaRPr lang="zh-CN" altLang="en-US" sz="2400" dirty="0">
              <a:solidFill>
                <a:srgbClr val="050507"/>
              </a:solidFill>
              <a:latin typeface="+mn-ea"/>
              <a:ea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arn(inHorizont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arn(inHorizontal)">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arn(inHorizont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arn(inHorizontal)">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barn(inHorizontal)">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barn(inHorizontal)">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barn(inHorizontal)">
                                      <p:cBhvr>
                                        <p:cTn id="3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P spid="32" grpId="0"/>
      <p:bldP spid="3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680720" y="276860"/>
            <a:ext cx="753110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37" name="Rectangle 2"/>
          <p:cNvSpPr>
            <a:spLocks noChangeArrowheads="1"/>
          </p:cNvSpPr>
          <p:nvPr/>
        </p:nvSpPr>
        <p:spPr bwMode="auto">
          <a:xfrm>
            <a:off x="680720" y="1174115"/>
            <a:ext cx="95173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buFontTx/>
              <a:buAutoNum type="alphaLcPeriod" startAt="4"/>
            </a:pPr>
            <a:r>
              <a:rPr lang="zh-CN" altLang="en-US" sz="2400">
                <a:solidFill>
                  <a:srgbClr val="050507"/>
                </a:solidFill>
                <a:latin typeface="+mn-ea"/>
                <a:ea typeface="+mn-ea"/>
              </a:rPr>
              <a:t>输入串  </a:t>
            </a:r>
            <a:r>
              <a:rPr lang="en-US" altLang="zh-CN" sz="2400">
                <a:solidFill>
                  <a:srgbClr val="050507"/>
                </a:solidFill>
                <a:latin typeface="+mn-ea"/>
                <a:ea typeface="+mn-ea"/>
              </a:rPr>
              <a:t>int x </a:t>
            </a:r>
            <a:r>
              <a:rPr lang="zh-CN" altLang="en-US" sz="2400">
                <a:solidFill>
                  <a:srgbClr val="050507"/>
                </a:solidFill>
                <a:latin typeface="+mn-ea"/>
                <a:ea typeface="+mn-ea"/>
              </a:rPr>
              <a:t>相对应的</a:t>
            </a:r>
            <a:r>
              <a:rPr lang="en-US" altLang="zh-CN" sz="2400">
                <a:solidFill>
                  <a:srgbClr val="050507"/>
                </a:solidFill>
                <a:latin typeface="+mn-ea"/>
                <a:ea typeface="+mn-ea"/>
              </a:rPr>
              <a:t>LL(1)</a:t>
            </a:r>
            <a:r>
              <a:rPr lang="zh-CN" altLang="en-US" sz="2400">
                <a:solidFill>
                  <a:srgbClr val="050507"/>
                </a:solidFill>
                <a:latin typeface="+mn-ea"/>
                <a:ea typeface="+mn-ea"/>
              </a:rPr>
              <a:t>分析程序的分析过程如下表所示：</a:t>
            </a:r>
            <a:endParaRPr lang="zh-CN" altLang="en-US" sz="2400">
              <a:solidFill>
                <a:srgbClr val="050507"/>
              </a:solidFill>
              <a:latin typeface="+mn-ea"/>
              <a:ea typeface="+mn-ea"/>
            </a:endParaRPr>
          </a:p>
        </p:txBody>
      </p:sp>
      <p:grpSp>
        <p:nvGrpSpPr>
          <p:cNvPr id="38" name="Group 3"/>
          <p:cNvGrpSpPr/>
          <p:nvPr/>
        </p:nvGrpSpPr>
        <p:grpSpPr bwMode="auto">
          <a:xfrm>
            <a:off x="1533525" y="1634490"/>
            <a:ext cx="8446770" cy="582930"/>
            <a:chOff x="99" y="816"/>
            <a:chExt cx="5085" cy="432"/>
          </a:xfrm>
        </p:grpSpPr>
        <p:sp>
          <p:nvSpPr>
            <p:cNvPr id="39" name="Line 4"/>
            <p:cNvSpPr>
              <a:spLocks noChangeShapeType="1"/>
            </p:cNvSpPr>
            <p:nvPr/>
          </p:nvSpPr>
          <p:spPr bwMode="auto">
            <a:xfrm>
              <a:off x="240" y="816"/>
              <a:ext cx="4896" cy="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40" name="Line 5"/>
            <p:cNvSpPr>
              <a:spLocks noChangeShapeType="1"/>
            </p:cNvSpPr>
            <p:nvPr/>
          </p:nvSpPr>
          <p:spPr bwMode="auto">
            <a:xfrm>
              <a:off x="240" y="1248"/>
              <a:ext cx="4944"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41" name="Rectangle 6"/>
            <p:cNvSpPr>
              <a:spLocks noChangeArrowheads="1"/>
            </p:cNvSpPr>
            <p:nvPr/>
          </p:nvSpPr>
          <p:spPr bwMode="auto">
            <a:xfrm>
              <a:off x="99" y="864"/>
              <a:ext cx="740"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50507"/>
                  </a:solidFill>
                  <a:latin typeface="+mn-ea"/>
                </a:rPr>
                <a:t>步骤</a:t>
              </a:r>
              <a:endParaRPr lang="zh-CN" altLang="en-US" sz="2400" b="1">
                <a:solidFill>
                  <a:srgbClr val="050507"/>
                </a:solidFill>
                <a:latin typeface="+mn-ea"/>
              </a:endParaRPr>
            </a:p>
          </p:txBody>
        </p:sp>
        <p:sp>
          <p:nvSpPr>
            <p:cNvPr id="42" name="Rectangle 7"/>
            <p:cNvSpPr>
              <a:spLocks noChangeArrowheads="1"/>
            </p:cNvSpPr>
            <p:nvPr/>
          </p:nvSpPr>
          <p:spPr bwMode="auto">
            <a:xfrm>
              <a:off x="948" y="861"/>
              <a:ext cx="887"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分析栈</a:t>
              </a:r>
              <a:endParaRPr lang="zh-CN" altLang="en-US" sz="2400" b="1">
                <a:solidFill>
                  <a:srgbClr val="050507"/>
                </a:solidFill>
                <a:latin typeface="+mn-ea"/>
              </a:endParaRPr>
            </a:p>
          </p:txBody>
        </p:sp>
        <p:sp>
          <p:nvSpPr>
            <p:cNvPr id="43" name="Rectangle 8"/>
            <p:cNvSpPr>
              <a:spLocks noChangeArrowheads="1"/>
            </p:cNvSpPr>
            <p:nvPr/>
          </p:nvSpPr>
          <p:spPr bwMode="auto">
            <a:xfrm>
              <a:off x="2850" y="886"/>
              <a:ext cx="477"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50507"/>
                  </a:solidFill>
                  <a:latin typeface="+mn-ea"/>
                </a:rPr>
                <a:t>输入</a:t>
              </a:r>
              <a:endParaRPr lang="zh-CN" altLang="en-US" sz="2400" b="1">
                <a:solidFill>
                  <a:srgbClr val="050507"/>
                </a:solidFill>
                <a:latin typeface="+mn-ea"/>
              </a:endParaRPr>
            </a:p>
          </p:txBody>
        </p:sp>
        <p:sp>
          <p:nvSpPr>
            <p:cNvPr id="44" name="Rectangle 9"/>
            <p:cNvSpPr>
              <a:spLocks noChangeArrowheads="1"/>
            </p:cNvSpPr>
            <p:nvPr/>
          </p:nvSpPr>
          <p:spPr bwMode="auto">
            <a:xfrm>
              <a:off x="4194" y="890"/>
              <a:ext cx="613"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动作</a:t>
              </a:r>
              <a:endParaRPr lang="zh-CN" altLang="en-US" sz="2400" b="1">
                <a:solidFill>
                  <a:srgbClr val="050507"/>
                </a:solidFill>
                <a:latin typeface="+mn-ea"/>
              </a:endParaRPr>
            </a:p>
          </p:txBody>
        </p:sp>
      </p:grpSp>
      <p:grpSp>
        <p:nvGrpSpPr>
          <p:cNvPr id="45" name="Group 10"/>
          <p:cNvGrpSpPr/>
          <p:nvPr/>
        </p:nvGrpSpPr>
        <p:grpSpPr bwMode="auto">
          <a:xfrm>
            <a:off x="1747520" y="2310767"/>
            <a:ext cx="7255182" cy="506738"/>
            <a:chOff x="234" y="1242"/>
            <a:chExt cx="3605" cy="319"/>
          </a:xfrm>
        </p:grpSpPr>
        <p:sp>
          <p:nvSpPr>
            <p:cNvPr id="46" name="Rectangle 11"/>
            <p:cNvSpPr>
              <a:spLocks noChangeArrowheads="1"/>
            </p:cNvSpPr>
            <p:nvPr/>
          </p:nvSpPr>
          <p:spPr bwMode="auto">
            <a:xfrm>
              <a:off x="234" y="1261"/>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50507"/>
                  </a:solidFill>
                  <a:latin typeface="+mn-ea"/>
                </a:rPr>
                <a:t>1</a:t>
              </a:r>
              <a:endParaRPr lang="zh-CN" altLang="en-US" sz="2400" b="1">
                <a:solidFill>
                  <a:srgbClr val="050507"/>
                </a:solidFill>
                <a:latin typeface="+mn-ea"/>
              </a:endParaRPr>
            </a:p>
          </p:txBody>
        </p:sp>
        <p:sp>
          <p:nvSpPr>
            <p:cNvPr id="47" name="Rectangle 12"/>
            <p:cNvSpPr>
              <a:spLocks noChangeArrowheads="1"/>
            </p:cNvSpPr>
            <p:nvPr/>
          </p:nvSpPr>
          <p:spPr bwMode="auto">
            <a:xfrm>
              <a:off x="573" y="1242"/>
              <a:ext cx="196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 </a:t>
              </a:r>
              <a:r>
                <a:rPr lang="en-US" altLang="zh-CN" sz="2400" b="1">
                  <a:solidFill>
                    <a:srgbClr val="050507"/>
                  </a:solidFill>
                  <a:latin typeface="+mn-ea"/>
                </a:rPr>
                <a:t>declaration</a:t>
              </a:r>
              <a:endParaRPr lang="en-US" altLang="zh-CN" sz="2400" b="1">
                <a:solidFill>
                  <a:srgbClr val="050507"/>
                </a:solidFill>
                <a:latin typeface="+mn-ea"/>
              </a:endParaRPr>
            </a:p>
          </p:txBody>
        </p:sp>
        <p:sp>
          <p:nvSpPr>
            <p:cNvPr id="48" name="Rectangle 13"/>
            <p:cNvSpPr>
              <a:spLocks noChangeArrowheads="1"/>
            </p:cNvSpPr>
            <p:nvPr/>
          </p:nvSpPr>
          <p:spPr bwMode="auto">
            <a:xfrm>
              <a:off x="2240" y="1271"/>
              <a:ext cx="60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a:solidFill>
                    <a:srgbClr val="050507"/>
                  </a:solidFill>
                  <a:latin typeface="+mn-ea"/>
                </a:rPr>
                <a:t>int x</a:t>
              </a:r>
              <a:r>
                <a:rPr lang="zh-CN" altLang="en-US" sz="2400" b="1">
                  <a:solidFill>
                    <a:srgbClr val="050507"/>
                  </a:solidFill>
                  <a:latin typeface="+mn-ea"/>
                </a:rPr>
                <a:t>$</a:t>
              </a:r>
              <a:endParaRPr lang="zh-CN" altLang="en-US" sz="2400" b="1">
                <a:solidFill>
                  <a:srgbClr val="050507"/>
                </a:solidFill>
                <a:latin typeface="+mn-ea"/>
              </a:endParaRPr>
            </a:p>
          </p:txBody>
        </p:sp>
        <p:sp>
          <p:nvSpPr>
            <p:cNvPr id="49" name="Rectangle 14"/>
            <p:cNvSpPr>
              <a:spLocks noChangeArrowheads="1"/>
            </p:cNvSpPr>
            <p:nvPr/>
          </p:nvSpPr>
          <p:spPr bwMode="auto">
            <a:xfrm>
              <a:off x="3546" y="1254"/>
              <a:ext cx="29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a:solidFill>
                    <a:srgbClr val="050507"/>
                  </a:solidFill>
                  <a:latin typeface="+mn-ea"/>
                </a:rPr>
                <a:t>r1</a:t>
              </a:r>
              <a:endParaRPr lang="en-US" altLang="zh-CN" sz="2400" b="1">
                <a:solidFill>
                  <a:srgbClr val="050507"/>
                </a:solidFill>
                <a:latin typeface="+mn-ea"/>
              </a:endParaRPr>
            </a:p>
          </p:txBody>
        </p:sp>
      </p:grpSp>
      <p:grpSp>
        <p:nvGrpSpPr>
          <p:cNvPr id="50" name="Group 15"/>
          <p:cNvGrpSpPr/>
          <p:nvPr/>
        </p:nvGrpSpPr>
        <p:grpSpPr bwMode="auto">
          <a:xfrm>
            <a:off x="1778635" y="3730737"/>
            <a:ext cx="7924800" cy="536575"/>
            <a:chOff x="240" y="2400"/>
            <a:chExt cx="4992" cy="338"/>
          </a:xfrm>
        </p:grpSpPr>
        <p:sp>
          <p:nvSpPr>
            <p:cNvPr id="51" name="Rectangle 16"/>
            <p:cNvSpPr>
              <a:spLocks noChangeArrowheads="1"/>
            </p:cNvSpPr>
            <p:nvPr/>
          </p:nvSpPr>
          <p:spPr bwMode="auto">
            <a:xfrm>
              <a:off x="240" y="2448"/>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50507"/>
                  </a:solidFill>
                  <a:latin typeface="+mn-ea"/>
                </a:rPr>
                <a:t>4</a:t>
              </a:r>
              <a:endParaRPr lang="en-US" altLang="zh-CN" sz="2400" b="1">
                <a:solidFill>
                  <a:srgbClr val="050507"/>
                </a:solidFill>
                <a:latin typeface="+mn-ea"/>
              </a:endParaRPr>
            </a:p>
          </p:txBody>
        </p:sp>
        <p:sp>
          <p:nvSpPr>
            <p:cNvPr id="52" name="Rectangle 17"/>
            <p:cNvSpPr>
              <a:spLocks noChangeArrowheads="1"/>
            </p:cNvSpPr>
            <p:nvPr/>
          </p:nvSpPr>
          <p:spPr bwMode="auto">
            <a:xfrm>
              <a:off x="573" y="2448"/>
              <a:ext cx="225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 </a:t>
              </a:r>
              <a:r>
                <a:rPr lang="en-US" altLang="zh-CN" sz="2400" b="1">
                  <a:solidFill>
                    <a:srgbClr val="050507"/>
                  </a:solidFill>
                  <a:latin typeface="+mn-ea"/>
                </a:rPr>
                <a:t>var-list</a:t>
              </a:r>
              <a:endParaRPr lang="zh-CN" altLang="en-US" sz="2400" b="1">
                <a:solidFill>
                  <a:srgbClr val="050507"/>
                </a:solidFill>
                <a:latin typeface="+mn-ea"/>
              </a:endParaRPr>
            </a:p>
          </p:txBody>
        </p:sp>
        <p:sp>
          <p:nvSpPr>
            <p:cNvPr id="53" name="Rectangle 18"/>
            <p:cNvSpPr>
              <a:spLocks noChangeArrowheads="1"/>
            </p:cNvSpPr>
            <p:nvPr/>
          </p:nvSpPr>
          <p:spPr bwMode="auto">
            <a:xfrm>
              <a:off x="2781" y="2405"/>
              <a:ext cx="129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a:solidFill>
                    <a:srgbClr val="050507"/>
                  </a:solidFill>
                  <a:latin typeface="+mn-ea"/>
                </a:rPr>
                <a:t>x</a:t>
              </a:r>
              <a:r>
                <a:rPr lang="zh-CN" altLang="en-US" sz="2400" b="1">
                  <a:solidFill>
                    <a:srgbClr val="050507"/>
                  </a:solidFill>
                  <a:latin typeface="+mn-ea"/>
                </a:rPr>
                <a:t>$</a:t>
              </a:r>
              <a:endParaRPr lang="zh-CN" altLang="en-US" sz="2400" b="1">
                <a:solidFill>
                  <a:srgbClr val="050507"/>
                </a:solidFill>
                <a:latin typeface="+mn-ea"/>
              </a:endParaRPr>
            </a:p>
          </p:txBody>
        </p:sp>
        <p:sp>
          <p:nvSpPr>
            <p:cNvPr id="54" name="Rectangle 19"/>
            <p:cNvSpPr>
              <a:spLocks noChangeArrowheads="1"/>
            </p:cNvSpPr>
            <p:nvPr/>
          </p:nvSpPr>
          <p:spPr bwMode="auto">
            <a:xfrm>
              <a:off x="4368" y="2400"/>
              <a:ext cx="86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rPr>
                <a:t>r4</a:t>
              </a:r>
              <a:endParaRPr lang="en-US" altLang="zh-CN" sz="2400" b="1">
                <a:solidFill>
                  <a:srgbClr val="050507"/>
                </a:solidFill>
                <a:latin typeface="+mn-ea"/>
              </a:endParaRPr>
            </a:p>
          </p:txBody>
        </p:sp>
      </p:grpSp>
      <p:grpSp>
        <p:nvGrpSpPr>
          <p:cNvPr id="55" name="Group 20"/>
          <p:cNvGrpSpPr/>
          <p:nvPr/>
        </p:nvGrpSpPr>
        <p:grpSpPr bwMode="auto">
          <a:xfrm>
            <a:off x="1743710" y="2768283"/>
            <a:ext cx="7209189" cy="509588"/>
            <a:chOff x="240" y="1589"/>
            <a:chExt cx="4319" cy="321"/>
          </a:xfrm>
        </p:grpSpPr>
        <p:sp>
          <p:nvSpPr>
            <p:cNvPr id="56" name="Rectangle 21"/>
            <p:cNvSpPr>
              <a:spLocks noChangeArrowheads="1"/>
            </p:cNvSpPr>
            <p:nvPr/>
          </p:nvSpPr>
          <p:spPr bwMode="auto">
            <a:xfrm>
              <a:off x="240" y="1620"/>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50507"/>
                  </a:solidFill>
                  <a:latin typeface="+mn-ea"/>
                </a:rPr>
                <a:t>2</a:t>
              </a:r>
              <a:endParaRPr lang="zh-CN" altLang="en-US" sz="2400" b="1">
                <a:solidFill>
                  <a:srgbClr val="050507"/>
                </a:solidFill>
                <a:latin typeface="+mn-ea"/>
              </a:endParaRPr>
            </a:p>
          </p:txBody>
        </p:sp>
        <p:sp>
          <p:nvSpPr>
            <p:cNvPr id="57" name="Rectangle 22"/>
            <p:cNvSpPr>
              <a:spLocks noChangeArrowheads="1"/>
            </p:cNvSpPr>
            <p:nvPr/>
          </p:nvSpPr>
          <p:spPr bwMode="auto">
            <a:xfrm>
              <a:off x="576" y="1620"/>
              <a:ext cx="230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 </a:t>
              </a:r>
              <a:r>
                <a:rPr lang="en-US" altLang="zh-CN" sz="2400" b="1">
                  <a:solidFill>
                    <a:srgbClr val="050507"/>
                  </a:solidFill>
                  <a:latin typeface="+mn-ea"/>
                </a:rPr>
                <a:t>var-list</a:t>
              </a:r>
              <a:r>
                <a:rPr lang="zh-CN" altLang="en-US" sz="2400" b="1">
                  <a:solidFill>
                    <a:srgbClr val="050507"/>
                  </a:solidFill>
                  <a:latin typeface="+mn-ea"/>
                </a:rPr>
                <a:t> </a:t>
              </a:r>
              <a:r>
                <a:rPr lang="en-US" altLang="zh-CN" sz="2400" b="1">
                  <a:solidFill>
                    <a:srgbClr val="050507"/>
                  </a:solidFill>
                  <a:latin typeface="+mn-ea"/>
                </a:rPr>
                <a:t>type</a:t>
              </a:r>
              <a:endParaRPr lang="zh-CN" altLang="en-US" sz="2400" b="1">
                <a:solidFill>
                  <a:srgbClr val="050507"/>
                </a:solidFill>
                <a:latin typeface="+mn-ea"/>
              </a:endParaRPr>
            </a:p>
          </p:txBody>
        </p:sp>
        <p:sp>
          <p:nvSpPr>
            <p:cNvPr id="58" name="Rectangle 23"/>
            <p:cNvSpPr>
              <a:spLocks noChangeArrowheads="1"/>
            </p:cNvSpPr>
            <p:nvPr/>
          </p:nvSpPr>
          <p:spPr bwMode="auto">
            <a:xfrm>
              <a:off x="4266" y="1589"/>
              <a:ext cx="29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a:solidFill>
                    <a:srgbClr val="050507"/>
                  </a:solidFill>
                  <a:latin typeface="+mn-ea"/>
                </a:rPr>
                <a:t>r2</a:t>
              </a:r>
              <a:endParaRPr lang="en-US" altLang="zh-CN" sz="2400" b="1">
                <a:solidFill>
                  <a:srgbClr val="050507"/>
                </a:solidFill>
                <a:latin typeface="+mn-ea"/>
              </a:endParaRPr>
            </a:p>
          </p:txBody>
        </p:sp>
        <p:sp>
          <p:nvSpPr>
            <p:cNvPr id="59" name="Rectangle 24"/>
            <p:cNvSpPr>
              <a:spLocks noChangeArrowheads="1"/>
            </p:cNvSpPr>
            <p:nvPr/>
          </p:nvSpPr>
          <p:spPr bwMode="auto">
            <a:xfrm>
              <a:off x="2661" y="1611"/>
              <a:ext cx="60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a:solidFill>
                    <a:srgbClr val="050507"/>
                  </a:solidFill>
                  <a:latin typeface="+mn-ea"/>
                </a:rPr>
                <a:t>int x</a:t>
              </a:r>
              <a:r>
                <a:rPr lang="zh-CN" altLang="en-US" sz="2400" b="1">
                  <a:solidFill>
                    <a:srgbClr val="050507"/>
                  </a:solidFill>
                  <a:latin typeface="+mn-ea"/>
                </a:rPr>
                <a:t>$</a:t>
              </a:r>
              <a:endParaRPr lang="zh-CN" altLang="en-US" sz="2400" b="1">
                <a:solidFill>
                  <a:srgbClr val="050507"/>
                </a:solidFill>
                <a:latin typeface="+mn-ea"/>
              </a:endParaRPr>
            </a:p>
          </p:txBody>
        </p:sp>
      </p:grpSp>
      <p:grpSp>
        <p:nvGrpSpPr>
          <p:cNvPr id="60" name="Group 25"/>
          <p:cNvGrpSpPr/>
          <p:nvPr/>
        </p:nvGrpSpPr>
        <p:grpSpPr bwMode="auto">
          <a:xfrm>
            <a:off x="1778635" y="3221468"/>
            <a:ext cx="8229600" cy="517525"/>
            <a:chOff x="240" y="1980"/>
            <a:chExt cx="5184" cy="326"/>
          </a:xfrm>
        </p:grpSpPr>
        <p:sp>
          <p:nvSpPr>
            <p:cNvPr id="61" name="Rectangle 26"/>
            <p:cNvSpPr>
              <a:spLocks noChangeArrowheads="1"/>
            </p:cNvSpPr>
            <p:nvPr/>
          </p:nvSpPr>
          <p:spPr bwMode="auto">
            <a:xfrm>
              <a:off x="240" y="2016"/>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50507"/>
                  </a:solidFill>
                  <a:latin typeface="+mn-ea"/>
                </a:rPr>
                <a:t>3</a:t>
              </a:r>
              <a:endParaRPr lang="en-US" altLang="zh-CN" sz="2400" b="1">
                <a:solidFill>
                  <a:srgbClr val="050507"/>
                </a:solidFill>
                <a:latin typeface="+mn-ea"/>
              </a:endParaRPr>
            </a:p>
          </p:txBody>
        </p:sp>
        <p:sp>
          <p:nvSpPr>
            <p:cNvPr id="62" name="Rectangle 27"/>
            <p:cNvSpPr>
              <a:spLocks noChangeArrowheads="1"/>
            </p:cNvSpPr>
            <p:nvPr/>
          </p:nvSpPr>
          <p:spPr bwMode="auto">
            <a:xfrm>
              <a:off x="2733" y="1991"/>
              <a:ext cx="60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int x</a:t>
              </a:r>
              <a:r>
                <a:rPr lang="zh-CN" altLang="en-US" sz="2400" b="1">
                  <a:solidFill>
                    <a:srgbClr val="050507"/>
                  </a:solidFill>
                  <a:latin typeface="+mn-ea"/>
                </a:rPr>
                <a:t>$</a:t>
              </a:r>
              <a:endParaRPr lang="zh-CN" altLang="en-US" sz="2400" b="1">
                <a:solidFill>
                  <a:srgbClr val="050507"/>
                </a:solidFill>
                <a:latin typeface="+mn-ea"/>
              </a:endParaRPr>
            </a:p>
          </p:txBody>
        </p:sp>
        <p:sp>
          <p:nvSpPr>
            <p:cNvPr id="63" name="Rectangle 28"/>
            <p:cNvSpPr>
              <a:spLocks noChangeArrowheads="1"/>
            </p:cNvSpPr>
            <p:nvPr/>
          </p:nvSpPr>
          <p:spPr bwMode="auto">
            <a:xfrm>
              <a:off x="4296" y="1980"/>
              <a:ext cx="112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匹配</a:t>
              </a:r>
              <a:endParaRPr lang="zh-CN" altLang="en-US" sz="2400" b="1">
                <a:solidFill>
                  <a:srgbClr val="050507"/>
                </a:solidFill>
                <a:latin typeface="+mn-ea"/>
              </a:endParaRPr>
            </a:p>
          </p:txBody>
        </p:sp>
        <p:sp>
          <p:nvSpPr>
            <p:cNvPr id="64" name="Rectangle 29"/>
            <p:cNvSpPr>
              <a:spLocks noChangeArrowheads="1"/>
            </p:cNvSpPr>
            <p:nvPr/>
          </p:nvSpPr>
          <p:spPr bwMode="auto">
            <a:xfrm>
              <a:off x="576" y="2016"/>
              <a:ext cx="21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 </a:t>
              </a:r>
              <a:r>
                <a:rPr lang="en-US" altLang="zh-CN" sz="2400" b="1">
                  <a:solidFill>
                    <a:srgbClr val="050507"/>
                  </a:solidFill>
                  <a:latin typeface="+mn-ea"/>
                </a:rPr>
                <a:t>var-list</a:t>
              </a:r>
              <a:r>
                <a:rPr lang="zh-CN" altLang="en-US" sz="2400" b="1">
                  <a:solidFill>
                    <a:srgbClr val="050507"/>
                  </a:solidFill>
                  <a:latin typeface="+mn-ea"/>
                </a:rPr>
                <a:t> </a:t>
              </a:r>
              <a:r>
                <a:rPr lang="en-US" altLang="zh-CN" sz="2400" b="1">
                  <a:solidFill>
                    <a:srgbClr val="050507"/>
                  </a:solidFill>
                  <a:latin typeface="+mn-ea"/>
                </a:rPr>
                <a:t>int</a:t>
              </a:r>
              <a:endParaRPr lang="zh-CN" altLang="en-US" sz="2400" b="1">
                <a:solidFill>
                  <a:srgbClr val="050507"/>
                </a:solidFill>
                <a:latin typeface="+mn-ea"/>
              </a:endParaRPr>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85" name="Group 2"/>
          <p:cNvGrpSpPr/>
          <p:nvPr/>
        </p:nvGrpSpPr>
        <p:grpSpPr bwMode="auto">
          <a:xfrm>
            <a:off x="1743833" y="4342822"/>
            <a:ext cx="8150225" cy="525463"/>
            <a:chOff x="243" y="735"/>
            <a:chExt cx="5134" cy="331"/>
          </a:xfrm>
        </p:grpSpPr>
        <p:sp>
          <p:nvSpPr>
            <p:cNvPr id="86" name="Rectangle 3"/>
            <p:cNvSpPr>
              <a:spLocks noChangeArrowheads="1"/>
            </p:cNvSpPr>
            <p:nvPr>
              <p:custDataLst>
                <p:tags r:id="rId1"/>
              </p:custDataLst>
            </p:nvPr>
          </p:nvSpPr>
          <p:spPr bwMode="auto">
            <a:xfrm>
              <a:off x="243" y="776"/>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400" b="1" dirty="0">
                  <a:solidFill>
                    <a:srgbClr val="050507"/>
                  </a:solidFill>
                  <a:latin typeface="+mn-ea"/>
                </a:rPr>
                <a:t>5</a:t>
              </a:r>
              <a:endParaRPr lang="en-US" altLang="zh-CN" sz="2400" b="1" dirty="0">
                <a:solidFill>
                  <a:srgbClr val="050507"/>
                </a:solidFill>
                <a:latin typeface="+mn-ea"/>
              </a:endParaRPr>
            </a:p>
          </p:txBody>
        </p:sp>
        <p:sp>
          <p:nvSpPr>
            <p:cNvPr id="87" name="Rectangle 4"/>
            <p:cNvSpPr>
              <a:spLocks noChangeArrowheads="1"/>
            </p:cNvSpPr>
            <p:nvPr>
              <p:custDataLst>
                <p:tags r:id="rId2"/>
              </p:custDataLst>
            </p:nvPr>
          </p:nvSpPr>
          <p:spPr bwMode="auto">
            <a:xfrm>
              <a:off x="684" y="776"/>
              <a:ext cx="267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dirty="0">
                  <a:solidFill>
                    <a:srgbClr val="050507"/>
                  </a:solidFill>
                  <a:latin typeface="+mn-ea"/>
                </a:rPr>
                <a:t>$ </a:t>
              </a:r>
              <a:r>
                <a:rPr lang="en-US" altLang="zh-CN" sz="2400" b="1" dirty="0">
                  <a:solidFill>
                    <a:srgbClr val="050507"/>
                  </a:solidFill>
                  <a:latin typeface="+mn-ea"/>
                </a:rPr>
                <a:t>list</a:t>
              </a:r>
              <a:r>
                <a:rPr lang="zh-CN" altLang="en-US" sz="2400" b="1" dirty="0">
                  <a:solidFill>
                    <a:srgbClr val="050507"/>
                  </a:solidFill>
                  <a:latin typeface="+mn-ea"/>
                </a:rPr>
                <a:t> </a:t>
              </a:r>
              <a:r>
                <a:rPr lang="en-US" altLang="zh-CN" sz="2400" b="1" dirty="0">
                  <a:solidFill>
                    <a:srgbClr val="050507"/>
                  </a:solidFill>
                  <a:latin typeface="+mn-ea"/>
                </a:rPr>
                <a:t>identifier</a:t>
              </a:r>
              <a:endParaRPr lang="zh-CN" altLang="en-US" sz="2400" b="1" dirty="0">
                <a:solidFill>
                  <a:srgbClr val="050507"/>
                </a:solidFill>
                <a:latin typeface="+mn-ea"/>
              </a:endParaRPr>
            </a:p>
          </p:txBody>
        </p:sp>
        <p:sp>
          <p:nvSpPr>
            <p:cNvPr id="88" name="Rectangle 5"/>
            <p:cNvSpPr>
              <a:spLocks noChangeArrowheads="1"/>
            </p:cNvSpPr>
            <p:nvPr>
              <p:custDataLst>
                <p:tags r:id="rId3"/>
              </p:custDataLst>
            </p:nvPr>
          </p:nvSpPr>
          <p:spPr bwMode="auto">
            <a:xfrm>
              <a:off x="2806" y="741"/>
              <a:ext cx="61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dirty="0">
                  <a:solidFill>
                    <a:srgbClr val="050507"/>
                  </a:solidFill>
                  <a:latin typeface="+mn-ea"/>
                </a:rPr>
                <a:t>x</a:t>
              </a:r>
              <a:r>
                <a:rPr lang="zh-CN" altLang="en-US" sz="2400" b="1" dirty="0">
                  <a:solidFill>
                    <a:srgbClr val="050507"/>
                  </a:solidFill>
                  <a:latin typeface="+mn-ea"/>
                </a:rPr>
                <a:t>$</a:t>
              </a:r>
              <a:endParaRPr lang="zh-CN" altLang="en-US" sz="2400" b="1" dirty="0">
                <a:solidFill>
                  <a:srgbClr val="050507"/>
                </a:solidFill>
                <a:latin typeface="+mn-ea"/>
              </a:endParaRPr>
            </a:p>
          </p:txBody>
        </p:sp>
        <p:sp>
          <p:nvSpPr>
            <p:cNvPr id="89" name="Rectangle 6"/>
            <p:cNvSpPr>
              <a:spLocks noChangeArrowheads="1"/>
            </p:cNvSpPr>
            <p:nvPr>
              <p:custDataLst>
                <p:tags r:id="rId4"/>
              </p:custDataLst>
            </p:nvPr>
          </p:nvSpPr>
          <p:spPr bwMode="auto">
            <a:xfrm>
              <a:off x="4405" y="735"/>
              <a:ext cx="97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dirty="0">
                  <a:solidFill>
                    <a:srgbClr val="050507"/>
                  </a:solidFill>
                  <a:latin typeface="+mn-ea"/>
                </a:rPr>
                <a:t>匹配</a:t>
              </a:r>
              <a:endParaRPr lang="zh-CN" altLang="en-US" sz="2400" b="1" dirty="0">
                <a:solidFill>
                  <a:srgbClr val="050507"/>
                </a:solidFill>
                <a:latin typeface="+mn-ea"/>
              </a:endParaRPr>
            </a:p>
          </p:txBody>
        </p:sp>
      </p:grpSp>
      <p:grpSp>
        <p:nvGrpSpPr>
          <p:cNvPr id="3" name="组合 2"/>
          <p:cNvGrpSpPr/>
          <p:nvPr/>
        </p:nvGrpSpPr>
        <p:grpSpPr>
          <a:xfrm>
            <a:off x="1743835" y="4897567"/>
            <a:ext cx="7404972" cy="464820"/>
            <a:chOff x="764665" y="3124012"/>
            <a:chExt cx="7404972" cy="464820"/>
          </a:xfrm>
        </p:grpSpPr>
        <p:sp>
          <p:nvSpPr>
            <p:cNvPr id="91" name="Rectangle 8"/>
            <p:cNvSpPr>
              <a:spLocks noChangeArrowheads="1"/>
            </p:cNvSpPr>
            <p:nvPr>
              <p:custDataLst>
                <p:tags r:id="rId5"/>
              </p:custDataLst>
            </p:nvPr>
          </p:nvSpPr>
          <p:spPr bwMode="auto">
            <a:xfrm flipH="1">
              <a:off x="764665" y="3128457"/>
              <a:ext cx="35559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50507"/>
                  </a:solidFill>
                  <a:latin typeface="+mn-ea"/>
                </a:rPr>
                <a:t>6</a:t>
              </a:r>
              <a:endParaRPr lang="zh-CN" altLang="en-US" sz="2400" b="1" dirty="0">
                <a:solidFill>
                  <a:srgbClr val="050507"/>
                </a:solidFill>
                <a:latin typeface="+mn-ea"/>
              </a:endParaRPr>
            </a:p>
          </p:txBody>
        </p:sp>
        <p:sp>
          <p:nvSpPr>
            <p:cNvPr id="92" name="Rectangle 9"/>
            <p:cNvSpPr>
              <a:spLocks noChangeArrowheads="1"/>
            </p:cNvSpPr>
            <p:nvPr>
              <p:custDataLst>
                <p:tags r:id="rId6"/>
              </p:custDataLst>
            </p:nvPr>
          </p:nvSpPr>
          <p:spPr bwMode="auto">
            <a:xfrm>
              <a:off x="1464750" y="3128457"/>
              <a:ext cx="88236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50507"/>
                  </a:solidFill>
                  <a:latin typeface="+mn-ea"/>
                </a:rPr>
                <a:t>$ </a:t>
              </a:r>
              <a:r>
                <a:rPr lang="en-US" altLang="zh-CN" sz="2400" b="1" dirty="0">
                  <a:solidFill>
                    <a:srgbClr val="050507"/>
                  </a:solidFill>
                  <a:latin typeface="+mn-ea"/>
                </a:rPr>
                <a:t>list</a:t>
              </a:r>
              <a:endParaRPr lang="zh-CN" altLang="en-US" sz="2400" b="1" dirty="0">
                <a:solidFill>
                  <a:srgbClr val="050507"/>
                </a:solidFill>
                <a:latin typeface="+mn-ea"/>
              </a:endParaRPr>
            </a:p>
          </p:txBody>
        </p:sp>
        <p:sp>
          <p:nvSpPr>
            <p:cNvPr id="93" name="Rectangle 10"/>
            <p:cNvSpPr>
              <a:spLocks noChangeArrowheads="1"/>
            </p:cNvSpPr>
            <p:nvPr>
              <p:custDataLst>
                <p:tags r:id="rId7"/>
              </p:custDataLst>
            </p:nvPr>
          </p:nvSpPr>
          <p:spPr bwMode="auto">
            <a:xfrm>
              <a:off x="4833745" y="3124012"/>
              <a:ext cx="78930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50507"/>
                  </a:solidFill>
                  <a:latin typeface="+mn-ea"/>
                </a:rPr>
                <a:t>$</a:t>
              </a:r>
              <a:endParaRPr lang="zh-CN" altLang="en-US" sz="2400" b="1" dirty="0">
                <a:solidFill>
                  <a:srgbClr val="050507"/>
                </a:solidFill>
                <a:latin typeface="+mn-ea"/>
              </a:endParaRPr>
            </a:p>
          </p:txBody>
        </p:sp>
        <p:sp>
          <p:nvSpPr>
            <p:cNvPr id="94" name="Rectangle 11"/>
            <p:cNvSpPr>
              <a:spLocks noChangeArrowheads="1"/>
            </p:cNvSpPr>
            <p:nvPr>
              <p:custDataLst>
                <p:tags r:id="rId8"/>
              </p:custDataLst>
            </p:nvPr>
          </p:nvSpPr>
          <p:spPr bwMode="auto">
            <a:xfrm>
              <a:off x="7449811" y="3128457"/>
              <a:ext cx="71982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50507"/>
                  </a:solidFill>
                  <a:latin typeface="+mn-ea"/>
                </a:rPr>
                <a:t>?</a:t>
              </a:r>
              <a:endParaRPr lang="en-US" altLang="zh-CN" sz="2400" b="1">
                <a:solidFill>
                  <a:srgbClr val="050507"/>
                </a:solidFill>
                <a:latin typeface="+mn-ea"/>
              </a:endParaRPr>
            </a:p>
          </p:txBody>
        </p:sp>
      </p:grpSp>
      <p:grpSp>
        <p:nvGrpSpPr>
          <p:cNvPr id="102" name="Group 33"/>
          <p:cNvGrpSpPr/>
          <p:nvPr/>
        </p:nvGrpSpPr>
        <p:grpSpPr bwMode="auto">
          <a:xfrm>
            <a:off x="1644015" y="5408930"/>
            <a:ext cx="7826375" cy="460763"/>
            <a:chOff x="288" y="3024"/>
            <a:chExt cx="4930" cy="444"/>
          </a:xfrm>
        </p:grpSpPr>
        <p:sp>
          <p:nvSpPr>
            <p:cNvPr id="103" name="Line 34"/>
            <p:cNvSpPr>
              <a:spLocks noChangeShapeType="1"/>
            </p:cNvSpPr>
            <p:nvPr>
              <p:custDataLst>
                <p:tags r:id="rId9"/>
              </p:custDataLst>
            </p:nvPr>
          </p:nvSpPr>
          <p:spPr bwMode="auto">
            <a:xfrm>
              <a:off x="288" y="3456"/>
              <a:ext cx="4896" cy="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104" name="Rectangle 35"/>
            <p:cNvSpPr>
              <a:spLocks noChangeArrowheads="1"/>
            </p:cNvSpPr>
            <p:nvPr>
              <p:custDataLst>
                <p:tags r:id="rId10"/>
              </p:custDataLst>
            </p:nvPr>
          </p:nvSpPr>
          <p:spPr bwMode="auto">
            <a:xfrm>
              <a:off x="808" y="3024"/>
              <a:ext cx="3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p>
              <a:r>
                <a:rPr lang="zh-CN" altLang="en-US" sz="2400" b="1" dirty="0">
                  <a:solidFill>
                    <a:srgbClr val="050507"/>
                  </a:solidFill>
                  <a:latin typeface="+mn-ea"/>
                </a:rPr>
                <a:t>$</a:t>
              </a:r>
              <a:endParaRPr lang="zh-CN" altLang="en-US" sz="2400" b="1" dirty="0">
                <a:solidFill>
                  <a:srgbClr val="050507"/>
                </a:solidFill>
                <a:latin typeface="+mn-ea"/>
              </a:endParaRPr>
            </a:p>
          </p:txBody>
        </p:sp>
        <p:sp>
          <p:nvSpPr>
            <p:cNvPr id="105" name="Rectangle 36"/>
            <p:cNvSpPr>
              <a:spLocks noChangeArrowheads="1"/>
            </p:cNvSpPr>
            <p:nvPr>
              <p:custDataLst>
                <p:tags r:id="rId11"/>
              </p:custDataLst>
            </p:nvPr>
          </p:nvSpPr>
          <p:spPr bwMode="auto">
            <a:xfrm>
              <a:off x="4552" y="3024"/>
              <a:ext cx="666" cy="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50507"/>
                  </a:solidFill>
                  <a:latin typeface="+mn-ea"/>
                </a:rPr>
                <a:t>成功</a:t>
              </a:r>
              <a:endParaRPr lang="zh-CN" altLang="en-US" sz="2400" b="1" dirty="0">
                <a:solidFill>
                  <a:srgbClr val="050507"/>
                </a:solidFill>
                <a:latin typeface="+mn-ea"/>
              </a:endParaRPr>
            </a:p>
          </p:txBody>
        </p:sp>
        <p:sp>
          <p:nvSpPr>
            <p:cNvPr id="106" name="Rectangle 37"/>
            <p:cNvSpPr>
              <a:spLocks noChangeArrowheads="1"/>
            </p:cNvSpPr>
            <p:nvPr>
              <p:custDataLst>
                <p:tags r:id="rId12"/>
              </p:custDataLst>
            </p:nvPr>
          </p:nvSpPr>
          <p:spPr bwMode="auto">
            <a:xfrm>
              <a:off x="2914" y="3024"/>
              <a:ext cx="535" cy="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50507"/>
                  </a:solidFill>
                  <a:latin typeface="+mn-ea"/>
                </a:rPr>
                <a:t>$</a:t>
              </a:r>
              <a:endParaRPr lang="zh-CN" altLang="en-US" sz="2400" b="1" dirty="0">
                <a:solidFill>
                  <a:srgbClr val="050507"/>
                </a:solidFill>
                <a:latin typeface="+mn-ea"/>
              </a:endParaRPr>
            </a:p>
          </p:txBody>
        </p:sp>
      </p:grpSp>
      <p:sp>
        <p:nvSpPr>
          <p:cNvPr id="5" name="Rectangle 8"/>
          <p:cNvSpPr>
            <a:spLocks noChangeArrowheads="1"/>
          </p:cNvSpPr>
          <p:nvPr>
            <p:custDataLst>
              <p:tags r:id="rId13"/>
            </p:custDataLst>
          </p:nvPr>
        </p:nvSpPr>
        <p:spPr bwMode="auto">
          <a:xfrm flipH="1">
            <a:off x="1767330" y="5357942"/>
            <a:ext cx="35559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dirty="0">
                <a:solidFill>
                  <a:srgbClr val="050507"/>
                </a:solidFill>
                <a:latin typeface="+mn-ea"/>
              </a:rPr>
              <a:t>7</a:t>
            </a:r>
            <a:endParaRPr lang="en-US" altLang="zh-CN" sz="2400" b="1" dirty="0">
              <a:solidFill>
                <a:srgbClr val="050507"/>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barn(outHorizontal)">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barn(outHorizontal)">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barn(outHorizontal)">
                                      <p:cBhvr>
                                        <p:cTn id="17" dur="500"/>
                                        <p:tgtEl>
                                          <p:spTgt spid="6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barn(outHorizontal)">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5"/>
                                        </p:tgtEl>
                                        <p:attrNameLst>
                                          <p:attrName>style.visibility</p:attrName>
                                        </p:attrNameLst>
                                      </p:cBhvr>
                                      <p:to>
                                        <p:strVal val="visible"/>
                                      </p:to>
                                    </p:set>
                                    <p:animEffect transition="in" filter="fade">
                                      <p:cBhvr>
                                        <p:cTn id="27" dur="500"/>
                                        <p:tgtEl>
                                          <p:spTgt spid="8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2"/>
                                        </p:tgtEl>
                                        <p:attrNameLst>
                                          <p:attrName>style.visibility</p:attrName>
                                        </p:attrNameLst>
                                      </p:cBhvr>
                                      <p:to>
                                        <p:strVal val="visible"/>
                                      </p:to>
                                    </p:set>
                                    <p:animEffect transition="in" filter="fade">
                                      <p:cBhvr>
                                        <p:cTn id="37"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457200" y="276860"/>
            <a:ext cx="775462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26" name="Line 3"/>
          <p:cNvSpPr>
            <a:spLocks noChangeShapeType="1"/>
          </p:cNvSpPr>
          <p:nvPr/>
        </p:nvSpPr>
        <p:spPr bwMode="auto">
          <a:xfrm>
            <a:off x="1846730" y="2494056"/>
            <a:ext cx="8459788"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7" name="Line 4"/>
          <p:cNvSpPr>
            <a:spLocks noChangeShapeType="1"/>
          </p:cNvSpPr>
          <p:nvPr/>
        </p:nvSpPr>
        <p:spPr bwMode="auto">
          <a:xfrm>
            <a:off x="1846730" y="1960656"/>
            <a:ext cx="8459788"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8" name="Line 5"/>
          <p:cNvSpPr>
            <a:spLocks noChangeShapeType="1"/>
          </p:cNvSpPr>
          <p:nvPr/>
        </p:nvSpPr>
        <p:spPr bwMode="auto">
          <a:xfrm>
            <a:off x="4172418" y="1351056"/>
            <a:ext cx="0" cy="28956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29" name="Rectangle 6"/>
          <p:cNvSpPr>
            <a:spLocks noChangeArrowheads="1"/>
          </p:cNvSpPr>
          <p:nvPr/>
        </p:nvSpPr>
        <p:spPr bwMode="auto">
          <a:xfrm>
            <a:off x="2551580" y="1427256"/>
            <a:ext cx="915988"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b="1">
                <a:solidFill>
                  <a:srgbClr val="050507"/>
                </a:solidFill>
                <a:latin typeface="+mn-ea"/>
              </a:rPr>
              <a:t>M[N,T]</a:t>
            </a:r>
            <a:endParaRPr lang="en-US" altLang="zh-CN" sz="2400" b="1">
              <a:solidFill>
                <a:srgbClr val="050507"/>
              </a:solidFill>
              <a:latin typeface="+mn-ea"/>
            </a:endParaRPr>
          </a:p>
        </p:txBody>
      </p:sp>
      <p:sp useBgFill="1">
        <p:nvSpPr>
          <p:cNvPr id="30" name="Rectangle 7"/>
          <p:cNvSpPr>
            <a:spLocks noChangeArrowheads="1"/>
          </p:cNvSpPr>
          <p:nvPr/>
        </p:nvSpPr>
        <p:spPr bwMode="auto">
          <a:xfrm>
            <a:off x="2340443" y="2036856"/>
            <a:ext cx="133985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b="1" i="1">
                <a:solidFill>
                  <a:srgbClr val="050507"/>
                </a:solidFill>
                <a:latin typeface="+mn-ea"/>
              </a:rPr>
              <a:t>declaration</a:t>
            </a:r>
            <a:endParaRPr lang="en-US" altLang="zh-CN" sz="2400" b="1" i="1">
              <a:solidFill>
                <a:srgbClr val="050507"/>
              </a:solidFill>
              <a:latin typeface="+mn-ea"/>
            </a:endParaRPr>
          </a:p>
        </p:txBody>
      </p:sp>
      <p:sp useBgFill="1">
        <p:nvSpPr>
          <p:cNvPr id="31" name="Rectangle 8"/>
          <p:cNvSpPr>
            <a:spLocks noChangeArrowheads="1"/>
          </p:cNvSpPr>
          <p:nvPr/>
        </p:nvSpPr>
        <p:spPr bwMode="auto">
          <a:xfrm>
            <a:off x="4243855" y="1427256"/>
            <a:ext cx="563563"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b="1">
                <a:solidFill>
                  <a:srgbClr val="D20A30"/>
                </a:solidFill>
                <a:latin typeface="+mn-ea"/>
              </a:rPr>
              <a:t>int</a:t>
            </a:r>
            <a:endParaRPr lang="en-US" altLang="zh-CN" sz="2400" b="1">
              <a:solidFill>
                <a:srgbClr val="D20A30"/>
              </a:solidFill>
              <a:latin typeface="+mn-ea"/>
            </a:endParaRPr>
          </a:p>
        </p:txBody>
      </p:sp>
      <p:sp useBgFill="1">
        <p:nvSpPr>
          <p:cNvPr id="32" name="Rectangle 9"/>
          <p:cNvSpPr>
            <a:spLocks noChangeArrowheads="1"/>
          </p:cNvSpPr>
          <p:nvPr/>
        </p:nvSpPr>
        <p:spPr bwMode="auto">
          <a:xfrm>
            <a:off x="6640980" y="1579656"/>
            <a:ext cx="1831975" cy="333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b="1">
                <a:solidFill>
                  <a:srgbClr val="F72F89"/>
                </a:solidFill>
                <a:latin typeface="+mn-ea"/>
              </a:rPr>
              <a:t>identifier</a:t>
            </a:r>
            <a:endParaRPr lang="en-US" altLang="zh-CN" sz="2400" b="1">
              <a:solidFill>
                <a:srgbClr val="F72F89"/>
              </a:solidFill>
              <a:latin typeface="+mn-ea"/>
            </a:endParaRPr>
          </a:p>
        </p:txBody>
      </p:sp>
      <p:sp useBgFill="1">
        <p:nvSpPr>
          <p:cNvPr id="33" name="Rectangle 10"/>
          <p:cNvSpPr>
            <a:spLocks noChangeArrowheads="1"/>
          </p:cNvSpPr>
          <p:nvPr/>
        </p:nvSpPr>
        <p:spPr bwMode="auto">
          <a:xfrm>
            <a:off x="9531818" y="1503456"/>
            <a:ext cx="422275"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b="1">
                <a:solidFill>
                  <a:srgbClr val="F72F89"/>
                </a:solidFill>
                <a:latin typeface="+mn-ea"/>
              </a:rPr>
              <a:t>$</a:t>
            </a:r>
            <a:endParaRPr lang="en-US" altLang="zh-CN" sz="2400" b="1">
              <a:solidFill>
                <a:srgbClr val="F72F89"/>
              </a:solidFill>
              <a:latin typeface="+mn-ea"/>
            </a:endParaRPr>
          </a:p>
        </p:txBody>
      </p:sp>
      <p:sp>
        <p:nvSpPr>
          <p:cNvPr id="34" name="Line 11"/>
          <p:cNvSpPr>
            <a:spLocks noChangeShapeType="1"/>
          </p:cNvSpPr>
          <p:nvPr/>
        </p:nvSpPr>
        <p:spPr bwMode="auto">
          <a:xfrm>
            <a:off x="1846730" y="2951256"/>
            <a:ext cx="8459788"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5" name="Line 12"/>
          <p:cNvSpPr>
            <a:spLocks noChangeShapeType="1"/>
          </p:cNvSpPr>
          <p:nvPr/>
        </p:nvSpPr>
        <p:spPr bwMode="auto">
          <a:xfrm>
            <a:off x="1846730" y="3408456"/>
            <a:ext cx="8459788"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6" name="Line 13"/>
          <p:cNvSpPr>
            <a:spLocks noChangeShapeType="1"/>
          </p:cNvSpPr>
          <p:nvPr/>
        </p:nvSpPr>
        <p:spPr bwMode="auto">
          <a:xfrm>
            <a:off x="1846730" y="3865656"/>
            <a:ext cx="8459788"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7" name="Rectangle 14"/>
          <p:cNvSpPr>
            <a:spLocks noChangeArrowheads="1"/>
          </p:cNvSpPr>
          <p:nvPr/>
        </p:nvSpPr>
        <p:spPr bwMode="auto">
          <a:xfrm>
            <a:off x="8614243" y="1378044"/>
            <a:ext cx="3403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 </a:t>
            </a:r>
            <a:r>
              <a:rPr lang="en-US" altLang="zh-CN" sz="2400" b="1">
                <a:solidFill>
                  <a:srgbClr val="F72F89"/>
                </a:solidFill>
                <a:latin typeface="+mn-ea"/>
              </a:rPr>
              <a:t>,</a:t>
            </a:r>
            <a:endParaRPr lang="zh-CN" altLang="en-US" sz="2400" b="1">
              <a:solidFill>
                <a:srgbClr val="F72F89"/>
              </a:solidFill>
              <a:latin typeface="+mn-ea"/>
            </a:endParaRPr>
          </a:p>
        </p:txBody>
      </p:sp>
      <p:sp>
        <p:nvSpPr>
          <p:cNvPr id="38" name="Rectangle 15"/>
          <p:cNvSpPr>
            <a:spLocks noChangeArrowheads="1"/>
          </p:cNvSpPr>
          <p:nvPr/>
        </p:nvSpPr>
        <p:spPr bwMode="auto">
          <a:xfrm>
            <a:off x="2481730" y="2368644"/>
            <a:ext cx="79311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solidFill>
                  <a:srgbClr val="050507"/>
                </a:solidFill>
                <a:latin typeface="+mn-ea"/>
              </a:rPr>
              <a:t>type</a:t>
            </a:r>
            <a:endParaRPr lang="zh-CN" altLang="en-US" sz="2400" b="1" i="1">
              <a:solidFill>
                <a:srgbClr val="050507"/>
              </a:solidFill>
              <a:latin typeface="+mn-ea"/>
            </a:endParaRPr>
          </a:p>
        </p:txBody>
      </p:sp>
      <p:sp>
        <p:nvSpPr>
          <p:cNvPr id="39" name="Rectangle 16"/>
          <p:cNvSpPr>
            <a:spLocks noChangeArrowheads="1"/>
          </p:cNvSpPr>
          <p:nvPr/>
        </p:nvSpPr>
        <p:spPr bwMode="auto">
          <a:xfrm>
            <a:off x="2057868" y="2902044"/>
            <a:ext cx="11626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solidFill>
                  <a:srgbClr val="050507"/>
                </a:solidFill>
                <a:latin typeface="+mn-ea"/>
              </a:rPr>
              <a:t>var-list</a:t>
            </a:r>
            <a:endParaRPr lang="zh-CN" altLang="en-US" sz="2400" b="1" i="1">
              <a:solidFill>
                <a:srgbClr val="050507"/>
              </a:solidFill>
              <a:latin typeface="+mn-ea"/>
            </a:endParaRPr>
          </a:p>
        </p:txBody>
      </p:sp>
      <p:sp>
        <p:nvSpPr>
          <p:cNvPr id="40" name="Rectangle 17"/>
          <p:cNvSpPr>
            <a:spLocks noChangeArrowheads="1"/>
          </p:cNvSpPr>
          <p:nvPr/>
        </p:nvSpPr>
        <p:spPr bwMode="auto">
          <a:xfrm>
            <a:off x="2551580" y="3359244"/>
            <a:ext cx="5829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solidFill>
                  <a:srgbClr val="050507"/>
                </a:solidFill>
                <a:latin typeface="+mn-ea"/>
              </a:rPr>
              <a:t>list</a:t>
            </a:r>
            <a:endParaRPr lang="zh-CN" altLang="en-US" sz="2400" b="1" i="1">
              <a:solidFill>
                <a:srgbClr val="050507"/>
              </a:solidFill>
              <a:latin typeface="+mn-ea"/>
            </a:endParaRPr>
          </a:p>
        </p:txBody>
      </p:sp>
      <p:sp>
        <p:nvSpPr>
          <p:cNvPr id="41" name="Rectangle 18"/>
          <p:cNvSpPr>
            <a:spLocks noChangeArrowheads="1"/>
          </p:cNvSpPr>
          <p:nvPr/>
        </p:nvSpPr>
        <p:spPr bwMode="auto">
          <a:xfrm>
            <a:off x="5159843" y="1454244"/>
            <a:ext cx="81851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D20A30"/>
                </a:solidFill>
                <a:latin typeface="+mn-ea"/>
              </a:rPr>
              <a:t>float</a:t>
            </a:r>
            <a:endParaRPr lang="zh-CN" altLang="en-US" sz="2400" b="1">
              <a:solidFill>
                <a:srgbClr val="D20A30"/>
              </a:solidFill>
              <a:latin typeface="+mn-ea"/>
            </a:endParaRPr>
          </a:p>
        </p:txBody>
      </p:sp>
      <p:sp>
        <p:nvSpPr>
          <p:cNvPr id="42" name="Rectangle 19"/>
          <p:cNvSpPr>
            <a:spLocks noChangeArrowheads="1"/>
          </p:cNvSpPr>
          <p:nvPr/>
        </p:nvSpPr>
        <p:spPr bwMode="auto">
          <a:xfrm>
            <a:off x="4243855" y="1911444"/>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r1</a:t>
            </a:r>
            <a:endParaRPr lang="zh-CN" altLang="en-US" sz="2400" b="1">
              <a:solidFill>
                <a:srgbClr val="050507"/>
              </a:solidFill>
              <a:latin typeface="+mn-ea"/>
            </a:endParaRPr>
          </a:p>
        </p:txBody>
      </p:sp>
      <p:sp>
        <p:nvSpPr>
          <p:cNvPr id="43" name="Rectangle 20"/>
          <p:cNvSpPr>
            <a:spLocks noChangeArrowheads="1"/>
          </p:cNvSpPr>
          <p:nvPr/>
        </p:nvSpPr>
        <p:spPr bwMode="auto">
          <a:xfrm>
            <a:off x="5442418" y="1911444"/>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r1</a:t>
            </a:r>
            <a:endParaRPr lang="zh-CN" altLang="en-US" sz="2400" b="1">
              <a:solidFill>
                <a:srgbClr val="050507"/>
              </a:solidFill>
              <a:latin typeface="+mn-ea"/>
            </a:endParaRPr>
          </a:p>
        </p:txBody>
      </p:sp>
      <p:sp>
        <p:nvSpPr>
          <p:cNvPr id="44" name="Rectangle 21"/>
          <p:cNvSpPr>
            <a:spLocks noChangeArrowheads="1"/>
          </p:cNvSpPr>
          <p:nvPr/>
        </p:nvSpPr>
        <p:spPr bwMode="auto">
          <a:xfrm>
            <a:off x="4243855" y="2444844"/>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r2</a:t>
            </a:r>
            <a:endParaRPr lang="zh-CN" altLang="en-US" sz="2400" b="1">
              <a:solidFill>
                <a:srgbClr val="050507"/>
              </a:solidFill>
              <a:latin typeface="+mn-ea"/>
            </a:endParaRPr>
          </a:p>
        </p:txBody>
      </p:sp>
      <p:sp>
        <p:nvSpPr>
          <p:cNvPr id="45" name="Rectangle 22"/>
          <p:cNvSpPr>
            <a:spLocks noChangeArrowheads="1"/>
          </p:cNvSpPr>
          <p:nvPr/>
        </p:nvSpPr>
        <p:spPr bwMode="auto">
          <a:xfrm>
            <a:off x="5442418" y="2444844"/>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r3</a:t>
            </a:r>
            <a:endParaRPr lang="zh-CN" altLang="en-US" sz="2400" b="1">
              <a:solidFill>
                <a:srgbClr val="050507"/>
              </a:solidFill>
              <a:latin typeface="+mn-ea"/>
            </a:endParaRPr>
          </a:p>
        </p:txBody>
      </p:sp>
      <p:sp>
        <p:nvSpPr>
          <p:cNvPr id="46" name="Rectangle 23"/>
          <p:cNvSpPr>
            <a:spLocks noChangeArrowheads="1"/>
          </p:cNvSpPr>
          <p:nvPr/>
        </p:nvSpPr>
        <p:spPr bwMode="auto">
          <a:xfrm>
            <a:off x="7134693" y="2825844"/>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r4</a:t>
            </a:r>
            <a:endParaRPr lang="zh-CN" altLang="en-US" sz="2400" b="1">
              <a:solidFill>
                <a:srgbClr val="050507"/>
              </a:solidFill>
              <a:latin typeface="+mn-ea"/>
            </a:endParaRPr>
          </a:p>
        </p:txBody>
      </p:sp>
      <p:sp>
        <p:nvSpPr>
          <p:cNvPr id="47" name="Rectangle 24"/>
          <p:cNvSpPr>
            <a:spLocks noChangeArrowheads="1"/>
          </p:cNvSpPr>
          <p:nvPr/>
        </p:nvSpPr>
        <p:spPr bwMode="auto">
          <a:xfrm>
            <a:off x="8544393" y="3332256"/>
            <a:ext cx="7747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rPr>
              <a:t>r5</a:t>
            </a:r>
            <a:endParaRPr lang="zh-CN" altLang="en-US" sz="2400" b="1">
              <a:solidFill>
                <a:srgbClr val="050507"/>
              </a:solidFill>
              <a:latin typeface="+mn-ea"/>
            </a:endParaRPr>
          </a:p>
        </p:txBody>
      </p:sp>
      <p:sp>
        <p:nvSpPr>
          <p:cNvPr id="48" name="Rectangle 25"/>
          <p:cNvSpPr>
            <a:spLocks noChangeArrowheads="1"/>
          </p:cNvSpPr>
          <p:nvPr/>
        </p:nvSpPr>
        <p:spPr bwMode="auto">
          <a:xfrm>
            <a:off x="9460380" y="3359244"/>
            <a:ext cx="4648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r6</a:t>
            </a:r>
            <a:endParaRPr lang="zh-CN" altLang="en-US" sz="2400" b="1">
              <a:solidFill>
                <a:srgbClr val="050507"/>
              </a:solidFill>
              <a:latin typeface="+mn-ea"/>
            </a:endParaRPr>
          </a:p>
        </p:txBody>
      </p:sp>
      <p:sp>
        <p:nvSpPr>
          <p:cNvPr id="49" name="Rectangle 26"/>
          <p:cNvSpPr>
            <a:spLocks noChangeArrowheads="1"/>
          </p:cNvSpPr>
          <p:nvPr/>
        </p:nvSpPr>
        <p:spPr bwMode="auto">
          <a:xfrm>
            <a:off x="591820" y="4171950"/>
            <a:ext cx="1089088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buFontTx/>
              <a:buAutoNum type="alphaLcPeriod" startAt="3"/>
            </a:pPr>
            <a:r>
              <a:rPr lang="zh-CN" altLang="en-US" sz="2400">
                <a:solidFill>
                  <a:srgbClr val="050507"/>
                </a:solidFill>
                <a:latin typeface="+mn-ea"/>
                <a:ea typeface="+mn-ea"/>
              </a:rPr>
              <a:t>由于文法</a:t>
            </a:r>
            <a:r>
              <a:rPr lang="en-US" altLang="zh-CN" sz="2400">
                <a:solidFill>
                  <a:srgbClr val="050507"/>
                </a:solidFill>
                <a:latin typeface="+mn-ea"/>
                <a:ea typeface="+mn-ea"/>
              </a:rPr>
              <a:t>G</a:t>
            </a:r>
            <a:r>
              <a:rPr lang="zh-CN" altLang="en-US" sz="2400">
                <a:solidFill>
                  <a:srgbClr val="050507"/>
                </a:solidFill>
                <a:latin typeface="+mn-ea"/>
                <a:ea typeface="+mn-ea"/>
              </a:rPr>
              <a:t>相关的</a:t>
            </a:r>
            <a:r>
              <a:rPr lang="en-US" altLang="zh-CN" sz="2400">
                <a:solidFill>
                  <a:srgbClr val="050507"/>
                </a:solidFill>
                <a:latin typeface="+mn-ea"/>
                <a:ea typeface="+mn-ea"/>
              </a:rPr>
              <a:t>LL(1)</a:t>
            </a:r>
            <a:r>
              <a:rPr lang="zh-CN" altLang="en-US" sz="2400">
                <a:solidFill>
                  <a:srgbClr val="050507"/>
                </a:solidFill>
                <a:latin typeface="+mn-ea"/>
                <a:ea typeface="+mn-ea"/>
              </a:rPr>
              <a:t>分析表的每个项目中至多只有一个产生式，故该文法是</a:t>
            </a:r>
            <a:r>
              <a:rPr lang="en-US" altLang="zh-CN" sz="2400">
                <a:solidFill>
                  <a:srgbClr val="F72F89"/>
                </a:solidFill>
                <a:latin typeface="+mn-ea"/>
                <a:ea typeface="+mn-ea"/>
              </a:rPr>
              <a:t>LL(1)</a:t>
            </a:r>
            <a:r>
              <a:rPr lang="zh-CN" altLang="en-US" sz="2400">
                <a:solidFill>
                  <a:srgbClr val="F72F89"/>
                </a:solidFill>
                <a:latin typeface="+mn-ea"/>
                <a:ea typeface="+mn-ea"/>
              </a:rPr>
              <a:t>文法</a:t>
            </a:r>
            <a:r>
              <a:rPr lang="zh-CN" altLang="en-US" sz="2400">
                <a:solidFill>
                  <a:srgbClr val="050507"/>
                </a:solidFill>
                <a:latin typeface="+mn-ea"/>
                <a:ea typeface="+mn-ea"/>
              </a:rPr>
              <a:t>。</a:t>
            </a:r>
            <a:endParaRPr lang="zh-CN" altLang="en-US" sz="2400">
              <a:solidFill>
                <a:srgbClr val="050507"/>
              </a:solidFill>
              <a:latin typeface="+mn-ea"/>
              <a:ea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barn(inHorizontal)">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arn(inHorizont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barn(inHorizontal)">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barn(inHorizontal)">
                                      <p:cBhvr>
                                        <p:cTn id="22" dur="500"/>
                                        <p:tgtEl>
                                          <p:spTgt spid="4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barn(inHorizontal)">
                                      <p:cBhvr>
                                        <p:cTn id="27" dur="500"/>
                                        <p:tgtEl>
                                          <p:spTgt spid="4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barn(inHorizontal)">
                                      <p:cBhvr>
                                        <p:cTn id="32" dur="50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barn(inHorizontal)">
                                      <p:cBhvr>
                                        <p:cTn id="37" dur="500"/>
                                        <p:tgtEl>
                                          <p:spTgt spid="48"/>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barn(inHorizontal)">
                                      <p:cBhvr>
                                        <p:cTn id="4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p:bldP spid="46" grpId="0"/>
      <p:bldP spid="47" grpId="0"/>
      <p:bldP spid="48" grpId="0"/>
      <p:bldP spid="4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508000" y="276860"/>
            <a:ext cx="7703820" cy="593090"/>
          </a:xfrm>
        </p:spPr>
        <p:txBody>
          <a:bodyPr/>
          <a:lstStyle/>
          <a:p>
            <a:r>
              <a:rPr lang="en-US" altLang="zh-CN" dirty="0"/>
              <a:t>4.3.1 LL(1)</a:t>
            </a:r>
            <a:r>
              <a:rPr lang="zh-CN" altLang="en-US" dirty="0"/>
              <a:t>分析的基本方法（续）</a:t>
            </a:r>
            <a:endParaRPr lang="zh-CN" altLang="en-US" dirty="0"/>
          </a:p>
          <a:p>
            <a:endParaRPr lang="zh-CN" altLang="en-US" dirty="0"/>
          </a:p>
        </p:txBody>
      </p:sp>
      <p:sp>
        <p:nvSpPr>
          <p:cNvPr id="53" name="Rectangle 2"/>
          <p:cNvSpPr>
            <a:spLocks noChangeArrowheads="1"/>
          </p:cNvSpPr>
          <p:nvPr/>
        </p:nvSpPr>
        <p:spPr bwMode="auto">
          <a:xfrm>
            <a:off x="570865" y="1214120"/>
            <a:ext cx="96399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buFontTx/>
              <a:buAutoNum type="alphaLcPeriod" startAt="4"/>
            </a:pPr>
            <a:r>
              <a:rPr lang="zh-CN" altLang="en-US" sz="2400">
                <a:solidFill>
                  <a:srgbClr val="050507"/>
                </a:solidFill>
                <a:latin typeface="+mn-ea"/>
                <a:ea typeface="+mn-ea"/>
              </a:rPr>
              <a:t>输入串  </a:t>
            </a:r>
            <a:r>
              <a:rPr lang="en-US" altLang="zh-CN" sz="2400">
                <a:solidFill>
                  <a:srgbClr val="050507"/>
                </a:solidFill>
                <a:latin typeface="+mn-ea"/>
                <a:ea typeface="+mn-ea"/>
              </a:rPr>
              <a:t>int x,y,z </a:t>
            </a:r>
            <a:r>
              <a:rPr lang="zh-CN" altLang="en-US" sz="2400">
                <a:solidFill>
                  <a:srgbClr val="050507"/>
                </a:solidFill>
                <a:latin typeface="+mn-ea"/>
                <a:ea typeface="+mn-ea"/>
              </a:rPr>
              <a:t>相对应的</a:t>
            </a:r>
            <a:r>
              <a:rPr lang="en-US" altLang="zh-CN" sz="2400">
                <a:solidFill>
                  <a:srgbClr val="050507"/>
                </a:solidFill>
                <a:latin typeface="+mn-ea"/>
                <a:ea typeface="+mn-ea"/>
              </a:rPr>
              <a:t>LL(1)</a:t>
            </a:r>
            <a:r>
              <a:rPr lang="zh-CN" altLang="en-US" sz="2400">
                <a:solidFill>
                  <a:srgbClr val="050507"/>
                </a:solidFill>
                <a:latin typeface="+mn-ea"/>
                <a:ea typeface="+mn-ea"/>
              </a:rPr>
              <a:t>分析程序的分析过程如下表所示：</a:t>
            </a:r>
            <a:endParaRPr lang="zh-CN" altLang="en-US" sz="2400">
              <a:solidFill>
                <a:srgbClr val="050507"/>
              </a:solidFill>
              <a:latin typeface="+mn-ea"/>
              <a:ea typeface="+mn-ea"/>
            </a:endParaRPr>
          </a:p>
        </p:txBody>
      </p:sp>
      <p:grpSp>
        <p:nvGrpSpPr>
          <p:cNvPr id="54" name="Group 3"/>
          <p:cNvGrpSpPr/>
          <p:nvPr/>
        </p:nvGrpSpPr>
        <p:grpSpPr bwMode="auto">
          <a:xfrm>
            <a:off x="1819593" y="1793277"/>
            <a:ext cx="8447087" cy="577850"/>
            <a:chOff x="99" y="816"/>
            <a:chExt cx="5085" cy="364"/>
          </a:xfrm>
        </p:grpSpPr>
        <p:sp>
          <p:nvSpPr>
            <p:cNvPr id="55" name="Line 4"/>
            <p:cNvSpPr>
              <a:spLocks noChangeShapeType="1"/>
            </p:cNvSpPr>
            <p:nvPr/>
          </p:nvSpPr>
          <p:spPr bwMode="auto">
            <a:xfrm>
              <a:off x="240" y="816"/>
              <a:ext cx="4896" cy="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56" name="Line 5"/>
            <p:cNvSpPr>
              <a:spLocks noChangeShapeType="1"/>
            </p:cNvSpPr>
            <p:nvPr/>
          </p:nvSpPr>
          <p:spPr bwMode="auto">
            <a:xfrm>
              <a:off x="240" y="1119"/>
              <a:ext cx="4944"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57" name="Rectangle 6"/>
            <p:cNvSpPr>
              <a:spLocks noChangeArrowheads="1"/>
            </p:cNvSpPr>
            <p:nvPr/>
          </p:nvSpPr>
          <p:spPr bwMode="auto">
            <a:xfrm>
              <a:off x="99" y="864"/>
              <a:ext cx="47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50507"/>
                  </a:solidFill>
                  <a:latin typeface="+mn-ea"/>
                </a:rPr>
                <a:t>步骤</a:t>
              </a:r>
              <a:endParaRPr lang="zh-CN" altLang="en-US" sz="2400" b="1">
                <a:solidFill>
                  <a:srgbClr val="050507"/>
                </a:solidFill>
                <a:latin typeface="+mn-ea"/>
              </a:endParaRPr>
            </a:p>
          </p:txBody>
        </p:sp>
        <p:sp>
          <p:nvSpPr>
            <p:cNvPr id="58" name="Rectangle 7"/>
            <p:cNvSpPr>
              <a:spLocks noChangeArrowheads="1"/>
            </p:cNvSpPr>
            <p:nvPr/>
          </p:nvSpPr>
          <p:spPr bwMode="auto">
            <a:xfrm>
              <a:off x="948" y="861"/>
              <a:ext cx="88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分析栈</a:t>
              </a:r>
              <a:endParaRPr lang="zh-CN" altLang="en-US" sz="2400" b="1">
                <a:solidFill>
                  <a:srgbClr val="050507"/>
                </a:solidFill>
                <a:latin typeface="+mn-ea"/>
              </a:endParaRPr>
            </a:p>
          </p:txBody>
        </p:sp>
        <p:sp>
          <p:nvSpPr>
            <p:cNvPr id="59" name="Rectangle 8"/>
            <p:cNvSpPr>
              <a:spLocks noChangeArrowheads="1"/>
            </p:cNvSpPr>
            <p:nvPr/>
          </p:nvSpPr>
          <p:spPr bwMode="auto">
            <a:xfrm>
              <a:off x="2850" y="886"/>
              <a:ext cx="47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50507"/>
                  </a:solidFill>
                  <a:latin typeface="+mn-ea"/>
                </a:rPr>
                <a:t>输入</a:t>
              </a:r>
              <a:endParaRPr lang="zh-CN" altLang="en-US" sz="2400" b="1">
                <a:solidFill>
                  <a:srgbClr val="050507"/>
                </a:solidFill>
                <a:latin typeface="+mn-ea"/>
              </a:endParaRPr>
            </a:p>
          </p:txBody>
        </p:sp>
        <p:sp>
          <p:nvSpPr>
            <p:cNvPr id="60" name="Rectangle 9"/>
            <p:cNvSpPr>
              <a:spLocks noChangeArrowheads="1"/>
            </p:cNvSpPr>
            <p:nvPr/>
          </p:nvSpPr>
          <p:spPr bwMode="auto">
            <a:xfrm>
              <a:off x="4194" y="890"/>
              <a:ext cx="61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动作</a:t>
              </a:r>
              <a:endParaRPr lang="zh-CN" altLang="en-US" sz="2400" b="1">
                <a:solidFill>
                  <a:srgbClr val="050507"/>
                </a:solidFill>
                <a:latin typeface="+mn-ea"/>
              </a:endParaRPr>
            </a:p>
          </p:txBody>
        </p:sp>
      </p:grpSp>
      <p:grpSp>
        <p:nvGrpSpPr>
          <p:cNvPr id="61" name="Group 10"/>
          <p:cNvGrpSpPr/>
          <p:nvPr/>
        </p:nvGrpSpPr>
        <p:grpSpPr bwMode="auto">
          <a:xfrm>
            <a:off x="2033905" y="2293023"/>
            <a:ext cx="7329488" cy="493713"/>
            <a:chOff x="234" y="1240"/>
            <a:chExt cx="4617" cy="311"/>
          </a:xfrm>
        </p:grpSpPr>
        <p:sp>
          <p:nvSpPr>
            <p:cNvPr id="62" name="Rectangle 11"/>
            <p:cNvSpPr>
              <a:spLocks noChangeArrowheads="1"/>
            </p:cNvSpPr>
            <p:nvPr/>
          </p:nvSpPr>
          <p:spPr bwMode="auto">
            <a:xfrm>
              <a:off x="234" y="1261"/>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50507"/>
                  </a:solidFill>
                  <a:latin typeface="+mn-ea"/>
                </a:rPr>
                <a:t>1</a:t>
              </a:r>
              <a:endParaRPr lang="zh-CN" altLang="en-US" sz="2400" b="1">
                <a:solidFill>
                  <a:srgbClr val="050507"/>
                </a:solidFill>
                <a:latin typeface="+mn-ea"/>
              </a:endParaRPr>
            </a:p>
          </p:txBody>
        </p:sp>
        <p:sp>
          <p:nvSpPr>
            <p:cNvPr id="63" name="Rectangle 12"/>
            <p:cNvSpPr>
              <a:spLocks noChangeArrowheads="1"/>
            </p:cNvSpPr>
            <p:nvPr/>
          </p:nvSpPr>
          <p:spPr bwMode="auto">
            <a:xfrm>
              <a:off x="573" y="1242"/>
              <a:ext cx="196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 </a:t>
              </a:r>
              <a:r>
                <a:rPr lang="en-US" altLang="zh-CN" sz="2400" b="1">
                  <a:solidFill>
                    <a:srgbClr val="050507"/>
                  </a:solidFill>
                  <a:latin typeface="+mn-ea"/>
                </a:rPr>
                <a:t>declaration</a:t>
              </a:r>
              <a:endParaRPr lang="en-US" altLang="zh-CN" sz="2400" b="1">
                <a:solidFill>
                  <a:srgbClr val="050507"/>
                </a:solidFill>
                <a:latin typeface="+mn-ea"/>
              </a:endParaRPr>
            </a:p>
          </p:txBody>
        </p:sp>
        <p:sp>
          <p:nvSpPr>
            <p:cNvPr id="64" name="Rectangle 13"/>
            <p:cNvSpPr>
              <a:spLocks noChangeArrowheads="1"/>
            </p:cNvSpPr>
            <p:nvPr/>
          </p:nvSpPr>
          <p:spPr bwMode="auto">
            <a:xfrm>
              <a:off x="2643" y="1240"/>
              <a:ext cx="88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int x,y,z</a:t>
              </a:r>
              <a:r>
                <a:rPr lang="zh-CN" altLang="en-US" sz="2400" b="1">
                  <a:solidFill>
                    <a:srgbClr val="050507"/>
                  </a:solidFill>
                  <a:latin typeface="+mn-ea"/>
                </a:rPr>
                <a:t>$</a:t>
              </a:r>
              <a:endParaRPr lang="zh-CN" altLang="en-US" sz="2400" b="1">
                <a:solidFill>
                  <a:srgbClr val="050507"/>
                </a:solidFill>
                <a:latin typeface="+mn-ea"/>
              </a:endParaRPr>
            </a:p>
          </p:txBody>
        </p:sp>
        <p:sp>
          <p:nvSpPr>
            <p:cNvPr id="65" name="Rectangle 14"/>
            <p:cNvSpPr>
              <a:spLocks noChangeArrowheads="1"/>
            </p:cNvSpPr>
            <p:nvPr/>
          </p:nvSpPr>
          <p:spPr bwMode="auto">
            <a:xfrm>
              <a:off x="4558" y="1260"/>
              <a:ext cx="29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r1</a:t>
              </a:r>
              <a:endParaRPr lang="en-US" altLang="zh-CN" sz="2400" b="1">
                <a:solidFill>
                  <a:srgbClr val="050507"/>
                </a:solidFill>
                <a:latin typeface="+mn-ea"/>
              </a:endParaRPr>
            </a:p>
          </p:txBody>
        </p:sp>
      </p:grpSp>
      <p:grpSp>
        <p:nvGrpSpPr>
          <p:cNvPr id="66" name="Group 15"/>
          <p:cNvGrpSpPr/>
          <p:nvPr/>
        </p:nvGrpSpPr>
        <p:grpSpPr bwMode="auto">
          <a:xfrm>
            <a:off x="2043430" y="3378873"/>
            <a:ext cx="8281988" cy="536575"/>
            <a:chOff x="240" y="2400"/>
            <a:chExt cx="5217" cy="338"/>
          </a:xfrm>
        </p:grpSpPr>
        <p:sp>
          <p:nvSpPr>
            <p:cNvPr id="67" name="Rectangle 16"/>
            <p:cNvSpPr>
              <a:spLocks noChangeArrowheads="1"/>
            </p:cNvSpPr>
            <p:nvPr/>
          </p:nvSpPr>
          <p:spPr bwMode="auto">
            <a:xfrm>
              <a:off x="240" y="2448"/>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50507"/>
                  </a:solidFill>
                  <a:latin typeface="+mn-ea"/>
                </a:rPr>
                <a:t>4</a:t>
              </a:r>
              <a:endParaRPr lang="en-US" altLang="zh-CN" sz="2400" b="1">
                <a:solidFill>
                  <a:srgbClr val="050507"/>
                </a:solidFill>
                <a:latin typeface="+mn-ea"/>
              </a:endParaRPr>
            </a:p>
          </p:txBody>
        </p:sp>
        <p:sp>
          <p:nvSpPr>
            <p:cNvPr id="68" name="Rectangle 17"/>
            <p:cNvSpPr>
              <a:spLocks noChangeArrowheads="1"/>
            </p:cNvSpPr>
            <p:nvPr/>
          </p:nvSpPr>
          <p:spPr bwMode="auto">
            <a:xfrm>
              <a:off x="573" y="2448"/>
              <a:ext cx="225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 </a:t>
              </a:r>
              <a:r>
                <a:rPr lang="en-US" altLang="zh-CN" sz="2400" b="1">
                  <a:solidFill>
                    <a:srgbClr val="050507"/>
                  </a:solidFill>
                  <a:latin typeface="+mn-ea"/>
                </a:rPr>
                <a:t>var-list</a:t>
              </a:r>
              <a:endParaRPr lang="zh-CN" altLang="en-US" sz="2400" b="1">
                <a:solidFill>
                  <a:srgbClr val="050507"/>
                </a:solidFill>
                <a:latin typeface="+mn-ea"/>
              </a:endParaRPr>
            </a:p>
          </p:txBody>
        </p:sp>
        <p:sp>
          <p:nvSpPr>
            <p:cNvPr id="69" name="Rectangle 18"/>
            <p:cNvSpPr>
              <a:spLocks noChangeArrowheads="1"/>
            </p:cNvSpPr>
            <p:nvPr/>
          </p:nvSpPr>
          <p:spPr bwMode="auto">
            <a:xfrm>
              <a:off x="2640" y="2405"/>
              <a:ext cx="14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rPr>
                <a:t>x,y,z</a:t>
              </a:r>
              <a:r>
                <a:rPr lang="zh-CN" altLang="en-US" sz="2400" b="1">
                  <a:solidFill>
                    <a:srgbClr val="050507"/>
                  </a:solidFill>
                  <a:latin typeface="+mn-ea"/>
                </a:rPr>
                <a:t>$</a:t>
              </a:r>
              <a:endParaRPr lang="zh-CN" altLang="en-US" sz="2400" b="1">
                <a:solidFill>
                  <a:srgbClr val="050507"/>
                </a:solidFill>
                <a:latin typeface="+mn-ea"/>
              </a:endParaRPr>
            </a:p>
          </p:txBody>
        </p:sp>
        <p:sp>
          <p:nvSpPr>
            <p:cNvPr id="70" name="Rectangle 19"/>
            <p:cNvSpPr>
              <a:spLocks noChangeArrowheads="1"/>
            </p:cNvSpPr>
            <p:nvPr/>
          </p:nvSpPr>
          <p:spPr bwMode="auto">
            <a:xfrm>
              <a:off x="4593" y="2400"/>
              <a:ext cx="86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rPr>
                <a:t>r4</a:t>
              </a:r>
              <a:endParaRPr lang="en-US" altLang="zh-CN" sz="2400" b="1">
                <a:solidFill>
                  <a:srgbClr val="050507"/>
                </a:solidFill>
                <a:latin typeface="+mn-ea"/>
              </a:endParaRPr>
            </a:p>
          </p:txBody>
        </p:sp>
      </p:grpSp>
      <p:grpSp>
        <p:nvGrpSpPr>
          <p:cNvPr id="71" name="Group 20"/>
          <p:cNvGrpSpPr/>
          <p:nvPr/>
        </p:nvGrpSpPr>
        <p:grpSpPr bwMode="auto">
          <a:xfrm>
            <a:off x="2043430" y="2633383"/>
            <a:ext cx="7332663" cy="536575"/>
            <a:chOff x="240" y="1572"/>
            <a:chExt cx="4619" cy="338"/>
          </a:xfrm>
        </p:grpSpPr>
        <p:sp>
          <p:nvSpPr>
            <p:cNvPr id="72" name="Rectangle 21"/>
            <p:cNvSpPr>
              <a:spLocks noChangeArrowheads="1"/>
            </p:cNvSpPr>
            <p:nvPr/>
          </p:nvSpPr>
          <p:spPr bwMode="auto">
            <a:xfrm>
              <a:off x="240" y="1620"/>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50507"/>
                  </a:solidFill>
                  <a:latin typeface="+mn-ea"/>
                </a:rPr>
                <a:t>2</a:t>
              </a:r>
              <a:endParaRPr lang="zh-CN" altLang="en-US" sz="2400" b="1">
                <a:solidFill>
                  <a:srgbClr val="050507"/>
                </a:solidFill>
                <a:latin typeface="+mn-ea"/>
              </a:endParaRPr>
            </a:p>
          </p:txBody>
        </p:sp>
        <p:sp>
          <p:nvSpPr>
            <p:cNvPr id="73" name="Rectangle 22"/>
            <p:cNvSpPr>
              <a:spLocks noChangeArrowheads="1"/>
            </p:cNvSpPr>
            <p:nvPr/>
          </p:nvSpPr>
          <p:spPr bwMode="auto">
            <a:xfrm>
              <a:off x="576" y="1620"/>
              <a:ext cx="230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 </a:t>
              </a:r>
              <a:r>
                <a:rPr lang="en-US" altLang="zh-CN" sz="2400" b="1">
                  <a:solidFill>
                    <a:srgbClr val="050507"/>
                  </a:solidFill>
                  <a:latin typeface="+mn-ea"/>
                </a:rPr>
                <a:t>var-list</a:t>
              </a:r>
              <a:r>
                <a:rPr lang="zh-CN" altLang="en-US" sz="2400" b="1">
                  <a:solidFill>
                    <a:srgbClr val="050507"/>
                  </a:solidFill>
                  <a:latin typeface="+mn-ea"/>
                </a:rPr>
                <a:t> </a:t>
              </a:r>
              <a:r>
                <a:rPr lang="en-US" altLang="zh-CN" sz="2400" b="1">
                  <a:solidFill>
                    <a:srgbClr val="050507"/>
                  </a:solidFill>
                  <a:latin typeface="+mn-ea"/>
                </a:rPr>
                <a:t>type</a:t>
              </a:r>
              <a:endParaRPr lang="zh-CN" altLang="en-US" sz="2400" b="1">
                <a:solidFill>
                  <a:srgbClr val="050507"/>
                </a:solidFill>
                <a:latin typeface="+mn-ea"/>
              </a:endParaRPr>
            </a:p>
          </p:txBody>
        </p:sp>
        <p:sp>
          <p:nvSpPr>
            <p:cNvPr id="74" name="Rectangle 23"/>
            <p:cNvSpPr>
              <a:spLocks noChangeArrowheads="1"/>
            </p:cNvSpPr>
            <p:nvPr/>
          </p:nvSpPr>
          <p:spPr bwMode="auto">
            <a:xfrm>
              <a:off x="4566" y="1572"/>
              <a:ext cx="29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r2</a:t>
              </a:r>
              <a:endParaRPr lang="en-US" altLang="zh-CN" sz="2400" b="1">
                <a:solidFill>
                  <a:srgbClr val="050507"/>
                </a:solidFill>
                <a:latin typeface="+mn-ea"/>
              </a:endParaRPr>
            </a:p>
          </p:txBody>
        </p:sp>
        <p:sp>
          <p:nvSpPr>
            <p:cNvPr id="75" name="Rectangle 24"/>
            <p:cNvSpPr>
              <a:spLocks noChangeArrowheads="1"/>
            </p:cNvSpPr>
            <p:nvPr/>
          </p:nvSpPr>
          <p:spPr bwMode="auto">
            <a:xfrm>
              <a:off x="2661" y="1611"/>
              <a:ext cx="88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int x,y,z</a:t>
              </a:r>
              <a:r>
                <a:rPr lang="zh-CN" altLang="en-US" sz="2400" b="1">
                  <a:solidFill>
                    <a:srgbClr val="050507"/>
                  </a:solidFill>
                  <a:latin typeface="+mn-ea"/>
                </a:rPr>
                <a:t>$</a:t>
              </a:r>
              <a:endParaRPr lang="zh-CN" altLang="en-US" sz="2400" b="1">
                <a:solidFill>
                  <a:srgbClr val="050507"/>
                </a:solidFill>
                <a:latin typeface="+mn-ea"/>
              </a:endParaRPr>
            </a:p>
          </p:txBody>
        </p:sp>
      </p:grpSp>
      <p:grpSp>
        <p:nvGrpSpPr>
          <p:cNvPr id="76" name="Group 25"/>
          <p:cNvGrpSpPr/>
          <p:nvPr/>
        </p:nvGrpSpPr>
        <p:grpSpPr bwMode="auto">
          <a:xfrm>
            <a:off x="2043430" y="3005494"/>
            <a:ext cx="8591550" cy="517525"/>
            <a:chOff x="240" y="1980"/>
            <a:chExt cx="5412" cy="326"/>
          </a:xfrm>
        </p:grpSpPr>
        <p:sp>
          <p:nvSpPr>
            <p:cNvPr id="77" name="Rectangle 26"/>
            <p:cNvSpPr>
              <a:spLocks noChangeArrowheads="1"/>
            </p:cNvSpPr>
            <p:nvPr/>
          </p:nvSpPr>
          <p:spPr bwMode="auto">
            <a:xfrm>
              <a:off x="240" y="2016"/>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50507"/>
                  </a:solidFill>
                  <a:latin typeface="+mn-ea"/>
                </a:rPr>
                <a:t>3</a:t>
              </a:r>
              <a:endParaRPr lang="en-US" altLang="zh-CN" sz="2400" b="1">
                <a:solidFill>
                  <a:srgbClr val="050507"/>
                </a:solidFill>
                <a:latin typeface="+mn-ea"/>
              </a:endParaRPr>
            </a:p>
          </p:txBody>
        </p:sp>
        <p:sp>
          <p:nvSpPr>
            <p:cNvPr id="78" name="Rectangle 27"/>
            <p:cNvSpPr>
              <a:spLocks noChangeArrowheads="1"/>
            </p:cNvSpPr>
            <p:nvPr/>
          </p:nvSpPr>
          <p:spPr bwMode="auto">
            <a:xfrm>
              <a:off x="2649" y="1991"/>
              <a:ext cx="88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50507"/>
                  </a:solidFill>
                  <a:latin typeface="+mn-ea"/>
                </a:rPr>
                <a:t>int x,y,z</a:t>
              </a:r>
              <a:r>
                <a:rPr lang="zh-CN" altLang="en-US" sz="2400" b="1">
                  <a:solidFill>
                    <a:srgbClr val="050507"/>
                  </a:solidFill>
                  <a:latin typeface="+mn-ea"/>
                </a:rPr>
                <a:t>$</a:t>
              </a:r>
              <a:endParaRPr lang="zh-CN" altLang="en-US" sz="2400" b="1">
                <a:solidFill>
                  <a:srgbClr val="050507"/>
                </a:solidFill>
                <a:latin typeface="+mn-ea"/>
              </a:endParaRPr>
            </a:p>
          </p:txBody>
        </p:sp>
        <p:sp>
          <p:nvSpPr>
            <p:cNvPr id="79" name="Rectangle 28"/>
            <p:cNvSpPr>
              <a:spLocks noChangeArrowheads="1"/>
            </p:cNvSpPr>
            <p:nvPr/>
          </p:nvSpPr>
          <p:spPr bwMode="auto">
            <a:xfrm>
              <a:off x="4524" y="1980"/>
              <a:ext cx="112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匹配</a:t>
              </a:r>
              <a:endParaRPr lang="zh-CN" altLang="en-US" sz="2400" b="1">
                <a:solidFill>
                  <a:srgbClr val="050507"/>
                </a:solidFill>
                <a:latin typeface="+mn-ea"/>
              </a:endParaRPr>
            </a:p>
          </p:txBody>
        </p:sp>
        <p:sp>
          <p:nvSpPr>
            <p:cNvPr id="80" name="Rectangle 29"/>
            <p:cNvSpPr>
              <a:spLocks noChangeArrowheads="1"/>
            </p:cNvSpPr>
            <p:nvPr/>
          </p:nvSpPr>
          <p:spPr bwMode="auto">
            <a:xfrm>
              <a:off x="576" y="2016"/>
              <a:ext cx="21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50507"/>
                  </a:solidFill>
                  <a:latin typeface="+mn-ea"/>
                </a:rPr>
                <a:t>$ </a:t>
              </a:r>
              <a:r>
                <a:rPr lang="en-US" altLang="zh-CN" sz="2400" b="1">
                  <a:solidFill>
                    <a:srgbClr val="050507"/>
                  </a:solidFill>
                  <a:latin typeface="+mn-ea"/>
                </a:rPr>
                <a:t>var-list</a:t>
              </a:r>
              <a:r>
                <a:rPr lang="zh-CN" altLang="en-US" sz="2400" b="1">
                  <a:solidFill>
                    <a:srgbClr val="050507"/>
                  </a:solidFill>
                  <a:latin typeface="+mn-ea"/>
                </a:rPr>
                <a:t> </a:t>
              </a:r>
              <a:r>
                <a:rPr lang="en-US" altLang="zh-CN" sz="2400" b="1">
                  <a:solidFill>
                    <a:srgbClr val="050507"/>
                  </a:solidFill>
                  <a:latin typeface="+mn-ea"/>
                </a:rPr>
                <a:t>int</a:t>
              </a:r>
              <a:endParaRPr lang="zh-CN" altLang="en-US" sz="2400" b="1">
                <a:solidFill>
                  <a:srgbClr val="050507"/>
                </a:solidFill>
                <a:latin typeface="+mn-ea"/>
              </a:endParaRPr>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32" name="Group 2"/>
          <p:cNvGrpSpPr/>
          <p:nvPr/>
        </p:nvGrpSpPr>
        <p:grpSpPr bwMode="auto">
          <a:xfrm>
            <a:off x="2019723" y="3874061"/>
            <a:ext cx="8367712" cy="511175"/>
            <a:chOff x="243" y="744"/>
            <a:chExt cx="5271" cy="322"/>
          </a:xfrm>
        </p:grpSpPr>
        <p:sp>
          <p:nvSpPr>
            <p:cNvPr id="33" name="Rectangle 3"/>
            <p:cNvSpPr>
              <a:spLocks noChangeArrowheads="1"/>
            </p:cNvSpPr>
            <p:nvPr>
              <p:custDataLst>
                <p:tags r:id="rId1"/>
              </p:custDataLst>
            </p:nvPr>
          </p:nvSpPr>
          <p:spPr bwMode="auto">
            <a:xfrm>
              <a:off x="243" y="776"/>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400" b="1">
                  <a:solidFill>
                    <a:srgbClr val="050507"/>
                  </a:solidFill>
                  <a:latin typeface="+mn-ea"/>
                </a:rPr>
                <a:t>5</a:t>
              </a:r>
              <a:endParaRPr lang="en-US" altLang="zh-CN" sz="2400" b="1">
                <a:solidFill>
                  <a:srgbClr val="050507"/>
                </a:solidFill>
                <a:latin typeface="+mn-ea"/>
              </a:endParaRPr>
            </a:p>
          </p:txBody>
        </p:sp>
        <p:sp>
          <p:nvSpPr>
            <p:cNvPr id="34" name="Rectangle 4"/>
            <p:cNvSpPr>
              <a:spLocks noChangeArrowheads="1"/>
            </p:cNvSpPr>
            <p:nvPr>
              <p:custDataLst>
                <p:tags r:id="rId2"/>
              </p:custDataLst>
            </p:nvPr>
          </p:nvSpPr>
          <p:spPr bwMode="auto">
            <a:xfrm>
              <a:off x="602" y="776"/>
              <a:ext cx="267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50507"/>
                  </a:solidFill>
                  <a:latin typeface="+mn-ea"/>
                </a:rPr>
                <a:t>$ </a:t>
              </a:r>
              <a:r>
                <a:rPr lang="en-US" altLang="zh-CN" sz="2400" b="1">
                  <a:solidFill>
                    <a:srgbClr val="050507"/>
                  </a:solidFill>
                  <a:latin typeface="+mn-ea"/>
                </a:rPr>
                <a:t>list</a:t>
              </a:r>
              <a:r>
                <a:rPr lang="zh-CN" altLang="en-US" sz="2400" b="1">
                  <a:solidFill>
                    <a:srgbClr val="050507"/>
                  </a:solidFill>
                  <a:latin typeface="+mn-ea"/>
                </a:rPr>
                <a:t> </a:t>
              </a:r>
              <a:r>
                <a:rPr lang="en-US" altLang="zh-CN" sz="2400" b="1">
                  <a:solidFill>
                    <a:srgbClr val="050507"/>
                  </a:solidFill>
                  <a:latin typeface="+mn-ea"/>
                </a:rPr>
                <a:t>identifier</a:t>
              </a:r>
              <a:endParaRPr lang="zh-CN" altLang="en-US" sz="2400" b="1">
                <a:solidFill>
                  <a:srgbClr val="050507"/>
                </a:solidFill>
                <a:latin typeface="+mn-ea"/>
              </a:endParaRPr>
            </a:p>
          </p:txBody>
        </p:sp>
        <p:sp>
          <p:nvSpPr>
            <p:cNvPr id="35" name="Rectangle 5"/>
            <p:cNvSpPr>
              <a:spLocks noChangeArrowheads="1"/>
            </p:cNvSpPr>
            <p:nvPr>
              <p:custDataLst>
                <p:tags r:id="rId3"/>
              </p:custDataLst>
            </p:nvPr>
          </p:nvSpPr>
          <p:spPr bwMode="auto">
            <a:xfrm>
              <a:off x="2679" y="744"/>
              <a:ext cx="119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50507"/>
                  </a:solidFill>
                  <a:latin typeface="+mn-ea"/>
                </a:rPr>
                <a:t>x,y,z</a:t>
              </a:r>
              <a:r>
                <a:rPr lang="zh-CN" altLang="en-US" sz="2400" b="1">
                  <a:solidFill>
                    <a:srgbClr val="050507"/>
                  </a:solidFill>
                  <a:latin typeface="+mn-ea"/>
                </a:rPr>
                <a:t>$</a:t>
              </a:r>
              <a:endParaRPr lang="zh-CN" altLang="en-US" sz="2400" b="1">
                <a:solidFill>
                  <a:srgbClr val="050507"/>
                </a:solidFill>
                <a:latin typeface="+mn-ea"/>
              </a:endParaRPr>
            </a:p>
          </p:txBody>
        </p:sp>
        <p:sp>
          <p:nvSpPr>
            <p:cNvPr id="36" name="Rectangle 6"/>
            <p:cNvSpPr>
              <a:spLocks noChangeArrowheads="1"/>
            </p:cNvSpPr>
            <p:nvPr>
              <p:custDataLst>
                <p:tags r:id="rId4"/>
              </p:custDataLst>
            </p:nvPr>
          </p:nvSpPr>
          <p:spPr bwMode="auto">
            <a:xfrm>
              <a:off x="4542" y="744"/>
              <a:ext cx="97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50507"/>
                  </a:solidFill>
                  <a:latin typeface="+mn-ea"/>
                </a:rPr>
                <a:t>匹配</a:t>
              </a:r>
              <a:endParaRPr lang="zh-CN" altLang="en-US" sz="2400" b="1">
                <a:solidFill>
                  <a:srgbClr val="050507"/>
                </a:solidFill>
                <a:latin typeface="+mn-ea"/>
              </a:endParaRPr>
            </a:p>
          </p:txBody>
        </p:sp>
      </p:grpSp>
      <p:grpSp>
        <p:nvGrpSpPr>
          <p:cNvPr id="37" name="Group 7"/>
          <p:cNvGrpSpPr/>
          <p:nvPr/>
        </p:nvGrpSpPr>
        <p:grpSpPr bwMode="auto">
          <a:xfrm>
            <a:off x="2019723" y="4151859"/>
            <a:ext cx="8958263" cy="579438"/>
            <a:chOff x="219" y="1200"/>
            <a:chExt cx="5643" cy="365"/>
          </a:xfrm>
        </p:grpSpPr>
        <p:sp>
          <p:nvSpPr>
            <p:cNvPr id="38" name="Rectangle 8"/>
            <p:cNvSpPr>
              <a:spLocks noChangeArrowheads="1"/>
            </p:cNvSpPr>
            <p:nvPr>
              <p:custDataLst>
                <p:tags r:id="rId5"/>
              </p:custDataLst>
            </p:nvPr>
          </p:nvSpPr>
          <p:spPr bwMode="auto">
            <a:xfrm>
              <a:off x="219" y="1275"/>
              <a:ext cx="16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a:solidFill>
                    <a:srgbClr val="050507"/>
                  </a:solidFill>
                  <a:latin typeface="+mn-ea"/>
                </a:rPr>
                <a:t>6</a:t>
              </a:r>
              <a:endParaRPr lang="zh-CN" altLang="en-US" sz="2400" b="1">
                <a:solidFill>
                  <a:srgbClr val="050507"/>
                </a:solidFill>
                <a:latin typeface="+mn-ea"/>
              </a:endParaRPr>
            </a:p>
          </p:txBody>
        </p:sp>
        <p:sp>
          <p:nvSpPr>
            <p:cNvPr id="39" name="Rectangle 9"/>
            <p:cNvSpPr>
              <a:spLocks noChangeArrowheads="1"/>
            </p:cNvSpPr>
            <p:nvPr>
              <p:custDataLst>
                <p:tags r:id="rId6"/>
              </p:custDataLst>
            </p:nvPr>
          </p:nvSpPr>
          <p:spPr bwMode="auto">
            <a:xfrm>
              <a:off x="592" y="1272"/>
              <a:ext cx="166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a:solidFill>
                    <a:srgbClr val="050507"/>
                  </a:solidFill>
                  <a:latin typeface="+mn-ea"/>
                </a:rPr>
                <a:t>$ </a:t>
              </a:r>
              <a:r>
                <a:rPr lang="en-US" altLang="zh-CN" sz="2400" b="1">
                  <a:solidFill>
                    <a:srgbClr val="050507"/>
                  </a:solidFill>
                  <a:latin typeface="+mn-ea"/>
                </a:rPr>
                <a:t>list</a:t>
              </a:r>
              <a:endParaRPr lang="zh-CN" altLang="en-US" sz="2400" b="1">
                <a:solidFill>
                  <a:srgbClr val="050507"/>
                </a:solidFill>
                <a:latin typeface="+mn-ea"/>
              </a:endParaRPr>
            </a:p>
          </p:txBody>
        </p:sp>
        <p:sp>
          <p:nvSpPr>
            <p:cNvPr id="40" name="Rectangle 10"/>
            <p:cNvSpPr>
              <a:spLocks noChangeArrowheads="1"/>
            </p:cNvSpPr>
            <p:nvPr>
              <p:custDataLst>
                <p:tags r:id="rId7"/>
              </p:custDataLst>
            </p:nvPr>
          </p:nvSpPr>
          <p:spPr bwMode="auto">
            <a:xfrm>
              <a:off x="2694" y="1228"/>
              <a:ext cx="182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50507"/>
                  </a:solidFill>
                  <a:latin typeface="+mn-ea"/>
                </a:rPr>
                <a:t>,y,z</a:t>
              </a:r>
              <a:r>
                <a:rPr lang="zh-CN" altLang="en-US" sz="2400" b="1">
                  <a:solidFill>
                    <a:srgbClr val="050507"/>
                  </a:solidFill>
                  <a:latin typeface="+mn-ea"/>
                </a:rPr>
                <a:t>$</a:t>
              </a:r>
              <a:endParaRPr lang="zh-CN" altLang="en-US" sz="2400" b="1">
                <a:solidFill>
                  <a:srgbClr val="050507"/>
                </a:solidFill>
                <a:latin typeface="+mn-ea"/>
              </a:endParaRPr>
            </a:p>
          </p:txBody>
        </p:sp>
        <p:sp>
          <p:nvSpPr>
            <p:cNvPr id="41" name="Rectangle 11"/>
            <p:cNvSpPr>
              <a:spLocks noChangeArrowheads="1"/>
            </p:cNvSpPr>
            <p:nvPr>
              <p:custDataLst>
                <p:tags r:id="rId8"/>
              </p:custDataLst>
            </p:nvPr>
          </p:nvSpPr>
          <p:spPr bwMode="auto">
            <a:xfrm>
              <a:off x="4560" y="1200"/>
              <a:ext cx="130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50507"/>
                  </a:solidFill>
                  <a:latin typeface="+mn-ea"/>
                </a:rPr>
                <a:t>r5</a:t>
              </a:r>
              <a:endParaRPr lang="en-US" altLang="zh-CN" sz="2400" b="1">
                <a:solidFill>
                  <a:srgbClr val="050507"/>
                </a:solidFill>
                <a:latin typeface="+mn-ea"/>
              </a:endParaRPr>
            </a:p>
          </p:txBody>
        </p:sp>
      </p:grpSp>
      <p:grpSp>
        <p:nvGrpSpPr>
          <p:cNvPr id="42" name="Group 12"/>
          <p:cNvGrpSpPr/>
          <p:nvPr/>
        </p:nvGrpSpPr>
        <p:grpSpPr bwMode="auto">
          <a:xfrm>
            <a:off x="2019934" y="4505231"/>
            <a:ext cx="8543925" cy="536575"/>
            <a:chOff x="240" y="1728"/>
            <a:chExt cx="5382" cy="338"/>
          </a:xfrm>
        </p:grpSpPr>
        <p:sp>
          <p:nvSpPr>
            <p:cNvPr id="43" name="Rectangle 13"/>
            <p:cNvSpPr>
              <a:spLocks noChangeArrowheads="1"/>
            </p:cNvSpPr>
            <p:nvPr>
              <p:custDataLst>
                <p:tags r:id="rId9"/>
              </p:custDataLst>
            </p:nvPr>
          </p:nvSpPr>
          <p:spPr bwMode="auto">
            <a:xfrm>
              <a:off x="672" y="1776"/>
              <a:ext cx="148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dirty="0">
                  <a:solidFill>
                    <a:srgbClr val="050507"/>
                  </a:solidFill>
                  <a:latin typeface="+mn-ea"/>
                </a:rPr>
                <a:t>$</a:t>
              </a:r>
              <a:r>
                <a:rPr lang="en-US" altLang="zh-CN" sz="2400" b="1" dirty="0">
                  <a:solidFill>
                    <a:srgbClr val="050507"/>
                  </a:solidFill>
                  <a:latin typeface="+mn-ea"/>
                </a:rPr>
                <a:t>var-list,</a:t>
              </a:r>
              <a:endParaRPr lang="zh-CN" altLang="en-US" sz="2400" b="1" dirty="0">
                <a:solidFill>
                  <a:srgbClr val="050507"/>
                </a:solidFill>
                <a:latin typeface="+mn-ea"/>
              </a:endParaRPr>
            </a:p>
          </p:txBody>
        </p:sp>
        <p:sp>
          <p:nvSpPr>
            <p:cNvPr id="44" name="Rectangle 14"/>
            <p:cNvSpPr>
              <a:spLocks noChangeArrowheads="1"/>
            </p:cNvSpPr>
            <p:nvPr>
              <p:custDataLst>
                <p:tags r:id="rId10"/>
              </p:custDataLst>
            </p:nvPr>
          </p:nvSpPr>
          <p:spPr bwMode="auto">
            <a:xfrm>
              <a:off x="2696" y="1728"/>
              <a:ext cx="152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50507"/>
                  </a:solidFill>
                  <a:latin typeface="+mn-ea"/>
                </a:rPr>
                <a:t>,y,z</a:t>
              </a:r>
              <a:r>
                <a:rPr lang="zh-CN" altLang="en-US" sz="2400" b="1">
                  <a:solidFill>
                    <a:srgbClr val="050507"/>
                  </a:solidFill>
                  <a:latin typeface="+mn-ea"/>
                </a:rPr>
                <a:t>$</a:t>
              </a:r>
              <a:endParaRPr lang="zh-CN" altLang="en-US" sz="2400" b="1">
                <a:solidFill>
                  <a:srgbClr val="050507"/>
                </a:solidFill>
                <a:latin typeface="+mn-ea"/>
              </a:endParaRPr>
            </a:p>
          </p:txBody>
        </p:sp>
        <p:sp>
          <p:nvSpPr>
            <p:cNvPr id="45" name="Rectangle 15"/>
            <p:cNvSpPr>
              <a:spLocks noChangeArrowheads="1"/>
            </p:cNvSpPr>
            <p:nvPr>
              <p:custDataLst>
                <p:tags r:id="rId11"/>
              </p:custDataLst>
            </p:nvPr>
          </p:nvSpPr>
          <p:spPr bwMode="auto">
            <a:xfrm>
              <a:off x="240" y="1776"/>
              <a:ext cx="16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50507"/>
                  </a:solidFill>
                  <a:latin typeface="+mn-ea"/>
                </a:rPr>
                <a:t>7</a:t>
              </a:r>
              <a:endParaRPr lang="zh-CN" altLang="en-US" sz="2400" b="1">
                <a:solidFill>
                  <a:srgbClr val="050507"/>
                </a:solidFill>
                <a:latin typeface="+mn-ea"/>
              </a:endParaRPr>
            </a:p>
          </p:txBody>
        </p:sp>
        <p:sp>
          <p:nvSpPr>
            <p:cNvPr id="46" name="Rectangle 16"/>
            <p:cNvSpPr>
              <a:spLocks noChangeArrowheads="1"/>
            </p:cNvSpPr>
            <p:nvPr>
              <p:custDataLst>
                <p:tags r:id="rId12"/>
              </p:custDataLst>
            </p:nvPr>
          </p:nvSpPr>
          <p:spPr bwMode="auto">
            <a:xfrm>
              <a:off x="4512" y="1728"/>
              <a:ext cx="111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50507"/>
                  </a:solidFill>
                  <a:latin typeface="+mn-ea"/>
                </a:rPr>
                <a:t>匹配</a:t>
              </a:r>
              <a:endParaRPr lang="zh-CN" altLang="en-US" sz="2400" b="1">
                <a:solidFill>
                  <a:srgbClr val="050507"/>
                </a:solidFill>
                <a:latin typeface="+mn-ea"/>
              </a:endParaRPr>
            </a:p>
          </p:txBody>
        </p:sp>
      </p:grpSp>
      <p:grpSp>
        <p:nvGrpSpPr>
          <p:cNvPr id="47" name="Group 17"/>
          <p:cNvGrpSpPr/>
          <p:nvPr/>
        </p:nvGrpSpPr>
        <p:grpSpPr bwMode="auto">
          <a:xfrm>
            <a:off x="2019934" y="4965970"/>
            <a:ext cx="8291513" cy="536575"/>
            <a:chOff x="240" y="2208"/>
            <a:chExt cx="5223" cy="338"/>
          </a:xfrm>
        </p:grpSpPr>
        <p:sp>
          <p:nvSpPr>
            <p:cNvPr id="48" name="Rectangle 18"/>
            <p:cNvSpPr>
              <a:spLocks noChangeArrowheads="1"/>
            </p:cNvSpPr>
            <p:nvPr>
              <p:custDataLst>
                <p:tags r:id="rId13"/>
              </p:custDataLst>
            </p:nvPr>
          </p:nvSpPr>
          <p:spPr bwMode="auto">
            <a:xfrm>
              <a:off x="672" y="2208"/>
              <a:ext cx="187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50507"/>
                  </a:solidFill>
                  <a:latin typeface="+mn-ea"/>
                </a:rPr>
                <a:t>$</a:t>
              </a:r>
              <a:r>
                <a:rPr lang="en-US" altLang="zh-CN" sz="2400" b="1">
                  <a:solidFill>
                    <a:srgbClr val="050507"/>
                  </a:solidFill>
                  <a:latin typeface="+mn-ea"/>
                </a:rPr>
                <a:t>var-list</a:t>
              </a:r>
              <a:endParaRPr lang="zh-CN" altLang="en-US" sz="2400" b="1">
                <a:solidFill>
                  <a:srgbClr val="050507"/>
                </a:solidFill>
                <a:latin typeface="+mn-ea"/>
              </a:endParaRPr>
            </a:p>
          </p:txBody>
        </p:sp>
        <p:sp>
          <p:nvSpPr>
            <p:cNvPr id="49" name="Rectangle 19"/>
            <p:cNvSpPr>
              <a:spLocks noChangeArrowheads="1"/>
            </p:cNvSpPr>
            <p:nvPr>
              <p:custDataLst>
                <p:tags r:id="rId14"/>
              </p:custDataLst>
            </p:nvPr>
          </p:nvSpPr>
          <p:spPr bwMode="auto">
            <a:xfrm>
              <a:off x="240" y="2208"/>
              <a:ext cx="33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50507"/>
                  </a:solidFill>
                  <a:latin typeface="+mn-ea"/>
                </a:rPr>
                <a:t>8</a:t>
              </a:r>
              <a:endParaRPr lang="zh-CN" altLang="en-US" sz="2400" b="1">
                <a:solidFill>
                  <a:srgbClr val="050507"/>
                </a:solidFill>
                <a:latin typeface="+mn-ea"/>
              </a:endParaRPr>
            </a:p>
          </p:txBody>
        </p:sp>
        <p:sp>
          <p:nvSpPr>
            <p:cNvPr id="50" name="Rectangle 20"/>
            <p:cNvSpPr>
              <a:spLocks noChangeArrowheads="1"/>
            </p:cNvSpPr>
            <p:nvPr>
              <p:custDataLst>
                <p:tags r:id="rId15"/>
              </p:custDataLst>
            </p:nvPr>
          </p:nvSpPr>
          <p:spPr bwMode="auto">
            <a:xfrm>
              <a:off x="4608" y="2256"/>
              <a:ext cx="85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50507"/>
                  </a:solidFill>
                  <a:latin typeface="+mn-ea"/>
                </a:rPr>
                <a:t>r4</a:t>
              </a:r>
              <a:endParaRPr lang="en-US" altLang="zh-CN" sz="2400" b="1">
                <a:solidFill>
                  <a:srgbClr val="050507"/>
                </a:solidFill>
                <a:latin typeface="+mn-ea"/>
              </a:endParaRPr>
            </a:p>
          </p:txBody>
        </p:sp>
        <p:sp>
          <p:nvSpPr>
            <p:cNvPr id="51" name="Rectangle 21"/>
            <p:cNvSpPr>
              <a:spLocks noChangeArrowheads="1"/>
            </p:cNvSpPr>
            <p:nvPr>
              <p:custDataLst>
                <p:tags r:id="rId16"/>
              </p:custDataLst>
            </p:nvPr>
          </p:nvSpPr>
          <p:spPr bwMode="auto">
            <a:xfrm>
              <a:off x="2696" y="2256"/>
              <a:ext cx="163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50507"/>
                  </a:solidFill>
                  <a:latin typeface="+mn-ea"/>
                </a:rPr>
                <a:t>y,z</a:t>
              </a:r>
              <a:r>
                <a:rPr lang="zh-CN" altLang="en-US" sz="2400" b="1">
                  <a:solidFill>
                    <a:srgbClr val="050507"/>
                  </a:solidFill>
                  <a:latin typeface="+mn-ea"/>
                </a:rPr>
                <a:t>$</a:t>
              </a:r>
              <a:endParaRPr lang="zh-CN" altLang="en-US" sz="2400" b="1">
                <a:solidFill>
                  <a:srgbClr val="050507"/>
                </a:solidFill>
                <a:latin typeface="+mn-ea"/>
              </a:endParaRPr>
            </a:p>
          </p:txBody>
        </p:sp>
      </p:grpSp>
      <p:grpSp>
        <p:nvGrpSpPr>
          <p:cNvPr id="52" name="Group 22"/>
          <p:cNvGrpSpPr/>
          <p:nvPr/>
        </p:nvGrpSpPr>
        <p:grpSpPr bwMode="auto">
          <a:xfrm>
            <a:off x="2053590" y="5304790"/>
            <a:ext cx="7831455" cy="536575"/>
            <a:chOff x="777" y="2537"/>
            <a:chExt cx="4455" cy="338"/>
          </a:xfrm>
        </p:grpSpPr>
        <p:sp>
          <p:nvSpPr>
            <p:cNvPr id="82" name="Rectangle 23"/>
            <p:cNvSpPr>
              <a:spLocks noChangeArrowheads="1"/>
            </p:cNvSpPr>
            <p:nvPr>
              <p:custDataLst>
                <p:tags r:id="rId17"/>
              </p:custDataLst>
            </p:nvPr>
          </p:nvSpPr>
          <p:spPr bwMode="auto">
            <a:xfrm>
              <a:off x="777" y="2537"/>
              <a:ext cx="132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dirty="0">
                  <a:solidFill>
                    <a:srgbClr val="F72F89"/>
                  </a:solidFill>
                  <a:latin typeface="+mn-ea"/>
                </a:rPr>
                <a:t>9      …</a:t>
              </a:r>
              <a:endParaRPr lang="zh-CN" altLang="en-US" sz="2400" b="1" dirty="0">
                <a:solidFill>
                  <a:srgbClr val="F72F89"/>
                </a:solidFill>
                <a:latin typeface="+mn-ea"/>
              </a:endParaRPr>
            </a:p>
          </p:txBody>
        </p:sp>
        <p:sp>
          <p:nvSpPr>
            <p:cNvPr id="83" name="Rectangle 24"/>
            <p:cNvSpPr>
              <a:spLocks noChangeArrowheads="1"/>
            </p:cNvSpPr>
            <p:nvPr>
              <p:custDataLst>
                <p:tags r:id="rId18"/>
              </p:custDataLst>
            </p:nvPr>
          </p:nvSpPr>
          <p:spPr bwMode="auto">
            <a:xfrm>
              <a:off x="3177" y="2585"/>
              <a:ext cx="62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F72F89"/>
                  </a:solidFill>
                  <a:latin typeface="+mn-ea"/>
                </a:rPr>
                <a:t>…</a:t>
              </a:r>
              <a:endParaRPr lang="zh-CN" altLang="en-US" sz="2400" b="1">
                <a:solidFill>
                  <a:srgbClr val="F72F89"/>
                </a:solidFill>
                <a:latin typeface="+mn-ea"/>
              </a:endParaRPr>
            </a:p>
          </p:txBody>
        </p:sp>
        <p:sp>
          <p:nvSpPr>
            <p:cNvPr id="84" name="Rectangle 25"/>
            <p:cNvSpPr>
              <a:spLocks noChangeArrowheads="1"/>
            </p:cNvSpPr>
            <p:nvPr>
              <p:custDataLst>
                <p:tags r:id="rId19"/>
              </p:custDataLst>
            </p:nvPr>
          </p:nvSpPr>
          <p:spPr bwMode="auto">
            <a:xfrm>
              <a:off x="4608" y="2544"/>
              <a:ext cx="62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F72F89"/>
                  </a:solidFill>
                  <a:latin typeface="+mn-ea"/>
                </a:rPr>
                <a:t>…</a:t>
              </a:r>
              <a:endParaRPr lang="zh-CN" altLang="en-US" sz="2400" b="1">
                <a:solidFill>
                  <a:srgbClr val="F72F89"/>
                </a:solidFill>
                <a:latin typeface="+mn-ea"/>
              </a:endParaRPr>
            </a:p>
          </p:txBody>
        </p:sp>
      </p:grpSp>
      <p:grpSp>
        <p:nvGrpSpPr>
          <p:cNvPr id="92" name="Group 33"/>
          <p:cNvGrpSpPr/>
          <p:nvPr/>
        </p:nvGrpSpPr>
        <p:grpSpPr bwMode="auto">
          <a:xfrm>
            <a:off x="2207260" y="5734050"/>
            <a:ext cx="8061637" cy="474854"/>
            <a:chOff x="288" y="3012"/>
            <a:chExt cx="5078" cy="392"/>
          </a:xfrm>
        </p:grpSpPr>
        <p:sp>
          <p:nvSpPr>
            <p:cNvPr id="93" name="Line 34"/>
            <p:cNvSpPr>
              <a:spLocks noChangeShapeType="1"/>
            </p:cNvSpPr>
            <p:nvPr>
              <p:custDataLst>
                <p:tags r:id="rId20"/>
              </p:custDataLst>
            </p:nvPr>
          </p:nvSpPr>
          <p:spPr bwMode="auto">
            <a:xfrm>
              <a:off x="288" y="3340"/>
              <a:ext cx="4896" cy="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94" name="Rectangle 35"/>
            <p:cNvSpPr>
              <a:spLocks noChangeArrowheads="1"/>
            </p:cNvSpPr>
            <p:nvPr>
              <p:custDataLst>
                <p:tags r:id="rId21"/>
              </p:custDataLst>
            </p:nvPr>
          </p:nvSpPr>
          <p:spPr bwMode="auto">
            <a:xfrm>
              <a:off x="672" y="3012"/>
              <a:ext cx="1872"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dirty="0">
                  <a:solidFill>
                    <a:srgbClr val="050507"/>
                  </a:solidFill>
                  <a:latin typeface="+mn-ea"/>
                </a:rPr>
                <a:t>$</a:t>
              </a:r>
              <a:endParaRPr lang="zh-CN" altLang="en-US" sz="2400" b="1" dirty="0">
                <a:solidFill>
                  <a:srgbClr val="050507"/>
                </a:solidFill>
                <a:latin typeface="+mn-ea"/>
              </a:endParaRPr>
            </a:p>
          </p:txBody>
        </p:sp>
        <p:sp>
          <p:nvSpPr>
            <p:cNvPr id="95" name="Rectangle 36"/>
            <p:cNvSpPr>
              <a:spLocks noChangeArrowheads="1"/>
            </p:cNvSpPr>
            <p:nvPr>
              <p:custDataLst>
                <p:tags r:id="rId22"/>
              </p:custDataLst>
            </p:nvPr>
          </p:nvSpPr>
          <p:spPr bwMode="auto">
            <a:xfrm>
              <a:off x="4511" y="3012"/>
              <a:ext cx="855"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50507"/>
                  </a:solidFill>
                  <a:latin typeface="+mn-ea"/>
                </a:rPr>
                <a:t>成功</a:t>
              </a:r>
              <a:endParaRPr lang="zh-CN" altLang="en-US" sz="2400" b="1">
                <a:solidFill>
                  <a:srgbClr val="050507"/>
                </a:solidFill>
                <a:latin typeface="+mn-ea"/>
              </a:endParaRPr>
            </a:p>
          </p:txBody>
        </p:sp>
        <p:sp>
          <p:nvSpPr>
            <p:cNvPr id="96" name="Rectangle 37"/>
            <p:cNvSpPr>
              <a:spLocks noChangeArrowheads="1"/>
            </p:cNvSpPr>
            <p:nvPr>
              <p:custDataLst>
                <p:tags r:id="rId23"/>
              </p:custDataLst>
            </p:nvPr>
          </p:nvSpPr>
          <p:spPr bwMode="auto">
            <a:xfrm>
              <a:off x="3120" y="3024"/>
              <a:ext cx="1209"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50507"/>
                  </a:solidFill>
                  <a:latin typeface="+mn-ea"/>
                </a:rPr>
                <a:t>$</a:t>
              </a:r>
              <a:endParaRPr lang="zh-CN" altLang="en-US" sz="2400" b="1">
                <a:solidFill>
                  <a:srgbClr val="050507"/>
                </a:solidFill>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arn(outHorizontal)">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barn(outHorizontal)">
                                      <p:cBhvr>
                                        <p:cTn id="12" dur="50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barn(outHorizontal)">
                                      <p:cBhvr>
                                        <p:cTn id="17" dur="500"/>
                                        <p:tgtEl>
                                          <p:spTgt spid="7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66"/>
                                        </p:tgtEl>
                                        <p:attrNameLst>
                                          <p:attrName>style.visibility</p:attrName>
                                        </p:attrNameLst>
                                      </p:cBhvr>
                                      <p:to>
                                        <p:strVal val="visible"/>
                                      </p:to>
                                    </p:set>
                                    <p:animEffect transition="in" filter="barn(outHorizontal)">
                                      <p:cBhvr>
                                        <p:cTn id="22" dur="500"/>
                                        <p:tgtEl>
                                          <p:spTgt spid="6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barn(outHorizontal)">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barn(outHorizontal)">
                                      <p:cBhvr>
                                        <p:cTn id="32" dur="5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barn(outHorizontal)">
                                      <p:cBhvr>
                                        <p:cTn id="37" dur="500"/>
                                        <p:tgtEl>
                                          <p:spTgt spid="42"/>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barn(outHorizontal)">
                                      <p:cBhvr>
                                        <p:cTn id="42" dur="5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barn(outHorizontal)">
                                      <p:cBhvr>
                                        <p:cTn id="47" dur="50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92"/>
                                        </p:tgtEl>
                                        <p:attrNameLst>
                                          <p:attrName>style.visibility</p:attrName>
                                        </p:attrNameLst>
                                      </p:cBhvr>
                                      <p:to>
                                        <p:strVal val="visible"/>
                                      </p:to>
                                    </p:set>
                                    <p:animEffect transition="in" filter="barn(outHorizontal)">
                                      <p:cBhvr>
                                        <p:cTn id="52"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3"/>
          </p:nvPr>
        </p:nvSpPr>
        <p:spPr>
          <a:xfrm>
            <a:off x="1433830" y="2228850"/>
            <a:ext cx="9553575" cy="2736215"/>
          </a:xfrm>
        </p:spPr>
        <p:txBody>
          <a:bodyPr>
            <a:normAutofit/>
          </a:bodyPr>
          <a:lstStyle/>
          <a:p>
            <a:pPr>
              <a:lnSpc>
                <a:spcPct val="150000"/>
              </a:lnSpc>
            </a:pPr>
            <a:r>
              <a:rPr lang="en-US" altLang="zh-CN" sz="2800" dirty="0"/>
              <a:t>LL(1)</a:t>
            </a:r>
            <a:r>
              <a:rPr lang="zh-CN" altLang="en-US" sz="2800" dirty="0"/>
              <a:t>分析的基本方法</a:t>
            </a:r>
            <a:endParaRPr lang="zh-CN" altLang="en-US" sz="2800" dirty="0"/>
          </a:p>
          <a:p>
            <a:pPr>
              <a:lnSpc>
                <a:spcPct val="150000"/>
              </a:lnSpc>
            </a:pPr>
            <a:r>
              <a:rPr lang="en-US" altLang="zh-CN" sz="2800" dirty="0">
                <a:solidFill>
                  <a:srgbClr val="0070C0"/>
                </a:solidFill>
              </a:rPr>
              <a:t>LL(1)</a:t>
            </a:r>
            <a:r>
              <a:rPr lang="zh-CN" altLang="en-US" sz="2800" dirty="0">
                <a:solidFill>
                  <a:srgbClr val="0070C0"/>
                </a:solidFill>
              </a:rPr>
              <a:t>分析与算法</a:t>
            </a:r>
            <a:endParaRPr lang="zh-CN" altLang="en-US" sz="2800" dirty="0">
              <a:solidFill>
                <a:srgbClr val="0070C0"/>
              </a:solidFill>
            </a:endParaRPr>
          </a:p>
          <a:p>
            <a:pPr>
              <a:lnSpc>
                <a:spcPct val="150000"/>
              </a:lnSpc>
            </a:pPr>
            <a:r>
              <a:rPr lang="zh-CN" altLang="en-US" sz="2800" dirty="0"/>
              <a:t>消除左递归和提取左因子</a:t>
            </a:r>
            <a:endParaRPr lang="zh-CN" altLang="en-US" sz="2800" dirty="0"/>
          </a:p>
        </p:txBody>
      </p:sp>
      <p:sp>
        <p:nvSpPr>
          <p:cNvPr id="15" name="文本占位符 14"/>
          <p:cNvSpPr>
            <a:spLocks noGrp="1"/>
          </p:cNvSpPr>
          <p:nvPr>
            <p:ph type="body" sz="quarter" idx="14"/>
          </p:nvPr>
        </p:nvSpPr>
        <p:spPr>
          <a:xfrm>
            <a:off x="427990" y="276860"/>
            <a:ext cx="8134985" cy="593090"/>
          </a:xfrm>
        </p:spPr>
        <p:txBody>
          <a:bodyPr/>
          <a:lstStyle/>
          <a:p>
            <a:r>
              <a:rPr lang="en-US" altLang="zh-CN" dirty="0"/>
              <a:t>4.3 LL( 1 )</a:t>
            </a:r>
            <a:r>
              <a:rPr lang="zh-CN" altLang="en-US" dirty="0"/>
              <a:t>分析</a:t>
            </a:r>
            <a:endParaRPr lang="zh-CN" altLang="en-US"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449580" y="276860"/>
            <a:ext cx="5986780" cy="593090"/>
          </a:xfrm>
        </p:spPr>
        <p:txBody>
          <a:bodyPr/>
          <a:lstStyle/>
          <a:p>
            <a:r>
              <a:rPr lang="en-US" altLang="zh-CN" dirty="0"/>
              <a:t>4.3.2 LL(1)</a:t>
            </a:r>
            <a:r>
              <a:rPr lang="zh-CN" altLang="en-US" dirty="0"/>
              <a:t>分析与算法</a:t>
            </a:r>
            <a:endParaRPr lang="zh-CN" altLang="en-US" dirty="0"/>
          </a:p>
          <a:p>
            <a:endParaRPr lang="zh-CN" altLang="en-US" dirty="0"/>
          </a:p>
        </p:txBody>
      </p:sp>
      <p:sp>
        <p:nvSpPr>
          <p:cNvPr id="3" name="文本占位符 2"/>
          <p:cNvSpPr>
            <a:spLocks noGrp="1"/>
          </p:cNvSpPr>
          <p:nvPr>
            <p:ph type="body" sz="quarter" idx="15"/>
          </p:nvPr>
        </p:nvSpPr>
        <p:spPr>
          <a:xfrm>
            <a:off x="705485" y="1248410"/>
            <a:ext cx="6350000" cy="515620"/>
          </a:xfrm>
        </p:spPr>
        <p:txBody>
          <a:bodyPr>
            <a:normAutofit lnSpcReduction="10000"/>
          </a:bodyPr>
          <a:lstStyle/>
          <a:p>
            <a:r>
              <a:rPr lang="zh-CN" altLang="en-US" dirty="0"/>
              <a:t>基于表的</a:t>
            </a:r>
            <a:r>
              <a:rPr lang="en-US" altLang="zh-CN" dirty="0"/>
              <a:t>LL(1)</a:t>
            </a:r>
            <a:r>
              <a:rPr lang="zh-CN" altLang="en-US" dirty="0"/>
              <a:t>分析算法流程：</a:t>
            </a:r>
            <a:endParaRPr lang="zh-CN" altLang="en-US" dirty="0"/>
          </a:p>
          <a:p>
            <a:endParaRPr lang="zh-CN" altLang="en-US" dirty="0"/>
          </a:p>
        </p:txBody>
      </p:sp>
      <p:sp>
        <p:nvSpPr>
          <p:cNvPr id="4" name="文本占位符 3"/>
          <p:cNvSpPr>
            <a:spLocks noGrp="1"/>
          </p:cNvSpPr>
          <p:nvPr>
            <p:ph type="body" sz="quarter" idx="16"/>
          </p:nvPr>
        </p:nvSpPr>
        <p:spPr>
          <a:xfrm>
            <a:off x="654685" y="1764030"/>
            <a:ext cx="9634855" cy="4293235"/>
          </a:xfrm>
        </p:spPr>
        <p:txBody>
          <a:bodyPr>
            <a:normAutofit/>
          </a:bodyPr>
          <a:lstStyle/>
          <a:p>
            <a:r>
              <a:rPr lang="en-US" altLang="zh-CN" sz="2000" dirty="0">
                <a:cs typeface="+mn-ea"/>
              </a:rPr>
              <a:t>LL(1)</a:t>
            </a:r>
            <a:r>
              <a:rPr lang="zh-CN" altLang="en-US" sz="2000" dirty="0">
                <a:cs typeface="+mn-ea"/>
              </a:rPr>
              <a:t>分析表的构造是</a:t>
            </a:r>
            <a:r>
              <a:rPr lang="en-US" altLang="zh-CN" sz="2000" dirty="0">
                <a:cs typeface="+mn-ea"/>
              </a:rPr>
              <a:t>LL(1)</a:t>
            </a:r>
            <a:r>
              <a:rPr lang="zh-CN" altLang="en-US" sz="2000" dirty="0">
                <a:cs typeface="+mn-ea"/>
              </a:rPr>
              <a:t>分析算法的关键技术。</a:t>
            </a:r>
            <a:endParaRPr lang="zh-CN" altLang="en-US" sz="2000" dirty="0">
              <a:cs typeface="+mn-ea"/>
            </a:endParaRPr>
          </a:p>
        </p:txBody>
      </p:sp>
      <p:pic>
        <p:nvPicPr>
          <p:cNvPr id="5"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40880" y="1708467"/>
            <a:ext cx="5432425"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5"/>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7" name="Group 3"/>
          <p:cNvGrpSpPr/>
          <p:nvPr/>
        </p:nvGrpSpPr>
        <p:grpSpPr bwMode="auto">
          <a:xfrm>
            <a:off x="1002118" y="2653824"/>
            <a:ext cx="4881157" cy="2999797"/>
            <a:chOff x="335" y="659"/>
            <a:chExt cx="4129" cy="2586"/>
          </a:xfrm>
        </p:grpSpPr>
        <p:sp>
          <p:nvSpPr>
            <p:cNvPr id="8" name="Rectangle 4"/>
            <p:cNvSpPr>
              <a:spLocks noChangeArrowheads="1"/>
            </p:cNvSpPr>
            <p:nvPr>
              <p:custDataLst>
                <p:tags r:id="rId2"/>
              </p:custDataLst>
            </p:nvPr>
          </p:nvSpPr>
          <p:spPr bwMode="auto">
            <a:xfrm>
              <a:off x="1592" y="659"/>
              <a:ext cx="1614"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a:solidFill>
                    <a:srgbClr val="010000"/>
                  </a:solidFill>
                  <a:latin typeface="+mn-ea"/>
                  <a:sym typeface="Symbol" panose="05050102010706020507" pitchFamily="18" charset="2"/>
                </a:rPr>
                <a:t>输入</a:t>
              </a:r>
              <a:endParaRPr lang="zh-CN" altLang="en-US" sz="2400" b="1">
                <a:solidFill>
                  <a:srgbClr val="010000"/>
                </a:solidFill>
                <a:latin typeface="+mn-ea"/>
                <a:sym typeface="Symbol" panose="05050102010706020507" pitchFamily="18" charset="2"/>
              </a:endParaRPr>
            </a:p>
          </p:txBody>
        </p:sp>
        <p:sp>
          <p:nvSpPr>
            <p:cNvPr id="9" name="Line 5"/>
            <p:cNvSpPr>
              <a:spLocks noChangeShapeType="1"/>
            </p:cNvSpPr>
            <p:nvPr>
              <p:custDataLst>
                <p:tags r:id="rId3"/>
              </p:custDataLst>
            </p:nvPr>
          </p:nvSpPr>
          <p:spPr bwMode="auto">
            <a:xfrm>
              <a:off x="336" y="1248"/>
              <a:ext cx="0" cy="10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10" name="Line 6"/>
            <p:cNvSpPr>
              <a:spLocks noChangeShapeType="1"/>
            </p:cNvSpPr>
            <p:nvPr>
              <p:custDataLst>
                <p:tags r:id="rId4"/>
              </p:custDataLst>
            </p:nvPr>
          </p:nvSpPr>
          <p:spPr bwMode="auto">
            <a:xfrm>
              <a:off x="336" y="2304"/>
              <a:ext cx="67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11" name="Line 7"/>
            <p:cNvSpPr>
              <a:spLocks noChangeShapeType="1"/>
            </p:cNvSpPr>
            <p:nvPr>
              <p:custDataLst>
                <p:tags r:id="rId5"/>
              </p:custDataLst>
            </p:nvPr>
          </p:nvSpPr>
          <p:spPr bwMode="auto">
            <a:xfrm flipV="1">
              <a:off x="1008" y="1200"/>
              <a:ext cx="0" cy="110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12" name="Line 8"/>
            <p:cNvSpPr>
              <a:spLocks noChangeShapeType="1"/>
            </p:cNvSpPr>
            <p:nvPr>
              <p:custDataLst>
                <p:tags r:id="rId6"/>
              </p:custDataLst>
            </p:nvPr>
          </p:nvSpPr>
          <p:spPr bwMode="auto">
            <a:xfrm>
              <a:off x="1392" y="720"/>
              <a:ext cx="307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13" name="Line 9"/>
            <p:cNvSpPr>
              <a:spLocks noChangeShapeType="1"/>
            </p:cNvSpPr>
            <p:nvPr>
              <p:custDataLst>
                <p:tags r:id="rId7"/>
              </p:custDataLst>
            </p:nvPr>
          </p:nvSpPr>
          <p:spPr bwMode="auto">
            <a:xfrm>
              <a:off x="3792" y="720"/>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16" name="Line 10"/>
            <p:cNvSpPr>
              <a:spLocks noChangeShapeType="1"/>
            </p:cNvSpPr>
            <p:nvPr>
              <p:custDataLst>
                <p:tags r:id="rId8"/>
              </p:custDataLst>
            </p:nvPr>
          </p:nvSpPr>
          <p:spPr bwMode="auto">
            <a:xfrm flipH="1">
              <a:off x="1392" y="1056"/>
              <a:ext cx="2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17" name="Line 11"/>
            <p:cNvSpPr>
              <a:spLocks noChangeShapeType="1"/>
            </p:cNvSpPr>
            <p:nvPr>
              <p:custDataLst>
                <p:tags r:id="rId9"/>
              </p:custDataLst>
            </p:nvPr>
          </p:nvSpPr>
          <p:spPr bwMode="auto">
            <a:xfrm>
              <a:off x="3792" y="1056"/>
              <a:ext cx="57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18" name="Line 12"/>
            <p:cNvSpPr>
              <a:spLocks noChangeShapeType="1"/>
            </p:cNvSpPr>
            <p:nvPr>
              <p:custDataLst>
                <p:tags r:id="rId10"/>
              </p:custDataLst>
            </p:nvPr>
          </p:nvSpPr>
          <p:spPr bwMode="auto">
            <a:xfrm>
              <a:off x="3792" y="1056"/>
              <a:ext cx="67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19" name="Line 13"/>
            <p:cNvSpPr>
              <a:spLocks noChangeShapeType="1"/>
            </p:cNvSpPr>
            <p:nvPr>
              <p:custDataLst>
                <p:tags r:id="rId11"/>
              </p:custDataLst>
            </p:nvPr>
          </p:nvSpPr>
          <p:spPr bwMode="auto">
            <a:xfrm flipV="1">
              <a:off x="2544" y="1056"/>
              <a:ext cx="0" cy="576"/>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0" name="Line 14"/>
            <p:cNvSpPr>
              <a:spLocks noChangeShapeType="1"/>
            </p:cNvSpPr>
            <p:nvPr>
              <p:custDataLst>
                <p:tags r:id="rId12"/>
              </p:custDataLst>
            </p:nvPr>
          </p:nvSpPr>
          <p:spPr bwMode="auto">
            <a:xfrm flipH="1">
              <a:off x="1056" y="1776"/>
              <a:ext cx="816"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1" name="Line 15"/>
            <p:cNvSpPr>
              <a:spLocks noChangeShapeType="1"/>
            </p:cNvSpPr>
            <p:nvPr>
              <p:custDataLst>
                <p:tags r:id="rId13"/>
              </p:custDataLst>
            </p:nvPr>
          </p:nvSpPr>
          <p:spPr bwMode="auto">
            <a:xfrm>
              <a:off x="2544" y="1968"/>
              <a:ext cx="0" cy="864"/>
            </a:xfrm>
            <a:prstGeom prst="line">
              <a:avLst/>
            </a:prstGeom>
            <a:noFill/>
            <a:ln w="9525">
              <a:solidFill>
                <a:schemeClr val="tx1"/>
              </a:solidFill>
              <a:round/>
              <a:headEnd type="none" w="lg" len="lg"/>
              <a:tailEnd type="triangle" w="lg" len="lg"/>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2" name="Line 16"/>
            <p:cNvSpPr>
              <a:spLocks noChangeShapeType="1"/>
            </p:cNvSpPr>
            <p:nvPr>
              <p:custDataLst>
                <p:tags r:id="rId14"/>
              </p:custDataLst>
            </p:nvPr>
          </p:nvSpPr>
          <p:spPr bwMode="auto">
            <a:xfrm>
              <a:off x="1632" y="1776"/>
              <a:ext cx="9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3" name="Line 17"/>
            <p:cNvSpPr>
              <a:spLocks noChangeShapeType="1"/>
            </p:cNvSpPr>
            <p:nvPr>
              <p:custDataLst>
                <p:tags r:id="rId15"/>
              </p:custDataLst>
            </p:nvPr>
          </p:nvSpPr>
          <p:spPr bwMode="auto">
            <a:xfrm>
              <a:off x="1392" y="720"/>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4" name="Line 18"/>
            <p:cNvSpPr>
              <a:spLocks noChangeShapeType="1"/>
            </p:cNvSpPr>
            <p:nvPr>
              <p:custDataLst>
                <p:tags r:id="rId16"/>
              </p:custDataLst>
            </p:nvPr>
          </p:nvSpPr>
          <p:spPr bwMode="auto">
            <a:xfrm>
              <a:off x="336" y="1296"/>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5" name="Line 19"/>
            <p:cNvSpPr>
              <a:spLocks noChangeShapeType="1"/>
            </p:cNvSpPr>
            <p:nvPr>
              <p:custDataLst>
                <p:tags r:id="rId17"/>
              </p:custDataLst>
            </p:nvPr>
          </p:nvSpPr>
          <p:spPr bwMode="auto">
            <a:xfrm flipV="1">
              <a:off x="336" y="1296"/>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6" name="Rectangle 20"/>
            <p:cNvSpPr>
              <a:spLocks noChangeArrowheads="1"/>
            </p:cNvSpPr>
            <p:nvPr>
              <p:custDataLst>
                <p:tags r:id="rId18"/>
              </p:custDataLst>
            </p:nvPr>
          </p:nvSpPr>
          <p:spPr bwMode="auto">
            <a:xfrm>
              <a:off x="4027" y="743"/>
              <a:ext cx="200"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10000"/>
                  </a:solidFill>
                  <a:latin typeface="+mn-ea"/>
                </a:rPr>
                <a:t>$</a:t>
              </a:r>
              <a:endParaRPr lang="zh-CN" altLang="en-US" sz="2400" b="1" dirty="0">
                <a:solidFill>
                  <a:srgbClr val="010000"/>
                </a:solidFill>
                <a:latin typeface="+mn-ea"/>
              </a:endParaRPr>
            </a:p>
          </p:txBody>
        </p:sp>
        <p:sp>
          <p:nvSpPr>
            <p:cNvPr id="27" name="Rectangle 21"/>
            <p:cNvSpPr>
              <a:spLocks noChangeArrowheads="1"/>
            </p:cNvSpPr>
            <p:nvPr>
              <p:custDataLst>
                <p:tags r:id="rId19"/>
              </p:custDataLst>
            </p:nvPr>
          </p:nvSpPr>
          <p:spPr bwMode="auto">
            <a:xfrm>
              <a:off x="1920" y="1632"/>
              <a:ext cx="1200" cy="39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p>
              <a:pPr algn="ctr" eaLnBrk="0" hangingPunct="0"/>
              <a:r>
                <a:rPr lang="zh-CN" altLang="en-US" sz="2400" b="1" dirty="0">
                  <a:solidFill>
                    <a:srgbClr val="010000"/>
                  </a:solidFill>
                  <a:latin typeface="+mn-ea"/>
                </a:rPr>
                <a:t>总控程序</a:t>
              </a:r>
              <a:endParaRPr lang="zh-CN" altLang="en-US" sz="2400" b="1" dirty="0">
                <a:solidFill>
                  <a:srgbClr val="010000"/>
                </a:solidFill>
                <a:latin typeface="+mn-ea"/>
              </a:endParaRPr>
            </a:p>
          </p:txBody>
        </p:sp>
        <p:sp>
          <p:nvSpPr>
            <p:cNvPr id="28" name="Rectangle 22"/>
            <p:cNvSpPr>
              <a:spLocks noChangeArrowheads="1"/>
            </p:cNvSpPr>
            <p:nvPr>
              <p:custDataLst>
                <p:tags r:id="rId20"/>
              </p:custDataLst>
            </p:nvPr>
          </p:nvSpPr>
          <p:spPr bwMode="auto">
            <a:xfrm>
              <a:off x="1632" y="2848"/>
              <a:ext cx="2083" cy="39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p>
              <a:pPr eaLnBrk="0" hangingPunct="0"/>
              <a:r>
                <a:rPr lang="en-US" altLang="zh-CN" sz="2400" b="1" dirty="0">
                  <a:solidFill>
                    <a:srgbClr val="010000"/>
                  </a:solidFill>
                  <a:latin typeface="+mn-ea"/>
                </a:rPr>
                <a:t>LL(1)</a:t>
              </a:r>
              <a:r>
                <a:rPr lang="zh-CN" altLang="en-US" sz="2400" b="1" dirty="0">
                  <a:solidFill>
                    <a:srgbClr val="010000"/>
                  </a:solidFill>
                  <a:latin typeface="+mn-ea"/>
                </a:rPr>
                <a:t>预测分析表</a:t>
              </a:r>
              <a:endParaRPr lang="zh-CN" altLang="en-US" sz="2400" b="1" dirty="0">
                <a:solidFill>
                  <a:srgbClr val="010000"/>
                </a:solidFill>
                <a:latin typeface="+mn-ea"/>
              </a:endParaRPr>
            </a:p>
          </p:txBody>
        </p:sp>
        <p:sp>
          <p:nvSpPr>
            <p:cNvPr id="29" name="Rectangle 23"/>
            <p:cNvSpPr>
              <a:spLocks noChangeArrowheads="1"/>
            </p:cNvSpPr>
            <p:nvPr>
              <p:custDataLst>
                <p:tags r:id="rId21"/>
              </p:custDataLst>
            </p:nvPr>
          </p:nvSpPr>
          <p:spPr bwMode="auto">
            <a:xfrm>
              <a:off x="335" y="2338"/>
              <a:ext cx="909"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eaLnBrk="0" hangingPunct="0"/>
              <a:r>
                <a:rPr lang="zh-CN" altLang="en-US" sz="2400" b="1">
                  <a:solidFill>
                    <a:srgbClr val="010000"/>
                  </a:solidFill>
                  <a:latin typeface="+mn-ea"/>
                </a:rPr>
                <a:t>栈</a:t>
              </a:r>
              <a:endParaRPr lang="zh-CN" altLang="en-US" sz="2400" b="1">
                <a:solidFill>
                  <a:srgbClr val="010000"/>
                </a:solidFill>
                <a:latin typeface="+mn-ea"/>
              </a:endParaRPr>
            </a:p>
          </p:txBody>
        </p:sp>
        <p:sp>
          <p:nvSpPr>
            <p:cNvPr id="30" name="Rectangle 24"/>
            <p:cNvSpPr>
              <a:spLocks noChangeArrowheads="1"/>
            </p:cNvSpPr>
            <p:nvPr>
              <p:custDataLst>
                <p:tags r:id="rId22"/>
              </p:custDataLst>
            </p:nvPr>
          </p:nvSpPr>
          <p:spPr bwMode="auto">
            <a:xfrm>
              <a:off x="491" y="1941"/>
              <a:ext cx="469"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p>
              <a:r>
                <a:rPr lang="zh-CN" altLang="en-US" sz="2400" b="1">
                  <a:solidFill>
                    <a:srgbClr val="010000"/>
                  </a:solidFill>
                  <a:latin typeface="+mn-ea"/>
                </a:rPr>
                <a:t>$</a:t>
              </a:r>
              <a:endParaRPr lang="zh-CN" altLang="en-US" sz="2400" b="1">
                <a:solidFill>
                  <a:srgbClr val="010000"/>
                </a:solidFill>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3"/>
          </p:nvPr>
        </p:nvSpPr>
        <p:spPr/>
        <p:txBody>
          <a:bodyPr>
            <a:normAutofit/>
          </a:bodyPr>
          <a:lstStyle/>
          <a:p>
            <a:r>
              <a:rPr lang="en-US" altLang="zh-CN" dirty="0"/>
              <a:t>LL(1)</a:t>
            </a:r>
            <a:r>
              <a:rPr lang="zh-CN" altLang="en-US" dirty="0"/>
              <a:t>分析的基本方法</a:t>
            </a:r>
            <a:endParaRPr lang="zh-CN" altLang="en-US" dirty="0"/>
          </a:p>
          <a:p>
            <a:r>
              <a:rPr lang="en-US" altLang="zh-CN" dirty="0"/>
              <a:t>LL(1)</a:t>
            </a:r>
            <a:r>
              <a:rPr lang="zh-CN" altLang="en-US" dirty="0"/>
              <a:t>分析与算法</a:t>
            </a:r>
            <a:endParaRPr lang="zh-CN" altLang="en-US" dirty="0"/>
          </a:p>
          <a:p>
            <a:r>
              <a:rPr lang="zh-CN" altLang="en-US" dirty="0">
                <a:solidFill>
                  <a:srgbClr val="0070C0"/>
                </a:solidFill>
              </a:rPr>
              <a:t>消除左递归和提取左因子</a:t>
            </a:r>
            <a:endParaRPr lang="zh-CN" altLang="en-US" dirty="0">
              <a:solidFill>
                <a:srgbClr val="0070C0"/>
              </a:solidFill>
            </a:endParaRPr>
          </a:p>
        </p:txBody>
      </p:sp>
      <p:sp>
        <p:nvSpPr>
          <p:cNvPr id="15" name="文本占位符 14"/>
          <p:cNvSpPr>
            <a:spLocks noGrp="1"/>
          </p:cNvSpPr>
          <p:nvPr>
            <p:ph type="body" sz="quarter" idx="14"/>
          </p:nvPr>
        </p:nvSpPr>
        <p:spPr>
          <a:xfrm>
            <a:off x="492760" y="276860"/>
            <a:ext cx="8070215" cy="593090"/>
          </a:xfrm>
        </p:spPr>
        <p:txBody>
          <a:bodyPr/>
          <a:lstStyle/>
          <a:p>
            <a:r>
              <a:rPr lang="en-US" altLang="zh-CN" dirty="0"/>
              <a:t>4.3 LL( 1 )</a:t>
            </a:r>
            <a:r>
              <a:rPr lang="zh-CN" altLang="en-US" dirty="0"/>
              <a:t>分析</a:t>
            </a:r>
            <a:endParaRPr lang="zh-CN" altLang="en-US"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414020" y="276860"/>
            <a:ext cx="8021955" cy="593090"/>
          </a:xfrm>
        </p:spPr>
        <p:txBody>
          <a:bodyPr/>
          <a:lstStyle/>
          <a:p>
            <a:r>
              <a:rPr lang="en-US" altLang="zh-CN" dirty="0"/>
              <a:t>4.3.3 </a:t>
            </a:r>
            <a:r>
              <a:rPr lang="zh-CN" altLang="en-US" dirty="0"/>
              <a:t>消除左递归和提取左因子</a:t>
            </a:r>
            <a:endParaRPr lang="zh-CN" altLang="en-US" dirty="0"/>
          </a:p>
        </p:txBody>
      </p:sp>
      <p:sp>
        <p:nvSpPr>
          <p:cNvPr id="10" name="Rectangle 3"/>
          <p:cNvSpPr txBox="1">
            <a:spLocks noChangeArrowheads="1"/>
          </p:cNvSpPr>
          <p:nvPr/>
        </p:nvSpPr>
        <p:spPr>
          <a:xfrm>
            <a:off x="414655" y="1254760"/>
            <a:ext cx="6808470" cy="4540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FF0066"/>
                </a:solidFill>
                <a:latin typeface="+mn-ea"/>
              </a:rPr>
              <a:t>简单直接左递归文法是否是</a:t>
            </a:r>
            <a:r>
              <a:rPr lang="en-US" altLang="zh-CN" sz="2400" b="1" dirty="0">
                <a:solidFill>
                  <a:srgbClr val="FF0066"/>
                </a:solidFill>
                <a:latin typeface="+mn-ea"/>
              </a:rPr>
              <a:t>LL(1)</a:t>
            </a:r>
            <a:r>
              <a:rPr lang="zh-CN" altLang="en-US" sz="2400" b="1" dirty="0">
                <a:solidFill>
                  <a:srgbClr val="FF0066"/>
                </a:solidFill>
                <a:latin typeface="+mn-ea"/>
              </a:rPr>
              <a:t>文法？例如：</a:t>
            </a:r>
            <a:endParaRPr lang="zh-CN" altLang="en-US" sz="2400" b="1" dirty="0">
              <a:solidFill>
                <a:srgbClr val="FF0066"/>
              </a:solidFill>
              <a:latin typeface="+mn-ea"/>
            </a:endParaRPr>
          </a:p>
          <a:p>
            <a:pPr lvl="1"/>
            <a:r>
              <a:rPr lang="en-US" altLang="zh-CN" b="1" dirty="0" err="1">
                <a:solidFill>
                  <a:srgbClr val="050507"/>
                </a:solidFill>
                <a:latin typeface="+mn-ea"/>
              </a:rPr>
              <a:t>A</a:t>
            </a:r>
            <a:r>
              <a:rPr lang="en-US" altLang="zh-CN" b="1" dirty="0" err="1">
                <a:solidFill>
                  <a:srgbClr val="050507"/>
                </a:solidFill>
                <a:latin typeface="+mn-ea"/>
                <a:sym typeface="Symbol" panose="05050102010706020507" pitchFamily="18" charset="2"/>
              </a:rPr>
              <a:t></a:t>
            </a:r>
            <a:r>
              <a:rPr lang="en-US" altLang="zh-CN" b="1" dirty="0" err="1">
                <a:solidFill>
                  <a:srgbClr val="050507"/>
                </a:solidFill>
                <a:latin typeface="+mn-ea"/>
              </a:rPr>
              <a:t>Aa</a:t>
            </a:r>
            <a:r>
              <a:rPr lang="en-US" altLang="zh-CN" b="1" dirty="0">
                <a:solidFill>
                  <a:srgbClr val="050507"/>
                </a:solidFill>
                <a:latin typeface="+mn-ea"/>
                <a:sym typeface="Symbol" panose="05050102010706020507" pitchFamily="18" charset="2"/>
              </a:rPr>
              <a:t>            </a:t>
            </a:r>
            <a:r>
              <a:rPr lang="en-US" altLang="zh-CN" b="1" dirty="0" err="1">
                <a:solidFill>
                  <a:srgbClr val="050507"/>
                </a:solidFill>
                <a:latin typeface="+mn-ea"/>
              </a:rPr>
              <a:t>A</a:t>
            </a:r>
            <a:r>
              <a:rPr lang="en-US" altLang="zh-CN" b="1" dirty="0" err="1">
                <a:solidFill>
                  <a:srgbClr val="050507"/>
                </a:solidFill>
                <a:latin typeface="+mn-ea"/>
                <a:sym typeface="Symbol" panose="05050102010706020507" pitchFamily="18" charset="2"/>
              </a:rPr>
              <a:t>b</a:t>
            </a:r>
            <a:endParaRPr lang="en-US" altLang="zh-CN" b="1" dirty="0">
              <a:solidFill>
                <a:srgbClr val="050507"/>
              </a:solidFill>
              <a:latin typeface="+mn-ea"/>
              <a:sym typeface="Symbol" panose="05050102010706020507" pitchFamily="18" charset="2"/>
            </a:endParaRPr>
          </a:p>
          <a:p>
            <a:pPr lvl="1">
              <a:buFont typeface="Wingdings" panose="05000000000000000000" pitchFamily="2" charset="2"/>
              <a:buNone/>
            </a:pPr>
            <a:endParaRPr lang="en-US" altLang="zh-CN" b="1" dirty="0">
              <a:solidFill>
                <a:srgbClr val="050507"/>
              </a:solidFill>
              <a:latin typeface="+mn-ea"/>
              <a:sym typeface="Symbol" panose="05050102010706020507" pitchFamily="18" charset="2"/>
            </a:endParaRPr>
          </a:p>
          <a:p>
            <a:pPr lvl="1">
              <a:buFont typeface="Wingdings" panose="05000000000000000000" pitchFamily="2" charset="2"/>
              <a:buNone/>
            </a:pPr>
            <a:endParaRPr lang="en-US" altLang="zh-CN" b="1" dirty="0">
              <a:solidFill>
                <a:srgbClr val="050507"/>
              </a:solidFill>
              <a:latin typeface="+mn-ea"/>
              <a:sym typeface="Symbol" panose="05050102010706020507" pitchFamily="18" charset="2"/>
            </a:endParaRPr>
          </a:p>
          <a:p>
            <a:pPr lvl="1">
              <a:buFont typeface="Wingdings" panose="05000000000000000000" pitchFamily="2" charset="2"/>
              <a:buNone/>
            </a:pPr>
            <a:endParaRPr lang="en-US" altLang="zh-CN" b="1" dirty="0">
              <a:solidFill>
                <a:srgbClr val="FF0066"/>
              </a:solidFill>
              <a:latin typeface="+mn-ea"/>
            </a:endParaRPr>
          </a:p>
          <a:p>
            <a:pPr lvl="1">
              <a:buFont typeface="Wingdings" panose="05000000000000000000" pitchFamily="2" charset="2"/>
              <a:buNone/>
            </a:pPr>
            <a:endParaRPr lang="zh-CN" altLang="en-US" b="1" dirty="0">
              <a:solidFill>
                <a:srgbClr val="FF0066"/>
              </a:solidFill>
              <a:latin typeface="+mn-ea"/>
            </a:endParaRPr>
          </a:p>
          <a:p>
            <a:pPr fontAlgn="auto">
              <a:lnSpc>
                <a:spcPct val="125000"/>
              </a:lnSpc>
            </a:pPr>
            <a:r>
              <a:rPr lang="zh-CN" altLang="en-US" sz="2400" b="1" dirty="0">
                <a:solidFill>
                  <a:srgbClr val="050507"/>
                </a:solidFill>
                <a:latin typeface="+mn-ea"/>
              </a:rPr>
              <a:t>若文法</a:t>
            </a:r>
            <a:r>
              <a:rPr lang="en-US" altLang="zh-CN" sz="2400" b="1" dirty="0">
                <a:solidFill>
                  <a:srgbClr val="050507"/>
                </a:solidFill>
                <a:latin typeface="+mn-ea"/>
              </a:rPr>
              <a:t>G</a:t>
            </a:r>
            <a:r>
              <a:rPr lang="zh-CN" altLang="en-US" sz="2400" b="1" dirty="0">
                <a:solidFill>
                  <a:srgbClr val="050507"/>
                </a:solidFill>
                <a:latin typeface="+mn-ea"/>
              </a:rPr>
              <a:t>有产生式</a:t>
            </a:r>
            <a:r>
              <a:rPr lang="en-US" altLang="zh-CN" sz="2400" b="1" dirty="0" err="1">
                <a:solidFill>
                  <a:srgbClr val="050507"/>
                </a:solidFill>
                <a:latin typeface="+mn-ea"/>
              </a:rPr>
              <a:t>U</a:t>
            </a:r>
            <a:r>
              <a:rPr lang="en-US" altLang="zh-CN" sz="2400" b="1" dirty="0" err="1">
                <a:solidFill>
                  <a:srgbClr val="050507"/>
                </a:solidFill>
                <a:latin typeface="+mn-ea"/>
                <a:sym typeface="Symbol" panose="05050102010706020507" pitchFamily="18" charset="2"/>
              </a:rPr>
              <a:t>xy</a:t>
            </a:r>
            <a:r>
              <a:rPr lang="en-US" altLang="zh-CN" sz="2400" b="1" dirty="0">
                <a:solidFill>
                  <a:srgbClr val="050507"/>
                </a:solidFill>
                <a:latin typeface="+mn-ea"/>
                <a:sym typeface="Symbol" panose="05050102010706020507" pitchFamily="18" charset="2"/>
              </a:rPr>
              <a:t> |</a:t>
            </a:r>
            <a:r>
              <a:rPr lang="en-US" altLang="zh-CN" sz="2400" b="1" dirty="0" err="1">
                <a:solidFill>
                  <a:srgbClr val="050507"/>
                </a:solidFill>
                <a:latin typeface="+mn-ea"/>
                <a:sym typeface="Symbol" panose="05050102010706020507" pitchFamily="18" charset="2"/>
              </a:rPr>
              <a:t>xw</a:t>
            </a:r>
            <a:r>
              <a:rPr lang="en-US" altLang="zh-CN" sz="2400" b="1" dirty="0">
                <a:solidFill>
                  <a:srgbClr val="050507"/>
                </a:solidFill>
                <a:latin typeface="+mn-ea"/>
                <a:sym typeface="Symbol" panose="05050102010706020507" pitchFamily="18" charset="2"/>
              </a:rPr>
              <a:t> |…| </a:t>
            </a:r>
            <a:r>
              <a:rPr lang="en-US" altLang="zh-CN" sz="2400" b="1" dirty="0" err="1">
                <a:solidFill>
                  <a:srgbClr val="050507"/>
                </a:solidFill>
                <a:latin typeface="+mn-ea"/>
                <a:sym typeface="Symbol" panose="05050102010706020507" pitchFamily="18" charset="2"/>
              </a:rPr>
              <a:t>xz</a:t>
            </a:r>
            <a:r>
              <a:rPr lang="zh-CN" altLang="en-US" sz="2400" b="1" dirty="0">
                <a:solidFill>
                  <a:srgbClr val="050507"/>
                </a:solidFill>
                <a:latin typeface="+mn-ea"/>
                <a:sym typeface="Symbol" panose="05050102010706020507" pitchFamily="18" charset="2"/>
              </a:rPr>
              <a:t>则该文法是否是</a:t>
            </a:r>
            <a:r>
              <a:rPr lang="en-US" altLang="zh-CN" sz="2400" b="1" dirty="0">
                <a:solidFill>
                  <a:srgbClr val="050507"/>
                </a:solidFill>
                <a:latin typeface="+mn-ea"/>
                <a:sym typeface="Symbol" panose="05050102010706020507" pitchFamily="18" charset="2"/>
              </a:rPr>
              <a:t>LL(1)</a:t>
            </a:r>
            <a:r>
              <a:rPr lang="zh-CN" altLang="en-US" sz="2400" b="1" dirty="0">
                <a:solidFill>
                  <a:srgbClr val="050507"/>
                </a:solidFill>
                <a:latin typeface="+mn-ea"/>
                <a:sym typeface="Symbol" panose="05050102010706020507" pitchFamily="18" charset="2"/>
              </a:rPr>
              <a:t>文法？</a:t>
            </a:r>
            <a:endParaRPr lang="zh-CN" altLang="en-US" sz="2400" b="1" dirty="0">
              <a:solidFill>
                <a:srgbClr val="FF0066"/>
              </a:solidFill>
              <a:latin typeface="+mn-ea"/>
            </a:endParaRPr>
          </a:p>
        </p:txBody>
      </p:sp>
      <p:graphicFrame>
        <p:nvGraphicFramePr>
          <p:cNvPr id="11" name="Group 33"/>
          <p:cNvGraphicFramePr>
            <a:graphicFrameLocks noGrp="1"/>
          </p:cNvGraphicFramePr>
          <p:nvPr>
            <p:custDataLst>
              <p:tags r:id="rId1"/>
            </p:custDataLst>
          </p:nvPr>
        </p:nvGraphicFramePr>
        <p:xfrm>
          <a:off x="643740" y="2115391"/>
          <a:ext cx="3057525" cy="1524000"/>
        </p:xfrm>
        <a:graphic>
          <a:graphicData uri="http://schemas.openxmlformats.org/drawingml/2006/table">
            <a:tbl>
              <a:tblPr/>
              <a:tblGrid>
                <a:gridCol w="770255"/>
                <a:gridCol w="850265"/>
                <a:gridCol w="1437005"/>
              </a:tblGrid>
              <a:tr h="371475">
                <a:tc>
                  <a:txBody>
                    <a:bodyPr/>
                    <a:lstStyle>
                      <a:lvl1pPr>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sz="24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sz="24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rPr>
                        <a:t>a</a:t>
                      </a:r>
                      <a:endParaRPr kumimoji="0" lang="zh-CN" altLang="en-US" sz="32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sz="24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rgbClr val="FFFFFF"/>
                          </a:solidFill>
                          <a:effectLst/>
                          <a:latin typeface="Times New Roman" panose="02020603050405020304" pitchFamily="18" charset="0"/>
                          <a:ea typeface="宋体" panose="02010600030101010101" pitchFamily="2" charset="-122"/>
                        </a:rPr>
                        <a:t>b</a:t>
                      </a:r>
                      <a:endParaRPr kumimoji="0" lang="zh-CN" altLang="en-US" sz="3200" b="1" i="0" u="none" strike="noStrike" cap="none" normalizeH="0" baseline="0" dirty="0">
                        <a:ln>
                          <a:noFill/>
                        </a:ln>
                        <a:solidFill>
                          <a:srgbClr val="FFFFFF"/>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lvl1pPr>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sz="24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rgbClr val="050507"/>
                          </a:solidFill>
                          <a:effectLst/>
                          <a:latin typeface="Times New Roman" panose="02020603050405020304" pitchFamily="18" charset="0"/>
                          <a:ea typeface="宋体" panose="02010600030101010101" pitchFamily="2" charset="-122"/>
                        </a:rPr>
                        <a:t>A</a:t>
                      </a:r>
                      <a:endParaRPr kumimoji="1" lang="en-US" altLang="zh-CN" sz="2800" b="0" i="0" u="none" strike="noStrike" cap="none" normalizeH="0" baseline="0">
                        <a:ln>
                          <a:noFill/>
                        </a:ln>
                        <a:solidFill>
                          <a:srgbClr val="050507"/>
                        </a:solidFill>
                        <a:effectLst/>
                        <a:latin typeface="Times New Roman" panose="02020603050405020304" pitchFamily="18" charset="0"/>
                        <a:ea typeface="宋体" panose="02010600030101010101" pitchFamily="2" charset="-122"/>
                        <a:sym typeface="Symbol" panose="05050102010706020507" pitchFamily="18" charset="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4E9"/>
                    </a:solidFill>
                  </a:tcPr>
                </a:tc>
                <a:tc>
                  <a:txBody>
                    <a:bodyPr/>
                    <a:lstStyle>
                      <a:lvl1pPr>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sz="24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4E9"/>
                    </a:solidFill>
                  </a:tcPr>
                </a:tc>
                <a:tc>
                  <a:txBody>
                    <a:bodyPr/>
                    <a:lstStyle>
                      <a:lvl1pPr>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sz="24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err="1">
                          <a:ln>
                            <a:noFill/>
                          </a:ln>
                          <a:solidFill>
                            <a:srgbClr val="050507"/>
                          </a:solidFill>
                          <a:effectLst/>
                          <a:latin typeface="Times New Roman" panose="02020603050405020304" pitchFamily="18" charset="0"/>
                          <a:ea typeface="宋体" panose="02010600030101010101" pitchFamily="2" charset="-122"/>
                        </a:rPr>
                        <a:t>A</a:t>
                      </a:r>
                      <a:r>
                        <a:rPr kumimoji="1" lang="en-US" altLang="zh-CN" sz="2800" b="0" i="0" u="none" strike="noStrike" cap="none" normalizeH="0" baseline="0" dirty="0" err="1">
                          <a:ln>
                            <a:noFill/>
                          </a:ln>
                          <a:solidFill>
                            <a:srgbClr val="050507"/>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0" u="none" strike="noStrike" cap="none" normalizeH="0" baseline="0" dirty="0" err="1">
                          <a:ln>
                            <a:noFill/>
                          </a:ln>
                          <a:solidFill>
                            <a:srgbClr val="050507"/>
                          </a:solidFill>
                          <a:effectLst/>
                          <a:latin typeface="Times New Roman" panose="02020603050405020304" pitchFamily="18" charset="0"/>
                          <a:ea typeface="宋体" panose="02010600030101010101" pitchFamily="2" charset="-122"/>
                        </a:rPr>
                        <a:t>Aa</a:t>
                      </a:r>
                      <a:endParaRPr kumimoji="1" lang="en-US" altLang="zh-CN" sz="2800" b="0" i="0" u="none" strike="noStrike" cap="none" normalizeH="0" baseline="0" dirty="0">
                        <a:ln>
                          <a:noFill/>
                        </a:ln>
                        <a:solidFill>
                          <a:srgbClr val="050507"/>
                        </a:solidFill>
                        <a:effectLst/>
                        <a:latin typeface="Times New Roman" panose="02020603050405020304" pitchFamily="18" charset="0"/>
                        <a:ea typeface="宋体" panose="02010600030101010101" pitchFamily="2" charset="-122"/>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err="1">
                          <a:ln>
                            <a:noFill/>
                          </a:ln>
                          <a:solidFill>
                            <a:srgbClr val="050507"/>
                          </a:solidFill>
                          <a:effectLst/>
                          <a:latin typeface="Times New Roman" panose="02020603050405020304" pitchFamily="18" charset="0"/>
                          <a:ea typeface="宋体" panose="02010600030101010101" pitchFamily="2" charset="-122"/>
                        </a:rPr>
                        <a:t>A</a:t>
                      </a:r>
                      <a:r>
                        <a:rPr kumimoji="1" lang="en-US" altLang="zh-CN" sz="2800" b="0" i="0" u="none" strike="noStrike" cap="none" normalizeH="0" baseline="0" dirty="0" err="1">
                          <a:ln>
                            <a:noFill/>
                          </a:ln>
                          <a:solidFill>
                            <a:srgbClr val="050507"/>
                          </a:solidFill>
                          <a:effectLst/>
                          <a:latin typeface="Times New Roman" panose="02020603050405020304" pitchFamily="18" charset="0"/>
                          <a:ea typeface="宋体" panose="02010600030101010101" pitchFamily="2" charset="-122"/>
                          <a:sym typeface="Symbol" panose="05050102010706020507" pitchFamily="18" charset="2"/>
                        </a:rPr>
                        <a:t>b</a:t>
                      </a:r>
                      <a:endParaRPr kumimoji="1" lang="en-US" altLang="zh-CN" sz="2800" b="0" i="0" u="none" strike="noStrike" cap="none" normalizeH="0" baseline="0" dirty="0">
                        <a:ln>
                          <a:noFill/>
                        </a:ln>
                        <a:solidFill>
                          <a:srgbClr val="050507"/>
                        </a:solidFill>
                        <a:effectLst/>
                        <a:latin typeface="Times New Roman" panose="02020603050405020304" pitchFamily="18" charset="0"/>
                        <a:ea typeface="宋体" panose="02010600030101010101" pitchFamily="2" charset="-122"/>
                        <a:sym typeface="Symbol" panose="05050102010706020507" pitchFamily="18" charset="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4E9"/>
                    </a:solidFill>
                  </a:tcPr>
                </a:tc>
              </a:tr>
            </a:tbl>
          </a:graphicData>
        </a:graphic>
      </p:graphicFrame>
      <p:graphicFrame>
        <p:nvGraphicFramePr>
          <p:cNvPr id="12" name="表格 11"/>
          <p:cNvGraphicFramePr>
            <a:graphicFrameLocks noGrp="1"/>
          </p:cNvGraphicFramePr>
          <p:nvPr>
            <p:custDataLst>
              <p:tags r:id="rId2"/>
            </p:custDataLst>
          </p:nvPr>
        </p:nvGraphicFramePr>
        <p:xfrm>
          <a:off x="738859" y="4563035"/>
          <a:ext cx="2130425" cy="1645920"/>
        </p:xfrm>
        <a:graphic>
          <a:graphicData uri="http://schemas.openxmlformats.org/drawingml/2006/table">
            <a:tbl>
              <a:tblPr firstRow="1" bandRow="1">
                <a:tableStyleId>{5C22544A-7EE6-4342-B048-85BDC9FD1C3A}</a:tableStyleId>
              </a:tblPr>
              <a:tblGrid>
                <a:gridCol w="803275"/>
                <a:gridCol w="1327150"/>
              </a:tblGrid>
              <a:tr h="196845">
                <a:tc>
                  <a:txBody>
                    <a:bodyPr/>
                    <a:lstStyle/>
                    <a:p>
                      <a:endParaRPr lang="zh-CN" altLang="en-US" sz="2400" dirty="0"/>
                    </a:p>
                  </a:txBody>
                  <a:tcPr marT="45729" marB="45729"/>
                </a:tc>
                <a:tc>
                  <a:txBody>
                    <a:bodyPr/>
                    <a:lstStyle/>
                    <a:p>
                      <a:r>
                        <a:rPr lang="en-US" altLang="zh-CN" sz="2400" b="1" dirty="0"/>
                        <a:t>x</a:t>
                      </a:r>
                      <a:endParaRPr lang="zh-CN" altLang="en-US" sz="2400" b="1" dirty="0"/>
                    </a:p>
                  </a:txBody>
                  <a:tcPr marT="45729" marB="45729"/>
                </a:tc>
              </a:tr>
              <a:tr h="1188949">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dirty="0">
                          <a:solidFill>
                            <a:srgbClr val="050507"/>
                          </a:solidFill>
                          <a:latin typeface="Times New Roman" panose="02020603050405020304" pitchFamily="18" charset="0"/>
                        </a:rPr>
                        <a:t>U</a:t>
                      </a:r>
                      <a:endParaRPr kumimoji="1" lang="en-US" altLang="zh-CN" sz="2400" dirty="0">
                        <a:solidFill>
                          <a:srgbClr val="050507"/>
                        </a:solidFill>
                        <a:latin typeface="Times New Roman" panose="02020603050405020304" pitchFamily="18" charset="0"/>
                        <a:sym typeface="Symbol" panose="05050102010706020507" pitchFamily="18" charset="2"/>
                      </a:endParaRPr>
                    </a:p>
                  </a:txBody>
                  <a:tcPr marT="45729" marB="45729"/>
                </a:tc>
                <a:tc>
                  <a:txBody>
                    <a:bodyPr/>
                    <a:lstStyle/>
                    <a:p>
                      <a:r>
                        <a:rPr kumimoji="1" lang="en-US" altLang="zh-CN" sz="2400" dirty="0" err="1">
                          <a:solidFill>
                            <a:srgbClr val="050507"/>
                          </a:solidFill>
                        </a:rPr>
                        <a:t>U</a:t>
                      </a:r>
                      <a:r>
                        <a:rPr kumimoji="1" lang="en-US" altLang="zh-CN" sz="2400" dirty="0" err="1">
                          <a:solidFill>
                            <a:srgbClr val="050507"/>
                          </a:solidFill>
                          <a:sym typeface="Symbol" panose="05050102010706020507" pitchFamily="18" charset="2"/>
                        </a:rPr>
                        <a:t>xy</a:t>
                      </a:r>
                      <a:r>
                        <a:rPr kumimoji="1" lang="en-US" altLang="zh-CN" sz="2400" dirty="0">
                          <a:solidFill>
                            <a:srgbClr val="050507"/>
                          </a:solidFill>
                          <a:sym typeface="Symbol" panose="05050102010706020507" pitchFamily="18" charset="2"/>
                        </a:rPr>
                        <a:t>   </a:t>
                      </a:r>
                      <a:endParaRPr kumimoji="1" lang="en-US" altLang="zh-CN" sz="2400" dirty="0">
                        <a:solidFill>
                          <a:srgbClr val="050507"/>
                        </a:solidFill>
                        <a:sym typeface="Symbol" panose="05050102010706020507" pitchFamily="18" charset="2"/>
                      </a:endParaRPr>
                    </a:p>
                    <a:p>
                      <a:r>
                        <a:rPr kumimoji="1" lang="en-US" altLang="zh-CN" sz="2400" dirty="0" err="1">
                          <a:solidFill>
                            <a:srgbClr val="050507"/>
                          </a:solidFill>
                        </a:rPr>
                        <a:t>U</a:t>
                      </a:r>
                      <a:r>
                        <a:rPr kumimoji="1" lang="en-US" altLang="zh-CN" sz="2400" dirty="0" err="1">
                          <a:solidFill>
                            <a:srgbClr val="050507"/>
                          </a:solidFill>
                          <a:sym typeface="Symbol" panose="05050102010706020507" pitchFamily="18" charset="2"/>
                        </a:rPr>
                        <a:t>xw</a:t>
                      </a:r>
                      <a:endParaRPr kumimoji="1" lang="en-US" altLang="zh-CN" sz="2400" dirty="0">
                        <a:solidFill>
                          <a:srgbClr val="050507"/>
                        </a:solidFill>
                        <a:sym typeface="Symbol" panose="05050102010706020507" pitchFamily="18" charset="2"/>
                      </a:endParaRPr>
                    </a:p>
                    <a:p>
                      <a:r>
                        <a:rPr kumimoji="1" lang="en-US" altLang="zh-CN" sz="2400" dirty="0">
                          <a:solidFill>
                            <a:srgbClr val="050507"/>
                          </a:solidFill>
                          <a:sym typeface="Symbol" panose="05050102010706020507" pitchFamily="18" charset="2"/>
                        </a:rPr>
                        <a:t>……</a:t>
                      </a:r>
                      <a:endParaRPr lang="zh-CN" altLang="en-US" sz="2400" dirty="0"/>
                    </a:p>
                  </a:txBody>
                  <a:tcPr marT="45729" marB="45729"/>
                </a:tc>
              </a:tr>
            </a:tbl>
          </a:graphicData>
        </a:graphic>
      </p:graphicFrame>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文本框 3"/>
          <p:cNvSpPr txBox="1"/>
          <p:nvPr/>
        </p:nvSpPr>
        <p:spPr>
          <a:xfrm>
            <a:off x="8314690" y="1254760"/>
            <a:ext cx="3335020" cy="5179060"/>
          </a:xfrm>
          <a:prstGeom prst="rect">
            <a:avLst/>
          </a:prstGeom>
          <a:noFill/>
        </p:spPr>
        <p:txBody>
          <a:bodyPr wrap="square" rtlCol="0" anchor="t">
            <a:noAutofit/>
          </a:bodyPr>
          <a:p>
            <a:pPr>
              <a:lnSpc>
                <a:spcPct val="150000"/>
              </a:lnSpc>
            </a:pPr>
            <a:r>
              <a:rPr lang="zh-CN" altLang="en-US" sz="2400" b="1" dirty="0">
                <a:solidFill>
                  <a:srgbClr val="FF3399"/>
                </a:solidFill>
                <a:latin typeface="+mn-ea"/>
                <a:sym typeface="+mn-ea"/>
              </a:rPr>
              <a:t>含有左递归和左公共因子的文法</a:t>
            </a:r>
            <a:r>
              <a:rPr lang="zh-CN" altLang="en-US" sz="2400" b="1" dirty="0">
                <a:solidFill>
                  <a:srgbClr val="050507"/>
                </a:solidFill>
                <a:latin typeface="+mn-ea"/>
                <a:sym typeface="+mn-ea"/>
              </a:rPr>
              <a:t>不是</a:t>
            </a:r>
            <a:r>
              <a:rPr lang="en-US" altLang="zh-CN" sz="2400" b="1" dirty="0">
                <a:solidFill>
                  <a:srgbClr val="050507"/>
                </a:solidFill>
                <a:latin typeface="+mn-ea"/>
                <a:sym typeface="+mn-ea"/>
              </a:rPr>
              <a:t>LL(1)</a:t>
            </a:r>
            <a:r>
              <a:rPr lang="zh-CN" altLang="en-US" sz="2400" b="1" dirty="0">
                <a:solidFill>
                  <a:srgbClr val="050507"/>
                </a:solidFill>
                <a:latin typeface="+mn-ea"/>
                <a:sym typeface="+mn-ea"/>
              </a:rPr>
              <a:t>文法，如果要使用</a:t>
            </a:r>
            <a:r>
              <a:rPr lang="en-US" altLang="zh-CN" sz="2400" b="1" dirty="0">
                <a:solidFill>
                  <a:srgbClr val="050507"/>
                </a:solidFill>
                <a:latin typeface="+mn-ea"/>
                <a:sym typeface="+mn-ea"/>
              </a:rPr>
              <a:t>LL(1)</a:t>
            </a:r>
            <a:r>
              <a:rPr lang="zh-CN" altLang="en-US" sz="2400" b="1" dirty="0">
                <a:solidFill>
                  <a:srgbClr val="050507"/>
                </a:solidFill>
                <a:latin typeface="+mn-ea"/>
                <a:sym typeface="+mn-ea"/>
              </a:rPr>
              <a:t>语法分析算法对该文法定义的语言进行语法分析，那么必须通过</a:t>
            </a:r>
            <a:r>
              <a:rPr lang="zh-CN" altLang="en-US" sz="2400" b="1" dirty="0">
                <a:solidFill>
                  <a:srgbClr val="FF3399"/>
                </a:solidFill>
                <a:latin typeface="+mn-ea"/>
                <a:sym typeface="+mn-ea"/>
              </a:rPr>
              <a:t>消除左递归和提取左公共因子，将文法进行等价改造。</a:t>
            </a:r>
            <a:endParaRPr lang="zh-CN" altLang="en-US" sz="2400" b="1" dirty="0">
              <a:solidFill>
                <a:srgbClr val="FF3399"/>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464185" y="339725"/>
            <a:ext cx="7505700" cy="501650"/>
          </a:xfrm>
        </p:spPr>
        <p:txBody>
          <a:bodyPr/>
          <a:lstStyle/>
          <a:p>
            <a:r>
              <a:rPr lang="en-US" altLang="zh-CN" sz="2800" dirty="0"/>
              <a:t>4.3.3 </a:t>
            </a:r>
            <a:r>
              <a:rPr lang="zh-CN" altLang="en-US" sz="2800" dirty="0"/>
              <a:t>消除左递归和提取左因子（续）</a:t>
            </a:r>
            <a:endParaRPr lang="zh-CN" altLang="en-US" sz="2800" dirty="0"/>
          </a:p>
        </p:txBody>
      </p:sp>
      <p:sp>
        <p:nvSpPr>
          <p:cNvPr id="5" name="Rectangle 3"/>
          <p:cNvSpPr>
            <a:spLocks noChangeArrowheads="1"/>
          </p:cNvSpPr>
          <p:nvPr/>
        </p:nvSpPr>
        <p:spPr bwMode="auto">
          <a:xfrm>
            <a:off x="362585" y="1334770"/>
            <a:ext cx="8956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buFont typeface="Wingdings" panose="05000000000000000000" pitchFamily="2" charset="2"/>
              <a:buAutoNum type="arabicPeriod"/>
            </a:pPr>
            <a:r>
              <a:rPr lang="zh-CN" altLang="en-US" sz="2400" dirty="0">
                <a:solidFill>
                  <a:srgbClr val="FF0066"/>
                </a:solidFill>
                <a:latin typeface="+mn-ea"/>
                <a:ea typeface="+mn-ea"/>
              </a:rPr>
              <a:t>简单直接左递归的消除</a:t>
            </a:r>
            <a:endParaRPr lang="zh-CN" altLang="en-US" sz="2400" dirty="0">
              <a:solidFill>
                <a:srgbClr val="FF0066"/>
              </a:solidFill>
              <a:latin typeface="+mn-ea"/>
              <a:ea typeface="+mn-ea"/>
            </a:endParaRPr>
          </a:p>
        </p:txBody>
      </p:sp>
      <p:sp>
        <p:nvSpPr>
          <p:cNvPr id="8" name="Rectangle 4"/>
          <p:cNvSpPr>
            <a:spLocks noChangeArrowheads="1"/>
          </p:cNvSpPr>
          <p:nvPr/>
        </p:nvSpPr>
        <p:spPr bwMode="auto">
          <a:xfrm>
            <a:off x="950296" y="1924788"/>
            <a:ext cx="178285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en-US" altLang="zh-CN" sz="2400" dirty="0">
                <a:solidFill>
                  <a:srgbClr val="050507"/>
                </a:solidFill>
                <a:latin typeface="+mn-ea"/>
                <a:ea typeface="+mn-ea"/>
              </a:rPr>
              <a:t>A</a:t>
            </a:r>
            <a:r>
              <a:rPr lang="en-US" altLang="zh-CN" sz="2400" dirty="0">
                <a:solidFill>
                  <a:srgbClr val="050507"/>
                </a:solidFill>
                <a:latin typeface="+mn-ea"/>
                <a:ea typeface="+mn-ea"/>
                <a:sym typeface="Symbol" panose="05050102010706020507" pitchFamily="18" charset="2"/>
              </a:rPr>
              <a:t></a:t>
            </a:r>
            <a:r>
              <a:rPr lang="en-US" altLang="zh-CN" sz="2400" dirty="0">
                <a:solidFill>
                  <a:srgbClr val="050507"/>
                </a:solidFill>
                <a:latin typeface="+mn-ea"/>
                <a:ea typeface="+mn-ea"/>
              </a:rPr>
              <a:t>A</a:t>
            </a:r>
            <a:r>
              <a:rPr lang="en-US" altLang="zh-CN" sz="2400" dirty="0">
                <a:solidFill>
                  <a:srgbClr val="050507"/>
                </a:solidFill>
                <a:latin typeface="+mn-ea"/>
                <a:ea typeface="+mn-ea"/>
                <a:sym typeface="Symbol" panose="05050102010706020507" pitchFamily="18" charset="2"/>
              </a:rPr>
              <a:t>α</a:t>
            </a:r>
            <a:endParaRPr lang="en-US" altLang="zh-CN" sz="2400" dirty="0">
              <a:solidFill>
                <a:srgbClr val="050507"/>
              </a:solidFill>
              <a:latin typeface="+mn-ea"/>
              <a:ea typeface="+mn-ea"/>
              <a:sym typeface="Symbol" panose="05050102010706020507" pitchFamily="18" charset="2"/>
            </a:endParaRPr>
          </a:p>
          <a:p>
            <a:pPr>
              <a:spcBef>
                <a:spcPct val="20000"/>
              </a:spcBef>
              <a:buSzPct val="90000"/>
            </a:pPr>
            <a:r>
              <a:rPr lang="en-US" altLang="zh-CN" sz="2400" dirty="0">
                <a:solidFill>
                  <a:srgbClr val="050507"/>
                </a:solidFill>
                <a:latin typeface="+mn-ea"/>
                <a:ea typeface="+mn-ea"/>
              </a:rPr>
              <a:t>A</a:t>
            </a:r>
            <a:r>
              <a:rPr lang="en-US" altLang="zh-CN" sz="2400" dirty="0">
                <a:solidFill>
                  <a:srgbClr val="050507"/>
                </a:solidFill>
                <a:latin typeface="+mn-ea"/>
                <a:ea typeface="+mn-ea"/>
                <a:sym typeface="Symbol" panose="05050102010706020507" pitchFamily="18" charset="2"/>
              </a:rPr>
              <a:t>β</a:t>
            </a:r>
            <a:endParaRPr lang="en-US" altLang="zh-CN" sz="2400" dirty="0">
              <a:solidFill>
                <a:srgbClr val="050507"/>
              </a:solidFill>
              <a:latin typeface="+mn-ea"/>
              <a:ea typeface="+mn-ea"/>
              <a:sym typeface="Symbol" panose="05050102010706020507" pitchFamily="18" charset="2"/>
            </a:endParaRPr>
          </a:p>
        </p:txBody>
      </p:sp>
      <p:sp>
        <p:nvSpPr>
          <p:cNvPr id="9" name="Rectangle 8"/>
          <p:cNvSpPr>
            <a:spLocks noChangeArrowheads="1"/>
          </p:cNvSpPr>
          <p:nvPr/>
        </p:nvSpPr>
        <p:spPr bwMode="auto">
          <a:xfrm>
            <a:off x="464185" y="3348990"/>
            <a:ext cx="96837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zh-CN" altLang="en-US" sz="2400" dirty="0">
                <a:solidFill>
                  <a:srgbClr val="050507"/>
                </a:solidFill>
                <a:latin typeface="+mn-ea"/>
                <a:ea typeface="+mn-ea"/>
              </a:rPr>
              <a:t>消除直接左递归将文法重写为：</a:t>
            </a:r>
            <a:endParaRPr lang="zh-CN" altLang="en-US" sz="2400" dirty="0">
              <a:solidFill>
                <a:srgbClr val="050507"/>
              </a:solidFill>
              <a:latin typeface="+mn-ea"/>
              <a:ea typeface="+mn-ea"/>
              <a:sym typeface="Symbol" panose="05050102010706020507" pitchFamily="18" charset="2"/>
            </a:endParaRPr>
          </a:p>
        </p:txBody>
      </p:sp>
      <p:sp>
        <p:nvSpPr>
          <p:cNvPr id="10" name="Rectangle 9"/>
          <p:cNvSpPr>
            <a:spLocks noChangeArrowheads="1"/>
          </p:cNvSpPr>
          <p:nvPr/>
        </p:nvSpPr>
        <p:spPr bwMode="auto">
          <a:xfrm>
            <a:off x="816946" y="3916633"/>
            <a:ext cx="2124635"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en-US" altLang="zh-CN" sz="2400" dirty="0">
                <a:solidFill>
                  <a:srgbClr val="050507"/>
                </a:solidFill>
                <a:latin typeface="+mn-ea"/>
                <a:ea typeface="+mn-ea"/>
              </a:rPr>
              <a:t>A</a:t>
            </a:r>
            <a:r>
              <a:rPr lang="en-US" altLang="zh-CN" sz="2400" dirty="0">
                <a:solidFill>
                  <a:srgbClr val="050507"/>
                </a:solidFill>
                <a:latin typeface="+mn-ea"/>
                <a:ea typeface="+mn-ea"/>
                <a:sym typeface="Symbol" panose="05050102010706020507" pitchFamily="18" charset="2"/>
              </a:rPr>
              <a:t>βB</a:t>
            </a:r>
            <a:endParaRPr lang="en-US" altLang="zh-CN" sz="2400" dirty="0">
              <a:solidFill>
                <a:srgbClr val="050507"/>
              </a:solidFill>
              <a:latin typeface="+mn-ea"/>
              <a:ea typeface="+mn-ea"/>
            </a:endParaRPr>
          </a:p>
        </p:txBody>
      </p:sp>
      <p:sp>
        <p:nvSpPr>
          <p:cNvPr id="11" name="Rectangle 10"/>
          <p:cNvSpPr>
            <a:spLocks noChangeArrowheads="1"/>
          </p:cNvSpPr>
          <p:nvPr/>
        </p:nvSpPr>
        <p:spPr bwMode="auto">
          <a:xfrm>
            <a:off x="816946" y="4678633"/>
            <a:ext cx="2438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en-US" altLang="zh-CN" sz="2400" dirty="0">
                <a:solidFill>
                  <a:srgbClr val="050507"/>
                </a:solidFill>
                <a:latin typeface="+mn-ea"/>
                <a:ea typeface="+mn-ea"/>
              </a:rPr>
              <a:t>B</a:t>
            </a:r>
            <a:r>
              <a:rPr lang="en-US" altLang="zh-CN" sz="2400" dirty="0">
                <a:solidFill>
                  <a:srgbClr val="050507"/>
                </a:solidFill>
                <a:latin typeface="+mn-ea"/>
                <a:ea typeface="+mn-ea"/>
                <a:sym typeface="Symbol" panose="05050102010706020507" pitchFamily="18" charset="2"/>
              </a:rPr>
              <a:t>α</a:t>
            </a:r>
            <a:r>
              <a:rPr lang="en-US" altLang="zh-CN" sz="2400" dirty="0" err="1">
                <a:solidFill>
                  <a:srgbClr val="050507"/>
                </a:solidFill>
                <a:latin typeface="+mn-ea"/>
                <a:ea typeface="+mn-ea"/>
                <a:sym typeface="Symbol" panose="05050102010706020507" pitchFamily="18" charset="2"/>
              </a:rPr>
              <a:t>B|ε</a:t>
            </a:r>
            <a:endParaRPr lang="en-US" altLang="zh-CN" sz="2400" dirty="0">
              <a:solidFill>
                <a:srgbClr val="050507"/>
              </a:solidFill>
              <a:latin typeface="+mn-ea"/>
              <a:ea typeface="+mn-ea"/>
              <a:sym typeface="Symbol" panose="05050102010706020507" pitchFamily="18" charset="2"/>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12" name="Rectangle 2"/>
          <p:cNvSpPr>
            <a:spLocks noChangeArrowheads="1"/>
          </p:cNvSpPr>
          <p:nvPr>
            <p:custDataLst>
              <p:tags r:id="rId1"/>
            </p:custDataLst>
          </p:nvPr>
        </p:nvSpPr>
        <p:spPr bwMode="auto">
          <a:xfrm>
            <a:off x="5926455" y="1487170"/>
            <a:ext cx="58534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50507"/>
                </a:solidFill>
                <a:latin typeface="+mn-ea"/>
                <a:sym typeface="Symbol" panose="05050102010706020507" pitchFamily="18" charset="2"/>
              </a:rPr>
              <a:t>例：消除下面文法的左递归规则：</a:t>
            </a:r>
            <a:endParaRPr lang="zh-CN" altLang="en-US" sz="2400" b="1">
              <a:solidFill>
                <a:srgbClr val="050507"/>
              </a:solidFill>
              <a:latin typeface="+mn-ea"/>
              <a:sym typeface="Symbol" panose="05050102010706020507" pitchFamily="18" charset="2"/>
            </a:endParaRPr>
          </a:p>
        </p:txBody>
      </p:sp>
      <p:sp>
        <p:nvSpPr>
          <p:cNvPr id="13" name="Rectangle 3"/>
          <p:cNvSpPr>
            <a:spLocks noChangeArrowheads="1"/>
          </p:cNvSpPr>
          <p:nvPr>
            <p:custDataLst>
              <p:tags r:id="rId2"/>
            </p:custDataLst>
          </p:nvPr>
        </p:nvSpPr>
        <p:spPr bwMode="auto">
          <a:xfrm>
            <a:off x="5893435" y="2077085"/>
            <a:ext cx="52012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a:solidFill>
                  <a:srgbClr val="050507"/>
                </a:solidFill>
                <a:latin typeface="+mn-ea"/>
                <a:sym typeface="Symbol" panose="05050102010706020507" pitchFamily="18" charset="2"/>
              </a:rPr>
              <a:t>exp  exp </a:t>
            </a:r>
            <a:r>
              <a:rPr lang="en-US" altLang="zh-CN" sz="2400" b="1">
                <a:solidFill>
                  <a:schemeClr val="tx1"/>
                </a:solidFill>
                <a:latin typeface="+mn-ea"/>
                <a:sym typeface="Symbol" panose="05050102010706020507" pitchFamily="18" charset="2"/>
              </a:rPr>
              <a:t>addop term|</a:t>
            </a:r>
            <a:r>
              <a:rPr lang="en-US" altLang="zh-CN" sz="2400" b="1">
                <a:solidFill>
                  <a:srgbClr val="FF3399"/>
                </a:solidFill>
                <a:latin typeface="+mn-ea"/>
                <a:sym typeface="Symbol" panose="05050102010706020507" pitchFamily="18" charset="2"/>
              </a:rPr>
              <a:t>term</a:t>
            </a:r>
            <a:endParaRPr lang="zh-CN" altLang="en-US" sz="2400" b="1">
              <a:solidFill>
                <a:srgbClr val="FF3399"/>
              </a:solidFill>
              <a:latin typeface="+mn-ea"/>
              <a:sym typeface="Symbol" panose="05050102010706020507" pitchFamily="18" charset="2"/>
            </a:endParaRPr>
          </a:p>
        </p:txBody>
      </p:sp>
      <p:sp>
        <p:nvSpPr>
          <p:cNvPr id="14" name="Rectangle 4"/>
          <p:cNvSpPr>
            <a:spLocks noChangeArrowheads="1"/>
          </p:cNvSpPr>
          <p:nvPr>
            <p:custDataLst>
              <p:tags r:id="rId3"/>
            </p:custDataLst>
          </p:nvPr>
        </p:nvSpPr>
        <p:spPr bwMode="auto">
          <a:xfrm>
            <a:off x="6169435" y="3773170"/>
            <a:ext cx="5715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sym typeface="Symbol" panose="05050102010706020507" pitchFamily="18" charset="2"/>
              </a:rPr>
              <a:t>exp </a:t>
            </a:r>
            <a:r>
              <a:rPr lang="en-US" altLang="zh-CN" sz="2400" b="1">
                <a:solidFill>
                  <a:srgbClr val="FF3399"/>
                </a:solidFill>
                <a:latin typeface="+mn-ea"/>
                <a:sym typeface="Symbol" panose="05050102010706020507" pitchFamily="18" charset="2"/>
              </a:rPr>
              <a:t> term </a:t>
            </a:r>
            <a:r>
              <a:rPr lang="en-US" altLang="zh-CN" sz="2400" b="1">
                <a:solidFill>
                  <a:srgbClr val="050507"/>
                </a:solidFill>
                <a:latin typeface="+mn-ea"/>
                <a:sym typeface="Symbol" panose="05050102010706020507" pitchFamily="18" charset="2"/>
              </a:rPr>
              <a:t>B</a:t>
            </a:r>
            <a:endParaRPr lang="zh-CN" altLang="en-US" sz="2400" b="1">
              <a:solidFill>
                <a:srgbClr val="050507"/>
              </a:solidFill>
              <a:latin typeface="+mn-ea"/>
              <a:sym typeface="Symbol" panose="05050102010706020507" pitchFamily="18" charset="2"/>
            </a:endParaRPr>
          </a:p>
        </p:txBody>
      </p:sp>
      <p:sp>
        <p:nvSpPr>
          <p:cNvPr id="15" name="Rectangle 5"/>
          <p:cNvSpPr>
            <a:spLocks noChangeArrowheads="1"/>
          </p:cNvSpPr>
          <p:nvPr>
            <p:custDataLst>
              <p:tags r:id="rId4"/>
            </p:custDataLst>
          </p:nvPr>
        </p:nvSpPr>
        <p:spPr bwMode="auto">
          <a:xfrm>
            <a:off x="5926455" y="3090545"/>
            <a:ext cx="585343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zh-CN" altLang="en-US" sz="2400">
                <a:solidFill>
                  <a:srgbClr val="050507"/>
                </a:solidFill>
                <a:latin typeface="+mn-ea"/>
                <a:ea typeface="+mn-ea"/>
              </a:rPr>
              <a:t>消除左递归后将上述文法重写为：</a:t>
            </a:r>
            <a:endParaRPr lang="zh-CN" altLang="en-US" sz="2400">
              <a:solidFill>
                <a:srgbClr val="050507"/>
              </a:solidFill>
              <a:latin typeface="+mn-ea"/>
              <a:ea typeface="+mn-ea"/>
              <a:sym typeface="Symbol" panose="05050102010706020507" pitchFamily="18" charset="2"/>
            </a:endParaRPr>
          </a:p>
        </p:txBody>
      </p:sp>
      <p:sp>
        <p:nvSpPr>
          <p:cNvPr id="16" name="Rectangle 6"/>
          <p:cNvSpPr>
            <a:spLocks noChangeArrowheads="1"/>
          </p:cNvSpPr>
          <p:nvPr>
            <p:custDataLst>
              <p:tags r:id="rId5"/>
            </p:custDataLst>
          </p:nvPr>
        </p:nvSpPr>
        <p:spPr bwMode="auto">
          <a:xfrm>
            <a:off x="6169435" y="4535170"/>
            <a:ext cx="6858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sym typeface="Symbol" panose="05050102010706020507" pitchFamily="18" charset="2"/>
              </a:rPr>
              <a:t>B </a:t>
            </a:r>
            <a:r>
              <a:rPr lang="en-US" altLang="zh-CN" sz="2400" b="1">
                <a:solidFill>
                  <a:schemeClr val="tx1"/>
                </a:solidFill>
                <a:latin typeface="+mn-ea"/>
                <a:sym typeface="Symbol" panose="05050102010706020507" pitchFamily="18" charset="2"/>
              </a:rPr>
              <a:t>addop term B|</a:t>
            </a:r>
            <a:r>
              <a:rPr lang="en-US" altLang="zh-CN" sz="2400" b="1">
                <a:solidFill>
                  <a:srgbClr val="050507"/>
                </a:solidFill>
                <a:latin typeface="+mn-ea"/>
                <a:sym typeface="Symbol" panose="05050102010706020507" pitchFamily="18" charset="2"/>
              </a:rPr>
              <a:t>ε</a:t>
            </a:r>
            <a:endParaRPr lang="zh-CN" altLang="en-US" sz="2400" b="1">
              <a:solidFill>
                <a:srgbClr val="050507"/>
              </a:solidFill>
              <a:latin typeface="+mn-ea"/>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out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out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outHorizontal)">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4" grpId="0"/>
      <p:bldP spid="15" grpId="0"/>
      <p:bldP spid="1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1755775" y="339615"/>
            <a:ext cx="6213850" cy="501365"/>
          </a:xfrm>
        </p:spPr>
        <p:txBody>
          <a:bodyPr/>
          <a:lstStyle/>
          <a:p>
            <a:r>
              <a:rPr lang="en-US" altLang="zh-CN" sz="2800" dirty="0"/>
              <a:t>4.3.3 </a:t>
            </a:r>
            <a:r>
              <a:rPr lang="zh-CN" altLang="en-US" sz="2800" dirty="0"/>
              <a:t>消除左递归和提取左因子（续）</a:t>
            </a:r>
            <a:endParaRPr lang="zh-CN" altLang="en-US" sz="2800" dirty="0"/>
          </a:p>
        </p:txBody>
      </p:sp>
      <p:sp>
        <p:nvSpPr>
          <p:cNvPr id="18" name="Rectangle 2"/>
          <p:cNvSpPr>
            <a:spLocks noChangeArrowheads="1"/>
          </p:cNvSpPr>
          <p:nvPr/>
        </p:nvSpPr>
        <p:spPr bwMode="auto">
          <a:xfrm>
            <a:off x="383540" y="1270635"/>
            <a:ext cx="777875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buFont typeface="Wingdings" panose="05000000000000000000" pitchFamily="2" charset="2"/>
              <a:buAutoNum type="arabicPeriod" startAt="2"/>
            </a:pPr>
            <a:r>
              <a:rPr lang="zh-CN" altLang="en-US" dirty="0">
                <a:solidFill>
                  <a:srgbClr val="FF0066"/>
                </a:solidFill>
                <a:latin typeface="+mn-ea"/>
                <a:ea typeface="+mn-ea"/>
              </a:rPr>
              <a:t>多项直接左递归的消除</a:t>
            </a:r>
            <a:endParaRPr lang="zh-CN" altLang="en-US" dirty="0">
              <a:solidFill>
                <a:srgbClr val="FF0066"/>
              </a:solidFill>
              <a:latin typeface="+mn-ea"/>
              <a:ea typeface="+mn-ea"/>
            </a:endParaRPr>
          </a:p>
        </p:txBody>
      </p:sp>
      <p:sp>
        <p:nvSpPr>
          <p:cNvPr id="19" name="Rectangle 3"/>
          <p:cNvSpPr>
            <a:spLocks noChangeArrowheads="1"/>
          </p:cNvSpPr>
          <p:nvPr/>
        </p:nvSpPr>
        <p:spPr bwMode="auto">
          <a:xfrm>
            <a:off x="597535" y="2075180"/>
            <a:ext cx="962215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en-US" altLang="zh-CN" sz="2800">
                <a:solidFill>
                  <a:srgbClr val="050507"/>
                </a:solidFill>
                <a:latin typeface="+mn-ea"/>
                <a:ea typeface="+mn-ea"/>
              </a:rPr>
              <a:t>A</a:t>
            </a:r>
            <a:r>
              <a:rPr lang="en-US" altLang="zh-CN" sz="2800">
                <a:solidFill>
                  <a:srgbClr val="050507"/>
                </a:solidFill>
                <a:latin typeface="+mn-ea"/>
                <a:ea typeface="+mn-ea"/>
                <a:sym typeface="Symbol" panose="05050102010706020507" pitchFamily="18" charset="2"/>
              </a:rPr>
              <a:t></a:t>
            </a:r>
            <a:r>
              <a:rPr lang="en-US" altLang="zh-CN" sz="2800">
                <a:solidFill>
                  <a:srgbClr val="050507"/>
                </a:solidFill>
                <a:latin typeface="+mn-ea"/>
                <a:ea typeface="+mn-ea"/>
              </a:rPr>
              <a:t>A</a:t>
            </a:r>
            <a:r>
              <a:rPr lang="en-US" altLang="zh-CN" sz="2800">
                <a:solidFill>
                  <a:srgbClr val="050507"/>
                </a:solidFill>
                <a:latin typeface="+mn-ea"/>
                <a:ea typeface="+mn-ea"/>
                <a:sym typeface="Symbol" panose="05050102010706020507" pitchFamily="18" charset="2"/>
              </a:rPr>
              <a:t>α</a:t>
            </a:r>
            <a:r>
              <a:rPr lang="en-US" altLang="zh-CN" sz="2800" baseline="-25000">
                <a:solidFill>
                  <a:srgbClr val="050507"/>
                </a:solidFill>
                <a:latin typeface="+mn-ea"/>
                <a:ea typeface="+mn-ea"/>
                <a:sym typeface="Symbol" panose="05050102010706020507" pitchFamily="18" charset="2"/>
              </a:rPr>
              <a:t>1</a:t>
            </a:r>
            <a:r>
              <a:rPr lang="en-US" altLang="zh-CN" sz="2800">
                <a:solidFill>
                  <a:srgbClr val="050507"/>
                </a:solidFill>
                <a:latin typeface="+mn-ea"/>
                <a:ea typeface="+mn-ea"/>
                <a:sym typeface="Symbol" panose="05050102010706020507" pitchFamily="18" charset="2"/>
              </a:rPr>
              <a:t>|</a:t>
            </a:r>
            <a:r>
              <a:rPr lang="en-US" altLang="zh-CN" sz="2800">
                <a:solidFill>
                  <a:srgbClr val="050507"/>
                </a:solidFill>
                <a:latin typeface="+mn-ea"/>
                <a:ea typeface="+mn-ea"/>
              </a:rPr>
              <a:t>A</a:t>
            </a:r>
            <a:r>
              <a:rPr lang="en-US" altLang="zh-CN" sz="2800">
                <a:solidFill>
                  <a:srgbClr val="050507"/>
                </a:solidFill>
                <a:latin typeface="+mn-ea"/>
                <a:ea typeface="+mn-ea"/>
                <a:sym typeface="Symbol" panose="05050102010706020507" pitchFamily="18" charset="2"/>
              </a:rPr>
              <a:t>α</a:t>
            </a:r>
            <a:r>
              <a:rPr lang="en-US" altLang="zh-CN" sz="2800" baseline="-25000">
                <a:solidFill>
                  <a:srgbClr val="050507"/>
                </a:solidFill>
                <a:latin typeface="+mn-ea"/>
                <a:ea typeface="+mn-ea"/>
                <a:sym typeface="Symbol" panose="05050102010706020507" pitchFamily="18" charset="2"/>
              </a:rPr>
              <a:t>2</a:t>
            </a:r>
            <a:r>
              <a:rPr lang="en-US" altLang="zh-CN" sz="2800">
                <a:solidFill>
                  <a:srgbClr val="050507"/>
                </a:solidFill>
                <a:latin typeface="+mn-ea"/>
                <a:ea typeface="+mn-ea"/>
                <a:sym typeface="Symbol" panose="05050102010706020507" pitchFamily="18" charset="2"/>
              </a:rPr>
              <a:t>|…| </a:t>
            </a:r>
            <a:r>
              <a:rPr lang="en-US" altLang="zh-CN" sz="2800">
                <a:solidFill>
                  <a:srgbClr val="050507"/>
                </a:solidFill>
                <a:latin typeface="+mn-ea"/>
                <a:ea typeface="+mn-ea"/>
              </a:rPr>
              <a:t>A</a:t>
            </a:r>
            <a:r>
              <a:rPr lang="en-US" altLang="zh-CN" sz="2800">
                <a:solidFill>
                  <a:srgbClr val="050507"/>
                </a:solidFill>
                <a:latin typeface="+mn-ea"/>
                <a:ea typeface="+mn-ea"/>
                <a:sym typeface="Symbol" panose="05050102010706020507" pitchFamily="18" charset="2"/>
              </a:rPr>
              <a:t>α</a:t>
            </a:r>
            <a:r>
              <a:rPr lang="en-US" altLang="zh-CN" sz="2800" baseline="-25000">
                <a:solidFill>
                  <a:srgbClr val="050507"/>
                </a:solidFill>
                <a:latin typeface="+mn-ea"/>
                <a:ea typeface="+mn-ea"/>
                <a:sym typeface="Symbol" panose="05050102010706020507" pitchFamily="18" charset="2"/>
              </a:rPr>
              <a:t>n</a:t>
            </a:r>
            <a:r>
              <a:rPr lang="en-US" altLang="zh-CN" sz="2800">
                <a:solidFill>
                  <a:srgbClr val="050507"/>
                </a:solidFill>
                <a:latin typeface="+mn-ea"/>
                <a:ea typeface="+mn-ea"/>
                <a:sym typeface="Symbol" panose="05050102010706020507" pitchFamily="18" charset="2"/>
              </a:rPr>
              <a:t>|β</a:t>
            </a:r>
            <a:r>
              <a:rPr lang="en-US" altLang="zh-CN" sz="2800" baseline="-25000">
                <a:solidFill>
                  <a:srgbClr val="050507"/>
                </a:solidFill>
                <a:latin typeface="+mn-ea"/>
                <a:ea typeface="+mn-ea"/>
                <a:sym typeface="Symbol" panose="05050102010706020507" pitchFamily="18" charset="2"/>
              </a:rPr>
              <a:t>1</a:t>
            </a:r>
            <a:r>
              <a:rPr lang="en-US" altLang="zh-CN" sz="2800">
                <a:solidFill>
                  <a:srgbClr val="050507"/>
                </a:solidFill>
                <a:latin typeface="+mn-ea"/>
                <a:ea typeface="+mn-ea"/>
                <a:sym typeface="Symbol" panose="05050102010706020507" pitchFamily="18" charset="2"/>
              </a:rPr>
              <a:t>|β</a:t>
            </a:r>
            <a:r>
              <a:rPr lang="en-US" altLang="zh-CN" sz="2800" baseline="-25000">
                <a:solidFill>
                  <a:srgbClr val="050507"/>
                </a:solidFill>
                <a:latin typeface="+mn-ea"/>
                <a:ea typeface="+mn-ea"/>
                <a:sym typeface="Symbol" panose="05050102010706020507" pitchFamily="18" charset="2"/>
              </a:rPr>
              <a:t>2 </a:t>
            </a:r>
            <a:r>
              <a:rPr lang="en-US" altLang="zh-CN" sz="2800">
                <a:solidFill>
                  <a:srgbClr val="050507"/>
                </a:solidFill>
                <a:latin typeface="+mn-ea"/>
                <a:ea typeface="+mn-ea"/>
                <a:sym typeface="Symbol" panose="05050102010706020507" pitchFamily="18" charset="2"/>
              </a:rPr>
              <a:t>|</a:t>
            </a:r>
            <a:r>
              <a:rPr lang="en-US" altLang="zh-CN" sz="2800" baseline="-25000">
                <a:solidFill>
                  <a:srgbClr val="050507"/>
                </a:solidFill>
                <a:latin typeface="+mn-ea"/>
                <a:ea typeface="+mn-ea"/>
                <a:sym typeface="Symbol" panose="05050102010706020507" pitchFamily="18" charset="2"/>
              </a:rPr>
              <a:t> </a:t>
            </a:r>
            <a:r>
              <a:rPr lang="en-US" altLang="zh-CN" sz="2800">
                <a:solidFill>
                  <a:srgbClr val="050507"/>
                </a:solidFill>
                <a:latin typeface="+mn-ea"/>
                <a:ea typeface="+mn-ea"/>
                <a:sym typeface="Symbol" panose="05050102010706020507" pitchFamily="18" charset="2"/>
              </a:rPr>
              <a:t>…</a:t>
            </a:r>
            <a:r>
              <a:rPr lang="en-US" altLang="zh-CN" sz="2800" baseline="-25000">
                <a:solidFill>
                  <a:srgbClr val="050507"/>
                </a:solidFill>
                <a:latin typeface="+mn-ea"/>
                <a:ea typeface="+mn-ea"/>
                <a:sym typeface="Symbol" panose="05050102010706020507" pitchFamily="18" charset="2"/>
              </a:rPr>
              <a:t> </a:t>
            </a:r>
            <a:r>
              <a:rPr lang="en-US" altLang="zh-CN" sz="2800">
                <a:solidFill>
                  <a:srgbClr val="050507"/>
                </a:solidFill>
                <a:latin typeface="+mn-ea"/>
                <a:ea typeface="+mn-ea"/>
                <a:sym typeface="Symbol" panose="05050102010706020507" pitchFamily="18" charset="2"/>
              </a:rPr>
              <a:t>|β</a:t>
            </a:r>
            <a:r>
              <a:rPr lang="en-US" altLang="zh-CN" sz="2800" baseline="-25000">
                <a:solidFill>
                  <a:srgbClr val="050507"/>
                </a:solidFill>
                <a:latin typeface="+mn-ea"/>
                <a:ea typeface="+mn-ea"/>
                <a:sym typeface="Symbol" panose="05050102010706020507" pitchFamily="18" charset="2"/>
              </a:rPr>
              <a:t>m</a:t>
            </a:r>
            <a:endParaRPr lang="en-US" altLang="zh-CN" sz="2800" baseline="-25000">
              <a:solidFill>
                <a:srgbClr val="050507"/>
              </a:solidFill>
              <a:latin typeface="+mn-ea"/>
              <a:ea typeface="+mn-ea"/>
              <a:sym typeface="Symbol" panose="05050102010706020507" pitchFamily="18" charset="2"/>
            </a:endParaRPr>
          </a:p>
        </p:txBody>
      </p:sp>
      <p:sp>
        <p:nvSpPr>
          <p:cNvPr id="20" name="Rectangle 4"/>
          <p:cNvSpPr>
            <a:spLocks noChangeArrowheads="1"/>
          </p:cNvSpPr>
          <p:nvPr/>
        </p:nvSpPr>
        <p:spPr bwMode="auto">
          <a:xfrm>
            <a:off x="554355" y="2837180"/>
            <a:ext cx="897953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zh-CN" altLang="en-US" sz="2800">
                <a:solidFill>
                  <a:srgbClr val="050507"/>
                </a:solidFill>
                <a:latin typeface="+mn-ea"/>
                <a:ea typeface="+mn-ea"/>
              </a:rPr>
              <a:t>消除左递归后将上述文法重写为：</a:t>
            </a:r>
            <a:endParaRPr lang="zh-CN" altLang="en-US" sz="2800">
              <a:solidFill>
                <a:srgbClr val="050507"/>
              </a:solidFill>
              <a:latin typeface="+mn-ea"/>
              <a:ea typeface="+mn-ea"/>
              <a:sym typeface="Symbol" panose="05050102010706020507" pitchFamily="18" charset="2"/>
            </a:endParaRPr>
          </a:p>
        </p:txBody>
      </p:sp>
      <p:sp>
        <p:nvSpPr>
          <p:cNvPr id="21" name="Rectangle 5"/>
          <p:cNvSpPr>
            <a:spLocks noChangeArrowheads="1"/>
          </p:cNvSpPr>
          <p:nvPr/>
        </p:nvSpPr>
        <p:spPr bwMode="auto">
          <a:xfrm>
            <a:off x="702945" y="3522980"/>
            <a:ext cx="936434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en-US" altLang="zh-CN" sz="2800">
                <a:solidFill>
                  <a:srgbClr val="050507"/>
                </a:solidFill>
                <a:latin typeface="+mn-ea"/>
                <a:ea typeface="+mn-ea"/>
              </a:rPr>
              <a:t>A</a:t>
            </a:r>
            <a:r>
              <a:rPr lang="en-US" altLang="zh-CN" sz="2800">
                <a:solidFill>
                  <a:srgbClr val="050507"/>
                </a:solidFill>
                <a:latin typeface="+mn-ea"/>
                <a:ea typeface="+mn-ea"/>
                <a:sym typeface="Symbol" panose="05050102010706020507" pitchFamily="18" charset="2"/>
              </a:rPr>
              <a:t> β</a:t>
            </a:r>
            <a:r>
              <a:rPr lang="en-US" altLang="zh-CN" sz="2800" baseline="-25000">
                <a:solidFill>
                  <a:srgbClr val="050507"/>
                </a:solidFill>
                <a:latin typeface="+mn-ea"/>
                <a:ea typeface="+mn-ea"/>
                <a:sym typeface="Symbol" panose="05050102010706020507" pitchFamily="18" charset="2"/>
              </a:rPr>
              <a:t>1</a:t>
            </a:r>
            <a:r>
              <a:rPr lang="en-US" altLang="zh-CN" sz="2800">
                <a:solidFill>
                  <a:srgbClr val="050507"/>
                </a:solidFill>
                <a:latin typeface="+mn-ea"/>
                <a:ea typeface="+mn-ea"/>
                <a:sym typeface="Symbol" panose="05050102010706020507" pitchFamily="18" charset="2"/>
              </a:rPr>
              <a:t>B|β</a:t>
            </a:r>
            <a:r>
              <a:rPr lang="en-US" altLang="zh-CN" sz="2800" baseline="-25000">
                <a:solidFill>
                  <a:srgbClr val="050507"/>
                </a:solidFill>
                <a:latin typeface="+mn-ea"/>
                <a:ea typeface="+mn-ea"/>
                <a:sym typeface="Symbol" panose="05050102010706020507" pitchFamily="18" charset="2"/>
              </a:rPr>
              <a:t>2</a:t>
            </a:r>
            <a:r>
              <a:rPr lang="en-US" altLang="zh-CN" sz="2800">
                <a:solidFill>
                  <a:srgbClr val="050507"/>
                </a:solidFill>
                <a:latin typeface="+mn-ea"/>
                <a:ea typeface="+mn-ea"/>
                <a:sym typeface="Symbol" panose="05050102010706020507" pitchFamily="18" charset="2"/>
              </a:rPr>
              <a:t>B|…|β</a:t>
            </a:r>
            <a:r>
              <a:rPr lang="en-US" altLang="zh-CN" sz="2800" baseline="-25000">
                <a:solidFill>
                  <a:srgbClr val="050507"/>
                </a:solidFill>
                <a:latin typeface="+mn-ea"/>
                <a:ea typeface="+mn-ea"/>
                <a:sym typeface="Symbol" panose="05050102010706020507" pitchFamily="18" charset="2"/>
              </a:rPr>
              <a:t>m</a:t>
            </a:r>
            <a:r>
              <a:rPr lang="en-US" altLang="zh-CN" sz="2800">
                <a:solidFill>
                  <a:srgbClr val="050507"/>
                </a:solidFill>
                <a:latin typeface="+mn-ea"/>
                <a:ea typeface="+mn-ea"/>
                <a:sym typeface="Symbol" panose="05050102010706020507" pitchFamily="18" charset="2"/>
              </a:rPr>
              <a:t>B</a:t>
            </a:r>
            <a:endParaRPr lang="en-US" altLang="zh-CN" sz="2800">
              <a:solidFill>
                <a:srgbClr val="050507"/>
              </a:solidFill>
              <a:latin typeface="+mn-ea"/>
              <a:ea typeface="+mn-ea"/>
              <a:sym typeface="Symbol" panose="05050102010706020507" pitchFamily="18" charset="2"/>
            </a:endParaRPr>
          </a:p>
        </p:txBody>
      </p:sp>
      <p:sp>
        <p:nvSpPr>
          <p:cNvPr id="22" name="Rectangle 6"/>
          <p:cNvSpPr>
            <a:spLocks noChangeArrowheads="1"/>
          </p:cNvSpPr>
          <p:nvPr/>
        </p:nvSpPr>
        <p:spPr bwMode="auto">
          <a:xfrm>
            <a:off x="645795" y="4208780"/>
            <a:ext cx="881189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en-US" altLang="zh-CN" sz="2800">
                <a:solidFill>
                  <a:srgbClr val="050507"/>
                </a:solidFill>
                <a:latin typeface="+mn-ea"/>
                <a:ea typeface="+mn-ea"/>
                <a:sym typeface="Symbol" panose="05050102010706020507" pitchFamily="18" charset="2"/>
              </a:rPr>
              <a:t>Bα</a:t>
            </a:r>
            <a:r>
              <a:rPr lang="en-US" altLang="zh-CN" sz="2800" baseline="-25000">
                <a:solidFill>
                  <a:srgbClr val="050507"/>
                </a:solidFill>
                <a:latin typeface="+mn-ea"/>
                <a:ea typeface="+mn-ea"/>
                <a:sym typeface="Symbol" panose="05050102010706020507" pitchFamily="18" charset="2"/>
              </a:rPr>
              <a:t>1</a:t>
            </a:r>
            <a:r>
              <a:rPr lang="en-US" altLang="zh-CN" sz="2800">
                <a:solidFill>
                  <a:srgbClr val="050507"/>
                </a:solidFill>
                <a:latin typeface="+mn-ea"/>
                <a:ea typeface="+mn-ea"/>
                <a:sym typeface="Symbol" panose="05050102010706020507" pitchFamily="18" charset="2"/>
              </a:rPr>
              <a:t>B|α</a:t>
            </a:r>
            <a:r>
              <a:rPr lang="en-US" altLang="zh-CN" sz="2800" baseline="-25000">
                <a:solidFill>
                  <a:srgbClr val="050507"/>
                </a:solidFill>
                <a:latin typeface="+mn-ea"/>
                <a:ea typeface="+mn-ea"/>
                <a:sym typeface="Symbol" panose="05050102010706020507" pitchFamily="18" charset="2"/>
              </a:rPr>
              <a:t>2</a:t>
            </a:r>
            <a:r>
              <a:rPr lang="en-US" altLang="zh-CN" sz="2800">
                <a:solidFill>
                  <a:srgbClr val="050507"/>
                </a:solidFill>
                <a:latin typeface="+mn-ea"/>
                <a:ea typeface="+mn-ea"/>
                <a:sym typeface="Symbol" panose="05050102010706020507" pitchFamily="18" charset="2"/>
              </a:rPr>
              <a:t>B|…|α</a:t>
            </a:r>
            <a:r>
              <a:rPr lang="en-US" altLang="zh-CN" sz="2800" baseline="-25000">
                <a:solidFill>
                  <a:srgbClr val="050507"/>
                </a:solidFill>
                <a:latin typeface="+mn-ea"/>
                <a:ea typeface="+mn-ea"/>
                <a:sym typeface="Symbol" panose="05050102010706020507" pitchFamily="18" charset="2"/>
              </a:rPr>
              <a:t>n</a:t>
            </a:r>
            <a:r>
              <a:rPr lang="en-US" altLang="zh-CN" sz="2800">
                <a:solidFill>
                  <a:srgbClr val="050507"/>
                </a:solidFill>
                <a:latin typeface="+mn-ea"/>
                <a:ea typeface="+mn-ea"/>
                <a:sym typeface="Symbol" panose="05050102010706020507" pitchFamily="18" charset="2"/>
              </a:rPr>
              <a:t>B</a:t>
            </a:r>
            <a:r>
              <a:rPr lang="en-US" altLang="zh-CN" sz="2800">
                <a:solidFill>
                  <a:srgbClr val="050507"/>
                </a:solidFill>
                <a:latin typeface="+mn-ea"/>
                <a:ea typeface="+mn-ea"/>
              </a:rPr>
              <a:t>|</a:t>
            </a:r>
            <a:r>
              <a:rPr lang="en-US" altLang="zh-CN" sz="2800">
                <a:solidFill>
                  <a:srgbClr val="050507"/>
                </a:solidFill>
                <a:latin typeface="+mn-ea"/>
                <a:ea typeface="+mn-ea"/>
                <a:sym typeface="Symbol" panose="05050102010706020507" pitchFamily="18" charset="2"/>
              </a:rPr>
              <a:t>ε</a:t>
            </a:r>
            <a:endParaRPr lang="en-US" altLang="zh-CN" sz="2800">
              <a:solidFill>
                <a:srgbClr val="050507"/>
              </a:solidFill>
              <a:latin typeface="+mn-ea"/>
              <a:ea typeface="+mn-ea"/>
              <a:sym typeface="Symbol" panose="05050102010706020507" pitchFamily="18" charset="2"/>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9" name="Rectangle 3"/>
          <p:cNvSpPr>
            <a:spLocks noChangeArrowheads="1"/>
          </p:cNvSpPr>
          <p:nvPr>
            <p:custDataLst>
              <p:tags r:id="rId1"/>
            </p:custDataLst>
          </p:nvPr>
        </p:nvSpPr>
        <p:spPr bwMode="auto">
          <a:xfrm>
            <a:off x="6642735" y="1488440"/>
            <a:ext cx="534924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a:solidFill>
                  <a:srgbClr val="050507"/>
                </a:solidFill>
                <a:latin typeface="+mn-ea"/>
                <a:sym typeface="Symbol" panose="05050102010706020507" pitchFamily="18" charset="2"/>
              </a:rPr>
              <a:t>exp  exp+term| exp-term| term</a:t>
            </a:r>
            <a:endParaRPr lang="zh-CN" altLang="en-US" sz="2400" b="1">
              <a:solidFill>
                <a:srgbClr val="050507"/>
              </a:solidFill>
              <a:latin typeface="+mn-ea"/>
              <a:sym typeface="Symbol" panose="05050102010706020507" pitchFamily="18" charset="2"/>
            </a:endParaRPr>
          </a:p>
        </p:txBody>
      </p:sp>
      <p:sp>
        <p:nvSpPr>
          <p:cNvPr id="10" name="Rectangle 4"/>
          <p:cNvSpPr>
            <a:spLocks noChangeArrowheads="1"/>
          </p:cNvSpPr>
          <p:nvPr/>
        </p:nvSpPr>
        <p:spPr bwMode="auto">
          <a:xfrm>
            <a:off x="6776720" y="2635785"/>
            <a:ext cx="7391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sym typeface="Symbol" panose="05050102010706020507" pitchFamily="18" charset="2"/>
              </a:rPr>
              <a:t>exp  term B</a:t>
            </a:r>
            <a:endParaRPr lang="zh-CN" altLang="en-US" sz="2400" b="1">
              <a:solidFill>
                <a:srgbClr val="050507"/>
              </a:solidFill>
              <a:latin typeface="+mn-ea"/>
              <a:sym typeface="Symbol" panose="05050102010706020507" pitchFamily="18" charset="2"/>
            </a:endParaRPr>
          </a:p>
        </p:txBody>
      </p:sp>
      <p:sp>
        <p:nvSpPr>
          <p:cNvPr id="11" name="Rectangle 5"/>
          <p:cNvSpPr>
            <a:spLocks noChangeArrowheads="1"/>
          </p:cNvSpPr>
          <p:nvPr>
            <p:custDataLst>
              <p:tags r:id="rId2"/>
            </p:custDataLst>
          </p:nvPr>
        </p:nvSpPr>
        <p:spPr bwMode="auto">
          <a:xfrm>
            <a:off x="6678930" y="2113280"/>
            <a:ext cx="699960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spcBef>
                <a:spcPct val="20000"/>
              </a:spcBef>
              <a:buSzPct val="90000"/>
            </a:pPr>
            <a:r>
              <a:rPr lang="zh-CN" altLang="en-US" sz="2400">
                <a:solidFill>
                  <a:srgbClr val="050507"/>
                </a:solidFill>
                <a:latin typeface="+mn-ea"/>
                <a:ea typeface="+mn-ea"/>
              </a:rPr>
              <a:t>消除左递归后将上述文法重写为：</a:t>
            </a:r>
            <a:endParaRPr lang="zh-CN" altLang="en-US" sz="2400">
              <a:solidFill>
                <a:srgbClr val="050507"/>
              </a:solidFill>
              <a:latin typeface="+mn-ea"/>
              <a:ea typeface="+mn-ea"/>
              <a:sym typeface="Symbol" panose="05050102010706020507" pitchFamily="18" charset="2"/>
            </a:endParaRPr>
          </a:p>
        </p:txBody>
      </p:sp>
      <p:sp>
        <p:nvSpPr>
          <p:cNvPr id="12" name="Rectangle 6"/>
          <p:cNvSpPr>
            <a:spLocks noChangeArrowheads="1"/>
          </p:cNvSpPr>
          <p:nvPr/>
        </p:nvSpPr>
        <p:spPr bwMode="auto">
          <a:xfrm>
            <a:off x="6776720" y="3237765"/>
            <a:ext cx="807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50507"/>
                </a:solidFill>
                <a:latin typeface="+mn-ea"/>
                <a:sym typeface="Symbol" panose="05050102010706020507" pitchFamily="18" charset="2"/>
              </a:rPr>
              <a:t>B +term B| -term B| ε</a:t>
            </a:r>
            <a:endParaRPr lang="zh-CN" altLang="en-US" sz="2400" b="1">
              <a:solidFill>
                <a:srgbClr val="050507"/>
              </a:solidFill>
              <a:latin typeface="+mn-ea"/>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351155" y="339725"/>
            <a:ext cx="7618730" cy="501650"/>
          </a:xfrm>
        </p:spPr>
        <p:txBody>
          <a:bodyPr/>
          <a:lstStyle/>
          <a:p>
            <a:r>
              <a:rPr lang="en-US" altLang="zh-CN" sz="2800" dirty="0"/>
              <a:t>4.3.3 </a:t>
            </a:r>
            <a:r>
              <a:rPr lang="zh-CN" altLang="en-US" sz="2800" dirty="0"/>
              <a:t>消除左递归和提取左因子（续）</a:t>
            </a:r>
            <a:endParaRPr lang="zh-CN" altLang="en-US" sz="2800" dirty="0"/>
          </a:p>
        </p:txBody>
      </p:sp>
      <p:sp useBgFill="1">
        <p:nvSpPr>
          <p:cNvPr id="13" name="AutoShape 2"/>
          <p:cNvSpPr>
            <a:spLocks noChangeArrowheads="1"/>
          </p:cNvSpPr>
          <p:nvPr/>
        </p:nvSpPr>
        <p:spPr bwMode="auto">
          <a:xfrm>
            <a:off x="930275" y="4554855"/>
            <a:ext cx="3284220" cy="1752600"/>
          </a:xfrm>
          <a:prstGeom prst="wedgeRoundRectCallout">
            <a:avLst>
              <a:gd name="adj1" fmla="val -25270"/>
              <a:gd name="adj2" fmla="val -71811"/>
              <a:gd name="adj3" fmla="val 16667"/>
            </a:avLst>
          </a:prstGeom>
          <a:ln w="9525">
            <a:solidFill>
              <a:schemeClr val="tx1"/>
            </a:solidFill>
            <a:miter lim="800000"/>
          </a:ln>
        </p:spPr>
        <p:txBody>
          <a:bodyPr/>
          <a:lstStyle/>
          <a:p>
            <a:r>
              <a:rPr lang="zh-CN" altLang="en-US" sz="2400" b="1" dirty="0">
                <a:solidFill>
                  <a:srgbClr val="050507"/>
                </a:solidFill>
                <a:latin typeface="+mn-ea"/>
              </a:rPr>
              <a:t>若在</a:t>
            </a:r>
            <a:r>
              <a:rPr lang="en-US" altLang="zh-CN" sz="2400" b="1" dirty="0" err="1">
                <a:solidFill>
                  <a:srgbClr val="050507"/>
                </a:solidFill>
                <a:latin typeface="+mn-ea"/>
              </a:rPr>
              <a:t>y,w</a:t>
            </a:r>
            <a:r>
              <a:rPr lang="en-US" altLang="zh-CN" sz="2400" b="1" dirty="0">
                <a:solidFill>
                  <a:srgbClr val="050507"/>
                </a:solidFill>
                <a:latin typeface="+mn-ea"/>
              </a:rPr>
              <a:t>,…,z</a:t>
            </a:r>
            <a:r>
              <a:rPr lang="zh-CN" altLang="en-US" sz="2400" b="1" dirty="0">
                <a:solidFill>
                  <a:srgbClr val="050507"/>
                </a:solidFill>
                <a:latin typeface="+mn-ea"/>
              </a:rPr>
              <a:t>中仍然有左公共因子，可以再次提取。</a:t>
            </a:r>
            <a:endParaRPr lang="en-US" altLang="zh-CN" sz="2400" b="1" dirty="0">
              <a:solidFill>
                <a:srgbClr val="050507"/>
              </a:solidFill>
              <a:latin typeface="+mn-ea"/>
              <a:sym typeface="Symbol" panose="05050102010706020507" pitchFamily="18" charset="2"/>
            </a:endParaRPr>
          </a:p>
        </p:txBody>
      </p:sp>
      <p:sp>
        <p:nvSpPr>
          <p:cNvPr id="14" name="Rectangle 3"/>
          <p:cNvSpPr>
            <a:spLocks noChangeArrowheads="1"/>
          </p:cNvSpPr>
          <p:nvPr/>
        </p:nvSpPr>
        <p:spPr bwMode="auto">
          <a:xfrm>
            <a:off x="703580" y="1901190"/>
            <a:ext cx="5616575" cy="230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50000"/>
              </a:spcBef>
            </a:pPr>
            <a:r>
              <a:rPr lang="zh-CN" altLang="en-US" sz="2400" b="1" dirty="0">
                <a:solidFill>
                  <a:srgbClr val="050507"/>
                </a:solidFill>
                <a:latin typeface="+mn-ea"/>
              </a:rPr>
              <a:t>若产生式</a:t>
            </a:r>
            <a:r>
              <a:rPr lang="en-US" altLang="zh-CN" sz="2400" b="1" dirty="0" err="1">
                <a:solidFill>
                  <a:srgbClr val="050507"/>
                </a:solidFill>
                <a:latin typeface="+mn-ea"/>
              </a:rPr>
              <a:t>U</a:t>
            </a:r>
            <a:r>
              <a:rPr lang="en-US" altLang="zh-CN" sz="2400" b="1" dirty="0" err="1">
                <a:solidFill>
                  <a:srgbClr val="050507"/>
                </a:solidFill>
                <a:latin typeface="+mn-ea"/>
                <a:sym typeface="Symbol" panose="05050102010706020507" pitchFamily="18" charset="2"/>
              </a:rPr>
              <a:t>xy|xw</a:t>
            </a:r>
            <a:r>
              <a:rPr lang="en-US" altLang="zh-CN" sz="2400" b="1" dirty="0">
                <a:solidFill>
                  <a:srgbClr val="050507"/>
                </a:solidFill>
                <a:latin typeface="+mn-ea"/>
                <a:sym typeface="Symbol" panose="05050102010706020507" pitchFamily="18" charset="2"/>
              </a:rPr>
              <a:t>|…|</a:t>
            </a:r>
            <a:r>
              <a:rPr lang="en-US" altLang="zh-CN" sz="2400" b="1" dirty="0" err="1">
                <a:solidFill>
                  <a:srgbClr val="050507"/>
                </a:solidFill>
                <a:latin typeface="+mn-ea"/>
                <a:sym typeface="Symbol" panose="05050102010706020507" pitchFamily="18" charset="2"/>
              </a:rPr>
              <a:t>xz</a:t>
            </a:r>
            <a:r>
              <a:rPr lang="en-US" altLang="zh-CN" sz="2400" b="1" dirty="0">
                <a:solidFill>
                  <a:srgbClr val="050507"/>
                </a:solidFill>
                <a:latin typeface="+mn-ea"/>
                <a:sym typeface="Symbol" panose="05050102010706020507" pitchFamily="18" charset="2"/>
              </a:rPr>
              <a:t> ，</a:t>
            </a:r>
            <a:r>
              <a:rPr lang="zh-CN" altLang="en-US" sz="2400" b="1" dirty="0">
                <a:solidFill>
                  <a:srgbClr val="050507"/>
                </a:solidFill>
                <a:latin typeface="+mn-ea"/>
                <a:sym typeface="Symbol" panose="05050102010706020507" pitchFamily="18" charset="2"/>
              </a:rPr>
              <a:t>则提取左公共因子并用</a:t>
            </a:r>
            <a:r>
              <a:rPr lang="en-US" altLang="zh-CN" sz="2400" b="1" dirty="0">
                <a:solidFill>
                  <a:srgbClr val="050507"/>
                </a:solidFill>
                <a:latin typeface="+mn-ea"/>
                <a:sym typeface="Symbol" panose="05050102010706020507" pitchFamily="18" charset="2"/>
              </a:rPr>
              <a:t>EBNF</a:t>
            </a:r>
            <a:r>
              <a:rPr lang="zh-CN" altLang="en-US" sz="2400" b="1" dirty="0">
                <a:solidFill>
                  <a:srgbClr val="050507"/>
                </a:solidFill>
                <a:latin typeface="+mn-ea"/>
                <a:sym typeface="Symbol" panose="05050102010706020507" pitchFamily="18" charset="2"/>
              </a:rPr>
              <a:t>表示为： </a:t>
            </a:r>
            <a:r>
              <a:rPr lang="en-US" altLang="zh-CN" sz="2400" b="1" dirty="0" err="1">
                <a:solidFill>
                  <a:srgbClr val="050507"/>
                </a:solidFill>
                <a:latin typeface="+mn-ea"/>
              </a:rPr>
              <a:t>U</a:t>
            </a:r>
            <a:r>
              <a:rPr lang="en-US" altLang="zh-CN" sz="2400" b="1" dirty="0" err="1">
                <a:solidFill>
                  <a:srgbClr val="050507"/>
                </a:solidFill>
                <a:latin typeface="+mn-ea"/>
                <a:sym typeface="Symbol" panose="05050102010706020507" pitchFamily="18" charset="2"/>
              </a:rPr>
              <a:t>x</a:t>
            </a:r>
            <a:r>
              <a:rPr lang="en-US" altLang="zh-CN" sz="2400" b="1" dirty="0">
                <a:solidFill>
                  <a:srgbClr val="050507"/>
                </a:solidFill>
                <a:latin typeface="+mn-ea"/>
                <a:sym typeface="Symbol" panose="05050102010706020507" pitchFamily="18" charset="2"/>
              </a:rPr>
              <a:t>(</a:t>
            </a:r>
            <a:r>
              <a:rPr lang="en-US" altLang="zh-CN" sz="2400" b="1" dirty="0" err="1">
                <a:solidFill>
                  <a:srgbClr val="050507"/>
                </a:solidFill>
                <a:latin typeface="+mn-ea"/>
                <a:sym typeface="Symbol" panose="05050102010706020507" pitchFamily="18" charset="2"/>
              </a:rPr>
              <a:t>y|w</a:t>
            </a:r>
            <a:r>
              <a:rPr lang="en-US" altLang="zh-CN" sz="2400" b="1" dirty="0">
                <a:solidFill>
                  <a:srgbClr val="050507"/>
                </a:solidFill>
                <a:latin typeface="+mn-ea"/>
                <a:sym typeface="Symbol" panose="05050102010706020507" pitchFamily="18" charset="2"/>
              </a:rPr>
              <a:t>|…|z)  </a:t>
            </a:r>
            <a:r>
              <a:rPr lang="zh-CN" altLang="en-US" sz="2400" b="1" dirty="0">
                <a:solidFill>
                  <a:srgbClr val="050507"/>
                </a:solidFill>
                <a:latin typeface="+mn-ea"/>
              </a:rPr>
              <a:t>再引入一个非终结符号</a:t>
            </a:r>
            <a:r>
              <a:rPr lang="en-US" altLang="zh-CN" sz="2400" b="1" dirty="0">
                <a:solidFill>
                  <a:srgbClr val="050507"/>
                </a:solidFill>
                <a:latin typeface="+mn-ea"/>
              </a:rPr>
              <a:t>V，</a:t>
            </a:r>
            <a:r>
              <a:rPr lang="zh-CN" altLang="en-US" sz="2400" b="1" dirty="0">
                <a:solidFill>
                  <a:srgbClr val="050507"/>
                </a:solidFill>
                <a:latin typeface="+mn-ea"/>
              </a:rPr>
              <a:t>将产生式变为：</a:t>
            </a:r>
            <a:br>
              <a:rPr lang="zh-CN" altLang="en-US" sz="2400" b="1" dirty="0">
                <a:solidFill>
                  <a:srgbClr val="050507"/>
                </a:solidFill>
                <a:latin typeface="+mn-ea"/>
              </a:rPr>
            </a:br>
            <a:r>
              <a:rPr lang="en-US" altLang="zh-CN" sz="2400" b="1" dirty="0" err="1">
                <a:solidFill>
                  <a:srgbClr val="050507"/>
                </a:solidFill>
                <a:latin typeface="+mn-ea"/>
              </a:rPr>
              <a:t>U</a:t>
            </a:r>
            <a:r>
              <a:rPr lang="en-US" altLang="zh-CN" sz="2400" b="1" dirty="0" err="1">
                <a:solidFill>
                  <a:srgbClr val="050507"/>
                </a:solidFill>
                <a:latin typeface="+mn-ea"/>
                <a:sym typeface="Symbol" panose="05050102010706020507" pitchFamily="18" charset="2"/>
              </a:rPr>
              <a:t>xV</a:t>
            </a:r>
            <a:br>
              <a:rPr lang="en-US" altLang="zh-CN" sz="2400" b="1" dirty="0">
                <a:solidFill>
                  <a:srgbClr val="050507"/>
                </a:solidFill>
                <a:latin typeface="+mn-ea"/>
                <a:sym typeface="Symbol" panose="05050102010706020507" pitchFamily="18" charset="2"/>
              </a:rPr>
            </a:br>
            <a:r>
              <a:rPr lang="en-US" altLang="zh-CN" sz="2400" b="1" dirty="0">
                <a:solidFill>
                  <a:srgbClr val="050507"/>
                </a:solidFill>
                <a:latin typeface="+mn-ea"/>
                <a:sym typeface="Symbol" panose="05050102010706020507" pitchFamily="18" charset="2"/>
              </a:rPr>
              <a:t>V </a:t>
            </a:r>
            <a:r>
              <a:rPr lang="en-US" altLang="zh-CN" sz="2400" b="1" dirty="0" err="1">
                <a:solidFill>
                  <a:srgbClr val="050507"/>
                </a:solidFill>
                <a:latin typeface="+mn-ea"/>
                <a:sym typeface="Symbol" panose="05050102010706020507" pitchFamily="18" charset="2"/>
              </a:rPr>
              <a:t>y|w</a:t>
            </a:r>
            <a:r>
              <a:rPr lang="en-US" altLang="zh-CN" sz="2400" b="1" dirty="0">
                <a:solidFill>
                  <a:srgbClr val="050507"/>
                </a:solidFill>
                <a:latin typeface="+mn-ea"/>
                <a:sym typeface="Symbol" panose="05050102010706020507" pitchFamily="18" charset="2"/>
              </a:rPr>
              <a:t>|…|z</a:t>
            </a:r>
            <a:endParaRPr lang="en-US" altLang="zh-CN" sz="2400" b="1" dirty="0">
              <a:solidFill>
                <a:srgbClr val="050507"/>
              </a:solidFill>
              <a:latin typeface="+mn-ea"/>
              <a:sym typeface="Symbol" panose="05050102010706020507" pitchFamily="18" charset="2"/>
            </a:endParaRPr>
          </a:p>
        </p:txBody>
      </p:sp>
      <p:sp>
        <p:nvSpPr>
          <p:cNvPr id="15" name="Rectangle 5"/>
          <p:cNvSpPr>
            <a:spLocks noChangeArrowheads="1"/>
          </p:cNvSpPr>
          <p:nvPr/>
        </p:nvSpPr>
        <p:spPr bwMode="auto">
          <a:xfrm>
            <a:off x="350520" y="1217930"/>
            <a:ext cx="650684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rgbClr val="FF66CC"/>
                </a:solidFill>
                <a:latin typeface="Times New Roman" panose="02020603050405020304" pitchFamily="18" charset="0"/>
                <a:ea typeface="宋体" panose="02010600030101010101" pitchFamily="2" charset="-122"/>
              </a:defRPr>
            </a:lvl1pPr>
            <a:lvl2pPr>
              <a:defRPr sz="3200" b="1">
                <a:solidFill>
                  <a:srgbClr val="FF66CC"/>
                </a:solidFill>
                <a:latin typeface="Times New Roman" panose="02020603050405020304" pitchFamily="18" charset="0"/>
                <a:ea typeface="宋体" panose="02010600030101010101" pitchFamily="2" charset="-122"/>
              </a:defRPr>
            </a:lvl2pPr>
            <a:lvl3pPr>
              <a:defRPr sz="3200" b="1">
                <a:solidFill>
                  <a:srgbClr val="FF66CC"/>
                </a:solidFill>
                <a:latin typeface="Times New Roman" panose="02020603050405020304" pitchFamily="18" charset="0"/>
                <a:ea typeface="宋体" panose="02010600030101010101" pitchFamily="2" charset="-122"/>
              </a:defRPr>
            </a:lvl3pPr>
            <a:lvl4pPr>
              <a:defRPr sz="3200" b="1">
                <a:solidFill>
                  <a:srgbClr val="FF66CC"/>
                </a:solidFill>
                <a:latin typeface="Times New Roman" panose="02020603050405020304" pitchFamily="18" charset="0"/>
                <a:ea typeface="宋体" panose="02010600030101010101" pitchFamily="2" charset="-122"/>
              </a:defRPr>
            </a:lvl4pPr>
            <a:lvl5pPr>
              <a:defRPr sz="3200" b="1">
                <a:solidFill>
                  <a:srgbClr val="FF66CC"/>
                </a:solidFill>
                <a:latin typeface="Times New Roman" panose="02020603050405020304" pitchFamily="18" charset="0"/>
                <a:ea typeface="宋体" panose="02010600030101010101" pitchFamily="2" charset="-122"/>
              </a:defRPr>
            </a:lvl5pPr>
            <a:lvl6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6pPr>
            <a:lvl7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7pPr>
            <a:lvl8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8pPr>
            <a:lvl9pPr fontAlgn="base">
              <a:spcBef>
                <a:spcPct val="0"/>
              </a:spcBef>
              <a:spcAft>
                <a:spcPct val="0"/>
              </a:spcAft>
              <a:defRPr sz="3200" b="1">
                <a:solidFill>
                  <a:srgbClr val="FF66CC"/>
                </a:solidFill>
                <a:latin typeface="Times New Roman" panose="02020603050405020304" pitchFamily="18" charset="0"/>
                <a:ea typeface="宋体" panose="02010600030101010101" pitchFamily="2" charset="-122"/>
              </a:defRPr>
            </a:lvl9pPr>
          </a:lstStyle>
          <a:p>
            <a:pPr>
              <a:buFont typeface="Wingdings" panose="05000000000000000000" pitchFamily="2" charset="2"/>
              <a:buAutoNum type="arabicPeriod" startAt="3"/>
            </a:pPr>
            <a:r>
              <a:rPr lang="zh-CN" altLang="en-US" dirty="0">
                <a:solidFill>
                  <a:srgbClr val="FF0066"/>
                </a:solidFill>
                <a:latin typeface="+mn-ea"/>
                <a:ea typeface="+mn-ea"/>
              </a:rPr>
              <a:t>提取左因子</a:t>
            </a:r>
            <a:r>
              <a:rPr lang="zh-CN" altLang="en-US" dirty="0">
                <a:solidFill>
                  <a:srgbClr val="E10B34"/>
                </a:solidFill>
                <a:latin typeface="+mn-ea"/>
                <a:ea typeface="+mn-ea"/>
              </a:rPr>
              <a:t>：</a:t>
            </a:r>
            <a:endParaRPr lang="zh-CN" altLang="en-US" dirty="0">
              <a:solidFill>
                <a:srgbClr val="E10B34"/>
              </a:solidFill>
              <a:latin typeface="+mn-ea"/>
              <a:ea typeface="+mn-ea"/>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6" name="Rectangle 2"/>
          <p:cNvSpPr>
            <a:spLocks noChangeArrowheads="1"/>
          </p:cNvSpPr>
          <p:nvPr>
            <p:custDataLst>
              <p:tags r:id="rId1"/>
            </p:custDataLst>
          </p:nvPr>
        </p:nvSpPr>
        <p:spPr bwMode="auto">
          <a:xfrm>
            <a:off x="6690360" y="1614805"/>
            <a:ext cx="51727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eaLnBrk="0" hangingPunct="0">
              <a:spcBef>
                <a:spcPct val="50000"/>
              </a:spcBef>
            </a:pPr>
            <a:r>
              <a:rPr lang="zh-CN" altLang="en-US" sz="2400" b="1">
                <a:solidFill>
                  <a:srgbClr val="050507"/>
                </a:solidFill>
                <a:latin typeface="+mn-ea"/>
              </a:rPr>
              <a:t>设有产生式：</a:t>
            </a:r>
            <a:endParaRPr lang="zh-CN" altLang="en-US" sz="2400" b="1">
              <a:solidFill>
                <a:srgbClr val="050507"/>
              </a:solidFill>
              <a:latin typeface="+mn-ea"/>
            </a:endParaRPr>
          </a:p>
          <a:p>
            <a:pPr eaLnBrk="0" hangingPunct="0">
              <a:spcBef>
                <a:spcPct val="50000"/>
              </a:spcBef>
            </a:pPr>
            <a:r>
              <a:rPr lang="en-US" altLang="zh-CN" sz="2400" b="1">
                <a:solidFill>
                  <a:srgbClr val="050507"/>
                </a:solidFill>
                <a:latin typeface="+mn-ea"/>
              </a:rPr>
              <a:t>S→if B then S</a:t>
            </a:r>
            <a:r>
              <a:rPr lang="en-US" altLang="zh-CN" sz="2400" b="1" baseline="-25000">
                <a:solidFill>
                  <a:srgbClr val="050507"/>
                </a:solidFill>
                <a:latin typeface="+mn-ea"/>
              </a:rPr>
              <a:t>1</a:t>
            </a:r>
            <a:r>
              <a:rPr lang="en-US" altLang="zh-CN" sz="2400" b="1">
                <a:solidFill>
                  <a:srgbClr val="050507"/>
                </a:solidFill>
                <a:latin typeface="+mn-ea"/>
              </a:rPr>
              <a:t> else S</a:t>
            </a:r>
            <a:r>
              <a:rPr lang="en-US" altLang="zh-CN" sz="2400" b="1" baseline="-25000">
                <a:solidFill>
                  <a:srgbClr val="050507"/>
                </a:solidFill>
                <a:latin typeface="+mn-ea"/>
              </a:rPr>
              <a:t>2 </a:t>
            </a:r>
            <a:r>
              <a:rPr lang="en-US" altLang="zh-CN" sz="2400" b="1">
                <a:solidFill>
                  <a:srgbClr val="050507"/>
                </a:solidFill>
                <a:latin typeface="+mn-ea"/>
              </a:rPr>
              <a:t>|if B then S</a:t>
            </a:r>
            <a:r>
              <a:rPr lang="en-US" altLang="zh-CN" sz="2400" b="1" baseline="-25000">
                <a:solidFill>
                  <a:srgbClr val="050507"/>
                </a:solidFill>
                <a:latin typeface="+mn-ea"/>
              </a:rPr>
              <a:t>1</a:t>
            </a:r>
            <a:endParaRPr lang="en-US" altLang="zh-CN" sz="2400" b="1" baseline="-25000">
              <a:solidFill>
                <a:srgbClr val="050507"/>
              </a:solidFill>
              <a:latin typeface="+mn-ea"/>
            </a:endParaRPr>
          </a:p>
        </p:txBody>
      </p:sp>
      <p:sp>
        <p:nvSpPr>
          <p:cNvPr id="7" name="Rectangle 3"/>
          <p:cNvSpPr>
            <a:spLocks noChangeArrowheads="1"/>
          </p:cNvSpPr>
          <p:nvPr>
            <p:custDataLst>
              <p:tags r:id="rId2"/>
            </p:custDataLst>
          </p:nvPr>
        </p:nvSpPr>
        <p:spPr bwMode="auto">
          <a:xfrm>
            <a:off x="6739255" y="4129405"/>
            <a:ext cx="455422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eaLnBrk="0" hangingPunct="0">
              <a:spcBef>
                <a:spcPct val="50000"/>
              </a:spcBef>
            </a:pPr>
            <a:r>
              <a:rPr lang="zh-CN" altLang="en-US" sz="2400" b="1">
                <a:solidFill>
                  <a:srgbClr val="050507"/>
                </a:solidFill>
                <a:latin typeface="+mn-ea"/>
              </a:rPr>
              <a:t>引入非终结符号</a:t>
            </a:r>
            <a:r>
              <a:rPr lang="en-US" altLang="zh-CN" sz="2400" b="1">
                <a:solidFill>
                  <a:srgbClr val="050507"/>
                </a:solidFill>
                <a:latin typeface="+mn-ea"/>
              </a:rPr>
              <a:t>R：</a:t>
            </a:r>
            <a:endParaRPr lang="en-US" altLang="zh-CN" sz="2400" b="1">
              <a:solidFill>
                <a:srgbClr val="050507"/>
              </a:solidFill>
              <a:latin typeface="+mn-ea"/>
            </a:endParaRPr>
          </a:p>
          <a:p>
            <a:pPr eaLnBrk="0" hangingPunct="0">
              <a:spcBef>
                <a:spcPct val="50000"/>
              </a:spcBef>
            </a:pPr>
            <a:r>
              <a:rPr lang="en-US" altLang="zh-CN" sz="2400" b="1">
                <a:solidFill>
                  <a:srgbClr val="050507"/>
                </a:solidFill>
                <a:latin typeface="+mn-ea"/>
              </a:rPr>
              <a:t>                  S→if B then S</a:t>
            </a:r>
            <a:r>
              <a:rPr lang="en-US" altLang="zh-CN" sz="2400" b="1" baseline="-25000">
                <a:solidFill>
                  <a:srgbClr val="050507"/>
                </a:solidFill>
                <a:latin typeface="+mn-ea"/>
              </a:rPr>
              <a:t>1</a:t>
            </a:r>
            <a:r>
              <a:rPr lang="en-US" altLang="zh-CN" sz="2400" b="1">
                <a:solidFill>
                  <a:srgbClr val="050507"/>
                </a:solidFill>
                <a:latin typeface="+mn-ea"/>
              </a:rPr>
              <a:t> R </a:t>
            </a:r>
            <a:br>
              <a:rPr lang="en-US" altLang="zh-CN" sz="2400" b="1">
                <a:solidFill>
                  <a:srgbClr val="050507"/>
                </a:solidFill>
                <a:latin typeface="+mn-ea"/>
              </a:rPr>
            </a:br>
            <a:r>
              <a:rPr lang="en-US" altLang="zh-CN" sz="2400" b="1">
                <a:solidFill>
                  <a:srgbClr val="050507"/>
                </a:solidFill>
                <a:latin typeface="+mn-ea"/>
              </a:rPr>
              <a:t>                  R→else S</a:t>
            </a:r>
            <a:r>
              <a:rPr lang="en-US" altLang="zh-CN" sz="2400" b="1" baseline="-25000">
                <a:solidFill>
                  <a:srgbClr val="050507"/>
                </a:solidFill>
                <a:latin typeface="+mn-ea"/>
              </a:rPr>
              <a:t>2</a:t>
            </a:r>
            <a:r>
              <a:rPr lang="en-US" altLang="zh-CN" sz="2400" b="1">
                <a:solidFill>
                  <a:srgbClr val="050507"/>
                </a:solidFill>
                <a:latin typeface="+mn-ea"/>
              </a:rPr>
              <a:t> |ε</a:t>
            </a:r>
            <a:endParaRPr lang="en-US" altLang="zh-CN" sz="2400" b="1">
              <a:solidFill>
                <a:srgbClr val="050507"/>
              </a:solidFill>
              <a:latin typeface="+mn-ea"/>
            </a:endParaRPr>
          </a:p>
        </p:txBody>
      </p:sp>
      <p:sp>
        <p:nvSpPr>
          <p:cNvPr id="8" name="Rectangle 4"/>
          <p:cNvSpPr>
            <a:spLocks noChangeArrowheads="1"/>
          </p:cNvSpPr>
          <p:nvPr>
            <p:custDataLst>
              <p:tags r:id="rId3"/>
            </p:custDataLst>
          </p:nvPr>
        </p:nvSpPr>
        <p:spPr bwMode="auto">
          <a:xfrm>
            <a:off x="6739255" y="2834005"/>
            <a:ext cx="462597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eaLnBrk="0" hangingPunct="0">
              <a:spcBef>
                <a:spcPct val="50000"/>
              </a:spcBef>
            </a:pPr>
            <a:r>
              <a:rPr lang="zh-CN" altLang="en-US" sz="2400" b="1">
                <a:solidFill>
                  <a:srgbClr val="050507"/>
                </a:solidFill>
                <a:latin typeface="+mn-ea"/>
              </a:rPr>
              <a:t>提取公因子，改成：</a:t>
            </a:r>
            <a:endParaRPr lang="zh-CN" altLang="en-US" sz="2400" b="1">
              <a:solidFill>
                <a:srgbClr val="050507"/>
              </a:solidFill>
              <a:latin typeface="+mn-ea"/>
            </a:endParaRPr>
          </a:p>
          <a:p>
            <a:pPr eaLnBrk="0" hangingPunct="0">
              <a:spcBef>
                <a:spcPct val="50000"/>
              </a:spcBef>
            </a:pPr>
            <a:r>
              <a:rPr lang="zh-CN" altLang="en-US" sz="2400" b="1">
                <a:solidFill>
                  <a:srgbClr val="050507"/>
                </a:solidFill>
                <a:latin typeface="+mn-ea"/>
              </a:rPr>
              <a:t> </a:t>
            </a:r>
            <a:r>
              <a:rPr lang="en-US" altLang="zh-CN" sz="2400" b="1">
                <a:solidFill>
                  <a:srgbClr val="050507"/>
                </a:solidFill>
                <a:latin typeface="+mn-ea"/>
              </a:rPr>
              <a:t>S→if B then S</a:t>
            </a:r>
            <a:r>
              <a:rPr lang="en-US" altLang="zh-CN" sz="2400" b="1" baseline="-25000">
                <a:solidFill>
                  <a:srgbClr val="050507"/>
                </a:solidFill>
                <a:latin typeface="+mn-ea"/>
              </a:rPr>
              <a:t>1</a:t>
            </a:r>
            <a:r>
              <a:rPr lang="en-US" altLang="zh-CN" sz="2400" b="1">
                <a:solidFill>
                  <a:srgbClr val="050507"/>
                </a:solidFill>
                <a:latin typeface="+mn-ea"/>
              </a:rPr>
              <a:t>(else S</a:t>
            </a:r>
            <a:r>
              <a:rPr lang="en-US" altLang="zh-CN" sz="2400" b="1" baseline="-25000">
                <a:solidFill>
                  <a:srgbClr val="050507"/>
                </a:solidFill>
                <a:latin typeface="+mn-ea"/>
              </a:rPr>
              <a:t>2</a:t>
            </a:r>
            <a:r>
              <a:rPr lang="en-US" altLang="zh-CN" sz="2400" b="1">
                <a:solidFill>
                  <a:srgbClr val="050507"/>
                </a:solidFill>
                <a:latin typeface="+mn-ea"/>
              </a:rPr>
              <a:t>|</a:t>
            </a:r>
            <a:r>
              <a:rPr lang="en-US" altLang="zh-CN" sz="2400" b="1">
                <a:solidFill>
                  <a:srgbClr val="050507"/>
                </a:solidFill>
                <a:latin typeface="+mn-ea"/>
                <a:sym typeface="Symbol" panose="05050102010706020507" pitchFamily="18" charset="2"/>
              </a:rPr>
              <a:t>)</a:t>
            </a:r>
            <a:endParaRPr lang="en-US" altLang="zh-CN" sz="2400" b="1">
              <a:solidFill>
                <a:srgbClr val="050507"/>
              </a:solidFill>
              <a:latin typeface="+mn-ea"/>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out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out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out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6" grpId="0"/>
      <p:bldP spid="7"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4</a:t>
            </a:r>
            <a:r>
              <a:rPr lang="zh-CN" altLang="en-US" dirty="0"/>
              <a:t>单元</a:t>
            </a:r>
            <a:endParaRPr lang="zh-CN" altLang="en-US" dirty="0"/>
          </a:p>
        </p:txBody>
      </p:sp>
      <p:sp>
        <p:nvSpPr>
          <p:cNvPr id="24" name="文本占位符 23"/>
          <p:cNvSpPr>
            <a:spLocks noGrp="1"/>
          </p:cNvSpPr>
          <p:nvPr>
            <p:ph type="body" sz="quarter" idx="14"/>
          </p:nvPr>
        </p:nvSpPr>
        <p:spPr>
          <a:xfrm>
            <a:off x="1265555" y="2106295"/>
            <a:ext cx="8792845" cy="3630930"/>
          </a:xfrm>
        </p:spPr>
        <p:txBody>
          <a:bodyPr>
            <a:normAutofit fontScale="95000"/>
          </a:bodyPr>
          <a:lstStyle/>
          <a:p>
            <a:r>
              <a:rPr lang="en-US" altLang="zh-CN" dirty="0">
                <a:solidFill>
                  <a:schemeClr val="tx1"/>
                </a:solidFill>
              </a:rPr>
              <a:t>4.1</a:t>
            </a:r>
            <a:r>
              <a:rPr lang="zh-CN" altLang="en-US" dirty="0">
                <a:solidFill>
                  <a:schemeClr val="tx1"/>
                </a:solidFill>
              </a:rPr>
              <a:t>自上而下的语法分析算法概述</a:t>
            </a:r>
            <a:endParaRPr lang="en-US" altLang="zh-CN" dirty="0">
              <a:solidFill>
                <a:schemeClr val="tx1"/>
              </a:solidFill>
            </a:endParaRPr>
          </a:p>
          <a:p>
            <a:r>
              <a:rPr lang="en-US" altLang="zh-CN" dirty="0">
                <a:solidFill>
                  <a:schemeClr val="tx1"/>
                </a:solidFill>
              </a:rPr>
              <a:t>4.2</a:t>
            </a:r>
            <a:r>
              <a:rPr lang="zh-CN" altLang="en-US" dirty="0">
                <a:solidFill>
                  <a:schemeClr val="tx1"/>
                </a:solidFill>
              </a:rPr>
              <a:t>递归下降分析（</a:t>
            </a:r>
            <a:r>
              <a:rPr lang="en-US" altLang="zh-CN" dirty="0">
                <a:solidFill>
                  <a:schemeClr val="tx1"/>
                </a:solidFill>
              </a:rPr>
              <a:t>Recursive-Descent Top-Down Parsing</a:t>
            </a:r>
            <a:r>
              <a:rPr lang="zh-CN" altLang="en-US" dirty="0">
                <a:solidFill>
                  <a:schemeClr val="tx1"/>
                </a:solidFill>
              </a:rPr>
              <a:t>）</a:t>
            </a:r>
            <a:endParaRPr lang="zh-CN" altLang="en-US" dirty="0">
              <a:solidFill>
                <a:schemeClr val="tx1"/>
              </a:solidFill>
            </a:endParaRPr>
          </a:p>
          <a:p>
            <a:r>
              <a:rPr lang="en-US" altLang="zh-CN" dirty="0">
                <a:solidFill>
                  <a:schemeClr val="tx1"/>
                </a:solidFill>
              </a:rPr>
              <a:t>4.3 LL(1)</a:t>
            </a:r>
            <a:r>
              <a:rPr lang="zh-CN" altLang="en-US" dirty="0">
                <a:solidFill>
                  <a:schemeClr val="tx1"/>
                </a:solidFill>
              </a:rPr>
              <a:t>分析</a:t>
            </a:r>
            <a:endParaRPr lang="en-US" altLang="zh-CN" dirty="0">
              <a:solidFill>
                <a:schemeClr val="tx1"/>
              </a:solidFill>
            </a:endParaRPr>
          </a:p>
          <a:p>
            <a:r>
              <a:rPr lang="en-US" altLang="zh-CN" dirty="0">
                <a:solidFill>
                  <a:srgbClr val="0070C0"/>
                </a:solidFill>
              </a:rPr>
              <a:t>4.4</a:t>
            </a:r>
            <a:r>
              <a:rPr lang="zh-CN" altLang="en-US" dirty="0">
                <a:solidFill>
                  <a:srgbClr val="0070C0"/>
                </a:solidFill>
              </a:rPr>
              <a:t>自上而下的语法分析器自动生成工具</a:t>
            </a:r>
            <a:endParaRPr lang="en-US" altLang="zh-CN" dirty="0">
              <a:solidFill>
                <a:srgbClr val="0070C0"/>
              </a:solidFill>
            </a:endParaRPr>
          </a:p>
          <a:p>
            <a:endParaRPr lang="zh-CN" altLang="en-US" dirty="0">
              <a:solidFill>
                <a:schemeClr val="tx1"/>
              </a:solidFill>
            </a:endParaRPr>
          </a:p>
        </p:txBody>
      </p:sp>
      <p:sp>
        <p:nvSpPr>
          <p:cNvPr id="25" name="文本占位符 24"/>
          <p:cNvSpPr>
            <a:spLocks noGrp="1"/>
          </p:cNvSpPr>
          <p:nvPr>
            <p:ph type="body" sz="quarter" idx="15"/>
          </p:nvPr>
        </p:nvSpPr>
        <p:spPr/>
        <p:txBody>
          <a:bodyPr>
            <a:normAutofit lnSpcReduction="20000"/>
          </a:bodyPr>
          <a:lstStyle/>
          <a:p>
            <a:endParaRPr lang="zh-CN" altLang="en-US"/>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479425" y="276860"/>
            <a:ext cx="7956550" cy="593090"/>
          </a:xfrm>
        </p:spPr>
        <p:txBody>
          <a:bodyPr/>
          <a:lstStyle/>
          <a:p>
            <a:r>
              <a:rPr lang="en-US" altLang="zh-CN" sz="3200" dirty="0"/>
              <a:t>4.4 </a:t>
            </a:r>
            <a:r>
              <a:rPr lang="zh-CN" altLang="en-US" sz="3200" dirty="0"/>
              <a:t>自上而下分析器自动生成工具</a:t>
            </a:r>
            <a:endParaRPr lang="zh-CN" altLang="en-US" sz="3200" dirty="0"/>
          </a:p>
        </p:txBody>
      </p:sp>
      <p:graphicFrame>
        <p:nvGraphicFramePr>
          <p:cNvPr id="3" name="对象 2">
            <a:hlinkClick r:id="rId1" action="ppaction://hlinksldjump"/>
          </p:cNvPr>
          <p:cNvGraphicFramePr/>
          <p:nvPr>
            <p:custDataLst>
              <p:tags r:id="rId2"/>
            </p:custDataLst>
          </p:nvPr>
        </p:nvGraphicFramePr>
        <p:xfrm>
          <a:off x="3134995" y="1464945"/>
          <a:ext cx="8609330" cy="4563110"/>
        </p:xfrm>
        <a:graphic>
          <a:graphicData uri="http://schemas.openxmlformats.org/presentationml/2006/ole">
            <mc:AlternateContent xmlns:mc="http://schemas.openxmlformats.org/markup-compatibility/2006">
              <mc:Choice xmlns:v="urn:schemas-microsoft-com:vml" Requires="v">
                <p:oleObj spid="_x0000_s4" name="" r:id="rId3" imgW="7482840" imgH="3637280" progId="Visio.Drawing.15">
                  <p:embed/>
                </p:oleObj>
              </mc:Choice>
              <mc:Fallback>
                <p:oleObj name="" r:id="rId3" imgW="7482840" imgH="3637280" progId="Visio.Drawing.15">
                  <p:embed/>
                  <p:pic>
                    <p:nvPicPr>
                      <p:cNvPr id="0" name="图片 7"/>
                      <p:cNvPicPr/>
                      <p:nvPr/>
                    </p:nvPicPr>
                    <p:blipFill>
                      <a:blip r:embed="rId4"/>
                      <a:stretch>
                        <a:fillRect/>
                      </a:stretch>
                    </p:blipFill>
                    <p:spPr>
                      <a:xfrm>
                        <a:off x="3134995" y="1464945"/>
                        <a:ext cx="8609330" cy="4563110"/>
                      </a:xfrm>
                      <a:prstGeom prst="rect">
                        <a:avLst/>
                      </a:prstGeom>
                    </p:spPr>
                  </p:pic>
                </p:oleObj>
              </mc:Fallback>
            </mc:AlternateContent>
          </a:graphicData>
        </a:graphic>
      </p:graphicFrame>
      <p:sp>
        <p:nvSpPr>
          <p:cNvPr id="5" name="文本框 4"/>
          <p:cNvSpPr txBox="1"/>
          <p:nvPr/>
        </p:nvSpPr>
        <p:spPr>
          <a:xfrm>
            <a:off x="1755775" y="1126490"/>
            <a:ext cx="4944110" cy="645160"/>
          </a:xfrm>
          <a:prstGeom prst="rect">
            <a:avLst/>
          </a:prstGeom>
          <a:noFill/>
        </p:spPr>
        <p:txBody>
          <a:bodyPr wrap="square" rtlCol="0" anchor="t">
            <a:spAutoFit/>
          </a:bodyPr>
          <a:p>
            <a:r>
              <a:rPr lang="zh-CN" altLang="en-US" dirty="0">
                <a:latin typeface="思源黑体 Regular" panose="020B0500000000000000" charset="-122"/>
                <a:ea typeface="思源黑体 Regular" panose="020B0500000000000000" charset="-122"/>
                <a:cs typeface="思源黑体 Regular" panose="020B0500000000000000" charset="-122"/>
                <a:sym typeface="+mn-ea"/>
              </a:rPr>
              <a:t>实现词法语法分析开源项目</a:t>
            </a:r>
            <a:r>
              <a:rPr lang="en-US" altLang="zh-CN" dirty="0">
                <a:latin typeface="思源黑体 Regular" panose="020B0500000000000000" charset="-122"/>
                <a:ea typeface="思源黑体 Regular" panose="020B0500000000000000" charset="-122"/>
                <a:cs typeface="思源黑体 Regular" panose="020B0500000000000000" charset="-122"/>
                <a:sym typeface="+mn-ea"/>
              </a:rPr>
              <a:t>——</a:t>
            </a:r>
            <a:r>
              <a:rPr lang="en-US" altLang="zh-CN" b="1" dirty="0">
                <a:solidFill>
                  <a:schemeClr val="accent1"/>
                </a:solidFill>
                <a:latin typeface="微软雅黑" panose="020B0503020204020204" charset="-122"/>
                <a:ea typeface="微软雅黑" panose="020B0503020204020204" charset="-122"/>
                <a:cs typeface="思源黑体 Regular" panose="020B0500000000000000" charset="-122"/>
                <a:sym typeface="+mn-ea"/>
              </a:rPr>
              <a:t>ANTLR</a:t>
            </a:r>
            <a:endParaRPr lang="en-US" altLang="zh-CN" b="1" dirty="0">
              <a:solidFill>
                <a:schemeClr val="accent1"/>
              </a:solidFill>
              <a:latin typeface="微软雅黑" panose="020B0503020204020204" charset="-122"/>
              <a:ea typeface="微软雅黑" panose="020B0503020204020204" charset="-122"/>
              <a:cs typeface="思源黑体 Regular" panose="020B0500000000000000" charset="-122"/>
            </a:endParaRPr>
          </a:p>
          <a:p>
            <a:endParaRPr lang="en-US" altLang="zh-CN" b="1" dirty="0">
              <a:solidFill>
                <a:schemeClr val="accent1"/>
              </a:solidFill>
              <a:latin typeface="微软雅黑" panose="020B0503020204020204" charset="-122"/>
              <a:ea typeface="微软雅黑" panose="020B0503020204020204" charset="-122"/>
              <a:cs typeface="思源黑体 Regular" panose="020B0500000000000000" charset="-122"/>
              <a:sym typeface="+mn-ea"/>
            </a:endParaRPr>
          </a:p>
        </p:txBody>
      </p:sp>
      <p:sp>
        <p:nvSpPr>
          <p:cNvPr id="6" name="灯片编号占位符 5"/>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7" name="文本框 6"/>
          <p:cNvSpPr txBox="1"/>
          <p:nvPr/>
        </p:nvSpPr>
        <p:spPr>
          <a:xfrm>
            <a:off x="438150" y="1655445"/>
            <a:ext cx="2663190" cy="3830955"/>
          </a:xfrm>
          <a:prstGeom prst="rect">
            <a:avLst/>
          </a:prstGeom>
          <a:noFill/>
        </p:spPr>
        <p:txBody>
          <a:bodyPr wrap="square" rtlCol="0" anchor="t">
            <a:spAutoFit/>
          </a:bodyPr>
          <a:p>
            <a:pPr marL="346075" indent="-346075" defTabSz="914400">
              <a:lnSpc>
                <a:spcPct val="150000"/>
              </a:lnSpc>
              <a:buFont typeface="+mj-lt"/>
              <a:buAutoNum type="arabicPeriod"/>
              <a:tabLst>
                <a:tab pos="358140" algn="l"/>
              </a:tabLst>
            </a:pPr>
            <a:r>
              <a:rPr lang="zh-CN" altLang="en-US" b="1" dirty="0">
                <a:sym typeface="+mn-ea"/>
              </a:rPr>
              <a:t>对程序设计语言的语法规则进行形式化描述（用</a:t>
            </a:r>
            <a:r>
              <a:rPr lang="en-US" altLang="zh-CN" b="1" dirty="0">
                <a:sym typeface="+mn-ea"/>
              </a:rPr>
              <a:t>2</a:t>
            </a:r>
            <a:r>
              <a:rPr lang="zh-CN" altLang="en-US" b="1" dirty="0">
                <a:sym typeface="+mn-ea"/>
              </a:rPr>
              <a:t>型文法）；</a:t>
            </a:r>
            <a:endParaRPr lang="zh-CN" altLang="en-US" b="1" dirty="0"/>
          </a:p>
          <a:p>
            <a:pPr marL="346075" indent="-346075" defTabSz="914400">
              <a:lnSpc>
                <a:spcPct val="150000"/>
              </a:lnSpc>
              <a:buFont typeface="+mj-lt"/>
              <a:buAutoNum type="arabicPeriod"/>
              <a:tabLst>
                <a:tab pos="358140" algn="l"/>
              </a:tabLst>
            </a:pPr>
            <a:r>
              <a:rPr lang="zh-CN" altLang="en-US" b="1" dirty="0">
                <a:sym typeface="+mn-ea"/>
              </a:rPr>
              <a:t>根据语法描述形式，定义各种基本语法结构的</a:t>
            </a:r>
            <a:r>
              <a:rPr lang="zh-CN" altLang="en-US" b="1" dirty="0">
                <a:solidFill>
                  <a:srgbClr val="FF3399"/>
                </a:solidFill>
                <a:sym typeface="+mn-ea"/>
              </a:rPr>
              <a:t>抽象语法树</a:t>
            </a:r>
            <a:r>
              <a:rPr lang="en-US" altLang="zh-CN" b="1" dirty="0">
                <a:sym typeface="+mn-ea"/>
              </a:rPr>
              <a:t>；</a:t>
            </a:r>
            <a:endParaRPr lang="en-US" altLang="zh-CN" b="1" dirty="0"/>
          </a:p>
          <a:p>
            <a:pPr marL="346075" indent="-346075" defTabSz="914400">
              <a:lnSpc>
                <a:spcPct val="150000"/>
              </a:lnSpc>
              <a:buFont typeface="+mj-lt"/>
              <a:buAutoNum type="arabicPeriod"/>
              <a:tabLst>
                <a:tab pos="358140" algn="l"/>
              </a:tabLst>
            </a:pPr>
            <a:r>
              <a:rPr lang="zh-CN" altLang="en-US" b="1" dirty="0">
                <a:sym typeface="+mn-ea"/>
              </a:rPr>
              <a:t>选择一种合适的</a:t>
            </a:r>
            <a:r>
              <a:rPr lang="zh-CN" altLang="en-US" b="1" dirty="0">
                <a:solidFill>
                  <a:srgbClr val="FF3399"/>
                </a:solidFill>
                <a:sym typeface="+mn-ea"/>
              </a:rPr>
              <a:t>语法分析算法</a:t>
            </a:r>
            <a:r>
              <a:rPr lang="en-US" altLang="zh-CN" b="1" dirty="0">
                <a:sym typeface="+mn-ea"/>
              </a:rPr>
              <a:t>,</a:t>
            </a:r>
            <a:r>
              <a:rPr lang="zh-CN" altLang="en-US" b="1" dirty="0">
                <a:sym typeface="+mn-ea"/>
              </a:rPr>
              <a:t> </a:t>
            </a:r>
            <a:r>
              <a:rPr lang="en-US" altLang="zh-CN" b="1" dirty="0">
                <a:sym typeface="+mn-ea"/>
              </a:rPr>
              <a:t>-----</a:t>
            </a:r>
            <a:r>
              <a:rPr lang="zh-CN" altLang="en-US" b="1" dirty="0">
                <a:sym typeface="+mn-ea"/>
              </a:rPr>
              <a:t>语法分析程序。</a:t>
            </a:r>
            <a:endParaRPr lang="zh-CN" altLang="en-US" b="1" dirty="0">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a:xfrm>
            <a:off x="400050" y="276860"/>
            <a:ext cx="8035925" cy="593090"/>
          </a:xfrm>
        </p:spPr>
        <p:txBody>
          <a:bodyPr/>
          <a:lstStyle/>
          <a:p>
            <a:r>
              <a:rPr lang="zh-CN" altLang="en-US" sz="3200" dirty="0"/>
              <a:t>本章小结</a:t>
            </a:r>
            <a:endParaRPr lang="zh-CN" altLang="en-US" sz="3200" dirty="0"/>
          </a:p>
        </p:txBody>
      </p:sp>
      <p:sp>
        <p:nvSpPr>
          <p:cNvPr id="5" name="Rectangle 3"/>
          <p:cNvSpPr txBox="1">
            <a:spLocks noChangeArrowheads="1"/>
          </p:cNvSpPr>
          <p:nvPr/>
        </p:nvSpPr>
        <p:spPr>
          <a:xfrm>
            <a:off x="468630" y="1261745"/>
            <a:ext cx="5706745" cy="4432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3200" b="1" dirty="0">
                <a:latin typeface="+mn-ea"/>
              </a:rPr>
              <a:t>两类自上而下的语法分析算法：</a:t>
            </a:r>
            <a:endParaRPr lang="zh-CN" altLang="en-US" sz="3200" b="1" dirty="0">
              <a:latin typeface="+mn-ea"/>
            </a:endParaRPr>
          </a:p>
          <a:p>
            <a:pPr lvl="1">
              <a:lnSpc>
                <a:spcPct val="150000"/>
              </a:lnSpc>
              <a:buFont typeface="Wingdings" panose="05000000000000000000" charset="0"/>
              <a:buChar char="p"/>
            </a:pPr>
            <a:r>
              <a:rPr lang="zh-CN" altLang="en-US" sz="3200" b="1" dirty="0">
                <a:latin typeface="+mn-ea"/>
              </a:rPr>
              <a:t>递归下降分析方法</a:t>
            </a:r>
            <a:endParaRPr lang="zh-CN" altLang="en-US" sz="3200" b="1" dirty="0">
              <a:latin typeface="+mn-ea"/>
            </a:endParaRPr>
          </a:p>
          <a:p>
            <a:pPr lvl="2">
              <a:lnSpc>
                <a:spcPct val="150000"/>
              </a:lnSpc>
              <a:buFont typeface="Wingdings" panose="05000000000000000000" charset="0"/>
              <a:buChar char="ü"/>
            </a:pPr>
            <a:r>
              <a:rPr lang="zh-CN" altLang="en-US" sz="3200" b="1" dirty="0">
                <a:latin typeface="+mn-ea"/>
              </a:rPr>
              <a:t>手写语法分析程序</a:t>
            </a:r>
            <a:endParaRPr lang="zh-CN" altLang="en-US" sz="3200" b="1" dirty="0">
              <a:latin typeface="+mn-ea"/>
            </a:endParaRPr>
          </a:p>
          <a:p>
            <a:pPr lvl="1">
              <a:lnSpc>
                <a:spcPct val="150000"/>
              </a:lnSpc>
              <a:buFont typeface="Wingdings" panose="05000000000000000000" charset="0"/>
              <a:buChar char="p"/>
            </a:pPr>
            <a:r>
              <a:rPr lang="en-US" altLang="zh-CN" sz="3200" b="1" dirty="0">
                <a:latin typeface="+mn-ea"/>
              </a:rPr>
              <a:t>LL(1)</a:t>
            </a:r>
            <a:r>
              <a:rPr lang="zh-CN" altLang="en-US" sz="3200" b="1" dirty="0">
                <a:latin typeface="+mn-ea"/>
              </a:rPr>
              <a:t>分析方法</a:t>
            </a:r>
            <a:endParaRPr lang="zh-CN" altLang="en-US" sz="3200" b="1" dirty="0">
              <a:latin typeface="+mn-ea"/>
            </a:endParaRPr>
          </a:p>
          <a:p>
            <a:pPr lvl="2">
              <a:lnSpc>
                <a:spcPct val="150000"/>
              </a:lnSpc>
              <a:buFont typeface="Wingdings" panose="05000000000000000000" charset="0"/>
              <a:buChar char="ü"/>
            </a:pPr>
            <a:r>
              <a:rPr lang="zh-CN" altLang="en-US" sz="3200" b="1" dirty="0">
                <a:latin typeface="+mn-ea"/>
              </a:rPr>
              <a:t>算法思想</a:t>
            </a:r>
            <a:r>
              <a:rPr lang="zh-CN" altLang="en-US" sz="3200" b="1" dirty="0">
                <a:latin typeface="+mn-ea"/>
              </a:rPr>
              <a:t>重要</a:t>
            </a:r>
            <a:endParaRPr lang="zh-CN" altLang="en-US" sz="3200" b="1" dirty="0">
              <a:latin typeface="+mn-ea"/>
            </a:endParaRPr>
          </a:p>
          <a:p>
            <a:pPr lvl="1">
              <a:lnSpc>
                <a:spcPct val="150000"/>
              </a:lnSpc>
              <a:buFont typeface="Wingdings" panose="05000000000000000000" charset="0"/>
              <a:buChar char="p"/>
            </a:pPr>
            <a:r>
              <a:rPr lang="zh-CN" altLang="en-US" sz="3200" b="1" dirty="0">
                <a:latin typeface="+mn-ea"/>
                <a:sym typeface="+mn-ea"/>
              </a:rPr>
              <a:t>Antlr开源工具</a:t>
            </a:r>
            <a:r>
              <a:rPr lang="zh-CN" altLang="en-US" sz="3200" b="1" dirty="0">
                <a:latin typeface="+mn-ea"/>
              </a:rPr>
              <a:t>介绍</a:t>
            </a:r>
            <a:endParaRPr lang="zh-CN" altLang="en-US" sz="3200" b="1" dirty="0">
              <a:latin typeface="+mn-ea"/>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pic>
        <p:nvPicPr>
          <p:cNvPr id="6" name="Picture 4"/>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6096268" y="1529924"/>
            <a:ext cx="5351212" cy="438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PLACING_PICTURE_USER_VIEWPORT" val="{&quot;height&quot;:2884,&quot;width&quot;:2884}"/>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UNIT_TABLE_BEAUTIFY" val="smartTable{4c677fe5-b454-4b90-922d-de05c7c1d0c6}"/>
</p:tagLst>
</file>

<file path=ppt/tags/tag244.xml><?xml version="1.0" encoding="utf-8"?>
<p:tagLst xmlns:p="http://schemas.openxmlformats.org/presentationml/2006/main">
  <p:tag name="KSO_WM_UNIT_TABLE_BEAUTIFY" val="smartTable{0bd4a07e-f3cc-4473-b888-7cb4af690031}"/>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UNIT_PLACING_PICTURE_USER_VIEWPORT" val="{&quot;height&quot;:6910.9842519685035,&quot;width&quot;:8427.105511811023}"/>
  <p:tag name="KSO_WM_BEAUTIFY_FLAG" val=""/>
</p:tagLst>
</file>

<file path=ppt/tags/tag257.xml><?xml version="1.0" encoding="utf-8"?>
<p:tagLst xmlns:p="http://schemas.openxmlformats.org/presentationml/2006/main">
  <p:tag name="KSO_WPP_MARK_KEY" val="a8cb7fbe-3bb3-466b-9ca4-08b2b30fb1e2"/>
  <p:tag name="COMMONDATA" val="eyJoZGlkIjoiMzJjODM0ODFlMzJmZDYxYTU5ZjM3ODk5NzI1YjE1OD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11849</Words>
  <Application>WPS 演示</Application>
  <PresentationFormat>全屏显示(4:3)</PresentationFormat>
  <Paragraphs>1484</Paragraphs>
  <Slides>64</Slides>
  <Notes>1</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9</vt:i4>
      </vt:variant>
      <vt:variant>
        <vt:lpstr>幻灯片标题</vt:lpstr>
      </vt:variant>
      <vt:variant>
        <vt:i4>64</vt:i4>
      </vt:variant>
    </vt:vector>
  </HeadingPairs>
  <TitlesOfParts>
    <vt:vector size="91" baseType="lpstr">
      <vt:lpstr>Arial</vt:lpstr>
      <vt:lpstr>宋体</vt:lpstr>
      <vt:lpstr>Wingdings</vt:lpstr>
      <vt:lpstr>微软雅黑</vt:lpstr>
      <vt:lpstr>Times New Roman</vt:lpstr>
      <vt:lpstr>等线</vt:lpstr>
      <vt:lpstr>等线 Light</vt:lpstr>
      <vt:lpstr>Wingdings</vt:lpstr>
      <vt:lpstr>Symbol</vt:lpstr>
      <vt:lpstr>Consolas</vt:lpstr>
      <vt:lpstr>Calibri</vt:lpstr>
      <vt:lpstr>Arial Unicode MS</vt:lpstr>
      <vt:lpstr>Calibri Light</vt:lpstr>
      <vt:lpstr>方正舒体</vt:lpstr>
      <vt:lpstr>Verdana</vt:lpstr>
      <vt:lpstr>思源黑体 Regular</vt:lpstr>
      <vt:lpstr>黑体</vt:lpstr>
      <vt:lpstr>Office 主题​​</vt:lpstr>
      <vt:lpstr>Visio.Drawing.11</vt:lpstr>
      <vt:lpstr>Visio.Drawing.11</vt:lpstr>
      <vt:lpstr>Visio.Drawing.11</vt:lpstr>
      <vt:lpstr>Visio.Drawing.11</vt:lpstr>
      <vt:lpstr>Visio.Drawing.11</vt:lpstr>
      <vt:lpstr>Visio.Drawing.11</vt:lpstr>
      <vt:lpstr>Visio.Drawing.11</vt:lpstr>
      <vt:lpstr>Visio.Drawing.11</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Wren</dc:creator>
  <cp:lastModifiedBy>马春燕</cp:lastModifiedBy>
  <cp:revision>285</cp:revision>
  <dcterms:created xsi:type="dcterms:W3CDTF">2024-03-16T07:28:00Z</dcterms:created>
  <dcterms:modified xsi:type="dcterms:W3CDTF">2026-03-20T00:33:27Z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80D9042ECAC64F79ABADF84CB690C55F_13</vt:lpwstr>
  </property>
  <property fmtid="{D5CDD505-2E9C-101B-9397-08002B2CF9AE}" pid="3" name="KSOProductBuildVer">
    <vt:lpwstr>2052-11.1.0.13703</vt:lpwstr>
  </property>
</Properties>
</file>