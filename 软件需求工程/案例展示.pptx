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XXX“智慧消防”建设项目</a:t>
            </a:r>
            <a:b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需求分析</a:t>
            </a: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文档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122555"/>
            <a:ext cx="10515600" cy="535940"/>
          </a:xfrm>
        </p:spPr>
        <p:txBody>
          <a:bodyPr>
            <a:normAutofit fontScale="90000"/>
          </a:bodyPr>
          <a:p>
            <a:r>
              <a:rPr lang="en-US" altLang="zh-CN" sz="2220"/>
              <a:t>1.  </a:t>
            </a:r>
            <a:r>
              <a:rPr lang="zh-CN" altLang="en-US" sz="2220"/>
              <a:t>需求分析</a:t>
            </a:r>
            <a:br>
              <a:rPr lang="zh-CN" altLang="en-US" sz="2220"/>
            </a:br>
            <a:r>
              <a:rPr lang="en-US" altLang="zh-CN" sz="2220"/>
              <a:t>1.</a:t>
            </a:r>
            <a:r>
              <a:rPr lang="en-US" altLang="zh-CN" sz="2220"/>
              <a:t>1  </a:t>
            </a:r>
            <a:r>
              <a:rPr lang="zh-CN" altLang="en-US" sz="2220"/>
              <a:t>业务需求和流程分析</a:t>
            </a:r>
            <a:endParaRPr lang="zh-CN" altLang="en-US" sz="2220"/>
          </a:p>
        </p:txBody>
      </p:sp>
      <p:graphicFrame>
        <p:nvGraphicFramePr>
          <p:cNvPr id="-2147482615" name="Object 6"/>
          <p:cNvGraphicFramePr>
            <a:graphicFrameLocks noChangeAspect="1"/>
          </p:cNvGraphicFramePr>
          <p:nvPr/>
        </p:nvGraphicFramePr>
        <p:xfrm>
          <a:off x="777240" y="658495"/>
          <a:ext cx="10845800" cy="568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500610" imgH="8941435" progId="Visio.Drawing.11">
                  <p:embed/>
                </p:oleObj>
              </mc:Choice>
              <mc:Fallback>
                <p:oleObj name="" r:id="rId1" imgW="12500610" imgH="894143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7240" y="658495"/>
                        <a:ext cx="10845800" cy="568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60140" y="62804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业务需求流程示意图</a:t>
            </a:r>
            <a:endParaRPr lang="zh-CN" altLang="en-US" sz="16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76530"/>
            <a:ext cx="10515600" cy="427990"/>
          </a:xfrm>
        </p:spPr>
        <p:txBody>
          <a:bodyPr>
            <a:normAutofit/>
          </a:bodyPr>
          <a:p>
            <a:r>
              <a:rPr lang="en-US" altLang="zh-CN" sz="222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1.1.1 </a:t>
            </a:r>
            <a: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火灾防控业务流程</a:t>
            </a:r>
            <a:endParaRPr lang="zh-CN" altLang="en-US" sz="222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-2147482614" name="Object 7"/>
          <p:cNvGraphicFramePr>
            <a:graphicFrameLocks noChangeAspect="1"/>
          </p:cNvGraphicFramePr>
          <p:nvPr/>
        </p:nvGraphicFramePr>
        <p:xfrm>
          <a:off x="2667635" y="797560"/>
          <a:ext cx="6056630" cy="6064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6332180" imgH="26361390" progId="Visio.Drawing.11">
                  <p:embed/>
                </p:oleObj>
              </mc:Choice>
              <mc:Fallback>
                <p:oleObj name="" r:id="rId1" imgW="26332180" imgH="2636139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635" y="797560"/>
                        <a:ext cx="6056630" cy="60648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0250" y="0"/>
            <a:ext cx="10515600" cy="876935"/>
          </a:xfrm>
        </p:spPr>
        <p:txBody>
          <a:bodyPr/>
          <a:p>
            <a:r>
              <a:rPr lang="zh-CN" altLang="en-US" sz="2000"/>
              <a:t>火灾防控业务流程</a:t>
            </a:r>
            <a:endParaRPr lang="zh-CN" altLang="en-US" sz="2000"/>
          </a:p>
        </p:txBody>
      </p:sp>
      <p:graphicFrame>
        <p:nvGraphicFramePr>
          <p:cNvPr id="-2147482614" name="Object 7"/>
          <p:cNvGraphicFramePr>
            <a:graphicFrameLocks noChangeAspect="1"/>
          </p:cNvGraphicFramePr>
          <p:nvPr/>
        </p:nvGraphicFramePr>
        <p:xfrm>
          <a:off x="156845" y="559435"/>
          <a:ext cx="11877675" cy="10554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6332180" imgH="26361390" progId="Visio.Drawing.11">
                  <p:embed/>
                </p:oleObj>
              </mc:Choice>
              <mc:Fallback>
                <p:oleObj name="" r:id="rId1" imgW="26332180" imgH="2636139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6845" y="559435"/>
                        <a:ext cx="11877675" cy="105543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3030"/>
            <a:ext cx="10515600" cy="419100"/>
          </a:xfrm>
        </p:spPr>
        <p:txBody>
          <a:bodyPr>
            <a:normAutofit/>
          </a:bodyPr>
          <a:p>
            <a:r>
              <a:rPr lang="en-US" altLang="zh-CN" sz="2000"/>
              <a:t>1.1.2 </a:t>
            </a:r>
            <a:r>
              <a:rPr lang="zh-CN" altLang="en-US" sz="2000"/>
              <a:t>灭火救援业务</a:t>
            </a:r>
            <a:endParaRPr lang="zh-CN" altLang="en-US" sz="2000"/>
          </a:p>
        </p:txBody>
      </p:sp>
      <p:graphicFrame>
        <p:nvGraphicFramePr>
          <p:cNvPr id="-2147482515" name="对象 -2147482516"/>
          <p:cNvGraphicFramePr>
            <a:graphicFrameLocks noChangeAspect="1"/>
          </p:cNvGraphicFramePr>
          <p:nvPr/>
        </p:nvGraphicFramePr>
        <p:xfrm>
          <a:off x="90170" y="700405"/>
          <a:ext cx="12101830" cy="570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222335" imgH="9288780" progId="Visio.Drawing.11">
                  <p:embed/>
                </p:oleObj>
              </mc:Choice>
              <mc:Fallback>
                <p:oleObj name="" r:id="rId1" imgW="21222335" imgH="928878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170" y="700405"/>
                        <a:ext cx="12101830" cy="570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775"/>
            <a:ext cx="10515600" cy="481965"/>
          </a:xfrm>
        </p:spPr>
        <p:txBody>
          <a:bodyPr>
            <a:normAutofit/>
          </a:bodyPr>
          <a:p>
            <a:r>
              <a:rPr lang="en-US" altLang="zh-CN" sz="2000"/>
              <a:t>1.1.3  </a:t>
            </a:r>
            <a:r>
              <a:rPr lang="zh-CN" altLang="en-US" sz="2000"/>
              <a:t>队伍管理业务</a:t>
            </a:r>
            <a:endParaRPr lang="zh-CN" altLang="en-US" sz="2000"/>
          </a:p>
        </p:txBody>
      </p:sp>
      <p:graphicFrame>
        <p:nvGraphicFramePr>
          <p:cNvPr id="-2147482612" name="Object 9"/>
          <p:cNvGraphicFramePr>
            <a:graphicFrameLocks noChangeAspect="1"/>
          </p:cNvGraphicFramePr>
          <p:nvPr/>
        </p:nvGraphicFramePr>
        <p:xfrm>
          <a:off x="1347470" y="504825"/>
          <a:ext cx="9319260" cy="6163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941425" imgH="12686030" progId="Visio.Drawing.11">
                  <p:embed/>
                </p:oleObj>
              </mc:Choice>
              <mc:Fallback>
                <p:oleObj name="" r:id="rId1" imgW="13941425" imgH="1268603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47470" y="504825"/>
                        <a:ext cx="9319260" cy="6163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570" y="158750"/>
            <a:ext cx="10515600" cy="355600"/>
          </a:xfrm>
        </p:spPr>
        <p:txBody>
          <a:bodyPr>
            <a:normAutofit fontScale="90000"/>
          </a:bodyPr>
          <a:p>
            <a:r>
              <a:rPr lang="en-US" altLang="zh-CN" sz="2000"/>
              <a:t>1.1.4  </a:t>
            </a:r>
            <a:r>
              <a:rPr lang="zh-CN" altLang="en-US" sz="2000"/>
              <a:t>综合保障业务</a:t>
            </a:r>
            <a:endParaRPr lang="zh-CN" altLang="en-US" sz="2000"/>
          </a:p>
        </p:txBody>
      </p:sp>
      <p:graphicFrame>
        <p:nvGraphicFramePr>
          <p:cNvPr id="-2147482611" name="Object 10"/>
          <p:cNvGraphicFramePr>
            <a:graphicFrameLocks noChangeAspect="1"/>
          </p:cNvGraphicFramePr>
          <p:nvPr/>
        </p:nvGraphicFramePr>
        <p:xfrm>
          <a:off x="1264920" y="421005"/>
          <a:ext cx="9338310" cy="623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263120" imgH="8188960" progId="Visio.Drawing.11">
                  <p:embed/>
                </p:oleObj>
              </mc:Choice>
              <mc:Fallback>
                <p:oleObj name="" r:id="rId1" imgW="12263120" imgH="818896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64920" y="421005"/>
                        <a:ext cx="9338310" cy="623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1775"/>
            <a:ext cx="10515600" cy="454025"/>
          </a:xfrm>
        </p:spPr>
        <p:txBody>
          <a:bodyPr>
            <a:normAutofit fontScale="90000"/>
          </a:bodyPr>
          <a:p>
            <a:r>
              <a:rPr lang="en-US" altLang="zh-CN" sz="2000"/>
              <a:t>XX“</a:t>
            </a:r>
            <a:r>
              <a:rPr lang="zh-CN" altLang="en-US" sz="2000"/>
              <a:t>智慧消防</a:t>
            </a:r>
            <a:r>
              <a:rPr lang="en-US" altLang="zh-CN" sz="2000"/>
              <a:t>”</a:t>
            </a:r>
            <a:r>
              <a:rPr lang="zh-CN" altLang="en-US" sz="2000"/>
              <a:t>项目总体架构</a:t>
            </a:r>
            <a:br>
              <a:rPr lang="zh-CN" altLang="en-US" sz="2000"/>
            </a:br>
            <a:endParaRPr lang="zh-CN" altLang="en-US" sz="2000"/>
          </a:p>
        </p:txBody>
      </p:sp>
      <p:graphicFrame>
        <p:nvGraphicFramePr>
          <p:cNvPr id="-2147482516" name="Object 108"/>
          <p:cNvGraphicFramePr>
            <a:graphicFrameLocks noChangeAspect="1"/>
          </p:cNvGraphicFramePr>
          <p:nvPr/>
        </p:nvGraphicFramePr>
        <p:xfrm>
          <a:off x="1848485" y="685800"/>
          <a:ext cx="8135620" cy="12749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972030" imgH="24110315" progId="Visio.Drawing.11">
                  <p:embed/>
                </p:oleObj>
              </mc:Choice>
              <mc:Fallback>
                <p:oleObj name="" r:id="rId1" imgW="14972030" imgH="241103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8485" y="685800"/>
                        <a:ext cx="8135620" cy="12749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1045" y="185420"/>
            <a:ext cx="10515600" cy="445770"/>
          </a:xfrm>
        </p:spPr>
        <p:txBody>
          <a:bodyPr>
            <a:normAutofit fontScale="90000"/>
          </a:bodyPr>
          <a:p>
            <a:r>
              <a:rPr lang="en-US" altLang="zh-CN" sz="2220"/>
              <a:t>“</a:t>
            </a:r>
            <a:r>
              <a:rPr lang="zh-CN" altLang="en-US" sz="2220"/>
              <a:t>智慧消防</a:t>
            </a:r>
            <a:r>
              <a:rPr lang="en-US" altLang="zh-CN" sz="2220"/>
              <a:t>”</a:t>
            </a:r>
            <a:r>
              <a:rPr lang="zh-CN" altLang="en-US" sz="2220"/>
              <a:t>业务架构</a:t>
            </a:r>
            <a:endParaRPr lang="zh-CN" altLang="en-US" sz="2220"/>
          </a:p>
        </p:txBody>
      </p:sp>
      <p:graphicFrame>
        <p:nvGraphicFramePr>
          <p:cNvPr id="-2147482609" name="Object 12"/>
          <p:cNvGraphicFramePr>
            <a:graphicFrameLocks noChangeAspect="1"/>
          </p:cNvGraphicFramePr>
          <p:nvPr/>
        </p:nvGraphicFramePr>
        <p:xfrm>
          <a:off x="97155" y="712470"/>
          <a:ext cx="11997690" cy="6028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045420" imgH="10648950" progId="Visio.Drawing.11">
                  <p:embed/>
                </p:oleObj>
              </mc:Choice>
              <mc:Fallback>
                <p:oleObj name="" r:id="rId1" imgW="23045420" imgH="1064895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" y="712470"/>
                        <a:ext cx="11997690" cy="6028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WPS 演示</Application>
  <PresentationFormat>宽屏</PresentationFormat>
  <Paragraphs>20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黑体</vt:lpstr>
      <vt:lpstr>WPS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武君胜</cp:lastModifiedBy>
  <cp:revision>5</cp:revision>
  <dcterms:created xsi:type="dcterms:W3CDTF">2023-08-09T12:44:00Z</dcterms:created>
  <dcterms:modified xsi:type="dcterms:W3CDTF">2026-03-09T04:45:37Z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454F3F28FBBA4D90B51450EE22FF6722_12</vt:lpwstr>
  </property>
</Properties>
</file>