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handoutMasters/handoutMaster1.xml" ContentType="application/vnd.openxmlformats-officedocument.presentationml.handoutMaster+xml"/>
  <Override PartName="/ppt/media/image27.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handoutMasterIdLst>
    <p:handoutMasterId r:id="rId68"/>
  </p:handoutMasterIdLst>
  <p:sldIdLst>
    <p:sldId id="374" r:id="rId3"/>
    <p:sldId id="497" r:id="rId4"/>
    <p:sldId id="375" r:id="rId5"/>
    <p:sldId id="376" r:id="rId6"/>
    <p:sldId id="377" r:id="rId7"/>
    <p:sldId id="378" r:id="rId8"/>
    <p:sldId id="379" r:id="rId9"/>
    <p:sldId id="315" r:id="rId11"/>
    <p:sldId id="316" r:id="rId12"/>
    <p:sldId id="828" r:id="rId13"/>
    <p:sldId id="318" r:id="rId14"/>
    <p:sldId id="319" r:id="rId15"/>
    <p:sldId id="320" r:id="rId16"/>
    <p:sldId id="321" r:id="rId17"/>
    <p:sldId id="322" r:id="rId18"/>
    <p:sldId id="323" r:id="rId19"/>
    <p:sldId id="324" r:id="rId20"/>
    <p:sldId id="326" r:id="rId21"/>
    <p:sldId id="327" r:id="rId22"/>
    <p:sldId id="882" r:id="rId23"/>
    <p:sldId id="332" r:id="rId24"/>
    <p:sldId id="333" r:id="rId25"/>
    <p:sldId id="334" r:id="rId26"/>
    <p:sldId id="924" r:id="rId27"/>
    <p:sldId id="335" r:id="rId28"/>
    <p:sldId id="336" r:id="rId29"/>
    <p:sldId id="337" r:id="rId30"/>
    <p:sldId id="338" r:id="rId31"/>
    <p:sldId id="382" r:id="rId32"/>
    <p:sldId id="340" r:id="rId33"/>
    <p:sldId id="383" r:id="rId34"/>
    <p:sldId id="384" r:id="rId35"/>
    <p:sldId id="343" r:id="rId36"/>
    <p:sldId id="344" r:id="rId37"/>
    <p:sldId id="824" r:id="rId38"/>
    <p:sldId id="826" r:id="rId39"/>
    <p:sldId id="827" r:id="rId40"/>
    <p:sldId id="878" r:id="rId41"/>
    <p:sldId id="350" r:id="rId42"/>
    <p:sldId id="351" r:id="rId43"/>
    <p:sldId id="879" r:id="rId44"/>
    <p:sldId id="353" r:id="rId45"/>
    <p:sldId id="354" r:id="rId46"/>
    <p:sldId id="355" r:id="rId47"/>
    <p:sldId id="356" r:id="rId48"/>
    <p:sldId id="357" r:id="rId49"/>
    <p:sldId id="359" r:id="rId50"/>
    <p:sldId id="360" r:id="rId51"/>
    <p:sldId id="363" r:id="rId52"/>
    <p:sldId id="364" r:id="rId53"/>
    <p:sldId id="365" r:id="rId54"/>
    <p:sldId id="366" r:id="rId55"/>
    <p:sldId id="367" r:id="rId56"/>
    <p:sldId id="368" r:id="rId57"/>
    <p:sldId id="369" r:id="rId58"/>
    <p:sldId id="370" r:id="rId59"/>
    <p:sldId id="371" r:id="rId60"/>
    <p:sldId id="880" r:id="rId61"/>
    <p:sldId id="881" r:id="rId62"/>
    <p:sldId id="373" r:id="rId63"/>
    <p:sldId id="926" r:id="rId64"/>
    <p:sldId id="927" r:id="rId65"/>
    <p:sldId id="928" r:id="rId66"/>
    <p:sldId id="435" r:id="rId67"/>
  </p:sldIdLst>
  <p:sldSz cx="12192000" cy="6858000"/>
  <p:notesSz cx="6858000" cy="9144000"/>
  <p:custDataLst>
    <p:tags r:id="rId7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64058552-8705-4113-81A2-BE82CD90031D}">
          <p14:sldIdLst>
            <p14:sldId id="374"/>
            <p14:sldId id="497"/>
            <p14:sldId id="375"/>
            <p14:sldId id="376"/>
            <p14:sldId id="377"/>
            <p14:sldId id="378"/>
            <p14:sldId id="379"/>
            <p14:sldId id="315"/>
            <p14:sldId id="316"/>
            <p14:sldId id="828"/>
            <p14:sldId id="318"/>
            <p14:sldId id="319"/>
            <p14:sldId id="320"/>
            <p14:sldId id="321"/>
            <p14:sldId id="322"/>
            <p14:sldId id="323"/>
            <p14:sldId id="324"/>
            <p14:sldId id="326"/>
            <p14:sldId id="327"/>
            <p14:sldId id="882"/>
            <p14:sldId id="332"/>
            <p14:sldId id="333"/>
            <p14:sldId id="334"/>
            <p14:sldId id="924"/>
          </p14:sldIdLst>
        </p14:section>
        <p14:section name="第3讲第2次课回顾" id="{52CFDE75-4561-4128-BFAB-A4B7D6DA89E5}">
          <p14:sldIdLst/>
        </p14:section>
        <p14:section name="第3讲第3次课" id="{DF37348B-BB1C-459F-84E9-FE8F3DFD6985}">
          <p14:sldIdLst>
            <p14:sldId id="335"/>
            <p14:sldId id="336"/>
            <p14:sldId id="337"/>
            <p14:sldId id="338"/>
            <p14:sldId id="382"/>
            <p14:sldId id="340"/>
            <p14:sldId id="383"/>
            <p14:sldId id="384"/>
            <p14:sldId id="343"/>
            <p14:sldId id="344"/>
            <p14:sldId id="824"/>
            <p14:sldId id="826"/>
            <p14:sldId id="827"/>
            <p14:sldId id="878"/>
            <p14:sldId id="350"/>
            <p14:sldId id="351"/>
            <p14:sldId id="879"/>
            <p14:sldId id="353"/>
            <p14:sldId id="354"/>
            <p14:sldId id="355"/>
            <p14:sldId id="356"/>
            <p14:sldId id="357"/>
            <p14:sldId id="359"/>
            <p14:sldId id="360"/>
            <p14:sldId id="363"/>
            <p14:sldId id="364"/>
            <p14:sldId id="365"/>
            <p14:sldId id="366"/>
            <p14:sldId id="367"/>
            <p14:sldId id="368"/>
            <p14:sldId id="369"/>
            <p14:sldId id="370"/>
            <p14:sldId id="371"/>
            <p14:sldId id="880"/>
            <p14:sldId id="881"/>
            <p14:sldId id="373"/>
            <p14:sldId id="926"/>
            <p14:sldId id="927"/>
            <p14:sldId id="928"/>
            <p14:sldId id="435"/>
          </p14:sldIdLst>
        </p14:section>
      </p14:sectionLst>
    </p:ext>
    <p:ext uri="{EFAFB233-063F-42B5-8137-9DF3F51BA10A}">
      <p15:sldGuideLst xmlns:p15="http://schemas.microsoft.com/office/powerpoint/2012/main">
        <p15:guide id="1" orient="horz" pos="639" userDrawn="1">
          <p15:clr>
            <a:srgbClr val="A4A3A4"/>
          </p15:clr>
        </p15:guide>
        <p15:guide id="2" orient="horz" pos="3022" userDrawn="1">
          <p15:clr>
            <a:srgbClr val="A4A3A4"/>
          </p15:clr>
        </p15:guide>
        <p15:guide id="3" orient="horz" pos="3786" userDrawn="1">
          <p15:clr>
            <a:srgbClr val="A4A3A4"/>
          </p15:clr>
        </p15:guide>
        <p15:guide id="4" orient="horz" pos="3154" userDrawn="1">
          <p15:clr>
            <a:srgbClr val="A4A3A4"/>
          </p15:clr>
        </p15:guide>
        <p15:guide id="5" pos="377" userDrawn="1">
          <p15:clr>
            <a:srgbClr val="A4A3A4"/>
          </p15:clr>
        </p15:guide>
        <p15:guide id="6" pos="723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聂 佳佳" initials="聂" lastIdx="1" clrIdx="0"/>
  <p:cmAuthor id="2" name="j l" initials="jl" lastIdx="8" clrIdx="1"/>
  <p:cmAuthor id="3" name="HE增 杰RO" initials="H杰"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5197D7"/>
    <a:srgbClr val="FAFAF9"/>
    <a:srgbClr val="F6F6F5"/>
    <a:srgbClr val="E9E9E8"/>
    <a:srgbClr val="BDD7EE"/>
    <a:srgbClr val="F48B3F"/>
    <a:srgbClr val="7F7F7F"/>
    <a:srgbClr val="A6A6A6"/>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41" autoAdjust="0"/>
    <p:restoredTop sz="91993" autoAdjust="0"/>
  </p:normalViewPr>
  <p:slideViewPr>
    <p:cSldViewPr snapToGrid="0" showGuides="1">
      <p:cViewPr varScale="1">
        <p:scale>
          <a:sx n="80" d="100"/>
          <a:sy n="80" d="100"/>
        </p:scale>
        <p:origin x="514" y="67"/>
      </p:cViewPr>
      <p:guideLst>
        <p:guide orient="horz" pos="639"/>
        <p:guide orient="horz" pos="3022"/>
        <p:guide orient="horz" pos="3786"/>
        <p:guide orient="horz" pos="3154"/>
        <p:guide pos="377"/>
        <p:guide pos="723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3" Type="http://schemas.openxmlformats.org/officeDocument/2006/relationships/tags" Target="tags/tag28.xml"/><Relationship Id="rId72" Type="http://schemas.openxmlformats.org/officeDocument/2006/relationships/commentAuthors" Target="commentAuthors.xml"/><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slide" Target="slides/slide5.xml"/><Relationship Id="rId69" Type="http://schemas.openxmlformats.org/officeDocument/2006/relationships/presProps" Target="presProps.xml"/><Relationship Id="rId68" Type="http://schemas.openxmlformats.org/officeDocument/2006/relationships/handoutMaster" Target="handoutMasters/handoutMaster1.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diagrams/_rels/data2.xml.rels><?xml version="1.0" encoding="UTF-8" standalone="yes"?>
<Relationships xmlns="http://schemas.openxmlformats.org/package/2006/relationships"><Relationship Id="rId5" Type="http://schemas.openxmlformats.org/officeDocument/2006/relationships/image" Target="../media/image36.png"/><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diagrams/_rels/drawing2.xml.rels><?xml version="1.0" encoding="UTF-8" standalone="yes"?>
<Relationships xmlns="http://schemas.openxmlformats.org/package/2006/relationships"><Relationship Id="rId5" Type="http://schemas.openxmlformats.org/officeDocument/2006/relationships/image" Target="../media/image36.png"/><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diagrams/colors1.xml><?xml version="1.0" encoding="utf-8"?>
<dgm:colorsDef xmlns:dgm="http://schemas.openxmlformats.org/drawingml/2006/diagram" xmlns:a="http://schemas.openxmlformats.org/drawingml/2006/main" uniqueId="urn:microsoft.com/office/officeart/2005/8/colors/accent2_1#2">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F3767650-8521-4685-B8ED-BA7EA85C0544}" type="doc">
      <dgm:prSet loTypeId="urn:microsoft.com/office/officeart/2005/8/layout/cycle6#1" loCatId="relationship" qsTypeId="urn:microsoft.com/office/officeart/2005/8/quickstyle/simple1#1" qsCatId="simple" csTypeId="urn:microsoft.com/office/officeart/2005/8/colors/accent2_1#2" csCatId="accent2" phldr="1"/>
      <dgm:spPr/>
      <dgm:t>
        <a:bodyPr/>
        <a:lstStyle/>
        <a:p>
          <a:endParaRPr lang="zh-CN" altLang="en-US"/>
        </a:p>
      </dgm:t>
    </dgm:pt>
    <dgm:pt modelId="{D1ED3E17-B010-4F51-AC36-3073E1684B10}">
      <dgm:prSet phldrT="[文本]" phldr="0" custT="1"/>
      <dgm:spPr/>
      <dgm:t>
        <a:bodyPr vert="horz" wrap="square"/>
        <a:p>
          <a:pPr>
            <a:lnSpc>
              <a:spcPct val="100000"/>
            </a:lnSpc>
            <a:spcBef>
              <a:spcPct val="0"/>
            </a:spcBef>
            <a:spcAft>
              <a:spcPct val="35000"/>
            </a:spcAft>
          </a:pPr>
          <a:r>
            <a:rPr lang="zh-CN" altLang="en-US" sz="1800" b="1" dirty="0"/>
            <a:t>项目经理</a:t>
          </a:r>
          <a:r>
            <a:rPr sz="6500" b="1"/>
            <a:t/>
          </a:r>
          <a:endParaRPr sz="6500" b="1"/>
        </a:p>
      </dgm:t>
    </dgm:pt>
    <dgm:pt modelId="{977AFFFA-DE01-457E-B3FC-34CA2C4F2DE9}" cxnId="{4541C13D-BC9C-442C-9E4E-E8F2746C79E9}" type="parTrans">
      <dgm:prSet/>
      <dgm:spPr/>
      <dgm:t>
        <a:bodyPr/>
        <a:lstStyle/>
        <a:p>
          <a:endParaRPr lang="zh-CN" altLang="en-US"/>
        </a:p>
      </dgm:t>
    </dgm:pt>
    <dgm:pt modelId="{A05A7293-76F6-488C-B5FF-F69F5873367D}" cxnId="{4541C13D-BC9C-442C-9E4E-E8F2746C79E9}" type="sibTrans">
      <dgm:prSet/>
      <dgm:spPr/>
      <dgm:t>
        <a:bodyPr/>
        <a:lstStyle/>
        <a:p>
          <a:endParaRPr lang="zh-CN" altLang="en-US"/>
        </a:p>
      </dgm:t>
    </dgm:pt>
    <dgm:pt modelId="{6AA8A892-5102-4FDB-98C8-4BFF1C550C41}">
      <dgm:prSet phldrT="[文本]" phldr="0" custT="1"/>
      <dgm:spPr/>
      <dgm:t>
        <a:bodyPr vert="horz" wrap="square"/>
        <a:p>
          <a:pPr>
            <a:lnSpc>
              <a:spcPct val="100000"/>
            </a:lnSpc>
            <a:spcBef>
              <a:spcPct val="0"/>
            </a:spcBef>
            <a:spcAft>
              <a:spcPct val="35000"/>
            </a:spcAft>
          </a:pPr>
          <a:r>
            <a:rPr lang="zh-CN" altLang="en-US" sz="1800" b="1" dirty="0"/>
            <a:t>需求分析者</a:t>
          </a:r>
          <a:r>
            <a:rPr sz="6500" b="1"/>
            <a:t/>
          </a:r>
          <a:endParaRPr sz="6500" b="1"/>
        </a:p>
      </dgm:t>
    </dgm:pt>
    <dgm:pt modelId="{4C393E2E-82E2-4A33-A0B1-2B4F0119DE97}" cxnId="{EE9AF861-6AB0-4E23-A65A-600B82AFA4DF}" type="parTrans">
      <dgm:prSet/>
      <dgm:spPr/>
      <dgm:t>
        <a:bodyPr/>
        <a:lstStyle/>
        <a:p>
          <a:endParaRPr lang="zh-CN" altLang="en-US"/>
        </a:p>
      </dgm:t>
    </dgm:pt>
    <dgm:pt modelId="{BC4DA275-7FE0-4AA7-8487-90E16FBB080F}" cxnId="{EE9AF861-6AB0-4E23-A65A-600B82AFA4DF}" type="sibTrans">
      <dgm:prSet/>
      <dgm:spPr/>
      <dgm:t>
        <a:bodyPr/>
        <a:lstStyle/>
        <a:p>
          <a:endParaRPr lang="zh-CN" altLang="en-US"/>
        </a:p>
      </dgm:t>
    </dgm:pt>
    <dgm:pt modelId="{F12A288C-0AFA-4208-9A5F-5E0E1775F77F}">
      <dgm:prSet phldrT="[文本]" phldr="0" custT="1"/>
      <dgm:spPr/>
      <dgm:t>
        <a:bodyPr vert="horz" wrap="square"/>
        <a:p>
          <a:pPr>
            <a:lnSpc>
              <a:spcPct val="100000"/>
            </a:lnSpc>
            <a:spcBef>
              <a:spcPct val="0"/>
            </a:spcBef>
            <a:spcAft>
              <a:spcPct val="35000"/>
            </a:spcAft>
          </a:pPr>
          <a:r>
            <a:rPr lang="zh-CN" altLang="en-US" sz="1800" b="1" dirty="0"/>
            <a:t>高级程序员</a:t>
          </a:r>
          <a:r>
            <a:rPr sz="6500" b="1"/>
            <a:t/>
          </a:r>
          <a:endParaRPr sz="6500" b="1"/>
        </a:p>
      </dgm:t>
    </dgm:pt>
    <dgm:pt modelId="{906ABED6-EEDC-4787-A01B-DB0EE4AD2464}" cxnId="{BFB605DD-EE63-4886-BE6E-B16CA652BA75}" type="parTrans">
      <dgm:prSet/>
      <dgm:spPr/>
      <dgm:t>
        <a:bodyPr/>
        <a:lstStyle/>
        <a:p>
          <a:endParaRPr lang="zh-CN" altLang="en-US"/>
        </a:p>
      </dgm:t>
    </dgm:pt>
    <dgm:pt modelId="{F3CE249E-0D67-46EB-9E9F-3908F24512EE}" cxnId="{BFB605DD-EE63-4886-BE6E-B16CA652BA75}" type="sibTrans">
      <dgm:prSet/>
      <dgm:spPr/>
      <dgm:t>
        <a:bodyPr/>
        <a:lstStyle/>
        <a:p>
          <a:endParaRPr lang="zh-CN" altLang="en-US"/>
        </a:p>
      </dgm:t>
    </dgm:pt>
    <dgm:pt modelId="{9D53CD44-B67B-498C-96D5-516E57163B09}">
      <dgm:prSet phldrT="[文本]" phldr="0" custT="1"/>
      <dgm:spPr/>
      <dgm:t>
        <a:bodyPr vert="horz" wrap="square"/>
        <a:p>
          <a:pPr>
            <a:lnSpc>
              <a:spcPct val="100000"/>
            </a:lnSpc>
            <a:spcBef>
              <a:spcPct val="0"/>
            </a:spcBef>
            <a:spcAft>
              <a:spcPct val="35000"/>
            </a:spcAft>
          </a:pPr>
          <a:r>
            <a:rPr lang="zh-CN" altLang="en-US" sz="1800" b="1" dirty="0"/>
            <a:t>测试专家</a:t>
          </a:r>
          <a:r>
            <a:rPr sz="6500" b="1"/>
            <a:t/>
          </a:r>
          <a:endParaRPr sz="6500" b="1"/>
        </a:p>
      </dgm:t>
    </dgm:pt>
    <dgm:pt modelId="{6F846444-D568-49C4-9121-954893641390}" cxnId="{8E5DBB6B-CAE8-4EED-8B05-325BAD7649C9}" type="parTrans">
      <dgm:prSet/>
      <dgm:spPr/>
      <dgm:t>
        <a:bodyPr/>
        <a:lstStyle/>
        <a:p>
          <a:endParaRPr lang="zh-CN" altLang="en-US"/>
        </a:p>
      </dgm:t>
    </dgm:pt>
    <dgm:pt modelId="{1FB34A22-2FA0-4D6E-A5CE-462490C33048}" cxnId="{8E5DBB6B-CAE8-4EED-8B05-325BAD7649C9}" type="sibTrans">
      <dgm:prSet/>
      <dgm:spPr/>
      <dgm:t>
        <a:bodyPr/>
        <a:lstStyle/>
        <a:p>
          <a:endParaRPr lang="zh-CN" altLang="en-US"/>
        </a:p>
      </dgm:t>
    </dgm:pt>
    <dgm:pt modelId="{64E56B49-AF56-4163-B315-ACB9A671D37D}">
      <dgm:prSet phldrT="[文本]" phldr="0" custT="1"/>
      <dgm:spPr/>
      <dgm:t>
        <a:bodyPr vert="horz" wrap="square"/>
        <a:p>
          <a:pPr>
            <a:lnSpc>
              <a:spcPct val="100000"/>
            </a:lnSpc>
            <a:spcBef>
              <a:spcPct val="0"/>
            </a:spcBef>
            <a:spcAft>
              <a:spcPct val="35000"/>
            </a:spcAft>
          </a:pPr>
          <a:r>
            <a:rPr lang="zh-CN" altLang="en-US" sz="1800" b="1" dirty="0"/>
            <a:t>化学制品的产品代表者</a:t>
          </a:r>
          <a:r>
            <a:rPr sz="6500" b="1"/>
            <a:t/>
          </a:r>
          <a:endParaRPr sz="6500" b="1"/>
        </a:p>
      </dgm:t>
    </dgm:pt>
    <dgm:pt modelId="{EA870DBB-1DA8-45E2-A764-B3C2E7E8C24F}" cxnId="{99CD28E4-5CF0-44A5-9382-B06DAEDCC732}" type="parTrans">
      <dgm:prSet/>
      <dgm:spPr/>
      <dgm:t>
        <a:bodyPr/>
        <a:lstStyle/>
        <a:p>
          <a:endParaRPr lang="zh-CN" altLang="en-US"/>
        </a:p>
      </dgm:t>
    </dgm:pt>
    <dgm:pt modelId="{EF46A7DE-180F-46CD-AC12-E9727C2F194B}" cxnId="{99CD28E4-5CF0-44A5-9382-B06DAEDCC732}" type="sibTrans">
      <dgm:prSet/>
      <dgm:spPr/>
      <dgm:t>
        <a:bodyPr/>
        <a:lstStyle/>
        <a:p>
          <a:endParaRPr lang="zh-CN" altLang="en-US"/>
        </a:p>
      </dgm:t>
    </dgm:pt>
    <dgm:pt modelId="{21EBA046-7A14-46D9-AC0E-7480DE95C120}">
      <dgm:prSet phldrT="[文本]" phldr="0" custT="1"/>
      <dgm:spPr/>
      <dgm:t>
        <a:bodyPr vert="horz" wrap="square"/>
        <a:p>
          <a:pPr>
            <a:lnSpc>
              <a:spcPct val="100000"/>
            </a:lnSpc>
            <a:spcBef>
              <a:spcPct val="0"/>
            </a:spcBef>
            <a:spcAft>
              <a:spcPct val="35000"/>
            </a:spcAft>
          </a:pPr>
          <a:r>
            <a:rPr lang="zh-CN" altLang="en-US" sz="1800" b="1" dirty="0"/>
            <a:t>化学</a:t>
          </a:r>
          <a:r>
            <a:rPr lang="zh-CN" altLang="en-US" sz="1800" b="1" dirty="0"/>
            <a:t>制品</a:t>
          </a:r>
          <a:r>
            <a:rPr lang="zh-CN" altLang="en-US" sz="1800" b="1" dirty="0"/>
            <a:t>仓库的产品代表者</a:t>
          </a:r>
          <a:r>
            <a:rPr sz="6500" b="1"/>
            <a:t/>
          </a:r>
          <a:endParaRPr sz="6500" b="1"/>
        </a:p>
      </dgm:t>
    </dgm:pt>
    <dgm:pt modelId="{20E2B064-9430-4E3F-88E4-8EFAEC99758A}" cxnId="{4024EDF7-5F2E-4CEB-9849-CFCCFE23EB13}" type="parTrans">
      <dgm:prSet/>
      <dgm:spPr/>
      <dgm:t>
        <a:bodyPr/>
        <a:lstStyle/>
        <a:p>
          <a:endParaRPr lang="zh-CN" altLang="en-US"/>
        </a:p>
      </dgm:t>
    </dgm:pt>
    <dgm:pt modelId="{052E0115-4E04-4896-8FDE-03176FDC47E7}" cxnId="{4024EDF7-5F2E-4CEB-9849-CFCCFE23EB13}" type="sibTrans">
      <dgm:prSet/>
      <dgm:spPr/>
      <dgm:t>
        <a:bodyPr/>
        <a:lstStyle/>
        <a:p>
          <a:endParaRPr lang="zh-CN" altLang="en-US"/>
        </a:p>
      </dgm:t>
    </dgm:pt>
    <dgm:pt modelId="{8674D7FB-A747-45DC-B5AE-7B0082DE2716}" type="pres">
      <dgm:prSet presAssocID="{F3767650-8521-4685-B8ED-BA7EA85C0544}" presName="cycle" presStyleCnt="0">
        <dgm:presLayoutVars>
          <dgm:dir/>
          <dgm:resizeHandles val="exact"/>
        </dgm:presLayoutVars>
      </dgm:prSet>
      <dgm:spPr/>
    </dgm:pt>
    <dgm:pt modelId="{EF33C0A2-1C7C-4945-9AFD-097F54197DBF}" type="pres">
      <dgm:prSet presAssocID="{D1ED3E17-B010-4F51-AC36-3073E1684B10}" presName="node" presStyleLbl="node1" presStyleIdx="0" presStyleCnt="6" custScaleX="98302">
        <dgm:presLayoutVars>
          <dgm:bulletEnabled val="1"/>
        </dgm:presLayoutVars>
      </dgm:prSet>
      <dgm:spPr/>
    </dgm:pt>
    <dgm:pt modelId="{011A9A99-4512-4B5E-B9CD-384CC6BE770A}" type="pres">
      <dgm:prSet presAssocID="{D1ED3E17-B010-4F51-AC36-3073E1684B10}" presName="spNode" presStyleCnt="0"/>
      <dgm:spPr/>
    </dgm:pt>
    <dgm:pt modelId="{41662B47-DF93-4AA6-BD70-169765D0B402}" type="pres">
      <dgm:prSet presAssocID="{A05A7293-76F6-488C-B5FF-F69F5873367D}" presName="sibTrans" presStyleLbl="sibTrans1D1" presStyleIdx="0" presStyleCnt="6"/>
      <dgm:spPr/>
    </dgm:pt>
    <dgm:pt modelId="{F294D965-52FC-4E08-8A52-AAC9B59EFE65}" type="pres">
      <dgm:prSet presAssocID="{6AA8A892-5102-4FDB-98C8-4BFF1C550C41}" presName="node" presStyleLbl="node1" presStyleIdx="1" presStyleCnt="6">
        <dgm:presLayoutVars>
          <dgm:bulletEnabled val="1"/>
        </dgm:presLayoutVars>
      </dgm:prSet>
      <dgm:spPr/>
    </dgm:pt>
    <dgm:pt modelId="{D2F80C96-5D8B-44B2-8A6A-FA071DBA4338}" type="pres">
      <dgm:prSet presAssocID="{6AA8A892-5102-4FDB-98C8-4BFF1C550C41}" presName="spNode" presStyleCnt="0"/>
      <dgm:spPr/>
    </dgm:pt>
    <dgm:pt modelId="{C0D4AF3D-8F59-4932-BDC2-D5DEB4272F94}" type="pres">
      <dgm:prSet presAssocID="{BC4DA275-7FE0-4AA7-8487-90E16FBB080F}" presName="sibTrans" presStyleLbl="sibTrans1D1" presStyleIdx="1" presStyleCnt="6"/>
      <dgm:spPr/>
    </dgm:pt>
    <dgm:pt modelId="{750F9E8E-F58E-41AF-9E67-35FF9D2AB867}" type="pres">
      <dgm:prSet presAssocID="{F12A288C-0AFA-4208-9A5F-5E0E1775F77F}" presName="node" presStyleLbl="node1" presStyleIdx="2" presStyleCnt="6">
        <dgm:presLayoutVars>
          <dgm:bulletEnabled val="1"/>
        </dgm:presLayoutVars>
      </dgm:prSet>
      <dgm:spPr/>
    </dgm:pt>
    <dgm:pt modelId="{0421D241-7A02-4E46-99CD-4A48A1D52CAC}" type="pres">
      <dgm:prSet presAssocID="{F12A288C-0AFA-4208-9A5F-5E0E1775F77F}" presName="spNode" presStyleCnt="0"/>
      <dgm:spPr/>
    </dgm:pt>
    <dgm:pt modelId="{885124FB-3588-45D7-B0D2-C815C1FC33DD}" type="pres">
      <dgm:prSet presAssocID="{F3CE249E-0D67-46EB-9E9F-3908F24512EE}" presName="sibTrans" presStyleLbl="sibTrans1D1" presStyleIdx="2" presStyleCnt="6"/>
      <dgm:spPr/>
    </dgm:pt>
    <dgm:pt modelId="{0B717789-2D1F-4AE0-B19A-12087E3FE25A}" type="pres">
      <dgm:prSet presAssocID="{9D53CD44-B67B-498C-96D5-516E57163B09}" presName="node" presStyleLbl="node1" presStyleIdx="3" presStyleCnt="6">
        <dgm:presLayoutVars>
          <dgm:bulletEnabled val="1"/>
        </dgm:presLayoutVars>
      </dgm:prSet>
      <dgm:spPr/>
    </dgm:pt>
    <dgm:pt modelId="{C912DD84-E045-4F4D-B361-519F164282BD}" type="pres">
      <dgm:prSet presAssocID="{9D53CD44-B67B-498C-96D5-516E57163B09}" presName="spNode" presStyleCnt="0"/>
      <dgm:spPr/>
    </dgm:pt>
    <dgm:pt modelId="{9689A970-BA3A-4925-9327-5921EB4274DA}" type="pres">
      <dgm:prSet presAssocID="{1FB34A22-2FA0-4D6E-A5CE-462490C33048}" presName="sibTrans" presStyleLbl="sibTrans1D1" presStyleIdx="3" presStyleCnt="6"/>
      <dgm:spPr/>
    </dgm:pt>
    <dgm:pt modelId="{166814E2-A4AD-43CD-BAB4-7C9F9F518BDC}" type="pres">
      <dgm:prSet presAssocID="{64E56B49-AF56-4163-B315-ACB9A671D37D}" presName="node" presStyleLbl="node1" presStyleIdx="4" presStyleCnt="6" custScaleX="147133">
        <dgm:presLayoutVars>
          <dgm:bulletEnabled val="1"/>
        </dgm:presLayoutVars>
      </dgm:prSet>
      <dgm:spPr/>
    </dgm:pt>
    <dgm:pt modelId="{752097D2-CB9A-4A5D-923C-CA0A78ED72DB}" type="pres">
      <dgm:prSet presAssocID="{64E56B49-AF56-4163-B315-ACB9A671D37D}" presName="spNode" presStyleCnt="0"/>
      <dgm:spPr/>
    </dgm:pt>
    <dgm:pt modelId="{1C998906-E8BF-4276-8204-1B8CC37A9A0E}" type="pres">
      <dgm:prSet presAssocID="{EF46A7DE-180F-46CD-AC12-E9727C2F194B}" presName="sibTrans" presStyleLbl="sibTrans1D1" presStyleIdx="4" presStyleCnt="6"/>
      <dgm:spPr/>
    </dgm:pt>
    <dgm:pt modelId="{D3D8ADE8-26AF-411E-A2E3-060AAF1965C6}" type="pres">
      <dgm:prSet presAssocID="{21EBA046-7A14-46D9-AC0E-7480DE95C120}" presName="node" presStyleLbl="node1" presStyleIdx="5" presStyleCnt="6" custScaleX="150208">
        <dgm:presLayoutVars>
          <dgm:bulletEnabled val="1"/>
        </dgm:presLayoutVars>
      </dgm:prSet>
      <dgm:spPr/>
    </dgm:pt>
    <dgm:pt modelId="{305E6910-7B86-4B1F-A8F2-C67C6AFB0084}" type="pres">
      <dgm:prSet presAssocID="{21EBA046-7A14-46D9-AC0E-7480DE95C120}" presName="spNode" presStyleCnt="0"/>
      <dgm:spPr/>
    </dgm:pt>
    <dgm:pt modelId="{D1E8776A-5806-46AF-8631-354E83DE13D6}" type="pres">
      <dgm:prSet presAssocID="{052E0115-4E04-4896-8FDE-03176FDC47E7}" presName="sibTrans" presStyleLbl="sibTrans1D1" presStyleIdx="5" presStyleCnt="6"/>
      <dgm:spPr/>
    </dgm:pt>
  </dgm:ptLst>
  <dgm:cxnLst>
    <dgm:cxn modelId="{4541C13D-BC9C-442C-9E4E-E8F2746C79E9}" srcId="{F3767650-8521-4685-B8ED-BA7EA85C0544}" destId="{D1ED3E17-B010-4F51-AC36-3073E1684B10}" srcOrd="0" destOrd="0" parTransId="{977AFFFA-DE01-457E-B3FC-34CA2C4F2DE9}" sibTransId="{A05A7293-76F6-488C-B5FF-F69F5873367D}"/>
    <dgm:cxn modelId="{EE9AF861-6AB0-4E23-A65A-600B82AFA4DF}" srcId="{F3767650-8521-4685-B8ED-BA7EA85C0544}" destId="{6AA8A892-5102-4FDB-98C8-4BFF1C550C41}" srcOrd="1" destOrd="0" parTransId="{4C393E2E-82E2-4A33-A0B1-2B4F0119DE97}" sibTransId="{BC4DA275-7FE0-4AA7-8487-90E16FBB080F}"/>
    <dgm:cxn modelId="{BFB605DD-EE63-4886-BE6E-B16CA652BA75}" srcId="{F3767650-8521-4685-B8ED-BA7EA85C0544}" destId="{F12A288C-0AFA-4208-9A5F-5E0E1775F77F}" srcOrd="2" destOrd="0" parTransId="{906ABED6-EEDC-4787-A01B-DB0EE4AD2464}" sibTransId="{F3CE249E-0D67-46EB-9E9F-3908F24512EE}"/>
    <dgm:cxn modelId="{8E5DBB6B-CAE8-4EED-8B05-325BAD7649C9}" srcId="{F3767650-8521-4685-B8ED-BA7EA85C0544}" destId="{9D53CD44-B67B-498C-96D5-516E57163B09}" srcOrd="3" destOrd="0" parTransId="{6F846444-D568-49C4-9121-954893641390}" sibTransId="{1FB34A22-2FA0-4D6E-A5CE-462490C33048}"/>
    <dgm:cxn modelId="{99CD28E4-5CF0-44A5-9382-B06DAEDCC732}" srcId="{F3767650-8521-4685-B8ED-BA7EA85C0544}" destId="{64E56B49-AF56-4163-B315-ACB9A671D37D}" srcOrd="4" destOrd="0" parTransId="{EA870DBB-1DA8-45E2-A764-B3C2E7E8C24F}" sibTransId="{EF46A7DE-180F-46CD-AC12-E9727C2F194B}"/>
    <dgm:cxn modelId="{4024EDF7-5F2E-4CEB-9849-CFCCFE23EB13}" srcId="{F3767650-8521-4685-B8ED-BA7EA85C0544}" destId="{21EBA046-7A14-46D9-AC0E-7480DE95C120}" srcOrd="5" destOrd="0" parTransId="{20E2B064-9430-4E3F-88E4-8EFAEC99758A}" sibTransId="{052E0115-4E04-4896-8FDE-03176FDC47E7}"/>
    <dgm:cxn modelId="{758F4E9F-4523-4FD9-B9CF-C647B03D86C8}" type="presOf" srcId="{F3767650-8521-4685-B8ED-BA7EA85C0544}" destId="{8674D7FB-A747-45DC-B5AE-7B0082DE2716}" srcOrd="0" destOrd="0" presId="urn:microsoft.com/office/officeart/2005/8/layout/cycle6#1"/>
    <dgm:cxn modelId="{90DF8480-8E8F-4128-AC68-96F2980CD959}" type="presParOf" srcId="{8674D7FB-A747-45DC-B5AE-7B0082DE2716}" destId="{EF33C0A2-1C7C-4945-9AFD-097F54197DBF}" srcOrd="0" destOrd="0" presId="urn:microsoft.com/office/officeart/2005/8/layout/cycle6#1"/>
    <dgm:cxn modelId="{9FB6790E-6503-4FF6-B3A2-D24A984A2CE2}" type="presOf" srcId="{D1ED3E17-B010-4F51-AC36-3073E1684B10}" destId="{EF33C0A2-1C7C-4945-9AFD-097F54197DBF}" srcOrd="0" destOrd="0" presId="urn:microsoft.com/office/officeart/2005/8/layout/cycle6#1"/>
    <dgm:cxn modelId="{CB111B70-BDE1-4142-9B2B-B8AB0A67B83D}" type="presParOf" srcId="{8674D7FB-A747-45DC-B5AE-7B0082DE2716}" destId="{011A9A99-4512-4B5E-B9CD-384CC6BE770A}" srcOrd="1" destOrd="0" presId="urn:microsoft.com/office/officeart/2005/8/layout/cycle6#1"/>
    <dgm:cxn modelId="{2F138925-7A42-4F36-A24B-3E20D438F71D}" type="presParOf" srcId="{8674D7FB-A747-45DC-B5AE-7B0082DE2716}" destId="{41662B47-DF93-4AA6-BD70-169765D0B402}" srcOrd="2" destOrd="0" presId="urn:microsoft.com/office/officeart/2005/8/layout/cycle6#1"/>
    <dgm:cxn modelId="{8F79F2C7-35F9-44A4-BEF0-18A41BA1CA07}" type="presOf" srcId="{A05A7293-76F6-488C-B5FF-F69F5873367D}" destId="{41662B47-DF93-4AA6-BD70-169765D0B402}" srcOrd="0" destOrd="0" presId="urn:microsoft.com/office/officeart/2005/8/layout/cycle6#1"/>
    <dgm:cxn modelId="{AAD8D736-F93B-465A-A758-91F1CAE692F4}" type="presParOf" srcId="{8674D7FB-A747-45DC-B5AE-7B0082DE2716}" destId="{F294D965-52FC-4E08-8A52-AAC9B59EFE65}" srcOrd="3" destOrd="0" presId="urn:microsoft.com/office/officeart/2005/8/layout/cycle6#1"/>
    <dgm:cxn modelId="{B828DDD8-ED36-42E4-A72F-79A9852C3289}" type="presOf" srcId="{6AA8A892-5102-4FDB-98C8-4BFF1C550C41}" destId="{F294D965-52FC-4E08-8A52-AAC9B59EFE65}" srcOrd="0" destOrd="0" presId="urn:microsoft.com/office/officeart/2005/8/layout/cycle6#1"/>
    <dgm:cxn modelId="{CE2F2A30-F5BB-4264-B2CC-A6EC0C16B6E1}" type="presParOf" srcId="{8674D7FB-A747-45DC-B5AE-7B0082DE2716}" destId="{D2F80C96-5D8B-44B2-8A6A-FA071DBA4338}" srcOrd="4" destOrd="0" presId="urn:microsoft.com/office/officeart/2005/8/layout/cycle6#1"/>
    <dgm:cxn modelId="{886ACE01-D1EB-4E08-BE54-6F9BF6CAB626}" type="presParOf" srcId="{8674D7FB-A747-45DC-B5AE-7B0082DE2716}" destId="{C0D4AF3D-8F59-4932-BDC2-D5DEB4272F94}" srcOrd="5" destOrd="0" presId="urn:microsoft.com/office/officeart/2005/8/layout/cycle6#1"/>
    <dgm:cxn modelId="{F7908438-B6BB-4F79-B79A-C6A2B92CEF92}" type="presOf" srcId="{BC4DA275-7FE0-4AA7-8487-90E16FBB080F}" destId="{C0D4AF3D-8F59-4932-BDC2-D5DEB4272F94}" srcOrd="0" destOrd="0" presId="urn:microsoft.com/office/officeart/2005/8/layout/cycle6#1"/>
    <dgm:cxn modelId="{D4D32C24-74A3-4087-A661-1D57227CAFD5}" type="presParOf" srcId="{8674D7FB-A747-45DC-B5AE-7B0082DE2716}" destId="{750F9E8E-F58E-41AF-9E67-35FF9D2AB867}" srcOrd="6" destOrd="0" presId="urn:microsoft.com/office/officeart/2005/8/layout/cycle6#1"/>
    <dgm:cxn modelId="{1EDF7072-DA3F-47B9-A82A-FEDB5052D516}" type="presOf" srcId="{F12A288C-0AFA-4208-9A5F-5E0E1775F77F}" destId="{750F9E8E-F58E-41AF-9E67-35FF9D2AB867}" srcOrd="0" destOrd="0" presId="urn:microsoft.com/office/officeart/2005/8/layout/cycle6#1"/>
    <dgm:cxn modelId="{C9C43E9F-7D55-4B1D-9F96-FD1C0ACDB370}" type="presParOf" srcId="{8674D7FB-A747-45DC-B5AE-7B0082DE2716}" destId="{0421D241-7A02-4E46-99CD-4A48A1D52CAC}" srcOrd="7" destOrd="0" presId="urn:microsoft.com/office/officeart/2005/8/layout/cycle6#1"/>
    <dgm:cxn modelId="{F359950C-CF6C-45BA-88B9-167C6977D588}" type="presParOf" srcId="{8674D7FB-A747-45DC-B5AE-7B0082DE2716}" destId="{885124FB-3588-45D7-B0D2-C815C1FC33DD}" srcOrd="8" destOrd="0" presId="urn:microsoft.com/office/officeart/2005/8/layout/cycle6#1"/>
    <dgm:cxn modelId="{9DF9F6B3-423E-4517-ACF8-B5D91B7E0640}" type="presOf" srcId="{F3CE249E-0D67-46EB-9E9F-3908F24512EE}" destId="{885124FB-3588-45D7-B0D2-C815C1FC33DD}" srcOrd="0" destOrd="0" presId="urn:microsoft.com/office/officeart/2005/8/layout/cycle6#1"/>
    <dgm:cxn modelId="{C649A48D-D549-479F-80D9-3E1253CED32D}" type="presParOf" srcId="{8674D7FB-A747-45DC-B5AE-7B0082DE2716}" destId="{0B717789-2D1F-4AE0-B19A-12087E3FE25A}" srcOrd="9" destOrd="0" presId="urn:microsoft.com/office/officeart/2005/8/layout/cycle6#1"/>
    <dgm:cxn modelId="{260CB4A9-D6DF-4530-ADC0-555BE76CC360}" type="presOf" srcId="{9D53CD44-B67B-498C-96D5-516E57163B09}" destId="{0B717789-2D1F-4AE0-B19A-12087E3FE25A}" srcOrd="0" destOrd="0" presId="urn:microsoft.com/office/officeart/2005/8/layout/cycle6#1"/>
    <dgm:cxn modelId="{A72751AC-AE70-468D-B745-175038DBEDEA}" type="presParOf" srcId="{8674D7FB-A747-45DC-B5AE-7B0082DE2716}" destId="{C912DD84-E045-4F4D-B361-519F164282BD}" srcOrd="10" destOrd="0" presId="urn:microsoft.com/office/officeart/2005/8/layout/cycle6#1"/>
    <dgm:cxn modelId="{E3D67379-4EF2-41E4-A52A-44ABBDB1028C}" type="presParOf" srcId="{8674D7FB-A747-45DC-B5AE-7B0082DE2716}" destId="{9689A970-BA3A-4925-9327-5921EB4274DA}" srcOrd="11" destOrd="0" presId="urn:microsoft.com/office/officeart/2005/8/layout/cycle6#1"/>
    <dgm:cxn modelId="{14990E84-1810-4A95-810E-51FBC4EA9577}" type="presOf" srcId="{1FB34A22-2FA0-4D6E-A5CE-462490C33048}" destId="{9689A970-BA3A-4925-9327-5921EB4274DA}" srcOrd="0" destOrd="0" presId="urn:microsoft.com/office/officeart/2005/8/layout/cycle6#1"/>
    <dgm:cxn modelId="{06D5FE92-E995-45FB-828A-8DDF87567877}" type="presParOf" srcId="{8674D7FB-A747-45DC-B5AE-7B0082DE2716}" destId="{166814E2-A4AD-43CD-BAB4-7C9F9F518BDC}" srcOrd="12" destOrd="0" presId="urn:microsoft.com/office/officeart/2005/8/layout/cycle6#1"/>
    <dgm:cxn modelId="{1ECBC6F4-FE6F-4C55-9374-0FDFC71E9EFF}" type="presOf" srcId="{64E56B49-AF56-4163-B315-ACB9A671D37D}" destId="{166814E2-A4AD-43CD-BAB4-7C9F9F518BDC}" srcOrd="0" destOrd="0" presId="urn:microsoft.com/office/officeart/2005/8/layout/cycle6#1"/>
    <dgm:cxn modelId="{AC0D795C-C9F9-4B6A-90CF-25F842F64F10}" type="presParOf" srcId="{8674D7FB-A747-45DC-B5AE-7B0082DE2716}" destId="{752097D2-CB9A-4A5D-923C-CA0A78ED72DB}" srcOrd="13" destOrd="0" presId="urn:microsoft.com/office/officeart/2005/8/layout/cycle6#1"/>
    <dgm:cxn modelId="{F85F3FC0-BADE-4880-9D07-A5F249BCA9D5}" type="presParOf" srcId="{8674D7FB-A747-45DC-B5AE-7B0082DE2716}" destId="{1C998906-E8BF-4276-8204-1B8CC37A9A0E}" srcOrd="14" destOrd="0" presId="urn:microsoft.com/office/officeart/2005/8/layout/cycle6#1"/>
    <dgm:cxn modelId="{E7007B8C-E6B4-4B35-B6F3-2877557885A9}" type="presOf" srcId="{EF46A7DE-180F-46CD-AC12-E9727C2F194B}" destId="{1C998906-E8BF-4276-8204-1B8CC37A9A0E}" srcOrd="0" destOrd="0" presId="urn:microsoft.com/office/officeart/2005/8/layout/cycle6#1"/>
    <dgm:cxn modelId="{AFED501B-E693-4811-BB77-03640B90338F}" type="presParOf" srcId="{8674D7FB-A747-45DC-B5AE-7B0082DE2716}" destId="{D3D8ADE8-26AF-411E-A2E3-060AAF1965C6}" srcOrd="15" destOrd="0" presId="urn:microsoft.com/office/officeart/2005/8/layout/cycle6#1"/>
    <dgm:cxn modelId="{4948C60D-BDF3-45DB-B41F-70E6725BC0A1}" type="presOf" srcId="{21EBA046-7A14-46D9-AC0E-7480DE95C120}" destId="{D3D8ADE8-26AF-411E-A2E3-060AAF1965C6}" srcOrd="0" destOrd="0" presId="urn:microsoft.com/office/officeart/2005/8/layout/cycle6#1"/>
    <dgm:cxn modelId="{475A8695-7C1A-4B15-BA47-07428C3C198E}" type="presParOf" srcId="{8674D7FB-A747-45DC-B5AE-7B0082DE2716}" destId="{305E6910-7B86-4B1F-A8F2-C67C6AFB0084}" srcOrd="16" destOrd="0" presId="urn:microsoft.com/office/officeart/2005/8/layout/cycle6#1"/>
    <dgm:cxn modelId="{A27BE5B1-8411-4057-920D-270F1333BC63}" type="presParOf" srcId="{8674D7FB-A747-45DC-B5AE-7B0082DE2716}" destId="{D1E8776A-5806-46AF-8631-354E83DE13D6}" srcOrd="17" destOrd="0" presId="urn:microsoft.com/office/officeart/2005/8/layout/cycle6#1"/>
    <dgm:cxn modelId="{F52ED2CB-8170-47D9-A005-D3BA9716C99A}" type="presOf" srcId="{052E0115-4E04-4896-8FDE-03176FDC47E7}" destId="{D1E8776A-5806-46AF-8631-354E83DE13D6}" srcOrd="0" destOrd="0" presId="urn:microsoft.com/office/officeart/2005/8/layout/cycle6#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949FF67-2516-4D1A-90E1-A703EDF101D2}" type="doc">
      <dgm:prSet loTypeId="urn:microsoft.com/office/officeart/2005/8/layout/vList3" loCatId="list" qsTypeId="urn:microsoft.com/office/officeart/2005/8/quickstyle/simple1#2" qsCatId="simple" csTypeId="urn:microsoft.com/office/officeart/2005/8/colors/colorful1#2" csCatId="colorful" phldr="1"/>
      <dgm:spPr/>
    </dgm:pt>
    <dgm:pt modelId="{8FDFFD47-632B-405A-831C-D1A27551EDDB}">
      <dgm:prSet phldrT="[文本]" custT="1"/>
      <dgm:spPr/>
      <dgm:t>
        <a:bodyPr/>
        <a:lstStyle/>
        <a:p>
          <a:pPr>
            <a:buFont typeface="Wingdings" panose="05000000000000000000" pitchFamily="2" charset="2"/>
            <a:buChar char="l"/>
          </a:pPr>
          <a:r>
            <a:rPr lang="zh-CN" altLang="en-US" sz="2200" b="1" kern="1200" dirty="0">
              <a:solidFill>
                <a:schemeClr val="bg1"/>
              </a:solidFill>
              <a:latin typeface="+mn-lt"/>
              <a:ea typeface="+mn-ea"/>
              <a:cs typeface="+mn-cs"/>
            </a:rPr>
            <a:t>数据流图</a:t>
          </a:r>
          <a:r>
            <a:rPr lang="en-US" altLang="zh-CN" sz="2200" b="1" kern="1200" dirty="0">
              <a:solidFill>
                <a:schemeClr val="bg1"/>
              </a:solidFill>
              <a:latin typeface="+mn-lt"/>
              <a:ea typeface="+mn-ea"/>
              <a:cs typeface="+mn-cs"/>
            </a:rPr>
            <a:t>(DFD)</a:t>
          </a:r>
          <a:endParaRPr lang="zh-CN" altLang="en-US" sz="2200" b="1" kern="1200" dirty="0">
            <a:solidFill>
              <a:schemeClr val="bg1"/>
            </a:solidFill>
            <a:latin typeface="+mn-lt"/>
            <a:ea typeface="+mn-ea"/>
            <a:cs typeface="+mn-cs"/>
          </a:endParaRPr>
        </a:p>
      </dgm:t>
    </dgm:pt>
    <dgm:pt modelId="{E81A76BB-9A28-4534-8005-F7BDD87AC1EC}" cxnId="{43990B62-7185-4295-9295-432DD33C7B5A}" type="parTrans">
      <dgm:prSet/>
      <dgm:spPr/>
      <dgm:t>
        <a:bodyPr/>
        <a:lstStyle/>
        <a:p>
          <a:endParaRPr lang="zh-CN" altLang="en-US" sz="1800"/>
        </a:p>
      </dgm:t>
    </dgm:pt>
    <dgm:pt modelId="{D16E2361-A780-4B1E-837B-9B7EA310B865}" cxnId="{43990B62-7185-4295-9295-432DD33C7B5A}" type="sibTrans">
      <dgm:prSet/>
      <dgm:spPr/>
      <dgm:t>
        <a:bodyPr/>
        <a:lstStyle/>
        <a:p>
          <a:endParaRPr lang="zh-CN" altLang="en-US" sz="1800"/>
        </a:p>
      </dgm:t>
    </dgm:pt>
    <dgm:pt modelId="{AE7A2693-F2E5-40F9-AAEA-C60E7FFD41CD}">
      <dgm:prSet phldrT="[文本]" custT="1"/>
      <dgm:spPr/>
      <dgm:t>
        <a:bodyPr/>
        <a:lstStyle/>
        <a:p>
          <a:pPr>
            <a:buFont typeface="Wingdings" panose="05000000000000000000" pitchFamily="2" charset="2"/>
            <a:buChar char="l"/>
          </a:pPr>
          <a:r>
            <a:rPr lang="zh-CN" altLang="en-US" sz="2200" b="1" kern="1200" dirty="0">
              <a:solidFill>
                <a:prstClr val="white"/>
              </a:solidFill>
              <a:latin typeface="Calibri" panose="020F0502020204030204"/>
              <a:ea typeface="宋体" panose="02010600030101010101" pitchFamily="2" charset="-122"/>
              <a:cs typeface="+mn-cs"/>
            </a:rPr>
            <a:t>实体关系图</a:t>
          </a:r>
          <a:r>
            <a:rPr lang="en-US" altLang="zh-CN" sz="2200" b="1" kern="1200" dirty="0">
              <a:solidFill>
                <a:prstClr val="white"/>
              </a:solidFill>
              <a:latin typeface="Calibri" panose="020F0502020204030204"/>
              <a:ea typeface="宋体" panose="02010600030101010101" pitchFamily="2" charset="-122"/>
              <a:cs typeface="+mn-cs"/>
            </a:rPr>
            <a:t>(ERD)</a:t>
          </a:r>
          <a:endParaRPr lang="zh-CN" altLang="en-US" sz="2200" b="1" kern="1200" dirty="0">
            <a:solidFill>
              <a:prstClr val="white"/>
            </a:solidFill>
            <a:latin typeface="Calibri" panose="020F0502020204030204"/>
            <a:ea typeface="宋体" panose="02010600030101010101" pitchFamily="2" charset="-122"/>
            <a:cs typeface="+mn-cs"/>
          </a:endParaRPr>
        </a:p>
      </dgm:t>
    </dgm:pt>
    <dgm:pt modelId="{F45DC476-FCE6-41D5-A11B-FA03CD03D90D}" cxnId="{EF570BF0-B3A7-4CBF-857A-DA8896BAADFB}" type="parTrans">
      <dgm:prSet/>
      <dgm:spPr/>
      <dgm:t>
        <a:bodyPr/>
        <a:lstStyle/>
        <a:p>
          <a:endParaRPr lang="zh-CN" altLang="en-US" sz="1800"/>
        </a:p>
      </dgm:t>
    </dgm:pt>
    <dgm:pt modelId="{C4915CA5-C1AA-4AB9-A9E9-3F37AB60B5C7}" cxnId="{EF570BF0-B3A7-4CBF-857A-DA8896BAADFB}" type="sibTrans">
      <dgm:prSet/>
      <dgm:spPr/>
      <dgm:t>
        <a:bodyPr/>
        <a:lstStyle/>
        <a:p>
          <a:endParaRPr lang="zh-CN" altLang="en-US" sz="1800"/>
        </a:p>
      </dgm:t>
    </dgm:pt>
    <dgm:pt modelId="{50592D78-DB61-4A59-92F4-A3C205A48025}">
      <dgm:prSet phldrT="[文本]" custT="1"/>
      <dgm:spPr/>
      <dgm:t>
        <a:bodyPr/>
        <a:lstStyle/>
        <a:p>
          <a:pPr marL="0" lvl="0" indent="0" algn="ctr" defTabSz="977900">
            <a:lnSpc>
              <a:spcPct val="90000"/>
            </a:lnSpc>
            <a:spcBef>
              <a:spcPct val="0"/>
            </a:spcBef>
            <a:spcAft>
              <a:spcPct val="35000"/>
            </a:spcAft>
            <a:buFont typeface="Wingdings" panose="05000000000000000000" pitchFamily="2" charset="2"/>
            <a:buNone/>
          </a:pPr>
          <a:r>
            <a:rPr lang="zh-CN" altLang="en-US" sz="2200" b="1" kern="1200" dirty="0">
              <a:solidFill>
                <a:prstClr val="white"/>
              </a:solidFill>
              <a:latin typeface="Calibri" panose="020F0502020204030204"/>
              <a:ea typeface="宋体" panose="02010600030101010101" pitchFamily="2" charset="-122"/>
              <a:cs typeface="+mn-cs"/>
            </a:rPr>
            <a:t>状态转化图</a:t>
          </a:r>
        </a:p>
      </dgm:t>
    </dgm:pt>
    <dgm:pt modelId="{FFB4358A-B90B-4B83-B2BC-7E549958098D}" cxnId="{D590F412-8C40-41DA-8734-B40FB5A103C9}" type="parTrans">
      <dgm:prSet/>
      <dgm:spPr/>
      <dgm:t>
        <a:bodyPr/>
        <a:lstStyle/>
        <a:p>
          <a:endParaRPr lang="zh-CN" altLang="en-US" sz="1800"/>
        </a:p>
      </dgm:t>
    </dgm:pt>
    <dgm:pt modelId="{4C23582F-7956-40CA-929F-1A77A0C45B59}" cxnId="{D590F412-8C40-41DA-8734-B40FB5A103C9}" type="sibTrans">
      <dgm:prSet/>
      <dgm:spPr/>
      <dgm:t>
        <a:bodyPr/>
        <a:lstStyle/>
        <a:p>
          <a:endParaRPr lang="zh-CN" altLang="en-US" sz="1800"/>
        </a:p>
      </dgm:t>
    </dgm:pt>
    <dgm:pt modelId="{A7E1BFDE-B5FE-4407-B581-808603B6B483}">
      <dgm:prSet phldrT="[文本]" custT="1"/>
      <dgm:spPr/>
      <dgm:t>
        <a:bodyPr/>
        <a:lstStyle/>
        <a:p>
          <a:pPr marL="0" lvl="0" indent="0" algn="ctr" defTabSz="977900">
            <a:lnSpc>
              <a:spcPct val="90000"/>
            </a:lnSpc>
            <a:spcBef>
              <a:spcPct val="0"/>
            </a:spcBef>
            <a:spcAft>
              <a:spcPct val="35000"/>
            </a:spcAft>
            <a:buFont typeface="Wingdings" panose="05000000000000000000" pitchFamily="2" charset="2"/>
            <a:buNone/>
          </a:pPr>
          <a:r>
            <a:rPr lang="zh-CN" altLang="en-US" sz="2200" b="1" kern="1200" dirty="0">
              <a:solidFill>
                <a:prstClr val="white"/>
              </a:solidFill>
              <a:latin typeface="Calibri" panose="020F0502020204030204"/>
              <a:ea typeface="宋体" panose="02010600030101010101" pitchFamily="2" charset="-122"/>
              <a:cs typeface="+mn-cs"/>
            </a:rPr>
            <a:t>对话图</a:t>
          </a:r>
        </a:p>
      </dgm:t>
    </dgm:pt>
    <dgm:pt modelId="{B745CB5B-9437-4AEB-8131-0D8953F74DAC}" cxnId="{B7914459-497B-4958-A821-A0C4AAD2A271}" type="parTrans">
      <dgm:prSet/>
      <dgm:spPr/>
      <dgm:t>
        <a:bodyPr/>
        <a:lstStyle/>
        <a:p>
          <a:endParaRPr lang="zh-CN" altLang="en-US" sz="1800"/>
        </a:p>
      </dgm:t>
    </dgm:pt>
    <dgm:pt modelId="{14842F5A-1D83-4A78-92DF-127A53D3D44B}" cxnId="{B7914459-497B-4958-A821-A0C4AAD2A271}" type="sibTrans">
      <dgm:prSet/>
      <dgm:spPr/>
      <dgm:t>
        <a:bodyPr/>
        <a:lstStyle/>
        <a:p>
          <a:endParaRPr lang="zh-CN" altLang="en-US" sz="1800"/>
        </a:p>
      </dgm:t>
    </dgm:pt>
    <dgm:pt modelId="{B4DA5639-0F89-49DF-9ADA-2D368989AC78}">
      <dgm:prSet phldrT="[文本]" custT="1"/>
      <dgm:spPr/>
      <dgm:t>
        <a:bodyPr/>
        <a:lstStyle/>
        <a:p>
          <a:pPr marL="0" lvl="0" indent="0" algn="ctr" defTabSz="977900">
            <a:lnSpc>
              <a:spcPct val="90000"/>
            </a:lnSpc>
            <a:spcBef>
              <a:spcPct val="0"/>
            </a:spcBef>
            <a:spcAft>
              <a:spcPct val="35000"/>
            </a:spcAft>
            <a:buFont typeface="Wingdings" panose="05000000000000000000" pitchFamily="2" charset="2"/>
            <a:buNone/>
          </a:pPr>
          <a:r>
            <a:rPr lang="zh-CN" altLang="en-US" sz="2200" b="1" kern="1200" dirty="0">
              <a:solidFill>
                <a:prstClr val="white"/>
              </a:solidFill>
              <a:latin typeface="Calibri" panose="020F0502020204030204"/>
              <a:ea typeface="宋体" panose="02010600030101010101" pitchFamily="2" charset="-122"/>
              <a:cs typeface="+mn-cs"/>
            </a:rPr>
            <a:t>类图</a:t>
          </a:r>
        </a:p>
      </dgm:t>
    </dgm:pt>
    <dgm:pt modelId="{B7043ECE-7FCE-4EA7-95CA-EDF4200D0E14}" cxnId="{B9936BF5-8B5E-4BEA-948A-C7C2232C59BE}" type="parTrans">
      <dgm:prSet/>
      <dgm:spPr/>
      <dgm:t>
        <a:bodyPr/>
        <a:lstStyle/>
        <a:p>
          <a:endParaRPr lang="zh-CN" altLang="en-US" sz="1800"/>
        </a:p>
      </dgm:t>
    </dgm:pt>
    <dgm:pt modelId="{D2214E07-8420-41AF-8C27-A7DAE0817838}" cxnId="{B9936BF5-8B5E-4BEA-948A-C7C2232C59BE}" type="sibTrans">
      <dgm:prSet/>
      <dgm:spPr/>
      <dgm:t>
        <a:bodyPr/>
        <a:lstStyle/>
        <a:p>
          <a:endParaRPr lang="zh-CN" altLang="en-US" sz="1800"/>
        </a:p>
      </dgm:t>
    </dgm:pt>
    <dgm:pt modelId="{98E4E8FE-B9F5-48BA-9792-D33C90C1AE67}" type="pres">
      <dgm:prSet presAssocID="{E949FF67-2516-4D1A-90E1-A703EDF101D2}" presName="linearFlow" presStyleCnt="0">
        <dgm:presLayoutVars>
          <dgm:dir/>
          <dgm:resizeHandles val="exact"/>
        </dgm:presLayoutVars>
      </dgm:prSet>
      <dgm:spPr/>
    </dgm:pt>
    <dgm:pt modelId="{45E9E979-C40F-4E7D-9CC7-BE99D3788A83}" type="pres">
      <dgm:prSet presAssocID="{8FDFFD47-632B-405A-831C-D1A27551EDDB}" presName="composite" presStyleCnt="0"/>
      <dgm:spPr/>
    </dgm:pt>
    <dgm:pt modelId="{12CA971E-E624-486A-B713-9416789D4BF6}" type="pres">
      <dgm:prSet presAssocID="{8FDFFD47-632B-405A-831C-D1A27551EDDB}" presName="imgShp" presStyleLbl="fgImgPlace1" presStyleIdx="0" presStyleCnt="5" custLinFactNeighborX="-52398"/>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dgm:spPr>
    </dgm:pt>
    <dgm:pt modelId="{88BB47EB-D176-4C4B-8FD8-F32353B8E1AC}" type="pres">
      <dgm:prSet presAssocID="{8FDFFD47-632B-405A-831C-D1A27551EDDB}" presName="txShp" presStyleLbl="node1" presStyleIdx="0" presStyleCnt="5">
        <dgm:presLayoutVars>
          <dgm:bulletEnabled val="1"/>
        </dgm:presLayoutVars>
      </dgm:prSet>
      <dgm:spPr/>
    </dgm:pt>
    <dgm:pt modelId="{75D9A22F-BF8D-46E5-BD0F-F9B865DAD1B6}" type="pres">
      <dgm:prSet presAssocID="{D16E2361-A780-4B1E-837B-9B7EA310B865}" presName="spacing" presStyleCnt="0"/>
      <dgm:spPr/>
    </dgm:pt>
    <dgm:pt modelId="{7200B453-A0BE-4436-AB8E-3547D8FD2CCF}" type="pres">
      <dgm:prSet presAssocID="{AE7A2693-F2E5-40F9-AAEA-C60E7FFD41CD}" presName="composite" presStyleCnt="0"/>
      <dgm:spPr/>
    </dgm:pt>
    <dgm:pt modelId="{20F67681-24AB-4E32-9C0E-DA9514BF79F1}" type="pres">
      <dgm:prSet presAssocID="{AE7A2693-F2E5-40F9-AAEA-C60E7FFD41CD}" presName="imgShp" presStyleLbl="fgImgPlace1" presStyleIdx="1" presStyleCnt="5" custLinFactNeighborX="-47775"/>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a:stretch>
        </a:blipFill>
      </dgm:spPr>
    </dgm:pt>
    <dgm:pt modelId="{F0B976B3-2B2D-4BF4-BE32-8410B229B9D0}" type="pres">
      <dgm:prSet presAssocID="{AE7A2693-F2E5-40F9-AAEA-C60E7FFD41CD}" presName="txShp" presStyleLbl="node1" presStyleIdx="1" presStyleCnt="5">
        <dgm:presLayoutVars>
          <dgm:bulletEnabled val="1"/>
        </dgm:presLayoutVars>
      </dgm:prSet>
      <dgm:spPr/>
    </dgm:pt>
    <dgm:pt modelId="{2BDCB0B6-6464-47E4-B3D9-B9980CB5A728}" type="pres">
      <dgm:prSet presAssocID="{C4915CA5-C1AA-4AB9-A9E9-3F37AB60B5C7}" presName="spacing" presStyleCnt="0"/>
      <dgm:spPr/>
    </dgm:pt>
    <dgm:pt modelId="{35134EA1-D804-44AA-8477-61E0FEC80CB2}" type="pres">
      <dgm:prSet presAssocID="{50592D78-DB61-4A59-92F4-A3C205A48025}" presName="composite" presStyleCnt="0"/>
      <dgm:spPr/>
    </dgm:pt>
    <dgm:pt modelId="{478AC6F7-8F8D-4C03-819B-DC4376B61E41}" type="pres">
      <dgm:prSet presAssocID="{50592D78-DB61-4A59-92F4-A3C205A48025}" presName="imgShp" presStyleLbl="fgImgPlace1" presStyleIdx="2" presStyleCnt="5" custLinFactNeighborX="-47399"/>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a:stretch>
        </a:blipFill>
      </dgm:spPr>
    </dgm:pt>
    <dgm:pt modelId="{32397597-A748-4A93-8A49-D1DCF53D71C7}" type="pres">
      <dgm:prSet presAssocID="{50592D78-DB61-4A59-92F4-A3C205A48025}" presName="txShp" presStyleLbl="node1" presStyleIdx="2" presStyleCnt="5">
        <dgm:presLayoutVars>
          <dgm:bulletEnabled val="1"/>
        </dgm:presLayoutVars>
      </dgm:prSet>
      <dgm:spPr/>
    </dgm:pt>
    <dgm:pt modelId="{CDAADD23-B879-457E-BE5B-EE7FC88C10AE}" type="pres">
      <dgm:prSet presAssocID="{4C23582F-7956-40CA-929F-1A77A0C45B59}" presName="spacing" presStyleCnt="0"/>
      <dgm:spPr/>
    </dgm:pt>
    <dgm:pt modelId="{FE35C461-587A-4025-A3E9-BD31A4CA3938}" type="pres">
      <dgm:prSet presAssocID="{A7E1BFDE-B5FE-4407-B581-808603B6B483}" presName="composite" presStyleCnt="0"/>
      <dgm:spPr/>
    </dgm:pt>
    <dgm:pt modelId="{05C959AB-2044-4478-A302-D785E4D55C2D}" type="pres">
      <dgm:prSet presAssocID="{A7E1BFDE-B5FE-4407-B581-808603B6B483}" presName="imgShp" presStyleLbl="fgImgPlace1" presStyleIdx="3" presStyleCnt="5" custLinFactNeighborX="-44689"/>
      <dgm:spPr>
        <a:blipFill>
          <a:blip xmlns:r="http://schemas.openxmlformats.org/officeDocument/2006/relationships" r:embed="rId4" cstate="print">
            <a:extLst>
              <a:ext uri="{28A0092B-C50C-407E-A947-70E740481C1C}">
                <a14:useLocalDpi xmlns:a14="http://schemas.microsoft.com/office/drawing/2010/main" val="0"/>
              </a:ext>
            </a:extLst>
          </a:blip>
          <a:srcRect/>
          <a:stretch>
            <a:fillRect/>
          </a:stretch>
        </a:blipFill>
      </dgm:spPr>
    </dgm:pt>
    <dgm:pt modelId="{148BFA85-AA78-458B-A19D-D5A97027F8BC}" type="pres">
      <dgm:prSet presAssocID="{A7E1BFDE-B5FE-4407-B581-808603B6B483}" presName="txShp" presStyleLbl="node1" presStyleIdx="3" presStyleCnt="5">
        <dgm:presLayoutVars>
          <dgm:bulletEnabled val="1"/>
        </dgm:presLayoutVars>
      </dgm:prSet>
      <dgm:spPr/>
    </dgm:pt>
    <dgm:pt modelId="{EA015143-A5E0-4AF7-8AF3-D0AF73C39096}" type="pres">
      <dgm:prSet presAssocID="{14842F5A-1D83-4A78-92DF-127A53D3D44B}" presName="spacing" presStyleCnt="0"/>
      <dgm:spPr/>
    </dgm:pt>
    <dgm:pt modelId="{8F5167F2-85CA-446B-B78E-8525EE0565F4}" type="pres">
      <dgm:prSet presAssocID="{B4DA5639-0F89-49DF-9ADA-2D368989AC78}" presName="composite" presStyleCnt="0"/>
      <dgm:spPr/>
    </dgm:pt>
    <dgm:pt modelId="{A6C23A37-59DE-4D31-940C-3B4D614C11DF}" type="pres">
      <dgm:prSet presAssocID="{B4DA5639-0F89-49DF-9ADA-2D368989AC78}" presName="imgShp" presStyleLbl="fgImgPlace1" presStyleIdx="4" presStyleCnt="5" custLinFactNeighborX="-41607"/>
      <dgm:spPr>
        <a:blipFill>
          <a:blip xmlns:r="http://schemas.openxmlformats.org/officeDocument/2006/relationships" r:embed="rId5" cstate="print">
            <a:extLst>
              <a:ext uri="{28A0092B-C50C-407E-A947-70E740481C1C}">
                <a14:useLocalDpi xmlns:a14="http://schemas.microsoft.com/office/drawing/2010/main" val="0"/>
              </a:ext>
            </a:extLst>
          </a:blip>
          <a:srcRect/>
          <a:stretch>
            <a:fillRect/>
          </a:stretch>
        </a:blipFill>
      </dgm:spPr>
    </dgm:pt>
    <dgm:pt modelId="{F1D8FD6E-4B70-4A85-8379-D39143F3E139}" type="pres">
      <dgm:prSet presAssocID="{B4DA5639-0F89-49DF-9ADA-2D368989AC78}" presName="txShp" presStyleLbl="node1" presStyleIdx="4" presStyleCnt="5">
        <dgm:presLayoutVars>
          <dgm:bulletEnabled val="1"/>
        </dgm:presLayoutVars>
      </dgm:prSet>
      <dgm:spPr/>
    </dgm:pt>
  </dgm:ptLst>
  <dgm:cxnLst>
    <dgm:cxn modelId="{D590F412-8C40-41DA-8734-B40FB5A103C9}" srcId="{E949FF67-2516-4D1A-90E1-A703EDF101D2}" destId="{50592D78-DB61-4A59-92F4-A3C205A48025}" srcOrd="2" destOrd="0" parTransId="{FFB4358A-B90B-4B83-B2BC-7E549958098D}" sibTransId="{4C23582F-7956-40CA-929F-1A77A0C45B59}"/>
    <dgm:cxn modelId="{FB5E1A1F-3296-48DD-9084-941B7E0DEB0F}" type="presOf" srcId="{B4DA5639-0F89-49DF-9ADA-2D368989AC78}" destId="{F1D8FD6E-4B70-4A85-8379-D39143F3E139}" srcOrd="0" destOrd="0" presId="urn:microsoft.com/office/officeart/2005/8/layout/vList3"/>
    <dgm:cxn modelId="{6741B934-5D33-43AB-892A-2FAFB30047BD}" type="presOf" srcId="{E949FF67-2516-4D1A-90E1-A703EDF101D2}" destId="{98E4E8FE-B9F5-48BA-9792-D33C90C1AE67}" srcOrd="0" destOrd="0" presId="urn:microsoft.com/office/officeart/2005/8/layout/vList3"/>
    <dgm:cxn modelId="{43990B62-7185-4295-9295-432DD33C7B5A}" srcId="{E949FF67-2516-4D1A-90E1-A703EDF101D2}" destId="{8FDFFD47-632B-405A-831C-D1A27551EDDB}" srcOrd="0" destOrd="0" parTransId="{E81A76BB-9A28-4534-8005-F7BDD87AC1EC}" sibTransId="{D16E2361-A780-4B1E-837B-9B7EA310B865}"/>
    <dgm:cxn modelId="{12A10669-6088-4402-8124-A448049C2453}" type="presOf" srcId="{A7E1BFDE-B5FE-4407-B581-808603B6B483}" destId="{148BFA85-AA78-458B-A19D-D5A97027F8BC}" srcOrd="0" destOrd="0" presId="urn:microsoft.com/office/officeart/2005/8/layout/vList3"/>
    <dgm:cxn modelId="{B7914459-497B-4958-A821-A0C4AAD2A271}" srcId="{E949FF67-2516-4D1A-90E1-A703EDF101D2}" destId="{A7E1BFDE-B5FE-4407-B581-808603B6B483}" srcOrd="3" destOrd="0" parTransId="{B745CB5B-9437-4AEB-8131-0D8953F74DAC}" sibTransId="{14842F5A-1D83-4A78-92DF-127A53D3D44B}"/>
    <dgm:cxn modelId="{7DBBBE80-3A6A-4C8C-B210-EEC05ED00B48}" type="presOf" srcId="{50592D78-DB61-4A59-92F4-A3C205A48025}" destId="{32397597-A748-4A93-8A49-D1DCF53D71C7}" srcOrd="0" destOrd="0" presId="urn:microsoft.com/office/officeart/2005/8/layout/vList3"/>
    <dgm:cxn modelId="{35DE738F-FF68-45B4-8402-02110E2255BA}" type="presOf" srcId="{8FDFFD47-632B-405A-831C-D1A27551EDDB}" destId="{88BB47EB-D176-4C4B-8FD8-F32353B8E1AC}" srcOrd="0" destOrd="0" presId="urn:microsoft.com/office/officeart/2005/8/layout/vList3"/>
    <dgm:cxn modelId="{A1EE62C0-E6B4-4C21-A482-69097CFC292F}" type="presOf" srcId="{AE7A2693-F2E5-40F9-AAEA-C60E7FFD41CD}" destId="{F0B976B3-2B2D-4BF4-BE32-8410B229B9D0}" srcOrd="0" destOrd="0" presId="urn:microsoft.com/office/officeart/2005/8/layout/vList3"/>
    <dgm:cxn modelId="{EF570BF0-B3A7-4CBF-857A-DA8896BAADFB}" srcId="{E949FF67-2516-4D1A-90E1-A703EDF101D2}" destId="{AE7A2693-F2E5-40F9-AAEA-C60E7FFD41CD}" srcOrd="1" destOrd="0" parTransId="{F45DC476-FCE6-41D5-A11B-FA03CD03D90D}" sibTransId="{C4915CA5-C1AA-4AB9-A9E9-3F37AB60B5C7}"/>
    <dgm:cxn modelId="{B9936BF5-8B5E-4BEA-948A-C7C2232C59BE}" srcId="{E949FF67-2516-4D1A-90E1-A703EDF101D2}" destId="{B4DA5639-0F89-49DF-9ADA-2D368989AC78}" srcOrd="4" destOrd="0" parTransId="{B7043ECE-7FCE-4EA7-95CA-EDF4200D0E14}" sibTransId="{D2214E07-8420-41AF-8C27-A7DAE0817838}"/>
    <dgm:cxn modelId="{81C88DA2-58AF-4BD8-871B-30BA76D9C40F}" type="presParOf" srcId="{98E4E8FE-B9F5-48BA-9792-D33C90C1AE67}" destId="{45E9E979-C40F-4E7D-9CC7-BE99D3788A83}" srcOrd="0" destOrd="0" presId="urn:microsoft.com/office/officeart/2005/8/layout/vList3"/>
    <dgm:cxn modelId="{8A650AC3-E773-44B3-AA62-030C471A421E}" type="presParOf" srcId="{45E9E979-C40F-4E7D-9CC7-BE99D3788A83}" destId="{12CA971E-E624-486A-B713-9416789D4BF6}" srcOrd="0" destOrd="0" presId="urn:microsoft.com/office/officeart/2005/8/layout/vList3"/>
    <dgm:cxn modelId="{DCD8E4B6-B6A5-4886-916E-66BBB692FF0C}" type="presParOf" srcId="{45E9E979-C40F-4E7D-9CC7-BE99D3788A83}" destId="{88BB47EB-D176-4C4B-8FD8-F32353B8E1AC}" srcOrd="1" destOrd="0" presId="urn:microsoft.com/office/officeart/2005/8/layout/vList3"/>
    <dgm:cxn modelId="{BBA8D464-82B1-401B-B11E-616A93CC1159}" type="presParOf" srcId="{98E4E8FE-B9F5-48BA-9792-D33C90C1AE67}" destId="{75D9A22F-BF8D-46E5-BD0F-F9B865DAD1B6}" srcOrd="1" destOrd="0" presId="urn:microsoft.com/office/officeart/2005/8/layout/vList3"/>
    <dgm:cxn modelId="{49354D6C-6021-48A6-9CA3-1E1E146767C0}" type="presParOf" srcId="{98E4E8FE-B9F5-48BA-9792-D33C90C1AE67}" destId="{7200B453-A0BE-4436-AB8E-3547D8FD2CCF}" srcOrd="2" destOrd="0" presId="urn:microsoft.com/office/officeart/2005/8/layout/vList3"/>
    <dgm:cxn modelId="{9F092460-1EAA-476D-95A1-F870236D0621}" type="presParOf" srcId="{7200B453-A0BE-4436-AB8E-3547D8FD2CCF}" destId="{20F67681-24AB-4E32-9C0E-DA9514BF79F1}" srcOrd="0" destOrd="0" presId="urn:microsoft.com/office/officeart/2005/8/layout/vList3"/>
    <dgm:cxn modelId="{37FC72E3-5AE1-4D8B-90BB-004600B34C40}" type="presParOf" srcId="{7200B453-A0BE-4436-AB8E-3547D8FD2CCF}" destId="{F0B976B3-2B2D-4BF4-BE32-8410B229B9D0}" srcOrd="1" destOrd="0" presId="urn:microsoft.com/office/officeart/2005/8/layout/vList3"/>
    <dgm:cxn modelId="{098B831D-C310-4436-AECA-E8666AC6FF88}" type="presParOf" srcId="{98E4E8FE-B9F5-48BA-9792-D33C90C1AE67}" destId="{2BDCB0B6-6464-47E4-B3D9-B9980CB5A728}" srcOrd="3" destOrd="0" presId="urn:microsoft.com/office/officeart/2005/8/layout/vList3"/>
    <dgm:cxn modelId="{A809B4F4-B5FC-4584-A11E-FFCC4B4BEEC6}" type="presParOf" srcId="{98E4E8FE-B9F5-48BA-9792-D33C90C1AE67}" destId="{35134EA1-D804-44AA-8477-61E0FEC80CB2}" srcOrd="4" destOrd="0" presId="urn:microsoft.com/office/officeart/2005/8/layout/vList3"/>
    <dgm:cxn modelId="{A737D814-20B8-4251-9C7A-ADBB7EDAE723}" type="presParOf" srcId="{35134EA1-D804-44AA-8477-61E0FEC80CB2}" destId="{478AC6F7-8F8D-4C03-819B-DC4376B61E41}" srcOrd="0" destOrd="0" presId="urn:microsoft.com/office/officeart/2005/8/layout/vList3"/>
    <dgm:cxn modelId="{C8B7B774-F452-4945-86F4-DFD72A6B9A87}" type="presParOf" srcId="{35134EA1-D804-44AA-8477-61E0FEC80CB2}" destId="{32397597-A748-4A93-8A49-D1DCF53D71C7}" srcOrd="1" destOrd="0" presId="urn:microsoft.com/office/officeart/2005/8/layout/vList3"/>
    <dgm:cxn modelId="{A9CD0420-252B-4F22-A968-F033A59C4C11}" type="presParOf" srcId="{98E4E8FE-B9F5-48BA-9792-D33C90C1AE67}" destId="{CDAADD23-B879-457E-BE5B-EE7FC88C10AE}" srcOrd="5" destOrd="0" presId="urn:microsoft.com/office/officeart/2005/8/layout/vList3"/>
    <dgm:cxn modelId="{EFCDF925-EC4E-4611-9C11-671E81596BF6}" type="presParOf" srcId="{98E4E8FE-B9F5-48BA-9792-D33C90C1AE67}" destId="{FE35C461-587A-4025-A3E9-BD31A4CA3938}" srcOrd="6" destOrd="0" presId="urn:microsoft.com/office/officeart/2005/8/layout/vList3"/>
    <dgm:cxn modelId="{11CC76E0-F202-4E74-B4EC-861A89F987AC}" type="presParOf" srcId="{FE35C461-587A-4025-A3E9-BD31A4CA3938}" destId="{05C959AB-2044-4478-A302-D785E4D55C2D}" srcOrd="0" destOrd="0" presId="urn:microsoft.com/office/officeart/2005/8/layout/vList3"/>
    <dgm:cxn modelId="{B22ABFB1-1649-43DA-B52B-BBE1C33320F0}" type="presParOf" srcId="{FE35C461-587A-4025-A3E9-BD31A4CA3938}" destId="{148BFA85-AA78-458B-A19D-D5A97027F8BC}" srcOrd="1" destOrd="0" presId="urn:microsoft.com/office/officeart/2005/8/layout/vList3"/>
    <dgm:cxn modelId="{6D9EEC46-7DDF-43D4-86F0-720E4DC3F331}" type="presParOf" srcId="{98E4E8FE-B9F5-48BA-9792-D33C90C1AE67}" destId="{EA015143-A5E0-4AF7-8AF3-D0AF73C39096}" srcOrd="7" destOrd="0" presId="urn:microsoft.com/office/officeart/2005/8/layout/vList3"/>
    <dgm:cxn modelId="{909C3892-3C99-4D99-A81F-F83D365D8667}" type="presParOf" srcId="{98E4E8FE-B9F5-48BA-9792-D33C90C1AE67}" destId="{8F5167F2-85CA-446B-B78E-8525EE0565F4}" srcOrd="8" destOrd="0" presId="urn:microsoft.com/office/officeart/2005/8/layout/vList3"/>
    <dgm:cxn modelId="{64FCE9FB-C7FF-4CC6-8BF8-6C8D9030743D}" type="presParOf" srcId="{8F5167F2-85CA-446B-B78E-8525EE0565F4}" destId="{A6C23A37-59DE-4D31-940C-3B4D614C11DF}" srcOrd="0" destOrd="0" presId="urn:microsoft.com/office/officeart/2005/8/layout/vList3"/>
    <dgm:cxn modelId="{D628D4D7-8F5D-4914-8BDE-943750801884}" type="presParOf" srcId="{8F5167F2-85CA-446B-B78E-8525EE0565F4}" destId="{F1D8FD6E-4B70-4A85-8379-D39143F3E139}" srcOrd="1" destOrd="0" presId="urn:microsoft.com/office/officeart/2005/8/layout/vList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658016" cy="4301557"/>
        <a:chOff x="0" y="0"/>
        <a:chExt cx="7658016" cy="4301557"/>
      </a:xfrm>
    </dsp:grpSpPr>
    <dsp:sp modelId="{EF33C0A2-1C7C-4945-9AFD-097F54197DBF}">
      <dsp:nvSpPr>
        <dsp:cNvPr id="3" name="圆角矩形 2"/>
        <dsp:cNvSpPr/>
      </dsp:nvSpPr>
      <dsp:spPr bwMode="white">
        <a:xfrm>
          <a:off x="3249214" y="0"/>
          <a:ext cx="1159588" cy="753732"/>
        </a:xfrm>
        <a:prstGeom prst="roundRect">
          <a:avLst/>
        </a:prstGeom>
      </dsp:spPr>
      <dsp:style>
        <a:lnRef idx="2">
          <a:schemeClr val="accent2">
            <a:shade val="80000"/>
          </a:schemeClr>
        </a:lnRef>
        <a:fillRef idx="1">
          <a:schemeClr val="lt1"/>
        </a:fillRef>
        <a:effectRef idx="0">
          <a:scrgbClr r="0" g="0" b="0"/>
        </a:effectRef>
        <a:fontRef idx="minor">
          <a:schemeClr val="lt1"/>
        </a:fontRef>
      </dsp:style>
      <dsp:txBody>
        <a:bodyPr vert="horz" wrap="square"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b="1" dirty="0">
              <a:solidFill>
                <a:schemeClr val="dk1"/>
              </a:solidFill>
            </a:rPr>
            <a:t>项目经理</a:t>
          </a:r>
          <a:endParaRPr sz="6500" b="1">
            <a:solidFill>
              <a:schemeClr val="dk1"/>
            </a:solidFill>
          </a:endParaRPr>
        </a:p>
      </dsp:txBody>
      <dsp:txXfrm>
        <a:off x="3249214" y="0"/>
        <a:ext cx="1159588" cy="753732"/>
      </dsp:txXfrm>
    </dsp:sp>
    <dsp:sp modelId="{41662B47-DF93-4AA6-BD70-169765D0B402}">
      <dsp:nvSpPr>
        <dsp:cNvPr id="4" name="弧形 3"/>
        <dsp:cNvSpPr/>
      </dsp:nvSpPr>
      <dsp:spPr bwMode="white">
        <a:xfrm>
          <a:off x="2055096" y="376866"/>
          <a:ext cx="3547825" cy="3547825"/>
        </a:xfrm>
        <a:prstGeom prst="arc">
          <a:avLst>
            <a:gd name="adj1" fmla="val 17359935"/>
            <a:gd name="adj2" fmla="val 18858634"/>
          </a:avLst>
        </a:prstGeom>
      </dsp:spPr>
      <dsp:style>
        <a:lnRef idx="1">
          <a:schemeClr val="accent2"/>
        </a:lnRef>
        <a:fillRef idx="0">
          <a:schemeClr val="accent2"/>
        </a:fillRef>
        <a:effectRef idx="0">
          <a:scrgbClr r="0" g="0" b="0"/>
        </a:effectRef>
        <a:fontRef idx="minor"/>
      </dsp:style>
      <dsp:txXfrm>
        <a:off x="2055096" y="376866"/>
        <a:ext cx="3547825" cy="3547825"/>
      </dsp:txXfrm>
    </dsp:sp>
    <dsp:sp modelId="{F294D965-52FC-4E08-8A52-AAC9B59EFE65}">
      <dsp:nvSpPr>
        <dsp:cNvPr id="5" name="圆角矩形 4"/>
        <dsp:cNvSpPr/>
      </dsp:nvSpPr>
      <dsp:spPr bwMode="white">
        <a:xfrm>
          <a:off x="4785467" y="886956"/>
          <a:ext cx="1159588" cy="753732"/>
        </a:xfrm>
        <a:prstGeom prst="roundRect">
          <a:avLst/>
        </a:prstGeom>
      </dsp:spPr>
      <dsp:style>
        <a:lnRef idx="2">
          <a:schemeClr val="accent2">
            <a:shade val="80000"/>
          </a:schemeClr>
        </a:lnRef>
        <a:fillRef idx="1">
          <a:schemeClr val="lt1"/>
        </a:fillRef>
        <a:effectRef idx="0">
          <a:scrgbClr r="0" g="0" b="0"/>
        </a:effectRef>
        <a:fontRef idx="minor">
          <a:schemeClr val="lt1"/>
        </a:fontRef>
      </dsp:style>
      <dsp:txBody>
        <a:bodyPr vert="horz" wrap="square"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b="1" dirty="0">
              <a:solidFill>
                <a:schemeClr val="dk1"/>
              </a:solidFill>
            </a:rPr>
            <a:t>需求分析者</a:t>
          </a:r>
          <a:endParaRPr sz="6500" b="1">
            <a:solidFill>
              <a:schemeClr val="dk1"/>
            </a:solidFill>
          </a:endParaRPr>
        </a:p>
      </dsp:txBody>
      <dsp:txXfrm>
        <a:off x="4785467" y="886956"/>
        <a:ext cx="1159588" cy="753732"/>
      </dsp:txXfrm>
    </dsp:sp>
    <dsp:sp modelId="{C0D4AF3D-8F59-4932-BDC2-D5DEB4272F94}">
      <dsp:nvSpPr>
        <dsp:cNvPr id="6" name="弧形 5"/>
        <dsp:cNvSpPr/>
      </dsp:nvSpPr>
      <dsp:spPr bwMode="white">
        <a:xfrm>
          <a:off x="2055096" y="376866"/>
          <a:ext cx="3547825" cy="3547825"/>
        </a:xfrm>
        <a:prstGeom prst="arc">
          <a:avLst>
            <a:gd name="adj1" fmla="val 20617370"/>
            <a:gd name="adj2" fmla="val 982629"/>
          </a:avLst>
        </a:prstGeom>
      </dsp:spPr>
      <dsp:style>
        <a:lnRef idx="1">
          <a:schemeClr val="accent2"/>
        </a:lnRef>
        <a:fillRef idx="0">
          <a:schemeClr val="accent2"/>
        </a:fillRef>
        <a:effectRef idx="0">
          <a:scrgbClr r="0" g="0" b="0"/>
        </a:effectRef>
        <a:fontRef idx="minor"/>
      </dsp:style>
      <dsp:txXfrm>
        <a:off x="2055096" y="376866"/>
        <a:ext cx="3547825" cy="3547825"/>
      </dsp:txXfrm>
    </dsp:sp>
    <dsp:sp modelId="{750F9E8E-F58E-41AF-9E67-35FF9D2AB867}">
      <dsp:nvSpPr>
        <dsp:cNvPr id="7" name="圆角矩形 6"/>
        <dsp:cNvSpPr/>
      </dsp:nvSpPr>
      <dsp:spPr bwMode="white">
        <a:xfrm>
          <a:off x="4785467" y="2660868"/>
          <a:ext cx="1159588" cy="753732"/>
        </a:xfrm>
        <a:prstGeom prst="roundRect">
          <a:avLst/>
        </a:prstGeom>
      </dsp:spPr>
      <dsp:style>
        <a:lnRef idx="2">
          <a:schemeClr val="accent2">
            <a:shade val="80000"/>
          </a:schemeClr>
        </a:lnRef>
        <a:fillRef idx="1">
          <a:schemeClr val="lt1"/>
        </a:fillRef>
        <a:effectRef idx="0">
          <a:scrgbClr r="0" g="0" b="0"/>
        </a:effectRef>
        <a:fontRef idx="minor">
          <a:schemeClr val="lt1"/>
        </a:fontRef>
      </dsp:style>
      <dsp:txBody>
        <a:bodyPr vert="horz" wrap="square"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b="1" dirty="0">
              <a:solidFill>
                <a:schemeClr val="dk1"/>
              </a:solidFill>
            </a:rPr>
            <a:t>高级程序员</a:t>
          </a:r>
          <a:endParaRPr sz="6500" b="1">
            <a:solidFill>
              <a:schemeClr val="dk1"/>
            </a:solidFill>
          </a:endParaRPr>
        </a:p>
      </dsp:txBody>
      <dsp:txXfrm>
        <a:off x="4785467" y="2660868"/>
        <a:ext cx="1159588" cy="753732"/>
      </dsp:txXfrm>
    </dsp:sp>
    <dsp:sp modelId="{885124FB-3588-45D7-B0D2-C815C1FC33DD}">
      <dsp:nvSpPr>
        <dsp:cNvPr id="8" name="弧形 7"/>
        <dsp:cNvSpPr/>
      </dsp:nvSpPr>
      <dsp:spPr bwMode="white">
        <a:xfrm>
          <a:off x="2055096" y="376866"/>
          <a:ext cx="3547825" cy="3547825"/>
        </a:xfrm>
        <a:prstGeom prst="arc">
          <a:avLst>
            <a:gd name="adj1" fmla="val 2741365"/>
            <a:gd name="adj2" fmla="val 4240064"/>
          </a:avLst>
        </a:prstGeom>
      </dsp:spPr>
      <dsp:style>
        <a:lnRef idx="1">
          <a:schemeClr val="accent2"/>
        </a:lnRef>
        <a:fillRef idx="0">
          <a:schemeClr val="accent2"/>
        </a:fillRef>
        <a:effectRef idx="0">
          <a:scrgbClr r="0" g="0" b="0"/>
        </a:effectRef>
        <a:fontRef idx="minor"/>
      </dsp:style>
      <dsp:txXfrm>
        <a:off x="2055096" y="376866"/>
        <a:ext cx="3547825" cy="3547825"/>
      </dsp:txXfrm>
    </dsp:sp>
    <dsp:sp modelId="{0B717789-2D1F-4AE0-B19A-12087E3FE25A}">
      <dsp:nvSpPr>
        <dsp:cNvPr id="9" name="圆角矩形 8"/>
        <dsp:cNvSpPr/>
      </dsp:nvSpPr>
      <dsp:spPr bwMode="white">
        <a:xfrm>
          <a:off x="3249214" y="3547825"/>
          <a:ext cx="1159588" cy="753732"/>
        </a:xfrm>
        <a:prstGeom prst="roundRect">
          <a:avLst/>
        </a:prstGeom>
      </dsp:spPr>
      <dsp:style>
        <a:lnRef idx="2">
          <a:schemeClr val="accent2">
            <a:shade val="80000"/>
          </a:schemeClr>
        </a:lnRef>
        <a:fillRef idx="1">
          <a:schemeClr val="lt1"/>
        </a:fillRef>
        <a:effectRef idx="0">
          <a:scrgbClr r="0" g="0" b="0"/>
        </a:effectRef>
        <a:fontRef idx="minor">
          <a:schemeClr val="lt1"/>
        </a:fontRef>
      </dsp:style>
      <dsp:txBody>
        <a:bodyPr vert="horz" wrap="square"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b="1" dirty="0">
              <a:solidFill>
                <a:schemeClr val="dk1"/>
              </a:solidFill>
            </a:rPr>
            <a:t>测试专家</a:t>
          </a:r>
          <a:endParaRPr sz="6500" b="1">
            <a:solidFill>
              <a:schemeClr val="dk1"/>
            </a:solidFill>
          </a:endParaRPr>
        </a:p>
      </dsp:txBody>
      <dsp:txXfrm>
        <a:off x="3249214" y="3547825"/>
        <a:ext cx="1159588" cy="753732"/>
      </dsp:txXfrm>
    </dsp:sp>
    <dsp:sp modelId="{9689A970-BA3A-4925-9327-5921EB4274DA}">
      <dsp:nvSpPr>
        <dsp:cNvPr id="10" name="弧形 9"/>
        <dsp:cNvSpPr/>
      </dsp:nvSpPr>
      <dsp:spPr bwMode="white">
        <a:xfrm>
          <a:off x="2055096" y="376866"/>
          <a:ext cx="3547825" cy="3547825"/>
        </a:xfrm>
        <a:prstGeom prst="arc">
          <a:avLst>
            <a:gd name="adj1" fmla="val 6559935"/>
            <a:gd name="adj2" fmla="val 8058634"/>
          </a:avLst>
        </a:prstGeom>
      </dsp:spPr>
      <dsp:style>
        <a:lnRef idx="1">
          <a:schemeClr val="accent2"/>
        </a:lnRef>
        <a:fillRef idx="0">
          <a:schemeClr val="accent2"/>
        </a:fillRef>
        <a:effectRef idx="0">
          <a:scrgbClr r="0" g="0" b="0"/>
        </a:effectRef>
        <a:fontRef idx="minor"/>
      </dsp:style>
      <dsp:txXfrm>
        <a:off x="2055096" y="376866"/>
        <a:ext cx="3547825" cy="3547825"/>
      </dsp:txXfrm>
    </dsp:sp>
    <dsp:sp modelId="{166814E2-A4AD-43CD-BAB4-7C9F9F518BDC}">
      <dsp:nvSpPr>
        <dsp:cNvPr id="11" name="圆角矩形 10"/>
        <dsp:cNvSpPr/>
      </dsp:nvSpPr>
      <dsp:spPr bwMode="white">
        <a:xfrm>
          <a:off x="1712961" y="2660868"/>
          <a:ext cx="1159588" cy="753732"/>
        </a:xfrm>
        <a:prstGeom prst="roundRect">
          <a:avLst/>
        </a:prstGeom>
      </dsp:spPr>
      <dsp:style>
        <a:lnRef idx="2">
          <a:schemeClr val="accent2">
            <a:shade val="80000"/>
          </a:schemeClr>
        </a:lnRef>
        <a:fillRef idx="1">
          <a:schemeClr val="lt1"/>
        </a:fillRef>
        <a:effectRef idx="0">
          <a:scrgbClr r="0" g="0" b="0"/>
        </a:effectRef>
        <a:fontRef idx="minor">
          <a:schemeClr val="lt1"/>
        </a:fontRef>
      </dsp:style>
      <dsp:txBody>
        <a:bodyPr vert="horz" wrap="square"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b="1" dirty="0">
              <a:solidFill>
                <a:schemeClr val="dk1"/>
              </a:solidFill>
            </a:rPr>
            <a:t>化学制品的产品代表者</a:t>
          </a:r>
          <a:endParaRPr sz="6500" b="1">
            <a:solidFill>
              <a:schemeClr val="dk1"/>
            </a:solidFill>
          </a:endParaRPr>
        </a:p>
      </dsp:txBody>
      <dsp:txXfrm>
        <a:off x="1712961" y="2660868"/>
        <a:ext cx="1159588" cy="753732"/>
      </dsp:txXfrm>
    </dsp:sp>
    <dsp:sp modelId="{1C998906-E8BF-4276-8204-1B8CC37A9A0E}">
      <dsp:nvSpPr>
        <dsp:cNvPr id="12" name="弧形 11"/>
        <dsp:cNvSpPr/>
      </dsp:nvSpPr>
      <dsp:spPr bwMode="white">
        <a:xfrm>
          <a:off x="2055096" y="376866"/>
          <a:ext cx="3547825" cy="3547825"/>
        </a:xfrm>
        <a:prstGeom prst="arc">
          <a:avLst>
            <a:gd name="adj1" fmla="val 9817370"/>
            <a:gd name="adj2" fmla="val 11782629"/>
          </a:avLst>
        </a:prstGeom>
      </dsp:spPr>
      <dsp:style>
        <a:lnRef idx="1">
          <a:schemeClr val="accent2"/>
        </a:lnRef>
        <a:fillRef idx="0">
          <a:schemeClr val="accent2"/>
        </a:fillRef>
        <a:effectRef idx="0">
          <a:scrgbClr r="0" g="0" b="0"/>
        </a:effectRef>
        <a:fontRef idx="minor"/>
      </dsp:style>
      <dsp:txXfrm>
        <a:off x="2055096" y="376866"/>
        <a:ext cx="3547825" cy="3547825"/>
      </dsp:txXfrm>
    </dsp:sp>
    <dsp:sp modelId="{D3D8ADE8-26AF-411E-A2E3-060AAF1965C6}">
      <dsp:nvSpPr>
        <dsp:cNvPr id="13" name="圆角矩形 12"/>
        <dsp:cNvSpPr/>
      </dsp:nvSpPr>
      <dsp:spPr bwMode="white">
        <a:xfrm>
          <a:off x="1712961" y="886956"/>
          <a:ext cx="1159588" cy="753732"/>
        </a:xfrm>
        <a:prstGeom prst="roundRect">
          <a:avLst/>
        </a:prstGeom>
      </dsp:spPr>
      <dsp:style>
        <a:lnRef idx="2">
          <a:schemeClr val="accent2">
            <a:shade val="80000"/>
          </a:schemeClr>
        </a:lnRef>
        <a:fillRef idx="1">
          <a:schemeClr val="lt1"/>
        </a:fillRef>
        <a:effectRef idx="0">
          <a:scrgbClr r="0" g="0" b="0"/>
        </a:effectRef>
        <a:fontRef idx="minor">
          <a:schemeClr val="lt1"/>
        </a:fontRef>
      </dsp:style>
      <dsp:txBody>
        <a:bodyPr vert="horz" wrap="square"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b="1" dirty="0">
              <a:solidFill>
                <a:schemeClr val="dk1"/>
              </a:solidFill>
            </a:rPr>
            <a:t>化学</a:t>
          </a:r>
          <a:r>
            <a:rPr lang="zh-CN" altLang="en-US" sz="1800" b="1" dirty="0">
              <a:solidFill>
                <a:schemeClr val="dk1"/>
              </a:solidFill>
            </a:rPr>
            <a:t>制品</a:t>
          </a:r>
          <a:r>
            <a:rPr lang="zh-CN" altLang="en-US" sz="1800" b="1" dirty="0">
              <a:solidFill>
                <a:schemeClr val="dk1"/>
              </a:solidFill>
            </a:rPr>
            <a:t>仓库的产品代表者</a:t>
          </a:r>
          <a:endParaRPr sz="6500" b="1">
            <a:solidFill>
              <a:schemeClr val="dk1"/>
            </a:solidFill>
          </a:endParaRPr>
        </a:p>
      </dsp:txBody>
      <dsp:txXfrm>
        <a:off x="1712961" y="886956"/>
        <a:ext cx="1159588" cy="753732"/>
      </dsp:txXfrm>
    </dsp:sp>
    <dsp:sp modelId="{D1E8776A-5806-46AF-8631-354E83DE13D6}">
      <dsp:nvSpPr>
        <dsp:cNvPr id="14" name="弧形 13"/>
        <dsp:cNvSpPr/>
      </dsp:nvSpPr>
      <dsp:spPr bwMode="white">
        <a:xfrm>
          <a:off x="2055096" y="376866"/>
          <a:ext cx="3547825" cy="3547825"/>
        </a:xfrm>
        <a:prstGeom prst="arc">
          <a:avLst>
            <a:gd name="adj1" fmla="val 13541365"/>
            <a:gd name="adj2" fmla="val 15040064"/>
          </a:avLst>
        </a:prstGeom>
      </dsp:spPr>
      <dsp:style>
        <a:lnRef idx="1">
          <a:schemeClr val="accent2"/>
        </a:lnRef>
        <a:fillRef idx="0">
          <a:schemeClr val="accent2"/>
        </a:fillRef>
        <a:effectRef idx="0">
          <a:scrgbClr r="0" g="0" b="0"/>
        </a:effectRef>
        <a:fontRef idx="minor"/>
      </dsp:style>
      <dsp:txXfrm>
        <a:off x="2055096" y="376866"/>
        <a:ext cx="3547825" cy="3547825"/>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783781" cy="2471714"/>
        <a:chOff x="0" y="0"/>
        <a:chExt cx="8783781" cy="2471714"/>
      </a:xfrm>
    </dsp:grpSpPr>
    <dsp:sp modelId="{88BB47EB-D176-4C4B-8FD8-F32353B8E1AC}">
      <dsp:nvSpPr>
        <dsp:cNvPr id="4" name="五边形 3"/>
        <dsp:cNvSpPr/>
      </dsp:nvSpPr>
      <dsp:spPr bwMode="white">
        <a:xfrm rot="10800000">
          <a:off x="1574271" y="0"/>
          <a:ext cx="5841214" cy="411952"/>
        </a:xfrm>
        <a:prstGeom prst="homePlate">
          <a:avLst/>
        </a:prstGeom>
      </dsp:spPr>
      <dsp:style>
        <a:lnRef idx="2">
          <a:schemeClr val="lt1"/>
        </a:lnRef>
        <a:fillRef idx="1">
          <a:schemeClr val="accent2"/>
        </a:fillRef>
        <a:effectRef idx="0">
          <a:scrgbClr r="0" g="0" b="0"/>
        </a:effectRef>
        <a:fontRef idx="minor">
          <a:schemeClr val="lt1"/>
        </a:fontRef>
      </dsp:style>
      <dsp:txBody>
        <a:bodyPr rot="10800000" lIns="181659" tIns="83820" rIns="156464" bIns="838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Font typeface="Wingdings" panose="05000000000000000000" pitchFamily="2" charset="2"/>
            <a:buChar char="l"/>
          </a:pPr>
          <a:r>
            <a:rPr lang="zh-CN" altLang="en-US" sz="2200" b="1" kern="1200" dirty="0">
              <a:solidFill>
                <a:schemeClr val="bg1"/>
              </a:solidFill>
              <a:latin typeface="+mn-lt"/>
              <a:ea typeface="+mn-ea"/>
              <a:cs typeface="+mn-cs"/>
            </a:rPr>
            <a:t>数据流图</a:t>
          </a:r>
          <a:r>
            <a:rPr lang="en-US" altLang="zh-CN" sz="2200" b="1" kern="1200" dirty="0">
              <a:solidFill>
                <a:schemeClr val="bg1"/>
              </a:solidFill>
              <a:latin typeface="+mn-lt"/>
              <a:ea typeface="+mn-ea"/>
              <a:cs typeface="+mn-cs"/>
            </a:rPr>
            <a:t>(DFD)</a:t>
          </a:r>
          <a:endParaRPr lang="zh-CN" altLang="en-US" sz="2200" b="1" kern="1200" dirty="0">
            <a:solidFill>
              <a:schemeClr val="bg1"/>
            </a:solidFill>
            <a:latin typeface="+mn-lt"/>
            <a:ea typeface="+mn-ea"/>
            <a:cs typeface="+mn-cs"/>
          </a:endParaRPr>
        </a:p>
      </dsp:txBody>
      <dsp:txXfrm rot="10800000">
        <a:off x="1574271" y="0"/>
        <a:ext cx="5841214" cy="411952"/>
      </dsp:txXfrm>
    </dsp:sp>
    <dsp:sp modelId="{12CA971E-E624-486A-B713-9416789D4BF6}">
      <dsp:nvSpPr>
        <dsp:cNvPr id="3" name="椭圆 2"/>
        <dsp:cNvSpPr/>
      </dsp:nvSpPr>
      <dsp:spPr bwMode="white">
        <a:xfrm>
          <a:off x="1152440" y="0"/>
          <a:ext cx="411952" cy="411952"/>
        </a:xfrm>
        <a:prstGeom prst="ellipse">
          <a:avLst/>
        </a:prstGeom>
        <a:blipFill>
          <a:blip r:embed="rId1" cstate="print">
            <a:extLst>
              <a:ext uri="{28A0092B-C50C-407E-A947-70E740481C1C}">
                <a14:useLocalDpi xmlns:a14="http://schemas.microsoft.com/office/drawing/2010/main" val="0"/>
              </a:ext>
            </a:extLst>
          </a:blip>
          <a:srcRect/>
          <a:stretch>
            <a:fillRect/>
          </a:stretch>
        </a:blipFill>
      </dsp:spPr>
      <dsp:style>
        <a:lnRef idx="2">
          <a:schemeClr val="lt1"/>
        </a:lnRef>
        <a:fillRef idx="1">
          <a:schemeClr val="accent2">
            <a:tint val="50000"/>
          </a:schemeClr>
        </a:fillRef>
        <a:effectRef idx="0">
          <a:scrgbClr r="0" g="0" b="0"/>
        </a:effectRef>
        <a:fontRef idx="minor"/>
      </dsp:style>
      <dsp:txXfrm>
        <a:off x="1152440" y="0"/>
        <a:ext cx="411952" cy="411952"/>
      </dsp:txXfrm>
    </dsp:sp>
    <dsp:sp modelId="{F0B976B3-2B2D-4BF4-BE32-8410B229B9D0}">
      <dsp:nvSpPr>
        <dsp:cNvPr id="6" name="五边形 5"/>
        <dsp:cNvSpPr/>
      </dsp:nvSpPr>
      <dsp:spPr bwMode="white">
        <a:xfrm rot="10800000">
          <a:off x="1574271" y="514940"/>
          <a:ext cx="5841214" cy="411952"/>
        </a:xfrm>
        <a:prstGeom prst="homePlate">
          <a:avLst/>
        </a:prstGeom>
      </dsp:spPr>
      <dsp:style>
        <a:lnRef idx="2">
          <a:schemeClr val="lt1"/>
        </a:lnRef>
        <a:fillRef idx="1">
          <a:schemeClr val="accent3"/>
        </a:fillRef>
        <a:effectRef idx="0">
          <a:scrgbClr r="0" g="0" b="0"/>
        </a:effectRef>
        <a:fontRef idx="minor">
          <a:schemeClr val="lt1"/>
        </a:fontRef>
      </dsp:style>
      <dsp:txBody>
        <a:bodyPr rot="10800000" lIns="181659" tIns="83820" rIns="156464" bIns="838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Font typeface="Wingdings" panose="05000000000000000000" pitchFamily="2" charset="2"/>
            <a:buChar char="l"/>
          </a:pPr>
          <a:r>
            <a:rPr lang="zh-CN" altLang="en-US" sz="2200" b="1" kern="1200" dirty="0">
              <a:solidFill>
                <a:prstClr val="white"/>
              </a:solidFill>
              <a:latin typeface="Calibri" panose="020F0502020204030204"/>
              <a:ea typeface="宋体" panose="02010600030101010101" pitchFamily="2" charset="-122"/>
              <a:cs typeface="+mn-cs"/>
            </a:rPr>
            <a:t>实体关系图</a:t>
          </a:r>
          <a:r>
            <a:rPr lang="en-US" altLang="zh-CN" sz="2200" b="1" kern="1200" dirty="0">
              <a:solidFill>
                <a:prstClr val="white"/>
              </a:solidFill>
              <a:latin typeface="Calibri" panose="020F0502020204030204"/>
              <a:ea typeface="宋体" panose="02010600030101010101" pitchFamily="2" charset="-122"/>
              <a:cs typeface="+mn-cs"/>
            </a:rPr>
            <a:t>(ERD)</a:t>
          </a:r>
          <a:endParaRPr lang="zh-CN" altLang="en-US" sz="2200" b="1" kern="1200" dirty="0">
            <a:solidFill>
              <a:prstClr val="white"/>
            </a:solidFill>
            <a:latin typeface="Calibri" panose="020F0502020204030204"/>
            <a:ea typeface="宋体" panose="02010600030101010101" pitchFamily="2" charset="-122"/>
            <a:cs typeface="+mn-cs"/>
          </a:endParaRPr>
        </a:p>
      </dsp:txBody>
      <dsp:txXfrm rot="10800000">
        <a:off x="1574271" y="514940"/>
        <a:ext cx="5841214" cy="411952"/>
      </dsp:txXfrm>
    </dsp:sp>
    <dsp:sp modelId="{20F67681-24AB-4E32-9C0E-DA9514BF79F1}">
      <dsp:nvSpPr>
        <dsp:cNvPr id="5" name="椭圆 4"/>
        <dsp:cNvSpPr/>
      </dsp:nvSpPr>
      <dsp:spPr bwMode="white">
        <a:xfrm>
          <a:off x="1171485" y="514940"/>
          <a:ext cx="411952" cy="411952"/>
        </a:xfrm>
        <a:prstGeom prst="ellipse">
          <a:avLst/>
        </a:prstGeom>
        <a:blipFill>
          <a:blip r:embed="rId2" cstate="print">
            <a:extLst>
              <a:ext uri="{28A0092B-C50C-407E-A947-70E740481C1C}">
                <a14:useLocalDpi xmlns:a14="http://schemas.microsoft.com/office/drawing/2010/main" val="0"/>
              </a:ext>
            </a:extLst>
          </a:blip>
          <a:srcRect/>
          <a:stretch>
            <a:fillRect/>
          </a:stretch>
        </a:blipFill>
      </dsp:spPr>
      <dsp:style>
        <a:lnRef idx="2">
          <a:schemeClr val="lt1"/>
        </a:lnRef>
        <a:fillRef idx="1">
          <a:schemeClr val="accent3">
            <a:tint val="50000"/>
          </a:schemeClr>
        </a:fillRef>
        <a:effectRef idx="0">
          <a:scrgbClr r="0" g="0" b="0"/>
        </a:effectRef>
        <a:fontRef idx="minor"/>
      </dsp:style>
      <dsp:txXfrm>
        <a:off x="1171485" y="514940"/>
        <a:ext cx="411952" cy="411952"/>
      </dsp:txXfrm>
    </dsp:sp>
    <dsp:sp modelId="{32397597-A748-4A93-8A49-D1DCF53D71C7}">
      <dsp:nvSpPr>
        <dsp:cNvPr id="8" name="五边形 7"/>
        <dsp:cNvSpPr/>
      </dsp:nvSpPr>
      <dsp:spPr bwMode="white">
        <a:xfrm rot="10800000">
          <a:off x="1574271" y="1029881"/>
          <a:ext cx="5841214" cy="411952"/>
        </a:xfrm>
        <a:prstGeom prst="homePlate">
          <a:avLst/>
        </a:prstGeom>
      </dsp:spPr>
      <dsp:style>
        <a:lnRef idx="2">
          <a:schemeClr val="lt1"/>
        </a:lnRef>
        <a:fillRef idx="1">
          <a:schemeClr val="accent4"/>
        </a:fillRef>
        <a:effectRef idx="0">
          <a:scrgbClr r="0" g="0" b="0"/>
        </a:effectRef>
        <a:fontRef idx="minor">
          <a:schemeClr val="lt1"/>
        </a:fontRef>
      </dsp:style>
      <dsp:txBody>
        <a:bodyPr rot="10800000" lIns="181659" tIns="83820" rIns="156464" bIns="838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marL="0" lvl="0" indent="0" algn="ctr" defTabSz="977900">
            <a:lnSpc>
              <a:spcPct val="90000"/>
            </a:lnSpc>
            <a:spcBef>
              <a:spcPct val="0"/>
            </a:spcBef>
            <a:spcAft>
              <a:spcPct val="35000"/>
            </a:spcAft>
            <a:buFont typeface="Wingdings" panose="05000000000000000000" pitchFamily="2" charset="2"/>
            <a:buNone/>
          </a:pPr>
          <a:r>
            <a:rPr lang="zh-CN" altLang="en-US" sz="2200" b="1" kern="1200" dirty="0">
              <a:solidFill>
                <a:prstClr val="white"/>
              </a:solidFill>
              <a:latin typeface="Calibri" panose="020F0502020204030204"/>
              <a:ea typeface="宋体" panose="02010600030101010101" pitchFamily="2" charset="-122"/>
              <a:cs typeface="+mn-cs"/>
            </a:rPr>
            <a:t>状态转化图</a:t>
          </a:r>
        </a:p>
      </dsp:txBody>
      <dsp:txXfrm rot="10800000">
        <a:off x="1574271" y="1029881"/>
        <a:ext cx="5841214" cy="411952"/>
      </dsp:txXfrm>
    </dsp:sp>
    <dsp:sp modelId="{478AC6F7-8F8D-4C03-819B-DC4376B61E41}">
      <dsp:nvSpPr>
        <dsp:cNvPr id="7" name="椭圆 6"/>
        <dsp:cNvSpPr/>
      </dsp:nvSpPr>
      <dsp:spPr bwMode="white">
        <a:xfrm>
          <a:off x="1173034" y="1029881"/>
          <a:ext cx="411952" cy="411952"/>
        </a:xfrm>
        <a:prstGeom prst="ellipse">
          <a:avLst/>
        </a:prstGeom>
        <a:blipFill>
          <a:blip r:embed="rId3" cstate="print">
            <a:extLst>
              <a:ext uri="{28A0092B-C50C-407E-A947-70E740481C1C}">
                <a14:useLocalDpi xmlns:a14="http://schemas.microsoft.com/office/drawing/2010/main" val="0"/>
              </a:ext>
            </a:extLst>
          </a:blip>
          <a:srcRect/>
          <a:stretch>
            <a:fillRect/>
          </a:stretch>
        </a:blipFill>
      </dsp:spPr>
      <dsp:style>
        <a:lnRef idx="2">
          <a:schemeClr val="lt1"/>
        </a:lnRef>
        <a:fillRef idx="1">
          <a:schemeClr val="accent4">
            <a:tint val="50000"/>
          </a:schemeClr>
        </a:fillRef>
        <a:effectRef idx="0">
          <a:scrgbClr r="0" g="0" b="0"/>
        </a:effectRef>
        <a:fontRef idx="minor"/>
      </dsp:style>
      <dsp:txXfrm>
        <a:off x="1173034" y="1029881"/>
        <a:ext cx="411952" cy="411952"/>
      </dsp:txXfrm>
    </dsp:sp>
    <dsp:sp modelId="{148BFA85-AA78-458B-A19D-D5A97027F8BC}">
      <dsp:nvSpPr>
        <dsp:cNvPr id="10" name="五边形 9"/>
        <dsp:cNvSpPr/>
      </dsp:nvSpPr>
      <dsp:spPr bwMode="white">
        <a:xfrm rot="10800000">
          <a:off x="1574271" y="1544821"/>
          <a:ext cx="5841214" cy="411952"/>
        </a:xfrm>
        <a:prstGeom prst="homePlate">
          <a:avLst/>
        </a:prstGeom>
      </dsp:spPr>
      <dsp:style>
        <a:lnRef idx="2">
          <a:schemeClr val="lt1"/>
        </a:lnRef>
        <a:fillRef idx="1">
          <a:schemeClr val="accent5"/>
        </a:fillRef>
        <a:effectRef idx="0">
          <a:scrgbClr r="0" g="0" b="0"/>
        </a:effectRef>
        <a:fontRef idx="minor">
          <a:schemeClr val="lt1"/>
        </a:fontRef>
      </dsp:style>
      <dsp:txBody>
        <a:bodyPr rot="10800000" lIns="181659" tIns="83820" rIns="156464" bIns="838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marL="0" lvl="0" indent="0" algn="ctr" defTabSz="977900">
            <a:lnSpc>
              <a:spcPct val="90000"/>
            </a:lnSpc>
            <a:spcBef>
              <a:spcPct val="0"/>
            </a:spcBef>
            <a:spcAft>
              <a:spcPct val="35000"/>
            </a:spcAft>
            <a:buFont typeface="Wingdings" panose="05000000000000000000" pitchFamily="2" charset="2"/>
            <a:buNone/>
          </a:pPr>
          <a:r>
            <a:rPr lang="zh-CN" altLang="en-US" sz="2200" b="1" kern="1200" dirty="0">
              <a:solidFill>
                <a:prstClr val="white"/>
              </a:solidFill>
              <a:latin typeface="Calibri" panose="020F0502020204030204"/>
              <a:ea typeface="宋体" panose="02010600030101010101" pitchFamily="2" charset="-122"/>
              <a:cs typeface="+mn-cs"/>
            </a:rPr>
            <a:t>对话图</a:t>
          </a:r>
        </a:p>
      </dsp:txBody>
      <dsp:txXfrm rot="10800000">
        <a:off x="1574271" y="1544821"/>
        <a:ext cx="5841214" cy="411952"/>
      </dsp:txXfrm>
    </dsp:sp>
    <dsp:sp modelId="{05C959AB-2044-4478-A302-D785E4D55C2D}">
      <dsp:nvSpPr>
        <dsp:cNvPr id="9" name="椭圆 8"/>
        <dsp:cNvSpPr/>
      </dsp:nvSpPr>
      <dsp:spPr bwMode="white">
        <a:xfrm>
          <a:off x="1184198" y="1544821"/>
          <a:ext cx="411952" cy="411952"/>
        </a:xfrm>
        <a:prstGeom prst="ellipse">
          <a:avLst/>
        </a:prstGeom>
        <a:blipFill>
          <a:blip r:embed="rId4" cstate="print">
            <a:extLst>
              <a:ext uri="{28A0092B-C50C-407E-A947-70E740481C1C}">
                <a14:useLocalDpi xmlns:a14="http://schemas.microsoft.com/office/drawing/2010/main" val="0"/>
              </a:ext>
            </a:extLst>
          </a:blip>
          <a:srcRect/>
          <a:stretch>
            <a:fillRect/>
          </a:stretch>
        </a:blipFill>
      </dsp:spPr>
      <dsp:style>
        <a:lnRef idx="2">
          <a:schemeClr val="lt1"/>
        </a:lnRef>
        <a:fillRef idx="1">
          <a:schemeClr val="accent5">
            <a:tint val="50000"/>
          </a:schemeClr>
        </a:fillRef>
        <a:effectRef idx="0">
          <a:scrgbClr r="0" g="0" b="0"/>
        </a:effectRef>
        <a:fontRef idx="minor"/>
      </dsp:style>
      <dsp:txXfrm>
        <a:off x="1184198" y="1544821"/>
        <a:ext cx="411952" cy="411952"/>
      </dsp:txXfrm>
    </dsp:sp>
    <dsp:sp modelId="{F1D8FD6E-4B70-4A85-8379-D39143F3E139}">
      <dsp:nvSpPr>
        <dsp:cNvPr id="12" name="五边形 11"/>
        <dsp:cNvSpPr/>
      </dsp:nvSpPr>
      <dsp:spPr bwMode="white">
        <a:xfrm rot="10800000">
          <a:off x="1574271" y="2059762"/>
          <a:ext cx="5841214" cy="411952"/>
        </a:xfrm>
        <a:prstGeom prst="homePlate">
          <a:avLst/>
        </a:prstGeom>
      </dsp:spPr>
      <dsp:style>
        <a:lnRef idx="2">
          <a:schemeClr val="lt1"/>
        </a:lnRef>
        <a:fillRef idx="1">
          <a:schemeClr val="accent6"/>
        </a:fillRef>
        <a:effectRef idx="0">
          <a:scrgbClr r="0" g="0" b="0"/>
        </a:effectRef>
        <a:fontRef idx="minor">
          <a:schemeClr val="lt1"/>
        </a:fontRef>
      </dsp:style>
      <dsp:txBody>
        <a:bodyPr rot="10800000" lIns="181659" tIns="83820" rIns="156464" bIns="838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marL="0" lvl="0" indent="0" algn="ctr" defTabSz="977900">
            <a:lnSpc>
              <a:spcPct val="90000"/>
            </a:lnSpc>
            <a:spcBef>
              <a:spcPct val="0"/>
            </a:spcBef>
            <a:spcAft>
              <a:spcPct val="35000"/>
            </a:spcAft>
            <a:buFont typeface="Wingdings" panose="05000000000000000000" pitchFamily="2" charset="2"/>
            <a:buNone/>
          </a:pPr>
          <a:r>
            <a:rPr lang="zh-CN" altLang="en-US" sz="2200" b="1" kern="1200" dirty="0">
              <a:solidFill>
                <a:prstClr val="white"/>
              </a:solidFill>
              <a:latin typeface="Calibri" panose="020F0502020204030204"/>
              <a:ea typeface="宋体" panose="02010600030101010101" pitchFamily="2" charset="-122"/>
              <a:cs typeface="+mn-cs"/>
            </a:rPr>
            <a:t>类图</a:t>
          </a:r>
        </a:p>
      </dsp:txBody>
      <dsp:txXfrm rot="10800000">
        <a:off x="1574271" y="2059762"/>
        <a:ext cx="5841214" cy="411952"/>
      </dsp:txXfrm>
    </dsp:sp>
    <dsp:sp modelId="{A6C23A37-59DE-4D31-940C-3B4D614C11DF}">
      <dsp:nvSpPr>
        <dsp:cNvPr id="11" name="椭圆 10"/>
        <dsp:cNvSpPr/>
      </dsp:nvSpPr>
      <dsp:spPr bwMode="white">
        <a:xfrm>
          <a:off x="1196894" y="2059762"/>
          <a:ext cx="411952" cy="411952"/>
        </a:xfrm>
        <a:prstGeom prst="ellipse">
          <a:avLst/>
        </a:prstGeom>
        <a:blipFill>
          <a:blip r:embed="rId5" cstate="print">
            <a:extLst>
              <a:ext uri="{28A0092B-C50C-407E-A947-70E740481C1C}">
                <a14:useLocalDpi xmlns:a14="http://schemas.microsoft.com/office/drawing/2010/main" val="0"/>
              </a:ext>
            </a:extLst>
          </a:blip>
          <a:srcRect/>
          <a:stretch>
            <a:fillRect/>
          </a:stretch>
        </a:blipFill>
      </dsp:spPr>
      <dsp:style>
        <a:lnRef idx="2">
          <a:schemeClr val="lt1"/>
        </a:lnRef>
        <a:fillRef idx="1">
          <a:schemeClr val="accent6">
            <a:tint val="50000"/>
          </a:schemeClr>
        </a:fillRef>
        <a:effectRef idx="0">
          <a:scrgbClr r="0" g="0" b="0"/>
        </a:effectRef>
        <a:fontRef idx="minor"/>
      </dsp:style>
      <dsp:txXfrm>
        <a:off x="1196894" y="2059762"/>
        <a:ext cx="411952" cy="411952"/>
      </dsp:txXfrm>
    </dsp:sp>
  </dsp:spTree>
</dsp:drawing>
</file>

<file path=ppt/diagrams/layout1.xml><?xml version="1.0" encoding="utf-8"?>
<dgm:layoutDef xmlns:dgm="http://schemas.openxmlformats.org/drawingml/2006/diagram" xmlns:a="http://schemas.openxmlformats.org/drawingml/2006/main" uniqueId="urn:microsoft.com/office/officeart/2005/8/layout/cycle6#1">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rSet qsTypeId="urn:microsoft.com/office/officeart/2005/8/quickstyle/simple5"/>
        </dgm:pt>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endSty" val="noArr"/>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type="homePlate" r:blip="" rot="180"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405A52-1236-4EBB-BABA-D6C4C534D55B}"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6668516-6B80-49A3-9751-C359507A9C73}"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09A70F-0E9E-9B45-9B37-F3EE0BE4F5F0}"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65C786-A33B-7143-AA94-C2ACF7DFC54B}"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
        <p:nvSpPr>
          <p:cNvPr id="5" name="页脚占位符 4"/>
          <p:cNvSpPr>
            <a:spLocks noGrp="1"/>
          </p:cNvSpPr>
          <p:nvPr>
            <p:ph type="ftr" sz="quarter" idx="4"/>
          </p:nvPr>
        </p:nvSpPr>
        <p:spPr/>
        <p:txBody>
          <a:bodyPr/>
          <a:lstStyle/>
          <a:p>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200000"/>
              </a:lnSpc>
              <a:buFont typeface="Wingdings" panose="05000000000000000000" pitchFamily="2" charset="2"/>
              <a:buChar char="l"/>
            </a:pPr>
            <a:r>
              <a:rPr lang="zh-CN" altLang="en-US" sz="1200" dirty="0">
                <a:latin typeface="微软雅黑" panose="020B0503020204020204" pitchFamily="34" charset="-122"/>
                <a:ea typeface="微软雅黑" panose="020B0503020204020204" pitchFamily="34" charset="-122"/>
              </a:rPr>
              <a:t>通过认真听取客户如何陈述它们的需求，分析者可以挑选出关键词，将这些关键词可以转换成特定的模型元素。</a:t>
            </a:r>
            <a:endParaRPr lang="zh-CN" altLang="en-US" sz="1200" dirty="0">
              <a:latin typeface="微软雅黑" panose="020B0503020204020204" pitchFamily="34" charset="-122"/>
              <a:ea typeface="微软雅黑" panose="020B0503020204020204" pitchFamily="34" charset="-122"/>
            </a:endParaRPr>
          </a:p>
          <a:p>
            <a:pPr>
              <a:lnSpc>
                <a:spcPct val="200000"/>
              </a:lnSpc>
              <a:buFont typeface="Wingdings" panose="05000000000000000000" pitchFamily="2" charset="2"/>
              <a:buChar char="l"/>
            </a:pPr>
            <a:r>
              <a:rPr lang="zh-CN" altLang="en-US" sz="1200" dirty="0">
                <a:latin typeface="微软雅黑" panose="020B0503020204020204" pitchFamily="34" charset="-122"/>
                <a:ea typeface="微软雅黑" panose="020B0503020204020204" pitchFamily="34" charset="-122"/>
              </a:rPr>
              <a:t>当把客户输入转变为书面的需求或模型时，还可以根据模型的每个组件回溯到需求部分。</a:t>
            </a:r>
            <a:endParaRPr lang="zh-CN" altLang="en-US"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
        <p:nvSpPr>
          <p:cNvPr id="5" name="页脚占位符 4"/>
          <p:cNvSpPr>
            <a:spLocks noGrp="1"/>
          </p:cNvSpPr>
          <p:nvPr>
            <p:ph type="ftr" sz="quarter" idx="4"/>
          </p:nvPr>
        </p:nvSpPr>
        <p:spPr/>
        <p:txBody>
          <a:bodyPr/>
          <a:lstStyle/>
          <a:p>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
        <p:nvSpPr>
          <p:cNvPr id="5" name="页脚占位符 4"/>
          <p:cNvSpPr>
            <a:spLocks noGrp="1"/>
          </p:cNvSpPr>
          <p:nvPr>
            <p:ph type="ftr" sz="quarter" idx="4"/>
          </p:nvPr>
        </p:nvSpPr>
        <p:spPr/>
        <p:txBody>
          <a:bodyPr/>
          <a:lstStyle/>
          <a:p>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使用“化学制品跟踪系统”作为研究案例。基于此例子，考虑用户需求部分，这些需求是由代表化学制品用户类的产品代表者提供的。</a:t>
            </a:r>
            <a:endParaRPr lang="zh-CN" altLang="en-US"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
        <p:nvSpPr>
          <p:cNvPr id="5" name="页脚占位符 4"/>
          <p:cNvSpPr>
            <a:spLocks noGrp="1"/>
          </p:cNvSpPr>
          <p:nvPr>
            <p:ph type="ftr" sz="quarter" idx="4"/>
          </p:nvPr>
        </p:nvSpPr>
        <p:spPr/>
        <p:txBody>
          <a:bodyPr/>
          <a:lstStyle/>
          <a:p>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
        <p:nvSpPr>
          <p:cNvPr id="5" name="页脚占位符 4"/>
          <p:cNvSpPr>
            <a:spLocks noGrp="1"/>
          </p:cNvSpPr>
          <p:nvPr>
            <p:ph type="ftr" sz="quarter" idx="4"/>
          </p:nvPr>
        </p:nvSpPr>
        <p:spPr/>
        <p:txBody>
          <a:bodyPr/>
          <a:lstStyle/>
          <a:p>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
        <p:nvSpPr>
          <p:cNvPr id="5" name="页脚占位符 4"/>
          <p:cNvSpPr>
            <a:spLocks noGrp="1"/>
          </p:cNvSpPr>
          <p:nvPr>
            <p:ph type="ftr" sz="quarter" idx="4"/>
          </p:nvPr>
        </p:nvSpPr>
        <p:spPr/>
        <p:txBody>
          <a:bodyPr/>
          <a:lstStyle/>
          <a:p>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
        <p:nvSpPr>
          <p:cNvPr id="5" name="页脚占位符 4"/>
          <p:cNvSpPr>
            <a:spLocks noGrp="1"/>
          </p:cNvSpPr>
          <p:nvPr>
            <p:ph type="ftr" sz="quarter" idx="4"/>
          </p:nvPr>
        </p:nvSpPr>
        <p:spPr/>
        <p:txBody>
          <a:bodyPr/>
          <a:lstStyle/>
          <a:p>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765C786-A33B-7143-AA94-C2ACF7DFC54B}"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4"/>
          </p:nvPr>
        </p:nvSpPr>
        <p:spPr/>
        <p:txBody>
          <a:bodyPr/>
          <a:lstStyle/>
          <a:p>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
        <p:nvSpPr>
          <p:cNvPr id="5" name="页脚占位符 4"/>
          <p:cNvSpPr>
            <a:spLocks noGrp="1"/>
          </p:cNvSpPr>
          <p:nvPr>
            <p:ph type="ftr" sz="quarter" idx="4"/>
          </p:nvPr>
        </p:nvSpPr>
        <p:spPr/>
        <p:txBody>
          <a:bodyPr/>
          <a:lstStyle/>
          <a:p>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a:latin typeface="微软雅黑" panose="020B0503020204020204" pitchFamily="34" charset="-122"/>
                <a:ea typeface="微软雅黑" panose="020B0503020204020204" pitchFamily="34" charset="-122"/>
              </a:rPr>
              <a:t>状态转换图包括</a:t>
            </a:r>
            <a:r>
              <a:rPr lang="en-US" altLang="zh-CN" sz="1200" b="1" dirty="0">
                <a:latin typeface="微软雅黑" panose="020B0503020204020204" pitchFamily="34" charset="-122"/>
                <a:ea typeface="微软雅黑" panose="020B0503020204020204" pitchFamily="34" charset="-122"/>
              </a:rPr>
              <a:t>3</a:t>
            </a:r>
            <a:r>
              <a:rPr lang="zh-CN" altLang="en-US" sz="1200" b="1" dirty="0">
                <a:latin typeface="微软雅黑" panose="020B0503020204020204" pitchFamily="34" charset="-122"/>
                <a:ea typeface="微软雅黑" panose="020B0503020204020204" pitchFamily="34" charset="-122"/>
              </a:rPr>
              <a:t>种元素：</a:t>
            </a:r>
            <a:endParaRPr lang="en-US" altLang="zh-CN" sz="1200" b="1"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
        <p:nvSpPr>
          <p:cNvPr id="5" name="页脚占位符 4"/>
          <p:cNvSpPr>
            <a:spLocks noGrp="1"/>
          </p:cNvSpPr>
          <p:nvPr>
            <p:ph type="ftr" sz="quarter" idx="4"/>
          </p:nvPr>
        </p:nvSpPr>
        <p:spPr/>
        <p:txBody>
          <a:bodyPr/>
          <a:lstStyle/>
          <a:p>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lvl="0">
              <a:lnSpc>
                <a:spcPct val="20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sym typeface="+mn-ea"/>
              </a:rPr>
              <a:t>对话图代表了一个高层抽象的用户界面体系结构。对话图描绘了系统中的对话元素和它们之间的导航连接，</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但它没有揭示具体的屏幕设计</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a:t>
            </a:r>
            <a:endParaRPr lang="zh-CN" altLang="en-US" dirty="0">
              <a:latin typeface="微软雅黑" panose="020B0503020204020204" pitchFamily="34" charset="-122"/>
              <a:ea typeface="微软雅黑" panose="020B0503020204020204" pitchFamily="34" charset="-122"/>
            </a:endParaRPr>
          </a:p>
          <a:p>
            <a:pPr lvl="0">
              <a:lnSpc>
                <a:spcPct val="20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sym typeface="+mn-ea"/>
              </a:rPr>
              <a:t>对话图可以使你在对需求的理解上探索假设的用户界面概念。</a:t>
            </a:r>
            <a:endParaRPr lang="zh-CN" altLang="en-US" dirty="0">
              <a:latin typeface="微软雅黑" panose="020B0503020204020204" pitchFamily="34" charset="-122"/>
              <a:ea typeface="微软雅黑" panose="020B0503020204020204" pitchFamily="34" charset="-122"/>
            </a:endParaRPr>
          </a:p>
          <a:p>
            <a:pPr lvl="0">
              <a:lnSpc>
                <a:spcPct val="20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sym typeface="+mn-ea"/>
              </a:rPr>
              <a:t>用户和开发者可以通过对话图在用户如何利用系统执行任务上达成共同的视觉界面</a:t>
            </a:r>
            <a:endParaRPr lang="zh-CN" altLang="en-US"/>
          </a:p>
        </p:txBody>
      </p:sp>
      <p:sp>
        <p:nvSpPr>
          <p:cNvPr id="4" name="页脚占位符 3"/>
          <p:cNvSpPr>
            <a:spLocks noGrp="1"/>
          </p:cNvSpPr>
          <p:nvPr>
            <p:ph type="ftr" sz="quarter" idx="4"/>
          </p:nvPr>
        </p:nvSpPr>
        <p:spPr/>
        <p:txBody>
          <a:bodyPr/>
          <a:lstStyle/>
          <a:p>
            <a:endParaRPr kumimoji="1" lang="zh-CN" altLang="en-US"/>
          </a:p>
        </p:txBody>
      </p:sp>
      <p:sp>
        <p:nvSpPr>
          <p:cNvPr id="5" name="灯片编号占位符 4"/>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lvl="0">
              <a:lnSpc>
                <a:spcPct val="20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sym typeface="+mn-ea"/>
              </a:rPr>
              <a:t>对话图抓住了用户</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系统交互作用和任务流的本质。用户可以通过跟踪对话图寻找遗漏、错误或多余的转换，从而发现与此有关的遗漏、错误或多余的需求。</a:t>
            </a:r>
            <a:endParaRPr lang="zh-CN" altLang="en-US" dirty="0">
              <a:latin typeface="微软雅黑" panose="020B0503020204020204" pitchFamily="34" charset="-122"/>
              <a:ea typeface="微软雅黑" panose="020B0503020204020204" pitchFamily="34" charset="-122"/>
            </a:endParaRPr>
          </a:p>
          <a:p>
            <a:pPr lvl="0">
              <a:lnSpc>
                <a:spcPct val="20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sym typeface="+mn-ea"/>
              </a:rPr>
              <a:t>设计者可以把在需求分析过程中形成的对话图用作详细用户界面设计时的指南，最终形成一个执行的对话图，该对话图记录了产品的真正用户界面的体系结构。</a:t>
            </a:r>
            <a:endParaRPr lang="en-US" altLang="zh-CN" dirty="0">
              <a:latin typeface="微软雅黑" panose="020B0503020204020204" pitchFamily="34" charset="-122"/>
              <a:ea typeface="微软雅黑" panose="020B0503020204020204" pitchFamily="34" charset="-122"/>
            </a:endParaRPr>
          </a:p>
          <a:p>
            <a:pPr lvl="0">
              <a:lnSpc>
                <a:spcPct val="20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sym typeface="+mn-ea"/>
              </a:rPr>
              <a:t>就像在普通的状态转换图中一样，在对话图中，对话元素作为一个状态</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矩形框</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，每一个允许的导航选择作为转换</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箭头</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。触发用户界面导航的条件用文本标签写在转换箭头上。</a:t>
            </a:r>
            <a:endParaRPr lang="zh-CN" altLang="en-US" dirty="0">
              <a:latin typeface="微软雅黑" panose="020B0503020204020204" pitchFamily="34" charset="-122"/>
              <a:ea typeface="微软雅黑" panose="020B0503020204020204" pitchFamily="34" charset="-122"/>
            </a:endParaRPr>
          </a:p>
          <a:p>
            <a:pPr lvl="0">
              <a:lnSpc>
                <a:spcPct val="200000"/>
              </a:lnSpc>
            </a:pPr>
            <a:endParaRPr lang="zh-CN" altLang="en-US" dirty="0">
              <a:latin typeface="微软雅黑" panose="020B0503020204020204" pitchFamily="34" charset="-122"/>
              <a:ea typeface="微软雅黑" panose="020B0503020204020204" pitchFamily="34" charset="-122"/>
            </a:endParaRPr>
          </a:p>
          <a:p>
            <a:endParaRPr lang="zh-CN" altLang="en-US"/>
          </a:p>
        </p:txBody>
      </p:sp>
      <p:sp>
        <p:nvSpPr>
          <p:cNvPr id="4" name="页脚占位符 3"/>
          <p:cNvSpPr>
            <a:spLocks noGrp="1"/>
          </p:cNvSpPr>
          <p:nvPr>
            <p:ph type="ftr" sz="quarter" idx="4"/>
          </p:nvPr>
        </p:nvSpPr>
        <p:spPr/>
        <p:txBody>
          <a:bodyPr/>
          <a:lstStyle/>
          <a:p>
            <a:endParaRPr kumimoji="1" lang="zh-CN" altLang="en-US"/>
          </a:p>
        </p:txBody>
      </p:sp>
      <p:sp>
        <p:nvSpPr>
          <p:cNvPr id="5" name="灯片编号占位符 4"/>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200000"/>
              </a:lnSpc>
            </a:pPr>
            <a:r>
              <a:rPr lang="zh-CN" altLang="en-US" b="1" dirty="0">
                <a:latin typeface="微软雅黑" panose="020B0503020204020204" pitchFamily="34" charset="-122"/>
                <a:ea typeface="微软雅黑" panose="020B0503020204020204" pitchFamily="34" charset="-122"/>
                <a:sym typeface="+mn-ea"/>
              </a:rPr>
              <a:t>下面列出几种触发条件的类型：</a:t>
            </a:r>
            <a:endParaRPr lang="en-US" altLang="zh-CN" b="1" dirty="0">
              <a:latin typeface="微软雅黑" panose="020B0503020204020204" pitchFamily="34" charset="-122"/>
              <a:ea typeface="微软雅黑" panose="020B0503020204020204" pitchFamily="34" charset="-122"/>
            </a:endParaRPr>
          </a:p>
          <a:p>
            <a:pPr lvl="0">
              <a:lnSpc>
                <a:spcPct val="20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sym typeface="+mn-ea"/>
              </a:rPr>
              <a:t> 一个用户动作，例如按下一个功能键或点击一个超链接或对话框的按钮。</a:t>
            </a:r>
            <a:endParaRPr lang="zh-CN" altLang="en-US" dirty="0">
              <a:latin typeface="微软雅黑" panose="020B0503020204020204" pitchFamily="34" charset="-122"/>
              <a:ea typeface="微软雅黑" panose="020B0503020204020204" pitchFamily="34" charset="-122"/>
            </a:endParaRPr>
          </a:p>
          <a:p>
            <a:pPr lvl="0">
              <a:lnSpc>
                <a:spcPct val="20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sym typeface="+mn-ea"/>
              </a:rPr>
              <a:t> 一个数据值，例如一个无效的用户输入触发显示一个错误信息。</a:t>
            </a:r>
            <a:endParaRPr lang="en-US" altLang="zh-CN" dirty="0">
              <a:latin typeface="微软雅黑" panose="020B0503020204020204" pitchFamily="34" charset="-122"/>
              <a:ea typeface="微软雅黑" panose="020B0503020204020204" pitchFamily="34" charset="-122"/>
            </a:endParaRPr>
          </a:p>
          <a:p>
            <a:pPr lvl="0">
              <a:lnSpc>
                <a:spcPct val="20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sym typeface="+mn-ea"/>
              </a:rPr>
              <a:t> 一个系统条件，例如检测到打印机无纸。 </a:t>
            </a:r>
            <a:endParaRPr lang="en-US" altLang="zh-CN" dirty="0">
              <a:latin typeface="微软雅黑" panose="020B0503020204020204" pitchFamily="34" charset="-122"/>
              <a:ea typeface="微软雅黑" panose="020B0503020204020204" pitchFamily="34" charset="-122"/>
            </a:endParaRPr>
          </a:p>
          <a:p>
            <a:pPr lvl="0">
              <a:lnSpc>
                <a:spcPct val="20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sym typeface="+mn-ea"/>
              </a:rPr>
              <a:t> 这些情况的一些组合，例如输入一个菜单项数字并按下回车键。</a:t>
            </a:r>
            <a:endParaRPr lang="zh-CN" altLang="en-US" dirty="0">
              <a:latin typeface="微软雅黑" panose="020B0503020204020204" pitchFamily="34" charset="-122"/>
              <a:ea typeface="微软雅黑" panose="020B0503020204020204" pitchFamily="34" charset="-122"/>
            </a:endParaRPr>
          </a:p>
          <a:p>
            <a:pPr lvl="0">
              <a:lnSpc>
                <a:spcPct val="200000"/>
              </a:lnSpc>
            </a:pPr>
            <a:endParaRPr lang="zh-CN" altLang="en-US"/>
          </a:p>
        </p:txBody>
      </p:sp>
      <p:sp>
        <p:nvSpPr>
          <p:cNvPr id="4" name="页脚占位符 3"/>
          <p:cNvSpPr>
            <a:spLocks noGrp="1"/>
          </p:cNvSpPr>
          <p:nvPr>
            <p:ph type="ftr" sz="quarter" idx="4"/>
          </p:nvPr>
        </p:nvSpPr>
        <p:spPr/>
        <p:txBody>
          <a:bodyPr/>
          <a:lstStyle/>
          <a:p>
            <a:endParaRPr kumimoji="1" lang="zh-CN" altLang="en-US"/>
          </a:p>
        </p:txBody>
      </p:sp>
      <p:sp>
        <p:nvSpPr>
          <p:cNvPr id="5" name="灯片编号占位符 4"/>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latin typeface="微软雅黑" panose="020B0503020204020204" pitchFamily="34" charset="-122"/>
                <a:ea typeface="微软雅黑" panose="020B0503020204020204" pitchFamily="34" charset="-122"/>
                <a:sym typeface="+mn-ea"/>
              </a:rPr>
              <a:t>第二讲中图</a:t>
            </a:r>
            <a:r>
              <a:rPr lang="en-US" altLang="zh-CN" dirty="0">
                <a:latin typeface="微软雅黑" panose="020B0503020204020204" pitchFamily="34" charset="-122"/>
                <a:ea typeface="微软雅黑" panose="020B0503020204020204" pitchFamily="34" charset="-122"/>
                <a:sym typeface="+mn-ea"/>
              </a:rPr>
              <a:t>2.4.1</a:t>
            </a:r>
            <a:r>
              <a:rPr lang="zh-CN" altLang="en-US" dirty="0">
                <a:latin typeface="微软雅黑" panose="020B0503020204020204" pitchFamily="34" charset="-122"/>
                <a:ea typeface="微软雅黑" panose="020B0503020204020204" pitchFamily="34" charset="-122"/>
                <a:sym typeface="+mn-ea"/>
              </a:rPr>
              <a:t>提出了在“化学制品跟踪系统”中称为请求一种化学制品的使用实例。这个使用实例的正常过程包括了请求一种化学制品，并由向外部供应商订货来满足该请求。</a:t>
            </a:r>
            <a:endParaRPr lang="zh-CN" altLang="en-US" dirty="0">
              <a:latin typeface="微软雅黑" panose="020B0503020204020204" pitchFamily="34" charset="-122"/>
              <a:ea typeface="微软雅黑" panose="020B0503020204020204" pitchFamily="34" charset="-122"/>
              <a:sym typeface="+mn-ea"/>
            </a:endParaRPr>
          </a:p>
          <a:p>
            <a:r>
              <a:rPr lang="zh-CN" altLang="en-US" dirty="0">
                <a:latin typeface="微软雅黑" panose="020B0503020204020204" pitchFamily="34" charset="-122"/>
                <a:ea typeface="微软雅黑" panose="020B0503020204020204" pitchFamily="34" charset="-122"/>
                <a:sym typeface="+mn-ea"/>
              </a:rPr>
              <a:t>可选过程将供给来自化学制品仓库存货清单的化学制品容器。提出请求的用户在进行选择之前，需要浏览仓库中可用的化学制品的历史。图</a:t>
            </a:r>
            <a:r>
              <a:rPr lang="en-US" altLang="zh-CN" dirty="0">
                <a:latin typeface="微软雅黑" panose="020B0503020204020204" pitchFamily="34" charset="-122"/>
                <a:ea typeface="微软雅黑" panose="020B0503020204020204" pitchFamily="34" charset="-122"/>
                <a:sym typeface="+mn-ea"/>
              </a:rPr>
              <a:t>3.7</a:t>
            </a:r>
            <a:r>
              <a:rPr lang="zh-CN" altLang="en-US" dirty="0">
                <a:latin typeface="微软雅黑" panose="020B0503020204020204" pitchFamily="34" charset="-122"/>
                <a:ea typeface="微软雅黑" panose="020B0503020204020204" pitchFamily="34" charset="-122"/>
                <a:sym typeface="+mn-ea"/>
              </a:rPr>
              <a:t>显示了这个使用实例的对话图。</a:t>
            </a:r>
            <a:endParaRPr lang="zh-CN" altLang="en-US" dirty="0">
              <a:latin typeface="微软雅黑" panose="020B0503020204020204" pitchFamily="34" charset="-122"/>
              <a:ea typeface="微软雅黑" panose="020B0503020204020204" pitchFamily="34" charset="-122"/>
            </a:endParaRPr>
          </a:p>
          <a:p>
            <a:endParaRPr lang="zh-CN" altLang="en-US"/>
          </a:p>
        </p:txBody>
      </p:sp>
      <p:sp>
        <p:nvSpPr>
          <p:cNvPr id="4" name="页脚占位符 3"/>
          <p:cNvSpPr>
            <a:spLocks noGrp="1"/>
          </p:cNvSpPr>
          <p:nvPr>
            <p:ph type="ftr" sz="quarter" idx="4"/>
          </p:nvPr>
        </p:nvSpPr>
        <p:spPr/>
        <p:txBody>
          <a:bodyPr/>
          <a:lstStyle/>
          <a:p>
            <a:endParaRPr kumimoji="1" lang="zh-CN" altLang="en-US"/>
          </a:p>
        </p:txBody>
      </p:sp>
      <p:sp>
        <p:nvSpPr>
          <p:cNvPr id="5" name="灯片编号占位符 4"/>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lvl="0" indent="0">
              <a:lnSpc>
                <a:spcPct val="150000"/>
              </a:lnSpc>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sym typeface="+mn-ea"/>
              </a:rPr>
              <a:t>这种对话图最初可能看起来比较复杂，但如果通过一次一条线和一个框来跟踪，也是不难理解的。请记住，</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在需求分析阶段，对话图代表了用户和系统在概念级上可能的交互通信作用；但真正的实现可能是有所不同的。</a:t>
            </a:r>
            <a:endParaRPr lang="zh-CN" altLang="en-US" dirty="0">
              <a:latin typeface="宋体" panose="02010600030101010101" pitchFamily="2" charset="-122"/>
              <a:ea typeface="宋体" panose="02010600030101010101" pitchFamily="2" charset="-122"/>
              <a:cs typeface="宋体" panose="02010600030101010101" pitchFamily="2" charset="-122"/>
              <a:sym typeface="+mn-ea"/>
            </a:endParaRPr>
          </a:p>
          <a:p>
            <a:pPr lvl="0">
              <a:lnSpc>
                <a:spcPct val="150000"/>
              </a:lnSpc>
              <a:buFont typeface="Wingdings" panose="05000000000000000000" pitchFamily="2" charset="2"/>
              <a:buChar char="l"/>
            </a:pPr>
            <a:r>
              <a:rPr lang="en-US" altLang="zh-CN"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取消整个请求。</a:t>
            </a:r>
            <a:endParaRPr lang="en-US" altLang="zh-CN" dirty="0">
              <a:latin typeface="宋体" panose="02010600030101010101" pitchFamily="2" charset="-122"/>
              <a:ea typeface="宋体" panose="02010600030101010101" pitchFamily="2" charset="-122"/>
              <a:cs typeface="宋体" panose="02010600030101010101" pitchFamily="2" charset="-122"/>
            </a:endParaRPr>
          </a:p>
          <a:p>
            <a:pPr indent="-342900">
              <a:lnSpc>
                <a:spcPct val="150000"/>
              </a:lnSpc>
              <a:buFont typeface="Wingdings" panose="05000000000000000000" pitchFamily="2" charset="2"/>
              <a:buChar char="l"/>
            </a:pPr>
            <a:r>
              <a:rPr lang="zh-CN" altLang="en-US"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如果请求包含了至少一种化学制品，则提交该请求。    </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indent="-342900">
              <a:lnSpc>
                <a:spcPct val="150000"/>
              </a:lnSpc>
              <a:buFont typeface="Wingdings" panose="05000000000000000000" pitchFamily="2" charset="2"/>
              <a:buChar char="l"/>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 在请求列表中加入一个新的化学制品。</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indent="-342900">
              <a:lnSpc>
                <a:spcPct val="150000"/>
              </a:lnSpc>
              <a:buFont typeface="Wingdings" panose="05000000000000000000" pitchFamily="2" charset="2"/>
              <a:buChar char="l"/>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 从列表中删除一种化学制品。（</a:t>
            </a:r>
            <a:r>
              <a:rPr lang="zh-CN" altLang="en-US" b="1" dirty="0">
                <a:sym typeface="+mn-ea"/>
              </a:rPr>
              <a:t>注意：删除一种化学制品，并不涉及其它的对话元素；而仅仅是在用户做出更改之后，刷新当前请求列表。）</a:t>
            </a:r>
            <a:endParaRPr lang="zh-CN" altLang="en-US" dirty="0">
              <a:latin typeface="宋体" panose="02010600030101010101" pitchFamily="2" charset="-122"/>
              <a:ea typeface="宋体" panose="02010600030101010101" pitchFamily="2" charset="-122"/>
              <a:cs typeface="宋体" panose="02010600030101010101" pitchFamily="2" charset="-122"/>
            </a:endParaRPr>
          </a:p>
          <a:p>
            <a:endParaRPr lang="zh-CN" altLang="en-US" dirty="0">
              <a:latin typeface="宋体" panose="02010600030101010101" pitchFamily="2" charset="-122"/>
              <a:ea typeface="宋体" panose="02010600030101010101" pitchFamily="2" charset="-122"/>
              <a:cs typeface="宋体" panose="02010600030101010101" pitchFamily="2" charset="-122"/>
            </a:endParaRPr>
          </a:p>
        </p:txBody>
      </p:sp>
      <p:sp>
        <p:nvSpPr>
          <p:cNvPr id="4" name="页脚占位符 3"/>
          <p:cNvSpPr>
            <a:spLocks noGrp="1"/>
          </p:cNvSpPr>
          <p:nvPr>
            <p:ph type="ftr" sz="quarter" idx="4"/>
          </p:nvPr>
        </p:nvSpPr>
        <p:spPr/>
        <p:txBody>
          <a:bodyPr/>
          <a:lstStyle/>
          <a:p>
            <a:endParaRPr kumimoji="1" lang="zh-CN" altLang="en-US"/>
          </a:p>
        </p:txBody>
      </p:sp>
      <p:sp>
        <p:nvSpPr>
          <p:cNvPr id="5" name="灯片编号占位符 4"/>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200000"/>
              </a:lnSpc>
              <a:buFont typeface="Wingdings" panose="05000000000000000000" pitchFamily="2" charset="2"/>
              <a:buChar char="l"/>
            </a:pPr>
            <a:r>
              <a:rPr lang="zh-CN" altLang="en-US" b="1" dirty="0">
                <a:sym typeface="+mn-ea"/>
              </a:rPr>
              <a:t> </a:t>
            </a:r>
            <a:r>
              <a:rPr lang="zh-CN" altLang="en-US" dirty="0">
                <a:latin typeface="微软雅黑" panose="020B0503020204020204" pitchFamily="34" charset="-122"/>
                <a:ea typeface="微软雅黑" panose="020B0503020204020204" pitchFamily="34" charset="-122"/>
                <a:sym typeface="+mn-ea"/>
              </a:rPr>
              <a:t>向供应商请购化学制品的一条流路径。</a:t>
            </a:r>
            <a:endParaRPr lang="zh-CN" altLang="en-US" dirty="0">
              <a:latin typeface="微软雅黑" panose="020B0503020204020204" pitchFamily="34" charset="-122"/>
              <a:ea typeface="微软雅黑" panose="020B0503020204020204" pitchFamily="34" charset="-122"/>
            </a:endParaRPr>
          </a:p>
          <a:p>
            <a:pPr>
              <a:lnSpc>
                <a:spcPct val="20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sym typeface="+mn-ea"/>
              </a:rPr>
              <a:t> 来自化学制品仓库的执行请求的另一条路径。</a:t>
            </a:r>
            <a:endParaRPr lang="zh-CN" altLang="en-US" dirty="0">
              <a:latin typeface="微软雅黑" panose="020B0503020204020204" pitchFamily="34" charset="-122"/>
              <a:ea typeface="微软雅黑" panose="020B0503020204020204" pitchFamily="34" charset="-122"/>
            </a:endParaRPr>
          </a:p>
          <a:p>
            <a:pPr>
              <a:lnSpc>
                <a:spcPct val="20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sym typeface="+mn-ea"/>
              </a:rPr>
              <a:t> 查看特定化学仓库容器的历史记录的一条可选路径。</a:t>
            </a:r>
            <a:endParaRPr lang="zh-CN" altLang="en-US" dirty="0">
              <a:latin typeface="微软雅黑" panose="020B0503020204020204" pitchFamily="34" charset="-122"/>
              <a:ea typeface="微软雅黑" panose="020B0503020204020204" pitchFamily="34" charset="-122"/>
            </a:endParaRPr>
          </a:p>
          <a:p>
            <a:pPr>
              <a:lnSpc>
                <a:spcPct val="20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sym typeface="+mn-ea"/>
              </a:rPr>
              <a:t> 对处理无效化学制品标识号输入的一条错误信息显示。</a:t>
            </a:r>
            <a:endParaRPr lang="zh-CN" altLang="en-US" dirty="0">
              <a:latin typeface="微软雅黑" panose="020B0503020204020204" pitchFamily="34" charset="-122"/>
              <a:ea typeface="微软雅黑" panose="020B0503020204020204" pitchFamily="34" charset="-122"/>
            </a:endParaRPr>
          </a:p>
          <a:p>
            <a:endParaRPr lang="zh-CN" altLang="en-US"/>
          </a:p>
        </p:txBody>
      </p:sp>
      <p:sp>
        <p:nvSpPr>
          <p:cNvPr id="4" name="页脚占位符 3"/>
          <p:cNvSpPr>
            <a:spLocks noGrp="1"/>
          </p:cNvSpPr>
          <p:nvPr>
            <p:ph type="ftr" sz="quarter" idx="4"/>
          </p:nvPr>
        </p:nvSpPr>
        <p:spPr/>
        <p:txBody>
          <a:bodyPr/>
          <a:lstStyle/>
          <a:p>
            <a:endParaRPr kumimoji="1" lang="zh-CN" altLang="en-US"/>
          </a:p>
        </p:txBody>
      </p:sp>
      <p:sp>
        <p:nvSpPr>
          <p:cNvPr id="5" name="灯片编号占位符 4"/>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lvl="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sym typeface="+mn-ea"/>
              </a:rPr>
              <a:t> </a:t>
            </a:r>
            <a:r>
              <a:rPr lang="zh-CN" altLang="en-US" dirty="0">
                <a:latin typeface="宋体" panose="02010600030101010101" pitchFamily="2" charset="-122"/>
                <a:ea typeface="宋体" panose="02010600030101010101" pitchFamily="2" charset="-122"/>
                <a:sym typeface="+mn-ea"/>
              </a:rPr>
              <a:t>对话图中的一些转换允许用户退出操作。对于查看是否忽略任何可用性需求对话图是一种很好的方法，比如向导中遗漏了一个退格键，此时就会强迫用户完成一个不需要的动作。</a:t>
            </a:r>
            <a:endParaRPr lang="zh-CN" altLang="en-US" dirty="0">
              <a:latin typeface="宋体" panose="02010600030101010101" pitchFamily="2" charset="-122"/>
              <a:ea typeface="宋体" panose="02010600030101010101" pitchFamily="2" charset="-122"/>
            </a:endParaRPr>
          </a:p>
          <a:p>
            <a:pPr lvl="0">
              <a:lnSpc>
                <a:spcPct val="150000"/>
              </a:lnSpc>
              <a:buFont typeface="Wingdings" panose="05000000000000000000" pitchFamily="2" charset="2"/>
              <a:buChar char="l"/>
            </a:pPr>
            <a:r>
              <a:rPr lang="zh-CN" altLang="en-US" dirty="0">
                <a:latin typeface="宋体" panose="02010600030101010101" pitchFamily="2" charset="-122"/>
                <a:ea typeface="宋体" panose="02010600030101010101" pitchFamily="2" charset="-122"/>
                <a:sym typeface="+mn-ea"/>
              </a:rPr>
              <a:t>当用户检查这个对话图时，他可能发现一个遗漏需求。例如，一个谨慎的客户可能认为确认取消整个请求的操作是个好主意，因它可以预防不小心丢失数据。在分析阶段，增加这一新功能只需要极少的代价，但是在已发布的产品中增加这一功能，则代价甚大。</a:t>
            </a:r>
            <a:endParaRPr lang="zh-CN" altLang="en-US" dirty="0">
              <a:latin typeface="宋体" panose="02010600030101010101" pitchFamily="2" charset="-122"/>
              <a:ea typeface="宋体" panose="02010600030101010101" pitchFamily="2" charset="-122"/>
            </a:endParaRPr>
          </a:p>
          <a:p>
            <a:pPr lvl="0">
              <a:lnSpc>
                <a:spcPct val="150000"/>
              </a:lnSpc>
              <a:buFont typeface="Wingdings" panose="05000000000000000000" pitchFamily="2" charset="2"/>
              <a:buChar char="l"/>
            </a:pPr>
            <a:r>
              <a:rPr lang="zh-CN" altLang="en-US" dirty="0">
                <a:latin typeface="宋体" panose="02010600030101010101" pitchFamily="2" charset="-122"/>
                <a:ea typeface="宋体" panose="02010600030101010101" pitchFamily="2" charset="-122"/>
                <a:sym typeface="+mn-ea"/>
              </a:rPr>
              <a:t>由于对话图仅表示了在用户和系统交互中包含的可能元素的概念视图，所以不要试图在需求阶段去刻画所有用户界面的设计细节。而是利用这些模型使项目的风险承担者在系统预期的功能上达成共识</a:t>
            </a:r>
            <a:r>
              <a:rPr lang="zh-CN" altLang="en-US" dirty="0">
                <a:latin typeface="微软雅黑" panose="020B0503020204020204" pitchFamily="34" charset="-122"/>
                <a:ea typeface="微软雅黑" panose="020B0503020204020204" pitchFamily="34" charset="-122"/>
                <a:sym typeface="+mn-ea"/>
              </a:rPr>
              <a:t>。</a:t>
            </a:r>
            <a:endParaRPr lang="zh-CN" altLang="en-US" dirty="0">
              <a:latin typeface="微软雅黑" panose="020B0503020204020204" pitchFamily="34" charset="-122"/>
              <a:ea typeface="微软雅黑" panose="020B0503020204020204" pitchFamily="34" charset="-122"/>
            </a:endParaRPr>
          </a:p>
          <a:p>
            <a:pPr lvl="0">
              <a:lnSpc>
                <a:spcPct val="200000"/>
              </a:lnSpc>
            </a:pPr>
            <a:endParaRPr lang="en-US" altLang="zh-CN" dirty="0">
              <a:latin typeface="微软雅黑" panose="020B0503020204020204" pitchFamily="34" charset="-122"/>
              <a:ea typeface="微软雅黑" panose="020B0503020204020204" pitchFamily="34" charset="-122"/>
            </a:endParaRPr>
          </a:p>
          <a:p>
            <a:endParaRPr lang="zh-CN" altLang="en-US"/>
          </a:p>
        </p:txBody>
      </p:sp>
      <p:sp>
        <p:nvSpPr>
          <p:cNvPr id="4" name="页脚占位符 3"/>
          <p:cNvSpPr>
            <a:spLocks noGrp="1"/>
          </p:cNvSpPr>
          <p:nvPr>
            <p:ph type="ftr" sz="quarter" idx="4"/>
          </p:nvPr>
        </p:nvSpPr>
        <p:spPr/>
        <p:txBody>
          <a:bodyPr/>
          <a:lstStyle/>
          <a:p>
            <a:endParaRPr kumimoji="1" lang="zh-CN" altLang="en-US"/>
          </a:p>
        </p:txBody>
      </p:sp>
      <p:sp>
        <p:nvSpPr>
          <p:cNvPr id="5" name="灯片编号占位符 4"/>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latin typeface="宋体" panose="02010600030101010101" pitchFamily="2" charset="-122"/>
                <a:ea typeface="宋体" panose="02010600030101010101" pitchFamily="2" charset="-122"/>
                <a:cs typeface="宋体" panose="02010600030101010101" pitchFamily="2" charset="-122"/>
                <a:sym typeface="+mn-ea"/>
              </a:rPr>
              <a:t>许多不同的面向对象的方法和符号几年来已取得很大的进展。</a:t>
            </a:r>
            <a:endParaRPr lang="zh-CN" altLang="en-US" dirty="0">
              <a:latin typeface="宋体" panose="02010600030101010101" pitchFamily="2" charset="-122"/>
              <a:ea typeface="宋体" panose="02010600030101010101" pitchFamily="2" charset="-122"/>
              <a:cs typeface="宋体" panose="02010600030101010101" pitchFamily="2" charset="-122"/>
              <a:sym typeface="+mn-ea"/>
            </a:endParaRPr>
          </a:p>
          <a:p>
            <a:r>
              <a:rPr lang="zh-CN" altLang="en-US" dirty="0">
                <a:latin typeface="宋体" panose="02010600030101010101" pitchFamily="2" charset="-122"/>
                <a:ea typeface="宋体" panose="02010600030101010101" pitchFamily="2" charset="-122"/>
                <a:cs typeface="宋体" panose="02010600030101010101" pitchFamily="2" charset="-122"/>
                <a:sym typeface="+mn-ea"/>
              </a:rPr>
              <a:t>“统一建模语言”</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(UML)</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的顺序图</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(sequence diagram)  </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和协作图</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(collaboration diagram)</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可以表示类之间的交互以及它们所交换的信息，本书未对它作深入的研究。</a:t>
            </a:r>
            <a:endParaRPr lang="zh-CN" altLang="en-US" dirty="0">
              <a:latin typeface="宋体" panose="02010600030101010101" pitchFamily="2" charset="-122"/>
              <a:ea typeface="宋体" panose="02010600030101010101" pitchFamily="2" charset="-122"/>
              <a:cs typeface="宋体" panose="02010600030101010101" pitchFamily="2" charset="-122"/>
            </a:endParaRPr>
          </a:p>
          <a:p>
            <a:endParaRPr lang="zh-CN" altLang="en-US"/>
          </a:p>
        </p:txBody>
      </p:sp>
      <p:sp>
        <p:nvSpPr>
          <p:cNvPr id="4" name="页脚占位符 3"/>
          <p:cNvSpPr>
            <a:spLocks noGrp="1"/>
          </p:cNvSpPr>
          <p:nvPr>
            <p:ph type="ftr" sz="quarter" idx="4"/>
          </p:nvPr>
        </p:nvSpPr>
        <p:spPr/>
        <p:txBody>
          <a:bodyPr/>
          <a:lstStyle/>
          <a:p>
            <a:endParaRPr kumimoji="1" lang="zh-CN" altLang="en-US"/>
          </a:p>
        </p:txBody>
      </p:sp>
      <p:sp>
        <p:nvSpPr>
          <p:cNvPr id="5" name="灯片编号占位符 4"/>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lvl="0">
              <a:lnSpc>
                <a:spcPct val="200000"/>
              </a:lnSpc>
              <a:buFont typeface="Wingdings" panose="05000000000000000000" pitchFamily="2" charset="2"/>
              <a:buChar char="l"/>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图</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3.8</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显示了四个类，每个类都放在一个大的矩形框中：请求者、供应商目录表、化学制品请求和请求中的条目。</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lvl="0">
              <a:lnSpc>
                <a:spcPct val="200000"/>
              </a:lnSpc>
              <a:buFont typeface="Wingdings" panose="05000000000000000000" pitchFamily="2" charset="2"/>
              <a:buChar char="l"/>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这个类图和其它分析模型所表示的信息有相似之处。出现在图</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3.5</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实体联系图中的请求者，代表了可以由化学家或化学制品仓库用户类扮演的操作员角色。图</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3.4</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数据流图也表示这两个用户类可以提出对化学制品的请求。</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indent="-342900">
              <a:lnSpc>
                <a:spcPct val="200000"/>
              </a:lnSpc>
              <a:buFont typeface="Wingdings" panose="05000000000000000000" pitchFamily="2" charset="2"/>
              <a:buChar char="l"/>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不要把用户类和对象类相混淆，虽然它们名字相似，但并不一定存在特定的联系。 </a:t>
            </a:r>
            <a:endParaRPr lang="zh-CN" altLang="en-US" dirty="0">
              <a:latin typeface="宋体" panose="02010600030101010101" pitchFamily="2" charset="-122"/>
              <a:ea typeface="宋体" panose="02010600030101010101" pitchFamily="2" charset="-122"/>
              <a:cs typeface="宋体" panose="02010600030101010101" pitchFamily="2" charset="-122"/>
            </a:endParaRPr>
          </a:p>
          <a:p>
            <a:endParaRPr lang="zh-CN" altLang="en-US"/>
          </a:p>
        </p:txBody>
      </p:sp>
      <p:sp>
        <p:nvSpPr>
          <p:cNvPr id="4" name="页脚占位符 3"/>
          <p:cNvSpPr>
            <a:spLocks noGrp="1"/>
          </p:cNvSpPr>
          <p:nvPr>
            <p:ph type="ftr" sz="quarter" idx="4"/>
          </p:nvPr>
        </p:nvSpPr>
        <p:spPr/>
        <p:txBody>
          <a:bodyPr/>
          <a:lstStyle/>
          <a:p>
            <a:endParaRPr kumimoji="1" lang="zh-CN" altLang="en-US"/>
          </a:p>
        </p:txBody>
      </p:sp>
      <p:sp>
        <p:nvSpPr>
          <p:cNvPr id="5" name="灯片编号占位符 4"/>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20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sym typeface="+mn-ea"/>
              </a:rPr>
              <a:t>不同的编程人员对于同一数据项使用不同的变量名称、长度和有效性验证，这将导致在真正的数据定义上的混淆，当数据存入占据空间太小的变量中时将要截短数据，并且造成维护上的困难。</a:t>
            </a: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
        <p:nvSpPr>
          <p:cNvPr id="5" name="页脚占位符 4"/>
          <p:cNvSpPr>
            <a:spLocks noGrp="1"/>
          </p:cNvSpPr>
          <p:nvPr>
            <p:ph type="ftr" sz="quarter" idx="4"/>
          </p:nvPr>
        </p:nvSpPr>
        <p:spPr/>
        <p:txBody>
          <a:bodyPr/>
          <a:lstStyle/>
          <a:p>
            <a:endParaRPr kumimoji="1"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lvl="0">
              <a:lnSpc>
                <a:spcPct val="200000"/>
              </a:lnSpc>
              <a:buFont typeface="Wingdings" panose="05000000000000000000" pitchFamily="2" charset="2"/>
              <a:buChar char="l"/>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  在需求阶段，数据字典至少应定义客户数据项以确保客户与开发小组是使用一致的定义和术语。</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lvl="0">
              <a:lnSpc>
                <a:spcPct val="200000"/>
              </a:lnSpc>
              <a:buFont typeface="Wingdings" panose="05000000000000000000" pitchFamily="2" charset="2"/>
              <a:buChar char="l"/>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  数据字典可以把不同的需求文档和分析模型紧密结合在一起。</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indent="-342900">
              <a:lnSpc>
                <a:spcPct val="200000"/>
              </a:lnSpc>
              <a:buFont typeface="Wingdings" panose="05000000000000000000" pitchFamily="2" charset="2"/>
              <a:buChar char="l"/>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数据字典的维护独立于软件需求规格说明，并且在产品的开发和维护的任何阶段，各个风险承担者都可以访问数据字典。 </a:t>
            </a:r>
            <a:endParaRPr lang="zh-CN" altLang="en-US" dirty="0">
              <a:latin typeface="宋体" panose="02010600030101010101" pitchFamily="2" charset="-122"/>
              <a:ea typeface="宋体" panose="02010600030101010101" pitchFamily="2" charset="-122"/>
              <a:cs typeface="宋体" panose="02010600030101010101" pitchFamily="2" charset="-122"/>
            </a:endParaRPr>
          </a:p>
          <a:p>
            <a:endParaRPr lang="zh-CN" altLang="en-US"/>
          </a:p>
        </p:txBody>
      </p:sp>
      <p:sp>
        <p:nvSpPr>
          <p:cNvPr id="4" name="页脚占位符 3"/>
          <p:cNvSpPr>
            <a:spLocks noGrp="1"/>
          </p:cNvSpPr>
          <p:nvPr>
            <p:ph type="ftr" sz="quarter" idx="4"/>
          </p:nvPr>
        </p:nvSpPr>
        <p:spPr/>
        <p:txBody>
          <a:bodyPr/>
          <a:lstStyle/>
          <a:p>
            <a:endParaRPr kumimoji="1" lang="zh-CN" altLang="en-US"/>
          </a:p>
        </p:txBody>
      </p:sp>
      <p:sp>
        <p:nvSpPr>
          <p:cNvPr id="5" name="灯片编号占位符 4"/>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200000"/>
              </a:lnSpc>
            </a:pPr>
            <a:r>
              <a:rPr lang="zh-CN" altLang="en-US" b="1" dirty="0">
                <a:latin typeface="宋体" panose="02010600030101010101" pitchFamily="2" charset="-122"/>
                <a:ea typeface="宋体" panose="02010600030101010101" pitchFamily="2" charset="-122"/>
                <a:cs typeface="宋体" panose="02010600030101010101" pitchFamily="2" charset="-122"/>
                <a:sym typeface="+mn-ea"/>
              </a:rPr>
              <a:t>尽管各工具中字典的形式各不相同，但都包含以下信息：</a:t>
            </a:r>
            <a:endParaRPr lang="zh-CN" altLang="en-US" b="1" dirty="0">
              <a:latin typeface="宋体" panose="02010600030101010101" pitchFamily="2" charset="-122"/>
              <a:ea typeface="宋体" panose="02010600030101010101" pitchFamily="2" charset="-122"/>
              <a:cs typeface="宋体" panose="02010600030101010101" pitchFamily="2" charset="-122"/>
            </a:endParaRPr>
          </a:p>
          <a:p>
            <a:pPr lvl="0">
              <a:lnSpc>
                <a:spcPct val="200000"/>
              </a:lnSpc>
            </a:pPr>
            <a:r>
              <a:rPr lang="en-US" altLang="zh-CN"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）名称</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数据或控制项、数据存储或外部实体的主要名称。</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lvl="0">
              <a:lnSpc>
                <a:spcPct val="200000"/>
              </a:lnSpc>
            </a:pPr>
            <a:r>
              <a:rPr lang="en-US" altLang="zh-CN" dirty="0">
                <a:latin typeface="宋体" panose="02010600030101010101" pitchFamily="2" charset="-122"/>
                <a:ea typeface="宋体" panose="02010600030101010101" pitchFamily="2" charset="-122"/>
                <a:cs typeface="宋体" panose="02010600030101010101" pitchFamily="2" charset="-122"/>
                <a:sym typeface="+mn-ea"/>
              </a:rPr>
              <a:t>2</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）别名</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第一项的其他名称。</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a:lnSpc>
                <a:spcPct val="200000"/>
              </a:lnSpc>
            </a:pPr>
            <a:r>
              <a:rPr lang="en-US" altLang="zh-CN" b="1" dirty="0">
                <a:latin typeface="宋体" panose="02010600030101010101" pitchFamily="2" charset="-122"/>
                <a:ea typeface="宋体" panose="02010600030101010101" pitchFamily="2" charset="-122"/>
                <a:cs typeface="宋体" panose="02010600030101010101" pitchFamily="2" charset="-122"/>
                <a:sym typeface="+mn-ea"/>
              </a:rPr>
              <a:t>3</a:t>
            </a:r>
            <a:r>
              <a:rPr lang="zh-CN" altLang="en-US" b="1" dirty="0">
                <a:latin typeface="宋体" panose="02010600030101010101" pitchFamily="2" charset="-122"/>
                <a:ea typeface="宋体" panose="02010600030101010101" pitchFamily="2" charset="-122"/>
                <a:cs typeface="宋体" panose="02010600030101010101" pitchFamily="2" charset="-122"/>
                <a:sym typeface="+mn-ea"/>
              </a:rPr>
              <a:t>）何处使用</a:t>
            </a:r>
            <a:r>
              <a:rPr lang="en-US" altLang="zh-CN"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b="1" dirty="0">
                <a:latin typeface="宋体" panose="02010600030101010101" pitchFamily="2" charset="-122"/>
                <a:ea typeface="宋体" panose="02010600030101010101" pitchFamily="2" charset="-122"/>
                <a:cs typeface="宋体" panose="02010600030101010101" pitchFamily="2" charset="-122"/>
                <a:sym typeface="+mn-ea"/>
              </a:rPr>
              <a:t>如何使用</a:t>
            </a:r>
            <a:r>
              <a:rPr lang="en-US" altLang="zh-CN"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b="1" dirty="0">
                <a:latin typeface="宋体" panose="02010600030101010101" pitchFamily="2" charset="-122"/>
                <a:ea typeface="宋体" panose="02010600030101010101" pitchFamily="2" charset="-122"/>
                <a:cs typeface="宋体" panose="02010600030101010101" pitchFamily="2" charset="-122"/>
                <a:sym typeface="+mn-ea"/>
              </a:rPr>
              <a:t>使用数据或控制项的加工列表，以及如何使用（例如，加工的输入、加工的输出、作为存储、作为外部实体）。</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 </a:t>
            </a:r>
            <a:endParaRPr lang="en-US" altLang="zh-CN" dirty="0">
              <a:latin typeface="宋体" panose="02010600030101010101" pitchFamily="2" charset="-122"/>
              <a:ea typeface="宋体" panose="02010600030101010101" pitchFamily="2" charset="-122"/>
              <a:cs typeface="宋体" panose="02010600030101010101" pitchFamily="2" charset="-122"/>
            </a:endParaRPr>
          </a:p>
          <a:p>
            <a:pPr>
              <a:lnSpc>
                <a:spcPct val="200000"/>
              </a:lnSpc>
            </a:pPr>
            <a:r>
              <a:rPr lang="en-US" altLang="zh-CN" b="1" dirty="0">
                <a:latin typeface="宋体" panose="02010600030101010101" pitchFamily="2" charset="-122"/>
                <a:ea typeface="宋体" panose="02010600030101010101" pitchFamily="2" charset="-122"/>
                <a:cs typeface="宋体" panose="02010600030101010101" pitchFamily="2" charset="-122"/>
                <a:sym typeface="+mn-ea"/>
              </a:rPr>
              <a:t>4</a:t>
            </a:r>
            <a:r>
              <a:rPr lang="zh-CN" altLang="en-US"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内容描述</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表示内容的符号。</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a:lnSpc>
                <a:spcPct val="200000"/>
              </a:lnSpc>
            </a:pPr>
            <a:r>
              <a:rPr lang="en-US" altLang="zh-CN" dirty="0">
                <a:latin typeface="宋体" panose="02010600030101010101" pitchFamily="2" charset="-122"/>
                <a:ea typeface="宋体" panose="02010600030101010101" pitchFamily="2" charset="-122"/>
                <a:cs typeface="宋体" panose="02010600030101010101" pitchFamily="2" charset="-122"/>
                <a:sym typeface="+mn-ea"/>
              </a:rPr>
              <a:t>5</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）补充信息</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关于数据类型、预设值（如果知道）、限制或局限等的其他信息。</a:t>
            </a:r>
            <a:endParaRPr lang="zh-CN" altLang="en-US" dirty="0">
              <a:latin typeface="宋体" panose="02010600030101010101" pitchFamily="2" charset="-122"/>
              <a:ea typeface="宋体" panose="02010600030101010101" pitchFamily="2" charset="-122"/>
              <a:cs typeface="宋体" panose="02010600030101010101" pitchFamily="2" charset="-122"/>
            </a:endParaRPr>
          </a:p>
          <a:p>
            <a:endParaRPr lang="zh-CN" altLang="en-US"/>
          </a:p>
        </p:txBody>
      </p:sp>
      <p:sp>
        <p:nvSpPr>
          <p:cNvPr id="4" name="页脚占位符 3"/>
          <p:cNvSpPr>
            <a:spLocks noGrp="1"/>
          </p:cNvSpPr>
          <p:nvPr>
            <p:ph type="ftr" sz="quarter" idx="4"/>
          </p:nvPr>
        </p:nvSpPr>
        <p:spPr/>
        <p:txBody>
          <a:bodyPr/>
          <a:lstStyle/>
          <a:p>
            <a:endParaRPr kumimoji="1" lang="zh-CN" altLang="en-US"/>
          </a:p>
        </p:txBody>
      </p:sp>
      <p:sp>
        <p:nvSpPr>
          <p:cNvPr id="5" name="灯片编号占位符 4"/>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200000"/>
              </a:lnSpc>
            </a:pPr>
            <a:r>
              <a:rPr lang="zh-CN" altLang="en-US" b="1" dirty="0">
                <a:latin typeface="宋体" panose="02010600030101010101" pitchFamily="2" charset="-122"/>
                <a:ea typeface="宋体" panose="02010600030101010101" pitchFamily="2" charset="-122"/>
                <a:cs typeface="宋体" panose="02010600030101010101" pitchFamily="2" charset="-122"/>
                <a:sym typeface="+mn-ea"/>
              </a:rPr>
              <a:t>该符号体系使得软件工程师可以以三种基本的构造方式之一来表示复合数据</a:t>
            </a:r>
            <a:r>
              <a:rPr lang="en-US" altLang="zh-CN" b="1" dirty="0">
                <a:latin typeface="宋体" panose="02010600030101010101" pitchFamily="2" charset="-122"/>
                <a:ea typeface="宋体" panose="02010600030101010101" pitchFamily="2" charset="-122"/>
                <a:cs typeface="宋体" panose="02010600030101010101" pitchFamily="2" charset="-122"/>
                <a:sym typeface="+mn-ea"/>
              </a:rPr>
              <a:t>:</a:t>
            </a:r>
            <a:endParaRPr lang="en-US" altLang="zh-CN" b="1" dirty="0">
              <a:latin typeface="宋体" panose="02010600030101010101" pitchFamily="2" charset="-122"/>
              <a:ea typeface="宋体" panose="02010600030101010101" pitchFamily="2" charset="-122"/>
              <a:cs typeface="宋体" panose="02010600030101010101" pitchFamily="2" charset="-122"/>
            </a:endParaRPr>
          </a:p>
          <a:p>
            <a:pPr lvl="0">
              <a:lnSpc>
                <a:spcPct val="200000"/>
              </a:lnSpc>
            </a:pPr>
            <a:r>
              <a:rPr lang="en-US" altLang="zh-CN"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）作为数据项的序列。</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lvl="0">
              <a:lnSpc>
                <a:spcPct val="200000"/>
              </a:lnSpc>
            </a:pPr>
            <a:r>
              <a:rPr lang="en-US" altLang="zh-CN" dirty="0">
                <a:latin typeface="宋体" panose="02010600030101010101" pitchFamily="2" charset="-122"/>
                <a:ea typeface="宋体" panose="02010600030101010101" pitchFamily="2" charset="-122"/>
                <a:cs typeface="宋体" panose="02010600030101010101" pitchFamily="2" charset="-122"/>
                <a:sym typeface="+mn-ea"/>
              </a:rPr>
              <a:t>2</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）作为从一组数据项中的选择。</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a:lnSpc>
                <a:spcPct val="200000"/>
              </a:lnSpc>
            </a:pPr>
            <a:r>
              <a:rPr lang="en-US" altLang="zh-CN" b="1" dirty="0">
                <a:latin typeface="宋体" panose="02010600030101010101" pitchFamily="2" charset="-122"/>
                <a:ea typeface="宋体" panose="02010600030101010101" pitchFamily="2" charset="-122"/>
                <a:cs typeface="宋体" panose="02010600030101010101" pitchFamily="2" charset="-122"/>
                <a:sym typeface="+mn-ea"/>
              </a:rPr>
              <a:t>3</a:t>
            </a:r>
            <a:r>
              <a:rPr lang="zh-CN" altLang="en-US"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作为数据项的重复的组合。每个数据项中的项可能表示为顺序、选择和重复的一部分，而其本身又是另一个复合数据项，需要在字典中进一步精化</a:t>
            </a:r>
            <a:endParaRPr lang="en-US" altLang="zh-CN" b="1" dirty="0">
              <a:latin typeface="宋体" panose="02010600030101010101" pitchFamily="2" charset="-122"/>
              <a:ea typeface="宋体" panose="02010600030101010101" pitchFamily="2" charset="-122"/>
              <a:cs typeface="宋体" panose="02010600030101010101" pitchFamily="2" charset="-122"/>
            </a:endParaRPr>
          </a:p>
        </p:txBody>
      </p:sp>
      <p:sp>
        <p:nvSpPr>
          <p:cNvPr id="4" name="页脚占位符 3"/>
          <p:cNvSpPr>
            <a:spLocks noGrp="1"/>
          </p:cNvSpPr>
          <p:nvPr>
            <p:ph type="ftr" sz="quarter" idx="4"/>
          </p:nvPr>
        </p:nvSpPr>
        <p:spPr/>
        <p:txBody>
          <a:bodyPr/>
          <a:lstStyle/>
          <a:p>
            <a:endParaRPr kumimoji="1" lang="zh-CN" altLang="en-US"/>
          </a:p>
        </p:txBody>
      </p:sp>
      <p:sp>
        <p:nvSpPr>
          <p:cNvPr id="5" name="灯片编号占位符 4"/>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lvl="0">
              <a:lnSpc>
                <a:spcPct val="150000"/>
              </a:lnSpc>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以下所示的例子来自“化学制品跟踪系统”。</a:t>
            </a:r>
            <a:endParaRPr lang="zh-CN" altLang="en-US" dirty="0">
              <a:latin typeface="宋体" panose="02010600030101010101" pitchFamily="2" charset="-122"/>
              <a:ea typeface="宋体" panose="02010600030101010101" pitchFamily="2" charset="-122"/>
              <a:cs typeface="宋体" panose="02010600030101010101" pitchFamily="2" charset="-122"/>
              <a:sym typeface="+mn-ea"/>
            </a:endParaRPr>
          </a:p>
          <a:p>
            <a:pPr lvl="0">
              <a:lnSpc>
                <a:spcPct val="150000"/>
              </a:lnSpc>
            </a:pPr>
            <a:r>
              <a:rPr lang="en-US" altLang="zh-CN"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原数据元素</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lvl="0">
              <a:lnSpc>
                <a:spcPct val="150000"/>
              </a:lnSpc>
            </a:pPr>
            <a:r>
              <a:rPr lang="en-US" altLang="zh-CN"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一个原数据元素是不可分解的。可以给它赋予一个数量值。原数据的定义必须确定其数据类型、大小、允许取值的范围等等。典型的原数据元素的定义是一行注释文本，并以星号作为界限：</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lvl="0">
              <a:lnSpc>
                <a:spcPct val="150000"/>
              </a:lnSpc>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       请求标识号</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=*6</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位系统生成的顺序整数，以</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开头，并能唯一标识每个请求*</a:t>
            </a:r>
            <a:endParaRPr lang="zh-CN" altLang="en-US" dirty="0">
              <a:latin typeface="宋体" panose="02010600030101010101" pitchFamily="2" charset="-122"/>
              <a:ea typeface="宋体" panose="02010600030101010101" pitchFamily="2" charset="-122"/>
              <a:cs typeface="宋体" panose="02010600030101010101" pitchFamily="2" charset="-122"/>
            </a:endParaRPr>
          </a:p>
          <a:p>
            <a:endParaRPr lang="zh-CN" altLang="en-US" dirty="0">
              <a:latin typeface="宋体" panose="02010600030101010101" pitchFamily="2" charset="-122"/>
              <a:ea typeface="宋体" panose="02010600030101010101" pitchFamily="2" charset="-122"/>
              <a:cs typeface="宋体" panose="02010600030101010101" pitchFamily="2" charset="-122"/>
            </a:endParaRPr>
          </a:p>
        </p:txBody>
      </p:sp>
      <p:sp>
        <p:nvSpPr>
          <p:cNvPr id="4" name="页脚占位符 3"/>
          <p:cNvSpPr>
            <a:spLocks noGrp="1"/>
          </p:cNvSpPr>
          <p:nvPr>
            <p:ph type="ftr" sz="quarter" idx="4"/>
          </p:nvPr>
        </p:nvSpPr>
        <p:spPr/>
        <p:txBody>
          <a:bodyPr/>
          <a:lstStyle/>
          <a:p>
            <a:endParaRPr kumimoji="1" lang="zh-CN" altLang="en-US"/>
          </a:p>
        </p:txBody>
      </p:sp>
      <p:sp>
        <p:nvSpPr>
          <p:cNvPr id="5" name="灯片编号占位符 4"/>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lvl="0">
              <a:lnSpc>
                <a:spcPct val="150000"/>
              </a:lnSpc>
            </a:pPr>
            <a:r>
              <a:rPr lang="en-US" altLang="zh-CN" dirty="0">
                <a:latin typeface="宋体" panose="02010600030101010101" pitchFamily="2" charset="-122"/>
                <a:ea typeface="宋体" panose="02010600030101010101" pitchFamily="2" charset="-122"/>
                <a:cs typeface="宋体" panose="02010600030101010101" pitchFamily="2" charset="-122"/>
                <a:sym typeface="+mn-ea"/>
              </a:rPr>
              <a:t>2)</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组合项 </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lvl="0">
              <a:lnSpc>
                <a:spcPct val="150000"/>
              </a:lnSpc>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      一个数据结构或记录包含了多个数据项。如果数据结构中的项是可选的，就把它用括弧括起来：  </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lvl="0">
              <a:lnSpc>
                <a:spcPct val="150000"/>
              </a:lnSpc>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      请求的化学制品</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化学制品标识号</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数量</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数量单位</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供应商名称</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a:t>
            </a:r>
            <a:endParaRPr lang="en-US" altLang="zh-CN" dirty="0">
              <a:latin typeface="宋体" panose="02010600030101010101" pitchFamily="2" charset="-122"/>
              <a:ea typeface="宋体" panose="02010600030101010101" pitchFamily="2" charset="-122"/>
              <a:cs typeface="宋体" panose="02010600030101010101" pitchFamily="2" charset="-122"/>
            </a:endParaRPr>
          </a:p>
          <a:p>
            <a:pPr lvl="0">
              <a:lnSpc>
                <a:spcPct val="150000"/>
              </a:lnSpc>
            </a:pPr>
            <a:r>
              <a:rPr lang="en-US" altLang="zh-CN"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这个结构确定了与请求一种特定化学制品相关的所有信息。供应商名称是可选的。</a:t>
            </a:r>
            <a:endParaRPr lang="zh-CN" altLang="en-US" dirty="0">
              <a:latin typeface="宋体" panose="02010600030101010101" pitchFamily="2" charset="-122"/>
              <a:ea typeface="宋体" panose="02010600030101010101" pitchFamily="2" charset="-122"/>
              <a:cs typeface="宋体" panose="02010600030101010101" pitchFamily="2" charset="-122"/>
            </a:endParaRPr>
          </a:p>
          <a:p>
            <a:endParaRPr lang="zh-CN" altLang="en-US" dirty="0">
              <a:latin typeface="宋体" panose="02010600030101010101" pitchFamily="2" charset="-122"/>
              <a:ea typeface="宋体" panose="02010600030101010101" pitchFamily="2" charset="-122"/>
              <a:cs typeface="宋体" panose="02010600030101010101" pitchFamily="2" charset="-122"/>
            </a:endParaRPr>
          </a:p>
        </p:txBody>
      </p:sp>
      <p:sp>
        <p:nvSpPr>
          <p:cNvPr id="4" name="页脚占位符 3"/>
          <p:cNvSpPr>
            <a:spLocks noGrp="1"/>
          </p:cNvSpPr>
          <p:nvPr>
            <p:ph type="ftr" sz="quarter" idx="4"/>
          </p:nvPr>
        </p:nvSpPr>
        <p:spPr/>
        <p:txBody>
          <a:bodyPr/>
          <a:lstStyle/>
          <a:p>
            <a:endParaRPr kumimoji="1" lang="zh-CN" altLang="en-US"/>
          </a:p>
        </p:txBody>
      </p:sp>
      <p:sp>
        <p:nvSpPr>
          <p:cNvPr id="5" name="灯片编号占位符 4"/>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lvl="0">
              <a:lnSpc>
                <a:spcPct val="200000"/>
              </a:lnSpc>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sym typeface="+mn-ea"/>
              </a:rPr>
              <a:t>3)</a:t>
            </a:r>
            <a:r>
              <a:rPr lang="zh-CN" altLang="en-US" dirty="0">
                <a:latin typeface="微软雅黑" panose="020B0503020204020204" pitchFamily="34" charset="-122"/>
                <a:ea typeface="微软雅黑" panose="020B0503020204020204" pitchFamily="34" charset="-122"/>
                <a:sym typeface="+mn-ea"/>
              </a:rPr>
              <a:t>重复项</a:t>
            </a:r>
            <a:endParaRPr lang="en-US" altLang="zh-CN" dirty="0">
              <a:latin typeface="微软雅黑" panose="020B0503020204020204" pitchFamily="34" charset="-122"/>
              <a:ea typeface="微软雅黑" panose="020B0503020204020204" pitchFamily="34" charset="-122"/>
            </a:endParaRPr>
          </a:p>
          <a:p>
            <a:pPr lvl="0">
              <a:lnSpc>
                <a:spcPct val="200000"/>
              </a:lnSpc>
            </a:pPr>
            <a:r>
              <a:rPr lang="zh-CN" altLang="en-US" dirty="0">
                <a:latin typeface="微软雅黑" panose="020B0503020204020204" pitchFamily="34" charset="-122"/>
                <a:ea typeface="微软雅黑" panose="020B0503020204020204" pitchFamily="34" charset="-122"/>
                <a:sym typeface="+mn-ea"/>
              </a:rPr>
              <a:t>       如果一个项的多个实例将出现在数据结构中，就把该项用花括弧括起来。如果你知道可能允许的重复次数，就用“最小值：最大值”这种形式写在括号之前：</a:t>
            </a:r>
            <a:endParaRPr lang="zh-CN" altLang="en-US" dirty="0">
              <a:latin typeface="微软雅黑" panose="020B0503020204020204" pitchFamily="34" charset="-122"/>
              <a:ea typeface="微软雅黑" panose="020B0503020204020204" pitchFamily="34" charset="-122"/>
            </a:endParaRPr>
          </a:p>
          <a:p>
            <a:pPr lvl="0">
              <a:lnSpc>
                <a:spcPct val="200000"/>
              </a:lnSpc>
            </a:pPr>
            <a:r>
              <a:rPr lang="en-US" altLang="zh-CN" dirty="0">
                <a:latin typeface="微软雅黑" panose="020B0503020204020204" pitchFamily="34" charset="-122"/>
                <a:ea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sym typeface="+mn-ea"/>
              </a:rPr>
              <a:t>请求</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请求标识号</a:t>
            </a:r>
            <a:endParaRPr lang="zh-CN" altLang="en-US" dirty="0">
              <a:latin typeface="微软雅黑" panose="020B0503020204020204" pitchFamily="34" charset="-122"/>
              <a:ea typeface="微软雅黑" panose="020B0503020204020204" pitchFamily="34" charset="-122"/>
            </a:endParaRPr>
          </a:p>
          <a:p>
            <a:pPr lvl="0">
              <a:lnSpc>
                <a:spcPct val="200000"/>
              </a:lnSpc>
            </a:pPr>
            <a:r>
              <a:rPr lang="zh-CN" altLang="en-US" dirty="0">
                <a:latin typeface="微软雅黑" panose="020B0503020204020204" pitchFamily="34" charset="-122"/>
                <a:ea typeface="微软雅黑" panose="020B0503020204020204" pitchFamily="34" charset="-122"/>
                <a:sym typeface="+mn-ea"/>
              </a:rPr>
              <a:t>                </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产品编号</a:t>
            </a:r>
            <a:endParaRPr lang="zh-CN" altLang="en-US" dirty="0">
              <a:latin typeface="微软雅黑" panose="020B0503020204020204" pitchFamily="34" charset="-122"/>
              <a:ea typeface="微软雅黑" panose="020B0503020204020204" pitchFamily="34" charset="-122"/>
            </a:endParaRPr>
          </a:p>
          <a:p>
            <a:pPr lvl="0">
              <a:lnSpc>
                <a:spcPct val="200000"/>
              </a:lnSpc>
            </a:pPr>
            <a:r>
              <a:rPr lang="zh-CN" altLang="en-US" dirty="0">
                <a:latin typeface="微软雅黑" panose="020B0503020204020204" pitchFamily="34" charset="-122"/>
                <a:ea typeface="微软雅黑" panose="020B0503020204020204" pitchFamily="34" charset="-122"/>
                <a:sym typeface="+mn-ea"/>
              </a:rPr>
              <a:t>                </a:t>
            </a:r>
            <a:r>
              <a:rPr lang="en-US" altLang="zh-CN" dirty="0">
                <a:latin typeface="微软雅黑" panose="020B0503020204020204" pitchFamily="34" charset="-122"/>
                <a:ea typeface="微软雅黑" panose="020B0503020204020204" pitchFamily="34" charset="-122"/>
                <a:sym typeface="+mn-ea"/>
              </a:rPr>
              <a:t>+1</a:t>
            </a:r>
            <a:r>
              <a:rPr lang="zh-CN" altLang="en-US" dirty="0">
                <a:latin typeface="微软雅黑" panose="020B0503020204020204" pitchFamily="34" charset="-122"/>
                <a:ea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sym typeface="+mn-ea"/>
              </a:rPr>
              <a:t>10{</a:t>
            </a:r>
            <a:r>
              <a:rPr lang="zh-CN" altLang="en-US" dirty="0">
                <a:latin typeface="微软雅黑" panose="020B0503020204020204" pitchFamily="34" charset="-122"/>
                <a:ea typeface="微软雅黑" panose="020B0503020204020204" pitchFamily="34" charset="-122"/>
                <a:sym typeface="+mn-ea"/>
              </a:rPr>
              <a:t>请求的化学制品</a:t>
            </a:r>
            <a:r>
              <a:rPr lang="en-US" altLang="zh-CN" dirty="0">
                <a:latin typeface="微软雅黑" panose="020B0503020204020204" pitchFamily="34" charset="-122"/>
                <a:ea typeface="微软雅黑" panose="020B0503020204020204" pitchFamily="34" charset="-122"/>
                <a:sym typeface="+mn-ea"/>
              </a:rPr>
              <a:t>}</a:t>
            </a:r>
            <a:endParaRPr lang="en-US" altLang="zh-CN" dirty="0">
              <a:latin typeface="微软雅黑" panose="020B0503020204020204" pitchFamily="34" charset="-122"/>
              <a:ea typeface="微软雅黑" panose="020B0503020204020204" pitchFamily="34" charset="-122"/>
            </a:endParaRPr>
          </a:p>
          <a:p>
            <a:pPr lvl="0">
              <a:lnSpc>
                <a:spcPct val="200000"/>
              </a:lnSpc>
            </a:pPr>
            <a:r>
              <a:rPr lang="zh-CN" altLang="en-US" dirty="0">
                <a:latin typeface="微软雅黑" panose="020B0503020204020204" pitchFamily="34" charset="-122"/>
                <a:ea typeface="微软雅黑" panose="020B0503020204020204" pitchFamily="34" charset="-122"/>
                <a:sym typeface="+mn-ea"/>
              </a:rPr>
              <a:t>       这个例子表明，一个化学制品的请求至少应包含一种化学制品，但不能多于</a:t>
            </a:r>
            <a:r>
              <a:rPr lang="en-US" altLang="zh-CN" dirty="0">
                <a:latin typeface="微软雅黑" panose="020B0503020204020204" pitchFamily="34" charset="-122"/>
                <a:ea typeface="微软雅黑" panose="020B0503020204020204" pitchFamily="34" charset="-122"/>
                <a:sym typeface="+mn-ea"/>
              </a:rPr>
              <a:t>10</a:t>
            </a:r>
            <a:r>
              <a:rPr lang="zh-CN" altLang="en-US" dirty="0">
                <a:latin typeface="微软雅黑" panose="020B0503020204020204" pitchFamily="34" charset="-122"/>
                <a:ea typeface="微软雅黑" panose="020B0503020204020204" pitchFamily="34" charset="-122"/>
                <a:sym typeface="+mn-ea"/>
              </a:rPr>
              <a:t>种。每个请求也包括一个单一的请求标识号和一个产品编号，它们的格式将在数据字典的其它地方定义。 </a:t>
            </a:r>
            <a:endParaRPr lang="en-US" altLang="zh-CN" dirty="0">
              <a:latin typeface="微软雅黑" panose="020B0503020204020204" pitchFamily="34" charset="-122"/>
              <a:ea typeface="微软雅黑" panose="020B0503020204020204" pitchFamily="34" charset="-122"/>
            </a:endParaRPr>
          </a:p>
          <a:p>
            <a:pPr lvl="0">
              <a:lnSpc>
                <a:spcPct val="200000"/>
              </a:lnSpc>
            </a:pPr>
            <a:endParaRPr lang="zh-CN" altLang="en-US"/>
          </a:p>
        </p:txBody>
      </p:sp>
      <p:sp>
        <p:nvSpPr>
          <p:cNvPr id="4" name="页脚占位符 3"/>
          <p:cNvSpPr>
            <a:spLocks noGrp="1"/>
          </p:cNvSpPr>
          <p:nvPr>
            <p:ph type="ftr" sz="quarter" idx="4"/>
          </p:nvPr>
        </p:nvSpPr>
        <p:spPr/>
        <p:txBody>
          <a:bodyPr/>
          <a:lstStyle/>
          <a:p>
            <a:endParaRPr kumimoji="1" lang="zh-CN" altLang="en-US"/>
          </a:p>
        </p:txBody>
      </p:sp>
      <p:sp>
        <p:nvSpPr>
          <p:cNvPr id="5" name="灯片编号占位符 4"/>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lvl="0">
              <a:lnSpc>
                <a:spcPct val="200000"/>
              </a:lnSpc>
            </a:pPr>
            <a:r>
              <a:rPr lang="en-US" altLang="zh-CN" dirty="0">
                <a:latin typeface="微软雅黑" panose="020B0503020204020204" pitchFamily="34" charset="-122"/>
                <a:ea typeface="微软雅黑" panose="020B0503020204020204" pitchFamily="34" charset="-122"/>
                <a:sym typeface="+mn-ea"/>
              </a:rPr>
              <a:t>4)</a:t>
            </a:r>
            <a:r>
              <a:rPr lang="zh-CN" altLang="en-US" dirty="0">
                <a:latin typeface="微软雅黑" panose="020B0503020204020204" pitchFamily="34" charset="-122"/>
                <a:ea typeface="微软雅黑" panose="020B0503020204020204" pitchFamily="34" charset="-122"/>
                <a:sym typeface="+mn-ea"/>
              </a:rPr>
              <a:t>选择项</a:t>
            </a:r>
            <a:endParaRPr lang="zh-CN" altLang="en-US" dirty="0">
              <a:latin typeface="微软雅黑" panose="020B0503020204020204" pitchFamily="34" charset="-122"/>
              <a:ea typeface="微软雅黑" panose="020B0503020204020204" pitchFamily="34" charset="-122"/>
            </a:endParaRPr>
          </a:p>
          <a:p>
            <a:pPr lvl="0">
              <a:lnSpc>
                <a:spcPct val="200000"/>
              </a:lnSpc>
            </a:pPr>
            <a:r>
              <a:rPr lang="zh-CN" altLang="en-US" dirty="0">
                <a:latin typeface="微软雅黑" panose="020B0503020204020204" pitchFamily="34" charset="-122"/>
                <a:ea typeface="微软雅黑" panose="020B0503020204020204" pitchFamily="34" charset="-122"/>
                <a:sym typeface="+mn-ea"/>
              </a:rPr>
              <a:t>      如果一个原数据项元素可以取得有限的离散值，就把这些值列举出来：</a:t>
            </a:r>
            <a:endParaRPr lang="zh-CN" altLang="en-US" dirty="0">
              <a:latin typeface="微软雅黑" panose="020B0503020204020204" pitchFamily="34" charset="-122"/>
              <a:ea typeface="微软雅黑" panose="020B0503020204020204" pitchFamily="34" charset="-122"/>
            </a:endParaRPr>
          </a:p>
          <a:p>
            <a:pPr lvl="0">
              <a:lnSpc>
                <a:spcPct val="200000"/>
              </a:lnSpc>
            </a:pPr>
            <a:r>
              <a:rPr lang="zh-CN" altLang="en-US" dirty="0">
                <a:latin typeface="微软雅黑" panose="020B0503020204020204" pitchFamily="34" charset="-122"/>
                <a:ea typeface="微软雅黑" panose="020B0503020204020204" pitchFamily="34" charset="-122"/>
                <a:sym typeface="+mn-ea"/>
              </a:rPr>
              <a:t>      数量单位</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克”</a:t>
            </a:r>
            <a:r>
              <a:rPr lang="en-US" altLang="zh-CN" dirty="0">
                <a:latin typeface="微软雅黑" panose="020B0503020204020204" pitchFamily="34" charset="-122"/>
                <a:ea typeface="微软雅黑" panose="020B0503020204020204" pitchFamily="34" charset="-122"/>
                <a:sym typeface="+mn-ea"/>
              </a:rPr>
              <a:t>I“</a:t>
            </a:r>
            <a:r>
              <a:rPr lang="zh-CN" altLang="en-US" dirty="0">
                <a:latin typeface="微软雅黑" panose="020B0503020204020204" pitchFamily="34" charset="-122"/>
                <a:ea typeface="微软雅黑" panose="020B0503020204020204" pitchFamily="34" charset="-122"/>
                <a:sym typeface="+mn-ea"/>
              </a:rPr>
              <a:t>千克”</a:t>
            </a:r>
            <a:r>
              <a:rPr lang="en-US" altLang="zh-CN" dirty="0">
                <a:latin typeface="微软雅黑" panose="020B0503020204020204" pitchFamily="34" charset="-122"/>
                <a:ea typeface="微软雅黑" panose="020B0503020204020204" pitchFamily="34" charset="-122"/>
                <a:sym typeface="+mn-ea"/>
              </a:rPr>
              <a:t>I“</a:t>
            </a:r>
            <a:r>
              <a:rPr lang="zh-CN" altLang="en-US" dirty="0">
                <a:latin typeface="微软雅黑" panose="020B0503020204020204" pitchFamily="34" charset="-122"/>
                <a:ea typeface="微软雅黑" panose="020B0503020204020204" pitchFamily="34" charset="-122"/>
                <a:sym typeface="+mn-ea"/>
              </a:rPr>
              <a:t>个”</a:t>
            </a:r>
            <a:r>
              <a:rPr lang="en-US" altLang="zh-CN" dirty="0">
                <a:latin typeface="微软雅黑" panose="020B0503020204020204" pitchFamily="34" charset="-122"/>
                <a:ea typeface="微软雅黑" panose="020B0503020204020204" pitchFamily="34" charset="-122"/>
                <a:sym typeface="+mn-ea"/>
              </a:rPr>
              <a:t>] </a:t>
            </a:r>
            <a:endParaRPr lang="en-US" altLang="zh-CN" dirty="0">
              <a:latin typeface="微软雅黑" panose="020B0503020204020204" pitchFamily="34" charset="-122"/>
              <a:ea typeface="微软雅黑" panose="020B0503020204020204" pitchFamily="34" charset="-122"/>
            </a:endParaRPr>
          </a:p>
          <a:p>
            <a:pPr lvl="0">
              <a:lnSpc>
                <a:spcPct val="200000"/>
              </a:lnSpc>
            </a:pPr>
            <a:r>
              <a:rPr lang="en-US" altLang="zh-CN" dirty="0">
                <a:latin typeface="微软雅黑" panose="020B0503020204020204" pitchFamily="34" charset="-122"/>
                <a:ea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sym typeface="+mn-ea"/>
              </a:rPr>
              <a:t>*文本串表示了与所请求的化学制品的量相关的单位*</a:t>
            </a:r>
            <a:endParaRPr lang="en-US" altLang="zh-CN" dirty="0">
              <a:latin typeface="微软雅黑" panose="020B0503020204020204" pitchFamily="34" charset="-122"/>
              <a:ea typeface="微软雅黑" panose="020B0503020204020204" pitchFamily="34" charset="-122"/>
            </a:endParaRPr>
          </a:p>
          <a:p>
            <a:pPr lvl="0">
              <a:lnSpc>
                <a:spcPct val="200000"/>
              </a:lnSpc>
            </a:pPr>
            <a:r>
              <a:rPr lang="zh-CN" altLang="en-US" dirty="0">
                <a:latin typeface="微软雅黑" panose="020B0503020204020204" pitchFamily="34" charset="-122"/>
                <a:ea typeface="微软雅黑" panose="020B0503020204020204" pitchFamily="34" charset="-122"/>
                <a:sym typeface="+mn-ea"/>
              </a:rPr>
              <a:t>      表明了数量单位的文本串只允许</a:t>
            </a:r>
            <a:r>
              <a:rPr lang="en-US" altLang="zh-CN" dirty="0">
                <a:latin typeface="微软雅黑" panose="020B0503020204020204" pitchFamily="34" charset="-122"/>
                <a:ea typeface="微软雅黑" panose="020B0503020204020204" pitchFamily="34" charset="-122"/>
                <a:sym typeface="+mn-ea"/>
              </a:rPr>
              <a:t>3</a:t>
            </a:r>
            <a:r>
              <a:rPr lang="zh-CN" altLang="en-US" dirty="0">
                <a:latin typeface="微软雅黑" panose="020B0503020204020204" pitchFamily="34" charset="-122"/>
                <a:ea typeface="微软雅黑" panose="020B0503020204020204" pitchFamily="34" charset="-122"/>
                <a:sym typeface="+mn-ea"/>
              </a:rPr>
              <a:t>种取值。注释提供了数据项定义的信息。</a:t>
            </a:r>
            <a:endParaRPr lang="zh-CN" altLang="en-US" dirty="0">
              <a:latin typeface="微软雅黑" panose="020B0503020204020204" pitchFamily="34" charset="-122"/>
              <a:ea typeface="微软雅黑" panose="020B0503020204020204" pitchFamily="34" charset="-122"/>
              <a:sym typeface="+mn-ea"/>
            </a:endParaRPr>
          </a:p>
          <a:p>
            <a:pPr lvl="0" indent="0">
              <a:lnSpc>
                <a:spcPct val="200000"/>
              </a:lnSpc>
              <a:buFont typeface="Wingdings" panose="05000000000000000000" pitchFamily="2" charset="2"/>
              <a:buNone/>
            </a:pPr>
            <a:r>
              <a:rPr lang="en-US" altLang="zh-CN"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在创建数据字典和词汇表上所花费的时间可以大大减少由于项目的参与者对一些关键信息的理解不一致所带来时间的浪费。</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lvl="0" indent="0">
              <a:lnSpc>
                <a:spcPct val="200000"/>
              </a:lnSpc>
              <a:buFont typeface="Wingdings" panose="05000000000000000000" pitchFamily="2" charset="2"/>
              <a:buNone/>
            </a:pPr>
            <a:r>
              <a:rPr lang="en-US" altLang="zh-CN"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在大型的软件系统中，数据字典的规模和复杂性迅速增长，手工维护数据字典非常困难，所以要使用</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CASE</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工具。</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lvl="0">
              <a:lnSpc>
                <a:spcPct val="200000"/>
              </a:lnSpc>
            </a:pPr>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4"/>
          </p:nvPr>
        </p:nvSpPr>
        <p:spPr/>
        <p:txBody>
          <a:bodyPr/>
          <a:lstStyle/>
          <a:p>
            <a:endParaRPr kumimoji="1" lang="zh-CN" altLang="en-US"/>
          </a:p>
        </p:txBody>
      </p:sp>
      <p:sp>
        <p:nvSpPr>
          <p:cNvPr id="5" name="灯片编号占位符 4"/>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lvl="0">
              <a:lnSpc>
                <a:spcPct val="200000"/>
              </a:lnSpc>
            </a:pPr>
            <a:r>
              <a:rPr lang="en-US" altLang="zh-CN" dirty="0">
                <a:latin typeface="微软雅黑" panose="020B0503020204020204" pitchFamily="34" charset="-122"/>
                <a:ea typeface="微软雅黑" panose="020B0503020204020204" pitchFamily="34" charset="-122"/>
                <a:sym typeface="+mn-ea"/>
              </a:rPr>
              <a:t>4)</a:t>
            </a:r>
            <a:r>
              <a:rPr lang="zh-CN" altLang="en-US" dirty="0">
                <a:latin typeface="微软雅黑" panose="020B0503020204020204" pitchFamily="34" charset="-122"/>
                <a:ea typeface="微软雅黑" panose="020B0503020204020204" pitchFamily="34" charset="-122"/>
                <a:sym typeface="+mn-ea"/>
              </a:rPr>
              <a:t>选择项</a:t>
            </a:r>
            <a:endParaRPr lang="zh-CN" altLang="en-US" dirty="0">
              <a:latin typeface="微软雅黑" panose="020B0503020204020204" pitchFamily="34" charset="-122"/>
              <a:ea typeface="微软雅黑" panose="020B0503020204020204" pitchFamily="34" charset="-122"/>
            </a:endParaRPr>
          </a:p>
          <a:p>
            <a:pPr lvl="0">
              <a:lnSpc>
                <a:spcPct val="200000"/>
              </a:lnSpc>
            </a:pPr>
            <a:r>
              <a:rPr lang="zh-CN" altLang="en-US" dirty="0">
                <a:latin typeface="微软雅黑" panose="020B0503020204020204" pitchFamily="34" charset="-122"/>
                <a:ea typeface="微软雅黑" panose="020B0503020204020204" pitchFamily="34" charset="-122"/>
                <a:sym typeface="+mn-ea"/>
              </a:rPr>
              <a:t>      如果一个原数据项元素可以取得有限的离散值，就把这些值列举出来：</a:t>
            </a:r>
            <a:endParaRPr lang="zh-CN" altLang="en-US" dirty="0">
              <a:latin typeface="微软雅黑" panose="020B0503020204020204" pitchFamily="34" charset="-122"/>
              <a:ea typeface="微软雅黑" panose="020B0503020204020204" pitchFamily="34" charset="-122"/>
            </a:endParaRPr>
          </a:p>
          <a:p>
            <a:pPr lvl="0">
              <a:lnSpc>
                <a:spcPct val="200000"/>
              </a:lnSpc>
            </a:pPr>
            <a:r>
              <a:rPr lang="zh-CN" altLang="en-US" dirty="0">
                <a:latin typeface="微软雅黑" panose="020B0503020204020204" pitchFamily="34" charset="-122"/>
                <a:ea typeface="微软雅黑" panose="020B0503020204020204" pitchFamily="34" charset="-122"/>
                <a:sym typeface="+mn-ea"/>
              </a:rPr>
              <a:t>      数量单位</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克”</a:t>
            </a:r>
            <a:r>
              <a:rPr lang="en-US" altLang="zh-CN" dirty="0">
                <a:latin typeface="微软雅黑" panose="020B0503020204020204" pitchFamily="34" charset="-122"/>
                <a:ea typeface="微软雅黑" panose="020B0503020204020204" pitchFamily="34" charset="-122"/>
                <a:sym typeface="+mn-ea"/>
              </a:rPr>
              <a:t>I“</a:t>
            </a:r>
            <a:r>
              <a:rPr lang="zh-CN" altLang="en-US" dirty="0">
                <a:latin typeface="微软雅黑" panose="020B0503020204020204" pitchFamily="34" charset="-122"/>
                <a:ea typeface="微软雅黑" panose="020B0503020204020204" pitchFamily="34" charset="-122"/>
                <a:sym typeface="+mn-ea"/>
              </a:rPr>
              <a:t>千克”</a:t>
            </a:r>
            <a:r>
              <a:rPr lang="en-US" altLang="zh-CN" dirty="0">
                <a:latin typeface="微软雅黑" panose="020B0503020204020204" pitchFamily="34" charset="-122"/>
                <a:ea typeface="微软雅黑" panose="020B0503020204020204" pitchFamily="34" charset="-122"/>
                <a:sym typeface="+mn-ea"/>
              </a:rPr>
              <a:t>I“</a:t>
            </a:r>
            <a:r>
              <a:rPr lang="zh-CN" altLang="en-US" dirty="0">
                <a:latin typeface="微软雅黑" panose="020B0503020204020204" pitchFamily="34" charset="-122"/>
                <a:ea typeface="微软雅黑" panose="020B0503020204020204" pitchFamily="34" charset="-122"/>
                <a:sym typeface="+mn-ea"/>
              </a:rPr>
              <a:t>个”</a:t>
            </a:r>
            <a:r>
              <a:rPr lang="en-US" altLang="zh-CN" dirty="0">
                <a:latin typeface="微软雅黑" panose="020B0503020204020204" pitchFamily="34" charset="-122"/>
                <a:ea typeface="微软雅黑" panose="020B0503020204020204" pitchFamily="34" charset="-122"/>
                <a:sym typeface="+mn-ea"/>
              </a:rPr>
              <a:t>] </a:t>
            </a:r>
            <a:endParaRPr lang="en-US" altLang="zh-CN" dirty="0">
              <a:latin typeface="微软雅黑" panose="020B0503020204020204" pitchFamily="34" charset="-122"/>
              <a:ea typeface="微软雅黑" panose="020B0503020204020204" pitchFamily="34" charset="-122"/>
            </a:endParaRPr>
          </a:p>
          <a:p>
            <a:pPr lvl="0">
              <a:lnSpc>
                <a:spcPct val="200000"/>
              </a:lnSpc>
            </a:pPr>
            <a:r>
              <a:rPr lang="en-US" altLang="zh-CN" dirty="0">
                <a:latin typeface="微软雅黑" panose="020B0503020204020204" pitchFamily="34" charset="-122"/>
                <a:ea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sym typeface="+mn-ea"/>
              </a:rPr>
              <a:t>*文本串表示了与所请求的化学制品的量相关的单位*</a:t>
            </a:r>
            <a:endParaRPr lang="en-US" altLang="zh-CN" dirty="0">
              <a:latin typeface="微软雅黑" panose="020B0503020204020204" pitchFamily="34" charset="-122"/>
              <a:ea typeface="微软雅黑" panose="020B0503020204020204" pitchFamily="34" charset="-122"/>
            </a:endParaRPr>
          </a:p>
          <a:p>
            <a:pPr lvl="0">
              <a:lnSpc>
                <a:spcPct val="200000"/>
              </a:lnSpc>
            </a:pPr>
            <a:r>
              <a:rPr lang="zh-CN" altLang="en-US" dirty="0">
                <a:latin typeface="微软雅黑" panose="020B0503020204020204" pitchFamily="34" charset="-122"/>
                <a:ea typeface="微软雅黑" panose="020B0503020204020204" pitchFamily="34" charset="-122"/>
                <a:sym typeface="+mn-ea"/>
              </a:rPr>
              <a:t>      表明了数量单位的文本串只允许</a:t>
            </a:r>
            <a:r>
              <a:rPr lang="en-US" altLang="zh-CN" dirty="0">
                <a:latin typeface="微软雅黑" panose="020B0503020204020204" pitchFamily="34" charset="-122"/>
                <a:ea typeface="微软雅黑" panose="020B0503020204020204" pitchFamily="34" charset="-122"/>
                <a:sym typeface="+mn-ea"/>
              </a:rPr>
              <a:t>3</a:t>
            </a:r>
            <a:r>
              <a:rPr lang="zh-CN" altLang="en-US" dirty="0">
                <a:latin typeface="微软雅黑" panose="020B0503020204020204" pitchFamily="34" charset="-122"/>
                <a:ea typeface="微软雅黑" panose="020B0503020204020204" pitchFamily="34" charset="-122"/>
                <a:sym typeface="+mn-ea"/>
              </a:rPr>
              <a:t>种取值。注释提供了数据项定义的信息。</a:t>
            </a:r>
            <a:endParaRPr lang="zh-CN" altLang="en-US" dirty="0">
              <a:latin typeface="微软雅黑" panose="020B0503020204020204" pitchFamily="34" charset="-122"/>
              <a:ea typeface="微软雅黑" panose="020B0503020204020204" pitchFamily="34" charset="-122"/>
              <a:sym typeface="+mn-ea"/>
            </a:endParaRPr>
          </a:p>
          <a:p>
            <a:pPr lvl="0" indent="0">
              <a:lnSpc>
                <a:spcPct val="200000"/>
              </a:lnSpc>
              <a:buFont typeface="Wingdings" panose="05000000000000000000" pitchFamily="2" charset="2"/>
              <a:buNone/>
            </a:pPr>
            <a:r>
              <a:rPr lang="en-US" altLang="zh-CN"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在创建数据字典和词汇表上所花费的时间可以大大减少由于项目的参与者对一些关键信息的理解不一致所带来时间的浪费。</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lvl="0" indent="0">
              <a:lnSpc>
                <a:spcPct val="200000"/>
              </a:lnSpc>
              <a:buFont typeface="Wingdings" panose="05000000000000000000" pitchFamily="2" charset="2"/>
              <a:buNone/>
            </a:pPr>
            <a:r>
              <a:rPr lang="en-US" altLang="zh-CN"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在大型的软件系统中，数据字典的规模和复杂性迅速增长，手工维护数据字典非常困难，所以要使用</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CASE</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工具。</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lvl="0">
              <a:lnSpc>
                <a:spcPct val="200000"/>
              </a:lnSpc>
            </a:pPr>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4"/>
          </p:nvPr>
        </p:nvSpPr>
        <p:spPr/>
        <p:txBody>
          <a:bodyPr/>
          <a:lstStyle/>
          <a:p>
            <a:endParaRPr kumimoji="1" lang="zh-CN" altLang="en-US"/>
          </a:p>
        </p:txBody>
      </p:sp>
      <p:sp>
        <p:nvSpPr>
          <p:cNvPr id="5" name="灯片编号占位符 4"/>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lvl="0">
              <a:lnSpc>
                <a:spcPct val="200000"/>
              </a:lnSpc>
            </a:pPr>
            <a:r>
              <a:rPr lang="en-US" altLang="zh-CN" dirty="0">
                <a:latin typeface="微软雅黑" panose="020B0503020204020204" pitchFamily="34" charset="-122"/>
                <a:ea typeface="微软雅黑" panose="020B0503020204020204" pitchFamily="34" charset="-122"/>
                <a:sym typeface="+mn-ea"/>
              </a:rPr>
              <a:t>4)</a:t>
            </a:r>
            <a:r>
              <a:rPr lang="zh-CN" altLang="en-US" dirty="0">
                <a:latin typeface="微软雅黑" panose="020B0503020204020204" pitchFamily="34" charset="-122"/>
                <a:ea typeface="微软雅黑" panose="020B0503020204020204" pitchFamily="34" charset="-122"/>
                <a:sym typeface="+mn-ea"/>
              </a:rPr>
              <a:t>选择项</a:t>
            </a:r>
            <a:endParaRPr lang="zh-CN" altLang="en-US" dirty="0">
              <a:latin typeface="微软雅黑" panose="020B0503020204020204" pitchFamily="34" charset="-122"/>
              <a:ea typeface="微软雅黑" panose="020B0503020204020204" pitchFamily="34" charset="-122"/>
            </a:endParaRPr>
          </a:p>
          <a:p>
            <a:pPr lvl="0">
              <a:lnSpc>
                <a:spcPct val="200000"/>
              </a:lnSpc>
            </a:pPr>
            <a:r>
              <a:rPr lang="zh-CN" altLang="en-US" dirty="0">
                <a:latin typeface="微软雅黑" panose="020B0503020204020204" pitchFamily="34" charset="-122"/>
                <a:ea typeface="微软雅黑" panose="020B0503020204020204" pitchFamily="34" charset="-122"/>
                <a:sym typeface="+mn-ea"/>
              </a:rPr>
              <a:t>      如果一个原数据项元素可以取得有限的离散值，就把这些值列举出来：</a:t>
            </a:r>
            <a:endParaRPr lang="zh-CN" altLang="en-US" dirty="0">
              <a:latin typeface="微软雅黑" panose="020B0503020204020204" pitchFamily="34" charset="-122"/>
              <a:ea typeface="微软雅黑" panose="020B0503020204020204" pitchFamily="34" charset="-122"/>
            </a:endParaRPr>
          </a:p>
          <a:p>
            <a:pPr lvl="0">
              <a:lnSpc>
                <a:spcPct val="200000"/>
              </a:lnSpc>
            </a:pPr>
            <a:r>
              <a:rPr lang="zh-CN" altLang="en-US" dirty="0">
                <a:latin typeface="微软雅黑" panose="020B0503020204020204" pitchFamily="34" charset="-122"/>
                <a:ea typeface="微软雅黑" panose="020B0503020204020204" pitchFamily="34" charset="-122"/>
                <a:sym typeface="+mn-ea"/>
              </a:rPr>
              <a:t>      数量单位</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克”</a:t>
            </a:r>
            <a:r>
              <a:rPr lang="en-US" altLang="zh-CN" dirty="0">
                <a:latin typeface="微软雅黑" panose="020B0503020204020204" pitchFamily="34" charset="-122"/>
                <a:ea typeface="微软雅黑" panose="020B0503020204020204" pitchFamily="34" charset="-122"/>
                <a:sym typeface="+mn-ea"/>
              </a:rPr>
              <a:t>I“</a:t>
            </a:r>
            <a:r>
              <a:rPr lang="zh-CN" altLang="en-US" dirty="0">
                <a:latin typeface="微软雅黑" panose="020B0503020204020204" pitchFamily="34" charset="-122"/>
                <a:ea typeface="微软雅黑" panose="020B0503020204020204" pitchFamily="34" charset="-122"/>
                <a:sym typeface="+mn-ea"/>
              </a:rPr>
              <a:t>千克”</a:t>
            </a:r>
            <a:r>
              <a:rPr lang="en-US" altLang="zh-CN" dirty="0">
                <a:latin typeface="微软雅黑" panose="020B0503020204020204" pitchFamily="34" charset="-122"/>
                <a:ea typeface="微软雅黑" panose="020B0503020204020204" pitchFamily="34" charset="-122"/>
                <a:sym typeface="+mn-ea"/>
              </a:rPr>
              <a:t>I“</a:t>
            </a:r>
            <a:r>
              <a:rPr lang="zh-CN" altLang="en-US" dirty="0">
                <a:latin typeface="微软雅黑" panose="020B0503020204020204" pitchFamily="34" charset="-122"/>
                <a:ea typeface="微软雅黑" panose="020B0503020204020204" pitchFamily="34" charset="-122"/>
                <a:sym typeface="+mn-ea"/>
              </a:rPr>
              <a:t>个”</a:t>
            </a:r>
            <a:r>
              <a:rPr lang="en-US" altLang="zh-CN" dirty="0">
                <a:latin typeface="微软雅黑" panose="020B0503020204020204" pitchFamily="34" charset="-122"/>
                <a:ea typeface="微软雅黑" panose="020B0503020204020204" pitchFamily="34" charset="-122"/>
                <a:sym typeface="+mn-ea"/>
              </a:rPr>
              <a:t>] </a:t>
            </a:r>
            <a:endParaRPr lang="en-US" altLang="zh-CN" dirty="0">
              <a:latin typeface="微软雅黑" panose="020B0503020204020204" pitchFamily="34" charset="-122"/>
              <a:ea typeface="微软雅黑" panose="020B0503020204020204" pitchFamily="34" charset="-122"/>
            </a:endParaRPr>
          </a:p>
          <a:p>
            <a:pPr lvl="0">
              <a:lnSpc>
                <a:spcPct val="200000"/>
              </a:lnSpc>
            </a:pPr>
            <a:r>
              <a:rPr lang="en-US" altLang="zh-CN" dirty="0">
                <a:latin typeface="微软雅黑" panose="020B0503020204020204" pitchFamily="34" charset="-122"/>
                <a:ea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sym typeface="+mn-ea"/>
              </a:rPr>
              <a:t>*文本串表示了与所请求的化学制品的量相关的单位*</a:t>
            </a:r>
            <a:endParaRPr lang="en-US" altLang="zh-CN" dirty="0">
              <a:latin typeface="微软雅黑" panose="020B0503020204020204" pitchFamily="34" charset="-122"/>
              <a:ea typeface="微软雅黑" panose="020B0503020204020204" pitchFamily="34" charset="-122"/>
            </a:endParaRPr>
          </a:p>
          <a:p>
            <a:pPr lvl="0">
              <a:lnSpc>
                <a:spcPct val="200000"/>
              </a:lnSpc>
            </a:pPr>
            <a:r>
              <a:rPr lang="zh-CN" altLang="en-US" dirty="0">
                <a:latin typeface="微软雅黑" panose="020B0503020204020204" pitchFamily="34" charset="-122"/>
                <a:ea typeface="微软雅黑" panose="020B0503020204020204" pitchFamily="34" charset="-122"/>
                <a:sym typeface="+mn-ea"/>
              </a:rPr>
              <a:t>      表明了数量单位的文本串只允许</a:t>
            </a:r>
            <a:r>
              <a:rPr lang="en-US" altLang="zh-CN" dirty="0">
                <a:latin typeface="微软雅黑" panose="020B0503020204020204" pitchFamily="34" charset="-122"/>
                <a:ea typeface="微软雅黑" panose="020B0503020204020204" pitchFamily="34" charset="-122"/>
                <a:sym typeface="+mn-ea"/>
              </a:rPr>
              <a:t>3</a:t>
            </a:r>
            <a:r>
              <a:rPr lang="zh-CN" altLang="en-US" dirty="0">
                <a:latin typeface="微软雅黑" panose="020B0503020204020204" pitchFamily="34" charset="-122"/>
                <a:ea typeface="微软雅黑" panose="020B0503020204020204" pitchFamily="34" charset="-122"/>
                <a:sym typeface="+mn-ea"/>
              </a:rPr>
              <a:t>种取值。注释提供了数据项定义的信息。</a:t>
            </a:r>
            <a:endParaRPr lang="zh-CN" altLang="en-US" dirty="0">
              <a:latin typeface="微软雅黑" panose="020B0503020204020204" pitchFamily="34" charset="-122"/>
              <a:ea typeface="微软雅黑" panose="020B0503020204020204" pitchFamily="34" charset="-122"/>
              <a:sym typeface="+mn-ea"/>
            </a:endParaRPr>
          </a:p>
          <a:p>
            <a:pPr lvl="0" indent="0">
              <a:lnSpc>
                <a:spcPct val="200000"/>
              </a:lnSpc>
              <a:buFont typeface="Wingdings" panose="05000000000000000000" pitchFamily="2" charset="2"/>
              <a:buNone/>
            </a:pPr>
            <a:r>
              <a:rPr lang="en-US" altLang="zh-CN"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在创建数据字典和词汇表上所花费的时间可以大大减少由于项目的参与者对一些关键信息的理解不一致所带来时间的浪费。</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lvl="0" indent="0">
              <a:lnSpc>
                <a:spcPct val="200000"/>
              </a:lnSpc>
              <a:buFont typeface="Wingdings" panose="05000000000000000000" pitchFamily="2" charset="2"/>
              <a:buNone/>
            </a:pPr>
            <a:r>
              <a:rPr lang="en-US" altLang="zh-CN"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在大型的软件系统中，数据字典的规模和复杂性迅速增长，手工维护数据字典非常困难，所以要使用</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CASE</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工具。</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lvl="0">
              <a:lnSpc>
                <a:spcPct val="200000"/>
              </a:lnSpc>
            </a:pPr>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4"/>
          </p:nvPr>
        </p:nvSpPr>
        <p:spPr/>
        <p:txBody>
          <a:bodyPr/>
          <a:lstStyle/>
          <a:p>
            <a:endParaRPr kumimoji="1" lang="zh-CN" altLang="en-US"/>
          </a:p>
        </p:txBody>
      </p:sp>
      <p:sp>
        <p:nvSpPr>
          <p:cNvPr id="5" name="灯片编号占位符 4"/>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200000"/>
              </a:lnSpc>
            </a:pPr>
            <a:r>
              <a:rPr lang="zh-CN" altLang="en-US" b="1" dirty="0">
                <a:latin typeface="宋体" panose="02010600030101010101" pitchFamily="2" charset="-122"/>
                <a:ea typeface="宋体" panose="02010600030101010101" pitchFamily="2" charset="-122"/>
                <a:cs typeface="宋体" panose="02010600030101010101" pitchFamily="2" charset="-122"/>
                <a:sym typeface="+mn-ea"/>
              </a:rPr>
              <a:t>第五次作业：</a:t>
            </a:r>
            <a:endParaRPr lang="zh-CN" altLang="en-US" b="1" dirty="0">
              <a:latin typeface="宋体" panose="02010600030101010101" pitchFamily="2" charset="-122"/>
              <a:ea typeface="宋体" panose="02010600030101010101" pitchFamily="2" charset="-122"/>
              <a:cs typeface="宋体" panose="02010600030101010101" pitchFamily="2" charset="-122"/>
            </a:endParaRPr>
          </a:p>
          <a:p>
            <a:pPr lvl="0">
              <a:lnSpc>
                <a:spcPct val="200000"/>
              </a:lnSpc>
              <a:buFont typeface="Wingdings" panose="05000000000000000000" pitchFamily="2" charset="2"/>
              <a:buChar char="l"/>
            </a:pPr>
            <a:r>
              <a:rPr lang="en-US" altLang="zh-CN"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）自主学习	</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第九章 遵守规则</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，完成授课</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PPT</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制作。</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lvl="0">
              <a:lnSpc>
                <a:spcPct val="200000"/>
              </a:lnSpc>
              <a:buFont typeface="Wingdings" panose="05000000000000000000" pitchFamily="2" charset="2"/>
              <a:buChar char="l"/>
            </a:pPr>
            <a:r>
              <a:rPr lang="en-US" altLang="zh-CN" dirty="0">
                <a:latin typeface="宋体" panose="02010600030101010101" pitchFamily="2" charset="-122"/>
                <a:ea typeface="宋体" panose="02010600030101010101" pitchFamily="2" charset="-122"/>
                <a:cs typeface="宋体" panose="02010600030101010101" pitchFamily="2" charset="-122"/>
                <a:sym typeface="+mn-ea"/>
              </a:rPr>
              <a:t>2</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）基于实验所选项目，分析其可能涉及的与需求分析有关的规则，形成规则列表。</a:t>
            </a:r>
            <a:endParaRPr lang="en-US" altLang="zh-CN" dirty="0">
              <a:latin typeface="宋体" panose="02010600030101010101" pitchFamily="2" charset="-122"/>
              <a:ea typeface="宋体" panose="02010600030101010101" pitchFamily="2" charset="-122"/>
              <a:cs typeface="宋体" panose="02010600030101010101" pitchFamily="2" charset="-122"/>
            </a:endParaRPr>
          </a:p>
          <a:p>
            <a:endParaRPr lang="en-US" altLang="zh-CN" b="1" dirty="0">
              <a:latin typeface="宋体" panose="02010600030101010101" pitchFamily="2" charset="-122"/>
              <a:ea typeface="宋体" panose="02010600030101010101" pitchFamily="2" charset="-122"/>
              <a:cs typeface="宋体" panose="02010600030101010101" pitchFamily="2" charset="-122"/>
            </a:endParaRPr>
          </a:p>
        </p:txBody>
      </p:sp>
      <p:sp>
        <p:nvSpPr>
          <p:cNvPr id="4" name="页脚占位符 3"/>
          <p:cNvSpPr>
            <a:spLocks noGrp="1"/>
          </p:cNvSpPr>
          <p:nvPr>
            <p:ph type="ftr" sz="quarter" idx="4"/>
          </p:nvPr>
        </p:nvSpPr>
        <p:spPr/>
        <p:txBody>
          <a:bodyPr/>
          <a:lstStyle/>
          <a:p>
            <a:endParaRPr kumimoji="1" lang="zh-CN" altLang="en-US"/>
          </a:p>
        </p:txBody>
      </p:sp>
      <p:sp>
        <p:nvSpPr>
          <p:cNvPr id="5" name="灯片编号占位符 4"/>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a:defRPr/>
            </a:pPr>
            <a:fld id="{4D4B758C-9B0B-4F43-8706-0490A9472F2B}"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a:defRPr/>
            </a:pPr>
            <a:fld id="{1453DF3E-AA1A-4A94-A59F-5052C72970BA}" type="datetime1">
              <a:rPr lang="zh-CN" altLang="en-US" smtClean="0">
                <a:solidFill>
                  <a:prstClr val="black">
                    <a:tint val="75000"/>
                  </a:prstClr>
                </a:solidFill>
              </a:rPr>
            </a:fld>
            <a:endParaRPr lang="zh-CN" altLang="en-US" dirty="0">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a:defRPr/>
            </a:pPr>
            <a:fld id="{5BE4ED79-C4D8-43ED-82C0-87C1013D0403}"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67151"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1" y="1825625"/>
            <a:ext cx="3867151"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a:defRPr/>
            </a:pPr>
            <a:fld id="{CE5A692E-A530-47E2-976D-49126DCBAD6E}"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a:defRPr/>
            </a:pPr>
            <a:fld id="{EB03DE81-925F-4E9D-90FB-B83E90769F34}" type="datetime1">
              <a:rPr lang="zh-CN" altLang="en-US" smtClean="0">
                <a:solidFill>
                  <a:prstClr val="black">
                    <a:tint val="75000"/>
                  </a:prstClr>
                </a:solidFill>
              </a:rPr>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a:defRPr/>
            </a:pPr>
            <a:fld id="{ED3BAB49-D0D3-434C-9855-CD1E7B2BB988}" type="datetime1">
              <a:rPr lang="zh-CN" altLang="en-US" smtClean="0">
                <a:solidFill>
                  <a:prstClr val="black">
                    <a:tint val="75000"/>
                  </a:prstClr>
                </a:solidFill>
              </a:rPr>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0421161B-FE02-42A5-89A9-112127BC9D29}" type="datetime1">
              <a:rPr lang="zh-CN" altLang="en-US" smtClean="0">
                <a:solidFill>
                  <a:prstClr val="black">
                    <a:tint val="75000"/>
                  </a:prstClr>
                </a:solidFill>
              </a:rPr>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a:defRPr/>
            </a:pPr>
            <a:fld id="{4BCE8E52-3579-4499-AC93-227A5D5120D9}"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7"/>
            <a:ext cx="6172200" cy="4873625"/>
          </a:xfrm>
        </p:spPr>
        <p:txBody>
          <a:bodyPr vert="horz" lIns="91440" tIns="45720" rIns="91440" bIns="45720"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latinLnBrk="0" hangingPunct="1">
              <a:lnSpc>
                <a:spcPct val="90000"/>
              </a:lnSpc>
              <a:spcBef>
                <a:spcPts val="1000"/>
              </a:spcBef>
              <a:spcAft>
                <a:spcPts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a:defRPr/>
            </a:pPr>
            <a:fld id="{C796889C-2187-4AF2-B48D-6D977B65E160}"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a:defRPr/>
            </a:pPr>
            <a:fld id="{02017139-297E-4A43-BCEF-F92CCD955B72}"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365125"/>
            <a:ext cx="1971675"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2" y="365125"/>
            <a:ext cx="5762625"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a:defRPr/>
            </a:pPr>
            <a:fld id="{D4FD842A-5A9C-476F-BFF9-6378B4E715DB}"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B95077AC-FB31-49B1-85C8-719F2D8AC48D}" type="datetime1">
              <a:rPr lang="zh-CN" altLang="en-US" smtClean="0">
                <a:solidFill>
                  <a:prstClr val="black">
                    <a:tint val="75000"/>
                  </a:prstClr>
                </a:solidFill>
              </a:rPr>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E6E6E5"/>
            </a:gs>
            <a:gs pos="100000">
              <a:schemeClr val="bg1"/>
            </a:gs>
          </a:gsLst>
          <a:lin ang="135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6"/>
            <a:ext cx="10515600" cy="1325563"/>
          </a:xfrm>
          <a:prstGeom prst="rect">
            <a:avLst/>
          </a:prstGeom>
          <a:noFill/>
          <a:ln w="9525">
            <a:noFill/>
            <a:miter/>
          </a:ln>
        </p:spPr>
        <p:txBody>
          <a:bodyPr anchor="ctr"/>
          <a:lstStyle/>
          <a:p>
            <a:pPr lvl="0"/>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a:noFill/>
          <a:ln w="9525">
            <a:noFill/>
            <a:miter/>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base">
              <a:defRPr/>
            </a:pPr>
            <a:fld id="{4B5DCD44-5C38-427F-BB67-794318E0D8DE}"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base">
              <a:defRPr/>
            </a:pPr>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base">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grpSp>
        <p:nvGrpSpPr>
          <p:cNvPr id="7" name="组合 5"/>
          <p:cNvGrpSpPr/>
          <p:nvPr userDrawn="1"/>
        </p:nvGrpSpPr>
        <p:grpSpPr>
          <a:xfrm>
            <a:off x="108557" y="337632"/>
            <a:ext cx="525184" cy="422276"/>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10" name="图片 9"/>
          <p:cNvPicPr>
            <a:picLocks noChangeAspect="1"/>
          </p:cNvPicPr>
          <p:nvPr userDrawn="1"/>
        </p:nvPicPr>
        <p:blipFill rotWithShape="1">
          <a:blip r:embed="rId13"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image" Target="../media/image15.png"/><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9" Type="http://schemas.openxmlformats.org/officeDocument/2006/relationships/slideLayout" Target="../slideLayouts/slideLayout2.xml"/><Relationship Id="rId18" Type="http://schemas.openxmlformats.org/officeDocument/2006/relationships/image" Target="../media/image25.png"/><Relationship Id="rId17" Type="http://schemas.openxmlformats.org/officeDocument/2006/relationships/image" Target="../media/image24.png"/><Relationship Id="rId16" Type="http://schemas.openxmlformats.org/officeDocument/2006/relationships/image" Target="../media/image23.png"/><Relationship Id="rId15" Type="http://schemas.openxmlformats.org/officeDocument/2006/relationships/image" Target="../media/image22.png"/><Relationship Id="rId14" Type="http://schemas.openxmlformats.org/officeDocument/2006/relationships/image" Target="../media/image21.png"/><Relationship Id="rId13" Type="http://schemas.openxmlformats.org/officeDocument/2006/relationships/image" Target="../media/image20.png"/><Relationship Id="rId12" Type="http://schemas.openxmlformats.org/officeDocument/2006/relationships/image" Target="../media/image19.png"/><Relationship Id="rId11" Type="http://schemas.openxmlformats.org/officeDocument/2006/relationships/image" Target="../media/image18.png"/><Relationship Id="rId10" Type="http://schemas.openxmlformats.org/officeDocument/2006/relationships/image" Target="../media/image17.png"/><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27.svg"/><Relationship Id="rId1"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image" Target="../media/image1.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image" Target="../media/image1.png"/></Relationships>
</file>

<file path=ppt/slides/_rels/slide40.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5" Type="http://schemas.openxmlformats.org/officeDocument/2006/relationships/notesSlide" Target="../notesSlides/notesSlide12.xml"/><Relationship Id="rId14" Type="http://schemas.openxmlformats.org/officeDocument/2006/relationships/slideLayout" Target="../slideLayouts/slideLayout2.xml"/><Relationship Id="rId13" Type="http://schemas.openxmlformats.org/officeDocument/2006/relationships/image" Target="../media/image1.png"/><Relationship Id="rId12" Type="http://schemas.openxmlformats.org/officeDocument/2006/relationships/tags" Target="../tags/tag23.xml"/><Relationship Id="rId11" Type="http://schemas.openxmlformats.org/officeDocument/2006/relationships/tags" Target="../tags/tag22.xml"/><Relationship Id="rId10" Type="http://schemas.openxmlformats.org/officeDocument/2006/relationships/tags" Target="../tags/tag21.xml"/><Relationship Id="rId1" Type="http://schemas.openxmlformats.org/officeDocument/2006/relationships/tags" Target="../tags/tag1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28.wmf"/></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29.jpe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tags" Target="../tags/tag24.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image" Target="../media/image1.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2.xml"/><Relationship Id="rId2" Type="http://schemas.openxmlformats.org/officeDocument/2006/relationships/tags" Target="../tags/tag26.xml"/><Relationship Id="rId1" Type="http://schemas.openxmlformats.org/officeDocument/2006/relationships/image" Target="../media/image1.png"/></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2.xml"/><Relationship Id="rId2" Type="http://schemas.openxmlformats.org/officeDocument/2006/relationships/tags" Target="../tags/tag27.xml"/><Relationship Id="rId1" Type="http://schemas.openxmlformats.org/officeDocument/2006/relationships/image" Target="../media/image1.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image" Target="../media/image3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椭圆 28"/>
          <p:cNvSpPr/>
          <p:nvPr/>
        </p:nvSpPr>
        <p:spPr>
          <a:xfrm>
            <a:off x="1248540" y="3559438"/>
            <a:ext cx="1480978" cy="1480978"/>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119" name="组合 118"/>
          <p:cNvGrpSpPr/>
          <p:nvPr/>
        </p:nvGrpSpPr>
        <p:grpSpPr>
          <a:xfrm>
            <a:off x="98996" y="2748476"/>
            <a:ext cx="6428833" cy="1361049"/>
            <a:chOff x="98996" y="2748476"/>
            <a:chExt cx="6428833" cy="1361049"/>
          </a:xfrm>
        </p:grpSpPr>
        <p:grpSp>
          <p:nvGrpSpPr>
            <p:cNvPr id="118" name="组合 117"/>
            <p:cNvGrpSpPr/>
            <p:nvPr/>
          </p:nvGrpSpPr>
          <p:grpSpPr>
            <a:xfrm>
              <a:off x="98996" y="2748476"/>
              <a:ext cx="6428833" cy="1361049"/>
              <a:chOff x="98996" y="2748476"/>
              <a:chExt cx="6428833" cy="1361049"/>
            </a:xfrm>
          </p:grpSpPr>
          <p:pic>
            <p:nvPicPr>
              <p:cNvPr id="5" name="图片 4"/>
              <p:cNvPicPr>
                <a:picLocks noChangeAspect="1"/>
              </p:cNvPicPr>
              <p:nvPr/>
            </p:nvPicPr>
            <p:blipFill rotWithShape="1">
              <a:blip r:embed="rId1" cstate="print">
                <a:extLst>
                  <a:ext uri="{28A0092B-C50C-407E-A947-70E740481C1C}">
                    <a14:useLocalDpi xmlns:a14="http://schemas.microsoft.com/office/drawing/2010/main" val="0"/>
                  </a:ext>
                </a:extLst>
              </a:blip>
              <a:srcRect l="9140"/>
              <a:stretch>
                <a:fillRect/>
              </a:stretch>
            </p:blipFill>
            <p:spPr>
              <a:xfrm>
                <a:off x="98996" y="2754353"/>
                <a:ext cx="2504116" cy="1349293"/>
              </a:xfrm>
              <a:prstGeom prst="rect">
                <a:avLst/>
              </a:prstGeom>
            </p:spPr>
          </p:pic>
          <p:grpSp>
            <p:nvGrpSpPr>
              <p:cNvPr id="12" name="组合 11"/>
              <p:cNvGrpSpPr/>
              <p:nvPr/>
            </p:nvGrpSpPr>
            <p:grpSpPr>
              <a:xfrm>
                <a:off x="1307853" y="2748476"/>
                <a:ext cx="5219976" cy="1361049"/>
                <a:chOff x="1307853" y="2366615"/>
                <a:chExt cx="5219976" cy="1670538"/>
              </a:xfrm>
            </p:grpSpPr>
            <p:sp>
              <p:nvSpPr>
                <p:cNvPr id="8" name="矩形 7"/>
                <p:cNvSpPr/>
                <p:nvPr/>
              </p:nvSpPr>
              <p:spPr>
                <a:xfrm>
                  <a:off x="2562615" y="2373830"/>
                  <a:ext cx="2723165" cy="1656109"/>
                </a:xfrm>
                <a:prstGeom prst="rect">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等腰三角形 5"/>
                <p:cNvSpPr/>
                <p:nvPr/>
              </p:nvSpPr>
              <p:spPr>
                <a:xfrm>
                  <a:off x="1307853" y="2366615"/>
                  <a:ext cx="1262171" cy="1670538"/>
                </a:xfrm>
                <a:prstGeom prst="triangle">
                  <a:avLst>
                    <a:gd name="adj" fmla="val 100000"/>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等腰三角形 9"/>
                <p:cNvSpPr/>
                <p:nvPr/>
              </p:nvSpPr>
              <p:spPr>
                <a:xfrm rot="10800000">
                  <a:off x="5279140" y="2373831"/>
                  <a:ext cx="1248689" cy="1656109"/>
                </a:xfrm>
                <a:prstGeom prst="triangle">
                  <a:avLst>
                    <a:gd name="adj" fmla="val 100000"/>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sp>
          <p:nvSpPr>
            <p:cNvPr id="7" name="文本框 6"/>
            <p:cNvSpPr txBox="1"/>
            <p:nvPr/>
          </p:nvSpPr>
          <p:spPr>
            <a:xfrm>
              <a:off x="2446986" y="2967335"/>
              <a:ext cx="3060121" cy="923330"/>
            </a:xfrm>
            <a:prstGeom prst="rect">
              <a:avLst/>
            </a:prstGeom>
            <a:noFill/>
          </p:spPr>
          <p:txBody>
            <a:bodyPr wrap="square" rtlCol="0">
              <a:spAutoFit/>
            </a:bodyPr>
            <a:lstStyle/>
            <a:p>
              <a:pPr algn="ctr"/>
              <a:r>
                <a:rPr lang="zh-CN" altLang="en-US" sz="5400" dirty="0">
                  <a:solidFill>
                    <a:srgbClr val="F1F5EF"/>
                  </a:solidFill>
                </a:rPr>
                <a:t>第三章</a:t>
              </a:r>
              <a:endParaRPr lang="en-US" altLang="zh-CN" sz="5400" dirty="0">
                <a:solidFill>
                  <a:srgbClr val="F1F5EF"/>
                </a:solidFill>
              </a:endParaRPr>
            </a:p>
          </p:txBody>
        </p:sp>
      </p:grpSp>
      <p:sp>
        <p:nvSpPr>
          <p:cNvPr id="19" name="文本框 18"/>
          <p:cNvSpPr txBox="1"/>
          <p:nvPr/>
        </p:nvSpPr>
        <p:spPr>
          <a:xfrm>
            <a:off x="6263080" y="3154137"/>
            <a:ext cx="5519283" cy="769441"/>
          </a:xfrm>
          <a:prstGeom prst="rect">
            <a:avLst/>
          </a:prstGeom>
          <a:noFill/>
        </p:spPr>
        <p:txBody>
          <a:bodyPr wrap="square" rtlCol="0">
            <a:spAutoFit/>
          </a:bodyPr>
          <a:lstStyle/>
          <a:p>
            <a:pPr algn="ctr"/>
            <a:r>
              <a:rPr lang="zh-CN" altLang="en-US" sz="4400" b="1" dirty="0">
                <a:solidFill>
                  <a:srgbClr val="5197D7"/>
                </a:solidFill>
                <a:latin typeface="微软雅黑" panose="020B0503020204020204" pitchFamily="34" charset="-122"/>
                <a:ea typeface="微软雅黑" panose="020B0503020204020204" pitchFamily="34" charset="-122"/>
              </a:rPr>
              <a:t>需求分析（二）</a:t>
            </a:r>
            <a:endParaRPr lang="zh-CN" altLang="en-US" sz="4400" b="1" dirty="0">
              <a:solidFill>
                <a:srgbClr val="5197D7"/>
              </a:solidFill>
              <a:latin typeface="微软雅黑" panose="020B0503020204020204" pitchFamily="34" charset="-122"/>
              <a:ea typeface="微软雅黑" panose="020B0503020204020204" pitchFamily="34" charset="-122"/>
            </a:endParaRPr>
          </a:p>
        </p:txBody>
      </p:sp>
      <p:sp>
        <p:nvSpPr>
          <p:cNvPr id="3" name="椭圆 2"/>
          <p:cNvSpPr/>
          <p:nvPr/>
        </p:nvSpPr>
        <p:spPr>
          <a:xfrm>
            <a:off x="9911932" y="3873554"/>
            <a:ext cx="2063629" cy="2063629"/>
          </a:xfrm>
          <a:prstGeom prst="ellipse">
            <a:avLst/>
          </a:prstGeom>
          <a:solidFill>
            <a:srgbClr val="5197D7">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0" name="椭圆 29"/>
          <p:cNvSpPr/>
          <p:nvPr/>
        </p:nvSpPr>
        <p:spPr>
          <a:xfrm>
            <a:off x="457960" y="273722"/>
            <a:ext cx="1480978" cy="1480978"/>
          </a:xfrm>
          <a:prstGeom prst="ellipse">
            <a:avLst/>
          </a:prstGeom>
          <a:solidFill>
            <a:srgbClr val="5197D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28" name="图片 27"/>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513792" y="2140978"/>
            <a:ext cx="2048823" cy="509101"/>
          </a:xfrm>
          <a:prstGeom prst="rect">
            <a:avLst/>
          </a:prstGeom>
        </p:spPr>
      </p:pic>
      <p:sp>
        <p:nvSpPr>
          <p:cNvPr id="2" name="日期占位符 1"/>
          <p:cNvSpPr>
            <a:spLocks noGrp="1"/>
          </p:cNvSpPr>
          <p:nvPr>
            <p:ph type="dt" sz="half" idx="10"/>
          </p:nvPr>
        </p:nvSpPr>
        <p:spPr/>
        <p:txBody>
          <a:bodyPr/>
          <a:lstStyle/>
          <a:p>
            <a:pPr>
              <a:defRPr/>
            </a:pPr>
            <a:fld id="{E4E4DBD0-D017-418A-B213-DAD1ABC9D5A8}" type="datetime1">
              <a:rPr lang="zh-CN" altLang="en-US" smtClean="0">
                <a:solidFill>
                  <a:prstClr val="black">
                    <a:tint val="75000"/>
                  </a:prstClr>
                </a:solidFill>
              </a:rPr>
            </a:fld>
            <a:endParaRPr lang="zh-CN" altLang="en-US" dirty="0">
              <a:solidFill>
                <a:prstClr val="black">
                  <a:tint val="75000"/>
                </a:prstClr>
              </a:solidFill>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110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400"/>
                                        <p:tgtEl>
                                          <p:spTgt spid="30"/>
                                        </p:tgtEl>
                                      </p:cBhvr>
                                    </p:animEffect>
                                    <p:anim calcmode="lin" valueType="num">
                                      <p:cBhvr>
                                        <p:cTn id="8" dur="400" fill="hold"/>
                                        <p:tgtEl>
                                          <p:spTgt spid="30"/>
                                        </p:tgtEl>
                                        <p:attrNameLst>
                                          <p:attrName>ppt_x</p:attrName>
                                        </p:attrNameLst>
                                      </p:cBhvr>
                                      <p:tavLst>
                                        <p:tav tm="0">
                                          <p:val>
                                            <p:strVal val="#ppt_x"/>
                                          </p:val>
                                        </p:tav>
                                        <p:tav tm="100000">
                                          <p:val>
                                            <p:strVal val="#ppt_x"/>
                                          </p:val>
                                        </p:tav>
                                      </p:tavLst>
                                    </p:anim>
                                    <p:anim calcmode="lin" valueType="num">
                                      <p:cBhvr>
                                        <p:cTn id="9" dur="400" fill="hold"/>
                                        <p:tgtEl>
                                          <p:spTgt spid="30"/>
                                        </p:tgtEl>
                                        <p:attrNameLst>
                                          <p:attrName>ppt_y</p:attrName>
                                        </p:attrNameLst>
                                      </p:cBhvr>
                                      <p:tavLst>
                                        <p:tav tm="0">
                                          <p:val>
                                            <p:strVal val="#ppt_y-.1"/>
                                          </p:val>
                                        </p:tav>
                                        <p:tav tm="100000">
                                          <p:val>
                                            <p:strVal val="#ppt_y"/>
                                          </p:val>
                                        </p:tav>
                                      </p:tavLst>
                                    </p:anim>
                                  </p:childTnLst>
                                </p:cTn>
                              </p:par>
                              <p:par>
                                <p:cTn id="10" presetID="53" presetClass="entr" presetSubtype="16" fill="hold" nodeType="withEffect">
                                  <p:stCondLst>
                                    <p:cond delay="1500"/>
                                  </p:stCondLst>
                                  <p:childTnLst>
                                    <p:set>
                                      <p:cBhvr>
                                        <p:cTn id="11" dur="1" fill="hold">
                                          <p:stCondLst>
                                            <p:cond delay="0"/>
                                          </p:stCondLst>
                                        </p:cTn>
                                        <p:tgtEl>
                                          <p:spTgt spid="28"/>
                                        </p:tgtEl>
                                        <p:attrNameLst>
                                          <p:attrName>style.visibility</p:attrName>
                                        </p:attrNameLst>
                                      </p:cBhvr>
                                      <p:to>
                                        <p:strVal val="visible"/>
                                      </p:to>
                                    </p:set>
                                    <p:anim calcmode="lin" valueType="num">
                                      <p:cBhvr>
                                        <p:cTn id="12" dur="500" fill="hold"/>
                                        <p:tgtEl>
                                          <p:spTgt spid="28"/>
                                        </p:tgtEl>
                                        <p:attrNameLst>
                                          <p:attrName>ppt_w</p:attrName>
                                        </p:attrNameLst>
                                      </p:cBhvr>
                                      <p:tavLst>
                                        <p:tav tm="0">
                                          <p:val>
                                            <p:fltVal val="0"/>
                                          </p:val>
                                        </p:tav>
                                        <p:tav tm="100000">
                                          <p:val>
                                            <p:strVal val="#ppt_w"/>
                                          </p:val>
                                        </p:tav>
                                      </p:tavLst>
                                    </p:anim>
                                    <p:anim calcmode="lin" valueType="num">
                                      <p:cBhvr>
                                        <p:cTn id="13" dur="500" fill="hold"/>
                                        <p:tgtEl>
                                          <p:spTgt spid="28"/>
                                        </p:tgtEl>
                                        <p:attrNameLst>
                                          <p:attrName>ppt_h</p:attrName>
                                        </p:attrNameLst>
                                      </p:cBhvr>
                                      <p:tavLst>
                                        <p:tav tm="0">
                                          <p:val>
                                            <p:fltVal val="0"/>
                                          </p:val>
                                        </p:tav>
                                        <p:tav tm="100000">
                                          <p:val>
                                            <p:strVal val="#ppt_h"/>
                                          </p:val>
                                        </p:tav>
                                      </p:tavLst>
                                    </p:anim>
                                    <p:animEffect transition="in" filter="fade">
                                      <p:cBhvr>
                                        <p:cTn id="14" dur="500"/>
                                        <p:tgtEl>
                                          <p:spTgt spid="28"/>
                                        </p:tgtEl>
                                      </p:cBhvr>
                                    </p:animEffect>
                                  </p:childTnLst>
                                </p:cTn>
                              </p:par>
                              <p:par>
                                <p:cTn id="15" presetID="42" presetClass="entr" presetSubtype="0" fill="hold" grpId="0" nodeType="withEffect">
                                  <p:stCondLst>
                                    <p:cond delay="140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anim calcmode="lin" valueType="num">
                                      <p:cBhvr>
                                        <p:cTn id="18" dur="400" fill="hold"/>
                                        <p:tgtEl>
                                          <p:spTgt spid="29"/>
                                        </p:tgtEl>
                                        <p:attrNameLst>
                                          <p:attrName>ppt_x</p:attrName>
                                        </p:attrNameLst>
                                      </p:cBhvr>
                                      <p:tavLst>
                                        <p:tav tm="0">
                                          <p:val>
                                            <p:strVal val="#ppt_x"/>
                                          </p:val>
                                        </p:tav>
                                        <p:tav tm="100000">
                                          <p:val>
                                            <p:strVal val="#ppt_x"/>
                                          </p:val>
                                        </p:tav>
                                      </p:tavLst>
                                    </p:anim>
                                    <p:anim calcmode="lin" valueType="num">
                                      <p:cBhvr>
                                        <p:cTn id="19" dur="400" fill="hold"/>
                                        <p:tgtEl>
                                          <p:spTgt spid="2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170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400"/>
                                        <p:tgtEl>
                                          <p:spTgt spid="3"/>
                                        </p:tgtEl>
                                      </p:cBhvr>
                                    </p:animEffect>
                                    <p:anim calcmode="lin" valueType="num">
                                      <p:cBhvr>
                                        <p:cTn id="23" dur="400" fill="hold"/>
                                        <p:tgtEl>
                                          <p:spTgt spid="3"/>
                                        </p:tgtEl>
                                        <p:attrNameLst>
                                          <p:attrName>ppt_x</p:attrName>
                                        </p:attrNameLst>
                                      </p:cBhvr>
                                      <p:tavLst>
                                        <p:tav tm="0">
                                          <p:val>
                                            <p:strVal val="#ppt_x"/>
                                          </p:val>
                                        </p:tav>
                                        <p:tav tm="100000">
                                          <p:val>
                                            <p:strVal val="#ppt_x"/>
                                          </p:val>
                                        </p:tav>
                                      </p:tavLst>
                                    </p:anim>
                                    <p:anim calcmode="lin" valueType="num">
                                      <p:cBhvr>
                                        <p:cTn id="24" dur="400" fill="hold"/>
                                        <p:tgtEl>
                                          <p:spTgt spid="3"/>
                                        </p:tgtEl>
                                        <p:attrNameLst>
                                          <p:attrName>ppt_y</p:attrName>
                                        </p:attrNameLst>
                                      </p:cBhvr>
                                      <p:tavLst>
                                        <p:tav tm="0">
                                          <p:val>
                                            <p:strVal val="#ppt_y+.1"/>
                                          </p:val>
                                        </p:tav>
                                        <p:tav tm="100000">
                                          <p:val>
                                            <p:strVal val="#ppt_y"/>
                                          </p:val>
                                        </p:tav>
                                      </p:tavLst>
                                    </p:anim>
                                  </p:childTnLst>
                                </p:cTn>
                              </p:par>
                              <p:par>
                                <p:cTn id="25" presetID="2" presetClass="entr" presetSubtype="8" fill="hold" nodeType="withEffect">
                                  <p:stCondLst>
                                    <p:cond delay="1700"/>
                                  </p:stCondLst>
                                  <p:childTnLst>
                                    <p:set>
                                      <p:cBhvr>
                                        <p:cTn id="26" dur="1" fill="hold">
                                          <p:stCondLst>
                                            <p:cond delay="0"/>
                                          </p:stCondLst>
                                        </p:cTn>
                                        <p:tgtEl>
                                          <p:spTgt spid="119"/>
                                        </p:tgtEl>
                                        <p:attrNameLst>
                                          <p:attrName>style.visibility</p:attrName>
                                        </p:attrNameLst>
                                      </p:cBhvr>
                                      <p:to>
                                        <p:strVal val="visible"/>
                                      </p:to>
                                    </p:set>
                                    <p:anim calcmode="lin" valueType="num">
                                      <p:cBhvr additive="base">
                                        <p:cTn id="27" dur="500" fill="hold"/>
                                        <p:tgtEl>
                                          <p:spTgt spid="119"/>
                                        </p:tgtEl>
                                        <p:attrNameLst>
                                          <p:attrName>ppt_x</p:attrName>
                                        </p:attrNameLst>
                                      </p:cBhvr>
                                      <p:tavLst>
                                        <p:tav tm="0">
                                          <p:val>
                                            <p:strVal val="0-#ppt_w/2"/>
                                          </p:val>
                                        </p:tav>
                                        <p:tav tm="100000">
                                          <p:val>
                                            <p:strVal val="#ppt_x"/>
                                          </p:val>
                                        </p:tav>
                                      </p:tavLst>
                                    </p:anim>
                                    <p:anim calcmode="lin" valueType="num">
                                      <p:cBhvr additive="base">
                                        <p:cTn id="28" dur="500" fill="hold"/>
                                        <p:tgtEl>
                                          <p:spTgt spid="119"/>
                                        </p:tgtEl>
                                        <p:attrNameLst>
                                          <p:attrName>ppt_y</p:attrName>
                                        </p:attrNameLst>
                                      </p:cBhvr>
                                      <p:tavLst>
                                        <p:tav tm="0">
                                          <p:val>
                                            <p:strVal val="#ppt_y"/>
                                          </p:val>
                                        </p:tav>
                                        <p:tav tm="100000">
                                          <p:val>
                                            <p:strVal val="#ppt_y"/>
                                          </p:val>
                                        </p:tav>
                                      </p:tavLst>
                                    </p:anim>
                                  </p:childTnLst>
                                </p:cTn>
                              </p:par>
                            </p:childTnLst>
                          </p:cTn>
                        </p:par>
                        <p:par>
                          <p:cTn id="29" fill="hold">
                            <p:stCondLst>
                              <p:cond delay="1600"/>
                            </p:stCondLst>
                            <p:childTnLst>
                              <p:par>
                                <p:cTn id="30" presetID="10" presetClass="entr" presetSubtype="0" fill="hold" grpId="0" nodeType="after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19" grpId="0"/>
      <p:bldP spid="3" grpId="0" animBg="1"/>
      <p:bldP spid="3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文本框 67"/>
          <p:cNvSpPr>
            <a:spLocks noChangeArrowheads="1"/>
          </p:cNvSpPr>
          <p:nvPr/>
        </p:nvSpPr>
        <p:spPr bwMode="auto">
          <a:xfrm>
            <a:off x="825230" y="1638041"/>
            <a:ext cx="8949000" cy="2963545"/>
          </a:xfrm>
          <a:prstGeom prst="rect">
            <a:avLst/>
          </a:prstGeom>
          <a:noFill/>
          <a:ln w="15875">
            <a:solidFill>
              <a:srgbClr val="000000"/>
            </a:solidFill>
            <a:prstDash val="dash"/>
            <a:miter lim="800000"/>
          </a:ln>
          <a:extLst>
            <a:ext uri="{909E8E84-426E-40DD-AFC4-6F175D3DCCD1}">
              <a14:hiddenFill xmlns:a14="http://schemas.microsoft.com/office/drawing/2010/main">
                <a:solidFill>
                  <a:srgbClr val="FFFFFF"/>
                </a:solidFill>
              </a14:hiddenFill>
            </a:ext>
          </a:extLst>
        </p:spPr>
        <p:txBody>
          <a:bodyPr wrap="square">
            <a:spAutoFit/>
          </a:bodyPr>
          <a:lstStyle/>
          <a:p>
            <a:pPr lvl="0" fontAlgn="base">
              <a:lnSpc>
                <a:spcPts val="3200"/>
              </a:lnSpc>
              <a:spcBef>
                <a:spcPct val="0"/>
              </a:spcBef>
              <a:spcAft>
                <a:spcPct val="0"/>
              </a:spcAft>
              <a:defRPr/>
            </a:pPr>
            <a:r>
              <a:rPr lang="en-US" altLang="zh-CN" sz="2200" kern="0" dirty="0">
                <a:latin typeface="微软雅黑" panose="020B0503020204020204" pitchFamily="34" charset="-122"/>
                <a:ea typeface="微软雅黑" panose="020B0503020204020204" pitchFamily="34" charset="-122"/>
                <a:sym typeface="宋体" panose="02010600030101010101" pitchFamily="2" charset="-122"/>
              </a:rPr>
              <a:t>3.1 </a:t>
            </a:r>
            <a:r>
              <a:rPr lang="zh-CN" altLang="en-US" sz="2200" kern="0" dirty="0">
                <a:latin typeface="微软雅黑" panose="020B0503020204020204" pitchFamily="34" charset="-122"/>
                <a:ea typeface="微软雅黑" panose="020B0503020204020204" pitchFamily="34" charset="-122"/>
                <a:sym typeface="宋体" panose="02010600030101010101" pitchFamily="2" charset="-122"/>
              </a:rPr>
              <a:t>需求分析概述</a:t>
            </a:r>
            <a:endParaRPr lang="en-US" altLang="zh-CN" sz="2200" kern="0" dirty="0">
              <a:latin typeface="微软雅黑" panose="020B0503020204020204" pitchFamily="34" charset="-122"/>
              <a:ea typeface="微软雅黑" panose="020B0503020204020204" pitchFamily="34" charset="-122"/>
              <a:sym typeface="宋体" panose="02010600030101010101" pitchFamily="2" charset="-122"/>
            </a:endParaRPr>
          </a:p>
          <a:p>
            <a:pPr lvl="0" fontAlgn="base">
              <a:lnSpc>
                <a:spcPts val="3200"/>
              </a:lnSpc>
              <a:spcBef>
                <a:spcPct val="0"/>
              </a:spcBef>
              <a:spcAft>
                <a:spcPct val="0"/>
              </a:spcAft>
              <a:defRPr/>
            </a:pPr>
            <a:r>
              <a:rPr lang="en-US" altLang="zh-CN" sz="2200" kern="0" dirty="0">
                <a:latin typeface="微软雅黑" panose="020B0503020204020204" pitchFamily="34" charset="-122"/>
                <a:ea typeface="微软雅黑" panose="020B0503020204020204" pitchFamily="34" charset="-122"/>
                <a:sym typeface="宋体" panose="02010600030101010101" pitchFamily="2" charset="-122"/>
              </a:rPr>
              <a:t>3.2 </a:t>
            </a:r>
            <a:r>
              <a:rPr lang="zh-CN" altLang="en-US" sz="2200" kern="0" dirty="0">
                <a:latin typeface="微软雅黑" panose="020B0503020204020204" pitchFamily="34" charset="-122"/>
                <a:ea typeface="微软雅黑" panose="020B0503020204020204" pitchFamily="34" charset="-122"/>
                <a:sym typeface="宋体" panose="02010600030101010101" pitchFamily="2" charset="-122"/>
              </a:rPr>
              <a:t>绘制系统关联图</a:t>
            </a:r>
            <a:endParaRPr lang="en-US" altLang="zh-CN" sz="2200" kern="0" dirty="0">
              <a:latin typeface="微软雅黑" panose="020B0503020204020204" pitchFamily="34" charset="-122"/>
              <a:ea typeface="微软雅黑" panose="020B0503020204020204" pitchFamily="34" charset="-122"/>
              <a:sym typeface="宋体" panose="02010600030101010101" pitchFamily="2" charset="-122"/>
            </a:endParaRPr>
          </a:p>
          <a:p>
            <a:pPr lvl="0" fontAlgn="base">
              <a:lnSpc>
                <a:spcPts val="3200"/>
              </a:lnSpc>
              <a:spcBef>
                <a:spcPct val="0"/>
              </a:spcBef>
              <a:spcAft>
                <a:spcPct val="0"/>
              </a:spcAft>
              <a:defRPr/>
            </a:pPr>
            <a:r>
              <a:rPr lang="en-US" altLang="zh-CN" sz="2200" kern="0" dirty="0">
                <a:latin typeface="微软雅黑" panose="020B0503020204020204" pitchFamily="34" charset="-122"/>
                <a:ea typeface="微软雅黑" panose="020B0503020204020204" pitchFamily="34" charset="-122"/>
                <a:sym typeface="宋体" panose="02010600030101010101" pitchFamily="2" charset="-122"/>
              </a:rPr>
              <a:t>3.3 </a:t>
            </a:r>
            <a:r>
              <a:rPr lang="zh-CN" altLang="en-US" sz="2200" kern="0" dirty="0">
                <a:latin typeface="微软雅黑" panose="020B0503020204020204" pitchFamily="34" charset="-122"/>
                <a:ea typeface="微软雅黑" panose="020B0503020204020204" pitchFamily="34" charset="-122"/>
                <a:sym typeface="宋体" panose="02010600030101010101" pitchFamily="2" charset="-122"/>
              </a:rPr>
              <a:t>创建用户界面原型</a:t>
            </a:r>
            <a:endParaRPr lang="en-US" altLang="zh-CN" sz="2200" kern="0" dirty="0">
              <a:latin typeface="微软雅黑" panose="020B0503020204020204" pitchFamily="34" charset="-122"/>
              <a:ea typeface="微软雅黑" panose="020B0503020204020204" pitchFamily="34" charset="-122"/>
              <a:sym typeface="宋体" panose="02010600030101010101" pitchFamily="2" charset="-122"/>
            </a:endParaRPr>
          </a:p>
          <a:p>
            <a:pPr lvl="0" fontAlgn="base">
              <a:lnSpc>
                <a:spcPts val="3200"/>
              </a:lnSpc>
              <a:spcBef>
                <a:spcPct val="0"/>
              </a:spcBef>
              <a:spcAft>
                <a:spcPct val="0"/>
              </a:spcAft>
              <a:defRPr/>
            </a:pPr>
            <a:r>
              <a:rPr lang="en-US" altLang="zh-CN" sz="2200" kern="0" dirty="0">
                <a:latin typeface="微软雅黑" panose="020B0503020204020204" pitchFamily="34" charset="-122"/>
                <a:ea typeface="微软雅黑" panose="020B0503020204020204" pitchFamily="34" charset="-122"/>
                <a:sym typeface="宋体" panose="02010600030101010101" pitchFamily="2" charset="-122"/>
              </a:rPr>
              <a:t>3.4 </a:t>
            </a:r>
            <a:r>
              <a:rPr lang="zh-CN" altLang="en-US" sz="2200" kern="0" dirty="0">
                <a:latin typeface="微软雅黑" panose="020B0503020204020204" pitchFamily="34" charset="-122"/>
                <a:ea typeface="微软雅黑" panose="020B0503020204020204" pitchFamily="34" charset="-122"/>
                <a:sym typeface="宋体" panose="02010600030101010101" pitchFamily="2" charset="-122"/>
              </a:rPr>
              <a:t>确定需求的优先级别</a:t>
            </a:r>
            <a:endParaRPr lang="en-US" altLang="zh-CN" sz="2200" kern="0" dirty="0">
              <a:latin typeface="微软雅黑" panose="020B0503020204020204" pitchFamily="34" charset="-122"/>
              <a:ea typeface="微软雅黑" panose="020B0503020204020204" pitchFamily="34" charset="-122"/>
              <a:sym typeface="宋体" panose="02010600030101010101" pitchFamily="2" charset="-122"/>
            </a:endParaRPr>
          </a:p>
          <a:p>
            <a:pPr lvl="0" fontAlgn="base">
              <a:lnSpc>
                <a:spcPts val="3200"/>
              </a:lnSpc>
              <a:spcBef>
                <a:spcPct val="0"/>
              </a:spcBef>
              <a:spcAft>
                <a:spcPct val="0"/>
              </a:spcAft>
              <a:defRPr/>
            </a:pPr>
            <a:r>
              <a:rPr lang="en-US" altLang="zh-CN" sz="2200" kern="0" dirty="0">
                <a:solidFill>
                  <a:srgbClr val="C00000"/>
                </a:solidFill>
                <a:latin typeface="微软雅黑" panose="020B0503020204020204" pitchFamily="34" charset="-122"/>
                <a:ea typeface="微软雅黑" panose="020B0503020204020204" pitchFamily="34" charset="-122"/>
                <a:sym typeface="宋体" panose="02010600030101010101" pitchFamily="2" charset="-122"/>
              </a:rPr>
              <a:t>3.5 </a:t>
            </a:r>
            <a:r>
              <a:rPr lang="zh-CN" altLang="en-US" sz="2200" kern="0" dirty="0">
                <a:solidFill>
                  <a:srgbClr val="C00000"/>
                </a:solidFill>
                <a:latin typeface="微软雅黑" panose="020B0503020204020204" pitchFamily="34" charset="-122"/>
                <a:ea typeface="微软雅黑" panose="020B0503020204020204" pitchFamily="34" charset="-122"/>
                <a:sym typeface="宋体" panose="02010600030101010101" pitchFamily="2" charset="-122"/>
              </a:rPr>
              <a:t>需求的图形化分析</a:t>
            </a:r>
            <a:endParaRPr lang="en-US" altLang="zh-CN" sz="2200" kern="0" dirty="0">
              <a:solidFill>
                <a:srgbClr val="C00000"/>
              </a:solidFill>
              <a:latin typeface="微软雅黑" panose="020B0503020204020204" pitchFamily="34" charset="-122"/>
              <a:ea typeface="微软雅黑" panose="020B0503020204020204" pitchFamily="34" charset="-122"/>
              <a:sym typeface="宋体" panose="02010600030101010101" pitchFamily="2" charset="-122"/>
            </a:endParaRPr>
          </a:p>
          <a:p>
            <a:pPr lvl="0" fontAlgn="base">
              <a:lnSpc>
                <a:spcPts val="3200"/>
              </a:lnSpc>
              <a:spcBef>
                <a:spcPct val="0"/>
              </a:spcBef>
              <a:spcAft>
                <a:spcPct val="0"/>
              </a:spcAft>
              <a:defRPr/>
            </a:pPr>
            <a:r>
              <a:rPr lang="en-US" altLang="zh-CN" sz="2200" kern="0" dirty="0">
                <a:solidFill>
                  <a:srgbClr val="C00000"/>
                </a:solidFill>
                <a:latin typeface="微软雅黑" panose="020B0503020204020204" pitchFamily="34" charset="-122"/>
                <a:ea typeface="微软雅黑" panose="020B0503020204020204" pitchFamily="34" charset="-122"/>
                <a:sym typeface="宋体" panose="02010600030101010101" pitchFamily="2" charset="-122"/>
              </a:rPr>
              <a:t>3.6 </a:t>
            </a:r>
            <a:r>
              <a:rPr lang="zh-CN" altLang="en-US" sz="2200" kern="0" dirty="0">
                <a:solidFill>
                  <a:srgbClr val="C00000"/>
                </a:solidFill>
                <a:latin typeface="微软雅黑" panose="020B0503020204020204" pitchFamily="34" charset="-122"/>
                <a:ea typeface="微软雅黑" panose="020B0503020204020204" pitchFamily="34" charset="-122"/>
                <a:sym typeface="宋体" panose="02010600030101010101" pitchFamily="2" charset="-122"/>
              </a:rPr>
              <a:t>创建数据字典</a:t>
            </a:r>
            <a:endParaRPr lang="en-US" altLang="zh-CN" sz="2200" kern="0" dirty="0">
              <a:solidFill>
                <a:srgbClr val="C00000"/>
              </a:solidFill>
              <a:latin typeface="微软雅黑" panose="020B0503020204020204" pitchFamily="34" charset="-122"/>
              <a:ea typeface="微软雅黑" panose="020B0503020204020204" pitchFamily="34" charset="-122"/>
              <a:sym typeface="宋体" panose="02010600030101010101" pitchFamily="2" charset="-122"/>
            </a:endParaRPr>
          </a:p>
          <a:p>
            <a:pPr lvl="0" fontAlgn="base">
              <a:lnSpc>
                <a:spcPts val="3200"/>
              </a:lnSpc>
              <a:spcBef>
                <a:spcPct val="0"/>
              </a:spcBef>
              <a:spcAft>
                <a:spcPct val="0"/>
              </a:spcAft>
              <a:defRPr/>
            </a:pPr>
            <a:r>
              <a:rPr lang="en-US" altLang="zh-CN" sz="2200" kern="0" dirty="0">
                <a:solidFill>
                  <a:srgbClr val="C00000"/>
                </a:solidFill>
                <a:latin typeface="微软雅黑" panose="020B0503020204020204" pitchFamily="34" charset="-122"/>
                <a:ea typeface="微软雅黑" panose="020B0503020204020204" pitchFamily="34" charset="-122"/>
                <a:sym typeface="宋体" panose="02010600030101010101" pitchFamily="2" charset="-122"/>
              </a:rPr>
              <a:t>3.7 </a:t>
            </a:r>
            <a:r>
              <a:rPr lang="zh-CN" altLang="en-US" sz="2200" kern="0" dirty="0">
                <a:solidFill>
                  <a:srgbClr val="C00000"/>
                </a:solidFill>
                <a:latin typeface="微软雅黑" panose="020B0503020204020204" pitchFamily="34" charset="-122"/>
                <a:ea typeface="微软雅黑" panose="020B0503020204020204" pitchFamily="34" charset="-122"/>
                <a:sym typeface="宋体" panose="02010600030101010101" pitchFamily="2" charset="-122"/>
              </a:rPr>
              <a:t>需求分析小结</a:t>
            </a:r>
            <a:endParaRPr lang="zh-CN" altLang="en-US" sz="2200" kern="0" dirty="0">
              <a:solidFill>
                <a:srgbClr val="C0000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409AAF88-187D-4110-A902-CE40414B38AA}"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rPr>
              <a:t>第三章  需求分析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825230" y="1134358"/>
            <a:ext cx="6094378" cy="460375"/>
          </a:xfrm>
          <a:prstGeom prst="rect">
            <a:avLst/>
          </a:prstGeom>
          <a:noFill/>
        </p:spPr>
        <p:txBody>
          <a:bodyPr wrap="square">
            <a:spAutoFit/>
          </a:bodyPr>
          <a:lstStyle/>
          <a:p>
            <a:pPr lvl="0" fontAlgn="base">
              <a:spcBef>
                <a:spcPts val="600"/>
              </a:spcBef>
              <a:spcAft>
                <a:spcPts val="600"/>
              </a:spcAft>
              <a:defRPr/>
            </a:pPr>
            <a:r>
              <a:rPr lang="zh-CN" altLang="en-US" sz="2400" b="1" kern="0" dirty="0">
                <a:latin typeface="微软雅黑" panose="020B0503020204020204" pitchFamily="34" charset="-122"/>
                <a:ea typeface="微软雅黑" panose="020B0503020204020204" pitchFamily="34" charset="-122"/>
                <a:sym typeface="宋体" panose="02010600030101010101" pitchFamily="2" charset="-122"/>
              </a:rPr>
              <a:t>本章主要内容</a:t>
            </a:r>
            <a:r>
              <a:rPr lang="zh-CN" altLang="en-US" sz="2200" b="1" kern="0" dirty="0">
                <a:latin typeface="微软雅黑" panose="020B0503020204020204" pitchFamily="34" charset="-122"/>
                <a:ea typeface="微软雅黑" panose="020B0503020204020204" pitchFamily="34" charset="-122"/>
                <a:sym typeface="宋体" panose="02010600030101010101" pitchFamily="2" charset="-122"/>
              </a:rPr>
              <a:t>：</a:t>
            </a:r>
            <a:endParaRPr lang="en-US" altLang="zh-CN" sz="2200" b="1" kern="0" dirty="0">
              <a:latin typeface="微软雅黑" panose="020B0503020204020204" pitchFamily="34" charset="-122"/>
              <a:ea typeface="微软雅黑" panose="020B0503020204020204" pitchFamily="34"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43"/>
                                        </p:tgtEl>
                                        <p:attrNameLst>
                                          <p:attrName>style.visibility</p:attrName>
                                        </p:attrNameLst>
                                      </p:cBhvr>
                                      <p:to>
                                        <p:strVal val="visible"/>
                                      </p:to>
                                    </p:set>
                                    <p:anim calcmode="lin" valueType="num">
                                      <p:cBhvr additive="base">
                                        <p:cTn id="12" dur="500"/>
                                        <p:tgtEl>
                                          <p:spTgt spid="43"/>
                                        </p:tgtEl>
                                        <p:attrNameLst>
                                          <p:attrName>ppt_x</p:attrName>
                                        </p:attrNameLst>
                                      </p:cBhvr>
                                      <p:tavLst>
                                        <p:tav tm="0">
                                          <p:val>
                                            <p:strVal val="#ppt_x+#ppt_w*1.125000"/>
                                          </p:val>
                                        </p:tav>
                                        <p:tav tm="100000">
                                          <p:val>
                                            <p:strVal val="#ppt_x"/>
                                          </p:val>
                                        </p:tav>
                                      </p:tavLst>
                                    </p:anim>
                                    <p:animEffect transition="in" filter="wipe(left)">
                                      <p:cBhvr>
                                        <p:cTn id="13"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9246"/>
          <p:cNvSpPr>
            <a:spLocks noChangeArrowheads="1"/>
          </p:cNvSpPr>
          <p:nvPr/>
        </p:nvSpPr>
        <p:spPr bwMode="auto">
          <a:xfrm>
            <a:off x="701040" y="1383030"/>
            <a:ext cx="10349230" cy="560705"/>
          </a:xfrm>
          <a:prstGeom prst="roundRect">
            <a:avLst/>
          </a:prstGeom>
          <a:noFill/>
          <a:ln w="9525">
            <a:solidFill>
              <a:schemeClr val="tx1"/>
            </a:solidFill>
            <a:miter lim="800000"/>
          </a:ln>
        </p:spPr>
        <p:txBody>
          <a:bodyPr wrap="none" anchor="ctr"/>
          <a:lstStyle/>
          <a:p>
            <a:r>
              <a:rPr lang="zh-CN" altLang="en-US" sz="2200" b="1" dirty="0">
                <a:solidFill>
                  <a:srgbClr val="FF0000"/>
                </a:solidFill>
                <a:latin typeface="宋体" panose="02010600030101010101" pitchFamily="2" charset="-122"/>
              </a:rPr>
              <a:t>“化学制品跟踪系统”的项目开发组召开第一次软件需求规格说明的评审参与人：</a:t>
            </a:r>
            <a:endParaRPr lang="zh-CN" altLang="en-US" sz="2200" b="1" dirty="0">
              <a:solidFill>
                <a:srgbClr val="FF0000"/>
              </a:solidFill>
              <a:latin typeface="宋体" panose="02010600030101010101" pitchFamily="2" charset="-122"/>
            </a:endParaRPr>
          </a:p>
        </p:txBody>
      </p:sp>
      <p:sp>
        <p:nvSpPr>
          <p:cNvPr id="18"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aphicFrame>
        <p:nvGraphicFramePr>
          <p:cNvPr id="20" name="图示 19"/>
          <p:cNvGraphicFramePr/>
          <p:nvPr/>
        </p:nvGraphicFramePr>
        <p:xfrm>
          <a:off x="2224893" y="2031999"/>
          <a:ext cx="7658016" cy="430155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21" name="椭圆 20"/>
          <p:cNvSpPr/>
          <p:nvPr/>
        </p:nvSpPr>
        <p:spPr>
          <a:xfrm>
            <a:off x="5564026" y="3429000"/>
            <a:ext cx="1529502" cy="145291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200" b="1" dirty="0"/>
              <a:t>参与者</a:t>
            </a:r>
            <a:endParaRPr lang="zh-CN" altLang="en-US" sz="2200" b="1" dirty="0"/>
          </a:p>
        </p:txBody>
      </p:sp>
      <p:sp>
        <p:nvSpPr>
          <p:cNvPr id="7"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3.5.1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需求的图形化分析背景</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 name="日期占位符 1"/>
          <p:cNvSpPr>
            <a:spLocks noGrp="1"/>
          </p:cNvSpPr>
          <p:nvPr>
            <p:ph type="dt" sz="half" idx="10"/>
          </p:nvPr>
        </p:nvSpPr>
        <p:spPr/>
        <p:txBody>
          <a:bodyPr/>
          <a:lstStyle/>
          <a:p>
            <a:pPr>
              <a:defRPr/>
            </a:pPr>
            <a:fld id="{0BC5CEBE-EDDE-4320-825F-D5D57D33EF26}"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p:tgtEl>
                                          <p:spTgt spid="7"/>
                                        </p:tgtEl>
                                        <p:attrNameLst>
                                          <p:attrName>ppt_x</p:attrName>
                                        </p:attrNameLst>
                                      </p:cBhvr>
                                      <p:tavLst>
                                        <p:tav tm="0">
                                          <p:val>
                                            <p:strVal val="#ppt_x+#ppt_w*1.125000"/>
                                          </p:val>
                                        </p:tav>
                                        <p:tav tm="100000">
                                          <p:val>
                                            <p:strVal val="#ppt_x"/>
                                          </p:val>
                                        </p:tav>
                                      </p:tavLst>
                                    </p:anim>
                                    <p:animEffect transition="in" filter="wipe(left)">
                                      <p:cBhvr>
                                        <p:cTn id="8" dur="500"/>
                                        <p:tgtEl>
                                          <p:spTgt spid="7"/>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ldLvl="0" animBg="1"/>
      <p:bldGraphic spid="20" grpId="0">
        <p:bldAsOne/>
      </p:bldGraphic>
      <p:bldP spid="21" grpId="0" bldLvl="0" animBg="1"/>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pic>
        <p:nvPicPr>
          <p:cNvPr id="4" name="图形 3" descr="科学家"/>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6474" y="1796823"/>
            <a:ext cx="918930" cy="918930"/>
          </a:xfrm>
          <a:prstGeom prst="rect">
            <a:avLst/>
          </a:prstGeom>
        </p:spPr>
      </p:pic>
      <p:sp>
        <p:nvSpPr>
          <p:cNvPr id="8" name="文本框 7"/>
          <p:cNvSpPr txBox="1"/>
          <p:nvPr/>
        </p:nvSpPr>
        <p:spPr>
          <a:xfrm>
            <a:off x="1665634" y="1411918"/>
            <a:ext cx="5853835" cy="1322070"/>
          </a:xfrm>
          <a:prstGeom prst="rect">
            <a:avLst/>
          </a:prstGeom>
          <a:noFill/>
          <a:ln>
            <a:solidFill>
              <a:schemeClr val="accent2"/>
            </a:solidFill>
          </a:ln>
        </p:spPr>
        <p:txBody>
          <a:bodyPr wrap="square">
            <a:spAutoFit/>
          </a:bodyPr>
          <a:lstStyle/>
          <a:p>
            <a:pPr algn="just"/>
            <a:r>
              <a:rPr lang="zh-CN" altLang="en-US" sz="2000" b="1" dirty="0"/>
              <a:t>化学制品的产品代表者：</a:t>
            </a:r>
            <a:endParaRPr lang="en-US" altLang="zh-CN" sz="2000" b="1" dirty="0"/>
          </a:p>
          <a:p>
            <a:pPr algn="just"/>
            <a:r>
              <a:rPr lang="zh-CN" altLang="en-US" sz="2000" b="1" dirty="0"/>
              <a:t>我阅读过整个软件需求规格说明，大部分都符合我的需求，</a:t>
            </a:r>
            <a:r>
              <a:rPr lang="zh-CN" altLang="en-US" sz="2000" b="1" dirty="0">
                <a:solidFill>
                  <a:srgbClr val="FF0000"/>
                </a:solidFill>
              </a:rPr>
              <a:t>但是有几个部分我很难同意</a:t>
            </a:r>
            <a:r>
              <a:rPr lang="zh-CN" altLang="en-US" sz="2000" b="1" dirty="0"/>
              <a:t>。我不能确信在化学制品请求过程中，我们是否确定了这些步骤。</a:t>
            </a:r>
            <a:endParaRPr lang="zh-CN" altLang="en-US" sz="2000" b="1" dirty="0"/>
          </a:p>
        </p:txBody>
      </p:sp>
      <p:pic>
        <p:nvPicPr>
          <p:cNvPr id="9" name="图形 8" descr="程序员"/>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6474" y="3041822"/>
            <a:ext cx="918930" cy="918930"/>
          </a:xfrm>
          <a:prstGeom prst="rect">
            <a:avLst/>
          </a:prstGeom>
        </p:spPr>
      </p:pic>
      <p:sp>
        <p:nvSpPr>
          <p:cNvPr id="13" name="文本框 12"/>
          <p:cNvSpPr txBox="1"/>
          <p:nvPr/>
        </p:nvSpPr>
        <p:spPr>
          <a:xfrm>
            <a:off x="1665632" y="2836315"/>
            <a:ext cx="5853837" cy="1630045"/>
          </a:xfrm>
          <a:prstGeom prst="rect">
            <a:avLst/>
          </a:prstGeom>
          <a:noFill/>
          <a:ln>
            <a:solidFill>
              <a:srgbClr val="7030A0"/>
            </a:solidFill>
          </a:ln>
        </p:spPr>
        <p:txBody>
          <a:bodyPr wrap="square">
            <a:spAutoFit/>
          </a:bodyPr>
          <a:lstStyle/>
          <a:p>
            <a:pPr algn="just"/>
            <a:r>
              <a:rPr lang="zh-CN" altLang="en-US" sz="2000" b="1" dirty="0"/>
              <a:t>测试专家：</a:t>
            </a:r>
            <a:endParaRPr lang="en-US" altLang="zh-CN" sz="2000" b="1" dirty="0"/>
          </a:p>
          <a:p>
            <a:pPr algn="just"/>
            <a:r>
              <a:rPr lang="zh-CN" altLang="en-US" sz="2000" b="1" dirty="0"/>
              <a:t>当一个请求通过系统时，</a:t>
            </a:r>
            <a:r>
              <a:rPr lang="zh-CN" altLang="en-US" sz="2000" b="1" dirty="0">
                <a:solidFill>
                  <a:srgbClr val="FF0000"/>
                </a:solidFill>
              </a:rPr>
              <a:t>我很难想象</a:t>
            </a:r>
            <a:r>
              <a:rPr lang="zh-CN" altLang="en-US" sz="2000" b="1" dirty="0"/>
              <a:t>用于覆盖该请求状态变化的</a:t>
            </a:r>
            <a:r>
              <a:rPr lang="zh-CN" altLang="en-US" sz="2000" b="1" dirty="0">
                <a:solidFill>
                  <a:srgbClr val="FF0000"/>
                </a:solidFill>
              </a:rPr>
              <a:t>所有测试用例</a:t>
            </a:r>
            <a:r>
              <a:rPr lang="zh-CN" altLang="en-US" sz="2000" b="1" dirty="0"/>
              <a:t>。我发现许多关于状态变化的需求散布在整个软件需求规格说明中，但我</a:t>
            </a:r>
            <a:r>
              <a:rPr lang="zh-CN" altLang="en-US" sz="2000" b="1" dirty="0">
                <a:solidFill>
                  <a:srgbClr val="FF0000"/>
                </a:solidFill>
              </a:rPr>
              <a:t>无法确定是否有一些需求遗漏了或存在不一致性</a:t>
            </a:r>
            <a:r>
              <a:rPr lang="zh-CN" altLang="en-US" sz="2000" b="1" dirty="0"/>
              <a:t>。</a:t>
            </a:r>
            <a:endParaRPr lang="zh-CN" altLang="en-US" sz="2000" b="1" dirty="0"/>
          </a:p>
        </p:txBody>
      </p:sp>
      <p:pic>
        <p:nvPicPr>
          <p:cNvPr id="21" name="图片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9021" y="4584197"/>
            <a:ext cx="813835" cy="813835"/>
          </a:xfrm>
          <a:prstGeom prst="rect">
            <a:avLst/>
          </a:prstGeom>
        </p:spPr>
      </p:pic>
      <p:sp>
        <p:nvSpPr>
          <p:cNvPr id="25" name="文本框 24"/>
          <p:cNvSpPr txBox="1"/>
          <p:nvPr/>
        </p:nvSpPr>
        <p:spPr>
          <a:xfrm>
            <a:off x="1665980" y="4558401"/>
            <a:ext cx="5853489" cy="1322070"/>
          </a:xfrm>
          <a:prstGeom prst="rect">
            <a:avLst/>
          </a:prstGeom>
          <a:noFill/>
          <a:ln>
            <a:solidFill>
              <a:schemeClr val="accent6"/>
            </a:solidFill>
          </a:ln>
        </p:spPr>
        <p:txBody>
          <a:bodyPr wrap="square">
            <a:spAutoFit/>
          </a:bodyPr>
          <a:lstStyle/>
          <a:p>
            <a:pPr algn="just"/>
            <a:r>
              <a:rPr lang="zh-CN" altLang="en-US" sz="2000" b="1" dirty="0"/>
              <a:t>化学制品仓库的产品代表者：</a:t>
            </a:r>
            <a:endParaRPr lang="en-US" altLang="zh-CN" sz="2000" b="1" dirty="0"/>
          </a:p>
          <a:p>
            <a:pPr algn="just"/>
            <a:r>
              <a:rPr lang="zh-CN" altLang="en-US" sz="2000" b="1" dirty="0"/>
              <a:t>当我阅读了如何真正请求一种化学药品时，我</a:t>
            </a:r>
            <a:r>
              <a:rPr lang="zh-CN" altLang="en-US" sz="2000" b="1" dirty="0">
                <a:solidFill>
                  <a:srgbClr val="FF0000"/>
                </a:solidFill>
              </a:rPr>
              <a:t>感到困惑</a:t>
            </a:r>
            <a:r>
              <a:rPr lang="zh-CN" altLang="en-US" sz="2000" b="1" dirty="0"/>
              <a:t>”，“单个需求是能感觉到的，但我</a:t>
            </a:r>
            <a:r>
              <a:rPr lang="zh-CN" altLang="en-US" sz="2000" b="1" dirty="0">
                <a:solidFill>
                  <a:srgbClr val="FF0000"/>
                </a:solidFill>
              </a:rPr>
              <a:t>难以想像我所要完成的步骤顺序</a:t>
            </a:r>
            <a:r>
              <a:rPr lang="zh-CN" altLang="en-US" sz="2000" b="1" dirty="0"/>
              <a:t>。</a:t>
            </a:r>
            <a:endParaRPr lang="zh-CN" altLang="en-US" sz="2000" b="1" dirty="0"/>
          </a:p>
        </p:txBody>
      </p:sp>
      <p:sp>
        <p:nvSpPr>
          <p:cNvPr id="26" name="箭头: 下 25"/>
          <p:cNvSpPr/>
          <p:nvPr/>
        </p:nvSpPr>
        <p:spPr>
          <a:xfrm rot="16200000">
            <a:off x="7397282" y="3502995"/>
            <a:ext cx="1280583" cy="77699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30" name="文本框 29"/>
          <p:cNvSpPr txBox="1"/>
          <p:nvPr/>
        </p:nvSpPr>
        <p:spPr>
          <a:xfrm>
            <a:off x="8547890" y="1941670"/>
            <a:ext cx="3004050" cy="3815080"/>
          </a:xfrm>
          <a:prstGeom prst="rect">
            <a:avLst/>
          </a:prstGeom>
          <a:noFill/>
        </p:spPr>
        <p:txBody>
          <a:bodyPr wrap="square">
            <a:spAutoFit/>
          </a:bodyPr>
          <a:lstStyle/>
          <a:p>
            <a:pPr algn="just"/>
            <a:r>
              <a:rPr lang="zh-CN" altLang="en-US" sz="2200" b="1" dirty="0"/>
              <a:t>需求分析者：</a:t>
            </a:r>
            <a:endParaRPr lang="en-US" altLang="zh-CN" sz="2200" b="1" dirty="0"/>
          </a:p>
          <a:p>
            <a:pPr algn="just"/>
            <a:r>
              <a:rPr lang="zh-CN" altLang="en-US" sz="2200" b="1" dirty="0"/>
              <a:t>看来</a:t>
            </a:r>
            <a:r>
              <a:rPr lang="zh-CN" altLang="en-US" sz="2200" b="1" dirty="0">
                <a:solidFill>
                  <a:srgbClr val="FF0000"/>
                </a:solidFill>
              </a:rPr>
              <a:t>软件需求规格说明似乎没有完全告诉</a:t>
            </a:r>
            <a:r>
              <a:rPr lang="zh-CN" altLang="en-US" sz="2200" b="1" dirty="0"/>
              <a:t>我们对于</a:t>
            </a:r>
            <a:r>
              <a:rPr lang="zh-CN" altLang="en-US" sz="2200" b="1" dirty="0">
                <a:solidFill>
                  <a:srgbClr val="FF0000"/>
                </a:solidFill>
              </a:rPr>
              <a:t>理解系统所需的各个方</a:t>
            </a:r>
            <a:r>
              <a:rPr lang="zh-CN" altLang="en-US" sz="2200" b="1" dirty="0"/>
              <a:t>面，</a:t>
            </a:r>
            <a:r>
              <a:rPr lang="zh-CN" altLang="en-US" sz="2200" b="1" dirty="0">
                <a:solidFill>
                  <a:srgbClr val="FF0000"/>
                </a:solidFill>
              </a:rPr>
              <a:t>也不能确保我们没有错过一个需求或不犯任何错误</a:t>
            </a:r>
            <a:r>
              <a:rPr lang="zh-CN" altLang="en-US" sz="2200" b="1" dirty="0"/>
              <a:t>。我将画一些图来帮助我们想像这些需求，并看一下能否澄清这些问题域。谢谢你们的反馈意见。</a:t>
            </a:r>
            <a:endParaRPr lang="zh-CN" altLang="en-US" sz="2200" b="1" dirty="0"/>
          </a:p>
        </p:txBody>
      </p:sp>
      <p:sp>
        <p:nvSpPr>
          <p:cNvPr id="31" name="矩形 9246"/>
          <p:cNvSpPr>
            <a:spLocks noChangeArrowheads="1"/>
          </p:cNvSpPr>
          <p:nvPr/>
        </p:nvSpPr>
        <p:spPr bwMode="auto">
          <a:xfrm>
            <a:off x="698500" y="1380490"/>
            <a:ext cx="6950578" cy="4646283"/>
          </a:xfrm>
          <a:prstGeom prst="rect">
            <a:avLst/>
          </a:prstGeom>
          <a:noFill/>
          <a:ln w="19050">
            <a:solidFill>
              <a:srgbClr val="5197D7"/>
            </a:solidFill>
            <a:prstDash val="sysDash"/>
            <a:miter lim="800000"/>
          </a:ln>
        </p:spPr>
        <p:txBody>
          <a:bodyPr wrap="none" anchor="ctr"/>
          <a:lstStyle/>
          <a:p>
            <a:pPr algn="ctr"/>
            <a:endParaRPr lang="zh-CN" altLang="en-US" sz="2000" dirty="0">
              <a:noFill/>
              <a:latin typeface="+mn-ea"/>
            </a:endParaRPr>
          </a:p>
        </p:txBody>
      </p:sp>
      <p:sp>
        <p:nvSpPr>
          <p:cNvPr id="32" name="矩形 9246"/>
          <p:cNvSpPr>
            <a:spLocks noChangeArrowheads="1"/>
          </p:cNvSpPr>
          <p:nvPr/>
        </p:nvSpPr>
        <p:spPr bwMode="auto">
          <a:xfrm>
            <a:off x="8412633" y="1823655"/>
            <a:ext cx="3263265" cy="4019623"/>
          </a:xfrm>
          <a:prstGeom prst="rect">
            <a:avLst/>
          </a:prstGeom>
          <a:noFill/>
          <a:ln w="19050">
            <a:solidFill>
              <a:srgbClr val="5197D7"/>
            </a:solidFill>
            <a:prstDash val="sysDash"/>
            <a:miter lim="800000"/>
          </a:ln>
        </p:spPr>
        <p:txBody>
          <a:bodyPr wrap="none" anchor="ctr"/>
          <a:lstStyle/>
          <a:p>
            <a:pPr algn="ctr"/>
            <a:endParaRPr lang="zh-CN" altLang="en-US" sz="2000" b="1" dirty="0">
              <a:noFill/>
              <a:latin typeface="+mn-ea"/>
            </a:endParaRPr>
          </a:p>
        </p:txBody>
      </p:sp>
      <p:sp>
        <p:nvSpPr>
          <p:cNvPr id="14"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3.5.1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需求的图形化分析背景</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3" name="日期占位符 2"/>
          <p:cNvSpPr>
            <a:spLocks noGrp="1"/>
          </p:cNvSpPr>
          <p:nvPr>
            <p:ph type="dt" sz="half" idx="10"/>
          </p:nvPr>
        </p:nvSpPr>
        <p:spPr/>
        <p:txBody>
          <a:bodyPr/>
          <a:lstStyle/>
          <a:p>
            <a:pPr>
              <a:defRPr/>
            </a:pPr>
            <a:fld id="{F4B8E673-61F7-42A4-9B15-88338988A99C}" type="datetime1">
              <a:rPr lang="zh-CN" altLang="en-US" sz="2000" smtClean="0">
                <a:solidFill>
                  <a:prstClr val="black">
                    <a:tint val="75000"/>
                  </a:prstClr>
                </a:solidFill>
              </a:rPr>
            </a:fld>
            <a:endParaRPr lang="zh-CN" altLang="en-US" sz="2000">
              <a:solidFill>
                <a:prstClr val="black">
                  <a:tint val="75000"/>
                </a:prstClr>
              </a:solidFill>
            </a:endParaRPr>
          </a:p>
        </p:txBody>
      </p:sp>
      <p:sp>
        <p:nvSpPr>
          <p:cNvPr id="5" name="灯片编号占位符 4"/>
          <p:cNvSpPr>
            <a:spLocks noGrp="1"/>
          </p:cNvSpPr>
          <p:nvPr>
            <p:ph type="sldNum" sz="quarter" idx="12"/>
          </p:nvPr>
        </p:nvSpPr>
        <p:spPr/>
        <p:txBody>
          <a:bodyPr/>
          <a:lstStyle/>
          <a:p>
            <a:pPr>
              <a:defRPr/>
            </a:pPr>
            <a:fld id="{0519FDB0-D360-4966-A01C-1D1C6BB19AF3}" type="slidenum">
              <a:rPr lang="zh-CN" altLang="en-US" sz="2000" smtClean="0">
                <a:solidFill>
                  <a:prstClr val="black">
                    <a:tint val="75000"/>
                  </a:prstClr>
                </a:solidFill>
              </a:rPr>
            </a:fld>
            <a:endParaRPr lang="zh-CN" altLang="en-US" sz="2000">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p:tgtEl>
                                          <p:spTgt spid="14"/>
                                        </p:tgtEl>
                                        <p:attrNameLst>
                                          <p:attrName>ppt_x</p:attrName>
                                        </p:attrNameLst>
                                      </p:cBhvr>
                                      <p:tavLst>
                                        <p:tav tm="0">
                                          <p:val>
                                            <p:strVal val="#ppt_x+#ppt_w*1.125000"/>
                                          </p:val>
                                        </p:tav>
                                        <p:tav tm="100000">
                                          <p:val>
                                            <p:strVal val="#ppt_x"/>
                                          </p:val>
                                        </p:tav>
                                      </p:tavLst>
                                    </p:anim>
                                    <p:animEffect transition="in" filter="wipe(left)">
                                      <p:cBhvr>
                                        <p:cTn id="8" dur="500"/>
                                        <p:tgtEl>
                                          <p:spTgt spid="14"/>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3" grpId="0" bldLvl="0" animBg="1"/>
      <p:bldP spid="25" grpId="0" bldLvl="0" animBg="1"/>
      <p:bldP spid="26" grpId="0" animBg="1"/>
      <p:bldP spid="30" grpId="0"/>
      <p:bldP spid="31" grpId="0" bldLvl="0" animBg="1"/>
      <p:bldP spid="32" grpId="0" bldLvl="0" animBg="1"/>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1"/>
          <p:cNvGrpSpPr/>
          <p:nvPr/>
        </p:nvGrpSpPr>
        <p:grpSpPr>
          <a:xfrm>
            <a:off x="985458" y="1573030"/>
            <a:ext cx="796018" cy="736375"/>
            <a:chOff x="1731021" y="1638788"/>
            <a:chExt cx="736375" cy="736375"/>
          </a:xfrm>
          <a:solidFill>
            <a:schemeClr val="accent1"/>
          </a:solidFill>
        </p:grpSpPr>
        <p:sp>
          <p:nvSpPr>
            <p:cNvPr id="3" name="Oval 22"/>
            <p:cNvSpPr/>
            <p:nvPr/>
          </p:nvSpPr>
          <p:spPr>
            <a:xfrm>
              <a:off x="1731021" y="1638788"/>
              <a:ext cx="736375" cy="736375"/>
            </a:xfrm>
            <a:prstGeom prst="ellipse">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微软雅黑" panose="020B0503020204020204" pitchFamily="34" charset="-122"/>
                <a:ea typeface="微软雅黑" panose="020B0503020204020204" pitchFamily="34" charset="-122"/>
              </a:endParaRPr>
            </a:p>
          </p:txBody>
        </p:sp>
        <p:sp>
          <p:nvSpPr>
            <p:cNvPr id="4" name="TextBox 23"/>
            <p:cNvSpPr txBox="1"/>
            <p:nvPr/>
          </p:nvSpPr>
          <p:spPr>
            <a:xfrm>
              <a:off x="1835353" y="1774998"/>
              <a:ext cx="527709" cy="461665"/>
            </a:xfrm>
            <a:prstGeom prst="rect">
              <a:avLst/>
            </a:prstGeom>
            <a:grpFill/>
            <a:ln>
              <a:noFill/>
            </a:ln>
          </p:spPr>
          <p:txBody>
            <a:bodyPr wrap="none">
              <a:normAutofit/>
            </a:bodyPr>
            <a:lstStyle/>
            <a:p>
              <a:pPr algn="ctr"/>
              <a:r>
                <a:rPr lang="en-GB" sz="2400" b="1" dirty="0">
                  <a:solidFill>
                    <a:schemeClr val="bg1"/>
                  </a:solidFill>
                  <a:latin typeface="微软雅黑" panose="020B0503020204020204" pitchFamily="34" charset="-122"/>
                  <a:ea typeface="微软雅黑" panose="020B0503020204020204" pitchFamily="34" charset="-122"/>
                </a:rPr>
                <a:t>01</a:t>
              </a:r>
              <a:endParaRPr lang="en-GB" sz="2400" b="1" dirty="0">
                <a:solidFill>
                  <a:schemeClr val="bg1"/>
                </a:solidFill>
                <a:latin typeface="微软雅黑" panose="020B0503020204020204" pitchFamily="34" charset="-122"/>
                <a:ea typeface="微软雅黑" panose="020B0503020204020204" pitchFamily="34" charset="-122"/>
              </a:endParaRPr>
            </a:p>
          </p:txBody>
        </p:sp>
      </p:grpSp>
      <p:grpSp>
        <p:nvGrpSpPr>
          <p:cNvPr id="5" name="Group 27"/>
          <p:cNvGrpSpPr/>
          <p:nvPr/>
        </p:nvGrpSpPr>
        <p:grpSpPr>
          <a:xfrm>
            <a:off x="985457" y="2575300"/>
            <a:ext cx="796018" cy="736375"/>
            <a:chOff x="1731021" y="2821439"/>
            <a:chExt cx="736375" cy="736375"/>
          </a:xfrm>
          <a:solidFill>
            <a:schemeClr val="bg1">
              <a:lumMod val="65000"/>
            </a:schemeClr>
          </a:solidFill>
        </p:grpSpPr>
        <p:sp>
          <p:nvSpPr>
            <p:cNvPr id="6" name="Oval 28"/>
            <p:cNvSpPr/>
            <p:nvPr/>
          </p:nvSpPr>
          <p:spPr>
            <a:xfrm>
              <a:off x="1731021" y="2821439"/>
              <a:ext cx="736375" cy="736375"/>
            </a:xfrm>
            <a:prstGeom prst="ellipse">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微软雅黑" panose="020B0503020204020204" pitchFamily="34" charset="-122"/>
                <a:ea typeface="微软雅黑" panose="020B0503020204020204" pitchFamily="34" charset="-122"/>
              </a:endParaRPr>
            </a:p>
          </p:txBody>
        </p:sp>
        <p:sp>
          <p:nvSpPr>
            <p:cNvPr id="7" name="TextBox 29"/>
            <p:cNvSpPr txBox="1"/>
            <p:nvPr/>
          </p:nvSpPr>
          <p:spPr>
            <a:xfrm>
              <a:off x="1835353" y="2957649"/>
              <a:ext cx="527709" cy="461665"/>
            </a:xfrm>
            <a:prstGeom prst="rect">
              <a:avLst/>
            </a:prstGeom>
            <a:grpFill/>
            <a:ln>
              <a:noFill/>
            </a:ln>
          </p:spPr>
          <p:txBody>
            <a:bodyPr wrap="none">
              <a:normAutofit/>
            </a:bodyPr>
            <a:lstStyle/>
            <a:p>
              <a:pPr algn="ctr"/>
              <a:r>
                <a:rPr lang="en-GB" sz="2400" b="1" dirty="0">
                  <a:solidFill>
                    <a:schemeClr val="bg1"/>
                  </a:solidFill>
                  <a:latin typeface="微软雅黑" panose="020B0503020204020204" pitchFamily="34" charset="-122"/>
                  <a:ea typeface="微软雅黑" panose="020B0503020204020204" pitchFamily="34" charset="-122"/>
                </a:rPr>
                <a:t>02</a:t>
              </a:r>
              <a:endParaRPr lang="en-GB" sz="2400" b="1" dirty="0">
                <a:solidFill>
                  <a:schemeClr val="bg1"/>
                </a:solidFill>
                <a:latin typeface="微软雅黑" panose="020B0503020204020204" pitchFamily="34" charset="-122"/>
                <a:ea typeface="微软雅黑" panose="020B0503020204020204" pitchFamily="34" charset="-122"/>
              </a:endParaRPr>
            </a:p>
          </p:txBody>
        </p:sp>
      </p:grpSp>
      <p:grpSp>
        <p:nvGrpSpPr>
          <p:cNvPr id="8" name="Group 33"/>
          <p:cNvGrpSpPr/>
          <p:nvPr/>
        </p:nvGrpSpPr>
        <p:grpSpPr>
          <a:xfrm>
            <a:off x="978494" y="5548456"/>
            <a:ext cx="796018" cy="736375"/>
            <a:chOff x="1731021" y="4175657"/>
            <a:chExt cx="736375" cy="736375"/>
          </a:xfrm>
          <a:solidFill>
            <a:srgbClr val="A6A6A6"/>
          </a:solidFill>
        </p:grpSpPr>
        <p:sp>
          <p:nvSpPr>
            <p:cNvPr id="9" name="Oval 34"/>
            <p:cNvSpPr/>
            <p:nvPr/>
          </p:nvSpPr>
          <p:spPr>
            <a:xfrm>
              <a:off x="1731021" y="4175657"/>
              <a:ext cx="736375" cy="736375"/>
            </a:xfrm>
            <a:prstGeom prst="ellipse">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微软雅黑" panose="020B0503020204020204" pitchFamily="34" charset="-122"/>
                <a:ea typeface="微软雅黑" panose="020B0503020204020204" pitchFamily="34" charset="-122"/>
              </a:endParaRPr>
            </a:p>
          </p:txBody>
        </p:sp>
        <p:sp>
          <p:nvSpPr>
            <p:cNvPr id="10" name="TextBox 35"/>
            <p:cNvSpPr txBox="1"/>
            <p:nvPr/>
          </p:nvSpPr>
          <p:spPr>
            <a:xfrm>
              <a:off x="1835353" y="4311867"/>
              <a:ext cx="527709" cy="461665"/>
            </a:xfrm>
            <a:prstGeom prst="rect">
              <a:avLst/>
            </a:prstGeom>
            <a:grpFill/>
            <a:ln>
              <a:noFill/>
            </a:ln>
          </p:spPr>
          <p:txBody>
            <a:bodyPr wrap="none">
              <a:normAutofit/>
            </a:bodyPr>
            <a:lstStyle/>
            <a:p>
              <a:pPr algn="ctr"/>
              <a:r>
                <a:rPr lang="en-GB" sz="2400" b="1" dirty="0">
                  <a:solidFill>
                    <a:schemeClr val="bg1"/>
                  </a:solidFill>
                  <a:latin typeface="微软雅黑" panose="020B0503020204020204" pitchFamily="34" charset="-122"/>
                  <a:ea typeface="微软雅黑" panose="020B0503020204020204" pitchFamily="34" charset="-122"/>
                </a:rPr>
                <a:t>02</a:t>
              </a:r>
              <a:endParaRPr lang="en-GB" sz="2400" b="1" dirty="0">
                <a:solidFill>
                  <a:schemeClr val="bg1"/>
                </a:solidFill>
                <a:latin typeface="微软雅黑" panose="020B0503020204020204" pitchFamily="34" charset="-122"/>
                <a:ea typeface="微软雅黑" panose="020B0503020204020204" pitchFamily="34" charset="-122"/>
              </a:endParaRPr>
            </a:p>
          </p:txBody>
        </p:sp>
      </p:grpSp>
      <p:sp>
        <p:nvSpPr>
          <p:cNvPr id="11" name="文本框 10"/>
          <p:cNvSpPr txBox="1"/>
          <p:nvPr/>
        </p:nvSpPr>
        <p:spPr>
          <a:xfrm>
            <a:off x="1894258" y="1559377"/>
            <a:ext cx="9290221" cy="768350"/>
          </a:xfrm>
          <a:prstGeom prst="rect">
            <a:avLst/>
          </a:prstGeom>
          <a:noFill/>
        </p:spPr>
        <p:txBody>
          <a:bodyPr wrap="square">
            <a:spAutoFit/>
          </a:bodyPr>
          <a:lstStyle/>
          <a:p>
            <a:pPr algn="just"/>
            <a:r>
              <a:rPr lang="zh-CN" altLang="en-US" sz="2200" b="1" dirty="0">
                <a:solidFill>
                  <a:schemeClr val="tx1">
                    <a:lumMod val="95000"/>
                    <a:lumOff val="5000"/>
                  </a:schemeClr>
                </a:solidFill>
                <a:latin typeface="+mn-ea"/>
              </a:rPr>
              <a:t>根据在需求方面的权威</a:t>
            </a:r>
            <a:r>
              <a:rPr lang="en-US" altLang="zh-CN" sz="2200" b="1" dirty="0">
                <a:solidFill>
                  <a:schemeClr val="tx1">
                    <a:lumMod val="95000"/>
                    <a:lumOff val="5000"/>
                  </a:schemeClr>
                </a:solidFill>
                <a:latin typeface="+mn-ea"/>
              </a:rPr>
              <a:t>Alan Davis</a:t>
            </a:r>
            <a:r>
              <a:rPr lang="zh-CN" altLang="en-US" sz="2200" b="1" dirty="0">
                <a:solidFill>
                  <a:schemeClr val="tx1">
                    <a:lumMod val="95000"/>
                    <a:lumOff val="5000"/>
                  </a:schemeClr>
                </a:solidFill>
                <a:latin typeface="+mn-ea"/>
              </a:rPr>
              <a:t>的见解，</a:t>
            </a:r>
            <a:r>
              <a:rPr lang="zh-CN" altLang="en-US" sz="2200" b="1" dirty="0">
                <a:solidFill>
                  <a:srgbClr val="FF0000"/>
                </a:solidFill>
                <a:latin typeface="+mn-ea"/>
              </a:rPr>
              <a:t>仅仅单一来看需求文档并不能提供对需求的完全理解</a:t>
            </a:r>
            <a:endParaRPr lang="en-US" altLang="zh-CN" sz="2200" b="1" dirty="0">
              <a:solidFill>
                <a:schemeClr val="tx1">
                  <a:lumMod val="95000"/>
                  <a:lumOff val="5000"/>
                </a:schemeClr>
              </a:solidFill>
              <a:latin typeface="+mn-ea"/>
            </a:endParaRPr>
          </a:p>
        </p:txBody>
      </p:sp>
      <p:sp>
        <p:nvSpPr>
          <p:cNvPr id="12" name="文本框 11"/>
          <p:cNvSpPr txBox="1"/>
          <p:nvPr/>
        </p:nvSpPr>
        <p:spPr>
          <a:xfrm>
            <a:off x="1894258" y="2536626"/>
            <a:ext cx="9290221" cy="768350"/>
          </a:xfrm>
          <a:prstGeom prst="rect">
            <a:avLst/>
          </a:prstGeom>
          <a:noFill/>
        </p:spPr>
        <p:txBody>
          <a:bodyPr wrap="square">
            <a:spAutoFit/>
          </a:bodyPr>
          <a:lstStyle/>
          <a:p>
            <a:pPr algn="just"/>
            <a:r>
              <a:rPr lang="zh-CN" altLang="en-US" sz="2200" b="1" dirty="0">
                <a:solidFill>
                  <a:schemeClr val="tx1">
                    <a:lumMod val="95000"/>
                    <a:lumOff val="5000"/>
                  </a:schemeClr>
                </a:solidFill>
                <a:latin typeface="+mn-ea"/>
              </a:rPr>
              <a:t>需要</a:t>
            </a:r>
            <a:r>
              <a:rPr lang="zh-CN" altLang="en-US" sz="2200" b="1" dirty="0">
                <a:solidFill>
                  <a:srgbClr val="FF0000"/>
                </a:solidFill>
                <a:latin typeface="+mn-ea"/>
              </a:rPr>
              <a:t>把用文本表示的需求和用图形表示的需求结合起来提供不同的信息与关系</a:t>
            </a:r>
            <a:r>
              <a:rPr lang="zh-CN" altLang="en-US" sz="2200" b="1" dirty="0">
                <a:solidFill>
                  <a:schemeClr val="tx1">
                    <a:lumMod val="95000"/>
                    <a:lumOff val="5000"/>
                  </a:schemeClr>
                </a:solidFill>
                <a:latin typeface="+mn-ea"/>
              </a:rPr>
              <a:t>，绘制出对预期系统的完整描述</a:t>
            </a:r>
            <a:endParaRPr lang="zh-CN" altLang="en-US" sz="2200" b="1" dirty="0">
              <a:solidFill>
                <a:schemeClr val="tx1">
                  <a:lumMod val="95000"/>
                  <a:lumOff val="5000"/>
                </a:schemeClr>
              </a:solidFill>
              <a:latin typeface="+mn-ea"/>
            </a:endParaRPr>
          </a:p>
        </p:txBody>
      </p:sp>
      <p:sp>
        <p:nvSpPr>
          <p:cNvPr id="13" name="文本框 12"/>
          <p:cNvSpPr txBox="1"/>
          <p:nvPr/>
        </p:nvSpPr>
        <p:spPr>
          <a:xfrm>
            <a:off x="1887220" y="5747385"/>
            <a:ext cx="7762240" cy="429895"/>
          </a:xfrm>
          <a:prstGeom prst="rect">
            <a:avLst/>
          </a:prstGeom>
          <a:noFill/>
        </p:spPr>
        <p:txBody>
          <a:bodyPr wrap="square">
            <a:spAutoFit/>
          </a:bodyPr>
          <a:lstStyle/>
          <a:p>
            <a:pPr algn="just"/>
            <a:r>
              <a:rPr lang="zh-CN" altLang="en-US" sz="2200" b="1" dirty="0">
                <a:latin typeface="+mn-ea"/>
              </a:rPr>
              <a:t>有助于</a:t>
            </a:r>
            <a:r>
              <a:rPr lang="zh-CN" altLang="en-US" sz="2200" b="1" dirty="0">
                <a:solidFill>
                  <a:srgbClr val="FF0000"/>
                </a:solidFill>
                <a:latin typeface="+mn-ea"/>
              </a:rPr>
              <a:t>理解用户的业务问题和软件需求</a:t>
            </a:r>
            <a:endParaRPr lang="zh-CN" altLang="en-US" sz="2200" b="1" dirty="0">
              <a:latin typeface="+mn-ea"/>
            </a:endParaRPr>
          </a:p>
        </p:txBody>
      </p:sp>
      <p:sp>
        <p:nvSpPr>
          <p:cNvPr id="14"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4" name="矩形 9246"/>
          <p:cNvSpPr>
            <a:spLocks noChangeArrowheads="1"/>
          </p:cNvSpPr>
          <p:nvPr/>
        </p:nvSpPr>
        <p:spPr bwMode="auto">
          <a:xfrm>
            <a:off x="698501" y="1305662"/>
            <a:ext cx="10794999" cy="2191947"/>
          </a:xfrm>
          <a:prstGeom prst="rect">
            <a:avLst/>
          </a:prstGeom>
          <a:noFill/>
          <a:ln w="19050">
            <a:solidFill>
              <a:srgbClr val="5197D7"/>
            </a:solidFill>
            <a:prstDash val="sysDash"/>
            <a:miter lim="800000"/>
          </a:ln>
        </p:spPr>
        <p:txBody>
          <a:bodyPr wrap="none" anchor="ctr"/>
          <a:lstStyle/>
          <a:p>
            <a:pPr algn="ctr"/>
            <a:endParaRPr lang="zh-CN" altLang="en-US" sz="2000" dirty="0">
              <a:noFill/>
              <a:latin typeface="+mn-ea"/>
            </a:endParaRPr>
          </a:p>
        </p:txBody>
      </p:sp>
      <p:sp>
        <p:nvSpPr>
          <p:cNvPr id="25" name="箭头: 下 24"/>
          <p:cNvSpPr/>
          <p:nvPr/>
        </p:nvSpPr>
        <p:spPr>
          <a:xfrm>
            <a:off x="5052165" y="3503354"/>
            <a:ext cx="2087666" cy="1100815"/>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2200" b="1" dirty="0"/>
              <a:t>技术建模需求</a:t>
            </a:r>
            <a:endParaRPr lang="en-US" altLang="zh-CN" sz="2200" b="1" dirty="0"/>
          </a:p>
        </p:txBody>
      </p:sp>
      <p:grpSp>
        <p:nvGrpSpPr>
          <p:cNvPr id="31" name="Group 33"/>
          <p:cNvGrpSpPr/>
          <p:nvPr/>
        </p:nvGrpSpPr>
        <p:grpSpPr>
          <a:xfrm>
            <a:off x="978496" y="4653138"/>
            <a:ext cx="796018" cy="736375"/>
            <a:chOff x="1731021" y="4175657"/>
            <a:chExt cx="736375" cy="736375"/>
          </a:xfrm>
          <a:solidFill>
            <a:schemeClr val="accent4"/>
          </a:solidFill>
        </p:grpSpPr>
        <p:sp>
          <p:nvSpPr>
            <p:cNvPr id="32" name="Oval 34"/>
            <p:cNvSpPr/>
            <p:nvPr/>
          </p:nvSpPr>
          <p:spPr>
            <a:xfrm>
              <a:off x="1731021" y="4175657"/>
              <a:ext cx="736375" cy="736375"/>
            </a:xfrm>
            <a:prstGeom prst="ellipse">
              <a:avLst/>
            </a:prstGeom>
            <a:solidFill>
              <a:srgbClr val="5B9BD5"/>
            </a:solid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微软雅黑" panose="020B0503020204020204" pitchFamily="34" charset="-122"/>
                <a:ea typeface="微软雅黑" panose="020B0503020204020204" pitchFamily="34" charset="-122"/>
              </a:endParaRPr>
            </a:p>
          </p:txBody>
        </p:sp>
        <p:sp>
          <p:nvSpPr>
            <p:cNvPr id="33" name="TextBox 35"/>
            <p:cNvSpPr txBox="1"/>
            <p:nvPr/>
          </p:nvSpPr>
          <p:spPr>
            <a:xfrm>
              <a:off x="1835353" y="4311867"/>
              <a:ext cx="527709" cy="461665"/>
            </a:xfrm>
            <a:prstGeom prst="rect">
              <a:avLst/>
            </a:prstGeom>
            <a:noFill/>
            <a:ln>
              <a:noFill/>
            </a:ln>
          </p:spPr>
          <p:txBody>
            <a:bodyPr wrap="none">
              <a:normAutofit/>
            </a:bodyPr>
            <a:lstStyle/>
            <a:p>
              <a:pPr algn="ctr"/>
              <a:r>
                <a:rPr lang="en-GB" sz="2400" b="1" dirty="0">
                  <a:solidFill>
                    <a:schemeClr val="bg1"/>
                  </a:solidFill>
                  <a:latin typeface="微软雅黑" panose="020B0503020204020204" pitchFamily="34" charset="-122"/>
                  <a:ea typeface="微软雅黑" panose="020B0503020204020204" pitchFamily="34" charset="-122"/>
                </a:rPr>
                <a:t>01</a:t>
              </a:r>
              <a:endParaRPr lang="en-GB" sz="2400" b="1" dirty="0">
                <a:solidFill>
                  <a:schemeClr val="bg1"/>
                </a:solidFill>
                <a:latin typeface="微软雅黑" panose="020B0503020204020204" pitchFamily="34" charset="-122"/>
                <a:ea typeface="微软雅黑" panose="020B0503020204020204" pitchFamily="34" charset="-122"/>
              </a:endParaRPr>
            </a:p>
          </p:txBody>
        </p:sp>
      </p:grpSp>
      <p:sp>
        <p:nvSpPr>
          <p:cNvPr id="34" name="文本框 33"/>
          <p:cNvSpPr txBox="1"/>
          <p:nvPr/>
        </p:nvSpPr>
        <p:spPr>
          <a:xfrm>
            <a:off x="1774806" y="4802516"/>
            <a:ext cx="9312518" cy="768350"/>
          </a:xfrm>
          <a:prstGeom prst="rect">
            <a:avLst/>
          </a:prstGeom>
          <a:noFill/>
        </p:spPr>
        <p:txBody>
          <a:bodyPr wrap="square">
            <a:spAutoFit/>
          </a:bodyPr>
          <a:lstStyle/>
          <a:p>
            <a:pPr algn="just"/>
            <a:r>
              <a:rPr lang="zh-CN" altLang="en-US" sz="2200" b="1" dirty="0">
                <a:solidFill>
                  <a:schemeClr val="tx1">
                    <a:lumMod val="95000"/>
                    <a:lumOff val="5000"/>
                  </a:schemeClr>
                </a:solidFill>
                <a:latin typeface="+mn-ea"/>
              </a:rPr>
              <a:t>有助于需求分析员找到</a:t>
            </a:r>
            <a:r>
              <a:rPr lang="zh-CN" altLang="en-US" sz="2200" b="1" dirty="0">
                <a:solidFill>
                  <a:srgbClr val="FF0000"/>
                </a:solidFill>
                <a:latin typeface="+mn-ea"/>
              </a:rPr>
              <a:t>不正确的、不一致的、模糊性、错误、遗漏的和冗余的需求</a:t>
            </a:r>
            <a:endParaRPr lang="zh-CN" altLang="en-US" sz="2200" b="1" dirty="0">
              <a:solidFill>
                <a:schemeClr val="tx1">
                  <a:lumMod val="95000"/>
                  <a:lumOff val="5000"/>
                </a:schemeClr>
              </a:solidFill>
              <a:latin typeface="+mn-ea"/>
            </a:endParaRPr>
          </a:p>
        </p:txBody>
      </p:sp>
      <p:sp>
        <p:nvSpPr>
          <p:cNvPr id="35" name="矩形 9246"/>
          <p:cNvSpPr>
            <a:spLocks noChangeArrowheads="1"/>
          </p:cNvSpPr>
          <p:nvPr/>
        </p:nvSpPr>
        <p:spPr bwMode="auto">
          <a:xfrm>
            <a:off x="698500" y="4602102"/>
            <a:ext cx="10794997" cy="1761821"/>
          </a:xfrm>
          <a:prstGeom prst="rect">
            <a:avLst/>
          </a:prstGeom>
          <a:noFill/>
          <a:ln w="19050">
            <a:solidFill>
              <a:srgbClr val="5197D7"/>
            </a:solidFill>
            <a:prstDash val="sysDash"/>
            <a:miter lim="800000"/>
          </a:ln>
        </p:spPr>
        <p:txBody>
          <a:bodyPr wrap="none" anchor="ctr"/>
          <a:lstStyle/>
          <a:p>
            <a:pPr algn="ctr"/>
            <a:endParaRPr lang="zh-CN" altLang="en-US" sz="2000" dirty="0">
              <a:noFill/>
              <a:latin typeface="+mn-ea"/>
            </a:endParaRPr>
          </a:p>
        </p:txBody>
      </p:sp>
      <p:sp>
        <p:nvSpPr>
          <p:cNvPr id="22"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3.5.1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需求的图形化分析背景</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15" name="日期占位符 14"/>
          <p:cNvSpPr>
            <a:spLocks noGrp="1"/>
          </p:cNvSpPr>
          <p:nvPr>
            <p:ph type="dt" sz="half" idx="10"/>
          </p:nvPr>
        </p:nvSpPr>
        <p:spPr/>
        <p:txBody>
          <a:bodyPr/>
          <a:lstStyle/>
          <a:p>
            <a:pPr>
              <a:defRPr/>
            </a:pPr>
            <a:fld id="{0D370BCA-A045-4BD1-8535-7014B3948995}" type="datetime1">
              <a:rPr lang="zh-CN" altLang="en-US" smtClean="0">
                <a:solidFill>
                  <a:prstClr val="black">
                    <a:tint val="75000"/>
                  </a:prstClr>
                </a:solidFill>
              </a:rPr>
            </a:fld>
            <a:endParaRPr lang="zh-CN" altLang="en-US">
              <a:solidFill>
                <a:prstClr val="black">
                  <a:tint val="75000"/>
                </a:prstClr>
              </a:solidFill>
            </a:endParaRPr>
          </a:p>
        </p:txBody>
      </p:sp>
      <p:sp>
        <p:nvSpPr>
          <p:cNvPr id="16" name="灯片编号占位符 1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p:tgtEl>
                                          <p:spTgt spid="22"/>
                                        </p:tgtEl>
                                        <p:attrNameLst>
                                          <p:attrName>ppt_x</p:attrName>
                                        </p:attrNameLst>
                                      </p:cBhvr>
                                      <p:tavLst>
                                        <p:tav tm="0">
                                          <p:val>
                                            <p:strVal val="#ppt_x+#ppt_w*1.125000"/>
                                          </p:val>
                                        </p:tav>
                                        <p:tav tm="100000">
                                          <p:val>
                                            <p:strVal val="#ppt_x"/>
                                          </p:val>
                                        </p:tav>
                                      </p:tavLst>
                                    </p:anim>
                                    <p:animEffect transition="in" filter="wipe(left)">
                                      <p:cBhvr>
                                        <p:cTn id="8" dur="500"/>
                                        <p:tgtEl>
                                          <p:spTgt spid="22"/>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24" grpId="0" animBg="1"/>
      <p:bldP spid="25" grpId="0" animBg="1"/>
      <p:bldP spid="34" grpId="0"/>
      <p:bldP spid="35" grpId="0" animBg="1"/>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698499" y="1490017"/>
            <a:ext cx="11007545" cy="48074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200" b="1" dirty="0">
                <a:solidFill>
                  <a:srgbClr val="FF0000"/>
                </a:solidFill>
              </a:rPr>
              <a:t>不存在一个包罗万象的图，分析模型应该增强自然语言的需求规格说明，而不是替换之</a:t>
            </a:r>
            <a:endParaRPr lang="zh-CN" altLang="en-US" sz="2200" b="1" dirty="0">
              <a:solidFill>
                <a:srgbClr val="FF0000"/>
              </a:solidFill>
            </a:endParaRPr>
          </a:p>
        </p:txBody>
      </p:sp>
      <p:graphicFrame>
        <p:nvGraphicFramePr>
          <p:cNvPr id="3" name="图示 2"/>
          <p:cNvGraphicFramePr/>
          <p:nvPr/>
        </p:nvGraphicFramePr>
        <p:xfrm>
          <a:off x="1893455" y="2632365"/>
          <a:ext cx="8783781" cy="247171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矩形: 圆角 4"/>
          <p:cNvSpPr/>
          <p:nvPr/>
        </p:nvSpPr>
        <p:spPr>
          <a:xfrm>
            <a:off x="762607" y="5585669"/>
            <a:ext cx="10795000" cy="770682"/>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2200" b="1" dirty="0">
                <a:solidFill>
                  <a:schemeClr val="tx1"/>
                </a:solidFill>
                <a:latin typeface="Calibri" panose="020F0502020204030204"/>
                <a:ea typeface="宋体" panose="02010600030101010101" pitchFamily="2" charset="-122"/>
              </a:rPr>
              <a:t>作为需求分析工具，可以用这些图对问题域进行建模，图形有助于分析者和客户在需求方面形成一致的、综合的理解，并且还可以发现需求的错误。</a:t>
            </a:r>
            <a:endParaRPr lang="zh-CN" altLang="en-US" sz="2200" b="1" dirty="0">
              <a:solidFill>
                <a:schemeClr val="tx1"/>
              </a:solidFill>
              <a:latin typeface="Calibri" panose="020F0502020204030204"/>
              <a:ea typeface="宋体" panose="02010600030101010101" pitchFamily="2" charset="-122"/>
            </a:endParaRPr>
          </a:p>
        </p:txBody>
      </p:sp>
      <p:sp>
        <p:nvSpPr>
          <p:cNvPr id="7"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2" name="矩形 9246"/>
          <p:cNvSpPr>
            <a:spLocks noChangeArrowheads="1"/>
          </p:cNvSpPr>
          <p:nvPr/>
        </p:nvSpPr>
        <p:spPr bwMode="auto">
          <a:xfrm>
            <a:off x="730552" y="2327498"/>
            <a:ext cx="10730893" cy="2880511"/>
          </a:xfrm>
          <a:prstGeom prst="roundRect">
            <a:avLst/>
          </a:prstGeom>
          <a:noFill/>
          <a:ln w="19050">
            <a:solidFill>
              <a:srgbClr val="5197D7"/>
            </a:solidFill>
            <a:prstDash val="sysDash"/>
            <a:miter lim="800000"/>
          </a:ln>
        </p:spPr>
        <p:txBody>
          <a:bodyPr wrap="none" anchor="ctr"/>
          <a:lstStyle/>
          <a:p>
            <a:pPr lvl="0"/>
            <a:endParaRPr lang="zh-CN" altLang="en-US" sz="2000" dirty="0"/>
          </a:p>
        </p:txBody>
      </p:sp>
      <p:sp>
        <p:nvSpPr>
          <p:cNvPr id="8" name="文本框 67"/>
          <p:cNvSpPr>
            <a:spLocks noChangeArrowheads="1"/>
          </p:cNvSpPr>
          <p:nvPr/>
        </p:nvSpPr>
        <p:spPr bwMode="auto">
          <a:xfrm>
            <a:off x="660400" y="690880"/>
            <a:ext cx="828865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1</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）需求的图形化表示模型</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9" name="文本框 8"/>
          <p:cNvSpPr txBox="1"/>
          <p:nvPr/>
        </p:nvSpPr>
        <p:spPr>
          <a:xfrm>
            <a:off x="4816760" y="2110600"/>
            <a:ext cx="3085035" cy="430887"/>
          </a:xfrm>
          <a:prstGeom prst="rect">
            <a:avLst/>
          </a:prstGeom>
          <a:solidFill>
            <a:schemeClr val="bg1"/>
          </a:solidFill>
          <a:ln>
            <a:solidFill>
              <a:srgbClr val="5197D7"/>
            </a:solidFill>
          </a:ln>
        </p:spPr>
        <p:txBody>
          <a:bodyPr wrap="square">
            <a:spAutoFit/>
          </a:bodyPr>
          <a:lstStyle/>
          <a:p>
            <a:pPr lvl="0"/>
            <a:r>
              <a:rPr lang="zh-CN" altLang="en-US" sz="2200" b="1" dirty="0">
                <a:solidFill>
                  <a:srgbClr val="FF0000"/>
                </a:solidFill>
              </a:rPr>
              <a:t>需求的图形化表示模型</a:t>
            </a:r>
            <a:endParaRPr lang="zh-CN" altLang="en-US" sz="2200" dirty="0">
              <a:solidFill>
                <a:srgbClr val="FF0000"/>
              </a:solidFill>
            </a:endParaRPr>
          </a:p>
        </p:txBody>
      </p:sp>
      <p:sp>
        <p:nvSpPr>
          <p:cNvPr id="6" name="箭头: 下 5"/>
          <p:cNvSpPr/>
          <p:nvPr/>
        </p:nvSpPr>
        <p:spPr>
          <a:xfrm>
            <a:off x="5938984" y="5262329"/>
            <a:ext cx="406400" cy="269019"/>
          </a:xfrm>
          <a:prstGeom prst="downArrow">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日期占位符 3"/>
          <p:cNvSpPr>
            <a:spLocks noGrp="1"/>
          </p:cNvSpPr>
          <p:nvPr>
            <p:ph type="dt" sz="half" idx="10"/>
          </p:nvPr>
        </p:nvSpPr>
        <p:spPr/>
        <p:txBody>
          <a:bodyPr/>
          <a:lstStyle/>
          <a:p>
            <a:pPr>
              <a:defRPr/>
            </a:pPr>
            <a:fld id="{7C00B5A4-B886-47E3-8A9A-525CE2E893DD}" type="datetime1">
              <a:rPr lang="zh-CN" altLang="en-US" smtClean="0">
                <a:solidFill>
                  <a:prstClr val="black">
                    <a:tint val="75000"/>
                  </a:prstClr>
                </a:solidFill>
              </a:rPr>
            </a:fld>
            <a:endParaRPr lang="zh-CN" altLang="en-US">
              <a:solidFill>
                <a:prstClr val="black">
                  <a:tint val="75000"/>
                </a:prstClr>
              </a:solidFill>
            </a:endParaRPr>
          </a:p>
        </p:txBody>
      </p:sp>
      <p:sp>
        <p:nvSpPr>
          <p:cNvPr id="10" name="灯片编号占位符 9"/>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left)">
                                      <p:cBhvr>
                                        <p:cTn id="8" dur="500"/>
                                        <p:tgtEl>
                                          <p:spTgt spid="8"/>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3" grpId="0">
        <p:bldAsOne/>
      </p:bldGraphic>
      <p:bldP spid="5" grpId="0" animBg="1"/>
      <p:bldP spid="12" grpId="0" animBg="1"/>
      <p:bldP spid="8" grpId="0"/>
      <p:bldP spid="9" grpId="0"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4"/>
          <p:cNvSpPr/>
          <p:nvPr/>
        </p:nvSpPr>
        <p:spPr>
          <a:xfrm>
            <a:off x="1790990" y="1675647"/>
            <a:ext cx="9772650" cy="873760"/>
          </a:xfrm>
          <a:prstGeom prst="roundRect">
            <a:avLst/>
          </a:prstGeom>
          <a:solidFill>
            <a:schemeClr val="accent5">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tx1"/>
              </a:solidFill>
            </a:endParaRPr>
          </a:p>
        </p:txBody>
      </p:sp>
      <p:sp>
        <p:nvSpPr>
          <p:cNvPr id="4" name="Rectangle: Rounded Corners 4"/>
          <p:cNvSpPr/>
          <p:nvPr/>
        </p:nvSpPr>
        <p:spPr>
          <a:xfrm>
            <a:off x="1775115" y="2655570"/>
            <a:ext cx="9788525" cy="2500090"/>
          </a:xfrm>
          <a:prstGeom prst="roundRect">
            <a:avLst/>
          </a:prstGeom>
          <a:solidFill>
            <a:schemeClr val="accent6">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tx1"/>
              </a:solidFill>
            </a:endParaRPr>
          </a:p>
        </p:txBody>
      </p:sp>
      <p:sp>
        <p:nvSpPr>
          <p:cNvPr id="5" name="Rectangle: Rounded Corners 4"/>
          <p:cNvSpPr/>
          <p:nvPr/>
        </p:nvSpPr>
        <p:spPr>
          <a:xfrm>
            <a:off x="1783052" y="5229543"/>
            <a:ext cx="9788525" cy="1175347"/>
          </a:xfrm>
          <a:prstGeom prst="roundRect">
            <a:avLst/>
          </a:prstGeom>
          <a:solidFill>
            <a:schemeClr val="accent5">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grpSp>
        <p:nvGrpSpPr>
          <p:cNvPr id="6" name="组合 5"/>
          <p:cNvGrpSpPr/>
          <p:nvPr/>
        </p:nvGrpSpPr>
        <p:grpSpPr>
          <a:xfrm>
            <a:off x="2169809" y="1702340"/>
            <a:ext cx="9215121" cy="793750"/>
            <a:chOff x="937750" y="5035428"/>
            <a:chExt cx="2932272" cy="793750"/>
          </a:xfrm>
        </p:grpSpPr>
        <p:sp>
          <p:nvSpPr>
            <p:cNvPr id="7" name="矩形 6"/>
            <p:cNvSpPr/>
            <p:nvPr/>
          </p:nvSpPr>
          <p:spPr>
            <a:xfrm>
              <a:off x="937750" y="5368803"/>
              <a:ext cx="2932272" cy="46037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000" b="1" dirty="0"/>
                <a:t>这些图形化工具通过交互画图使分析员易于对模型进行改进。</a:t>
              </a:r>
              <a:endParaRPr lang="zh-CN" altLang="en-US" sz="2000" b="1" dirty="0"/>
            </a:p>
          </p:txBody>
        </p:sp>
        <p:sp>
          <p:nvSpPr>
            <p:cNvPr id="8" name="矩形 7"/>
            <p:cNvSpPr/>
            <p:nvPr/>
          </p:nvSpPr>
          <p:spPr>
            <a:xfrm>
              <a:off x="937750" y="5035428"/>
              <a:ext cx="2241974" cy="460375"/>
            </a:xfrm>
            <a:prstGeom prst="rect">
              <a:avLst/>
            </a:prstGeom>
          </p:spPr>
          <p:txBody>
            <a:bodyPr wrap="square">
              <a:spAutoFit/>
              <a:scene3d>
                <a:camera prst="orthographicFront"/>
                <a:lightRig rig="threePt" dir="t"/>
              </a:scene3d>
              <a:sp3d contourW="12700"/>
            </a:bodyPr>
            <a:lstStyle/>
            <a:p>
              <a:pPr algn="just">
                <a:lnSpc>
                  <a:spcPct val="120000"/>
                </a:lnSpc>
              </a:pPr>
              <a:r>
                <a:rPr lang="en-US" altLang="zh-CN" sz="2000" b="1" dirty="0"/>
                <a:t>1</a:t>
              </a:r>
              <a:r>
                <a:rPr lang="zh-CN" altLang="en-US" sz="2000" b="1" dirty="0"/>
                <a:t>）模型易于改进</a:t>
              </a:r>
              <a:endParaRPr lang="zh-CN" altLang="en-US" sz="2000" b="1" dirty="0"/>
            </a:p>
          </p:txBody>
        </p:sp>
      </p:grpSp>
      <p:grpSp>
        <p:nvGrpSpPr>
          <p:cNvPr id="9" name="组合 8"/>
          <p:cNvGrpSpPr/>
          <p:nvPr/>
        </p:nvGrpSpPr>
        <p:grpSpPr>
          <a:xfrm>
            <a:off x="2232676" y="5270142"/>
            <a:ext cx="9152254" cy="1163320"/>
            <a:chOff x="937750" y="5035428"/>
            <a:chExt cx="2954204" cy="1163320"/>
          </a:xfrm>
        </p:grpSpPr>
        <p:sp>
          <p:nvSpPr>
            <p:cNvPr id="10" name="矩形 9"/>
            <p:cNvSpPr/>
            <p:nvPr/>
          </p:nvSpPr>
          <p:spPr>
            <a:xfrm>
              <a:off x="937750" y="5368803"/>
              <a:ext cx="2954204" cy="82994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000" b="1" dirty="0"/>
                <a:t>分析模型方便了项目参与者在系统的某些方面的交流。不需要整个系统的模型集，只需关注建模中系统最复杂和最关键的部分。</a:t>
              </a:r>
              <a:endParaRPr lang="zh-CN" altLang="en-US" sz="2000" b="1" dirty="0"/>
            </a:p>
          </p:txBody>
        </p:sp>
        <p:sp>
          <p:nvSpPr>
            <p:cNvPr id="11" name="矩形 10"/>
            <p:cNvSpPr/>
            <p:nvPr/>
          </p:nvSpPr>
          <p:spPr>
            <a:xfrm>
              <a:off x="937750" y="5035428"/>
              <a:ext cx="2241974" cy="460375"/>
            </a:xfrm>
            <a:prstGeom prst="rect">
              <a:avLst/>
            </a:prstGeom>
          </p:spPr>
          <p:txBody>
            <a:bodyPr wrap="square">
              <a:spAutoFit/>
              <a:scene3d>
                <a:camera prst="orthographicFront"/>
                <a:lightRig rig="threePt" dir="t"/>
              </a:scene3d>
              <a:sp3d contourW="12700"/>
            </a:bodyPr>
            <a:lstStyle/>
            <a:p>
              <a:pPr algn="just">
                <a:lnSpc>
                  <a:spcPct val="120000"/>
                </a:lnSpc>
              </a:pPr>
              <a:r>
                <a:rPr lang="en-US" altLang="zh-CN" sz="2000" b="1" dirty="0"/>
                <a:t>3</a:t>
              </a:r>
              <a:r>
                <a:rPr lang="zh-CN" altLang="en-US" sz="2000" b="1" dirty="0"/>
                <a:t>）模型方便参与者交流</a:t>
              </a:r>
              <a:endParaRPr lang="zh-CN" altLang="en-US" sz="2000" b="1" dirty="0"/>
            </a:p>
          </p:txBody>
        </p:sp>
      </p:grpSp>
      <p:grpSp>
        <p:nvGrpSpPr>
          <p:cNvPr id="12" name="组合 11"/>
          <p:cNvGrpSpPr/>
          <p:nvPr/>
        </p:nvGrpSpPr>
        <p:grpSpPr>
          <a:xfrm>
            <a:off x="2176710" y="2624792"/>
            <a:ext cx="9208769" cy="2587267"/>
            <a:chOff x="937750" y="4976929"/>
            <a:chExt cx="2910128" cy="2587267"/>
          </a:xfrm>
        </p:grpSpPr>
        <p:sp>
          <p:nvSpPr>
            <p:cNvPr id="13" name="矩形 12"/>
            <p:cNvSpPr/>
            <p:nvPr/>
          </p:nvSpPr>
          <p:spPr>
            <a:xfrm>
              <a:off x="937750" y="5257241"/>
              <a:ext cx="2910128" cy="2306955"/>
            </a:xfrm>
            <a:prstGeom prst="rect">
              <a:avLst/>
            </a:prstGeom>
          </p:spPr>
          <p:txBody>
            <a:bodyPr wrap="square">
              <a:spAutoFit/>
              <a:scene3d>
                <a:camera prst="orthographicFront"/>
                <a:lightRig rig="threePt" dir="t"/>
              </a:scene3d>
              <a:sp3d contourW="12700"/>
            </a:bodyPr>
            <a:lstStyle/>
            <a:p>
              <a:pPr algn="just">
                <a:lnSpc>
                  <a:spcPct val="120000"/>
                </a:lnSpc>
              </a:pPr>
              <a:r>
                <a:rPr lang="en-US" altLang="zh-CN" sz="2000" b="1" dirty="0"/>
                <a:t>CASE</a:t>
              </a:r>
              <a:r>
                <a:rPr lang="zh-CN" altLang="en-US" sz="2000" b="1" dirty="0"/>
                <a:t>（</a:t>
              </a:r>
              <a:r>
                <a:rPr lang="en-US" altLang="zh-CN" sz="2000" b="1" dirty="0"/>
                <a:t>Computer Aided Software Engineering</a:t>
              </a:r>
              <a:r>
                <a:rPr lang="zh-CN" altLang="en-US" sz="2000" b="1" dirty="0"/>
                <a:t>）工具知道它们所支持的每一种建模方法的规则。它们可以验证模型，并且识别人们在评审图形时没有发现的语法或逻辑错误。该工具还可以把多系统图形一起连接到数据字典中以共享数据定义。</a:t>
              </a:r>
              <a:r>
                <a:rPr lang="en-US" altLang="zh-CN" sz="2000" b="1" dirty="0"/>
                <a:t>CASE</a:t>
              </a:r>
              <a:r>
                <a:rPr lang="zh-CN" altLang="en-US" sz="2000" b="1" dirty="0"/>
                <a:t>工具有助于保持模型之间的一致性并使模型与软件需求规格说明中的功能需求保持一致。有助于需求分析员找到不正确的、不一致的、模糊性、错误、遗漏的和冗余的需求。</a:t>
              </a:r>
              <a:endParaRPr lang="en-US" altLang="zh-CN" sz="2000" b="1" dirty="0"/>
            </a:p>
          </p:txBody>
        </p:sp>
        <p:sp>
          <p:nvSpPr>
            <p:cNvPr id="14" name="矩形 13"/>
            <p:cNvSpPr/>
            <p:nvPr/>
          </p:nvSpPr>
          <p:spPr>
            <a:xfrm>
              <a:off x="937750" y="4976929"/>
              <a:ext cx="2241974" cy="432041"/>
            </a:xfrm>
            <a:prstGeom prst="rect">
              <a:avLst/>
            </a:prstGeom>
          </p:spPr>
          <p:txBody>
            <a:bodyPr wrap="square">
              <a:spAutoFit/>
              <a:scene3d>
                <a:camera prst="orthographicFront"/>
                <a:lightRig rig="threePt" dir="t"/>
              </a:scene3d>
              <a:sp3d contourW="12700"/>
            </a:bodyPr>
            <a:lstStyle/>
            <a:p>
              <a:pPr algn="just">
                <a:lnSpc>
                  <a:spcPct val="120000"/>
                </a:lnSpc>
              </a:pPr>
              <a:r>
                <a:rPr lang="en-US" altLang="zh-CN" sz="2000" b="1" dirty="0"/>
                <a:t>2</a:t>
              </a:r>
              <a:r>
                <a:rPr lang="zh-CN" altLang="en-US" sz="2000" b="1" dirty="0"/>
                <a:t>） </a:t>
              </a:r>
              <a:r>
                <a:rPr lang="en-US" altLang="zh-CN" sz="2000" b="1" dirty="0"/>
                <a:t>CASE</a:t>
              </a:r>
              <a:r>
                <a:rPr lang="zh-CN" altLang="en-US" sz="2000" b="1" dirty="0"/>
                <a:t>工具可以验证模型</a:t>
              </a:r>
              <a:endParaRPr lang="zh-CN" altLang="en-US" sz="2000" b="1" dirty="0"/>
            </a:p>
          </p:txBody>
        </p:sp>
      </p:grpSp>
      <p:sp>
        <p:nvSpPr>
          <p:cNvPr id="16" name="文本框 15"/>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0" name="矩形: 圆角 19"/>
          <p:cNvSpPr/>
          <p:nvPr/>
        </p:nvSpPr>
        <p:spPr>
          <a:xfrm>
            <a:off x="698500" y="1595212"/>
            <a:ext cx="935651" cy="4760835"/>
          </a:xfrm>
          <a:prstGeom prst="round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prstClr val="white"/>
                </a:solidFill>
                <a:latin typeface="微软雅黑" panose="020B0503020204020204" pitchFamily="34" charset="-122"/>
                <a:ea typeface="微软雅黑" panose="020B0503020204020204" pitchFamily="34" charset="-122"/>
              </a:rPr>
              <a:t>优点</a:t>
            </a: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21"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1</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）需求的图形化表示模型</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 name="日期占位符 1"/>
          <p:cNvSpPr>
            <a:spLocks noGrp="1"/>
          </p:cNvSpPr>
          <p:nvPr>
            <p:ph type="dt" sz="half" idx="10"/>
          </p:nvPr>
        </p:nvSpPr>
        <p:spPr/>
        <p:txBody>
          <a:bodyPr/>
          <a:lstStyle/>
          <a:p>
            <a:pPr>
              <a:defRPr/>
            </a:pPr>
            <a:fld id="{29E62D34-B21D-4536-89EB-5E60E18ECB99}" type="datetime1">
              <a:rPr lang="zh-CN" altLang="en-US" smtClean="0">
                <a:solidFill>
                  <a:prstClr val="black">
                    <a:tint val="75000"/>
                  </a:prstClr>
                </a:solidFill>
              </a:rPr>
            </a:fld>
            <a:endParaRPr lang="zh-CN" altLang="en-US">
              <a:solidFill>
                <a:prstClr val="black">
                  <a:tint val="75000"/>
                </a:prstClr>
              </a:solidFill>
            </a:endParaRPr>
          </a:p>
        </p:txBody>
      </p:sp>
      <p:sp>
        <p:nvSpPr>
          <p:cNvPr id="15" name="灯片编号占位符 14"/>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p:tgtEl>
                                          <p:spTgt spid="21"/>
                                        </p:tgtEl>
                                        <p:attrNameLst>
                                          <p:attrName>ppt_x</p:attrName>
                                        </p:attrNameLst>
                                      </p:cBhvr>
                                      <p:tavLst>
                                        <p:tav tm="0">
                                          <p:val>
                                            <p:strVal val="#ppt_x+#ppt_w*1.125000"/>
                                          </p:val>
                                        </p:tav>
                                        <p:tav tm="100000">
                                          <p:val>
                                            <p:strVal val="#ppt_x"/>
                                          </p:val>
                                        </p:tav>
                                      </p:tavLst>
                                    </p:anim>
                                    <p:animEffect transition="in" filter="wipe(left)">
                                      <p:cBhvr>
                                        <p:cTn id="8" dur="500"/>
                                        <p:tgtEl>
                                          <p:spTgt spid="21"/>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5" grpId="0" bldLvl="0" animBg="1"/>
      <p:bldP spid="20" grpId="0" animBg="1"/>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圆角 17"/>
          <p:cNvSpPr/>
          <p:nvPr/>
        </p:nvSpPr>
        <p:spPr>
          <a:xfrm>
            <a:off x="1520825" y="2243455"/>
            <a:ext cx="3449320" cy="579755"/>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听取客户陈述它们的需求</a:t>
            </a:r>
            <a:endParaRPr kumimoji="0" lang="zh-CN" altLang="en-US" sz="22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
        <p:nvSpPr>
          <p:cNvPr id="19" name="矩形: 圆角 18"/>
          <p:cNvSpPr/>
          <p:nvPr/>
        </p:nvSpPr>
        <p:spPr>
          <a:xfrm>
            <a:off x="1520952" y="3710772"/>
            <a:ext cx="3150105" cy="480748"/>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挑选出关键词</a:t>
            </a:r>
            <a:endParaRPr kumimoji="0" lang="zh-CN" altLang="en-US" sz="22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
        <p:nvSpPr>
          <p:cNvPr id="20" name="矩形: 圆角 19"/>
          <p:cNvSpPr/>
          <p:nvPr/>
        </p:nvSpPr>
        <p:spPr>
          <a:xfrm>
            <a:off x="1520825" y="5082540"/>
            <a:ext cx="3331845" cy="480695"/>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将关键词转换成模型元素</a:t>
            </a:r>
            <a:endParaRPr kumimoji="0" lang="zh-CN" altLang="en-US" sz="22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
        <p:nvSpPr>
          <p:cNvPr id="21" name="箭头: 下 20"/>
          <p:cNvSpPr/>
          <p:nvPr/>
        </p:nvSpPr>
        <p:spPr>
          <a:xfrm>
            <a:off x="2825580" y="4265012"/>
            <a:ext cx="540849" cy="792015"/>
          </a:xfrm>
          <a:prstGeom prst="downArrow">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lang="zh-CN" altLang="en-US" sz="2200" b="1" dirty="0">
              <a:latin typeface="宋体" panose="02010600030101010101" pitchFamily="2" charset="-122"/>
              <a:ea typeface="宋体" panose="02010600030101010101" pitchFamily="2" charset="-122"/>
            </a:endParaRPr>
          </a:p>
        </p:txBody>
      </p:sp>
      <p:sp>
        <p:nvSpPr>
          <p:cNvPr id="23" name="箭头: 下 22"/>
          <p:cNvSpPr/>
          <p:nvPr/>
        </p:nvSpPr>
        <p:spPr>
          <a:xfrm>
            <a:off x="2825580" y="2899164"/>
            <a:ext cx="540849" cy="792015"/>
          </a:xfrm>
          <a:prstGeom prst="downArrow">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lang="zh-CN" altLang="en-US" sz="2200" b="1" dirty="0">
              <a:latin typeface="宋体" panose="02010600030101010101" pitchFamily="2" charset="-122"/>
              <a:ea typeface="宋体" panose="02010600030101010101" pitchFamily="2" charset="-122"/>
            </a:endParaRPr>
          </a:p>
        </p:txBody>
      </p:sp>
      <p:sp>
        <p:nvSpPr>
          <p:cNvPr id="24" name="矩形: 圆角 23"/>
          <p:cNvSpPr/>
          <p:nvPr/>
        </p:nvSpPr>
        <p:spPr>
          <a:xfrm>
            <a:off x="8081010" y="2588895"/>
            <a:ext cx="2233295" cy="66294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客户输入需求</a:t>
            </a:r>
            <a:endParaRPr kumimoji="0" lang="zh-CN" altLang="en-US" sz="22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
        <p:nvSpPr>
          <p:cNvPr id="25" name="矩形: 圆角 24"/>
          <p:cNvSpPr/>
          <p:nvPr/>
        </p:nvSpPr>
        <p:spPr>
          <a:xfrm>
            <a:off x="7901940" y="4591685"/>
            <a:ext cx="2546985" cy="577850"/>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solidFill>
                  <a:schemeClr val="tx1"/>
                </a:solidFill>
                <a:latin typeface="宋体" panose="02010600030101010101" pitchFamily="2" charset="-122"/>
                <a:ea typeface="宋体" panose="02010600030101010101" pitchFamily="2" charset="-122"/>
              </a:rPr>
              <a:t>书面的需求或模型</a:t>
            </a:r>
            <a:endParaRPr kumimoji="0" lang="zh-CN" altLang="en-US" sz="22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
        <p:nvSpPr>
          <p:cNvPr id="26" name="箭头: 下 25"/>
          <p:cNvSpPr/>
          <p:nvPr/>
        </p:nvSpPr>
        <p:spPr>
          <a:xfrm>
            <a:off x="8492972" y="3339920"/>
            <a:ext cx="540849" cy="1220792"/>
          </a:xfrm>
          <a:prstGeom prst="downArrow">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2200" b="1" dirty="0">
                <a:latin typeface="宋体" panose="02010600030101010101" pitchFamily="2" charset="-122"/>
                <a:ea typeface="宋体" panose="02010600030101010101" pitchFamily="2" charset="-122"/>
              </a:rPr>
              <a:t>转变</a:t>
            </a:r>
            <a:endParaRPr lang="zh-CN" altLang="en-US" sz="2200" b="1" dirty="0">
              <a:latin typeface="宋体" panose="02010600030101010101" pitchFamily="2" charset="-122"/>
              <a:ea typeface="宋体" panose="02010600030101010101" pitchFamily="2" charset="-122"/>
            </a:endParaRPr>
          </a:p>
        </p:txBody>
      </p:sp>
      <p:grpSp>
        <p:nvGrpSpPr>
          <p:cNvPr id="4" name="组合 3"/>
          <p:cNvGrpSpPr/>
          <p:nvPr/>
        </p:nvGrpSpPr>
        <p:grpSpPr>
          <a:xfrm>
            <a:off x="9255125" y="3282315"/>
            <a:ext cx="875030" cy="1258570"/>
            <a:chOff x="8302753" y="3577875"/>
            <a:chExt cx="588269" cy="1085288"/>
          </a:xfrm>
        </p:grpSpPr>
        <p:sp>
          <p:nvSpPr>
            <p:cNvPr id="29" name="箭头: 下 28"/>
            <p:cNvSpPr/>
            <p:nvPr/>
          </p:nvSpPr>
          <p:spPr>
            <a:xfrm rot="10800000">
              <a:off x="8302753" y="3577875"/>
              <a:ext cx="493609" cy="1085288"/>
            </a:xfrm>
            <a:prstGeom prst="downArrow">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endParaRPr lang="zh-CN" altLang="en-US" sz="2200" b="1" dirty="0">
                <a:latin typeface="宋体" panose="02010600030101010101" pitchFamily="2" charset="-122"/>
                <a:ea typeface="宋体" panose="02010600030101010101" pitchFamily="2" charset="-122"/>
              </a:endParaRPr>
            </a:p>
          </p:txBody>
        </p:sp>
        <p:sp>
          <p:nvSpPr>
            <p:cNvPr id="3" name="文本框 2"/>
            <p:cNvSpPr txBox="1"/>
            <p:nvPr/>
          </p:nvSpPr>
          <p:spPr>
            <a:xfrm>
              <a:off x="8397412" y="3809192"/>
              <a:ext cx="493610" cy="662562"/>
            </a:xfrm>
            <a:prstGeom prst="rect">
              <a:avLst/>
            </a:prstGeom>
            <a:noFill/>
          </p:spPr>
          <p:txBody>
            <a:bodyPr wrap="square" rtlCol="0">
              <a:spAutoFit/>
            </a:bodyPr>
            <a:lstStyle/>
            <a:p>
              <a:r>
                <a:rPr lang="zh-CN" altLang="en-US" sz="2200" b="1" dirty="0">
                  <a:solidFill>
                    <a:schemeClr val="lt1"/>
                  </a:solidFill>
                  <a:latin typeface="宋体" panose="02010600030101010101" pitchFamily="2" charset="-122"/>
                  <a:ea typeface="宋体" panose="02010600030101010101" pitchFamily="2" charset="-122"/>
                </a:rPr>
                <a:t>回溯</a:t>
              </a:r>
              <a:endParaRPr lang="zh-CN" altLang="en-US" sz="2200" b="1" dirty="0">
                <a:solidFill>
                  <a:schemeClr val="lt1"/>
                </a:solidFill>
                <a:latin typeface="宋体" panose="02010600030101010101" pitchFamily="2" charset="-122"/>
                <a:ea typeface="宋体" panose="02010600030101010101" pitchFamily="2" charset="-122"/>
              </a:endParaRPr>
            </a:p>
          </p:txBody>
        </p:sp>
      </p:grpSp>
      <p:sp>
        <p:nvSpPr>
          <p:cNvPr id="31" name="矩形 9246"/>
          <p:cNvSpPr>
            <a:spLocks noChangeArrowheads="1"/>
          </p:cNvSpPr>
          <p:nvPr/>
        </p:nvSpPr>
        <p:spPr bwMode="auto">
          <a:xfrm>
            <a:off x="698500" y="2096655"/>
            <a:ext cx="4695363" cy="3740727"/>
          </a:xfrm>
          <a:prstGeom prst="roundRect">
            <a:avLst/>
          </a:prstGeom>
          <a:noFill/>
          <a:ln w="19050">
            <a:solidFill>
              <a:srgbClr val="5197D7"/>
            </a:solidFill>
            <a:prstDash val="sysDash"/>
            <a:miter lim="800000"/>
          </a:ln>
        </p:spPr>
        <p:txBody>
          <a:bodyPr wrap="none" anchor="ctr"/>
          <a:lstStyle/>
          <a:p>
            <a:pPr algn="ctr"/>
            <a:endParaRPr lang="zh-CN" altLang="en-US" sz="2200" b="1" dirty="0">
              <a:noFill/>
              <a:latin typeface="宋体" panose="02010600030101010101" pitchFamily="2" charset="-122"/>
              <a:ea typeface="宋体" panose="02010600030101010101" pitchFamily="2" charset="-122"/>
            </a:endParaRPr>
          </a:p>
        </p:txBody>
      </p:sp>
      <p:sp>
        <p:nvSpPr>
          <p:cNvPr id="32" name="矩形 9246"/>
          <p:cNvSpPr>
            <a:spLocks noChangeArrowheads="1"/>
          </p:cNvSpPr>
          <p:nvPr/>
        </p:nvSpPr>
        <p:spPr bwMode="auto">
          <a:xfrm>
            <a:off x="6798137" y="2072847"/>
            <a:ext cx="4695363" cy="3740727"/>
          </a:xfrm>
          <a:prstGeom prst="roundRect">
            <a:avLst/>
          </a:prstGeom>
          <a:noFill/>
          <a:ln w="19050">
            <a:solidFill>
              <a:srgbClr val="7F7F7F"/>
            </a:solidFill>
            <a:prstDash val="sysDash"/>
            <a:miter lim="800000"/>
          </a:ln>
        </p:spPr>
        <p:txBody>
          <a:bodyPr wrap="none" anchor="ctr"/>
          <a:lstStyle/>
          <a:p>
            <a:pPr algn="ctr"/>
            <a:endParaRPr lang="zh-CN" altLang="en-US" sz="2200" b="1" dirty="0">
              <a:noFill/>
              <a:latin typeface="宋体" panose="02010600030101010101" pitchFamily="2" charset="-122"/>
              <a:ea typeface="宋体" panose="02010600030101010101" pitchFamily="2" charset="-122"/>
            </a:endParaRPr>
          </a:p>
        </p:txBody>
      </p:sp>
      <p:sp>
        <p:nvSpPr>
          <p:cNvPr id="5" name="箭头: 左右 4"/>
          <p:cNvSpPr/>
          <p:nvPr/>
        </p:nvSpPr>
        <p:spPr>
          <a:xfrm>
            <a:off x="5393863" y="3699214"/>
            <a:ext cx="1389975" cy="554240"/>
          </a:xfrm>
          <a:prstGeom prst="leftRightArrow">
            <a:avLst/>
          </a:prstGeom>
          <a:solidFill>
            <a:srgbClr val="F48B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35" name="文本框 34"/>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2"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2</a:t>
            </a:r>
            <a:r>
              <a:rPr lang="zh-CN" altLang="en-US" sz="2400" b="1" kern="0" dirty="0">
                <a:latin typeface="宋体" panose="02010600030101010101" pitchFamily="2" charset="-122"/>
                <a:sym typeface="宋体" panose="02010600030101010101" pitchFamily="2" charset="-122"/>
              </a:rPr>
              <a:t>）从客户需求到分析模型</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 name="日期占位符 1"/>
          <p:cNvSpPr>
            <a:spLocks noGrp="1"/>
          </p:cNvSpPr>
          <p:nvPr>
            <p:ph type="dt" sz="half" idx="10"/>
          </p:nvPr>
        </p:nvSpPr>
        <p:spPr/>
        <p:txBody>
          <a:bodyPr/>
          <a:lstStyle/>
          <a:p>
            <a:pPr>
              <a:defRPr/>
            </a:pPr>
            <a:fld id="{6DDC4355-FEE2-4863-A651-B03F4B8C71BF}" type="datetime1">
              <a:rPr lang="zh-CN" altLang="en-US" smtClean="0">
                <a:solidFill>
                  <a:prstClr val="black">
                    <a:tint val="75000"/>
                  </a:prstClr>
                </a:solidFill>
              </a:rPr>
            </a:fld>
            <a:endParaRPr lang="zh-CN" altLang="en-US" dirty="0">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p:tgtEl>
                                          <p:spTgt spid="22"/>
                                        </p:tgtEl>
                                        <p:attrNameLst>
                                          <p:attrName>ppt_x</p:attrName>
                                        </p:attrNameLst>
                                      </p:cBhvr>
                                      <p:tavLst>
                                        <p:tav tm="0">
                                          <p:val>
                                            <p:strVal val="#ppt_x+#ppt_w*1.125000"/>
                                          </p:val>
                                        </p:tav>
                                        <p:tav tm="100000">
                                          <p:val>
                                            <p:strVal val="#ppt_x"/>
                                          </p:val>
                                        </p:tav>
                                      </p:tavLst>
                                    </p:anim>
                                    <p:animEffect transition="in" filter="wipe(left)">
                                      <p:cBhvr>
                                        <p:cTn id="8" dur="500"/>
                                        <p:tgtEl>
                                          <p:spTgt spid="22"/>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animBg="1"/>
      <p:bldP spid="20" grpId="0" bldLvl="0" animBg="1"/>
      <p:bldP spid="21" grpId="0" animBg="1"/>
      <p:bldP spid="23" grpId="0" animBg="1"/>
      <p:bldP spid="24" grpId="0" bldLvl="0" animBg="1"/>
      <p:bldP spid="25" grpId="0" bldLvl="0" animBg="1"/>
      <p:bldP spid="26" grpId="0" animBg="1"/>
      <p:bldP spid="31" grpId="0" animBg="1"/>
      <p:bldP spid="32" grpId="0" animBg="1"/>
      <p:bldP spid="5" grpId="0" animBg="1"/>
      <p:bldP spid="2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3"/>
          <p:cNvGraphicFramePr>
            <a:graphicFrameLocks noGrp="1"/>
          </p:cNvGraphicFramePr>
          <p:nvPr/>
        </p:nvGraphicFramePr>
        <p:xfrm>
          <a:off x="698499" y="1775001"/>
          <a:ext cx="10794998" cy="4267200"/>
        </p:xfrm>
        <a:graphic>
          <a:graphicData uri="http://schemas.openxmlformats.org/drawingml/2006/table">
            <a:tbl>
              <a:tblPr firstRow="1" bandRow="1">
                <a:tableStyleId>{5C22544A-7EE6-4342-B048-85BDC9FD1C3A}</a:tableStyleId>
              </a:tblPr>
              <a:tblGrid>
                <a:gridCol w="2016991"/>
                <a:gridCol w="4618182"/>
                <a:gridCol w="4159825"/>
              </a:tblGrid>
              <a:tr h="370840">
                <a:tc>
                  <a:txBody>
                    <a:bodyPr/>
                    <a:lstStyle/>
                    <a:p>
                      <a:pPr marL="0" lvl="0" indent="0" algn="ctr" defTabSz="914400" rtl="0" eaLnBrk="0" fontAlgn="base" latinLnBrk="0" hangingPunct="0">
                        <a:spcBef>
                          <a:spcPct val="20000"/>
                        </a:spcBef>
                        <a:spcAft>
                          <a:spcPct val="0"/>
                        </a:spcAft>
                        <a:buNone/>
                      </a:pPr>
                      <a:r>
                        <a:rPr lang="zh-CN" altLang="en-US" sz="2200" b="1" i="0" u="none" kern="1200" baseline="0" dirty="0">
                          <a:solidFill>
                            <a:srgbClr val="FFFFFF"/>
                          </a:solidFill>
                          <a:latin typeface="宋体" panose="02010600030101010101" pitchFamily="2" charset="-122"/>
                          <a:ea typeface="宋体" panose="02010600030101010101" pitchFamily="2" charset="-122"/>
                          <a:cs typeface="Times New Roman" panose="02020603050405020304" pitchFamily="18" charset="0"/>
                        </a:rPr>
                        <a:t>单词类型</a:t>
                      </a:r>
                      <a:endParaRPr lang="zh-CN" altLang="en-US" sz="2200" b="1" i="0" u="none" kern="1200" baseline="0" dirty="0">
                        <a:solidFill>
                          <a:srgbClr val="FFFFFF"/>
                        </a:solidFill>
                        <a:latin typeface="宋体" panose="02010600030101010101" pitchFamily="2" charset="-122"/>
                        <a:ea typeface="宋体" panose="02010600030101010101" pitchFamily="2" charset="-122"/>
                        <a:cs typeface="Times New Roman" panose="02020603050405020304" pitchFamily="18" charset="0"/>
                      </a:endParaRPr>
                    </a:p>
                  </a:txBody>
                  <a:tcPr/>
                </a:tc>
                <a:tc>
                  <a:txBody>
                    <a:bodyPr/>
                    <a:lstStyle/>
                    <a:p>
                      <a:pPr marL="0" lvl="0" indent="0" algn="ctr" defTabSz="914400" rtl="0" eaLnBrk="0" fontAlgn="base" latinLnBrk="0" hangingPunct="0">
                        <a:spcBef>
                          <a:spcPct val="20000"/>
                        </a:spcBef>
                        <a:spcAft>
                          <a:spcPct val="0"/>
                        </a:spcAft>
                        <a:buNone/>
                      </a:pPr>
                      <a:r>
                        <a:rPr lang="zh-CN" altLang="en-US" sz="2200" b="1" i="0" u="none" kern="1200" baseline="0" dirty="0">
                          <a:solidFill>
                            <a:srgbClr val="FFFFFF"/>
                          </a:solidFill>
                          <a:latin typeface="宋体" panose="02010600030101010101" pitchFamily="2" charset="-122"/>
                          <a:ea typeface="宋体" panose="02010600030101010101" pitchFamily="2" charset="-122"/>
                          <a:cs typeface="Times New Roman" panose="02020603050405020304" pitchFamily="18" charset="0"/>
                        </a:rPr>
                        <a:t>例  子</a:t>
                      </a:r>
                      <a:endParaRPr lang="zh-CN" altLang="en-US" sz="2200" b="1" i="0" u="none" kern="1200" baseline="0" dirty="0">
                        <a:solidFill>
                          <a:srgbClr val="FFFFFF"/>
                        </a:solidFill>
                        <a:latin typeface="宋体" panose="02010600030101010101" pitchFamily="2" charset="-122"/>
                        <a:ea typeface="宋体" panose="02010600030101010101" pitchFamily="2" charset="-122"/>
                        <a:cs typeface="Times New Roman" panose="02020603050405020304" pitchFamily="18" charset="0"/>
                      </a:endParaRPr>
                    </a:p>
                  </a:txBody>
                  <a:tcPr/>
                </a:tc>
                <a:tc>
                  <a:txBody>
                    <a:bodyPr/>
                    <a:lstStyle/>
                    <a:p>
                      <a:pPr marL="0" lvl="0" indent="0" algn="ctr" defTabSz="914400" rtl="0" eaLnBrk="0" fontAlgn="base" latinLnBrk="0" hangingPunct="0">
                        <a:spcBef>
                          <a:spcPct val="20000"/>
                        </a:spcBef>
                        <a:spcAft>
                          <a:spcPct val="0"/>
                        </a:spcAft>
                        <a:buNone/>
                      </a:pPr>
                      <a:r>
                        <a:rPr lang="zh-CN" altLang="en-US" sz="2200" b="1" i="0" u="none" kern="1200" baseline="0" dirty="0">
                          <a:solidFill>
                            <a:srgbClr val="FFFFFF"/>
                          </a:solidFill>
                          <a:latin typeface="宋体" panose="02010600030101010101" pitchFamily="2" charset="-122"/>
                          <a:ea typeface="宋体" panose="02010600030101010101" pitchFamily="2" charset="-122"/>
                          <a:cs typeface="Times New Roman" panose="02020603050405020304" pitchFamily="18" charset="0"/>
                        </a:rPr>
                        <a:t>分析模型组件</a:t>
                      </a:r>
                      <a:endParaRPr lang="zh-CN" altLang="en-US" sz="2200" b="1" i="0" u="none" kern="1200" baseline="0" dirty="0">
                        <a:solidFill>
                          <a:srgbClr val="FFFFFF"/>
                        </a:solidFill>
                        <a:latin typeface="宋体" panose="02010600030101010101" pitchFamily="2" charset="-122"/>
                        <a:ea typeface="宋体" panose="02010600030101010101" pitchFamily="2" charset="-122"/>
                        <a:cs typeface="Times New Roman" panose="02020603050405020304" pitchFamily="18" charset="0"/>
                      </a:endParaRPr>
                    </a:p>
                  </a:txBody>
                  <a:tcPr/>
                </a:tc>
              </a:tr>
              <a:tr h="370840">
                <a:tc rowSpan="4">
                  <a:txBody>
                    <a:bodyPr/>
                    <a:lstStyle/>
                    <a:p>
                      <a:pPr marL="0" lvl="0" indent="0" algn="ctr" defTabSz="914400" rtl="0" eaLnBrk="0" fontAlgn="base" latinLnBrk="0" hangingPunct="0">
                        <a:spcBef>
                          <a:spcPct val="20000"/>
                        </a:spcBef>
                        <a:spcAft>
                          <a:spcPct val="0"/>
                        </a:spcAft>
                        <a:buNone/>
                      </a:pPr>
                      <a:r>
                        <a:rPr lang="zh-CN" altLang="en-US"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rPr>
                        <a:t>名词</a:t>
                      </a:r>
                      <a:endParaRPr lang="zh-CN" altLang="en-US"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txBody>
                  <a:tcPr anchor="ctr"/>
                </a:tc>
                <a:tc rowSpan="4">
                  <a:txBody>
                    <a:bodyPr/>
                    <a:lstStyle/>
                    <a:p>
                      <a:pPr marL="0" marR="0" lvl="0" indent="0" algn="ctr" defTabSz="914400" rtl="0" eaLnBrk="0" fontAlgn="base" latinLnBrk="0" hangingPunct="0">
                        <a:lnSpc>
                          <a:spcPct val="100000"/>
                        </a:lnSpc>
                        <a:spcBef>
                          <a:spcPct val="20000"/>
                        </a:spcBef>
                        <a:spcAft>
                          <a:spcPct val="0"/>
                        </a:spcAft>
                        <a:buClrTx/>
                        <a:buSzTx/>
                        <a:buFontTx/>
                        <a:buNone/>
                        <a:defRPr/>
                      </a:pPr>
                      <a:r>
                        <a:rPr lang="zh-CN" altLang="en-US"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rPr>
                        <a:t>人、组织、软件系统、数据项或者存在对象</a:t>
                      </a:r>
                      <a:endParaRPr lang="zh-CN" altLang="en-US"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txBody>
                  <a:tcPr anchor="ctr"/>
                </a:tc>
                <a:tc>
                  <a:txBody>
                    <a:bodyPr/>
                    <a:lstStyle/>
                    <a:p>
                      <a:pPr marL="0" marR="0" lvl="0" indent="0" algn="ctr" defTabSz="914400" rtl="0" eaLnBrk="0" fontAlgn="base" latinLnBrk="0" hangingPunct="0">
                        <a:lnSpc>
                          <a:spcPct val="100000"/>
                        </a:lnSpc>
                        <a:spcBef>
                          <a:spcPct val="20000"/>
                        </a:spcBef>
                        <a:spcAft>
                          <a:spcPct val="0"/>
                        </a:spcAft>
                        <a:buClrTx/>
                        <a:buSzTx/>
                        <a:buFontTx/>
                        <a:buNone/>
                        <a:defRPr/>
                      </a:pPr>
                      <a:r>
                        <a:rPr lang="zh-CN" altLang="en-US"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rPr>
                        <a:t>端点或数据存储</a:t>
                      </a:r>
                      <a:r>
                        <a:rPr lang="en-US" altLang="zh-CN"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rPr>
                        <a:t>(DFD)</a:t>
                      </a:r>
                      <a:endParaRPr lang="en-US" altLang="zh-CN"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txBody>
                  <a:tcPr/>
                </a:tc>
              </a:tr>
              <a:tr h="370840">
                <a:tc vMerge="1">
                  <a:tcPr/>
                </a:tc>
                <a:tc vMerge="1">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defRPr/>
                      </a:pPr>
                      <a:r>
                        <a:rPr lang="zh-CN" altLang="en-US"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rPr>
                        <a:t>参与者（用例图）</a:t>
                      </a:r>
                      <a:endParaRPr lang="zh-CN" altLang="en-US"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txBody>
                  <a:tcPr/>
                </a:tc>
              </a:tr>
              <a:tr h="370840">
                <a:tc vMerge="1">
                  <a:tcPr/>
                </a:tc>
                <a:tc vMerge="1">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defRPr/>
                      </a:pPr>
                      <a:r>
                        <a:rPr lang="zh-CN" altLang="en-US"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rPr>
                        <a:t>实体或实体属性</a:t>
                      </a:r>
                      <a:r>
                        <a:rPr lang="en-US" altLang="zh-CN"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rPr>
                        <a:t>(ERD)</a:t>
                      </a:r>
                      <a:endParaRPr lang="en-US" altLang="zh-CN"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txBody>
                  <a:tcPr/>
                </a:tc>
              </a:tr>
              <a:tr h="370840">
                <a:tc vMerge="1">
                  <a:tcPr/>
                </a:tc>
                <a:tc vMerge="1">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defRPr/>
                      </a:pPr>
                      <a:r>
                        <a:rPr lang="zh-CN" altLang="en-US"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rPr>
                        <a:t>类或类属性</a:t>
                      </a:r>
                      <a:r>
                        <a:rPr lang="en-US" altLang="zh-CN"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zh-CN" altLang="en-US"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rPr>
                        <a:t>类图</a:t>
                      </a:r>
                      <a:r>
                        <a:rPr lang="en-US" altLang="zh-CN"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endParaRPr lang="en-US" altLang="zh-CN"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txBody>
                  <a:tcPr/>
                </a:tc>
              </a:tr>
              <a:tr h="370840">
                <a:tc rowSpan="5">
                  <a:txBody>
                    <a:bodyPr/>
                    <a:lstStyle/>
                    <a:p>
                      <a:pPr marL="0" marR="0" lvl="0" indent="0" algn="ctr" defTabSz="914400" rtl="0" eaLnBrk="0" fontAlgn="base" latinLnBrk="0" hangingPunct="0">
                        <a:lnSpc>
                          <a:spcPct val="100000"/>
                        </a:lnSpc>
                        <a:spcBef>
                          <a:spcPct val="20000"/>
                        </a:spcBef>
                        <a:spcAft>
                          <a:spcPct val="0"/>
                        </a:spcAft>
                        <a:buClrTx/>
                        <a:buSzTx/>
                        <a:buFontTx/>
                        <a:buNone/>
                        <a:defRPr/>
                      </a:pPr>
                      <a:r>
                        <a:rPr lang="zh-CN" altLang="en-US"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rPr>
                        <a:t>动词</a:t>
                      </a:r>
                      <a:endParaRPr lang="zh-CN" altLang="en-US"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txBody>
                  <a:tcPr anchor="ctr"/>
                </a:tc>
                <a:tc rowSpan="5">
                  <a:txBody>
                    <a:bodyPr/>
                    <a:lstStyle/>
                    <a:p>
                      <a:pPr marL="0" marR="0" lvl="0" indent="0" algn="ctr" defTabSz="914400" rtl="0" eaLnBrk="0" fontAlgn="base" latinLnBrk="0" hangingPunct="0">
                        <a:lnSpc>
                          <a:spcPct val="100000"/>
                        </a:lnSpc>
                        <a:spcBef>
                          <a:spcPct val="20000"/>
                        </a:spcBef>
                        <a:spcAft>
                          <a:spcPct val="0"/>
                        </a:spcAft>
                        <a:buClrTx/>
                        <a:buSzTx/>
                        <a:buFontTx/>
                        <a:buNone/>
                        <a:defRPr/>
                      </a:pPr>
                      <a:r>
                        <a:rPr lang="zh-CN" altLang="en-US"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rPr>
                        <a:t>行为、用户可做的事或可能发生的事件</a:t>
                      </a:r>
                      <a:endParaRPr lang="zh-CN" altLang="en-US"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txBody>
                  <a:tcPr anchor="ctr"/>
                </a:tc>
                <a:tc>
                  <a:txBody>
                    <a:bodyPr/>
                    <a:lstStyle/>
                    <a:p>
                      <a:pPr marL="0" marR="0" lvl="0" indent="0" algn="ctr" defTabSz="914400" rtl="0" eaLnBrk="0" fontAlgn="base" latinLnBrk="0" hangingPunct="0">
                        <a:lnSpc>
                          <a:spcPct val="100000"/>
                        </a:lnSpc>
                        <a:spcBef>
                          <a:spcPct val="20000"/>
                        </a:spcBef>
                        <a:spcAft>
                          <a:spcPct val="0"/>
                        </a:spcAft>
                        <a:buClrTx/>
                        <a:buSzTx/>
                        <a:buFontTx/>
                        <a:buNone/>
                        <a:defRPr/>
                      </a:pPr>
                      <a:r>
                        <a:rPr lang="zh-CN" altLang="en-US"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rPr>
                        <a:t>过程</a:t>
                      </a:r>
                      <a:r>
                        <a:rPr lang="en-US" altLang="zh-CN"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rPr>
                        <a:t>(DFD)</a:t>
                      </a:r>
                      <a:endParaRPr lang="en-US" altLang="zh-CN"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txBody>
                  <a:tcPr/>
                </a:tc>
              </a:tr>
              <a:tr h="370840">
                <a:tc vMerge="1">
                  <a:tcPr/>
                </a:tc>
                <a:tc vMerge="1">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defRPr/>
                      </a:pPr>
                      <a:r>
                        <a:rPr lang="zh-CN" altLang="en-US"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rPr>
                        <a:t>用例（用例图）</a:t>
                      </a:r>
                      <a:endParaRPr lang="zh-CN" altLang="en-US"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txBody>
                  <a:tcPr/>
                </a:tc>
              </a:tr>
              <a:tr h="370840">
                <a:tc vMerge="1">
                  <a:tcPr/>
                </a:tc>
                <a:tc vMerge="1">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defRPr/>
                      </a:pPr>
                      <a:r>
                        <a:rPr lang="zh-CN" altLang="en-US"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rPr>
                        <a:t>关系</a:t>
                      </a:r>
                      <a:r>
                        <a:rPr lang="en-US" altLang="zh-CN"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rPr>
                        <a:t>(ERD)</a:t>
                      </a:r>
                      <a:endParaRPr lang="en-US" altLang="zh-CN"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txBody>
                  <a:tcPr/>
                </a:tc>
              </a:tr>
              <a:tr h="370840">
                <a:tc vMerge="1">
                  <a:tcPr/>
                </a:tc>
                <a:tc vMerge="1">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defRPr/>
                      </a:pPr>
                      <a:r>
                        <a:rPr lang="zh-CN" altLang="en-US"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rPr>
                        <a:t>转化</a:t>
                      </a:r>
                      <a:r>
                        <a:rPr lang="en-US" altLang="zh-CN"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rPr>
                        <a:t>(STD)</a:t>
                      </a:r>
                      <a:endParaRPr lang="en-US" altLang="zh-CN"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txBody>
                  <a:tcPr/>
                </a:tc>
              </a:tr>
              <a:tr h="370840">
                <a:tc vMerge="1">
                  <a:tcPr/>
                </a:tc>
                <a:tc vMerge="1">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defRPr/>
                      </a:pPr>
                      <a:r>
                        <a:rPr lang="zh-CN" altLang="en-US"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rPr>
                        <a:t>类操作</a:t>
                      </a:r>
                      <a:r>
                        <a:rPr lang="en-US" altLang="zh-CN"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zh-CN" altLang="en-US"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rPr>
                        <a:t>类图</a:t>
                      </a:r>
                      <a:r>
                        <a:rPr lang="en-US" altLang="zh-CN"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endParaRPr lang="en-US" altLang="zh-CN" sz="2200" b="1" i="0" u="none" kern="1200" baseline="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txBody>
                  <a:tcPr/>
                </a:tc>
              </a:tr>
            </a:tbl>
          </a:graphicData>
        </a:graphic>
      </p:graphicFrame>
      <p:sp>
        <p:nvSpPr>
          <p:cNvPr id="17" name="文本框 1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3.4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32" name="矩形: 圆角 31"/>
          <p:cNvSpPr/>
          <p:nvPr/>
        </p:nvSpPr>
        <p:spPr>
          <a:xfrm>
            <a:off x="698499" y="1196318"/>
            <a:ext cx="10795000" cy="48074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200" b="1" dirty="0">
                <a:solidFill>
                  <a:srgbClr val="FF0000"/>
                </a:solidFill>
                <a:latin typeface="宋体" panose="02010600030101010101" pitchFamily="2" charset="-122"/>
                <a:ea typeface="宋体" panose="02010600030101010101" pitchFamily="2" charset="-122"/>
              </a:rPr>
              <a:t>根据客户陈述</a:t>
            </a: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，把重要的名词和动词映射成特定的模型组件</a:t>
            </a:r>
            <a:r>
              <a:rPr kumimoji="0" lang="en-US" altLang="zh-CN"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a:t>
            </a:r>
            <a:endPar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endParaRPr>
          </a:p>
        </p:txBody>
      </p:sp>
      <p:sp>
        <p:nvSpPr>
          <p:cNvPr id="2" name="日期占位符 1"/>
          <p:cNvSpPr>
            <a:spLocks noGrp="1"/>
          </p:cNvSpPr>
          <p:nvPr>
            <p:ph type="dt" sz="half" idx="10"/>
          </p:nvPr>
        </p:nvSpPr>
        <p:spPr/>
        <p:txBody>
          <a:bodyPr/>
          <a:lstStyle/>
          <a:p>
            <a:pPr>
              <a:defRPr/>
            </a:pPr>
            <a:fld id="{C512924A-0521-4E55-A97D-DBB47C39C8B8}" type="datetime1">
              <a:rPr lang="zh-CN" altLang="en-US" smtClean="0">
                <a:solidFill>
                  <a:prstClr val="black">
                    <a:tint val="75000"/>
                  </a:prstClr>
                </a:solidFill>
              </a:rPr>
            </a:fld>
            <a:endParaRPr lang="zh-CN" altLang="en-US" dirty="0">
              <a:solidFill>
                <a:prstClr val="black">
                  <a:tint val="75000"/>
                </a:prstClr>
              </a:solidFill>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66"/>
          <p:cNvSpPr>
            <a:spLocks noChangeArrowheads="1"/>
          </p:cNvSpPr>
          <p:nvPr/>
        </p:nvSpPr>
        <p:spPr bwMode="auto">
          <a:xfrm>
            <a:off x="775879" y="2997000"/>
            <a:ext cx="10411968" cy="279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lnSpcReduction="10000"/>
          </a:bodyPr>
          <a:lstStyle/>
          <a:p>
            <a:pPr indent="457200" algn="just">
              <a:lnSpc>
                <a:spcPct val="150000"/>
              </a:lnSpc>
            </a:pPr>
            <a:r>
              <a:rPr lang="zh-CN" altLang="en-US" sz="2000" b="1" dirty="0">
                <a:latin typeface="+mn-ea"/>
              </a:rPr>
              <a:t>一位</a:t>
            </a:r>
            <a:r>
              <a:rPr lang="zh-CN" altLang="en-US" sz="2000" b="1" dirty="0">
                <a:solidFill>
                  <a:srgbClr val="FF0000"/>
                </a:solidFill>
                <a:latin typeface="+mn-ea"/>
              </a:rPr>
              <a:t>化学家</a:t>
            </a:r>
            <a:r>
              <a:rPr lang="zh-CN" altLang="en-US" sz="2000" b="1" dirty="0">
                <a:latin typeface="+mn-ea"/>
              </a:rPr>
              <a:t>或</a:t>
            </a:r>
            <a:r>
              <a:rPr lang="zh-CN" altLang="en-US" sz="2000" b="1" dirty="0">
                <a:solidFill>
                  <a:srgbClr val="FF0000"/>
                </a:solidFill>
                <a:latin typeface="+mn-ea"/>
              </a:rPr>
              <a:t>化学制品仓库人员</a:t>
            </a:r>
            <a:r>
              <a:rPr lang="zh-CN" altLang="en-US" sz="2000" b="1" dirty="0">
                <a:latin typeface="+mn-ea"/>
              </a:rPr>
              <a:t>可以提出对一种或多种</a:t>
            </a:r>
            <a:r>
              <a:rPr lang="zh-CN" altLang="en-US" sz="2000" b="1" dirty="0">
                <a:solidFill>
                  <a:srgbClr val="FF0000"/>
                </a:solidFill>
                <a:latin typeface="+mn-ea"/>
              </a:rPr>
              <a:t>化学制品</a:t>
            </a:r>
            <a:r>
              <a:rPr lang="zh-CN" altLang="en-US" sz="2000" b="1" dirty="0">
                <a:latin typeface="+mn-ea"/>
              </a:rPr>
              <a:t>的请求。对该请求的执行可以有两种途径：一是</a:t>
            </a:r>
            <a:r>
              <a:rPr lang="zh-CN" altLang="en-US" sz="2000" b="1" dirty="0">
                <a:solidFill>
                  <a:srgbClr val="FF0000"/>
                </a:solidFill>
                <a:latin typeface="+mn-ea"/>
              </a:rPr>
              <a:t>传送</a:t>
            </a:r>
            <a:r>
              <a:rPr lang="zh-CN" altLang="en-US" sz="2000" b="1" dirty="0">
                <a:latin typeface="+mn-ea"/>
              </a:rPr>
              <a:t>一个存在于</a:t>
            </a:r>
            <a:r>
              <a:rPr lang="zh-CN" altLang="en-US" sz="2000" b="1" dirty="0">
                <a:solidFill>
                  <a:srgbClr val="FF0000"/>
                </a:solidFill>
                <a:latin typeface="+mn-ea"/>
              </a:rPr>
              <a:t>化学制品仓库</a:t>
            </a:r>
            <a:r>
              <a:rPr lang="zh-CN" altLang="en-US" sz="2000" b="1" dirty="0">
                <a:latin typeface="+mn-ea"/>
              </a:rPr>
              <a:t>清单上的</a:t>
            </a:r>
            <a:r>
              <a:rPr lang="zh-CN" altLang="en-US" sz="2000" b="1" dirty="0">
                <a:solidFill>
                  <a:srgbClr val="FF0000"/>
                </a:solidFill>
                <a:latin typeface="+mn-ea"/>
              </a:rPr>
              <a:t>化学制品容器</a:t>
            </a:r>
            <a:r>
              <a:rPr lang="zh-CN" altLang="en-US" sz="2000" b="1" dirty="0">
                <a:latin typeface="+mn-ea"/>
              </a:rPr>
              <a:t>，二是向外界供应商提交一份</a:t>
            </a:r>
            <a:r>
              <a:rPr lang="zh-CN" altLang="en-US" sz="2000" b="1" dirty="0">
                <a:solidFill>
                  <a:srgbClr val="FF0000"/>
                </a:solidFill>
                <a:latin typeface="+mn-ea"/>
              </a:rPr>
              <a:t>订购</a:t>
            </a:r>
            <a:r>
              <a:rPr lang="zh-CN" altLang="en-US" sz="2000" b="1" dirty="0">
                <a:latin typeface="+mn-ea"/>
              </a:rPr>
              <a:t>新化学制品的订单。提出请求的人在准备其请求时必须能够通过</a:t>
            </a:r>
            <a:r>
              <a:rPr lang="zh-CN" altLang="en-US" sz="2000" b="1" dirty="0">
                <a:solidFill>
                  <a:srgbClr val="FF0000"/>
                </a:solidFill>
                <a:latin typeface="+mn-ea"/>
              </a:rPr>
              <a:t>在线查找</a:t>
            </a:r>
            <a:r>
              <a:rPr lang="zh-CN" altLang="en-US" sz="2000" b="1" dirty="0">
                <a:latin typeface="+mn-ea"/>
              </a:rPr>
              <a:t>供应商目录表找到特定的化学制品。从准备请求直到请求执行或取消请求期间，系统必须跟踪每一个化学制品请求的状态。系统还必须保持跟踪每个化学制品的</a:t>
            </a:r>
            <a:r>
              <a:rPr lang="zh-CN" altLang="en-US" sz="2000" b="1" dirty="0">
                <a:solidFill>
                  <a:srgbClr val="FF0000"/>
                </a:solidFill>
                <a:latin typeface="+mn-ea"/>
              </a:rPr>
              <a:t>历史记录</a:t>
            </a:r>
            <a:r>
              <a:rPr lang="zh-CN" altLang="en-US" sz="2000" b="1" dirty="0">
                <a:latin typeface="+mn-ea"/>
              </a:rPr>
              <a:t>，从公司收到化学制品直到它完全被</a:t>
            </a:r>
            <a:r>
              <a:rPr lang="zh-CN" altLang="en-US" sz="2000" b="1" dirty="0">
                <a:solidFill>
                  <a:srgbClr val="FF0000"/>
                </a:solidFill>
                <a:latin typeface="+mn-ea"/>
              </a:rPr>
              <a:t>消耗</a:t>
            </a:r>
            <a:r>
              <a:rPr lang="zh-CN" altLang="en-US" sz="2000" b="1" dirty="0">
                <a:latin typeface="+mn-ea"/>
              </a:rPr>
              <a:t>或</a:t>
            </a:r>
            <a:r>
              <a:rPr lang="zh-CN" altLang="en-US" sz="2000" b="1" dirty="0">
                <a:solidFill>
                  <a:srgbClr val="FF0000"/>
                </a:solidFill>
                <a:latin typeface="+mn-ea"/>
              </a:rPr>
              <a:t>废弃</a:t>
            </a:r>
            <a:r>
              <a:rPr lang="zh-CN" altLang="en-US" sz="2000" b="1" dirty="0">
                <a:latin typeface="+mn-ea"/>
              </a:rPr>
              <a:t>为止。</a:t>
            </a:r>
            <a:endParaRPr lang="zh-CN" altLang="en-US" sz="2000" b="1" dirty="0">
              <a:latin typeface="+mn-ea"/>
            </a:endParaRPr>
          </a:p>
        </p:txBody>
      </p:sp>
      <p:sp>
        <p:nvSpPr>
          <p:cNvPr id="6" name="矩形 9246"/>
          <p:cNvSpPr>
            <a:spLocks noChangeArrowheads="1"/>
          </p:cNvSpPr>
          <p:nvPr/>
        </p:nvSpPr>
        <p:spPr bwMode="auto">
          <a:xfrm>
            <a:off x="1694698" y="1612882"/>
            <a:ext cx="9682863" cy="590722"/>
          </a:xfrm>
          <a:prstGeom prst="roundRect">
            <a:avLst/>
          </a:prstGeom>
          <a:solidFill>
            <a:schemeClr val="accent5">
              <a:lumMod val="20000"/>
              <a:lumOff val="80000"/>
            </a:schemeClr>
          </a:solidFill>
          <a:ln w="9525">
            <a:noFill/>
            <a:miter lim="800000"/>
          </a:ln>
        </p:spPr>
        <p:txBody>
          <a:bodyPr wrap="none" anchor="ctr">
            <a:normAutofit/>
          </a:bodyPr>
          <a:lstStyle/>
          <a:p>
            <a:pPr algn="ctr"/>
            <a:endParaRPr lang="zh-CN" altLang="en-US" sz="2000" dirty="0">
              <a:latin typeface="+mn-ea"/>
            </a:endParaRPr>
          </a:p>
        </p:txBody>
      </p:sp>
      <p:sp>
        <p:nvSpPr>
          <p:cNvPr id="7" name="矩形 9246"/>
          <p:cNvSpPr>
            <a:spLocks noChangeArrowheads="1"/>
          </p:cNvSpPr>
          <p:nvPr/>
        </p:nvSpPr>
        <p:spPr bwMode="auto">
          <a:xfrm>
            <a:off x="698499" y="1612882"/>
            <a:ext cx="996198" cy="590722"/>
          </a:xfrm>
          <a:prstGeom prst="roundRect">
            <a:avLst/>
          </a:prstGeom>
          <a:solidFill>
            <a:schemeClr val="bg1">
              <a:lumMod val="85000"/>
            </a:schemeClr>
          </a:solidFill>
          <a:ln w="9525">
            <a:noFill/>
            <a:miter lim="800000"/>
          </a:ln>
        </p:spPr>
        <p:txBody>
          <a:bodyPr wrap="none" anchor="ctr">
            <a:normAutofit/>
          </a:bodyPr>
          <a:lstStyle/>
          <a:p>
            <a:pPr algn="ctr"/>
            <a:endParaRPr lang="zh-CN" altLang="en-US" sz="2000" dirty="0">
              <a:solidFill>
                <a:schemeClr val="bg1"/>
              </a:solidFill>
              <a:latin typeface="+mn-ea"/>
            </a:endParaRPr>
          </a:p>
        </p:txBody>
      </p:sp>
      <p:sp>
        <p:nvSpPr>
          <p:cNvPr id="9" name="文本框 67"/>
          <p:cNvSpPr>
            <a:spLocks noChangeArrowheads="1"/>
          </p:cNvSpPr>
          <p:nvPr/>
        </p:nvSpPr>
        <p:spPr bwMode="auto">
          <a:xfrm>
            <a:off x="707586" y="1677760"/>
            <a:ext cx="107859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p>
            <a:pPr lvl="0" fontAlgn="base">
              <a:spcBef>
                <a:spcPct val="0"/>
              </a:spcBef>
              <a:spcAft>
                <a:spcPct val="0"/>
              </a:spcAft>
              <a:defRPr/>
            </a:pPr>
            <a:r>
              <a:rPr lang="zh-CN" altLang="en-US" sz="2200" b="1" kern="0" dirty="0">
                <a:solidFill>
                  <a:srgbClr val="FF0000"/>
                </a:solidFill>
                <a:latin typeface="+mn-ea"/>
                <a:sym typeface="宋体" panose="02010600030101010101" pitchFamily="2" charset="-122"/>
              </a:rPr>
              <a:t>案例：“化学制品跟踪系统” 用户需求部分</a:t>
            </a:r>
            <a:endParaRPr lang="zh-CN" altLang="en-US" sz="2200" b="1" kern="0" dirty="0">
              <a:solidFill>
                <a:srgbClr val="FF0000"/>
              </a:solidFill>
              <a:latin typeface="+mn-ea"/>
              <a:sym typeface="宋体" panose="02010600030101010101" pitchFamily="2" charset="-122"/>
            </a:endParaRPr>
          </a:p>
        </p:txBody>
      </p:sp>
      <p:sp>
        <p:nvSpPr>
          <p:cNvPr id="10" name="矩形: 圆角 9"/>
          <p:cNvSpPr/>
          <p:nvPr/>
        </p:nvSpPr>
        <p:spPr>
          <a:xfrm>
            <a:off x="707586" y="2685732"/>
            <a:ext cx="10679062" cy="3668886"/>
          </a:xfrm>
          <a:prstGeom prst="round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normAutofit/>
          </a:bodyPr>
          <a:lstStyle/>
          <a:p>
            <a:endParaRPr lang="en-US" altLang="zh-CN" b="1" dirty="0">
              <a:solidFill>
                <a:schemeClr val="tx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2"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2</a:t>
            </a:r>
            <a:r>
              <a:rPr lang="zh-CN" altLang="en-US" sz="2400" b="1" kern="0" dirty="0">
                <a:latin typeface="宋体" panose="02010600030101010101" pitchFamily="2" charset="-122"/>
                <a:sym typeface="宋体" panose="02010600030101010101" pitchFamily="2" charset="-122"/>
              </a:rPr>
              <a:t>）从客户需求到分析模型</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案例</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 name="矩形 1"/>
          <p:cNvSpPr/>
          <p:nvPr/>
        </p:nvSpPr>
        <p:spPr>
          <a:xfrm>
            <a:off x="1847850" y="3110350"/>
            <a:ext cx="762000" cy="342900"/>
          </a:xfrm>
          <a:prstGeom prst="rect">
            <a:avLst/>
          </a:prstGeom>
          <a:noFill/>
          <a:ln w="158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a:solidFill>
                  <a:schemeClr val="tx1"/>
                </a:solidFill>
              </a:ln>
              <a:noFill/>
            </a:endParaRPr>
          </a:p>
        </p:txBody>
      </p:sp>
      <p:sp>
        <p:nvSpPr>
          <p:cNvPr id="15" name="矩形 14"/>
          <p:cNvSpPr/>
          <p:nvPr/>
        </p:nvSpPr>
        <p:spPr>
          <a:xfrm>
            <a:off x="2857500" y="3110350"/>
            <a:ext cx="2082800" cy="342900"/>
          </a:xfrm>
          <a:prstGeom prst="rect">
            <a:avLst/>
          </a:prstGeom>
          <a:noFill/>
          <a:ln w="158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a:solidFill>
                  <a:schemeClr val="tx1"/>
                </a:solidFill>
              </a:ln>
              <a:solidFill>
                <a:srgbClr val="FF0000"/>
              </a:solidFill>
            </a:endParaRPr>
          </a:p>
        </p:txBody>
      </p:sp>
      <p:sp>
        <p:nvSpPr>
          <p:cNvPr id="16" name="矩形 15"/>
          <p:cNvSpPr/>
          <p:nvPr/>
        </p:nvSpPr>
        <p:spPr>
          <a:xfrm>
            <a:off x="7486650" y="3110350"/>
            <a:ext cx="1028700" cy="3429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a:solidFill>
                  <a:schemeClr val="tx1"/>
                </a:solidFill>
              </a:ln>
              <a:noFill/>
            </a:endParaRPr>
          </a:p>
        </p:txBody>
      </p:sp>
      <p:sp>
        <p:nvSpPr>
          <p:cNvPr id="17" name="矩形 16"/>
          <p:cNvSpPr/>
          <p:nvPr/>
        </p:nvSpPr>
        <p:spPr>
          <a:xfrm>
            <a:off x="8001000" y="3593068"/>
            <a:ext cx="1574800" cy="3429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a:solidFill>
                  <a:schemeClr val="tx1"/>
                </a:solidFill>
              </a:ln>
              <a:noFill/>
            </a:endParaRPr>
          </a:p>
        </p:txBody>
      </p:sp>
      <p:sp>
        <p:nvSpPr>
          <p:cNvPr id="18" name="矩形 17"/>
          <p:cNvSpPr/>
          <p:nvPr/>
        </p:nvSpPr>
        <p:spPr>
          <a:xfrm>
            <a:off x="5448300" y="3586836"/>
            <a:ext cx="1574800" cy="3429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a:solidFill>
                  <a:schemeClr val="tx1"/>
                </a:solidFill>
              </a:ln>
              <a:noFill/>
            </a:endParaRPr>
          </a:p>
        </p:txBody>
      </p:sp>
      <p:sp>
        <p:nvSpPr>
          <p:cNvPr id="19" name="矩形 18"/>
          <p:cNvSpPr/>
          <p:nvPr/>
        </p:nvSpPr>
        <p:spPr>
          <a:xfrm>
            <a:off x="869950" y="4049193"/>
            <a:ext cx="762000" cy="342900"/>
          </a:xfrm>
          <a:prstGeom prst="rect">
            <a:avLst/>
          </a:prstGeom>
          <a:noFill/>
          <a:ln w="158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a:solidFill>
                  <a:schemeClr val="tx1"/>
                </a:solidFill>
              </a:ln>
              <a:noFill/>
            </a:endParaRPr>
          </a:p>
        </p:txBody>
      </p:sp>
      <p:sp>
        <p:nvSpPr>
          <p:cNvPr id="20" name="矩形 19"/>
          <p:cNvSpPr/>
          <p:nvPr/>
        </p:nvSpPr>
        <p:spPr>
          <a:xfrm>
            <a:off x="2667000" y="3988868"/>
            <a:ext cx="527050" cy="342900"/>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a:solidFill>
                  <a:schemeClr val="tx1"/>
                </a:solidFill>
              </a:ln>
              <a:noFill/>
            </a:endParaRPr>
          </a:p>
        </p:txBody>
      </p:sp>
      <p:sp>
        <p:nvSpPr>
          <p:cNvPr id="22" name="矩形 21"/>
          <p:cNvSpPr/>
          <p:nvPr/>
        </p:nvSpPr>
        <p:spPr>
          <a:xfrm>
            <a:off x="3663951" y="3586836"/>
            <a:ext cx="527050" cy="342900"/>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a:solidFill>
                  <a:schemeClr val="tx1"/>
                </a:solidFill>
              </a:ln>
              <a:solidFill>
                <a:srgbClr val="FF0000"/>
              </a:solidFill>
            </a:endParaRPr>
          </a:p>
        </p:txBody>
      </p:sp>
      <p:sp>
        <p:nvSpPr>
          <p:cNvPr id="23" name="矩形 22"/>
          <p:cNvSpPr/>
          <p:nvPr/>
        </p:nvSpPr>
        <p:spPr>
          <a:xfrm>
            <a:off x="10325100" y="3935730"/>
            <a:ext cx="812800" cy="39624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a:solidFill>
                  <a:schemeClr val="tx1"/>
                </a:solidFill>
              </a:ln>
              <a:noFill/>
            </a:endParaRPr>
          </a:p>
        </p:txBody>
      </p:sp>
      <p:sp>
        <p:nvSpPr>
          <p:cNvPr id="24" name="矩形 23"/>
          <p:cNvSpPr/>
          <p:nvPr/>
        </p:nvSpPr>
        <p:spPr>
          <a:xfrm>
            <a:off x="805352" y="4396874"/>
            <a:ext cx="343998" cy="342900"/>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a:solidFill>
                  <a:schemeClr val="tx1"/>
                </a:solidFill>
              </a:ln>
              <a:noFill/>
            </a:endParaRPr>
          </a:p>
        </p:txBody>
      </p:sp>
      <p:sp>
        <p:nvSpPr>
          <p:cNvPr id="3" name="矩形: 圆角 2"/>
          <p:cNvSpPr/>
          <p:nvPr/>
        </p:nvSpPr>
        <p:spPr>
          <a:xfrm>
            <a:off x="2223332" y="2401057"/>
            <a:ext cx="1639482" cy="488233"/>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rgbClr val="FF0000"/>
                </a:solidFill>
              </a:rPr>
              <a:t>参与者</a:t>
            </a:r>
            <a:endParaRPr lang="zh-CN" altLang="en-US" sz="2200" b="1" dirty="0">
              <a:solidFill>
                <a:srgbClr val="FF0000"/>
              </a:solidFill>
            </a:endParaRPr>
          </a:p>
        </p:txBody>
      </p:sp>
      <p:cxnSp>
        <p:nvCxnSpPr>
          <p:cNvPr id="5" name="直接箭头连接符 4"/>
          <p:cNvCxnSpPr>
            <a:stCxn id="3" idx="2"/>
          </p:cNvCxnSpPr>
          <p:nvPr/>
        </p:nvCxnSpPr>
        <p:spPr>
          <a:xfrm flipH="1">
            <a:off x="2390053" y="2889290"/>
            <a:ext cx="653020" cy="221060"/>
          </a:xfrm>
          <a:prstGeom prst="straightConnector1">
            <a:avLst/>
          </a:prstGeom>
          <a:ln w="158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3" idx="2"/>
            <a:endCxn id="15" idx="0"/>
          </p:cNvCxnSpPr>
          <p:nvPr/>
        </p:nvCxnSpPr>
        <p:spPr>
          <a:xfrm>
            <a:off x="3043073" y="2889290"/>
            <a:ext cx="855827" cy="221060"/>
          </a:xfrm>
          <a:prstGeom prst="straightConnector1">
            <a:avLst/>
          </a:prstGeom>
          <a:ln w="158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31" name="矩形: 圆角 30"/>
          <p:cNvSpPr/>
          <p:nvPr/>
        </p:nvSpPr>
        <p:spPr>
          <a:xfrm>
            <a:off x="7023100" y="2394359"/>
            <a:ext cx="1639482" cy="488233"/>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rgbClr val="FF0000"/>
                </a:solidFill>
              </a:rPr>
              <a:t>实体</a:t>
            </a:r>
            <a:endParaRPr lang="zh-CN" altLang="en-US" sz="2200" b="1" dirty="0">
              <a:solidFill>
                <a:srgbClr val="FF0000"/>
              </a:solidFill>
            </a:endParaRPr>
          </a:p>
        </p:txBody>
      </p:sp>
      <p:cxnSp>
        <p:nvCxnSpPr>
          <p:cNvPr id="32" name="直接箭头连接符 31"/>
          <p:cNvCxnSpPr>
            <a:stCxn id="31" idx="2"/>
            <a:endCxn id="16" idx="0"/>
          </p:cNvCxnSpPr>
          <p:nvPr/>
        </p:nvCxnSpPr>
        <p:spPr>
          <a:xfrm>
            <a:off x="7842841" y="2882592"/>
            <a:ext cx="158159" cy="227758"/>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stCxn id="31" idx="2"/>
            <a:endCxn id="18" idx="0"/>
          </p:cNvCxnSpPr>
          <p:nvPr/>
        </p:nvCxnSpPr>
        <p:spPr>
          <a:xfrm flipH="1">
            <a:off x="6235700" y="2882592"/>
            <a:ext cx="1607141" cy="704244"/>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endCxn id="17" idx="0"/>
          </p:cNvCxnSpPr>
          <p:nvPr/>
        </p:nvCxnSpPr>
        <p:spPr>
          <a:xfrm>
            <a:off x="7873561" y="2867935"/>
            <a:ext cx="914839" cy="725133"/>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3" idx="2"/>
          </p:cNvCxnSpPr>
          <p:nvPr/>
        </p:nvCxnSpPr>
        <p:spPr>
          <a:xfrm flipH="1">
            <a:off x="1525061" y="2889290"/>
            <a:ext cx="1518012" cy="1155594"/>
          </a:xfrm>
          <a:prstGeom prst="straightConnector1">
            <a:avLst/>
          </a:prstGeom>
          <a:ln w="158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46" name="矩形: 圆角 45"/>
          <p:cNvSpPr/>
          <p:nvPr/>
        </p:nvSpPr>
        <p:spPr>
          <a:xfrm>
            <a:off x="2223332" y="5925695"/>
            <a:ext cx="1639482" cy="342900"/>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rgbClr val="FF0000"/>
                </a:solidFill>
              </a:rPr>
              <a:t>过程</a:t>
            </a:r>
            <a:endParaRPr lang="zh-CN" altLang="en-US" sz="2200" b="1" dirty="0">
              <a:solidFill>
                <a:srgbClr val="FF0000"/>
              </a:solidFill>
            </a:endParaRPr>
          </a:p>
        </p:txBody>
      </p:sp>
      <p:cxnSp>
        <p:nvCxnSpPr>
          <p:cNvPr id="47" name="直接箭头连接符 46"/>
          <p:cNvCxnSpPr>
            <a:stCxn id="46" idx="0"/>
          </p:cNvCxnSpPr>
          <p:nvPr/>
        </p:nvCxnSpPr>
        <p:spPr>
          <a:xfrm flipH="1" flipV="1">
            <a:off x="2930525" y="4501112"/>
            <a:ext cx="112548" cy="1424583"/>
          </a:xfrm>
          <a:prstGeom prst="straightConnector1">
            <a:avLst/>
          </a:prstGeom>
          <a:ln w="127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a:stCxn id="51" idx="0"/>
            <a:endCxn id="23" idx="2"/>
          </p:cNvCxnSpPr>
          <p:nvPr/>
        </p:nvCxnSpPr>
        <p:spPr>
          <a:xfrm flipV="1">
            <a:off x="10336620" y="4331694"/>
            <a:ext cx="394970" cy="159194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 name="矩形: 圆角 50"/>
          <p:cNvSpPr/>
          <p:nvPr/>
        </p:nvSpPr>
        <p:spPr>
          <a:xfrm>
            <a:off x="9516879" y="5923639"/>
            <a:ext cx="1639482" cy="342900"/>
          </a:xfrm>
          <a:prstGeom prst="round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rgbClr val="FF0000"/>
                </a:solidFill>
              </a:rPr>
              <a:t>用例</a:t>
            </a:r>
            <a:endParaRPr lang="zh-CN" altLang="en-US" sz="2200" b="1" dirty="0">
              <a:solidFill>
                <a:srgbClr val="FF0000"/>
              </a:solidFill>
            </a:endParaRPr>
          </a:p>
        </p:txBody>
      </p:sp>
      <p:sp>
        <p:nvSpPr>
          <p:cNvPr id="64" name="矩形: 圆角 63"/>
          <p:cNvSpPr/>
          <p:nvPr/>
        </p:nvSpPr>
        <p:spPr>
          <a:xfrm>
            <a:off x="4064960" y="5925695"/>
            <a:ext cx="1639482" cy="342900"/>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rgbClr val="FF0000"/>
                </a:solidFill>
              </a:rPr>
              <a:t>转化</a:t>
            </a:r>
            <a:endParaRPr lang="zh-CN" altLang="en-US" sz="2200" b="1" dirty="0">
              <a:solidFill>
                <a:srgbClr val="FF0000"/>
              </a:solidFill>
            </a:endParaRPr>
          </a:p>
        </p:txBody>
      </p:sp>
      <p:sp>
        <p:nvSpPr>
          <p:cNvPr id="65" name="矩形 64"/>
          <p:cNvSpPr/>
          <p:nvPr/>
        </p:nvSpPr>
        <p:spPr>
          <a:xfrm>
            <a:off x="3644900" y="5265420"/>
            <a:ext cx="547370" cy="422910"/>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a:solidFill>
                  <a:schemeClr val="tx1"/>
                </a:solidFill>
              </a:ln>
              <a:noFill/>
            </a:endParaRPr>
          </a:p>
        </p:txBody>
      </p:sp>
      <p:sp>
        <p:nvSpPr>
          <p:cNvPr id="66" name="矩形 65"/>
          <p:cNvSpPr/>
          <p:nvPr/>
        </p:nvSpPr>
        <p:spPr>
          <a:xfrm>
            <a:off x="4398010" y="5274310"/>
            <a:ext cx="558800" cy="422910"/>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a:solidFill>
                  <a:schemeClr val="tx1"/>
                </a:solidFill>
              </a:ln>
              <a:noFill/>
            </a:endParaRPr>
          </a:p>
        </p:txBody>
      </p:sp>
      <p:sp>
        <p:nvSpPr>
          <p:cNvPr id="68" name="矩形 67"/>
          <p:cNvSpPr/>
          <p:nvPr/>
        </p:nvSpPr>
        <p:spPr>
          <a:xfrm>
            <a:off x="8813800" y="4818390"/>
            <a:ext cx="1011270" cy="342900"/>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a:solidFill>
                  <a:schemeClr val="tx1"/>
                </a:solidFill>
              </a:ln>
              <a:noFill/>
            </a:endParaRPr>
          </a:p>
        </p:txBody>
      </p:sp>
      <p:sp>
        <p:nvSpPr>
          <p:cNvPr id="69" name="矩形: 圆角 68"/>
          <p:cNvSpPr/>
          <p:nvPr/>
        </p:nvSpPr>
        <p:spPr>
          <a:xfrm>
            <a:off x="7536512" y="5901595"/>
            <a:ext cx="1639482" cy="342900"/>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rgbClr val="FF0000"/>
                </a:solidFill>
              </a:rPr>
              <a:t>数据存储</a:t>
            </a:r>
            <a:endParaRPr lang="zh-CN" altLang="en-US" sz="2200" b="1" dirty="0">
              <a:solidFill>
                <a:srgbClr val="FF0000"/>
              </a:solidFill>
            </a:endParaRPr>
          </a:p>
        </p:txBody>
      </p:sp>
      <p:cxnSp>
        <p:nvCxnSpPr>
          <p:cNvPr id="70" name="直接箭头连接符 69"/>
          <p:cNvCxnSpPr>
            <a:stCxn id="69" idx="0"/>
            <a:endCxn id="68" idx="2"/>
          </p:cNvCxnSpPr>
          <p:nvPr/>
        </p:nvCxnSpPr>
        <p:spPr>
          <a:xfrm flipV="1">
            <a:off x="8356888" y="5161185"/>
            <a:ext cx="963295" cy="740410"/>
          </a:xfrm>
          <a:prstGeom prst="straightConnector1">
            <a:avLst/>
          </a:prstGeom>
          <a:ln w="127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p:nvPr/>
        </p:nvCxnSpPr>
        <p:spPr>
          <a:xfrm flipH="1" flipV="1">
            <a:off x="4060471" y="5715510"/>
            <a:ext cx="701040" cy="224790"/>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a:stCxn id="64" idx="0"/>
          </p:cNvCxnSpPr>
          <p:nvPr/>
        </p:nvCxnSpPr>
        <p:spPr>
          <a:xfrm flipH="1" flipV="1">
            <a:off x="4662081" y="5723169"/>
            <a:ext cx="222620" cy="202526"/>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 name="日期占位符 3"/>
          <p:cNvSpPr>
            <a:spLocks noGrp="1"/>
          </p:cNvSpPr>
          <p:nvPr>
            <p:ph type="dt" sz="half" idx="10"/>
          </p:nvPr>
        </p:nvSpPr>
        <p:spPr/>
        <p:txBody>
          <a:bodyPr/>
          <a:lstStyle/>
          <a:p>
            <a:pPr>
              <a:defRPr/>
            </a:pPr>
            <a:fld id="{32C9B7A1-5579-41CE-BDEE-95EB35AC642A}" type="datetime1">
              <a:rPr lang="zh-CN" altLang="en-US" b="1" smtClean="0">
                <a:solidFill>
                  <a:prstClr val="black">
                    <a:tint val="75000"/>
                  </a:prstClr>
                </a:solidFill>
              </a:rPr>
            </a:fld>
            <a:endParaRPr lang="zh-CN" altLang="en-US" b="1" smtClean="0">
              <a:solidFill>
                <a:prstClr val="black">
                  <a:tint val="75000"/>
                </a:prstClr>
              </a:solidFill>
            </a:endParaRPr>
          </a:p>
        </p:txBody>
      </p:sp>
      <p:sp>
        <p:nvSpPr>
          <p:cNvPr id="13" name="灯片编号占位符 12"/>
          <p:cNvSpPr>
            <a:spLocks noGrp="1"/>
          </p:cNvSpPr>
          <p:nvPr>
            <p:ph type="sldNum" sz="quarter" idx="12"/>
          </p:nvPr>
        </p:nvSpPr>
        <p:spPr/>
        <p:txBody>
          <a:bodyPr/>
          <a:lstStyle/>
          <a:p>
            <a:pPr>
              <a:defRPr/>
            </a:pPr>
            <a:fld id="{0519FDB0-D360-4966-A01C-1D1C6BB19AF3}" type="slidenum">
              <a:rPr lang="zh-CN" altLang="en-US" b="1" smtClean="0">
                <a:solidFill>
                  <a:prstClr val="black">
                    <a:tint val="75000"/>
                  </a:prstClr>
                </a:solidFill>
              </a:rPr>
            </a:fld>
            <a:endParaRPr lang="zh-CN" altLang="en-US" b="1" smtClean="0">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p:tgtEl>
                                          <p:spTgt spid="12"/>
                                        </p:tgtEl>
                                        <p:attrNameLst>
                                          <p:attrName>ppt_x</p:attrName>
                                        </p:attrNameLst>
                                      </p:cBhvr>
                                      <p:tavLst>
                                        <p:tav tm="0">
                                          <p:val>
                                            <p:strVal val="#ppt_x+#ppt_w*1.125000"/>
                                          </p:val>
                                        </p:tav>
                                        <p:tav tm="100000">
                                          <p:val>
                                            <p:strVal val="#ppt_x"/>
                                          </p:val>
                                        </p:tav>
                                      </p:tavLst>
                                    </p:anim>
                                    <p:animEffect transition="in" filter="wipe(left)">
                                      <p:cBhvr>
                                        <p:cTn id="8" dur="500"/>
                                        <p:tgtEl>
                                          <p:spTgt spid="12"/>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65"/>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73"/>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7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6"/>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68"/>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70"/>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6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3"/>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50"/>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animBg="1"/>
      <p:bldP spid="7" grpId="0" animBg="1"/>
      <p:bldP spid="9" grpId="0"/>
      <p:bldP spid="10" grpId="0" animBg="1"/>
      <p:bldP spid="12" grpId="0"/>
      <p:bldP spid="2" grpId="0" animBg="1"/>
      <p:bldP spid="15" grpId="0" bldLvl="0" animBg="1"/>
      <p:bldP spid="16" grpId="0" animBg="1"/>
      <p:bldP spid="17" grpId="0" animBg="1"/>
      <p:bldP spid="18" grpId="0" animBg="1"/>
      <p:bldP spid="19" grpId="0" animBg="1"/>
      <p:bldP spid="20" grpId="0" bldLvl="0" animBg="1"/>
      <p:bldP spid="22" grpId="0" bldLvl="0" animBg="1"/>
      <p:bldP spid="23" grpId="0" bldLvl="0" animBg="1"/>
      <p:bldP spid="24" grpId="0" bldLvl="0" animBg="1"/>
      <p:bldP spid="3" grpId="0" bldLvl="0" animBg="1"/>
      <p:bldP spid="31" grpId="0" bldLvl="0" animBg="1"/>
      <p:bldP spid="46" grpId="0" bldLvl="0" animBg="1"/>
      <p:bldP spid="51" grpId="0" bldLvl="0" animBg="1"/>
      <p:bldP spid="64" grpId="0" bldLvl="0" animBg="1"/>
      <p:bldP spid="65" grpId="0" bldLvl="0" animBg="1"/>
      <p:bldP spid="66" grpId="0" bldLvl="0" animBg="1"/>
      <p:bldP spid="68" grpId="0" bldLvl="0" animBg="1"/>
      <p:bldP spid="69"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矩形: 圆角 132"/>
          <p:cNvSpPr/>
          <p:nvPr/>
        </p:nvSpPr>
        <p:spPr>
          <a:xfrm>
            <a:off x="854873" y="3232364"/>
            <a:ext cx="10578293" cy="818706"/>
          </a:xfrm>
          <a:prstGeom prst="roundRect">
            <a:avLst/>
          </a:prstGeom>
          <a:noFill/>
          <a:ln w="1905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134" name="矩形: 圆角 133"/>
          <p:cNvSpPr/>
          <p:nvPr/>
        </p:nvSpPr>
        <p:spPr>
          <a:xfrm>
            <a:off x="915035" y="4344670"/>
            <a:ext cx="10578465" cy="911860"/>
          </a:xfrm>
          <a:prstGeom prst="roundRect">
            <a:avLst/>
          </a:prstGeom>
          <a:noFill/>
          <a:ln w="19050">
            <a:solidFill>
              <a:srgbClr val="7030A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2" name="矩形: 圆角 1"/>
          <p:cNvSpPr/>
          <p:nvPr/>
        </p:nvSpPr>
        <p:spPr>
          <a:xfrm>
            <a:off x="854873" y="2171700"/>
            <a:ext cx="10578293" cy="818706"/>
          </a:xfrm>
          <a:prstGeom prst="roundRect">
            <a:avLst/>
          </a:prstGeom>
          <a:no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grpSp>
        <p:nvGrpSpPr>
          <p:cNvPr id="116" name="组合 115"/>
          <p:cNvGrpSpPr/>
          <p:nvPr/>
        </p:nvGrpSpPr>
        <p:grpSpPr>
          <a:xfrm>
            <a:off x="698501" y="2392793"/>
            <a:ext cx="433415" cy="367929"/>
            <a:chOff x="0" y="0"/>
            <a:chExt cx="767929" cy="767929"/>
          </a:xfrm>
        </p:grpSpPr>
        <p:sp>
          <p:nvSpPr>
            <p:cNvPr id="117" name="任意多边形: 形状 116"/>
            <p:cNvSpPr/>
            <p:nvPr/>
          </p:nvSpPr>
          <p:spPr>
            <a:xfrm>
              <a:off x="0" y="0"/>
              <a:ext cx="767929" cy="76792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anchor="ctr"/>
            <a:lstStyle/>
            <a:p>
              <a:pPr algn="ctr"/>
              <a:endParaRPr sz="2200"/>
            </a:p>
          </p:txBody>
        </p:sp>
        <p:sp>
          <p:nvSpPr>
            <p:cNvPr id="118" name="任意多边形: 形状 117"/>
            <p:cNvSpPr/>
            <p:nvPr/>
          </p:nvSpPr>
          <p:spPr>
            <a:xfrm>
              <a:off x="234638" y="227334"/>
              <a:ext cx="298653" cy="313261"/>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endParaRPr sz="2200"/>
            </a:p>
          </p:txBody>
        </p:sp>
      </p:grpSp>
      <p:sp>
        <p:nvSpPr>
          <p:cNvPr id="119" name="矩形 118"/>
          <p:cNvSpPr/>
          <p:nvPr/>
        </p:nvSpPr>
        <p:spPr>
          <a:xfrm>
            <a:off x="1236086" y="2427060"/>
            <a:ext cx="10197080" cy="447057"/>
          </a:xfrm>
          <a:prstGeom prst="rect">
            <a:avLst/>
          </a:prstGeom>
        </p:spPr>
        <p:txBody>
          <a:bodyPr wrap="square" lIns="144000" tIns="0" rIns="144000" bIns="0" anchor="t">
            <a:noAutofit/>
          </a:bodyPr>
          <a:lstStyle/>
          <a:p>
            <a:pPr algn="just">
              <a:lnSpc>
                <a:spcPct val="120000"/>
              </a:lnSpc>
            </a:pPr>
            <a:r>
              <a:rPr lang="en-US" altLang="zh-CN" sz="2200" b="1" dirty="0">
                <a:solidFill>
                  <a:srgbClr val="000000"/>
                </a:solidFill>
                <a:latin typeface="+mn-ea"/>
              </a:rPr>
              <a:t>1</a:t>
            </a:r>
            <a:r>
              <a:rPr lang="zh-CN" altLang="en-US" sz="2200" b="1" dirty="0">
                <a:solidFill>
                  <a:srgbClr val="000000"/>
                </a:solidFill>
                <a:latin typeface="+mn-ea"/>
              </a:rPr>
              <a:t>）数据流图</a:t>
            </a:r>
            <a:r>
              <a:rPr lang="en-US" altLang="zh-CN" sz="2200" b="1" dirty="0">
                <a:solidFill>
                  <a:srgbClr val="000000"/>
                </a:solidFill>
                <a:latin typeface="+mn-ea"/>
              </a:rPr>
              <a:t>(data flow diagram</a:t>
            </a:r>
            <a:r>
              <a:rPr lang="zh-CN" altLang="en-US" sz="2200" b="1" dirty="0">
                <a:solidFill>
                  <a:srgbClr val="000000"/>
                </a:solidFill>
                <a:latin typeface="+mn-ea"/>
              </a:rPr>
              <a:t>，</a:t>
            </a:r>
            <a:r>
              <a:rPr lang="en-US" altLang="zh-CN" sz="2200" b="1" dirty="0">
                <a:solidFill>
                  <a:srgbClr val="000000"/>
                </a:solidFill>
                <a:latin typeface="+mn-ea"/>
              </a:rPr>
              <a:t>DFD)</a:t>
            </a:r>
            <a:r>
              <a:rPr lang="zh-CN" altLang="en-US" sz="2200" b="1" dirty="0">
                <a:solidFill>
                  <a:srgbClr val="000000"/>
                </a:solidFill>
                <a:latin typeface="+mn-ea"/>
              </a:rPr>
              <a:t>是结构化系统分析的基本工具</a:t>
            </a:r>
            <a:endParaRPr lang="zh-CN" altLang="en-US" sz="2200" b="1" dirty="0">
              <a:solidFill>
                <a:srgbClr val="000000"/>
              </a:solidFill>
              <a:latin typeface="+mn-ea"/>
            </a:endParaRPr>
          </a:p>
        </p:txBody>
      </p:sp>
      <p:sp>
        <p:nvSpPr>
          <p:cNvPr id="120" name="矩形 119"/>
          <p:cNvSpPr/>
          <p:nvPr/>
        </p:nvSpPr>
        <p:spPr>
          <a:xfrm>
            <a:off x="1231871" y="3239158"/>
            <a:ext cx="10197080" cy="818706"/>
          </a:xfrm>
          <a:prstGeom prst="rect">
            <a:avLst/>
          </a:prstGeom>
        </p:spPr>
        <p:txBody>
          <a:bodyPr wrap="square" lIns="144000" tIns="0" rIns="144000" bIns="0" anchor="t">
            <a:noAutofit/>
          </a:bodyPr>
          <a:lstStyle/>
          <a:p>
            <a:pPr algn="just">
              <a:lnSpc>
                <a:spcPct val="120000"/>
              </a:lnSpc>
            </a:pPr>
            <a:r>
              <a:rPr lang="en-US" altLang="zh-CN" sz="2200" b="1" dirty="0">
                <a:solidFill>
                  <a:srgbClr val="000000"/>
                </a:solidFill>
                <a:latin typeface="+mn-ea"/>
              </a:rPr>
              <a:t>2</a:t>
            </a:r>
            <a:r>
              <a:rPr lang="zh-CN" altLang="en-US" sz="2200" b="1" dirty="0">
                <a:solidFill>
                  <a:srgbClr val="000000"/>
                </a:solidFill>
                <a:latin typeface="+mn-ea"/>
              </a:rPr>
              <a:t>）一个数据流图确定了系统的转化过程、系统所操纵的数据或物质集合</a:t>
            </a:r>
            <a:r>
              <a:rPr lang="en-US" altLang="zh-CN" sz="2200" b="1" dirty="0">
                <a:solidFill>
                  <a:srgbClr val="000000"/>
                </a:solidFill>
                <a:latin typeface="+mn-ea"/>
              </a:rPr>
              <a:t>(</a:t>
            </a:r>
            <a:r>
              <a:rPr lang="zh-CN" altLang="en-US" sz="2200" b="1" dirty="0">
                <a:solidFill>
                  <a:srgbClr val="000000"/>
                </a:solidFill>
                <a:latin typeface="+mn-ea"/>
              </a:rPr>
              <a:t>存储</a:t>
            </a:r>
            <a:r>
              <a:rPr lang="en-US" altLang="zh-CN" sz="2200" b="1" dirty="0">
                <a:solidFill>
                  <a:srgbClr val="000000"/>
                </a:solidFill>
                <a:latin typeface="+mn-ea"/>
              </a:rPr>
              <a:t>)</a:t>
            </a:r>
            <a:r>
              <a:rPr lang="zh-CN" altLang="en-US" sz="2200" b="1" dirty="0">
                <a:solidFill>
                  <a:srgbClr val="000000"/>
                </a:solidFill>
                <a:latin typeface="+mn-ea"/>
              </a:rPr>
              <a:t>，以及过程、存储、外部世界之间的数据流或物质流。</a:t>
            </a:r>
            <a:endParaRPr lang="zh-CN" altLang="en-US" sz="2200" b="1" dirty="0">
              <a:solidFill>
                <a:srgbClr val="000000"/>
              </a:solidFill>
              <a:latin typeface="+mn-ea"/>
            </a:endParaRPr>
          </a:p>
        </p:txBody>
      </p:sp>
      <p:grpSp>
        <p:nvGrpSpPr>
          <p:cNvPr id="121" name="组合 120"/>
          <p:cNvGrpSpPr/>
          <p:nvPr/>
        </p:nvGrpSpPr>
        <p:grpSpPr>
          <a:xfrm>
            <a:off x="698500" y="3391084"/>
            <a:ext cx="433415" cy="367929"/>
            <a:chOff x="0" y="0"/>
            <a:chExt cx="767929" cy="767929"/>
          </a:xfrm>
        </p:grpSpPr>
        <p:sp>
          <p:nvSpPr>
            <p:cNvPr id="122" name="任意多边形: 形状 121"/>
            <p:cNvSpPr/>
            <p:nvPr/>
          </p:nvSpPr>
          <p:spPr>
            <a:xfrm>
              <a:off x="0" y="0"/>
              <a:ext cx="767929" cy="76792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solidFill>
            <a:ln w="12700" cap="flat">
              <a:noFill/>
              <a:miter lim="400000"/>
            </a:ln>
            <a:effectLst/>
          </p:spPr>
          <p:txBody>
            <a:bodyPr anchor="ctr"/>
            <a:lstStyle/>
            <a:p>
              <a:pPr algn="ctr"/>
              <a:endParaRPr sz="2200"/>
            </a:p>
          </p:txBody>
        </p:sp>
        <p:sp>
          <p:nvSpPr>
            <p:cNvPr id="123" name="任意多边形: 形状 122"/>
            <p:cNvSpPr/>
            <p:nvPr/>
          </p:nvSpPr>
          <p:spPr>
            <a:xfrm>
              <a:off x="234638" y="227334"/>
              <a:ext cx="298653" cy="313261"/>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endParaRPr sz="2200"/>
            </a:p>
          </p:txBody>
        </p:sp>
      </p:grpSp>
      <p:sp>
        <p:nvSpPr>
          <p:cNvPr id="124" name="矩形 123"/>
          <p:cNvSpPr/>
          <p:nvPr/>
        </p:nvSpPr>
        <p:spPr>
          <a:xfrm>
            <a:off x="1194435" y="4389120"/>
            <a:ext cx="10196830" cy="948055"/>
          </a:xfrm>
          <a:prstGeom prst="rect">
            <a:avLst/>
          </a:prstGeom>
        </p:spPr>
        <p:txBody>
          <a:bodyPr wrap="square" lIns="144000" tIns="0" rIns="144000" bIns="0" anchor="t">
            <a:noAutofit/>
          </a:bodyPr>
          <a:lstStyle/>
          <a:p>
            <a:pPr algn="just">
              <a:lnSpc>
                <a:spcPct val="120000"/>
              </a:lnSpc>
            </a:pPr>
            <a:r>
              <a:rPr lang="en-US" altLang="zh-CN" sz="2200" b="1" dirty="0">
                <a:solidFill>
                  <a:srgbClr val="000000"/>
                </a:solidFill>
                <a:latin typeface="+mn-ea"/>
              </a:rPr>
              <a:t>3</a:t>
            </a:r>
            <a:r>
              <a:rPr lang="zh-CN" altLang="en-US" sz="2200" b="1" dirty="0">
                <a:solidFill>
                  <a:srgbClr val="000000"/>
                </a:solidFill>
                <a:latin typeface="+mn-ea"/>
              </a:rPr>
              <a:t>）数据流图描述了软件需求规格说明中的功能需求怎样结合在一起使用户可以执行指定的任务，例如请求一种化学制品。也就是所说的功能建模</a:t>
            </a:r>
            <a:endParaRPr lang="zh-CN" altLang="en-US" sz="2200" b="1" dirty="0">
              <a:solidFill>
                <a:srgbClr val="000000"/>
              </a:solidFill>
              <a:latin typeface="+mn-ea"/>
            </a:endParaRPr>
          </a:p>
        </p:txBody>
      </p:sp>
      <p:grpSp>
        <p:nvGrpSpPr>
          <p:cNvPr id="129" name="组合 128"/>
          <p:cNvGrpSpPr/>
          <p:nvPr/>
        </p:nvGrpSpPr>
        <p:grpSpPr>
          <a:xfrm>
            <a:off x="710473" y="4570273"/>
            <a:ext cx="433415" cy="367929"/>
            <a:chOff x="0" y="0"/>
            <a:chExt cx="767929" cy="767929"/>
          </a:xfrm>
        </p:grpSpPr>
        <p:sp>
          <p:nvSpPr>
            <p:cNvPr id="130" name="任意多边形: 形状 129"/>
            <p:cNvSpPr/>
            <p:nvPr/>
          </p:nvSpPr>
          <p:spPr>
            <a:xfrm>
              <a:off x="0" y="0"/>
              <a:ext cx="767929" cy="76792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anchor="ctr"/>
            <a:lstStyle/>
            <a:p>
              <a:pPr algn="ctr"/>
              <a:endParaRPr sz="2200"/>
            </a:p>
          </p:txBody>
        </p:sp>
        <p:sp>
          <p:nvSpPr>
            <p:cNvPr id="131" name="任意多边形: 形状 130"/>
            <p:cNvSpPr/>
            <p:nvPr/>
          </p:nvSpPr>
          <p:spPr>
            <a:xfrm>
              <a:off x="234638" y="227334"/>
              <a:ext cx="298653" cy="313261"/>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endParaRPr sz="2200"/>
            </a:p>
          </p:txBody>
        </p:sp>
      </p:grpSp>
      <p:sp>
        <p:nvSpPr>
          <p:cNvPr id="132" name="文本框 131"/>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9"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）数据流图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3" name="日期占位符 2"/>
          <p:cNvSpPr>
            <a:spLocks noGrp="1"/>
          </p:cNvSpPr>
          <p:nvPr>
            <p:ph type="dt" sz="half" idx="10"/>
          </p:nvPr>
        </p:nvSpPr>
        <p:spPr/>
        <p:txBody>
          <a:bodyPr/>
          <a:lstStyle/>
          <a:p>
            <a:pPr>
              <a:defRPr/>
            </a:pPr>
            <a:fld id="{076DC446-BBF6-47D8-BA00-24BAB9D6B830}" type="datetime1">
              <a:rPr lang="zh-CN" altLang="en-US" smtClean="0">
                <a:solidFill>
                  <a:prstClr val="black">
                    <a:tint val="75000"/>
                  </a:prstClr>
                </a:solidFill>
              </a:rPr>
            </a:fld>
            <a:endParaRPr lang="zh-CN" altLang="en-US" dirty="0">
              <a:solidFill>
                <a:prstClr val="black">
                  <a:tint val="75000"/>
                </a:prstClr>
              </a:solidFill>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ustDataLst>
      <p:tags r:id="rId1"/>
    </p:custData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p:tgtEl>
                                          <p:spTgt spid="19"/>
                                        </p:tgtEl>
                                        <p:attrNameLst>
                                          <p:attrName>ppt_x</p:attrName>
                                        </p:attrNameLst>
                                      </p:cBhvr>
                                      <p:tavLst>
                                        <p:tav tm="0">
                                          <p:val>
                                            <p:strVal val="#ppt_x+#ppt_w*1.125000"/>
                                          </p:val>
                                        </p:tav>
                                        <p:tav tm="100000">
                                          <p:val>
                                            <p:strVal val="#ppt_x"/>
                                          </p:val>
                                        </p:tav>
                                      </p:tavLst>
                                    </p:anim>
                                    <p:animEffect transition="in" filter="wipe(left)">
                                      <p:cBhvr>
                                        <p:cTn id="8" dur="500"/>
                                        <p:tgtEl>
                                          <p:spTgt spid="19"/>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 grpId="0" animBg="1"/>
      <p:bldP spid="134" grpId="0" bldLvl="0" animBg="1"/>
      <p:bldP spid="2" grpId="0" animBg="1"/>
      <p:bldP spid="119" grpId="0"/>
      <p:bldP spid="120" grpId="0"/>
      <p:bldP spid="124" grpId="0"/>
      <p:bldP spid="1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nvGrpSpPr>
        <p:grpSpPr>
          <a:xfrm>
            <a:off x="2270991" y="2427531"/>
            <a:ext cx="7338914" cy="2400775"/>
            <a:chOff x="2084544" y="3361762"/>
            <a:chExt cx="7338914" cy="2335375"/>
          </a:xfrm>
        </p:grpSpPr>
        <p:sp>
          <p:nvSpPr>
            <p:cNvPr id="2" name="矩形 1"/>
            <p:cNvSpPr/>
            <p:nvPr/>
          </p:nvSpPr>
          <p:spPr>
            <a:xfrm>
              <a:off x="2084544" y="3572477"/>
              <a:ext cx="1723292" cy="9636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外部实体</a:t>
              </a:r>
              <a:endParaRPr lang="en-US" altLang="zh-CN" sz="2200" b="1" dirty="0">
                <a:solidFill>
                  <a:schemeClr val="tx1"/>
                </a:solidFill>
              </a:endParaRPr>
            </a:p>
            <a:p>
              <a:pPr algn="ctr"/>
              <a:r>
                <a:rPr lang="en-US" altLang="zh-CN" sz="2200" b="1" dirty="0">
                  <a:solidFill>
                    <a:schemeClr val="tx1"/>
                  </a:solidFill>
                </a:rPr>
                <a:t>A</a:t>
              </a:r>
              <a:endParaRPr lang="zh-CN" altLang="en-US" sz="2200" b="1" dirty="0">
                <a:solidFill>
                  <a:schemeClr val="tx1"/>
                </a:solidFill>
              </a:endParaRPr>
            </a:p>
          </p:txBody>
        </p:sp>
        <p:cxnSp>
          <p:nvCxnSpPr>
            <p:cNvPr id="4" name="直接箭头连接符 3"/>
            <p:cNvCxnSpPr>
              <a:stCxn id="2" idx="3"/>
            </p:cNvCxnSpPr>
            <p:nvPr/>
          </p:nvCxnSpPr>
          <p:spPr>
            <a:xfrm flipV="1">
              <a:off x="3807836" y="4054295"/>
              <a:ext cx="1249499"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 name="椭圆 5"/>
            <p:cNvSpPr/>
            <p:nvPr/>
          </p:nvSpPr>
          <p:spPr>
            <a:xfrm>
              <a:off x="4982698" y="3361762"/>
              <a:ext cx="1478686" cy="135753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变量（加工）</a:t>
              </a:r>
              <a:endParaRPr lang="en-US" altLang="zh-CN" sz="2200" b="1" dirty="0">
                <a:solidFill>
                  <a:schemeClr val="tx1"/>
                </a:solidFill>
              </a:endParaRPr>
            </a:p>
            <a:p>
              <a:pPr algn="ctr"/>
              <a:r>
                <a:rPr lang="zh-CN" altLang="en-US" sz="2200" b="1" dirty="0">
                  <a:solidFill>
                    <a:schemeClr val="tx1"/>
                  </a:solidFill>
                </a:rPr>
                <a:t>名称</a:t>
              </a:r>
              <a:endParaRPr lang="zh-CN" altLang="en-US" sz="2200" b="1" dirty="0">
                <a:solidFill>
                  <a:schemeClr val="tx1"/>
                </a:solidFill>
              </a:endParaRPr>
            </a:p>
          </p:txBody>
        </p:sp>
        <p:cxnSp>
          <p:nvCxnSpPr>
            <p:cNvPr id="22" name="直接箭头连接符 21"/>
            <p:cNvCxnSpPr/>
            <p:nvPr/>
          </p:nvCxnSpPr>
          <p:spPr>
            <a:xfrm flipV="1">
              <a:off x="6438734" y="4040527"/>
              <a:ext cx="1249499"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3" name="矩形 22"/>
            <p:cNvSpPr/>
            <p:nvPr/>
          </p:nvSpPr>
          <p:spPr>
            <a:xfrm>
              <a:off x="7700166" y="3485726"/>
              <a:ext cx="1723292" cy="9636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外部实体</a:t>
              </a:r>
              <a:endParaRPr lang="en-US" altLang="zh-CN" sz="2200" b="1" dirty="0">
                <a:solidFill>
                  <a:schemeClr val="tx1"/>
                </a:solidFill>
              </a:endParaRPr>
            </a:p>
            <a:p>
              <a:pPr algn="ctr"/>
              <a:r>
                <a:rPr lang="en-US" altLang="zh-CN" sz="2200" b="1" dirty="0">
                  <a:solidFill>
                    <a:schemeClr val="tx1"/>
                  </a:solidFill>
                </a:rPr>
                <a:t>A</a:t>
              </a:r>
              <a:endParaRPr lang="zh-CN" altLang="en-US" sz="2200" b="1" dirty="0">
                <a:solidFill>
                  <a:schemeClr val="tx1"/>
                </a:solidFill>
              </a:endParaRPr>
            </a:p>
          </p:txBody>
        </p:sp>
        <p:cxnSp>
          <p:nvCxnSpPr>
            <p:cNvPr id="24" name="直接箭头连接符 23"/>
            <p:cNvCxnSpPr/>
            <p:nvPr/>
          </p:nvCxnSpPr>
          <p:spPr>
            <a:xfrm>
              <a:off x="5251939" y="4503010"/>
              <a:ext cx="0" cy="59156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9" name="直接箭头连接符 28"/>
            <p:cNvCxnSpPr/>
            <p:nvPr/>
          </p:nvCxnSpPr>
          <p:spPr>
            <a:xfrm flipV="1">
              <a:off x="6213232" y="4536114"/>
              <a:ext cx="0" cy="55845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4" name="直接连接符 13"/>
            <p:cNvCxnSpPr/>
            <p:nvPr/>
          </p:nvCxnSpPr>
          <p:spPr>
            <a:xfrm flipV="1">
              <a:off x="4670474" y="5094570"/>
              <a:ext cx="2103120" cy="1"/>
            </a:xfrm>
            <a:prstGeom prst="line">
              <a:avLst/>
            </a:prstGeom>
          </p:spPr>
          <p:style>
            <a:lnRef idx="3">
              <a:schemeClr val="dk1"/>
            </a:lnRef>
            <a:fillRef idx="0">
              <a:schemeClr val="dk1"/>
            </a:fillRef>
            <a:effectRef idx="2">
              <a:schemeClr val="dk1"/>
            </a:effectRef>
            <a:fontRef idx="minor">
              <a:schemeClr val="tx1"/>
            </a:fontRef>
          </p:style>
        </p:cxnSp>
        <p:cxnSp>
          <p:nvCxnSpPr>
            <p:cNvPr id="36" name="直接连接符 35"/>
            <p:cNvCxnSpPr/>
            <p:nvPr/>
          </p:nvCxnSpPr>
          <p:spPr>
            <a:xfrm flipV="1">
              <a:off x="4696474" y="5697136"/>
              <a:ext cx="2103120" cy="1"/>
            </a:xfrm>
            <a:prstGeom prst="line">
              <a:avLst/>
            </a:prstGeom>
          </p:spPr>
          <p:style>
            <a:lnRef idx="3">
              <a:schemeClr val="dk1"/>
            </a:lnRef>
            <a:fillRef idx="0">
              <a:schemeClr val="dk1"/>
            </a:fillRef>
            <a:effectRef idx="2">
              <a:schemeClr val="dk1"/>
            </a:effectRef>
            <a:fontRef idx="minor">
              <a:schemeClr val="tx1"/>
            </a:fontRef>
          </p:style>
        </p:cxnSp>
        <p:sp>
          <p:nvSpPr>
            <p:cNvPr id="20" name="文本框 19"/>
            <p:cNvSpPr txBox="1"/>
            <p:nvPr/>
          </p:nvSpPr>
          <p:spPr>
            <a:xfrm>
              <a:off x="3763129" y="3666101"/>
              <a:ext cx="1392116" cy="418184"/>
            </a:xfrm>
            <a:prstGeom prst="rect">
              <a:avLst/>
            </a:prstGeom>
            <a:noFill/>
          </p:spPr>
          <p:txBody>
            <a:bodyPr wrap="square" rtlCol="0">
              <a:spAutoFit/>
            </a:bodyPr>
            <a:lstStyle/>
            <a:p>
              <a:r>
                <a:rPr lang="zh-CN" altLang="en-US" sz="2200" b="1" dirty="0"/>
                <a:t>输入数据</a:t>
              </a:r>
              <a:endParaRPr lang="zh-CN" altLang="en-US" sz="2200" b="1" dirty="0"/>
            </a:p>
          </p:txBody>
        </p:sp>
        <p:sp>
          <p:nvSpPr>
            <p:cNvPr id="40" name="文本框 39"/>
            <p:cNvSpPr txBox="1"/>
            <p:nvPr/>
          </p:nvSpPr>
          <p:spPr>
            <a:xfrm>
              <a:off x="6426801" y="3666101"/>
              <a:ext cx="1357532" cy="418184"/>
            </a:xfrm>
            <a:prstGeom prst="rect">
              <a:avLst/>
            </a:prstGeom>
            <a:noFill/>
          </p:spPr>
          <p:txBody>
            <a:bodyPr wrap="square" rtlCol="0">
              <a:spAutoFit/>
            </a:bodyPr>
            <a:lstStyle/>
            <a:p>
              <a:r>
                <a:rPr lang="zh-CN" altLang="en-US" sz="2200" b="1" dirty="0"/>
                <a:t>输出数据</a:t>
              </a:r>
              <a:endParaRPr lang="zh-CN" altLang="en-US" sz="2200" b="1" dirty="0"/>
            </a:p>
          </p:txBody>
        </p:sp>
        <p:sp>
          <p:nvSpPr>
            <p:cNvPr id="42" name="文本框 41"/>
            <p:cNvSpPr txBox="1"/>
            <p:nvPr/>
          </p:nvSpPr>
          <p:spPr>
            <a:xfrm>
              <a:off x="5178484" y="5201242"/>
              <a:ext cx="1421040" cy="418184"/>
            </a:xfrm>
            <a:prstGeom prst="rect">
              <a:avLst/>
            </a:prstGeom>
            <a:noFill/>
          </p:spPr>
          <p:txBody>
            <a:bodyPr wrap="square" rtlCol="0">
              <a:spAutoFit/>
            </a:bodyPr>
            <a:lstStyle/>
            <a:p>
              <a:r>
                <a:rPr lang="zh-CN" altLang="en-US" sz="2200" b="1" dirty="0"/>
                <a:t>数据存储</a:t>
              </a:r>
              <a:endParaRPr lang="zh-CN" altLang="en-US" sz="2200" b="1" dirty="0"/>
            </a:p>
          </p:txBody>
        </p:sp>
      </p:grpSp>
      <p:sp>
        <p:nvSpPr>
          <p:cNvPr id="30" name="文本框 29"/>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7"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）数据流图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3" name="矩形 2"/>
          <p:cNvSpPr/>
          <p:nvPr/>
        </p:nvSpPr>
        <p:spPr>
          <a:xfrm>
            <a:off x="1958109" y="2058323"/>
            <a:ext cx="8238837" cy="3335709"/>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67"/>
          <p:cNvSpPr>
            <a:spLocks noChangeArrowheads="1"/>
          </p:cNvSpPr>
          <p:nvPr/>
        </p:nvSpPr>
        <p:spPr bwMode="auto">
          <a:xfrm>
            <a:off x="4584179" y="1840717"/>
            <a:ext cx="2808658" cy="430887"/>
          </a:xfrm>
          <a:prstGeom prst="rect">
            <a:avLst/>
          </a:prstGeom>
          <a:solidFill>
            <a:schemeClr val="bg1"/>
          </a:solidFill>
          <a:ln>
            <a:solidFill>
              <a:srgbClr val="FF0000"/>
            </a:solidFill>
          </a:ln>
        </p:spPr>
        <p:txBody>
          <a:bodyPr wrap="square">
            <a:spAutoFit/>
          </a:bodyPr>
          <a:lstStyle/>
          <a:p>
            <a:pPr lvl="0" fontAlgn="base">
              <a:spcBef>
                <a:spcPct val="0"/>
              </a:spcBef>
              <a:spcAft>
                <a:spcPct val="0"/>
              </a:spcAft>
              <a:defRPr/>
            </a:pPr>
            <a:r>
              <a:rPr lang="zh-CN" altLang="en-US" sz="2200" b="1" kern="0" dirty="0">
                <a:solidFill>
                  <a:srgbClr val="FF0000"/>
                </a:solidFill>
                <a:latin typeface="宋体" panose="02010600030101010101" pitchFamily="2" charset="-122"/>
                <a:ea typeface="宋体" panose="02010600030101010101" pitchFamily="2" charset="-122"/>
                <a:sym typeface="宋体" panose="02010600030101010101" pitchFamily="2" charset="-122"/>
              </a:rPr>
              <a:t>数据流图的基本形式</a:t>
            </a:r>
            <a:endParaRPr lang="zh-CN" altLang="en-US" sz="2200" b="1" kern="0" dirty="0">
              <a:solidFill>
                <a:srgbClr val="FF0000"/>
              </a:solidFill>
              <a:latin typeface="宋体" panose="02010600030101010101" pitchFamily="2" charset="-122"/>
              <a:ea typeface="宋体" panose="02010600030101010101" pitchFamily="2" charset="-122"/>
              <a:sym typeface="宋体" panose="02010600030101010101" pitchFamily="2" charset="-122"/>
            </a:endParaRPr>
          </a:p>
        </p:txBody>
      </p:sp>
      <p:sp>
        <p:nvSpPr>
          <p:cNvPr id="5" name="日期占位符 4"/>
          <p:cNvSpPr>
            <a:spLocks noGrp="1"/>
          </p:cNvSpPr>
          <p:nvPr>
            <p:ph type="dt" sz="half" idx="10"/>
          </p:nvPr>
        </p:nvSpPr>
        <p:spPr/>
        <p:txBody>
          <a:bodyPr/>
          <a:lstStyle/>
          <a:p>
            <a:pPr>
              <a:defRPr/>
            </a:pPr>
            <a:fld id="{01075F3A-C09B-44DA-8F9F-2C1DF3357E0A}" type="datetime1">
              <a:rPr lang="zh-CN" altLang="en-US" smtClean="0">
                <a:solidFill>
                  <a:prstClr val="black">
                    <a:tint val="75000"/>
                  </a:prstClr>
                </a:solidFill>
              </a:rPr>
            </a:fld>
            <a:endParaRPr lang="zh-CN" altLang="en-US" dirty="0">
              <a:solidFill>
                <a:prstClr val="black">
                  <a:tint val="75000"/>
                </a:prstClr>
              </a:solidFill>
            </a:endParaRPr>
          </a:p>
        </p:txBody>
      </p:sp>
      <p:sp>
        <p:nvSpPr>
          <p:cNvPr id="7" name="灯片编号占位符 6"/>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ppt_x</p:attrName>
                                        </p:attrNameLst>
                                      </p:cBhvr>
                                      <p:tavLst>
                                        <p:tav tm="0">
                                          <p:val>
                                            <p:strVal val="#ppt_x+#ppt_w*1.125000"/>
                                          </p:val>
                                        </p:tav>
                                        <p:tav tm="100000">
                                          <p:val>
                                            <p:strVal val="#ppt_x"/>
                                          </p:val>
                                        </p:tav>
                                      </p:tavLst>
                                    </p:anim>
                                    <p:animEffect transition="in" filter="wipe(left)">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 grpId="0" animBg="1"/>
      <p:bldP spid="5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 name="组合 114"/>
          <p:cNvGrpSpPr/>
          <p:nvPr/>
        </p:nvGrpSpPr>
        <p:grpSpPr>
          <a:xfrm>
            <a:off x="3613724" y="1795914"/>
            <a:ext cx="6569328" cy="4587963"/>
            <a:chOff x="2049262" y="681623"/>
            <a:chExt cx="6569328" cy="4738119"/>
          </a:xfrm>
        </p:grpSpPr>
        <p:sp>
          <p:nvSpPr>
            <p:cNvPr id="3" name="椭圆 2"/>
            <p:cNvSpPr/>
            <p:nvPr/>
          </p:nvSpPr>
          <p:spPr>
            <a:xfrm>
              <a:off x="4747679" y="681623"/>
              <a:ext cx="1061335" cy="96585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solidFill>
                    <a:schemeClr val="tx1"/>
                  </a:solidFill>
                  <a:latin typeface="Times New Roman" panose="02020603050405020304" pitchFamily="18" charset="0"/>
                  <a:cs typeface="Times New Roman" panose="02020603050405020304" pitchFamily="18" charset="0"/>
                </a:rPr>
                <a:t>M</a:t>
              </a:r>
              <a:endParaRPr lang="en-US" altLang="zh-CN" sz="2200" dirty="0">
                <a:solidFill>
                  <a:schemeClr val="tx1"/>
                </a:solidFill>
                <a:latin typeface="Times New Roman" panose="02020603050405020304" pitchFamily="18" charset="0"/>
                <a:cs typeface="Times New Roman" panose="02020603050405020304" pitchFamily="18" charset="0"/>
              </a:endParaRPr>
            </a:p>
          </p:txBody>
        </p:sp>
        <p:cxnSp>
          <p:nvCxnSpPr>
            <p:cNvPr id="5" name="直接箭头连接符 4"/>
            <p:cNvCxnSpPr>
              <a:stCxn id="3" idx="6"/>
            </p:cNvCxnSpPr>
            <p:nvPr/>
          </p:nvCxnSpPr>
          <p:spPr>
            <a:xfrm>
              <a:off x="5809014" y="1164548"/>
              <a:ext cx="1324355" cy="10146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3" name="直接箭头连接符 22"/>
            <p:cNvCxnSpPr>
              <a:endCxn id="3" idx="2"/>
            </p:cNvCxnSpPr>
            <p:nvPr/>
          </p:nvCxnSpPr>
          <p:spPr>
            <a:xfrm flipV="1">
              <a:off x="3836355" y="1164548"/>
              <a:ext cx="911324" cy="13945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 name="任意多边形: 形状 16"/>
            <p:cNvSpPr/>
            <p:nvPr/>
          </p:nvSpPr>
          <p:spPr>
            <a:xfrm>
              <a:off x="2151944" y="1301383"/>
              <a:ext cx="2560086" cy="1339474"/>
            </a:xfrm>
            <a:custGeom>
              <a:avLst/>
              <a:gdLst>
                <a:gd name="connsiteX0" fmla="*/ 2227561 w 2227561"/>
                <a:gd name="connsiteY0" fmla="*/ 0 h 1553792"/>
                <a:gd name="connsiteX1" fmla="*/ 1086279 w 2227561"/>
                <a:gd name="connsiteY1" fmla="*/ 199380 h 1553792"/>
                <a:gd name="connsiteX2" fmla="*/ 330009 w 2227561"/>
                <a:gd name="connsiteY2" fmla="*/ 962526 h 1553792"/>
                <a:gd name="connsiteX3" fmla="*/ 0 w 2227561"/>
                <a:gd name="connsiteY3" fmla="*/ 1553792 h 1553792"/>
              </a:gdLst>
              <a:ahLst/>
              <a:cxnLst>
                <a:cxn ang="0">
                  <a:pos x="connsiteX0" y="connsiteY0"/>
                </a:cxn>
                <a:cxn ang="0">
                  <a:pos x="connsiteX1" y="connsiteY1"/>
                </a:cxn>
                <a:cxn ang="0">
                  <a:pos x="connsiteX2" y="connsiteY2"/>
                </a:cxn>
                <a:cxn ang="0">
                  <a:pos x="connsiteX3" y="connsiteY3"/>
                </a:cxn>
              </a:cxnLst>
              <a:rect l="l" t="t" r="r" b="b"/>
              <a:pathLst>
                <a:path w="2227561" h="1553792">
                  <a:moveTo>
                    <a:pt x="2227561" y="0"/>
                  </a:moveTo>
                  <a:lnTo>
                    <a:pt x="1086279" y="199380"/>
                  </a:lnTo>
                  <a:lnTo>
                    <a:pt x="330009" y="962526"/>
                  </a:lnTo>
                  <a:lnTo>
                    <a:pt x="0" y="1553792"/>
                  </a:lnTo>
                </a:path>
              </a:pathLst>
            </a:custGeom>
            <a:ln w="15875" cap="flat" cmpd="sng" algn="ctr">
              <a:solidFill>
                <a:schemeClr val="dk1"/>
              </a:solidFill>
              <a:prstDash val="lgDashDot"/>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cxnSp>
          <p:nvCxnSpPr>
            <p:cNvPr id="30" name="直接箭头连接符 29"/>
            <p:cNvCxnSpPr/>
            <p:nvPr/>
          </p:nvCxnSpPr>
          <p:spPr>
            <a:xfrm>
              <a:off x="2049262" y="2650020"/>
              <a:ext cx="711585"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mc:Choice xmlns:a14="http://schemas.microsoft.com/office/drawing/2010/main" Requires="a14">
            <p:sp>
              <p:nvSpPr>
                <p:cNvPr id="31" name="椭圆 30"/>
                <p:cNvSpPr/>
                <p:nvPr/>
              </p:nvSpPr>
              <p:spPr>
                <a:xfrm>
                  <a:off x="2760847" y="2341809"/>
                  <a:ext cx="678704" cy="59809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sz="2200" i="1">
                                <a:solidFill>
                                  <a:schemeClr val="tx1"/>
                                </a:solidFill>
                                <a:latin typeface="Cambria Math" panose="02040503050406030204" pitchFamily="18" charset="0"/>
                              </a:rPr>
                            </m:ctrlPr>
                          </m:sSubPr>
                          <m:e>
                            <m:r>
                              <a:rPr lang="en-US" altLang="zh-CN" sz="2200">
                                <a:solidFill>
                                  <a:schemeClr val="tx1"/>
                                </a:solidFill>
                                <a:latin typeface="Cambria Math" panose="02040503050406030204" pitchFamily="18" charset="0"/>
                              </a:rPr>
                              <m:t>𝑚</m:t>
                            </m:r>
                          </m:e>
                          <m:sub>
                            <m:r>
                              <a:rPr lang="en-US" altLang="zh-CN" sz="2200">
                                <a:solidFill>
                                  <a:schemeClr val="tx1"/>
                                </a:solidFill>
                                <a:latin typeface="Cambria Math" panose="02040503050406030204" pitchFamily="18" charset="0"/>
                              </a:rPr>
                              <m:t>1</m:t>
                            </m:r>
                          </m:sub>
                        </m:sSub>
                      </m:oMath>
                    </m:oMathPara>
                  </a14:m>
                  <a:endParaRPr lang="en-US" altLang="zh-CN" sz="2200" dirty="0">
                    <a:solidFill>
                      <a:schemeClr val="tx1"/>
                    </a:solidFill>
                    <a:latin typeface="Times New Roman" panose="02020603050405020304" pitchFamily="18" charset="0"/>
                    <a:cs typeface="Times New Roman" panose="02020603050405020304" pitchFamily="18" charset="0"/>
                  </a:endParaRPr>
                </a:p>
              </p:txBody>
            </p:sp>
          </mc:Choice>
          <mc:Fallback>
            <p:sp>
              <p:nvSpPr>
                <p:cNvPr id="31" name="椭圆 30"/>
                <p:cNvSpPr>
                  <a:spLocks noRot="1" noChangeAspect="1" noMove="1" noResize="1" noEditPoints="1" noAdjustHandles="1" noChangeArrowheads="1" noChangeShapeType="1" noTextEdit="1"/>
                </p:cNvSpPr>
                <p:nvPr/>
              </p:nvSpPr>
              <p:spPr>
                <a:xfrm>
                  <a:off x="2760847" y="2341809"/>
                  <a:ext cx="678704" cy="598095"/>
                </a:xfrm>
                <a:prstGeom prst="ellipse">
                  <a:avLst/>
                </a:prstGeom>
                <a:blipFill rotWithShape="1">
                  <a:blip r:embed="rId1"/>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cxnSp>
          <p:nvCxnSpPr>
            <p:cNvPr id="32" name="直接箭头连接符 31"/>
            <p:cNvCxnSpPr>
              <a:stCxn id="31" idx="7"/>
            </p:cNvCxnSpPr>
            <p:nvPr/>
          </p:nvCxnSpPr>
          <p:spPr>
            <a:xfrm flipV="1">
              <a:off x="3340157" y="2312836"/>
              <a:ext cx="584142" cy="11656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mc:Choice xmlns:a14="http://schemas.microsoft.com/office/drawing/2010/main" Requires="a14">
            <p:sp>
              <p:nvSpPr>
                <p:cNvPr id="34" name="椭圆 33"/>
                <p:cNvSpPr/>
                <p:nvPr/>
              </p:nvSpPr>
              <p:spPr>
                <a:xfrm>
                  <a:off x="3927673" y="1977009"/>
                  <a:ext cx="678704" cy="59809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sz="2200" i="1">
                                <a:solidFill>
                                  <a:schemeClr val="tx1"/>
                                </a:solidFill>
                                <a:latin typeface="Cambria Math" panose="02040503050406030204" pitchFamily="18" charset="0"/>
                              </a:rPr>
                            </m:ctrlPr>
                          </m:sSubPr>
                          <m:e>
                            <m:r>
                              <a:rPr lang="en-US" altLang="zh-CN" sz="2200">
                                <a:solidFill>
                                  <a:schemeClr val="tx1"/>
                                </a:solidFill>
                                <a:latin typeface="Cambria Math" panose="02040503050406030204" pitchFamily="18" charset="0"/>
                              </a:rPr>
                              <m:t>𝑚</m:t>
                            </m:r>
                          </m:e>
                          <m:sub>
                            <m:r>
                              <a:rPr lang="en-US" altLang="zh-CN" sz="2200">
                                <a:solidFill>
                                  <a:schemeClr val="tx1"/>
                                </a:solidFill>
                                <a:latin typeface="Cambria Math" panose="02040503050406030204" pitchFamily="18" charset="0"/>
                              </a:rPr>
                              <m:t>2</m:t>
                            </m:r>
                          </m:sub>
                        </m:sSub>
                      </m:oMath>
                    </m:oMathPara>
                  </a14:m>
                  <a:endParaRPr lang="en-US" altLang="zh-CN" sz="2200" dirty="0">
                    <a:solidFill>
                      <a:schemeClr val="tx1"/>
                    </a:solidFill>
                    <a:latin typeface="Times New Roman" panose="02020603050405020304" pitchFamily="18" charset="0"/>
                    <a:cs typeface="Times New Roman" panose="02020603050405020304" pitchFamily="18" charset="0"/>
                  </a:endParaRPr>
                </a:p>
              </p:txBody>
            </p:sp>
          </mc:Choice>
          <mc:Fallback>
            <p:sp>
              <p:nvSpPr>
                <p:cNvPr id="34" name="椭圆 33"/>
                <p:cNvSpPr>
                  <a:spLocks noRot="1" noChangeAspect="1" noMove="1" noResize="1" noEditPoints="1" noAdjustHandles="1" noChangeArrowheads="1" noChangeShapeType="1" noTextEdit="1"/>
                </p:cNvSpPr>
                <p:nvPr/>
              </p:nvSpPr>
              <p:spPr>
                <a:xfrm>
                  <a:off x="3927673" y="1977009"/>
                  <a:ext cx="678704" cy="598095"/>
                </a:xfrm>
                <a:prstGeom prst="ellipse">
                  <a:avLst/>
                </a:prstGeom>
                <a:blipFill rotWithShape="1">
                  <a:blip r:embed="rId2"/>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5" name="椭圆 34"/>
                <p:cNvSpPr/>
                <p:nvPr/>
              </p:nvSpPr>
              <p:spPr>
                <a:xfrm>
                  <a:off x="4938995" y="2650020"/>
                  <a:ext cx="678704" cy="59809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sz="2200" i="1">
                                <a:solidFill>
                                  <a:schemeClr val="tx1"/>
                                </a:solidFill>
                                <a:latin typeface="Cambria Math" panose="02040503050406030204" pitchFamily="18" charset="0"/>
                              </a:rPr>
                            </m:ctrlPr>
                          </m:sSubPr>
                          <m:e>
                            <m:r>
                              <a:rPr lang="en-US" altLang="zh-CN" sz="2200">
                                <a:solidFill>
                                  <a:schemeClr val="tx1"/>
                                </a:solidFill>
                                <a:latin typeface="Cambria Math" panose="02040503050406030204" pitchFamily="18" charset="0"/>
                              </a:rPr>
                              <m:t>𝑚</m:t>
                            </m:r>
                          </m:e>
                          <m:sub>
                            <m:r>
                              <a:rPr lang="en-US" altLang="zh-CN" sz="2200">
                                <a:solidFill>
                                  <a:schemeClr val="tx1"/>
                                </a:solidFill>
                                <a:latin typeface="Cambria Math" panose="02040503050406030204" pitchFamily="18" charset="0"/>
                              </a:rPr>
                              <m:t>4</m:t>
                            </m:r>
                          </m:sub>
                        </m:sSub>
                      </m:oMath>
                    </m:oMathPara>
                  </a14:m>
                  <a:endParaRPr lang="en-US" altLang="zh-CN" sz="2200" dirty="0">
                    <a:solidFill>
                      <a:schemeClr val="tx1"/>
                    </a:solidFill>
                    <a:latin typeface="Times New Roman" panose="02020603050405020304" pitchFamily="18" charset="0"/>
                    <a:cs typeface="Times New Roman" panose="02020603050405020304" pitchFamily="18" charset="0"/>
                  </a:endParaRPr>
                </a:p>
              </p:txBody>
            </p:sp>
          </mc:Choice>
          <mc:Fallback>
            <p:sp>
              <p:nvSpPr>
                <p:cNvPr id="35" name="椭圆 34"/>
                <p:cNvSpPr>
                  <a:spLocks noRot="1" noChangeAspect="1" noMove="1" noResize="1" noEditPoints="1" noAdjustHandles="1" noChangeArrowheads="1" noChangeShapeType="1" noTextEdit="1"/>
                </p:cNvSpPr>
                <p:nvPr/>
              </p:nvSpPr>
              <p:spPr>
                <a:xfrm>
                  <a:off x="4938995" y="2650020"/>
                  <a:ext cx="678704" cy="598095"/>
                </a:xfrm>
                <a:prstGeom prst="ellipse">
                  <a:avLst/>
                </a:prstGeom>
                <a:blipFill rotWithShape="1">
                  <a:blip r:embed="rId3"/>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6" name="椭圆 35"/>
                <p:cNvSpPr/>
                <p:nvPr/>
              </p:nvSpPr>
              <p:spPr>
                <a:xfrm>
                  <a:off x="6133835" y="2200367"/>
                  <a:ext cx="678704" cy="59809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sz="2200" i="1">
                                <a:solidFill>
                                  <a:schemeClr val="tx1"/>
                                </a:solidFill>
                                <a:latin typeface="Cambria Math" panose="02040503050406030204" pitchFamily="18" charset="0"/>
                              </a:rPr>
                            </m:ctrlPr>
                          </m:sSubPr>
                          <m:e>
                            <m:r>
                              <a:rPr lang="en-US" altLang="zh-CN" sz="2200">
                                <a:solidFill>
                                  <a:schemeClr val="tx1"/>
                                </a:solidFill>
                                <a:latin typeface="Cambria Math" panose="02040503050406030204" pitchFamily="18" charset="0"/>
                              </a:rPr>
                              <m:t>𝑚</m:t>
                            </m:r>
                          </m:e>
                          <m:sub>
                            <m:r>
                              <a:rPr lang="en-US" altLang="zh-CN" sz="2200">
                                <a:solidFill>
                                  <a:schemeClr val="tx1"/>
                                </a:solidFill>
                                <a:latin typeface="Cambria Math" panose="02040503050406030204" pitchFamily="18" charset="0"/>
                              </a:rPr>
                              <m:t>5</m:t>
                            </m:r>
                          </m:sub>
                        </m:sSub>
                      </m:oMath>
                    </m:oMathPara>
                  </a14:m>
                  <a:endParaRPr lang="en-US" altLang="zh-CN" sz="2200" dirty="0">
                    <a:solidFill>
                      <a:schemeClr val="tx1"/>
                    </a:solidFill>
                    <a:latin typeface="Times New Roman" panose="02020603050405020304" pitchFamily="18" charset="0"/>
                    <a:cs typeface="Times New Roman" panose="02020603050405020304" pitchFamily="18" charset="0"/>
                  </a:endParaRPr>
                </a:p>
              </p:txBody>
            </p:sp>
          </mc:Choice>
          <mc:Fallback>
            <p:sp>
              <p:nvSpPr>
                <p:cNvPr id="36" name="椭圆 35"/>
                <p:cNvSpPr>
                  <a:spLocks noRot="1" noChangeAspect="1" noMove="1" noResize="1" noEditPoints="1" noAdjustHandles="1" noChangeArrowheads="1" noChangeShapeType="1" noTextEdit="1"/>
                </p:cNvSpPr>
                <p:nvPr/>
              </p:nvSpPr>
              <p:spPr>
                <a:xfrm>
                  <a:off x="6133835" y="2200367"/>
                  <a:ext cx="678704" cy="598095"/>
                </a:xfrm>
                <a:prstGeom prst="ellipse">
                  <a:avLst/>
                </a:prstGeom>
                <a:blipFill rotWithShape="1">
                  <a:blip r:embed="rId4"/>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 name="椭圆 36"/>
                <p:cNvSpPr/>
                <p:nvPr/>
              </p:nvSpPr>
              <p:spPr>
                <a:xfrm>
                  <a:off x="3549537" y="3105425"/>
                  <a:ext cx="678704" cy="59809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sz="2200" i="1">
                                <a:solidFill>
                                  <a:schemeClr val="tx1"/>
                                </a:solidFill>
                                <a:latin typeface="Cambria Math" panose="02040503050406030204" pitchFamily="18" charset="0"/>
                              </a:rPr>
                            </m:ctrlPr>
                          </m:sSubPr>
                          <m:e>
                            <m:r>
                              <a:rPr lang="en-US" altLang="zh-CN" sz="2200">
                                <a:solidFill>
                                  <a:schemeClr val="tx1"/>
                                </a:solidFill>
                                <a:latin typeface="Cambria Math" panose="02040503050406030204" pitchFamily="18" charset="0"/>
                              </a:rPr>
                              <m:t>𝑚</m:t>
                            </m:r>
                          </m:e>
                          <m:sub>
                            <m:r>
                              <a:rPr lang="en-US" altLang="zh-CN" sz="2200">
                                <a:solidFill>
                                  <a:schemeClr val="tx1"/>
                                </a:solidFill>
                                <a:latin typeface="Cambria Math" panose="02040503050406030204" pitchFamily="18" charset="0"/>
                              </a:rPr>
                              <m:t>3</m:t>
                            </m:r>
                          </m:sub>
                        </m:sSub>
                      </m:oMath>
                    </m:oMathPara>
                  </a14:m>
                  <a:endParaRPr lang="en-US" altLang="zh-CN" sz="2200" dirty="0">
                    <a:solidFill>
                      <a:schemeClr val="tx1"/>
                    </a:solidFill>
                    <a:latin typeface="Times New Roman" panose="02020603050405020304" pitchFamily="18" charset="0"/>
                    <a:cs typeface="Times New Roman" panose="02020603050405020304" pitchFamily="18" charset="0"/>
                  </a:endParaRPr>
                </a:p>
              </p:txBody>
            </p:sp>
          </mc:Choice>
          <mc:Fallback>
            <p:sp>
              <p:nvSpPr>
                <p:cNvPr id="37" name="椭圆 36"/>
                <p:cNvSpPr>
                  <a:spLocks noRot="1" noChangeAspect="1" noMove="1" noResize="1" noEditPoints="1" noAdjustHandles="1" noChangeArrowheads="1" noChangeShapeType="1" noTextEdit="1"/>
                </p:cNvSpPr>
                <p:nvPr/>
              </p:nvSpPr>
              <p:spPr>
                <a:xfrm>
                  <a:off x="3549537" y="3105425"/>
                  <a:ext cx="678704" cy="598095"/>
                </a:xfrm>
                <a:prstGeom prst="ellipse">
                  <a:avLst/>
                </a:prstGeom>
                <a:blipFill rotWithShape="1">
                  <a:blip r:embed="rId5"/>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椭圆 37"/>
                <p:cNvSpPr/>
                <p:nvPr/>
              </p:nvSpPr>
              <p:spPr>
                <a:xfrm>
                  <a:off x="7131976" y="3153056"/>
                  <a:ext cx="678704" cy="59809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sz="2200" i="1">
                                <a:solidFill>
                                  <a:schemeClr val="tx1"/>
                                </a:solidFill>
                                <a:latin typeface="Cambria Math" panose="02040503050406030204" pitchFamily="18" charset="0"/>
                              </a:rPr>
                            </m:ctrlPr>
                          </m:sSubPr>
                          <m:e>
                            <m:r>
                              <a:rPr lang="en-US" altLang="zh-CN" sz="2200">
                                <a:solidFill>
                                  <a:schemeClr val="tx1"/>
                                </a:solidFill>
                                <a:latin typeface="Cambria Math" panose="02040503050406030204" pitchFamily="18" charset="0"/>
                              </a:rPr>
                              <m:t>  </m:t>
                            </m:r>
                            <m:r>
                              <a:rPr lang="en-US" altLang="zh-CN" sz="2200">
                                <a:solidFill>
                                  <a:schemeClr val="tx1"/>
                                </a:solidFill>
                                <a:latin typeface="Cambria Math" panose="02040503050406030204" pitchFamily="18" charset="0"/>
                              </a:rPr>
                              <m:t>𝑚</m:t>
                            </m:r>
                          </m:e>
                          <m:sub>
                            <m:r>
                              <a:rPr lang="en-US" altLang="zh-CN" sz="2200">
                                <a:solidFill>
                                  <a:schemeClr val="tx1"/>
                                </a:solidFill>
                                <a:latin typeface="Cambria Math" panose="02040503050406030204" pitchFamily="18" charset="0"/>
                              </a:rPr>
                              <m:t>6</m:t>
                            </m:r>
                          </m:sub>
                        </m:sSub>
                      </m:oMath>
                    </m:oMathPara>
                  </a14:m>
                  <a:endParaRPr lang="en-US" altLang="zh-CN" sz="2200" dirty="0">
                    <a:solidFill>
                      <a:schemeClr val="tx1"/>
                    </a:solidFill>
                    <a:latin typeface="Times New Roman" panose="02020603050405020304" pitchFamily="18" charset="0"/>
                    <a:cs typeface="Times New Roman" panose="02020603050405020304" pitchFamily="18" charset="0"/>
                  </a:endParaRPr>
                </a:p>
              </p:txBody>
            </p:sp>
          </mc:Choice>
          <mc:Fallback>
            <p:sp>
              <p:nvSpPr>
                <p:cNvPr id="38" name="椭圆 37"/>
                <p:cNvSpPr>
                  <a:spLocks noRot="1" noChangeAspect="1" noMove="1" noResize="1" noEditPoints="1" noAdjustHandles="1" noChangeArrowheads="1" noChangeShapeType="1" noTextEdit="1"/>
                </p:cNvSpPr>
                <p:nvPr/>
              </p:nvSpPr>
              <p:spPr>
                <a:xfrm>
                  <a:off x="7131976" y="3153056"/>
                  <a:ext cx="678704" cy="598095"/>
                </a:xfrm>
                <a:prstGeom prst="ellipse">
                  <a:avLst/>
                </a:prstGeom>
                <a:blipFill rotWithShape="1">
                  <a:blip r:embed="rId6"/>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9" name="椭圆 38"/>
                <p:cNvSpPr/>
                <p:nvPr/>
              </p:nvSpPr>
              <p:spPr>
                <a:xfrm>
                  <a:off x="4478536" y="3918096"/>
                  <a:ext cx="678704" cy="59809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sz="2200" i="1">
                                <a:solidFill>
                                  <a:schemeClr val="tx1"/>
                                </a:solidFill>
                                <a:latin typeface="Cambria Math" panose="02040503050406030204" pitchFamily="18" charset="0"/>
                              </a:rPr>
                            </m:ctrlPr>
                          </m:sSubPr>
                          <m:e>
                            <m:r>
                              <m:rPr>
                                <m:sty m:val="p"/>
                              </m:rPr>
                              <a:rPr lang="en-US" altLang="zh-CN" sz="2200">
                                <a:solidFill>
                                  <a:schemeClr val="tx1"/>
                                </a:solidFill>
                                <a:latin typeface="Cambria Math" panose="02040503050406030204" pitchFamily="18" charset="0"/>
                              </a:rPr>
                              <m:t>m</m:t>
                            </m:r>
                          </m:e>
                          <m:sub>
                            <m:r>
                              <a:rPr lang="en-US" altLang="zh-CN" sz="2200">
                                <a:solidFill>
                                  <a:schemeClr val="tx1"/>
                                </a:solidFill>
                                <a:latin typeface="Cambria Math" panose="02040503050406030204" pitchFamily="18" charset="0"/>
                              </a:rPr>
                              <m:t>41</m:t>
                            </m:r>
                          </m:sub>
                        </m:sSub>
                      </m:oMath>
                    </m:oMathPara>
                  </a14:m>
                  <a:endParaRPr lang="en-US" altLang="zh-CN" sz="2200" dirty="0">
                    <a:solidFill>
                      <a:schemeClr val="tx1"/>
                    </a:solidFill>
                    <a:latin typeface="Times New Roman" panose="02020603050405020304" pitchFamily="18" charset="0"/>
                    <a:cs typeface="Times New Roman" panose="02020603050405020304" pitchFamily="18" charset="0"/>
                  </a:endParaRPr>
                </a:p>
              </p:txBody>
            </p:sp>
          </mc:Choice>
          <mc:Fallback>
            <p:sp>
              <p:nvSpPr>
                <p:cNvPr id="39" name="椭圆 38"/>
                <p:cNvSpPr>
                  <a:spLocks noRot="1" noChangeAspect="1" noMove="1" noResize="1" noEditPoints="1" noAdjustHandles="1" noChangeArrowheads="1" noChangeShapeType="1" noTextEdit="1"/>
                </p:cNvSpPr>
                <p:nvPr/>
              </p:nvSpPr>
              <p:spPr>
                <a:xfrm>
                  <a:off x="4478536" y="3918096"/>
                  <a:ext cx="678704" cy="598095"/>
                </a:xfrm>
                <a:prstGeom prst="ellipse">
                  <a:avLst/>
                </a:prstGeom>
                <a:blipFill rotWithShape="1">
                  <a:blip r:embed="rId7"/>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0" name="椭圆 39"/>
                <p:cNvSpPr/>
                <p:nvPr/>
              </p:nvSpPr>
              <p:spPr>
                <a:xfrm>
                  <a:off x="5882693" y="3918095"/>
                  <a:ext cx="678704" cy="59809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2200" i="1">
                                <a:solidFill>
                                  <a:schemeClr val="tx1"/>
                                </a:solidFill>
                                <a:latin typeface="Cambria Math" panose="02040503050406030204" pitchFamily="18" charset="0"/>
                              </a:rPr>
                            </m:ctrlPr>
                          </m:sSubPr>
                          <m:e>
                            <m:r>
                              <a:rPr lang="en-US" altLang="zh-CN" sz="2200">
                                <a:solidFill>
                                  <a:schemeClr val="tx1"/>
                                </a:solidFill>
                                <a:latin typeface="Cambria Math" panose="02040503050406030204" pitchFamily="18" charset="0"/>
                              </a:rPr>
                              <m:t>𝑚</m:t>
                            </m:r>
                          </m:e>
                          <m:sub>
                            <m:r>
                              <a:rPr lang="en-US" altLang="zh-CN" sz="2200">
                                <a:solidFill>
                                  <a:schemeClr val="tx1"/>
                                </a:solidFill>
                                <a:latin typeface="Cambria Math" panose="02040503050406030204" pitchFamily="18" charset="0"/>
                              </a:rPr>
                              <m:t>42</m:t>
                            </m:r>
                          </m:sub>
                        </m:sSub>
                      </m:oMath>
                    </m:oMathPara>
                  </a14:m>
                  <a:endParaRPr lang="en-US" altLang="zh-CN" sz="2200" dirty="0">
                    <a:solidFill>
                      <a:schemeClr val="tx1"/>
                    </a:solidFill>
                    <a:latin typeface="Times New Roman" panose="02020603050405020304" pitchFamily="18" charset="0"/>
                    <a:cs typeface="Times New Roman" panose="02020603050405020304" pitchFamily="18" charset="0"/>
                  </a:endParaRPr>
                </a:p>
              </p:txBody>
            </p:sp>
          </mc:Choice>
          <mc:Fallback>
            <p:sp>
              <p:nvSpPr>
                <p:cNvPr id="40" name="椭圆 39"/>
                <p:cNvSpPr>
                  <a:spLocks noRot="1" noChangeAspect="1" noMove="1" noResize="1" noEditPoints="1" noAdjustHandles="1" noChangeArrowheads="1" noChangeShapeType="1" noTextEdit="1"/>
                </p:cNvSpPr>
                <p:nvPr/>
              </p:nvSpPr>
              <p:spPr>
                <a:xfrm>
                  <a:off x="5882693" y="3918095"/>
                  <a:ext cx="678704" cy="598095"/>
                </a:xfrm>
                <a:prstGeom prst="ellipse">
                  <a:avLst/>
                </a:prstGeom>
                <a:blipFill rotWithShape="1">
                  <a:blip r:embed="rId8"/>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1" name="椭圆 40"/>
                <p:cNvSpPr/>
                <p:nvPr/>
              </p:nvSpPr>
              <p:spPr>
                <a:xfrm>
                  <a:off x="4478536" y="4821647"/>
                  <a:ext cx="678704" cy="59809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sz="2200" i="1">
                                <a:solidFill>
                                  <a:schemeClr val="tx1"/>
                                </a:solidFill>
                                <a:latin typeface="Cambria Math" panose="02040503050406030204" pitchFamily="18" charset="0"/>
                              </a:rPr>
                            </m:ctrlPr>
                          </m:sSubPr>
                          <m:e>
                            <m:r>
                              <a:rPr lang="en-US" altLang="zh-CN" sz="2200">
                                <a:solidFill>
                                  <a:schemeClr val="tx1"/>
                                </a:solidFill>
                                <a:latin typeface="Cambria Math" panose="02040503050406030204" pitchFamily="18" charset="0"/>
                              </a:rPr>
                              <m:t>𝑚</m:t>
                            </m:r>
                          </m:e>
                          <m:sub>
                            <m:r>
                              <a:rPr lang="en-US" altLang="zh-CN" sz="2200">
                                <a:solidFill>
                                  <a:schemeClr val="tx1"/>
                                </a:solidFill>
                                <a:latin typeface="Cambria Math" panose="02040503050406030204" pitchFamily="18" charset="0"/>
                              </a:rPr>
                              <m:t>43</m:t>
                            </m:r>
                          </m:sub>
                        </m:sSub>
                      </m:oMath>
                    </m:oMathPara>
                  </a14:m>
                  <a:endParaRPr lang="en-US" altLang="zh-CN" sz="2200" dirty="0">
                    <a:solidFill>
                      <a:schemeClr val="tx1"/>
                    </a:solidFill>
                    <a:latin typeface="Times New Roman" panose="02020603050405020304" pitchFamily="18" charset="0"/>
                    <a:cs typeface="Times New Roman" panose="02020603050405020304" pitchFamily="18" charset="0"/>
                  </a:endParaRPr>
                </a:p>
              </p:txBody>
            </p:sp>
          </mc:Choice>
          <mc:Fallback>
            <p:sp>
              <p:nvSpPr>
                <p:cNvPr id="41" name="椭圆 40"/>
                <p:cNvSpPr>
                  <a:spLocks noRot="1" noChangeAspect="1" noMove="1" noResize="1" noEditPoints="1" noAdjustHandles="1" noChangeArrowheads="1" noChangeShapeType="1" noTextEdit="1"/>
                </p:cNvSpPr>
                <p:nvPr/>
              </p:nvSpPr>
              <p:spPr>
                <a:xfrm>
                  <a:off x="4478536" y="4821647"/>
                  <a:ext cx="678704" cy="598095"/>
                </a:xfrm>
                <a:prstGeom prst="ellipse">
                  <a:avLst/>
                </a:prstGeom>
                <a:blipFill rotWithShape="1">
                  <a:blip r:embed="rId9"/>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2" name="椭圆 41"/>
                <p:cNvSpPr/>
                <p:nvPr/>
              </p:nvSpPr>
              <p:spPr>
                <a:xfrm>
                  <a:off x="5882693" y="4821646"/>
                  <a:ext cx="678704" cy="59809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sz="2200" i="1">
                                <a:solidFill>
                                  <a:schemeClr val="tx1"/>
                                </a:solidFill>
                                <a:latin typeface="Cambria Math" panose="02040503050406030204" pitchFamily="18" charset="0"/>
                              </a:rPr>
                            </m:ctrlPr>
                          </m:sSubPr>
                          <m:e>
                            <m:r>
                              <a:rPr lang="en-US" altLang="zh-CN" sz="2200">
                                <a:solidFill>
                                  <a:schemeClr val="tx1"/>
                                </a:solidFill>
                                <a:latin typeface="Cambria Math" panose="02040503050406030204" pitchFamily="18" charset="0"/>
                              </a:rPr>
                              <m:t>𝑚</m:t>
                            </m:r>
                          </m:e>
                          <m:sub>
                            <m:r>
                              <a:rPr lang="en-US" altLang="zh-CN" sz="2200">
                                <a:solidFill>
                                  <a:schemeClr val="tx1"/>
                                </a:solidFill>
                                <a:latin typeface="Cambria Math" panose="02040503050406030204" pitchFamily="18" charset="0"/>
                              </a:rPr>
                              <m:t>44</m:t>
                            </m:r>
                          </m:sub>
                        </m:sSub>
                      </m:oMath>
                    </m:oMathPara>
                  </a14:m>
                  <a:endParaRPr lang="en-US" altLang="zh-CN" sz="2200" dirty="0">
                    <a:solidFill>
                      <a:schemeClr val="tx1"/>
                    </a:solidFill>
                    <a:latin typeface="Times New Roman" panose="02020603050405020304" pitchFamily="18" charset="0"/>
                    <a:cs typeface="Times New Roman" panose="02020603050405020304" pitchFamily="18" charset="0"/>
                  </a:endParaRPr>
                </a:p>
              </p:txBody>
            </p:sp>
          </mc:Choice>
          <mc:Fallback>
            <p:sp>
              <p:nvSpPr>
                <p:cNvPr id="42" name="椭圆 41"/>
                <p:cNvSpPr>
                  <a:spLocks noRot="1" noChangeAspect="1" noMove="1" noResize="1" noEditPoints="1" noAdjustHandles="1" noChangeArrowheads="1" noChangeShapeType="1" noTextEdit="1"/>
                </p:cNvSpPr>
                <p:nvPr/>
              </p:nvSpPr>
              <p:spPr>
                <a:xfrm>
                  <a:off x="5882693" y="4821646"/>
                  <a:ext cx="678704" cy="598095"/>
                </a:xfrm>
                <a:prstGeom prst="ellipse">
                  <a:avLst/>
                </a:prstGeom>
                <a:blipFill rotWithShape="1">
                  <a:blip r:embed="rId10"/>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3" name="椭圆 42"/>
                <p:cNvSpPr/>
                <p:nvPr/>
              </p:nvSpPr>
              <p:spPr>
                <a:xfrm>
                  <a:off x="7286850" y="4388413"/>
                  <a:ext cx="678704" cy="59809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2200" i="1">
                                <a:solidFill>
                                  <a:schemeClr val="tx1"/>
                                </a:solidFill>
                                <a:latin typeface="Cambria Math" panose="02040503050406030204" pitchFamily="18" charset="0"/>
                              </a:rPr>
                            </m:ctrlPr>
                          </m:sSubPr>
                          <m:e>
                            <m:r>
                              <a:rPr lang="en-US" altLang="zh-CN" sz="2200">
                                <a:solidFill>
                                  <a:schemeClr val="tx1"/>
                                </a:solidFill>
                                <a:latin typeface="Cambria Math" panose="02040503050406030204" pitchFamily="18" charset="0"/>
                              </a:rPr>
                              <m:t>𝑚</m:t>
                            </m:r>
                          </m:e>
                          <m:sub>
                            <m:r>
                              <a:rPr lang="en-US" altLang="zh-CN" sz="2200">
                                <a:solidFill>
                                  <a:schemeClr val="tx1"/>
                                </a:solidFill>
                                <a:latin typeface="Cambria Math" panose="02040503050406030204" pitchFamily="18" charset="0"/>
                              </a:rPr>
                              <m:t>45</m:t>
                            </m:r>
                          </m:sub>
                        </m:sSub>
                      </m:oMath>
                    </m:oMathPara>
                  </a14:m>
                  <a:endParaRPr lang="en-US" altLang="zh-CN" sz="2200" dirty="0">
                    <a:solidFill>
                      <a:schemeClr val="tx1"/>
                    </a:solidFill>
                    <a:latin typeface="Times New Roman" panose="02020603050405020304" pitchFamily="18" charset="0"/>
                    <a:cs typeface="Times New Roman" panose="02020603050405020304" pitchFamily="18" charset="0"/>
                  </a:endParaRPr>
                </a:p>
              </p:txBody>
            </p:sp>
          </mc:Choice>
          <mc:Fallback>
            <p:sp>
              <p:nvSpPr>
                <p:cNvPr id="43" name="椭圆 42"/>
                <p:cNvSpPr>
                  <a:spLocks noRot="1" noChangeAspect="1" noMove="1" noResize="1" noEditPoints="1" noAdjustHandles="1" noChangeArrowheads="1" noChangeShapeType="1" noTextEdit="1"/>
                </p:cNvSpPr>
                <p:nvPr/>
              </p:nvSpPr>
              <p:spPr>
                <a:xfrm>
                  <a:off x="7286850" y="4388413"/>
                  <a:ext cx="678704" cy="598095"/>
                </a:xfrm>
                <a:prstGeom prst="ellipse">
                  <a:avLst/>
                </a:prstGeom>
                <a:blipFill rotWithShape="1">
                  <a:blip r:embed="rId11"/>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cxnSp>
          <p:nvCxnSpPr>
            <p:cNvPr id="44" name="直接箭头连接符 43"/>
            <p:cNvCxnSpPr/>
            <p:nvPr/>
          </p:nvCxnSpPr>
          <p:spPr>
            <a:xfrm flipV="1">
              <a:off x="7810680" y="3452103"/>
              <a:ext cx="783772" cy="1718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5" name="任意多边形: 形状 44"/>
            <p:cNvSpPr/>
            <p:nvPr/>
          </p:nvSpPr>
          <p:spPr>
            <a:xfrm>
              <a:off x="5815984" y="1218035"/>
              <a:ext cx="2534892" cy="2251257"/>
            </a:xfrm>
            <a:custGeom>
              <a:avLst/>
              <a:gdLst>
                <a:gd name="connsiteX0" fmla="*/ 0 w 2103120"/>
                <a:gd name="connsiteY0" fmla="*/ 0 h 2180492"/>
                <a:gd name="connsiteX1" fmla="*/ 1357533 w 2103120"/>
                <a:gd name="connsiteY1" fmla="*/ 633046 h 2180492"/>
                <a:gd name="connsiteX2" fmla="*/ 2089053 w 2103120"/>
                <a:gd name="connsiteY2" fmla="*/ 1667021 h 2180492"/>
                <a:gd name="connsiteX3" fmla="*/ 2103120 w 2103120"/>
                <a:gd name="connsiteY3" fmla="*/ 2180492 h 2180492"/>
              </a:gdLst>
              <a:ahLst/>
              <a:cxnLst>
                <a:cxn ang="0">
                  <a:pos x="connsiteX0" y="connsiteY0"/>
                </a:cxn>
                <a:cxn ang="0">
                  <a:pos x="connsiteX1" y="connsiteY1"/>
                </a:cxn>
                <a:cxn ang="0">
                  <a:pos x="connsiteX2" y="connsiteY2"/>
                </a:cxn>
                <a:cxn ang="0">
                  <a:pos x="connsiteX3" y="connsiteY3"/>
                </a:cxn>
              </a:cxnLst>
              <a:rect l="l" t="t" r="r" b="b"/>
              <a:pathLst>
                <a:path w="2103120" h="2180492">
                  <a:moveTo>
                    <a:pt x="0" y="0"/>
                  </a:moveTo>
                  <a:lnTo>
                    <a:pt x="1357533" y="633046"/>
                  </a:lnTo>
                  <a:lnTo>
                    <a:pt x="2089053" y="1667021"/>
                  </a:lnTo>
                  <a:lnTo>
                    <a:pt x="2103120" y="2180492"/>
                  </a:lnTo>
                </a:path>
              </a:pathLst>
            </a:custGeom>
            <a:ln w="15875" cap="flat" cmpd="sng" algn="ctr">
              <a:solidFill>
                <a:schemeClr val="dk1"/>
              </a:solidFill>
              <a:prstDash val="lgDashDot"/>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zh-CN" altLang="en-US">
                <a:solidFill>
                  <a:schemeClr val="tx1"/>
                </a:solidFill>
                <a:latin typeface="Times New Roman" panose="02020603050405020304" pitchFamily="18" charset="0"/>
                <a:cs typeface="Times New Roman" panose="02020603050405020304" pitchFamily="18" charset="0"/>
              </a:endParaRPr>
            </a:p>
          </p:txBody>
        </p:sp>
        <p:cxnSp>
          <p:nvCxnSpPr>
            <p:cNvPr id="46" name="直接箭头连接符 45"/>
            <p:cNvCxnSpPr>
              <a:stCxn id="34" idx="6"/>
              <a:endCxn id="35" idx="0"/>
            </p:cNvCxnSpPr>
            <p:nvPr/>
          </p:nvCxnSpPr>
          <p:spPr>
            <a:xfrm>
              <a:off x="4606377" y="2276057"/>
              <a:ext cx="671970" cy="3739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0" name="直接箭头连接符 49"/>
            <p:cNvCxnSpPr>
              <a:stCxn id="31" idx="5"/>
              <a:endCxn id="37" idx="1"/>
            </p:cNvCxnSpPr>
            <p:nvPr/>
          </p:nvCxnSpPr>
          <p:spPr>
            <a:xfrm>
              <a:off x="3340157" y="2852315"/>
              <a:ext cx="308774" cy="34069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a:stCxn id="37" idx="6"/>
              <a:endCxn id="35" idx="2"/>
            </p:cNvCxnSpPr>
            <p:nvPr/>
          </p:nvCxnSpPr>
          <p:spPr>
            <a:xfrm flipV="1">
              <a:off x="4228241" y="2949068"/>
              <a:ext cx="710754" cy="45540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7" name="直接箭头连接符 56"/>
            <p:cNvCxnSpPr>
              <a:endCxn id="39" idx="2"/>
            </p:cNvCxnSpPr>
            <p:nvPr/>
          </p:nvCxnSpPr>
          <p:spPr>
            <a:xfrm flipV="1">
              <a:off x="3677538" y="4217144"/>
              <a:ext cx="800998" cy="1718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8" name="直接箭头连接符 57"/>
            <p:cNvCxnSpPr>
              <a:stCxn id="39" idx="6"/>
              <a:endCxn id="40" idx="2"/>
            </p:cNvCxnSpPr>
            <p:nvPr/>
          </p:nvCxnSpPr>
          <p:spPr>
            <a:xfrm flipV="1">
              <a:off x="5157240" y="4217143"/>
              <a:ext cx="72545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2" name="直接箭头连接符 61"/>
            <p:cNvCxnSpPr>
              <a:endCxn id="41" idx="2"/>
            </p:cNvCxnSpPr>
            <p:nvPr/>
          </p:nvCxnSpPr>
          <p:spPr>
            <a:xfrm flipV="1">
              <a:off x="3648931" y="5120695"/>
              <a:ext cx="829605" cy="859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4" name="直接箭头连接符 63"/>
            <p:cNvCxnSpPr>
              <a:stCxn id="41" idx="6"/>
              <a:endCxn id="42" idx="2"/>
            </p:cNvCxnSpPr>
            <p:nvPr/>
          </p:nvCxnSpPr>
          <p:spPr>
            <a:xfrm flipV="1">
              <a:off x="5157240" y="5120694"/>
              <a:ext cx="72545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7" name="直接箭头连接符 66"/>
            <p:cNvCxnSpPr>
              <a:stCxn id="40" idx="6"/>
              <a:endCxn id="43" idx="2"/>
            </p:cNvCxnSpPr>
            <p:nvPr/>
          </p:nvCxnSpPr>
          <p:spPr>
            <a:xfrm>
              <a:off x="6561397" y="4217143"/>
              <a:ext cx="725453" cy="47031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0" name="直接箭头连接符 69"/>
            <p:cNvCxnSpPr>
              <a:stCxn id="42" idx="6"/>
              <a:endCxn id="43" idx="2"/>
            </p:cNvCxnSpPr>
            <p:nvPr/>
          </p:nvCxnSpPr>
          <p:spPr>
            <a:xfrm flipV="1">
              <a:off x="6561397" y="4687461"/>
              <a:ext cx="725453" cy="43323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3" name="直接箭头连接符 72"/>
            <p:cNvCxnSpPr>
              <a:stCxn id="43" idx="6"/>
            </p:cNvCxnSpPr>
            <p:nvPr/>
          </p:nvCxnSpPr>
          <p:spPr>
            <a:xfrm flipV="1">
              <a:off x="7965554" y="4388413"/>
              <a:ext cx="653036" cy="29904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6" name="直接箭头连接符 75"/>
            <p:cNvCxnSpPr>
              <a:stCxn id="43" idx="6"/>
            </p:cNvCxnSpPr>
            <p:nvPr/>
          </p:nvCxnSpPr>
          <p:spPr>
            <a:xfrm>
              <a:off x="7965554" y="4687461"/>
              <a:ext cx="653036" cy="47031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81" name="任意多边形: 形状 80"/>
            <p:cNvSpPr/>
            <p:nvPr/>
          </p:nvSpPr>
          <p:spPr>
            <a:xfrm>
              <a:off x="4100732" y="2968283"/>
              <a:ext cx="837028" cy="2166425"/>
            </a:xfrm>
            <a:custGeom>
              <a:avLst/>
              <a:gdLst>
                <a:gd name="connsiteX0" fmla="*/ 837028 w 837028"/>
                <a:gd name="connsiteY0" fmla="*/ 0 h 2166425"/>
                <a:gd name="connsiteX1" fmla="*/ 7034 w 837028"/>
                <a:gd name="connsiteY1" fmla="*/ 858129 h 2166425"/>
                <a:gd name="connsiteX2" fmla="*/ 0 w 837028"/>
                <a:gd name="connsiteY2" fmla="*/ 2166425 h 2166425"/>
              </a:gdLst>
              <a:ahLst/>
              <a:cxnLst>
                <a:cxn ang="0">
                  <a:pos x="connsiteX0" y="connsiteY0"/>
                </a:cxn>
                <a:cxn ang="0">
                  <a:pos x="connsiteX1" y="connsiteY1"/>
                </a:cxn>
                <a:cxn ang="0">
                  <a:pos x="connsiteX2" y="connsiteY2"/>
                </a:cxn>
              </a:cxnLst>
              <a:rect l="l" t="t" r="r" b="b"/>
              <a:pathLst>
                <a:path w="837028" h="2166425">
                  <a:moveTo>
                    <a:pt x="837028" y="0"/>
                  </a:moveTo>
                  <a:lnTo>
                    <a:pt x="7034" y="858129"/>
                  </a:lnTo>
                  <a:cubicBezTo>
                    <a:pt x="4689" y="1294228"/>
                    <a:pt x="2345" y="1730326"/>
                    <a:pt x="0" y="2166425"/>
                  </a:cubicBezTo>
                </a:path>
              </a:pathLst>
            </a:custGeom>
            <a:ln w="15875" cap="flat" cmpd="sng" algn="ctr">
              <a:solidFill>
                <a:schemeClr val="dk1"/>
              </a:solidFill>
              <a:prstDash val="lgDashDot"/>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zh-CN" altLang="en-US">
                <a:solidFill>
                  <a:schemeClr val="tx1"/>
                </a:solidFill>
                <a:latin typeface="Times New Roman" panose="02020603050405020304" pitchFamily="18" charset="0"/>
                <a:cs typeface="Times New Roman" panose="02020603050405020304" pitchFamily="18" charset="0"/>
              </a:endParaRPr>
            </a:p>
          </p:txBody>
        </p:sp>
        <p:sp>
          <p:nvSpPr>
            <p:cNvPr id="82" name="任意多边形: 形状 81"/>
            <p:cNvSpPr/>
            <p:nvPr/>
          </p:nvSpPr>
          <p:spPr>
            <a:xfrm>
              <a:off x="5620043" y="2926080"/>
              <a:ext cx="2349305" cy="1772529"/>
            </a:xfrm>
            <a:custGeom>
              <a:avLst/>
              <a:gdLst>
                <a:gd name="connsiteX0" fmla="*/ 0 w 2349305"/>
                <a:gd name="connsiteY0" fmla="*/ 0 h 1772529"/>
                <a:gd name="connsiteX1" fmla="*/ 2342271 w 2349305"/>
                <a:gd name="connsiteY1" fmla="*/ 1167618 h 1772529"/>
                <a:gd name="connsiteX2" fmla="*/ 2349305 w 2349305"/>
                <a:gd name="connsiteY2" fmla="*/ 1772529 h 1772529"/>
              </a:gdLst>
              <a:ahLst/>
              <a:cxnLst>
                <a:cxn ang="0">
                  <a:pos x="connsiteX0" y="connsiteY0"/>
                </a:cxn>
                <a:cxn ang="0">
                  <a:pos x="connsiteX1" y="connsiteY1"/>
                </a:cxn>
                <a:cxn ang="0">
                  <a:pos x="connsiteX2" y="connsiteY2"/>
                </a:cxn>
              </a:cxnLst>
              <a:rect l="l" t="t" r="r" b="b"/>
              <a:pathLst>
                <a:path w="2349305" h="1772529">
                  <a:moveTo>
                    <a:pt x="0" y="0"/>
                  </a:moveTo>
                  <a:lnTo>
                    <a:pt x="2342271" y="1167618"/>
                  </a:lnTo>
                  <a:cubicBezTo>
                    <a:pt x="2344616" y="1369255"/>
                    <a:pt x="2346960" y="1570892"/>
                    <a:pt x="2349305" y="1772529"/>
                  </a:cubicBezTo>
                </a:path>
              </a:pathLst>
            </a:custGeom>
            <a:ln w="15875" cap="flat" cmpd="sng" algn="ctr">
              <a:solidFill>
                <a:schemeClr val="dk1"/>
              </a:solidFill>
              <a:prstDash val="lgDashDot"/>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zh-CN" altLang="en-US">
                <a:solidFill>
                  <a:schemeClr val="tx1"/>
                </a:solidFill>
                <a:latin typeface="Times New Roman" panose="02020603050405020304" pitchFamily="18" charset="0"/>
                <a:cs typeface="Times New Roman" panose="02020603050405020304" pitchFamily="18" charset="0"/>
              </a:endParaRPr>
            </a:p>
          </p:txBody>
        </p:sp>
        <p:cxnSp>
          <p:nvCxnSpPr>
            <p:cNvPr id="83" name="直接箭头连接符 82"/>
            <p:cNvCxnSpPr>
              <a:stCxn id="82" idx="0"/>
              <a:endCxn id="36" idx="2"/>
            </p:cNvCxnSpPr>
            <p:nvPr/>
          </p:nvCxnSpPr>
          <p:spPr>
            <a:xfrm flipV="1">
              <a:off x="5620043" y="2499415"/>
              <a:ext cx="513792" cy="42666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6" name="直接箭头连接符 85"/>
            <p:cNvCxnSpPr>
              <a:stCxn id="36" idx="6"/>
              <a:endCxn id="38" idx="0"/>
            </p:cNvCxnSpPr>
            <p:nvPr/>
          </p:nvCxnSpPr>
          <p:spPr>
            <a:xfrm>
              <a:off x="6812539" y="2499415"/>
              <a:ext cx="658789" cy="65364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0" name="直接箭头连接符 89"/>
            <p:cNvCxnSpPr>
              <a:stCxn id="82" idx="0"/>
              <a:endCxn id="38" idx="2"/>
            </p:cNvCxnSpPr>
            <p:nvPr/>
          </p:nvCxnSpPr>
          <p:spPr>
            <a:xfrm>
              <a:off x="5620043" y="2926080"/>
              <a:ext cx="1511933" cy="52602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96" name="文本框 95"/>
            <p:cNvSpPr txBox="1"/>
            <p:nvPr/>
          </p:nvSpPr>
          <p:spPr>
            <a:xfrm>
              <a:off x="3907150" y="850274"/>
              <a:ext cx="642181" cy="444989"/>
            </a:xfrm>
            <a:prstGeom prst="rect">
              <a:avLst/>
            </a:prstGeom>
            <a:noFill/>
          </p:spPr>
          <p:txBody>
            <a:bodyPr wrap="square" rtlCol="0">
              <a:spAutoFit/>
            </a:bodyPr>
            <a:lstStyle/>
            <a:p>
              <a:pPr algn="ctr"/>
              <a:r>
                <a:rPr lang="en-US" altLang="zh-CN" sz="2200" dirty="0">
                  <a:latin typeface="Times New Roman" panose="02020603050405020304" pitchFamily="18" charset="0"/>
                  <a:cs typeface="Times New Roman" panose="02020603050405020304" pitchFamily="18" charset="0"/>
                </a:rPr>
                <a:t>A</a:t>
              </a:r>
              <a:endParaRPr lang="zh-CN" altLang="en-US" sz="2200" dirty="0">
                <a:latin typeface="Times New Roman" panose="02020603050405020304" pitchFamily="18" charset="0"/>
                <a:cs typeface="Times New Roman" panose="02020603050405020304" pitchFamily="18" charset="0"/>
              </a:endParaRPr>
            </a:p>
          </p:txBody>
        </p:sp>
        <p:sp>
          <p:nvSpPr>
            <p:cNvPr id="97" name="文本框 96"/>
            <p:cNvSpPr txBox="1"/>
            <p:nvPr/>
          </p:nvSpPr>
          <p:spPr>
            <a:xfrm>
              <a:off x="6311002" y="846464"/>
              <a:ext cx="642181" cy="444989"/>
            </a:xfrm>
            <a:prstGeom prst="rect">
              <a:avLst/>
            </a:prstGeom>
            <a:noFill/>
          </p:spPr>
          <p:txBody>
            <a:bodyPr wrap="square" rtlCol="0">
              <a:spAutoFit/>
            </a:bodyPr>
            <a:lstStyle/>
            <a:p>
              <a:pPr algn="ctr"/>
              <a:r>
                <a:rPr lang="en-US" altLang="zh-CN" sz="2200" dirty="0">
                  <a:latin typeface="Times New Roman" panose="02020603050405020304" pitchFamily="18" charset="0"/>
                  <a:cs typeface="Times New Roman" panose="02020603050405020304" pitchFamily="18" charset="0"/>
                </a:rPr>
                <a:t>B</a:t>
              </a:r>
              <a:endParaRPr lang="zh-CN" altLang="en-US" sz="2200" dirty="0">
                <a:latin typeface="Times New Roman" panose="02020603050405020304" pitchFamily="18" charset="0"/>
                <a:cs typeface="Times New Roman" panose="02020603050405020304" pitchFamily="18" charset="0"/>
              </a:endParaRPr>
            </a:p>
          </p:txBody>
        </p:sp>
        <p:sp>
          <p:nvSpPr>
            <p:cNvPr id="98" name="文本框 97"/>
            <p:cNvSpPr txBox="1"/>
            <p:nvPr/>
          </p:nvSpPr>
          <p:spPr>
            <a:xfrm>
              <a:off x="2114617" y="2333026"/>
              <a:ext cx="642181" cy="444989"/>
            </a:xfrm>
            <a:prstGeom prst="rect">
              <a:avLst/>
            </a:prstGeom>
            <a:noFill/>
          </p:spPr>
          <p:txBody>
            <a:bodyPr wrap="square" rtlCol="0">
              <a:spAutoFit/>
            </a:bodyPr>
            <a:lstStyle/>
            <a:p>
              <a:pPr algn="ctr"/>
              <a:r>
                <a:rPr lang="en-US" altLang="zh-CN" sz="2200" dirty="0">
                  <a:latin typeface="Times New Roman" panose="02020603050405020304" pitchFamily="18" charset="0"/>
                  <a:cs typeface="Times New Roman" panose="02020603050405020304" pitchFamily="18" charset="0"/>
                </a:rPr>
                <a:t>A</a:t>
              </a:r>
              <a:endParaRPr lang="zh-CN" altLang="en-US" sz="2200" dirty="0">
                <a:latin typeface="Times New Roman" panose="02020603050405020304" pitchFamily="18" charset="0"/>
                <a:cs typeface="Times New Roman" panose="02020603050405020304" pitchFamily="18" charset="0"/>
              </a:endParaRPr>
            </a:p>
          </p:txBody>
        </p:sp>
        <p:sp>
          <p:nvSpPr>
            <p:cNvPr id="99" name="文本框 98"/>
            <p:cNvSpPr txBox="1"/>
            <p:nvPr/>
          </p:nvSpPr>
          <p:spPr>
            <a:xfrm>
              <a:off x="3177077" y="2026112"/>
              <a:ext cx="642181" cy="444989"/>
            </a:xfrm>
            <a:prstGeom prst="rect">
              <a:avLst/>
            </a:prstGeom>
            <a:noFill/>
          </p:spPr>
          <p:txBody>
            <a:bodyPr wrap="square" rtlCol="0">
              <a:spAutoFit/>
            </a:bodyPr>
            <a:lstStyle/>
            <a:p>
              <a:pPr algn="ctr"/>
              <a:r>
                <a:rPr lang="en-US" altLang="zh-CN" sz="2200" dirty="0">
                  <a:latin typeface="Times New Roman" panose="02020603050405020304" pitchFamily="18" charset="0"/>
                  <a:cs typeface="Times New Roman" panose="02020603050405020304" pitchFamily="18" charset="0"/>
                </a:rPr>
                <a:t>C</a:t>
              </a:r>
              <a:endParaRPr lang="zh-CN" altLang="en-US" sz="2200" dirty="0">
                <a:latin typeface="Times New Roman" panose="02020603050405020304" pitchFamily="18" charset="0"/>
                <a:cs typeface="Times New Roman" panose="02020603050405020304" pitchFamily="18" charset="0"/>
              </a:endParaRPr>
            </a:p>
          </p:txBody>
        </p:sp>
        <p:sp>
          <p:nvSpPr>
            <p:cNvPr id="100" name="文本框 99"/>
            <p:cNvSpPr txBox="1"/>
            <p:nvPr/>
          </p:nvSpPr>
          <p:spPr>
            <a:xfrm>
              <a:off x="3104309" y="2919324"/>
              <a:ext cx="642181" cy="444989"/>
            </a:xfrm>
            <a:prstGeom prst="rect">
              <a:avLst/>
            </a:prstGeom>
            <a:noFill/>
          </p:spPr>
          <p:txBody>
            <a:bodyPr wrap="square" rtlCol="0">
              <a:spAutoFit/>
            </a:bodyPr>
            <a:lstStyle/>
            <a:p>
              <a:pPr algn="ctr"/>
              <a:r>
                <a:rPr lang="en-US" altLang="zh-CN" sz="2200" dirty="0">
                  <a:latin typeface="Times New Roman" panose="02020603050405020304" pitchFamily="18" charset="0"/>
                  <a:cs typeface="Times New Roman" panose="02020603050405020304" pitchFamily="18" charset="0"/>
                </a:rPr>
                <a:t>D</a:t>
              </a:r>
              <a:endParaRPr lang="zh-CN" altLang="en-US" sz="2200" dirty="0">
                <a:latin typeface="Times New Roman" panose="02020603050405020304" pitchFamily="18" charset="0"/>
                <a:cs typeface="Times New Roman" panose="02020603050405020304" pitchFamily="18" charset="0"/>
              </a:endParaRPr>
            </a:p>
          </p:txBody>
        </p:sp>
        <p:sp>
          <p:nvSpPr>
            <p:cNvPr id="101" name="文本框 100"/>
            <p:cNvSpPr txBox="1"/>
            <p:nvPr/>
          </p:nvSpPr>
          <p:spPr>
            <a:xfrm>
              <a:off x="4671815" y="2127960"/>
              <a:ext cx="642181" cy="444989"/>
            </a:xfrm>
            <a:prstGeom prst="rect">
              <a:avLst/>
            </a:prstGeom>
            <a:noFill/>
          </p:spPr>
          <p:txBody>
            <a:bodyPr wrap="square" rtlCol="0">
              <a:spAutoFit/>
            </a:bodyPr>
            <a:lstStyle/>
            <a:p>
              <a:pPr algn="ctr"/>
              <a:r>
                <a:rPr lang="en-US" altLang="zh-CN" sz="2200" dirty="0">
                  <a:latin typeface="Times New Roman" panose="02020603050405020304" pitchFamily="18" charset="0"/>
                  <a:cs typeface="Times New Roman" panose="02020603050405020304" pitchFamily="18" charset="0"/>
                </a:rPr>
                <a:t>E</a:t>
              </a:r>
              <a:endParaRPr lang="zh-CN" altLang="en-US" sz="2200" dirty="0">
                <a:latin typeface="Times New Roman" panose="02020603050405020304" pitchFamily="18" charset="0"/>
                <a:cs typeface="Times New Roman" panose="02020603050405020304" pitchFamily="18" charset="0"/>
              </a:endParaRPr>
            </a:p>
          </p:txBody>
        </p:sp>
        <p:sp>
          <p:nvSpPr>
            <p:cNvPr id="102" name="文本框 101"/>
            <p:cNvSpPr txBox="1"/>
            <p:nvPr/>
          </p:nvSpPr>
          <p:spPr>
            <a:xfrm>
              <a:off x="4174920" y="2886506"/>
              <a:ext cx="642181" cy="444989"/>
            </a:xfrm>
            <a:prstGeom prst="rect">
              <a:avLst/>
            </a:prstGeom>
            <a:noFill/>
          </p:spPr>
          <p:txBody>
            <a:bodyPr wrap="square" rtlCol="0">
              <a:spAutoFit/>
            </a:bodyPr>
            <a:lstStyle/>
            <a:p>
              <a:pPr algn="ctr"/>
              <a:r>
                <a:rPr lang="en-US" altLang="zh-CN" sz="2200" dirty="0">
                  <a:latin typeface="Times New Roman" panose="02020603050405020304" pitchFamily="18" charset="0"/>
                  <a:cs typeface="Times New Roman" panose="02020603050405020304" pitchFamily="18" charset="0"/>
                </a:rPr>
                <a:t>F</a:t>
              </a:r>
              <a:endParaRPr lang="zh-CN" altLang="en-US" sz="2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03" name="文本框 102"/>
                <p:cNvSpPr txBox="1"/>
                <p:nvPr/>
              </p:nvSpPr>
              <p:spPr>
                <a:xfrm>
                  <a:off x="5440983" y="2416948"/>
                  <a:ext cx="642181" cy="44498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G</m:t>
                            </m:r>
                          </m:e>
                          <m:sub>
                            <m:r>
                              <a:rPr lang="en-US" altLang="zh-CN" sz="2200" b="0" i="0" smtClean="0">
                                <a:latin typeface="Cambria Math" panose="02040503050406030204" pitchFamily="18" charset="0"/>
                              </a:rPr>
                              <m:t>1</m:t>
                            </m:r>
                          </m:sub>
                        </m:sSub>
                      </m:oMath>
                    </m:oMathPara>
                  </a14:m>
                  <a:endParaRPr lang="zh-CN" altLang="en-US" sz="2200" dirty="0">
                    <a:latin typeface="Times New Roman" panose="02020603050405020304" pitchFamily="18" charset="0"/>
                    <a:cs typeface="Times New Roman" panose="02020603050405020304" pitchFamily="18" charset="0"/>
                  </a:endParaRPr>
                </a:p>
              </p:txBody>
            </p:sp>
          </mc:Choice>
          <mc:Fallback>
            <p:sp>
              <p:nvSpPr>
                <p:cNvPr id="103" name="文本框 102"/>
                <p:cNvSpPr txBox="1">
                  <a:spLocks noRot="1" noChangeAspect="1" noMove="1" noResize="1" noEditPoints="1" noAdjustHandles="1" noChangeArrowheads="1" noChangeShapeType="1" noTextEdit="1"/>
                </p:cNvSpPr>
                <p:nvPr/>
              </p:nvSpPr>
              <p:spPr>
                <a:xfrm>
                  <a:off x="5440983" y="2416948"/>
                  <a:ext cx="642181" cy="444989"/>
                </a:xfrm>
                <a:prstGeom prst="rect">
                  <a:avLst/>
                </a:prstGeom>
                <a:blipFill rotWithShape="1">
                  <a:blip r:embed="rId1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4" name="文本框 103"/>
                <p:cNvSpPr txBox="1"/>
                <p:nvPr/>
              </p:nvSpPr>
              <p:spPr>
                <a:xfrm>
                  <a:off x="6205095" y="2895121"/>
                  <a:ext cx="642181" cy="44498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G</m:t>
                            </m:r>
                          </m:e>
                          <m:sub>
                            <m:r>
                              <a:rPr lang="en-US" altLang="zh-CN" sz="2200" b="0" i="0" smtClean="0">
                                <a:latin typeface="Cambria Math" panose="02040503050406030204" pitchFamily="18" charset="0"/>
                              </a:rPr>
                              <m:t>2</m:t>
                            </m:r>
                          </m:sub>
                        </m:sSub>
                      </m:oMath>
                    </m:oMathPara>
                  </a14:m>
                  <a:endParaRPr lang="zh-CN" altLang="en-US" sz="2200" dirty="0">
                    <a:latin typeface="Times New Roman" panose="02020603050405020304" pitchFamily="18" charset="0"/>
                    <a:cs typeface="Times New Roman" panose="02020603050405020304" pitchFamily="18" charset="0"/>
                  </a:endParaRPr>
                </a:p>
              </p:txBody>
            </p:sp>
          </mc:Choice>
          <mc:Fallback>
            <p:sp>
              <p:nvSpPr>
                <p:cNvPr id="104" name="文本框 103"/>
                <p:cNvSpPr txBox="1">
                  <a:spLocks noRot="1" noChangeAspect="1" noMove="1" noResize="1" noEditPoints="1" noAdjustHandles="1" noChangeArrowheads="1" noChangeShapeType="1" noTextEdit="1"/>
                </p:cNvSpPr>
                <p:nvPr/>
              </p:nvSpPr>
              <p:spPr>
                <a:xfrm>
                  <a:off x="6205095" y="2895121"/>
                  <a:ext cx="642181" cy="444989"/>
                </a:xfrm>
                <a:prstGeom prst="rect">
                  <a:avLst/>
                </a:prstGeom>
                <a:blipFill rotWithShape="1">
                  <a:blip r:embed="rId1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5" name="文本框 104"/>
                <p:cNvSpPr txBox="1"/>
                <p:nvPr/>
              </p:nvSpPr>
              <p:spPr>
                <a:xfrm>
                  <a:off x="6936285" y="2528081"/>
                  <a:ext cx="642181" cy="44498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G</m:t>
                            </m:r>
                          </m:e>
                          <m:sub>
                            <m:r>
                              <a:rPr lang="en-US" altLang="zh-CN" sz="2200" b="0" i="0" smtClean="0">
                                <a:latin typeface="Cambria Math" panose="02040503050406030204" pitchFamily="18" charset="0"/>
                              </a:rPr>
                              <m:t>3</m:t>
                            </m:r>
                          </m:sub>
                        </m:sSub>
                      </m:oMath>
                    </m:oMathPara>
                  </a14:m>
                  <a:endParaRPr lang="zh-CN" altLang="en-US" sz="2200" dirty="0">
                    <a:latin typeface="Times New Roman" panose="02020603050405020304" pitchFamily="18" charset="0"/>
                    <a:cs typeface="Times New Roman" panose="02020603050405020304" pitchFamily="18" charset="0"/>
                  </a:endParaRPr>
                </a:p>
              </p:txBody>
            </p:sp>
          </mc:Choice>
          <mc:Fallback>
            <p:sp>
              <p:nvSpPr>
                <p:cNvPr id="105" name="文本框 104"/>
                <p:cNvSpPr txBox="1">
                  <a:spLocks noRot="1" noChangeAspect="1" noMove="1" noResize="1" noEditPoints="1" noAdjustHandles="1" noChangeArrowheads="1" noChangeShapeType="1" noTextEdit="1"/>
                </p:cNvSpPr>
                <p:nvPr/>
              </p:nvSpPr>
              <p:spPr>
                <a:xfrm>
                  <a:off x="6936285" y="2528081"/>
                  <a:ext cx="642181" cy="444989"/>
                </a:xfrm>
                <a:prstGeom prst="rect">
                  <a:avLst/>
                </a:prstGeom>
                <a:blipFill rotWithShape="1">
                  <a:blip r:embed="rId14"/>
                </a:blipFill>
              </p:spPr>
              <p:txBody>
                <a:bodyPr/>
                <a:lstStyle/>
                <a:p>
                  <a:r>
                    <a:rPr lang="zh-CN" altLang="en-US">
                      <a:noFill/>
                    </a:rPr>
                    <a:t> </a:t>
                  </a:r>
                </a:p>
              </p:txBody>
            </p:sp>
          </mc:Fallback>
        </mc:AlternateContent>
        <p:sp>
          <p:nvSpPr>
            <p:cNvPr id="106" name="文本框 105"/>
            <p:cNvSpPr txBox="1"/>
            <p:nvPr/>
          </p:nvSpPr>
          <p:spPr>
            <a:xfrm>
              <a:off x="7781669" y="3147217"/>
              <a:ext cx="642181" cy="444989"/>
            </a:xfrm>
            <a:prstGeom prst="rect">
              <a:avLst/>
            </a:prstGeom>
            <a:noFill/>
          </p:spPr>
          <p:txBody>
            <a:bodyPr wrap="square" rtlCol="0">
              <a:spAutoFit/>
            </a:bodyPr>
            <a:lstStyle/>
            <a:p>
              <a:pPr algn="ctr"/>
              <a:r>
                <a:rPr lang="en-US" altLang="zh-CN" sz="2200" dirty="0">
                  <a:latin typeface="Times New Roman" panose="02020603050405020304" pitchFamily="18" charset="0"/>
                  <a:cs typeface="Times New Roman" panose="02020603050405020304" pitchFamily="18" charset="0"/>
                </a:rPr>
                <a:t>B</a:t>
              </a:r>
              <a:endParaRPr lang="zh-CN" altLang="en-US" sz="2200" dirty="0">
                <a:latin typeface="Times New Roman" panose="02020603050405020304" pitchFamily="18" charset="0"/>
                <a:cs typeface="Times New Roman" panose="02020603050405020304" pitchFamily="18" charset="0"/>
              </a:endParaRPr>
            </a:p>
          </p:txBody>
        </p:sp>
        <p:sp>
          <p:nvSpPr>
            <p:cNvPr id="107" name="文本框 106"/>
            <p:cNvSpPr txBox="1"/>
            <p:nvPr/>
          </p:nvSpPr>
          <p:spPr>
            <a:xfrm>
              <a:off x="3603208" y="3918095"/>
              <a:ext cx="642181" cy="444989"/>
            </a:xfrm>
            <a:prstGeom prst="rect">
              <a:avLst/>
            </a:prstGeom>
            <a:noFill/>
          </p:spPr>
          <p:txBody>
            <a:bodyPr wrap="square" rtlCol="0">
              <a:spAutoFit/>
            </a:bodyPr>
            <a:lstStyle/>
            <a:p>
              <a:pPr algn="ctr"/>
              <a:r>
                <a:rPr lang="en-US" altLang="zh-CN" sz="2200" dirty="0">
                  <a:latin typeface="Times New Roman" panose="02020603050405020304" pitchFamily="18" charset="0"/>
                  <a:cs typeface="Times New Roman" panose="02020603050405020304" pitchFamily="18" charset="0"/>
                </a:rPr>
                <a:t>E</a:t>
              </a:r>
              <a:endParaRPr lang="zh-CN" altLang="en-US" sz="2200" dirty="0">
                <a:latin typeface="Times New Roman" panose="02020603050405020304" pitchFamily="18" charset="0"/>
                <a:cs typeface="Times New Roman" panose="02020603050405020304" pitchFamily="18" charset="0"/>
              </a:endParaRPr>
            </a:p>
          </p:txBody>
        </p:sp>
        <p:sp>
          <p:nvSpPr>
            <p:cNvPr id="108" name="文本框 107"/>
            <p:cNvSpPr txBox="1"/>
            <p:nvPr/>
          </p:nvSpPr>
          <p:spPr>
            <a:xfrm>
              <a:off x="3610454" y="4799092"/>
              <a:ext cx="642181" cy="444989"/>
            </a:xfrm>
            <a:prstGeom prst="rect">
              <a:avLst/>
            </a:prstGeom>
            <a:noFill/>
          </p:spPr>
          <p:txBody>
            <a:bodyPr wrap="square" rtlCol="0">
              <a:spAutoFit/>
            </a:bodyPr>
            <a:lstStyle/>
            <a:p>
              <a:pPr algn="ctr"/>
              <a:r>
                <a:rPr lang="en-US" altLang="zh-CN" sz="2200" dirty="0">
                  <a:latin typeface="Times New Roman" panose="02020603050405020304" pitchFamily="18" charset="0"/>
                  <a:cs typeface="Times New Roman" panose="02020603050405020304" pitchFamily="18" charset="0"/>
                </a:rPr>
                <a:t>F</a:t>
              </a:r>
              <a:endParaRPr lang="zh-CN" altLang="en-US" sz="2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09" name="文本框 108"/>
                <p:cNvSpPr txBox="1"/>
                <p:nvPr/>
              </p:nvSpPr>
              <p:spPr>
                <a:xfrm>
                  <a:off x="5242671" y="3864103"/>
                  <a:ext cx="642181" cy="44498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E</m:t>
                            </m:r>
                          </m:e>
                          <m:sub>
                            <m:r>
                              <a:rPr lang="en-US" altLang="zh-CN" sz="2200" b="0" i="0" smtClean="0">
                                <a:latin typeface="Cambria Math" panose="02040503050406030204" pitchFamily="18" charset="0"/>
                              </a:rPr>
                              <m:t>1</m:t>
                            </m:r>
                          </m:sub>
                        </m:sSub>
                      </m:oMath>
                    </m:oMathPara>
                  </a14:m>
                  <a:endParaRPr lang="zh-CN" altLang="en-US" sz="2200" dirty="0">
                    <a:latin typeface="Times New Roman" panose="02020603050405020304" pitchFamily="18" charset="0"/>
                    <a:cs typeface="Times New Roman" panose="02020603050405020304" pitchFamily="18" charset="0"/>
                  </a:endParaRPr>
                </a:p>
              </p:txBody>
            </p:sp>
          </mc:Choice>
          <mc:Fallback>
            <p:sp>
              <p:nvSpPr>
                <p:cNvPr id="109" name="文本框 108"/>
                <p:cNvSpPr txBox="1">
                  <a:spLocks noRot="1" noChangeAspect="1" noMove="1" noResize="1" noEditPoints="1" noAdjustHandles="1" noChangeArrowheads="1" noChangeShapeType="1" noTextEdit="1"/>
                </p:cNvSpPr>
                <p:nvPr/>
              </p:nvSpPr>
              <p:spPr>
                <a:xfrm>
                  <a:off x="5242671" y="3864103"/>
                  <a:ext cx="642181" cy="444989"/>
                </a:xfrm>
                <a:prstGeom prst="rect">
                  <a:avLst/>
                </a:prstGeom>
                <a:blipFill rotWithShape="1">
                  <a:blip r:embed="rId1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0" name="文本框 109"/>
                <p:cNvSpPr txBox="1"/>
                <p:nvPr/>
              </p:nvSpPr>
              <p:spPr>
                <a:xfrm>
                  <a:off x="5207086" y="4799092"/>
                  <a:ext cx="642181" cy="44498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F</m:t>
                            </m:r>
                          </m:e>
                          <m:sub>
                            <m:r>
                              <a:rPr lang="en-US" altLang="zh-CN" sz="2200" b="0" i="0" smtClean="0">
                                <a:latin typeface="Cambria Math" panose="02040503050406030204" pitchFamily="18" charset="0"/>
                              </a:rPr>
                              <m:t>1</m:t>
                            </m:r>
                          </m:sub>
                        </m:sSub>
                      </m:oMath>
                    </m:oMathPara>
                  </a14:m>
                  <a:endParaRPr lang="zh-CN" altLang="en-US" sz="2200" dirty="0">
                    <a:latin typeface="Times New Roman" panose="02020603050405020304" pitchFamily="18" charset="0"/>
                    <a:cs typeface="Times New Roman" panose="02020603050405020304" pitchFamily="18" charset="0"/>
                  </a:endParaRPr>
                </a:p>
              </p:txBody>
            </p:sp>
          </mc:Choice>
          <mc:Fallback>
            <p:sp>
              <p:nvSpPr>
                <p:cNvPr id="110" name="文本框 109"/>
                <p:cNvSpPr txBox="1">
                  <a:spLocks noRot="1" noChangeAspect="1" noMove="1" noResize="1" noEditPoints="1" noAdjustHandles="1" noChangeArrowheads="1" noChangeShapeType="1" noTextEdit="1"/>
                </p:cNvSpPr>
                <p:nvPr/>
              </p:nvSpPr>
              <p:spPr>
                <a:xfrm>
                  <a:off x="5207086" y="4799092"/>
                  <a:ext cx="642181" cy="444989"/>
                </a:xfrm>
                <a:prstGeom prst="rect">
                  <a:avLst/>
                </a:prstGeom>
                <a:blipFill rotWithShape="1">
                  <a:blip r:embed="rId1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1" name="文本框 110"/>
                <p:cNvSpPr txBox="1"/>
                <p:nvPr/>
              </p:nvSpPr>
              <p:spPr>
                <a:xfrm>
                  <a:off x="6642972" y="4074863"/>
                  <a:ext cx="642181" cy="44498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E</m:t>
                            </m:r>
                          </m:e>
                          <m:sub>
                            <m:r>
                              <a:rPr lang="en-US" altLang="zh-CN" sz="2200" b="0" i="0" smtClean="0">
                                <a:latin typeface="Cambria Math" panose="02040503050406030204" pitchFamily="18" charset="0"/>
                              </a:rPr>
                              <m:t>2</m:t>
                            </m:r>
                          </m:sub>
                        </m:sSub>
                      </m:oMath>
                    </m:oMathPara>
                  </a14:m>
                  <a:endParaRPr lang="zh-CN" altLang="en-US" sz="2200" dirty="0">
                    <a:latin typeface="Times New Roman" panose="02020603050405020304" pitchFamily="18" charset="0"/>
                    <a:cs typeface="Times New Roman" panose="02020603050405020304" pitchFamily="18" charset="0"/>
                  </a:endParaRPr>
                </a:p>
              </p:txBody>
            </p:sp>
          </mc:Choice>
          <mc:Fallback>
            <p:sp>
              <p:nvSpPr>
                <p:cNvPr id="111" name="文本框 110"/>
                <p:cNvSpPr txBox="1">
                  <a:spLocks noRot="1" noChangeAspect="1" noMove="1" noResize="1" noEditPoints="1" noAdjustHandles="1" noChangeArrowheads="1" noChangeShapeType="1" noTextEdit="1"/>
                </p:cNvSpPr>
                <p:nvPr/>
              </p:nvSpPr>
              <p:spPr>
                <a:xfrm>
                  <a:off x="6642972" y="4074863"/>
                  <a:ext cx="642181" cy="444989"/>
                </a:xfrm>
                <a:prstGeom prst="rect">
                  <a:avLst/>
                </a:prstGeom>
                <a:blipFill rotWithShape="1">
                  <a:blip r:embed="rId1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2" name="文本框 111"/>
                <p:cNvSpPr txBox="1"/>
                <p:nvPr/>
              </p:nvSpPr>
              <p:spPr>
                <a:xfrm>
                  <a:off x="6642502" y="4896791"/>
                  <a:ext cx="642181" cy="44498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F</m:t>
                            </m:r>
                          </m:e>
                          <m:sub>
                            <m:r>
                              <a:rPr lang="en-US" altLang="zh-CN" sz="2200" b="0" i="1" smtClean="0">
                                <a:latin typeface="Cambria Math" panose="02040503050406030204" pitchFamily="18" charset="0"/>
                              </a:rPr>
                              <m:t>2</m:t>
                            </m:r>
                          </m:sub>
                        </m:sSub>
                      </m:oMath>
                    </m:oMathPara>
                  </a14:m>
                  <a:endParaRPr lang="zh-CN" altLang="en-US" sz="2200" dirty="0">
                    <a:latin typeface="Times New Roman" panose="02020603050405020304" pitchFamily="18" charset="0"/>
                    <a:cs typeface="Times New Roman" panose="02020603050405020304" pitchFamily="18" charset="0"/>
                  </a:endParaRPr>
                </a:p>
              </p:txBody>
            </p:sp>
          </mc:Choice>
          <mc:Fallback>
            <p:sp>
              <p:nvSpPr>
                <p:cNvPr id="112" name="文本框 111"/>
                <p:cNvSpPr txBox="1">
                  <a:spLocks noRot="1" noChangeAspect="1" noMove="1" noResize="1" noEditPoints="1" noAdjustHandles="1" noChangeArrowheads="1" noChangeShapeType="1" noTextEdit="1"/>
                </p:cNvSpPr>
                <p:nvPr/>
              </p:nvSpPr>
              <p:spPr>
                <a:xfrm>
                  <a:off x="6642502" y="4896791"/>
                  <a:ext cx="642181" cy="444989"/>
                </a:xfrm>
                <a:prstGeom prst="rect">
                  <a:avLst/>
                </a:prstGeom>
                <a:blipFill rotWithShape="1">
                  <a:blip r:embed="rId18"/>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3" name="文本框 112"/>
                <p:cNvSpPr txBox="1"/>
                <p:nvPr/>
              </p:nvSpPr>
              <p:spPr>
                <a:xfrm>
                  <a:off x="7941045" y="4192599"/>
                  <a:ext cx="642181" cy="44498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G</m:t>
                            </m:r>
                          </m:e>
                          <m:sub>
                            <m:r>
                              <a:rPr lang="en-US" altLang="zh-CN" sz="2200" b="0" i="0" smtClean="0">
                                <a:latin typeface="Cambria Math" panose="02040503050406030204" pitchFamily="18" charset="0"/>
                              </a:rPr>
                              <m:t>1</m:t>
                            </m:r>
                          </m:sub>
                        </m:sSub>
                      </m:oMath>
                    </m:oMathPara>
                  </a14:m>
                  <a:endParaRPr lang="zh-CN" altLang="en-US" sz="2200" dirty="0">
                    <a:latin typeface="Times New Roman" panose="02020603050405020304" pitchFamily="18" charset="0"/>
                    <a:cs typeface="Times New Roman" panose="02020603050405020304" pitchFamily="18" charset="0"/>
                  </a:endParaRPr>
                </a:p>
              </p:txBody>
            </p:sp>
          </mc:Choice>
          <mc:Fallback>
            <p:sp>
              <p:nvSpPr>
                <p:cNvPr id="113" name="文本框 112"/>
                <p:cNvSpPr txBox="1">
                  <a:spLocks noRot="1" noChangeAspect="1" noMove="1" noResize="1" noEditPoints="1" noAdjustHandles="1" noChangeArrowheads="1" noChangeShapeType="1" noTextEdit="1"/>
                </p:cNvSpPr>
                <p:nvPr/>
              </p:nvSpPr>
              <p:spPr>
                <a:xfrm>
                  <a:off x="7941045" y="4192599"/>
                  <a:ext cx="642181" cy="444989"/>
                </a:xfrm>
                <a:prstGeom prst="rect">
                  <a:avLst/>
                </a:prstGeom>
                <a:blipFill rotWithShape="1">
                  <a:blip r:embed="rId1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4" name="文本框 113"/>
                <p:cNvSpPr txBox="1"/>
                <p:nvPr/>
              </p:nvSpPr>
              <p:spPr>
                <a:xfrm>
                  <a:off x="7963387" y="4899373"/>
                  <a:ext cx="642181" cy="44498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G</m:t>
                            </m:r>
                          </m:e>
                          <m:sub>
                            <m:r>
                              <a:rPr lang="en-US" altLang="zh-CN" sz="2200" b="0" i="0" smtClean="0">
                                <a:latin typeface="Cambria Math" panose="02040503050406030204" pitchFamily="18" charset="0"/>
                              </a:rPr>
                              <m:t>2</m:t>
                            </m:r>
                          </m:sub>
                        </m:sSub>
                      </m:oMath>
                    </m:oMathPara>
                  </a14:m>
                  <a:endParaRPr lang="zh-CN" altLang="en-US" sz="2200" dirty="0">
                    <a:latin typeface="Times New Roman" panose="02020603050405020304" pitchFamily="18" charset="0"/>
                    <a:cs typeface="Times New Roman" panose="02020603050405020304" pitchFamily="18" charset="0"/>
                  </a:endParaRPr>
                </a:p>
              </p:txBody>
            </p:sp>
          </mc:Choice>
          <mc:Fallback>
            <p:sp>
              <p:nvSpPr>
                <p:cNvPr id="114" name="文本框 113"/>
                <p:cNvSpPr txBox="1">
                  <a:spLocks noRot="1" noChangeAspect="1" noMove="1" noResize="1" noEditPoints="1" noAdjustHandles="1" noChangeArrowheads="1" noChangeShapeType="1" noTextEdit="1"/>
                </p:cNvSpPr>
                <p:nvPr/>
              </p:nvSpPr>
              <p:spPr>
                <a:xfrm>
                  <a:off x="7963387" y="4899373"/>
                  <a:ext cx="642181" cy="444989"/>
                </a:xfrm>
                <a:prstGeom prst="rect">
                  <a:avLst/>
                </a:prstGeom>
                <a:blipFill rotWithShape="1">
                  <a:blip r:embed="rId13"/>
                </a:blipFill>
              </p:spPr>
              <p:txBody>
                <a:bodyPr/>
                <a:lstStyle/>
                <a:p>
                  <a:r>
                    <a:rPr lang="zh-CN" altLang="en-US">
                      <a:noFill/>
                    </a:rPr>
                    <a:t> </a:t>
                  </a:r>
                </a:p>
              </p:txBody>
            </p:sp>
          </mc:Fallback>
        </mc:AlternateContent>
      </p:grpSp>
      <p:sp>
        <p:nvSpPr>
          <p:cNvPr id="71" name="文本框 70"/>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59"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）数据流图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60" name="矩形 59"/>
          <p:cNvSpPr/>
          <p:nvPr/>
        </p:nvSpPr>
        <p:spPr>
          <a:xfrm>
            <a:off x="3528207" y="1579200"/>
            <a:ext cx="7213681" cy="4799413"/>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7"/>
          <p:cNvSpPr>
            <a:spLocks noChangeArrowheads="1"/>
          </p:cNvSpPr>
          <p:nvPr/>
        </p:nvSpPr>
        <p:spPr bwMode="auto">
          <a:xfrm>
            <a:off x="5593984" y="1334125"/>
            <a:ext cx="3016616" cy="430887"/>
          </a:xfrm>
          <a:prstGeom prst="rect">
            <a:avLst/>
          </a:prstGeom>
          <a:solidFill>
            <a:schemeClr val="bg1"/>
          </a:solidFill>
          <a:ln>
            <a:solidFill>
              <a:srgbClr val="FF0000"/>
            </a:solidFill>
          </a:ln>
        </p:spPr>
        <p:txBody>
          <a:bodyPr wrap="square">
            <a:spAutoFit/>
          </a:bodyPr>
          <a:lstStyle/>
          <a:p>
            <a:pPr lvl="0" fontAlgn="base">
              <a:spcBef>
                <a:spcPct val="0"/>
              </a:spcBef>
              <a:spcAft>
                <a:spcPct val="0"/>
              </a:spcAft>
              <a:defRPr/>
            </a:pPr>
            <a:r>
              <a:rPr lang="zh-CN" altLang="en-US" sz="2200" b="1" kern="0" dirty="0">
                <a:solidFill>
                  <a:srgbClr val="FF0000"/>
                </a:solidFill>
                <a:latin typeface="宋体" panose="02010600030101010101" pitchFamily="2" charset="-122"/>
                <a:sym typeface="宋体" panose="02010600030101010101" pitchFamily="2" charset="-122"/>
              </a:rPr>
              <a:t>数据流图的分层示意图</a:t>
            </a:r>
            <a:endParaRPr lang="zh-CN" altLang="en-US" sz="2200" b="1" kern="0" dirty="0">
              <a:solidFill>
                <a:srgbClr val="FF0000"/>
              </a:solidFill>
              <a:latin typeface="宋体" panose="02010600030101010101" pitchFamily="2" charset="-122"/>
              <a:ea typeface="宋体" panose="02010600030101010101" pitchFamily="2" charset="-122"/>
              <a:sym typeface="宋体" panose="02010600030101010101" pitchFamily="2" charset="-122"/>
            </a:endParaRPr>
          </a:p>
        </p:txBody>
      </p:sp>
      <p:cxnSp>
        <p:nvCxnSpPr>
          <p:cNvPr id="4" name="直接连接符 3"/>
          <p:cNvCxnSpPr/>
          <p:nvPr/>
        </p:nvCxnSpPr>
        <p:spPr>
          <a:xfrm>
            <a:off x="1671782" y="2913070"/>
            <a:ext cx="9356436"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1831339" y="2416905"/>
            <a:ext cx="891591" cy="430887"/>
          </a:xfrm>
          <a:prstGeom prst="rect">
            <a:avLst/>
          </a:prstGeom>
          <a:noFill/>
        </p:spPr>
        <p:txBody>
          <a:bodyPr wrap="none" rtlCol="0">
            <a:spAutoFit/>
          </a:bodyPr>
          <a:lstStyle/>
          <a:p>
            <a:r>
              <a:rPr lang="zh-CN" altLang="en-US" sz="2200" dirty="0"/>
              <a:t>第</a:t>
            </a:r>
            <a:r>
              <a:rPr lang="en-US" altLang="zh-CN" sz="2200" dirty="0"/>
              <a:t>1</a:t>
            </a:r>
            <a:r>
              <a:rPr lang="zh-CN" altLang="en-US" sz="2200" dirty="0"/>
              <a:t>层</a:t>
            </a:r>
            <a:endParaRPr lang="zh-CN" altLang="en-US" sz="2200" dirty="0"/>
          </a:p>
        </p:txBody>
      </p:sp>
      <p:cxnSp>
        <p:nvCxnSpPr>
          <p:cNvPr id="66" name="直接连接符 65"/>
          <p:cNvCxnSpPr/>
          <p:nvPr/>
        </p:nvCxnSpPr>
        <p:spPr>
          <a:xfrm>
            <a:off x="1671162" y="4864221"/>
            <a:ext cx="9356436"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68" name="文本框 67"/>
          <p:cNvSpPr txBox="1"/>
          <p:nvPr/>
        </p:nvSpPr>
        <p:spPr>
          <a:xfrm>
            <a:off x="1830719" y="4368056"/>
            <a:ext cx="891591" cy="430887"/>
          </a:xfrm>
          <a:prstGeom prst="rect">
            <a:avLst/>
          </a:prstGeom>
          <a:noFill/>
        </p:spPr>
        <p:txBody>
          <a:bodyPr wrap="none" rtlCol="0">
            <a:spAutoFit/>
          </a:bodyPr>
          <a:lstStyle/>
          <a:p>
            <a:r>
              <a:rPr lang="zh-CN" altLang="en-US" sz="2200" dirty="0"/>
              <a:t>第</a:t>
            </a:r>
            <a:r>
              <a:rPr lang="en-US" altLang="zh-CN" sz="2200" dirty="0"/>
              <a:t>2</a:t>
            </a:r>
            <a:r>
              <a:rPr lang="zh-CN" altLang="en-US" sz="2200" dirty="0"/>
              <a:t>层</a:t>
            </a:r>
            <a:endParaRPr lang="zh-CN" altLang="en-US" sz="2200" dirty="0"/>
          </a:p>
        </p:txBody>
      </p:sp>
      <p:cxnSp>
        <p:nvCxnSpPr>
          <p:cNvPr id="69" name="直接连接符 68"/>
          <p:cNvCxnSpPr/>
          <p:nvPr/>
        </p:nvCxnSpPr>
        <p:spPr>
          <a:xfrm>
            <a:off x="1671162" y="6378614"/>
            <a:ext cx="9356436"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72" name="文本框 71"/>
          <p:cNvSpPr txBox="1"/>
          <p:nvPr/>
        </p:nvSpPr>
        <p:spPr>
          <a:xfrm>
            <a:off x="1830719" y="5882449"/>
            <a:ext cx="891591" cy="430887"/>
          </a:xfrm>
          <a:prstGeom prst="rect">
            <a:avLst/>
          </a:prstGeom>
          <a:noFill/>
        </p:spPr>
        <p:txBody>
          <a:bodyPr wrap="none" rtlCol="0">
            <a:spAutoFit/>
          </a:bodyPr>
          <a:lstStyle/>
          <a:p>
            <a:r>
              <a:rPr lang="zh-CN" altLang="en-US" sz="2200" dirty="0"/>
              <a:t>第</a:t>
            </a:r>
            <a:r>
              <a:rPr lang="en-US" altLang="zh-CN" sz="2200" dirty="0"/>
              <a:t>3</a:t>
            </a:r>
            <a:r>
              <a:rPr lang="zh-CN" altLang="en-US" sz="2200" dirty="0"/>
              <a:t>层</a:t>
            </a:r>
            <a:endParaRPr lang="zh-CN" altLang="en-US" sz="2200" dirty="0"/>
          </a:p>
        </p:txBody>
      </p:sp>
      <p:sp>
        <p:nvSpPr>
          <p:cNvPr id="2" name="日期占位符 1"/>
          <p:cNvSpPr>
            <a:spLocks noGrp="1"/>
          </p:cNvSpPr>
          <p:nvPr>
            <p:ph type="dt" sz="half" idx="10"/>
          </p:nvPr>
        </p:nvSpPr>
        <p:spPr/>
        <p:txBody>
          <a:bodyPr/>
          <a:lstStyle/>
          <a:p>
            <a:pPr>
              <a:defRPr/>
            </a:pPr>
            <a:fld id="{5CF22DE5-9A0A-4C9E-ADBF-2787729F0E24}" type="datetime1">
              <a:rPr lang="zh-CN" altLang="en-US" smtClean="0">
                <a:solidFill>
                  <a:prstClr val="black">
                    <a:tint val="75000"/>
                  </a:prstClr>
                </a:solidFill>
              </a:rPr>
            </a:fld>
            <a:endParaRPr lang="zh-CN" altLang="en-US" dirty="0">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additive="base">
                                        <p:cTn id="7" dur="500"/>
                                        <p:tgtEl>
                                          <p:spTgt spid="59"/>
                                        </p:tgtEl>
                                        <p:attrNameLst>
                                          <p:attrName>ppt_x</p:attrName>
                                        </p:attrNameLst>
                                      </p:cBhvr>
                                      <p:tavLst>
                                        <p:tav tm="0">
                                          <p:val>
                                            <p:strVal val="#ppt_x+#ppt_w*1.125000"/>
                                          </p:val>
                                        </p:tav>
                                        <p:tav tm="100000">
                                          <p:val>
                                            <p:strVal val="#ppt_x"/>
                                          </p:val>
                                        </p:tav>
                                      </p:tavLst>
                                    </p:anim>
                                    <p:animEffect transition="in" filter="wipe(left)">
                                      <p:cBhvr>
                                        <p:cTn id="8" dur="500"/>
                                        <p:tgtEl>
                                          <p:spTgt spid="59"/>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0" grpId="0" animBg="1"/>
      <p:bldP spid="61" grpId="0" animBg="1"/>
      <p:bldP spid="7" grpId="0"/>
      <p:bldP spid="68" grpId="0"/>
      <p:bldP spid="7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椭圆 7"/>
          <p:cNvSpPr/>
          <p:nvPr/>
        </p:nvSpPr>
        <p:spPr>
          <a:xfrm>
            <a:off x="2035844" y="3087632"/>
            <a:ext cx="1629923" cy="80291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10" name="直接箭头连接符 9"/>
          <p:cNvCxnSpPr>
            <a:stCxn id="8" idx="6"/>
          </p:cNvCxnSpPr>
          <p:nvPr/>
        </p:nvCxnSpPr>
        <p:spPr>
          <a:xfrm>
            <a:off x="3665767" y="3489091"/>
            <a:ext cx="96053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8" name="直接箭头连接符 37"/>
          <p:cNvCxnSpPr/>
          <p:nvPr/>
        </p:nvCxnSpPr>
        <p:spPr>
          <a:xfrm>
            <a:off x="941959" y="2850626"/>
            <a:ext cx="1125415" cy="47404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1" name="直接箭头连接符 40"/>
          <p:cNvCxnSpPr/>
          <p:nvPr/>
        </p:nvCxnSpPr>
        <p:spPr>
          <a:xfrm flipV="1">
            <a:off x="868218" y="3591899"/>
            <a:ext cx="1199156" cy="36933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8" name="文本框 17"/>
          <p:cNvSpPr txBox="1"/>
          <p:nvPr/>
        </p:nvSpPr>
        <p:spPr>
          <a:xfrm>
            <a:off x="5256405" y="2617087"/>
            <a:ext cx="1428309" cy="429895"/>
          </a:xfrm>
          <a:prstGeom prst="rect">
            <a:avLst/>
          </a:prstGeom>
          <a:noFill/>
        </p:spPr>
        <p:txBody>
          <a:bodyPr wrap="square" rtlCol="0">
            <a:spAutoFit/>
          </a:bodyPr>
          <a:lstStyle/>
          <a:p>
            <a:r>
              <a:rPr lang="zh-CN" altLang="en-US" sz="2200" b="1" dirty="0"/>
              <a:t>修改卡片</a:t>
            </a:r>
            <a:endParaRPr lang="zh-CN" altLang="en-US" sz="2200" b="1" dirty="0"/>
          </a:p>
        </p:txBody>
      </p:sp>
      <p:sp>
        <p:nvSpPr>
          <p:cNvPr id="58" name="文本框 57"/>
          <p:cNvSpPr txBox="1"/>
          <p:nvPr/>
        </p:nvSpPr>
        <p:spPr>
          <a:xfrm>
            <a:off x="838200" y="3950030"/>
            <a:ext cx="1384236" cy="429895"/>
          </a:xfrm>
          <a:prstGeom prst="rect">
            <a:avLst/>
          </a:prstGeom>
          <a:noFill/>
        </p:spPr>
        <p:txBody>
          <a:bodyPr wrap="square" rtlCol="0">
            <a:spAutoFit/>
          </a:bodyPr>
          <a:lstStyle/>
          <a:p>
            <a:r>
              <a:rPr lang="zh-CN" altLang="en-US" sz="2200" b="1" dirty="0"/>
              <a:t>旧主文件</a:t>
            </a:r>
            <a:endParaRPr lang="zh-CN" altLang="en-US" sz="2200" b="1" dirty="0"/>
          </a:p>
        </p:txBody>
      </p:sp>
      <p:sp>
        <p:nvSpPr>
          <p:cNvPr id="59" name="文本框 58"/>
          <p:cNvSpPr txBox="1"/>
          <p:nvPr/>
        </p:nvSpPr>
        <p:spPr>
          <a:xfrm>
            <a:off x="3588537" y="3119758"/>
            <a:ext cx="1385841" cy="429895"/>
          </a:xfrm>
          <a:prstGeom prst="rect">
            <a:avLst/>
          </a:prstGeom>
          <a:noFill/>
        </p:spPr>
        <p:txBody>
          <a:bodyPr wrap="square" rtlCol="0">
            <a:spAutoFit/>
          </a:bodyPr>
          <a:lstStyle/>
          <a:p>
            <a:r>
              <a:rPr lang="zh-CN" altLang="en-US" sz="2200" b="1" dirty="0"/>
              <a:t>新主文件</a:t>
            </a:r>
            <a:endParaRPr lang="zh-CN" altLang="en-US" sz="2200" b="1" dirty="0"/>
          </a:p>
        </p:txBody>
      </p:sp>
      <p:sp>
        <p:nvSpPr>
          <p:cNvPr id="60" name="文本框 59"/>
          <p:cNvSpPr txBox="1"/>
          <p:nvPr/>
        </p:nvSpPr>
        <p:spPr>
          <a:xfrm>
            <a:off x="1985612" y="3281513"/>
            <a:ext cx="1839147" cy="429895"/>
          </a:xfrm>
          <a:prstGeom prst="rect">
            <a:avLst/>
          </a:prstGeom>
          <a:noFill/>
        </p:spPr>
        <p:txBody>
          <a:bodyPr wrap="square" rtlCol="0">
            <a:spAutoFit/>
          </a:bodyPr>
          <a:lstStyle/>
          <a:p>
            <a:r>
              <a:rPr lang="en-US" altLang="zh-CN" sz="2200" b="1" dirty="0"/>
              <a:t>1.</a:t>
            </a:r>
            <a:r>
              <a:rPr lang="zh-CN" altLang="en-US" sz="2200" b="1" dirty="0"/>
              <a:t>修改主文件</a:t>
            </a:r>
            <a:endParaRPr lang="zh-CN" altLang="en-US" sz="2200" b="1" dirty="0"/>
          </a:p>
        </p:txBody>
      </p:sp>
      <p:sp>
        <p:nvSpPr>
          <p:cNvPr id="19" name="椭圆 18"/>
          <p:cNvSpPr/>
          <p:nvPr/>
        </p:nvSpPr>
        <p:spPr>
          <a:xfrm>
            <a:off x="6496968" y="2713025"/>
            <a:ext cx="1976729" cy="66449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rPr>
              <a:t>1.1 </a:t>
            </a:r>
            <a:r>
              <a:rPr lang="zh-CN" altLang="en-US" sz="2200" b="1" dirty="0">
                <a:solidFill>
                  <a:schemeClr val="tx1"/>
                </a:solidFill>
              </a:rPr>
              <a:t>产生修改信息</a:t>
            </a:r>
            <a:endParaRPr lang="zh-CN" altLang="en-US" sz="2200" b="1" dirty="0">
              <a:solidFill>
                <a:schemeClr val="tx1"/>
              </a:solidFill>
            </a:endParaRPr>
          </a:p>
        </p:txBody>
      </p:sp>
      <p:sp>
        <p:nvSpPr>
          <p:cNvPr id="61" name="椭圆 60"/>
          <p:cNvSpPr/>
          <p:nvPr/>
        </p:nvSpPr>
        <p:spPr>
          <a:xfrm>
            <a:off x="6481388" y="3570228"/>
            <a:ext cx="1845782" cy="66449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rPr>
              <a:t>1.2 </a:t>
            </a:r>
            <a:r>
              <a:rPr lang="zh-CN" altLang="en-US" sz="2200" b="1" dirty="0">
                <a:solidFill>
                  <a:schemeClr val="tx1"/>
                </a:solidFill>
              </a:rPr>
              <a:t>产生记录</a:t>
            </a:r>
            <a:endParaRPr lang="zh-CN" altLang="en-US" sz="2200" b="1" dirty="0">
              <a:solidFill>
                <a:schemeClr val="tx1"/>
              </a:solidFill>
            </a:endParaRPr>
          </a:p>
        </p:txBody>
      </p:sp>
      <p:sp>
        <p:nvSpPr>
          <p:cNvPr id="62" name="椭圆 61"/>
          <p:cNvSpPr/>
          <p:nvPr/>
        </p:nvSpPr>
        <p:spPr>
          <a:xfrm>
            <a:off x="8788184" y="3189731"/>
            <a:ext cx="1830202" cy="66449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rPr>
              <a:t>1.3 </a:t>
            </a:r>
            <a:r>
              <a:rPr lang="zh-CN" altLang="en-US" sz="2200" b="1" dirty="0">
                <a:solidFill>
                  <a:schemeClr val="tx1"/>
                </a:solidFill>
              </a:rPr>
              <a:t>产生新文件</a:t>
            </a:r>
            <a:endParaRPr lang="zh-CN" altLang="en-US" sz="2200" b="1" dirty="0">
              <a:solidFill>
                <a:schemeClr val="tx1"/>
              </a:solidFill>
            </a:endParaRPr>
          </a:p>
        </p:txBody>
      </p:sp>
      <p:cxnSp>
        <p:nvCxnSpPr>
          <p:cNvPr id="63" name="直接箭头连接符 62"/>
          <p:cNvCxnSpPr/>
          <p:nvPr/>
        </p:nvCxnSpPr>
        <p:spPr>
          <a:xfrm>
            <a:off x="5374421" y="3046567"/>
            <a:ext cx="112254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4" name="直接箭头连接符 63"/>
          <p:cNvCxnSpPr/>
          <p:nvPr/>
        </p:nvCxnSpPr>
        <p:spPr>
          <a:xfrm>
            <a:off x="5381200" y="3915596"/>
            <a:ext cx="111576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5" name="直接箭头连接符 64"/>
          <p:cNvCxnSpPr>
            <a:stCxn id="19" idx="6"/>
            <a:endCxn id="62" idx="1"/>
          </p:cNvCxnSpPr>
          <p:nvPr/>
        </p:nvCxnSpPr>
        <p:spPr>
          <a:xfrm>
            <a:off x="8473697" y="3045272"/>
            <a:ext cx="582514" cy="2417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6" name="直接箭头连接符 65"/>
          <p:cNvCxnSpPr>
            <a:stCxn id="61" idx="6"/>
            <a:endCxn id="62" idx="3"/>
          </p:cNvCxnSpPr>
          <p:nvPr/>
        </p:nvCxnSpPr>
        <p:spPr>
          <a:xfrm flipV="1">
            <a:off x="8327170" y="3756911"/>
            <a:ext cx="729041" cy="14556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7" name="直接箭头连接符 66"/>
          <p:cNvCxnSpPr>
            <a:stCxn id="62" idx="6"/>
          </p:cNvCxnSpPr>
          <p:nvPr/>
        </p:nvCxnSpPr>
        <p:spPr>
          <a:xfrm>
            <a:off x="10618386" y="3521978"/>
            <a:ext cx="966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8" name="文本框 67"/>
          <p:cNvSpPr txBox="1"/>
          <p:nvPr/>
        </p:nvSpPr>
        <p:spPr>
          <a:xfrm>
            <a:off x="1265607" y="2650748"/>
            <a:ext cx="1344330" cy="429895"/>
          </a:xfrm>
          <a:prstGeom prst="rect">
            <a:avLst/>
          </a:prstGeom>
          <a:noFill/>
        </p:spPr>
        <p:txBody>
          <a:bodyPr wrap="square" rtlCol="0">
            <a:spAutoFit/>
          </a:bodyPr>
          <a:lstStyle/>
          <a:p>
            <a:r>
              <a:rPr lang="zh-CN" altLang="en-US" sz="2200" b="1" dirty="0"/>
              <a:t>修改卡片</a:t>
            </a:r>
            <a:endParaRPr lang="zh-CN" altLang="en-US" sz="2200" b="1" dirty="0"/>
          </a:p>
        </p:txBody>
      </p:sp>
      <p:sp>
        <p:nvSpPr>
          <p:cNvPr id="69" name="文本框 68"/>
          <p:cNvSpPr txBox="1"/>
          <p:nvPr/>
        </p:nvSpPr>
        <p:spPr>
          <a:xfrm>
            <a:off x="5288865" y="3518228"/>
            <a:ext cx="1315040" cy="429895"/>
          </a:xfrm>
          <a:prstGeom prst="rect">
            <a:avLst/>
          </a:prstGeom>
          <a:noFill/>
        </p:spPr>
        <p:txBody>
          <a:bodyPr wrap="square" rtlCol="0">
            <a:spAutoFit/>
          </a:bodyPr>
          <a:lstStyle/>
          <a:p>
            <a:r>
              <a:rPr lang="zh-CN" altLang="en-US" sz="2200" b="1" dirty="0"/>
              <a:t>旧主文件</a:t>
            </a:r>
            <a:endParaRPr lang="zh-CN" altLang="en-US" sz="2200" b="1" dirty="0"/>
          </a:p>
        </p:txBody>
      </p:sp>
      <p:sp>
        <p:nvSpPr>
          <p:cNvPr id="70" name="文本框 69"/>
          <p:cNvSpPr txBox="1"/>
          <p:nvPr/>
        </p:nvSpPr>
        <p:spPr>
          <a:xfrm>
            <a:off x="8407124" y="2792481"/>
            <a:ext cx="1428309" cy="429895"/>
          </a:xfrm>
          <a:prstGeom prst="rect">
            <a:avLst/>
          </a:prstGeom>
          <a:noFill/>
        </p:spPr>
        <p:txBody>
          <a:bodyPr wrap="square" rtlCol="0">
            <a:spAutoFit/>
          </a:bodyPr>
          <a:lstStyle/>
          <a:p>
            <a:r>
              <a:rPr lang="zh-CN" altLang="en-US" sz="2200" b="1" dirty="0"/>
              <a:t>修改信息</a:t>
            </a:r>
            <a:endParaRPr lang="zh-CN" altLang="en-US" sz="2200" b="1" dirty="0"/>
          </a:p>
        </p:txBody>
      </p:sp>
      <p:sp>
        <p:nvSpPr>
          <p:cNvPr id="71" name="文本框 70"/>
          <p:cNvSpPr txBox="1"/>
          <p:nvPr/>
        </p:nvSpPr>
        <p:spPr>
          <a:xfrm>
            <a:off x="8445713" y="3850094"/>
            <a:ext cx="1125415" cy="429895"/>
          </a:xfrm>
          <a:prstGeom prst="rect">
            <a:avLst/>
          </a:prstGeom>
          <a:noFill/>
        </p:spPr>
        <p:txBody>
          <a:bodyPr wrap="square" rtlCol="0">
            <a:spAutoFit/>
          </a:bodyPr>
          <a:lstStyle/>
          <a:p>
            <a:r>
              <a:rPr lang="zh-CN" altLang="en-US" sz="2200" b="1" dirty="0"/>
              <a:t>记录</a:t>
            </a:r>
            <a:endParaRPr lang="zh-CN" altLang="en-US" sz="2200" b="1" dirty="0"/>
          </a:p>
        </p:txBody>
      </p:sp>
      <p:sp>
        <p:nvSpPr>
          <p:cNvPr id="72" name="文本框 71"/>
          <p:cNvSpPr txBox="1"/>
          <p:nvPr/>
        </p:nvSpPr>
        <p:spPr>
          <a:xfrm>
            <a:off x="10552991" y="3169611"/>
            <a:ext cx="1392669" cy="429895"/>
          </a:xfrm>
          <a:prstGeom prst="rect">
            <a:avLst/>
          </a:prstGeom>
          <a:noFill/>
        </p:spPr>
        <p:txBody>
          <a:bodyPr wrap="square" rtlCol="0">
            <a:spAutoFit/>
          </a:bodyPr>
          <a:lstStyle/>
          <a:p>
            <a:r>
              <a:rPr lang="zh-CN" altLang="en-US" sz="2200" b="1" dirty="0"/>
              <a:t>新主文件</a:t>
            </a:r>
            <a:endParaRPr lang="zh-CN" altLang="en-US" sz="2200" b="1" dirty="0"/>
          </a:p>
        </p:txBody>
      </p:sp>
      <p:sp>
        <p:nvSpPr>
          <p:cNvPr id="39" name="文本框 38"/>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6"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）数据流图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40" name="矩形 39"/>
          <p:cNvSpPr/>
          <p:nvPr/>
        </p:nvSpPr>
        <p:spPr>
          <a:xfrm>
            <a:off x="613161" y="2362663"/>
            <a:ext cx="4071535" cy="2437942"/>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67"/>
          <p:cNvSpPr>
            <a:spLocks noChangeArrowheads="1"/>
          </p:cNvSpPr>
          <p:nvPr/>
        </p:nvSpPr>
        <p:spPr bwMode="auto">
          <a:xfrm>
            <a:off x="1198289" y="2162785"/>
            <a:ext cx="3101037" cy="430887"/>
          </a:xfrm>
          <a:prstGeom prst="rect">
            <a:avLst/>
          </a:prstGeom>
          <a:solidFill>
            <a:schemeClr val="bg1"/>
          </a:solidFill>
          <a:ln>
            <a:solidFill>
              <a:srgbClr val="FF0000"/>
            </a:solidFill>
          </a:ln>
        </p:spPr>
        <p:txBody>
          <a:bodyPr wrap="square">
            <a:spAutoFit/>
          </a:bodyPr>
          <a:lstStyle/>
          <a:p>
            <a:pPr lvl="0" fontAlgn="base">
              <a:spcBef>
                <a:spcPct val="0"/>
              </a:spcBef>
              <a:spcAft>
                <a:spcPct val="0"/>
              </a:spcAft>
              <a:defRPr/>
            </a:pPr>
            <a:r>
              <a:rPr lang="zh-CN" altLang="en-US" sz="2200" b="1" kern="0" dirty="0">
                <a:solidFill>
                  <a:srgbClr val="FF0000"/>
                </a:solidFill>
                <a:latin typeface="宋体" panose="02010600030101010101" pitchFamily="2" charset="-122"/>
                <a:sym typeface="宋体" panose="02010600030101010101" pitchFamily="2" charset="-122"/>
              </a:rPr>
              <a:t>某系统的顶层数据流图</a:t>
            </a:r>
            <a:endParaRPr lang="zh-CN" altLang="en-US" sz="2200" b="1" kern="0" dirty="0">
              <a:solidFill>
                <a:srgbClr val="FF0000"/>
              </a:solidFill>
              <a:latin typeface="宋体" panose="02010600030101010101" pitchFamily="2" charset="-122"/>
              <a:ea typeface="宋体" panose="02010600030101010101" pitchFamily="2" charset="-122"/>
              <a:sym typeface="宋体" panose="02010600030101010101" pitchFamily="2" charset="-122"/>
            </a:endParaRPr>
          </a:p>
        </p:txBody>
      </p:sp>
      <p:sp>
        <p:nvSpPr>
          <p:cNvPr id="43" name="矩形 42"/>
          <p:cNvSpPr/>
          <p:nvPr/>
        </p:nvSpPr>
        <p:spPr>
          <a:xfrm>
            <a:off x="5341653" y="2372928"/>
            <a:ext cx="6388529" cy="2437942"/>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67"/>
          <p:cNvSpPr>
            <a:spLocks noChangeArrowheads="1"/>
          </p:cNvSpPr>
          <p:nvPr/>
        </p:nvSpPr>
        <p:spPr bwMode="auto">
          <a:xfrm>
            <a:off x="6374921" y="2154518"/>
            <a:ext cx="4243465" cy="430887"/>
          </a:xfrm>
          <a:prstGeom prst="rect">
            <a:avLst/>
          </a:prstGeom>
          <a:solidFill>
            <a:schemeClr val="bg1"/>
          </a:solidFill>
          <a:ln>
            <a:solidFill>
              <a:srgbClr val="FF0000"/>
            </a:solidFill>
          </a:ln>
        </p:spPr>
        <p:txBody>
          <a:bodyPr wrap="square">
            <a:spAutoFit/>
          </a:bodyPr>
          <a:lstStyle/>
          <a:p>
            <a:pPr lvl="0" fontAlgn="base">
              <a:spcBef>
                <a:spcPct val="0"/>
              </a:spcBef>
              <a:spcAft>
                <a:spcPct val="0"/>
              </a:spcAft>
              <a:defRPr/>
            </a:pPr>
            <a:r>
              <a:rPr lang="zh-CN" altLang="en-US" sz="2200" b="1" kern="0" dirty="0">
                <a:solidFill>
                  <a:srgbClr val="FF0000"/>
                </a:solidFill>
                <a:latin typeface="宋体" panose="02010600030101010101" pitchFamily="2" charset="-122"/>
                <a:sym typeface="宋体" panose="02010600030101010101" pitchFamily="2" charset="-122"/>
              </a:rPr>
              <a:t>某系统细化后的第一层数据流图</a:t>
            </a:r>
            <a:endParaRPr lang="zh-CN" altLang="en-US" sz="2200" b="1" kern="0" dirty="0">
              <a:solidFill>
                <a:srgbClr val="FF0000"/>
              </a:solidFill>
              <a:latin typeface="宋体" panose="02010600030101010101" pitchFamily="2" charset="-122"/>
              <a:ea typeface="宋体" panose="02010600030101010101" pitchFamily="2" charset="-122"/>
              <a:sym typeface="宋体" panose="02010600030101010101" pitchFamily="2" charset="-122"/>
            </a:endParaRPr>
          </a:p>
        </p:txBody>
      </p:sp>
      <p:sp>
        <p:nvSpPr>
          <p:cNvPr id="15" name="箭头: 右 14"/>
          <p:cNvSpPr/>
          <p:nvPr/>
        </p:nvSpPr>
        <p:spPr>
          <a:xfrm>
            <a:off x="4855393" y="3377519"/>
            <a:ext cx="302716" cy="4807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日期占位符 1"/>
          <p:cNvSpPr>
            <a:spLocks noGrp="1"/>
          </p:cNvSpPr>
          <p:nvPr>
            <p:ph type="dt" sz="half" idx="10"/>
          </p:nvPr>
        </p:nvSpPr>
        <p:spPr/>
        <p:txBody>
          <a:bodyPr/>
          <a:lstStyle/>
          <a:p>
            <a:pPr>
              <a:defRPr/>
            </a:pPr>
            <a:fld id="{8EA77A33-F015-4009-BC26-D56D51DCB94E}"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p:tgtEl>
                                          <p:spTgt spid="26"/>
                                        </p:tgtEl>
                                        <p:attrNameLst>
                                          <p:attrName>ppt_x</p:attrName>
                                        </p:attrNameLst>
                                      </p:cBhvr>
                                      <p:tavLst>
                                        <p:tav tm="0">
                                          <p:val>
                                            <p:strVal val="#ppt_x+#ppt_w*1.125000"/>
                                          </p:val>
                                        </p:tav>
                                        <p:tav tm="100000">
                                          <p:val>
                                            <p:strVal val="#ppt_x"/>
                                          </p:val>
                                        </p:tav>
                                      </p:tavLst>
                                    </p:anim>
                                    <p:animEffect transition="in" filter="wipe(left)">
                                      <p:cBhvr>
                                        <p:cTn id="8" dur="500"/>
                                        <p:tgtEl>
                                          <p:spTgt spid="26"/>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8" grpId="0"/>
      <p:bldP spid="58" grpId="0"/>
      <p:bldP spid="59" grpId="0"/>
      <p:bldP spid="60" grpId="0"/>
      <p:bldP spid="19" grpId="0" animBg="1"/>
      <p:bldP spid="61" grpId="0" animBg="1"/>
      <p:bldP spid="62" grpId="0" animBg="1"/>
      <p:bldP spid="68" grpId="0"/>
      <p:bldP spid="69" grpId="0"/>
      <p:bldP spid="70" grpId="0"/>
      <p:bldP spid="71" grpId="0"/>
      <p:bldP spid="72" grpId="0"/>
      <p:bldP spid="26" grpId="0"/>
      <p:bldP spid="40" grpId="0" animBg="1"/>
      <p:bldP spid="42" grpId="0" animBg="1"/>
      <p:bldP spid="43" grpId="0" animBg="1"/>
      <p:bldP spid="44" grpId="0" animBg="1"/>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7" name="组合 136"/>
          <p:cNvGrpSpPr/>
          <p:nvPr/>
        </p:nvGrpSpPr>
        <p:grpSpPr>
          <a:xfrm>
            <a:off x="421414" y="2320481"/>
            <a:ext cx="6274277" cy="2536216"/>
            <a:chOff x="1895877" y="540220"/>
            <a:chExt cx="6716536" cy="2607210"/>
          </a:xfrm>
        </p:grpSpPr>
        <p:cxnSp>
          <p:nvCxnSpPr>
            <p:cNvPr id="7" name="直接箭头连接符 6"/>
            <p:cNvCxnSpPr/>
            <p:nvPr/>
          </p:nvCxnSpPr>
          <p:spPr>
            <a:xfrm flipV="1">
              <a:off x="2131675" y="905213"/>
              <a:ext cx="931050" cy="9187"/>
            </a:xfrm>
            <a:prstGeom prst="straightConnector1">
              <a:avLst/>
            </a:prstGeom>
            <a:ln w="12700">
              <a:tailEnd type="triangle"/>
            </a:ln>
          </p:spPr>
          <p:style>
            <a:lnRef idx="3">
              <a:schemeClr val="dk1"/>
            </a:lnRef>
            <a:fillRef idx="0">
              <a:schemeClr val="dk1"/>
            </a:fillRef>
            <a:effectRef idx="2">
              <a:schemeClr val="dk1"/>
            </a:effectRef>
            <a:fontRef idx="minor">
              <a:schemeClr val="tx1"/>
            </a:fontRef>
          </p:style>
        </p:cxnSp>
        <p:sp>
          <p:nvSpPr>
            <p:cNvPr id="9" name="椭圆 8"/>
            <p:cNvSpPr/>
            <p:nvPr/>
          </p:nvSpPr>
          <p:spPr>
            <a:xfrm>
              <a:off x="2956088" y="761007"/>
              <a:ext cx="1106478" cy="110647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solidFill>
                  <a:schemeClr val="tx1"/>
                </a:solidFill>
              </a:endParaRPr>
            </a:p>
          </p:txBody>
        </p:sp>
        <p:cxnSp>
          <p:nvCxnSpPr>
            <p:cNvPr id="11" name="直接箭头连接符 10"/>
            <p:cNvCxnSpPr>
              <a:stCxn id="9" idx="6"/>
            </p:cNvCxnSpPr>
            <p:nvPr/>
          </p:nvCxnSpPr>
          <p:spPr>
            <a:xfrm flipV="1">
              <a:off x="4062567" y="1076180"/>
              <a:ext cx="784795" cy="238067"/>
            </a:xfrm>
            <a:prstGeom prst="straightConnector1">
              <a:avLst/>
            </a:prstGeom>
            <a:ln w="12700">
              <a:tailEnd type="triangle"/>
            </a:ln>
          </p:spPr>
          <p:style>
            <a:lnRef idx="3">
              <a:schemeClr val="dk1"/>
            </a:lnRef>
            <a:fillRef idx="0">
              <a:schemeClr val="dk1"/>
            </a:fillRef>
            <a:effectRef idx="2">
              <a:schemeClr val="dk1"/>
            </a:effectRef>
            <a:fontRef idx="minor">
              <a:schemeClr val="tx1"/>
            </a:fontRef>
          </p:style>
        </p:cxnSp>
        <p:cxnSp>
          <p:nvCxnSpPr>
            <p:cNvPr id="84" name="直接箭头连接符 83"/>
            <p:cNvCxnSpPr>
              <a:stCxn id="9" idx="6"/>
              <a:endCxn id="85" idx="2"/>
            </p:cNvCxnSpPr>
            <p:nvPr/>
          </p:nvCxnSpPr>
          <p:spPr>
            <a:xfrm>
              <a:off x="4062567" y="1314247"/>
              <a:ext cx="623021" cy="613855"/>
            </a:xfrm>
            <a:prstGeom prst="straightConnector1">
              <a:avLst/>
            </a:prstGeom>
            <a:ln w="12700">
              <a:tailEnd type="triangle"/>
            </a:ln>
          </p:spPr>
          <p:style>
            <a:lnRef idx="3">
              <a:schemeClr val="dk1"/>
            </a:lnRef>
            <a:fillRef idx="0">
              <a:schemeClr val="dk1"/>
            </a:fillRef>
            <a:effectRef idx="2">
              <a:schemeClr val="dk1"/>
            </a:effectRef>
            <a:fontRef idx="minor">
              <a:schemeClr val="tx1"/>
            </a:fontRef>
          </p:style>
        </p:cxnSp>
        <p:sp>
          <p:nvSpPr>
            <p:cNvPr id="85" name="椭圆 84"/>
            <p:cNvSpPr/>
            <p:nvPr/>
          </p:nvSpPr>
          <p:spPr>
            <a:xfrm>
              <a:off x="4685588" y="1374862"/>
              <a:ext cx="1106478" cy="110647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solidFill>
                  <a:schemeClr val="tx1"/>
                </a:solidFill>
              </a:endParaRPr>
            </a:p>
          </p:txBody>
        </p:sp>
        <p:cxnSp>
          <p:nvCxnSpPr>
            <p:cNvPr id="87" name="直接箭头连接符 86"/>
            <p:cNvCxnSpPr>
              <a:stCxn id="85" idx="6"/>
            </p:cNvCxnSpPr>
            <p:nvPr/>
          </p:nvCxnSpPr>
          <p:spPr>
            <a:xfrm flipV="1">
              <a:off x="5792066" y="1699849"/>
              <a:ext cx="793752" cy="228253"/>
            </a:xfrm>
            <a:prstGeom prst="straightConnector1">
              <a:avLst/>
            </a:prstGeom>
            <a:ln w="12700">
              <a:tailEnd type="triangle"/>
            </a:ln>
          </p:spPr>
          <p:style>
            <a:lnRef idx="3">
              <a:schemeClr val="dk1"/>
            </a:lnRef>
            <a:fillRef idx="0">
              <a:schemeClr val="dk1"/>
            </a:fillRef>
            <a:effectRef idx="2">
              <a:schemeClr val="dk1"/>
            </a:effectRef>
            <a:fontRef idx="minor">
              <a:schemeClr val="tx1"/>
            </a:fontRef>
          </p:style>
        </p:cxnSp>
        <p:cxnSp>
          <p:nvCxnSpPr>
            <p:cNvPr id="88" name="直接箭头连接符 87"/>
            <p:cNvCxnSpPr>
              <a:stCxn id="85" idx="6"/>
              <a:endCxn id="89" idx="2"/>
            </p:cNvCxnSpPr>
            <p:nvPr/>
          </p:nvCxnSpPr>
          <p:spPr>
            <a:xfrm>
              <a:off x="5792067" y="1928102"/>
              <a:ext cx="659057" cy="516431"/>
            </a:xfrm>
            <a:prstGeom prst="straightConnector1">
              <a:avLst/>
            </a:prstGeom>
            <a:ln w="12700">
              <a:tailEnd type="triangle"/>
            </a:ln>
          </p:spPr>
          <p:style>
            <a:lnRef idx="3">
              <a:schemeClr val="dk1"/>
            </a:lnRef>
            <a:fillRef idx="0">
              <a:schemeClr val="dk1"/>
            </a:fillRef>
            <a:effectRef idx="2">
              <a:schemeClr val="dk1"/>
            </a:effectRef>
            <a:fontRef idx="minor">
              <a:schemeClr val="tx1"/>
            </a:fontRef>
          </p:style>
        </p:cxnSp>
        <p:sp>
          <p:nvSpPr>
            <p:cNvPr id="89" name="椭圆 88"/>
            <p:cNvSpPr/>
            <p:nvPr/>
          </p:nvSpPr>
          <p:spPr>
            <a:xfrm>
              <a:off x="6451124" y="1829560"/>
              <a:ext cx="1173826" cy="122994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2" name="直接箭头连接符 91"/>
            <p:cNvCxnSpPr>
              <a:stCxn id="89" idx="6"/>
            </p:cNvCxnSpPr>
            <p:nvPr/>
          </p:nvCxnSpPr>
          <p:spPr>
            <a:xfrm>
              <a:off x="7624950" y="2444533"/>
              <a:ext cx="830869" cy="702897"/>
            </a:xfrm>
            <a:prstGeom prst="straightConnector1">
              <a:avLst/>
            </a:prstGeom>
            <a:ln w="12700">
              <a:tailEnd type="triangle"/>
            </a:ln>
          </p:spPr>
          <p:style>
            <a:lnRef idx="3">
              <a:schemeClr val="dk1"/>
            </a:lnRef>
            <a:fillRef idx="0">
              <a:schemeClr val="dk1"/>
            </a:fillRef>
            <a:effectRef idx="2">
              <a:schemeClr val="dk1"/>
            </a:effectRef>
            <a:fontRef idx="minor">
              <a:schemeClr val="tx1"/>
            </a:fontRef>
          </p:style>
        </p:cxnSp>
        <p:sp>
          <p:nvSpPr>
            <p:cNvPr id="93" name="文本框 92"/>
            <p:cNvSpPr txBox="1"/>
            <p:nvPr/>
          </p:nvSpPr>
          <p:spPr>
            <a:xfrm>
              <a:off x="2875930" y="986411"/>
              <a:ext cx="1249178" cy="789858"/>
            </a:xfrm>
            <a:prstGeom prst="rect">
              <a:avLst/>
            </a:prstGeom>
            <a:noFill/>
            <a:ln>
              <a:noFill/>
            </a:ln>
          </p:spPr>
          <p:txBody>
            <a:bodyPr wrap="square" rtlCol="0">
              <a:spAutoFit/>
            </a:bodyPr>
            <a:lstStyle/>
            <a:p>
              <a:pPr algn="ctr"/>
              <a:r>
                <a:rPr lang="en-US" altLang="zh-CN" sz="2200" b="1" dirty="0"/>
                <a:t>1.1.1 </a:t>
              </a:r>
              <a:r>
                <a:rPr lang="zh-CN" altLang="en-US" sz="2200" b="1" dirty="0"/>
                <a:t>检查顺序</a:t>
              </a:r>
              <a:endParaRPr lang="zh-CN" altLang="en-US" sz="2200" b="1" dirty="0"/>
            </a:p>
          </p:txBody>
        </p:sp>
        <p:sp>
          <p:nvSpPr>
            <p:cNvPr id="122" name="文本框 121"/>
            <p:cNvSpPr txBox="1"/>
            <p:nvPr/>
          </p:nvSpPr>
          <p:spPr>
            <a:xfrm>
              <a:off x="4734713" y="1534902"/>
              <a:ext cx="1045673" cy="790979"/>
            </a:xfrm>
            <a:prstGeom prst="rect">
              <a:avLst/>
            </a:prstGeom>
            <a:noFill/>
            <a:ln>
              <a:noFill/>
            </a:ln>
          </p:spPr>
          <p:txBody>
            <a:bodyPr wrap="square" rtlCol="0">
              <a:spAutoFit/>
            </a:bodyPr>
            <a:lstStyle/>
            <a:p>
              <a:pPr algn="ctr"/>
              <a:r>
                <a:rPr lang="en-US" altLang="zh-CN" sz="2200" dirty="0"/>
                <a:t>1.1.2 </a:t>
              </a:r>
              <a:r>
                <a:rPr lang="zh-CN" altLang="en-US" sz="2200" dirty="0"/>
                <a:t>编辑</a:t>
              </a:r>
              <a:endParaRPr lang="zh-CN" altLang="en-US" sz="2200" dirty="0"/>
            </a:p>
          </p:txBody>
        </p:sp>
        <p:sp>
          <p:nvSpPr>
            <p:cNvPr id="123" name="文本框 122"/>
            <p:cNvSpPr txBox="1"/>
            <p:nvPr/>
          </p:nvSpPr>
          <p:spPr>
            <a:xfrm>
              <a:off x="6469713" y="1911835"/>
              <a:ext cx="1173826" cy="1137787"/>
            </a:xfrm>
            <a:prstGeom prst="rect">
              <a:avLst/>
            </a:prstGeom>
            <a:noFill/>
            <a:ln>
              <a:noFill/>
            </a:ln>
          </p:spPr>
          <p:txBody>
            <a:bodyPr wrap="square" rtlCol="0">
              <a:spAutoFit/>
            </a:bodyPr>
            <a:lstStyle/>
            <a:p>
              <a:pPr algn="ctr"/>
              <a:r>
                <a:rPr lang="en-US" altLang="zh-CN" sz="2200" b="1" dirty="0"/>
                <a:t>1.1.3 </a:t>
              </a:r>
              <a:r>
                <a:rPr lang="zh-CN" altLang="en-US" sz="2200" b="1" dirty="0"/>
                <a:t>构成修改信息</a:t>
              </a:r>
              <a:endParaRPr lang="zh-CN" altLang="en-US" sz="2200" b="1" dirty="0"/>
            </a:p>
          </p:txBody>
        </p:sp>
        <p:sp>
          <p:nvSpPr>
            <p:cNvPr id="124" name="文本框 123"/>
            <p:cNvSpPr txBox="1"/>
            <p:nvPr/>
          </p:nvSpPr>
          <p:spPr>
            <a:xfrm>
              <a:off x="3773154" y="1679226"/>
              <a:ext cx="866327" cy="789858"/>
            </a:xfrm>
            <a:prstGeom prst="rect">
              <a:avLst/>
            </a:prstGeom>
            <a:noFill/>
          </p:spPr>
          <p:txBody>
            <a:bodyPr wrap="square" rtlCol="0">
              <a:spAutoFit/>
            </a:bodyPr>
            <a:lstStyle/>
            <a:p>
              <a:pPr algn="ctr"/>
              <a:r>
                <a:rPr lang="zh-CN" altLang="en-US" sz="2200" b="1" dirty="0"/>
                <a:t>修改卡片</a:t>
              </a:r>
              <a:endParaRPr lang="zh-CN" altLang="en-US" sz="2200" b="1" dirty="0"/>
            </a:p>
          </p:txBody>
        </p:sp>
        <p:sp>
          <p:nvSpPr>
            <p:cNvPr id="125" name="文本框 124"/>
            <p:cNvSpPr txBox="1"/>
            <p:nvPr/>
          </p:nvSpPr>
          <p:spPr>
            <a:xfrm>
              <a:off x="3989277" y="747376"/>
              <a:ext cx="893800" cy="441929"/>
            </a:xfrm>
            <a:prstGeom prst="rect">
              <a:avLst/>
            </a:prstGeom>
            <a:noFill/>
          </p:spPr>
          <p:txBody>
            <a:bodyPr wrap="square" rtlCol="0">
              <a:spAutoFit/>
            </a:bodyPr>
            <a:lstStyle/>
            <a:p>
              <a:pPr algn="ctr"/>
              <a:r>
                <a:rPr lang="zh-CN" altLang="en-US" sz="2200" b="1" dirty="0"/>
                <a:t>错误</a:t>
              </a:r>
              <a:endParaRPr lang="zh-CN" altLang="en-US" sz="2200" b="1" dirty="0"/>
            </a:p>
          </p:txBody>
        </p:sp>
        <p:sp>
          <p:nvSpPr>
            <p:cNvPr id="126" name="文本框 125"/>
            <p:cNvSpPr txBox="1"/>
            <p:nvPr/>
          </p:nvSpPr>
          <p:spPr>
            <a:xfrm>
              <a:off x="5792066" y="1362843"/>
              <a:ext cx="893800" cy="442948"/>
            </a:xfrm>
            <a:prstGeom prst="rect">
              <a:avLst/>
            </a:prstGeom>
            <a:noFill/>
          </p:spPr>
          <p:txBody>
            <a:bodyPr wrap="square" rtlCol="0">
              <a:spAutoFit/>
            </a:bodyPr>
            <a:lstStyle/>
            <a:p>
              <a:pPr algn="ctr"/>
              <a:r>
                <a:rPr lang="zh-CN" altLang="en-US" sz="2200" dirty="0"/>
                <a:t>错误</a:t>
              </a:r>
              <a:endParaRPr lang="zh-CN" altLang="en-US" sz="2200" dirty="0"/>
            </a:p>
          </p:txBody>
        </p:sp>
        <p:sp>
          <p:nvSpPr>
            <p:cNvPr id="127" name="文本框 126"/>
            <p:cNvSpPr txBox="1"/>
            <p:nvPr/>
          </p:nvSpPr>
          <p:spPr>
            <a:xfrm>
              <a:off x="1895877" y="540220"/>
              <a:ext cx="1628696" cy="441929"/>
            </a:xfrm>
            <a:prstGeom prst="rect">
              <a:avLst/>
            </a:prstGeom>
            <a:noFill/>
          </p:spPr>
          <p:txBody>
            <a:bodyPr wrap="square" rtlCol="0">
              <a:spAutoFit/>
            </a:bodyPr>
            <a:lstStyle/>
            <a:p>
              <a:pPr algn="ctr"/>
              <a:r>
                <a:rPr lang="zh-CN" altLang="en-US" sz="2200" b="1" dirty="0"/>
                <a:t>修改卡片</a:t>
              </a:r>
              <a:endParaRPr lang="zh-CN" altLang="en-US" sz="2200" b="1" dirty="0"/>
            </a:p>
          </p:txBody>
        </p:sp>
        <p:sp>
          <p:nvSpPr>
            <p:cNvPr id="128" name="文本框 127"/>
            <p:cNvSpPr txBox="1"/>
            <p:nvPr/>
          </p:nvSpPr>
          <p:spPr>
            <a:xfrm>
              <a:off x="5557324" y="2338872"/>
              <a:ext cx="893800" cy="789858"/>
            </a:xfrm>
            <a:prstGeom prst="rect">
              <a:avLst/>
            </a:prstGeom>
            <a:noFill/>
          </p:spPr>
          <p:txBody>
            <a:bodyPr wrap="square" rtlCol="0">
              <a:spAutoFit/>
            </a:bodyPr>
            <a:lstStyle/>
            <a:p>
              <a:pPr algn="ctr"/>
              <a:r>
                <a:rPr lang="zh-CN" altLang="en-US" sz="2200" b="1" dirty="0"/>
                <a:t>修改卡片</a:t>
              </a:r>
              <a:endParaRPr lang="zh-CN" altLang="en-US" sz="2200" b="1" dirty="0"/>
            </a:p>
          </p:txBody>
        </p:sp>
        <p:sp>
          <p:nvSpPr>
            <p:cNvPr id="129" name="文本框 128"/>
            <p:cNvSpPr txBox="1"/>
            <p:nvPr/>
          </p:nvSpPr>
          <p:spPr>
            <a:xfrm>
              <a:off x="7718613" y="1923878"/>
              <a:ext cx="893800" cy="789858"/>
            </a:xfrm>
            <a:prstGeom prst="rect">
              <a:avLst/>
            </a:prstGeom>
            <a:noFill/>
          </p:spPr>
          <p:txBody>
            <a:bodyPr wrap="square" rtlCol="0">
              <a:spAutoFit/>
            </a:bodyPr>
            <a:lstStyle/>
            <a:p>
              <a:pPr algn="ctr"/>
              <a:r>
                <a:rPr lang="zh-CN" altLang="en-US" sz="2200" b="1" dirty="0"/>
                <a:t>修改信息</a:t>
              </a:r>
              <a:endParaRPr lang="zh-CN" altLang="en-US" sz="2200" b="1" dirty="0"/>
            </a:p>
          </p:txBody>
        </p:sp>
      </p:grpSp>
      <p:grpSp>
        <p:nvGrpSpPr>
          <p:cNvPr id="136" name="组合 135"/>
          <p:cNvGrpSpPr/>
          <p:nvPr/>
        </p:nvGrpSpPr>
        <p:grpSpPr>
          <a:xfrm>
            <a:off x="7053700" y="2400140"/>
            <a:ext cx="4439800" cy="2755436"/>
            <a:chOff x="3237221" y="3803709"/>
            <a:chExt cx="4439070" cy="2669232"/>
          </a:xfrm>
        </p:grpSpPr>
        <p:cxnSp>
          <p:nvCxnSpPr>
            <p:cNvPr id="117" name="直接箭头连接符 116"/>
            <p:cNvCxnSpPr/>
            <p:nvPr/>
          </p:nvCxnSpPr>
          <p:spPr>
            <a:xfrm>
              <a:off x="3237221" y="3880381"/>
              <a:ext cx="933100" cy="522689"/>
            </a:xfrm>
            <a:prstGeom prst="straightConnector1">
              <a:avLst/>
            </a:prstGeom>
            <a:ln w="12700">
              <a:tailEnd type="triangle"/>
            </a:ln>
          </p:spPr>
          <p:style>
            <a:lnRef idx="3">
              <a:schemeClr val="dk1"/>
            </a:lnRef>
            <a:fillRef idx="0">
              <a:schemeClr val="dk1"/>
            </a:fillRef>
            <a:effectRef idx="2">
              <a:schemeClr val="dk1"/>
            </a:effectRef>
            <a:fontRef idx="minor">
              <a:schemeClr val="tx1"/>
            </a:fontRef>
          </p:style>
        </p:cxnSp>
        <p:sp>
          <p:nvSpPr>
            <p:cNvPr id="63" name="椭圆 62"/>
            <p:cNvSpPr/>
            <p:nvPr/>
          </p:nvSpPr>
          <p:spPr>
            <a:xfrm>
              <a:off x="4117997" y="4094971"/>
              <a:ext cx="1398585" cy="9035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solidFill>
                  <a:schemeClr val="tx1"/>
                </a:solidFill>
              </a:endParaRPr>
            </a:p>
          </p:txBody>
        </p:sp>
        <p:cxnSp>
          <p:nvCxnSpPr>
            <p:cNvPr id="118" name="直接箭头连接符 117"/>
            <p:cNvCxnSpPr/>
            <p:nvPr/>
          </p:nvCxnSpPr>
          <p:spPr>
            <a:xfrm>
              <a:off x="5141248" y="4922087"/>
              <a:ext cx="788395" cy="468235"/>
            </a:xfrm>
            <a:prstGeom prst="straightConnector1">
              <a:avLst/>
            </a:prstGeom>
            <a:ln w="12700">
              <a:tailEnd type="triangle"/>
            </a:ln>
          </p:spPr>
          <p:style>
            <a:lnRef idx="3">
              <a:schemeClr val="dk1"/>
            </a:lnRef>
            <a:fillRef idx="0">
              <a:schemeClr val="dk1"/>
            </a:fillRef>
            <a:effectRef idx="2">
              <a:schemeClr val="dk1"/>
            </a:effectRef>
            <a:fontRef idx="minor">
              <a:schemeClr val="tx1"/>
            </a:fontRef>
          </p:style>
        </p:cxnSp>
        <p:cxnSp>
          <p:nvCxnSpPr>
            <p:cNvPr id="119" name="直接箭头连接符 118"/>
            <p:cNvCxnSpPr/>
            <p:nvPr/>
          </p:nvCxnSpPr>
          <p:spPr>
            <a:xfrm flipV="1">
              <a:off x="5187654" y="4745363"/>
              <a:ext cx="955990" cy="170064"/>
            </a:xfrm>
            <a:prstGeom prst="straightConnector1">
              <a:avLst/>
            </a:prstGeom>
            <a:ln w="12700">
              <a:tailEnd type="triangle"/>
            </a:ln>
          </p:spPr>
          <p:style>
            <a:lnRef idx="3">
              <a:schemeClr val="dk1"/>
            </a:lnRef>
            <a:fillRef idx="0">
              <a:schemeClr val="dk1"/>
            </a:fillRef>
            <a:effectRef idx="2">
              <a:schemeClr val="dk1"/>
            </a:effectRef>
            <a:fontRef idx="minor">
              <a:schemeClr val="tx1"/>
            </a:fontRef>
          </p:style>
        </p:cxnSp>
        <p:sp>
          <p:nvSpPr>
            <p:cNvPr id="120" name="椭圆 119"/>
            <p:cNvSpPr/>
            <p:nvPr/>
          </p:nvSpPr>
          <p:spPr>
            <a:xfrm>
              <a:off x="5729474" y="5268318"/>
              <a:ext cx="1144558" cy="84092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solidFill>
                  <a:schemeClr val="tx1"/>
                </a:solidFill>
              </a:endParaRPr>
            </a:p>
          </p:txBody>
        </p:sp>
        <p:cxnSp>
          <p:nvCxnSpPr>
            <p:cNvPr id="121" name="直接箭头连接符 120"/>
            <p:cNvCxnSpPr>
              <a:stCxn id="120" idx="5"/>
            </p:cNvCxnSpPr>
            <p:nvPr/>
          </p:nvCxnSpPr>
          <p:spPr>
            <a:xfrm>
              <a:off x="6706415" y="5986089"/>
              <a:ext cx="808218" cy="486852"/>
            </a:xfrm>
            <a:prstGeom prst="straightConnector1">
              <a:avLst/>
            </a:prstGeom>
            <a:ln w="12700">
              <a:tailEnd type="triangle"/>
            </a:ln>
          </p:spPr>
          <p:style>
            <a:lnRef idx="3">
              <a:schemeClr val="dk1"/>
            </a:lnRef>
            <a:fillRef idx="0">
              <a:schemeClr val="dk1"/>
            </a:fillRef>
            <a:effectRef idx="2">
              <a:schemeClr val="dk1"/>
            </a:effectRef>
            <a:fontRef idx="minor">
              <a:schemeClr val="tx1"/>
            </a:fontRef>
          </p:style>
        </p:cxnSp>
        <p:sp>
          <p:nvSpPr>
            <p:cNvPr id="130" name="文本框 129"/>
            <p:cNvSpPr txBox="1"/>
            <p:nvPr/>
          </p:nvSpPr>
          <p:spPr>
            <a:xfrm>
              <a:off x="3651104" y="3803709"/>
              <a:ext cx="1476778" cy="416446"/>
            </a:xfrm>
            <a:prstGeom prst="rect">
              <a:avLst/>
            </a:prstGeom>
            <a:noFill/>
          </p:spPr>
          <p:txBody>
            <a:bodyPr wrap="square" rtlCol="0">
              <a:spAutoFit/>
            </a:bodyPr>
            <a:lstStyle/>
            <a:p>
              <a:pPr algn="ctr"/>
              <a:r>
                <a:rPr lang="zh-CN" altLang="en-US" sz="2200" b="1" dirty="0"/>
                <a:t>旧主文件</a:t>
              </a:r>
              <a:endParaRPr lang="zh-CN" altLang="en-US" sz="2200" b="1" dirty="0"/>
            </a:p>
          </p:txBody>
        </p:sp>
        <p:sp>
          <p:nvSpPr>
            <p:cNvPr id="131" name="文本框 130"/>
            <p:cNvSpPr txBox="1"/>
            <p:nvPr/>
          </p:nvSpPr>
          <p:spPr>
            <a:xfrm>
              <a:off x="5482743" y="4349906"/>
              <a:ext cx="893800" cy="416446"/>
            </a:xfrm>
            <a:prstGeom prst="rect">
              <a:avLst/>
            </a:prstGeom>
            <a:noFill/>
          </p:spPr>
          <p:txBody>
            <a:bodyPr wrap="square" rtlCol="0">
              <a:spAutoFit/>
            </a:bodyPr>
            <a:lstStyle/>
            <a:p>
              <a:pPr algn="ctr"/>
              <a:r>
                <a:rPr lang="zh-CN" altLang="en-US" sz="2200" b="1" dirty="0"/>
                <a:t>错误</a:t>
              </a:r>
              <a:endParaRPr lang="zh-CN" altLang="en-US" sz="2200" b="1" dirty="0"/>
            </a:p>
          </p:txBody>
        </p:sp>
        <p:sp>
          <p:nvSpPr>
            <p:cNvPr id="132" name="文本框 131"/>
            <p:cNvSpPr txBox="1"/>
            <p:nvPr/>
          </p:nvSpPr>
          <p:spPr>
            <a:xfrm>
              <a:off x="4117998" y="5220720"/>
              <a:ext cx="1416291" cy="744312"/>
            </a:xfrm>
            <a:prstGeom prst="rect">
              <a:avLst/>
            </a:prstGeom>
            <a:noFill/>
          </p:spPr>
          <p:txBody>
            <a:bodyPr wrap="square" rtlCol="0">
              <a:spAutoFit/>
            </a:bodyPr>
            <a:lstStyle/>
            <a:p>
              <a:pPr algn="ctr"/>
              <a:r>
                <a:rPr lang="zh-CN" altLang="en-US" sz="2200" b="1" dirty="0"/>
                <a:t>正确主文件</a:t>
              </a:r>
              <a:endParaRPr lang="zh-CN" altLang="en-US" sz="2200" b="1" dirty="0"/>
            </a:p>
          </p:txBody>
        </p:sp>
        <p:sp>
          <p:nvSpPr>
            <p:cNvPr id="133" name="文本框 132"/>
            <p:cNvSpPr txBox="1"/>
            <p:nvPr/>
          </p:nvSpPr>
          <p:spPr>
            <a:xfrm>
              <a:off x="6782491" y="5826964"/>
              <a:ext cx="893800" cy="416446"/>
            </a:xfrm>
            <a:prstGeom prst="rect">
              <a:avLst/>
            </a:prstGeom>
            <a:noFill/>
          </p:spPr>
          <p:txBody>
            <a:bodyPr wrap="square" rtlCol="0">
              <a:spAutoFit/>
            </a:bodyPr>
            <a:lstStyle/>
            <a:p>
              <a:pPr algn="ctr"/>
              <a:r>
                <a:rPr lang="zh-CN" altLang="en-US" sz="2200" b="1" dirty="0"/>
                <a:t>记录</a:t>
              </a:r>
              <a:endParaRPr lang="zh-CN" altLang="en-US" sz="2200" b="1" dirty="0"/>
            </a:p>
          </p:txBody>
        </p:sp>
        <p:sp>
          <p:nvSpPr>
            <p:cNvPr id="134" name="文本框 133"/>
            <p:cNvSpPr txBox="1"/>
            <p:nvPr/>
          </p:nvSpPr>
          <p:spPr>
            <a:xfrm>
              <a:off x="4178025" y="4143949"/>
              <a:ext cx="1338557" cy="744312"/>
            </a:xfrm>
            <a:prstGeom prst="rect">
              <a:avLst/>
            </a:prstGeom>
            <a:noFill/>
          </p:spPr>
          <p:txBody>
            <a:bodyPr wrap="square" rtlCol="0">
              <a:spAutoFit/>
            </a:bodyPr>
            <a:lstStyle/>
            <a:p>
              <a:pPr algn="ctr"/>
              <a:r>
                <a:rPr lang="en-US" altLang="zh-CN" sz="2200" b="1" dirty="0"/>
                <a:t>1.2.1 </a:t>
              </a:r>
              <a:r>
                <a:rPr lang="zh-CN" altLang="en-US" sz="2200" b="1" dirty="0"/>
                <a:t>核对检查和</a:t>
              </a:r>
              <a:endParaRPr lang="zh-CN" altLang="en-US" sz="2200" b="1" dirty="0"/>
            </a:p>
          </p:txBody>
        </p:sp>
        <p:sp>
          <p:nvSpPr>
            <p:cNvPr id="135" name="文本框 134"/>
            <p:cNvSpPr txBox="1"/>
            <p:nvPr/>
          </p:nvSpPr>
          <p:spPr>
            <a:xfrm>
              <a:off x="5727917" y="5323705"/>
              <a:ext cx="1218365" cy="744312"/>
            </a:xfrm>
            <a:prstGeom prst="rect">
              <a:avLst/>
            </a:prstGeom>
            <a:noFill/>
            <a:ln>
              <a:noFill/>
            </a:ln>
          </p:spPr>
          <p:txBody>
            <a:bodyPr wrap="square" rtlCol="0">
              <a:spAutoFit/>
            </a:bodyPr>
            <a:lstStyle/>
            <a:p>
              <a:pPr algn="ctr"/>
              <a:r>
                <a:rPr lang="en-US" altLang="zh-CN" sz="2200" b="1" dirty="0"/>
                <a:t>1.2.2 </a:t>
              </a:r>
              <a:r>
                <a:rPr lang="zh-CN" altLang="en-US" sz="2200" b="1" dirty="0"/>
                <a:t>构成记录</a:t>
              </a:r>
              <a:endParaRPr lang="zh-CN" altLang="en-US" sz="2200" b="1" dirty="0"/>
            </a:p>
          </p:txBody>
        </p:sp>
      </p:grpSp>
      <p:sp>
        <p:nvSpPr>
          <p:cNvPr id="48" name="文本框 47"/>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37"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）数据流图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38" name="矩形 37"/>
          <p:cNvSpPr/>
          <p:nvPr/>
        </p:nvSpPr>
        <p:spPr>
          <a:xfrm>
            <a:off x="455264" y="2117458"/>
            <a:ext cx="6157620" cy="3175395"/>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67"/>
          <p:cNvSpPr>
            <a:spLocks noChangeArrowheads="1"/>
          </p:cNvSpPr>
          <p:nvPr/>
        </p:nvSpPr>
        <p:spPr bwMode="auto">
          <a:xfrm>
            <a:off x="1411814" y="1926405"/>
            <a:ext cx="4601849" cy="430887"/>
          </a:xfrm>
          <a:prstGeom prst="rect">
            <a:avLst/>
          </a:prstGeom>
          <a:solidFill>
            <a:schemeClr val="bg1"/>
          </a:solidFill>
          <a:ln>
            <a:solidFill>
              <a:srgbClr val="FF0000"/>
            </a:solidFill>
          </a:ln>
        </p:spPr>
        <p:txBody>
          <a:bodyPr wrap="square">
            <a:spAutoFit/>
          </a:bodyPr>
          <a:lstStyle/>
          <a:p>
            <a:pPr lvl="0" fontAlgn="base">
              <a:spcBef>
                <a:spcPct val="0"/>
              </a:spcBef>
              <a:spcAft>
                <a:spcPct val="0"/>
              </a:spcAft>
              <a:defRPr/>
            </a:pPr>
            <a:r>
              <a:rPr lang="zh-CN" altLang="en-US" sz="2200" b="1" kern="0" dirty="0">
                <a:solidFill>
                  <a:srgbClr val="FF0000"/>
                </a:solidFill>
                <a:latin typeface="宋体" panose="02010600030101010101" pitchFamily="2" charset="-122"/>
                <a:sym typeface="宋体" panose="02010600030101010101" pitchFamily="2" charset="-122"/>
              </a:rPr>
              <a:t>“</a:t>
            </a:r>
            <a:r>
              <a:rPr lang="en-US" altLang="zh-CN" sz="2200" b="1" kern="0" dirty="0">
                <a:solidFill>
                  <a:srgbClr val="FF0000"/>
                </a:solidFill>
                <a:latin typeface="宋体" panose="02010600030101010101" pitchFamily="2" charset="-122"/>
                <a:sym typeface="宋体" panose="02010600030101010101" pitchFamily="2" charset="-122"/>
              </a:rPr>
              <a:t>1.1</a:t>
            </a:r>
            <a:r>
              <a:rPr lang="zh-CN" altLang="en-US" sz="2200" b="1" kern="0" dirty="0">
                <a:solidFill>
                  <a:srgbClr val="FF0000"/>
                </a:solidFill>
                <a:latin typeface="宋体" panose="02010600030101010101" pitchFamily="2" charset="-122"/>
                <a:sym typeface="宋体" panose="02010600030101010101" pitchFamily="2" charset="-122"/>
              </a:rPr>
              <a:t>产生修改信息”细化数据流图</a:t>
            </a:r>
            <a:endParaRPr lang="zh-CN" altLang="en-US" sz="2200" b="1" kern="0" dirty="0">
              <a:solidFill>
                <a:srgbClr val="FF0000"/>
              </a:solidFill>
              <a:latin typeface="宋体" panose="02010600030101010101" pitchFamily="2" charset="-122"/>
              <a:ea typeface="宋体" panose="02010600030101010101" pitchFamily="2" charset="-122"/>
              <a:sym typeface="宋体" panose="02010600030101010101" pitchFamily="2" charset="-122"/>
            </a:endParaRPr>
          </a:p>
        </p:txBody>
      </p:sp>
      <p:sp>
        <p:nvSpPr>
          <p:cNvPr id="40" name="矩形 39"/>
          <p:cNvSpPr/>
          <p:nvPr/>
        </p:nvSpPr>
        <p:spPr>
          <a:xfrm>
            <a:off x="6883240" y="2141320"/>
            <a:ext cx="4765430" cy="3175395"/>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67"/>
          <p:cNvSpPr>
            <a:spLocks noChangeArrowheads="1"/>
          </p:cNvSpPr>
          <p:nvPr/>
        </p:nvSpPr>
        <p:spPr bwMode="auto">
          <a:xfrm>
            <a:off x="7175500" y="1919992"/>
            <a:ext cx="4178300" cy="430887"/>
          </a:xfrm>
          <a:prstGeom prst="rect">
            <a:avLst/>
          </a:prstGeom>
          <a:solidFill>
            <a:schemeClr val="bg1"/>
          </a:solidFill>
          <a:ln>
            <a:solidFill>
              <a:srgbClr val="FF0000"/>
            </a:solidFill>
          </a:ln>
        </p:spPr>
        <p:txBody>
          <a:bodyPr wrap="square">
            <a:spAutoFit/>
          </a:bodyPr>
          <a:lstStyle/>
          <a:p>
            <a:pPr lvl="0" fontAlgn="base">
              <a:spcBef>
                <a:spcPct val="0"/>
              </a:spcBef>
              <a:spcAft>
                <a:spcPct val="0"/>
              </a:spcAft>
              <a:defRPr/>
            </a:pPr>
            <a:r>
              <a:rPr lang="zh-CN" altLang="en-US" sz="2200" b="1" kern="0" dirty="0">
                <a:solidFill>
                  <a:srgbClr val="FF0000"/>
                </a:solidFill>
                <a:latin typeface="宋体" panose="02010600030101010101" pitchFamily="2" charset="-122"/>
                <a:sym typeface="宋体" panose="02010600030101010101" pitchFamily="2" charset="-122"/>
              </a:rPr>
              <a:t>“</a:t>
            </a:r>
            <a:r>
              <a:rPr lang="en-US" altLang="zh-CN" sz="2200" b="1" kern="0" dirty="0">
                <a:solidFill>
                  <a:srgbClr val="FF0000"/>
                </a:solidFill>
                <a:latin typeface="宋体" panose="02010600030101010101" pitchFamily="2" charset="-122"/>
                <a:sym typeface="宋体" panose="02010600030101010101" pitchFamily="2" charset="-122"/>
              </a:rPr>
              <a:t>1.2 </a:t>
            </a:r>
            <a:r>
              <a:rPr lang="zh-CN" altLang="en-US" sz="2200" b="1" kern="0" dirty="0">
                <a:solidFill>
                  <a:srgbClr val="FF0000"/>
                </a:solidFill>
                <a:latin typeface="宋体" panose="02010600030101010101" pitchFamily="2" charset="-122"/>
                <a:sym typeface="宋体" panose="02010600030101010101" pitchFamily="2" charset="-122"/>
              </a:rPr>
              <a:t>产生记录”细化数据流图</a:t>
            </a:r>
            <a:endParaRPr lang="zh-CN" altLang="en-US" sz="2200" b="1" kern="0" dirty="0">
              <a:solidFill>
                <a:srgbClr val="FF0000"/>
              </a:solidFill>
              <a:latin typeface="宋体" panose="02010600030101010101" pitchFamily="2" charset="-122"/>
              <a:ea typeface="宋体" panose="02010600030101010101" pitchFamily="2" charset="-122"/>
              <a:sym typeface="宋体" panose="02010600030101010101" pitchFamily="2" charset="-122"/>
            </a:endParaRPr>
          </a:p>
        </p:txBody>
      </p:sp>
      <p:sp>
        <p:nvSpPr>
          <p:cNvPr id="2" name="日期占位符 1"/>
          <p:cNvSpPr>
            <a:spLocks noGrp="1"/>
          </p:cNvSpPr>
          <p:nvPr>
            <p:ph type="dt" sz="half" idx="10"/>
          </p:nvPr>
        </p:nvSpPr>
        <p:spPr/>
        <p:txBody>
          <a:bodyPr/>
          <a:lstStyle/>
          <a:p>
            <a:pPr>
              <a:defRPr/>
            </a:pPr>
            <a:fld id="{20A4B540-5270-48B5-91E8-1B0B97E07CA0}"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p:tgtEl>
                                          <p:spTgt spid="37"/>
                                        </p:tgtEl>
                                        <p:attrNameLst>
                                          <p:attrName>ppt_x</p:attrName>
                                        </p:attrNameLst>
                                      </p:cBhvr>
                                      <p:tavLst>
                                        <p:tav tm="0">
                                          <p:val>
                                            <p:strVal val="#ppt_x+#ppt_w*1.125000"/>
                                          </p:val>
                                        </p:tav>
                                        <p:tav tm="100000">
                                          <p:val>
                                            <p:strVal val="#ppt_x"/>
                                          </p:val>
                                        </p:tav>
                                      </p:tavLst>
                                    </p:anim>
                                    <p:animEffect transition="in" filter="wipe(left)">
                                      <p:cBhvr>
                                        <p:cTn id="8" dur="500"/>
                                        <p:tgtEl>
                                          <p:spTgt spid="37"/>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animBg="1"/>
      <p:bldP spid="39" grpId="0" animBg="1"/>
      <p:bldP spid="40" grpId="0" animBg="1"/>
      <p:bldP spid="4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接箭头连接符 8"/>
          <p:cNvCxnSpPr>
            <a:endCxn id="2" idx="1"/>
          </p:cNvCxnSpPr>
          <p:nvPr/>
        </p:nvCxnSpPr>
        <p:spPr>
          <a:xfrm>
            <a:off x="1792215" y="2155310"/>
            <a:ext cx="1047567" cy="45359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4" name="直接箭头连接符 73"/>
          <p:cNvCxnSpPr>
            <a:endCxn id="2" idx="3"/>
          </p:cNvCxnSpPr>
          <p:nvPr/>
        </p:nvCxnSpPr>
        <p:spPr>
          <a:xfrm flipV="1">
            <a:off x="1658572" y="3322891"/>
            <a:ext cx="1181210" cy="4536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5" name="直接箭头连接符 74"/>
          <p:cNvCxnSpPr>
            <a:stCxn id="2" idx="6"/>
            <a:endCxn id="76" idx="2"/>
          </p:cNvCxnSpPr>
          <p:nvPr/>
        </p:nvCxnSpPr>
        <p:spPr>
          <a:xfrm>
            <a:off x="4066262" y="2965900"/>
            <a:ext cx="4385310" cy="82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6" name="椭圆 75"/>
          <p:cNvSpPr/>
          <p:nvPr/>
        </p:nvSpPr>
        <p:spPr>
          <a:xfrm>
            <a:off x="8451937" y="2469489"/>
            <a:ext cx="1761738" cy="100972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b="1">
              <a:solidFill>
                <a:schemeClr val="tx1"/>
              </a:solidFill>
              <a:latin typeface="宋体" panose="02010600030101010101" pitchFamily="2" charset="-122"/>
              <a:ea typeface="宋体" panose="02010600030101010101" pitchFamily="2" charset="-122"/>
            </a:endParaRPr>
          </a:p>
        </p:txBody>
      </p:sp>
      <p:sp>
        <p:nvSpPr>
          <p:cNvPr id="77" name="椭圆 76"/>
          <p:cNvSpPr/>
          <p:nvPr/>
        </p:nvSpPr>
        <p:spPr>
          <a:xfrm>
            <a:off x="4155829" y="4230576"/>
            <a:ext cx="2180315" cy="100972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b="1">
              <a:solidFill>
                <a:schemeClr val="tx1"/>
              </a:solidFill>
              <a:latin typeface="宋体" panose="02010600030101010101" pitchFamily="2" charset="-122"/>
              <a:ea typeface="宋体" panose="02010600030101010101" pitchFamily="2" charset="-122"/>
            </a:endParaRPr>
          </a:p>
        </p:txBody>
      </p:sp>
      <p:cxnSp>
        <p:nvCxnSpPr>
          <p:cNvPr id="79" name="直接箭头连接符 78"/>
          <p:cNvCxnSpPr>
            <a:stCxn id="2" idx="4"/>
            <a:endCxn id="77" idx="1"/>
          </p:cNvCxnSpPr>
          <p:nvPr/>
        </p:nvCxnSpPr>
        <p:spPr>
          <a:xfrm>
            <a:off x="3347435" y="3470761"/>
            <a:ext cx="1127760" cy="90741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0" name="直接箭头连接符 79"/>
          <p:cNvCxnSpPr>
            <a:stCxn id="76" idx="3"/>
            <a:endCxn id="77" idx="7"/>
          </p:cNvCxnSpPr>
          <p:nvPr/>
        </p:nvCxnSpPr>
        <p:spPr>
          <a:xfrm flipH="1">
            <a:off x="6016844" y="3331341"/>
            <a:ext cx="2693094" cy="104710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1" name="直接箭头连接符 80"/>
          <p:cNvCxnSpPr>
            <a:stCxn id="77" idx="6"/>
            <a:endCxn id="78" idx="2"/>
          </p:cNvCxnSpPr>
          <p:nvPr/>
        </p:nvCxnSpPr>
        <p:spPr>
          <a:xfrm>
            <a:off x="6336144" y="4735437"/>
            <a:ext cx="953294" cy="42628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2" name="直接箭头连接符 81"/>
          <p:cNvCxnSpPr/>
          <p:nvPr/>
        </p:nvCxnSpPr>
        <p:spPr>
          <a:xfrm>
            <a:off x="9213256" y="5378455"/>
            <a:ext cx="1511893" cy="23820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3" name="文本框 82"/>
          <p:cNvSpPr txBox="1"/>
          <p:nvPr/>
        </p:nvSpPr>
        <p:spPr>
          <a:xfrm>
            <a:off x="1775884" y="1945643"/>
            <a:ext cx="1611359" cy="429895"/>
          </a:xfrm>
          <a:prstGeom prst="rect">
            <a:avLst/>
          </a:prstGeom>
          <a:noFill/>
        </p:spPr>
        <p:txBody>
          <a:bodyPr wrap="square" rtlCol="0">
            <a:spAutoFit/>
          </a:bodyPr>
          <a:lstStyle/>
          <a:p>
            <a:pPr algn="ctr"/>
            <a:r>
              <a:rPr lang="zh-CN" altLang="en-US" sz="2200" b="1" dirty="0">
                <a:latin typeface="宋体" panose="02010600030101010101" pitchFamily="2" charset="-122"/>
                <a:ea typeface="宋体" panose="02010600030101010101" pitchFamily="2" charset="-122"/>
              </a:rPr>
              <a:t>修改卡片</a:t>
            </a:r>
            <a:endParaRPr lang="zh-CN" altLang="en-US" sz="2200" b="1" dirty="0">
              <a:latin typeface="宋体" panose="02010600030101010101" pitchFamily="2" charset="-122"/>
              <a:ea typeface="宋体" panose="02010600030101010101" pitchFamily="2" charset="-122"/>
            </a:endParaRPr>
          </a:p>
        </p:txBody>
      </p:sp>
      <p:sp>
        <p:nvSpPr>
          <p:cNvPr id="84" name="文本框 83"/>
          <p:cNvSpPr txBox="1"/>
          <p:nvPr/>
        </p:nvSpPr>
        <p:spPr>
          <a:xfrm>
            <a:off x="1672239" y="3143937"/>
            <a:ext cx="864414" cy="429895"/>
          </a:xfrm>
          <a:prstGeom prst="rect">
            <a:avLst/>
          </a:prstGeom>
          <a:noFill/>
        </p:spPr>
        <p:txBody>
          <a:bodyPr wrap="square" rtlCol="0">
            <a:spAutoFit/>
          </a:bodyPr>
          <a:lstStyle/>
          <a:p>
            <a:pPr algn="ctr"/>
            <a:r>
              <a:rPr lang="zh-CN" altLang="en-US" sz="2200" b="1" dirty="0">
                <a:latin typeface="宋体" panose="02010600030101010101" pitchFamily="2" charset="-122"/>
                <a:ea typeface="宋体" panose="02010600030101010101" pitchFamily="2" charset="-122"/>
              </a:rPr>
              <a:t>记录</a:t>
            </a:r>
            <a:endParaRPr lang="zh-CN" altLang="en-US" sz="2200" b="1" dirty="0">
              <a:latin typeface="宋体" panose="02010600030101010101" pitchFamily="2" charset="-122"/>
              <a:ea typeface="宋体" panose="02010600030101010101" pitchFamily="2" charset="-122"/>
            </a:endParaRPr>
          </a:p>
        </p:txBody>
      </p:sp>
      <p:sp>
        <p:nvSpPr>
          <p:cNvPr id="85" name="文本框 84"/>
          <p:cNvSpPr txBox="1"/>
          <p:nvPr/>
        </p:nvSpPr>
        <p:spPr>
          <a:xfrm>
            <a:off x="5110916" y="2480029"/>
            <a:ext cx="2299175" cy="429895"/>
          </a:xfrm>
          <a:prstGeom prst="rect">
            <a:avLst/>
          </a:prstGeom>
          <a:noFill/>
        </p:spPr>
        <p:txBody>
          <a:bodyPr wrap="square" rtlCol="0">
            <a:spAutoFit/>
          </a:bodyPr>
          <a:lstStyle/>
          <a:p>
            <a:pPr algn="ctr"/>
            <a:r>
              <a:rPr lang="zh-CN" altLang="en-US" sz="2200" b="1" dirty="0">
                <a:latin typeface="宋体" panose="02010600030101010101" pitchFamily="2" charset="-122"/>
                <a:ea typeface="宋体" panose="02010600030101010101" pitchFamily="2" charset="-122"/>
              </a:rPr>
              <a:t>需要修改的信息</a:t>
            </a:r>
            <a:endParaRPr lang="zh-CN" altLang="en-US" sz="2200" b="1" dirty="0">
              <a:latin typeface="宋体" panose="02010600030101010101" pitchFamily="2" charset="-122"/>
              <a:ea typeface="宋体" panose="02010600030101010101" pitchFamily="2" charset="-122"/>
            </a:endParaRPr>
          </a:p>
        </p:txBody>
      </p:sp>
      <p:sp>
        <p:nvSpPr>
          <p:cNvPr id="86" name="文本框 85"/>
          <p:cNvSpPr txBox="1"/>
          <p:nvPr/>
        </p:nvSpPr>
        <p:spPr>
          <a:xfrm>
            <a:off x="3722907" y="3514319"/>
            <a:ext cx="1315910" cy="429895"/>
          </a:xfrm>
          <a:prstGeom prst="rect">
            <a:avLst/>
          </a:prstGeom>
          <a:noFill/>
        </p:spPr>
        <p:txBody>
          <a:bodyPr wrap="square" rtlCol="0">
            <a:spAutoFit/>
          </a:bodyPr>
          <a:lstStyle/>
          <a:p>
            <a:pPr algn="ctr"/>
            <a:r>
              <a:rPr lang="zh-CN" altLang="en-US" sz="2200" b="1" dirty="0">
                <a:latin typeface="宋体" panose="02010600030101010101" pitchFamily="2" charset="-122"/>
                <a:ea typeface="宋体" panose="02010600030101010101" pitchFamily="2" charset="-122"/>
              </a:rPr>
              <a:t>修改卡片</a:t>
            </a:r>
            <a:endParaRPr lang="zh-CN" altLang="en-US" sz="2200" b="1" dirty="0">
              <a:latin typeface="宋体" panose="02010600030101010101" pitchFamily="2" charset="-122"/>
              <a:ea typeface="宋体" panose="02010600030101010101" pitchFamily="2" charset="-122"/>
            </a:endParaRPr>
          </a:p>
        </p:txBody>
      </p:sp>
      <p:sp>
        <p:nvSpPr>
          <p:cNvPr id="87" name="文本框 86"/>
          <p:cNvSpPr txBox="1"/>
          <p:nvPr/>
        </p:nvSpPr>
        <p:spPr>
          <a:xfrm>
            <a:off x="5536518" y="3392804"/>
            <a:ext cx="2499653" cy="429895"/>
          </a:xfrm>
          <a:prstGeom prst="rect">
            <a:avLst/>
          </a:prstGeom>
          <a:noFill/>
        </p:spPr>
        <p:txBody>
          <a:bodyPr wrap="square" rtlCol="0">
            <a:spAutoFit/>
          </a:bodyPr>
          <a:lstStyle/>
          <a:p>
            <a:pPr algn="ctr"/>
            <a:r>
              <a:rPr lang="zh-CN" altLang="en-US" sz="2200" b="1" dirty="0">
                <a:latin typeface="宋体" panose="02010600030101010101" pitchFamily="2" charset="-122"/>
                <a:ea typeface="宋体" panose="02010600030101010101" pitchFamily="2" charset="-122"/>
              </a:rPr>
              <a:t>修改后的记录</a:t>
            </a:r>
            <a:endParaRPr lang="zh-CN" altLang="en-US" sz="2200" b="1" dirty="0">
              <a:latin typeface="宋体" panose="02010600030101010101" pitchFamily="2" charset="-122"/>
              <a:ea typeface="宋体" panose="02010600030101010101" pitchFamily="2" charset="-122"/>
            </a:endParaRPr>
          </a:p>
        </p:txBody>
      </p:sp>
      <p:sp>
        <p:nvSpPr>
          <p:cNvPr id="88" name="文本框 87"/>
          <p:cNvSpPr txBox="1"/>
          <p:nvPr/>
        </p:nvSpPr>
        <p:spPr>
          <a:xfrm>
            <a:off x="9295880" y="5000980"/>
            <a:ext cx="1361179" cy="429895"/>
          </a:xfrm>
          <a:prstGeom prst="rect">
            <a:avLst/>
          </a:prstGeom>
          <a:noFill/>
        </p:spPr>
        <p:txBody>
          <a:bodyPr wrap="square" rtlCol="0">
            <a:spAutoFit/>
          </a:bodyPr>
          <a:lstStyle/>
          <a:p>
            <a:pPr algn="ctr"/>
            <a:r>
              <a:rPr lang="zh-CN" altLang="en-US" sz="2200" b="1" dirty="0">
                <a:latin typeface="宋体" panose="02010600030101010101" pitchFamily="2" charset="-122"/>
                <a:ea typeface="宋体" panose="02010600030101010101" pitchFamily="2" charset="-122"/>
              </a:rPr>
              <a:t>新主文件</a:t>
            </a:r>
            <a:endParaRPr lang="zh-CN" altLang="en-US" sz="2200" b="1" dirty="0">
              <a:latin typeface="宋体" panose="02010600030101010101" pitchFamily="2" charset="-122"/>
              <a:ea typeface="宋体" panose="02010600030101010101" pitchFamily="2" charset="-122"/>
            </a:endParaRPr>
          </a:p>
        </p:txBody>
      </p:sp>
      <p:grpSp>
        <p:nvGrpSpPr>
          <p:cNvPr id="3" name="组合 2"/>
          <p:cNvGrpSpPr/>
          <p:nvPr/>
        </p:nvGrpSpPr>
        <p:grpSpPr>
          <a:xfrm>
            <a:off x="2408384" y="2461039"/>
            <a:ext cx="1840864" cy="1009722"/>
            <a:chOff x="2441128" y="1805193"/>
            <a:chExt cx="1567147" cy="1009722"/>
          </a:xfrm>
        </p:grpSpPr>
        <p:sp>
          <p:nvSpPr>
            <p:cNvPr id="2" name="椭圆 1"/>
            <p:cNvSpPr/>
            <p:nvPr/>
          </p:nvSpPr>
          <p:spPr>
            <a:xfrm>
              <a:off x="2628608" y="1805193"/>
              <a:ext cx="1223889" cy="100972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b="1">
                <a:solidFill>
                  <a:schemeClr val="tx1"/>
                </a:solidFill>
                <a:latin typeface="宋体" panose="02010600030101010101" pitchFamily="2" charset="-122"/>
                <a:ea typeface="宋体" panose="02010600030101010101" pitchFamily="2" charset="-122"/>
              </a:endParaRPr>
            </a:p>
          </p:txBody>
        </p:sp>
        <p:sp>
          <p:nvSpPr>
            <p:cNvPr id="89" name="文本框 88"/>
            <p:cNvSpPr txBox="1"/>
            <p:nvPr/>
          </p:nvSpPr>
          <p:spPr>
            <a:xfrm>
              <a:off x="2441128" y="2052208"/>
              <a:ext cx="1567147" cy="429895"/>
            </a:xfrm>
            <a:prstGeom prst="rect">
              <a:avLst/>
            </a:prstGeom>
            <a:noFill/>
          </p:spPr>
          <p:txBody>
            <a:bodyPr wrap="square" rtlCol="0">
              <a:spAutoFit/>
            </a:bodyPr>
            <a:lstStyle/>
            <a:p>
              <a:pPr algn="ctr"/>
              <a:r>
                <a:rPr lang="en-US" altLang="zh-CN" sz="2200" b="1" dirty="0">
                  <a:latin typeface="宋体" panose="02010600030101010101" pitchFamily="2" charset="-122"/>
                  <a:ea typeface="宋体" panose="02010600030101010101" pitchFamily="2" charset="-122"/>
                </a:rPr>
                <a:t>1.3.1 </a:t>
              </a:r>
              <a:r>
                <a:rPr lang="zh-CN" altLang="en-US" sz="2200" b="1" dirty="0">
                  <a:latin typeface="宋体" panose="02010600030101010101" pitchFamily="2" charset="-122"/>
                  <a:ea typeface="宋体" panose="02010600030101010101" pitchFamily="2" charset="-122"/>
                </a:rPr>
                <a:t>匹配</a:t>
              </a:r>
              <a:endParaRPr lang="zh-CN" altLang="en-US" sz="2200" b="1" dirty="0">
                <a:latin typeface="宋体" panose="02010600030101010101" pitchFamily="2" charset="-122"/>
                <a:ea typeface="宋体" panose="02010600030101010101" pitchFamily="2" charset="-122"/>
              </a:endParaRPr>
            </a:p>
          </p:txBody>
        </p:sp>
      </p:grpSp>
      <p:sp>
        <p:nvSpPr>
          <p:cNvPr id="90" name="文本框 89"/>
          <p:cNvSpPr txBox="1"/>
          <p:nvPr/>
        </p:nvSpPr>
        <p:spPr>
          <a:xfrm>
            <a:off x="4249589" y="4474363"/>
            <a:ext cx="2018465" cy="768350"/>
          </a:xfrm>
          <a:prstGeom prst="rect">
            <a:avLst/>
          </a:prstGeom>
          <a:noFill/>
          <a:ln>
            <a:noFill/>
          </a:ln>
        </p:spPr>
        <p:txBody>
          <a:bodyPr wrap="square" rtlCol="0">
            <a:spAutoFit/>
          </a:bodyPr>
          <a:lstStyle/>
          <a:p>
            <a:pPr algn="ctr"/>
            <a:r>
              <a:rPr lang="en-US" altLang="zh-CN" sz="2200" b="1" dirty="0">
                <a:latin typeface="宋体" panose="02010600030101010101" pitchFamily="2" charset="-122"/>
                <a:ea typeface="宋体" panose="02010600030101010101" pitchFamily="2" charset="-122"/>
              </a:rPr>
              <a:t>1.3.3 </a:t>
            </a:r>
            <a:r>
              <a:rPr lang="zh-CN" altLang="en-US" sz="2200" b="1" dirty="0">
                <a:latin typeface="宋体" panose="02010600030101010101" pitchFamily="2" charset="-122"/>
                <a:ea typeface="宋体" panose="02010600030101010101" pitchFamily="2" charset="-122"/>
              </a:rPr>
              <a:t>产生新纪录</a:t>
            </a:r>
            <a:endParaRPr lang="zh-CN" altLang="en-US" sz="2200" b="1" dirty="0">
              <a:latin typeface="宋体" panose="02010600030101010101" pitchFamily="2" charset="-122"/>
              <a:ea typeface="宋体" panose="02010600030101010101" pitchFamily="2" charset="-122"/>
            </a:endParaRPr>
          </a:p>
        </p:txBody>
      </p:sp>
      <p:sp>
        <p:nvSpPr>
          <p:cNvPr id="91" name="文本框 90"/>
          <p:cNvSpPr txBox="1"/>
          <p:nvPr/>
        </p:nvSpPr>
        <p:spPr>
          <a:xfrm>
            <a:off x="8523598" y="2761940"/>
            <a:ext cx="1728055" cy="429895"/>
          </a:xfrm>
          <a:prstGeom prst="rect">
            <a:avLst/>
          </a:prstGeom>
          <a:noFill/>
        </p:spPr>
        <p:txBody>
          <a:bodyPr wrap="square" rtlCol="0">
            <a:spAutoFit/>
          </a:bodyPr>
          <a:lstStyle/>
          <a:p>
            <a:pPr algn="ctr"/>
            <a:r>
              <a:rPr lang="en-US" altLang="zh-CN" sz="2200" b="1" dirty="0">
                <a:latin typeface="宋体" panose="02010600030101010101" pitchFamily="2" charset="-122"/>
                <a:ea typeface="宋体" panose="02010600030101010101" pitchFamily="2" charset="-122"/>
              </a:rPr>
              <a:t>1.3.2 </a:t>
            </a:r>
            <a:r>
              <a:rPr lang="zh-CN" altLang="en-US" sz="2200" b="1" dirty="0">
                <a:latin typeface="宋体" panose="02010600030101010101" pitchFamily="2" charset="-122"/>
                <a:ea typeface="宋体" panose="02010600030101010101" pitchFamily="2" charset="-122"/>
              </a:rPr>
              <a:t>修改</a:t>
            </a:r>
            <a:endParaRPr lang="zh-CN" altLang="en-US" sz="2200" b="1" dirty="0">
              <a:latin typeface="宋体" panose="02010600030101010101" pitchFamily="2" charset="-122"/>
              <a:ea typeface="宋体" panose="02010600030101010101" pitchFamily="2" charset="-122"/>
            </a:endParaRPr>
          </a:p>
        </p:txBody>
      </p:sp>
      <p:grpSp>
        <p:nvGrpSpPr>
          <p:cNvPr id="6" name="组合 5"/>
          <p:cNvGrpSpPr/>
          <p:nvPr/>
        </p:nvGrpSpPr>
        <p:grpSpPr>
          <a:xfrm>
            <a:off x="7262793" y="4656860"/>
            <a:ext cx="2045571" cy="1009722"/>
            <a:chOff x="8019533" y="4461368"/>
            <a:chExt cx="1277293" cy="1009722"/>
          </a:xfrm>
        </p:grpSpPr>
        <p:sp>
          <p:nvSpPr>
            <p:cNvPr id="78" name="椭圆 77"/>
            <p:cNvSpPr/>
            <p:nvPr/>
          </p:nvSpPr>
          <p:spPr>
            <a:xfrm>
              <a:off x="8036171" y="4461368"/>
              <a:ext cx="1223889" cy="100972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b="1">
                <a:solidFill>
                  <a:schemeClr val="tx1"/>
                </a:solidFill>
                <a:latin typeface="宋体" panose="02010600030101010101" pitchFamily="2" charset="-122"/>
                <a:ea typeface="宋体" panose="02010600030101010101" pitchFamily="2" charset="-122"/>
              </a:endParaRPr>
            </a:p>
          </p:txBody>
        </p:sp>
        <p:sp>
          <p:nvSpPr>
            <p:cNvPr id="92" name="文本框 91"/>
            <p:cNvSpPr txBox="1"/>
            <p:nvPr/>
          </p:nvSpPr>
          <p:spPr>
            <a:xfrm>
              <a:off x="8019533" y="4641035"/>
              <a:ext cx="1277293" cy="768350"/>
            </a:xfrm>
            <a:prstGeom prst="rect">
              <a:avLst/>
            </a:prstGeom>
            <a:noFill/>
          </p:spPr>
          <p:txBody>
            <a:bodyPr wrap="square" rtlCol="0">
              <a:spAutoFit/>
            </a:bodyPr>
            <a:lstStyle/>
            <a:p>
              <a:pPr algn="ctr"/>
              <a:r>
                <a:rPr lang="en-US" altLang="zh-CN" sz="2200" b="1" dirty="0">
                  <a:latin typeface="宋体" panose="02010600030101010101" pitchFamily="2" charset="-122"/>
                  <a:ea typeface="宋体" panose="02010600030101010101" pitchFamily="2" charset="-122"/>
                </a:rPr>
                <a:t>1.3.4 </a:t>
              </a:r>
              <a:r>
                <a:rPr lang="zh-CN" altLang="en-US" sz="2200" b="1" dirty="0">
                  <a:latin typeface="宋体" panose="02010600030101010101" pitchFamily="2" charset="-122"/>
                  <a:ea typeface="宋体" panose="02010600030101010101" pitchFamily="2" charset="-122"/>
                </a:rPr>
                <a:t>配上检查和</a:t>
              </a:r>
              <a:endParaRPr lang="zh-CN" altLang="en-US" sz="2200" b="1" dirty="0">
                <a:latin typeface="宋体" panose="02010600030101010101" pitchFamily="2" charset="-122"/>
                <a:ea typeface="宋体" panose="02010600030101010101" pitchFamily="2" charset="-122"/>
              </a:endParaRPr>
            </a:p>
          </p:txBody>
        </p:sp>
      </p:grpSp>
      <p:sp>
        <p:nvSpPr>
          <p:cNvPr id="40" name="文本框 39"/>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5"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）数据流图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8" name="矩形 27"/>
          <p:cNvSpPr/>
          <p:nvPr/>
        </p:nvSpPr>
        <p:spPr>
          <a:xfrm>
            <a:off x="1422400" y="1852484"/>
            <a:ext cx="9302749" cy="4021843"/>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9" name="文本框 67"/>
          <p:cNvSpPr>
            <a:spLocks noChangeArrowheads="1"/>
          </p:cNvSpPr>
          <p:nvPr/>
        </p:nvSpPr>
        <p:spPr bwMode="auto">
          <a:xfrm>
            <a:off x="3791491" y="1636752"/>
            <a:ext cx="4732108" cy="429895"/>
          </a:xfrm>
          <a:prstGeom prst="rect">
            <a:avLst/>
          </a:prstGeom>
          <a:solidFill>
            <a:schemeClr val="bg1"/>
          </a:solidFill>
          <a:ln>
            <a:solidFill>
              <a:srgbClr val="FF0000"/>
            </a:solidFill>
          </a:ln>
        </p:spPr>
        <p:txBody>
          <a:bodyPr wrap="square">
            <a:spAutoFit/>
          </a:bodyPr>
          <a:lstStyle/>
          <a:p>
            <a:pPr lvl="0" fontAlgn="base">
              <a:spcBef>
                <a:spcPct val="0"/>
              </a:spcBef>
              <a:spcAft>
                <a:spcPct val="0"/>
              </a:spcAft>
              <a:defRPr/>
            </a:pPr>
            <a:r>
              <a:rPr lang="zh-CN" altLang="en-US" sz="2200" b="1" kern="0" dirty="0">
                <a:solidFill>
                  <a:srgbClr val="FF0000"/>
                </a:solidFill>
                <a:latin typeface="宋体" panose="02010600030101010101" pitchFamily="2" charset="-122"/>
                <a:sym typeface="宋体" panose="02010600030101010101" pitchFamily="2" charset="-122"/>
              </a:rPr>
              <a:t>“</a:t>
            </a:r>
            <a:r>
              <a:rPr lang="en-US" altLang="zh-CN" sz="2200" b="1" kern="0" dirty="0">
                <a:solidFill>
                  <a:srgbClr val="FF0000"/>
                </a:solidFill>
                <a:latin typeface="宋体" panose="02010600030101010101" pitchFamily="2" charset="-122"/>
                <a:sym typeface="宋体" panose="02010600030101010101" pitchFamily="2" charset="-122"/>
              </a:rPr>
              <a:t>1.3 </a:t>
            </a:r>
            <a:r>
              <a:rPr lang="zh-CN" altLang="en-US" sz="2200" b="1" kern="0" dirty="0">
                <a:solidFill>
                  <a:srgbClr val="FF0000"/>
                </a:solidFill>
                <a:latin typeface="宋体" panose="02010600030101010101" pitchFamily="2" charset="-122"/>
                <a:sym typeface="宋体" panose="02010600030101010101" pitchFamily="2" charset="-122"/>
              </a:rPr>
              <a:t>“产生新文件”细化数据流图</a:t>
            </a:r>
            <a:endParaRPr lang="zh-CN" altLang="en-US" sz="2200" b="1" kern="0" dirty="0">
              <a:solidFill>
                <a:srgbClr val="FF0000"/>
              </a:solidFill>
              <a:latin typeface="宋体" panose="02010600030101010101" pitchFamily="2" charset="-122"/>
              <a:ea typeface="宋体" panose="02010600030101010101" pitchFamily="2" charset="-122"/>
              <a:sym typeface="宋体" panose="02010600030101010101" pitchFamily="2" charset="-122"/>
            </a:endParaRPr>
          </a:p>
        </p:txBody>
      </p:sp>
      <p:sp>
        <p:nvSpPr>
          <p:cNvPr id="4" name="日期占位符 3"/>
          <p:cNvSpPr>
            <a:spLocks noGrp="1"/>
          </p:cNvSpPr>
          <p:nvPr>
            <p:ph type="dt" sz="half" idx="10"/>
          </p:nvPr>
        </p:nvSpPr>
        <p:spPr/>
        <p:txBody>
          <a:bodyPr/>
          <a:lstStyle/>
          <a:p>
            <a:pPr>
              <a:defRPr/>
            </a:pPr>
            <a:fld id="{F574885E-EFC5-4A31-BBE5-56DDCD88ABE0}" type="datetime1">
              <a:rPr lang="zh-CN" altLang="en-US" smtClean="0">
                <a:solidFill>
                  <a:prstClr val="black">
                    <a:tint val="75000"/>
                  </a:prstClr>
                </a:solidFill>
              </a:rPr>
            </a:fld>
            <a:endParaRPr lang="zh-CN" altLang="en-US" dirty="0">
              <a:solidFill>
                <a:prstClr val="black">
                  <a:tint val="75000"/>
                </a:prstClr>
              </a:solidFill>
            </a:endParaRPr>
          </a:p>
        </p:txBody>
      </p:sp>
      <p:sp>
        <p:nvSpPr>
          <p:cNvPr id="5" name="灯片编号占位符 4"/>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p:tgtEl>
                                          <p:spTgt spid="25"/>
                                        </p:tgtEl>
                                        <p:attrNameLst>
                                          <p:attrName>ppt_x</p:attrName>
                                        </p:attrNameLst>
                                      </p:cBhvr>
                                      <p:tavLst>
                                        <p:tav tm="0">
                                          <p:val>
                                            <p:strVal val="#ppt_x+#ppt_w*1.125000"/>
                                          </p:val>
                                        </p:tav>
                                        <p:tav tm="100000">
                                          <p:val>
                                            <p:strVal val="#ppt_x"/>
                                          </p:val>
                                        </p:tav>
                                      </p:tavLst>
                                    </p:anim>
                                    <p:animEffect transition="in" filter="wipe(left)">
                                      <p:cBhvr>
                                        <p:cTn id="8" dur="500"/>
                                        <p:tgtEl>
                                          <p:spTgt spid="25"/>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77" grpId="0" animBg="1"/>
      <p:bldP spid="83" grpId="0"/>
      <p:bldP spid="84" grpId="0"/>
      <p:bldP spid="85" grpId="0"/>
      <p:bldP spid="86" grpId="0"/>
      <p:bldP spid="87" grpId="0"/>
      <p:bldP spid="88" grpId="0"/>
      <p:bldP spid="90" grpId="0"/>
      <p:bldP spid="91" grpId="0"/>
      <p:bldP spid="25" grpId="0"/>
      <p:bldP spid="28" grpId="0" animBg="1"/>
      <p:bldP spid="29"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文本框 148"/>
          <p:cNvSpPr txBox="1"/>
          <p:nvPr/>
        </p:nvSpPr>
        <p:spPr>
          <a:xfrm>
            <a:off x="8277311" y="5597898"/>
            <a:ext cx="719863" cy="706755"/>
          </a:xfrm>
          <a:prstGeom prst="rect">
            <a:avLst/>
          </a:prstGeom>
          <a:noFill/>
          <a:ln>
            <a:noFill/>
          </a:ln>
        </p:spPr>
        <p:txBody>
          <a:bodyPr wrap="square" rtlCol="0">
            <a:spAutoFit/>
          </a:bodyPr>
          <a:lstStyle/>
          <a:p>
            <a:pPr algn="ctr"/>
            <a:r>
              <a:rPr lang="zh-CN" altLang="en-US" sz="2000" b="1" dirty="0">
                <a:latin typeface="宋体" panose="02010600030101010101" pitchFamily="2" charset="-122"/>
                <a:ea typeface="宋体" panose="02010600030101010101" pitchFamily="2" charset="-122"/>
              </a:rPr>
              <a:t>配检查和</a:t>
            </a:r>
            <a:endParaRPr lang="zh-CN" altLang="en-US" sz="2000" b="1" dirty="0">
              <a:latin typeface="宋体" panose="02010600030101010101" pitchFamily="2" charset="-122"/>
              <a:ea typeface="宋体" panose="02010600030101010101" pitchFamily="2" charset="-122"/>
            </a:endParaRPr>
          </a:p>
        </p:txBody>
      </p:sp>
      <p:sp>
        <p:nvSpPr>
          <p:cNvPr id="148" name="文本框 147"/>
          <p:cNvSpPr txBox="1"/>
          <p:nvPr/>
        </p:nvSpPr>
        <p:spPr>
          <a:xfrm>
            <a:off x="6444225" y="5596177"/>
            <a:ext cx="1097430" cy="706755"/>
          </a:xfrm>
          <a:prstGeom prst="rect">
            <a:avLst/>
          </a:prstGeom>
          <a:noFill/>
          <a:ln>
            <a:noFill/>
          </a:ln>
        </p:spPr>
        <p:txBody>
          <a:bodyPr wrap="square" rtlCol="0">
            <a:spAutoFit/>
          </a:bodyPr>
          <a:lstStyle/>
          <a:p>
            <a:pPr algn="ctr"/>
            <a:r>
              <a:rPr lang="zh-CN" altLang="en-US" sz="2000" b="1" dirty="0">
                <a:latin typeface="宋体" panose="02010600030101010101" pitchFamily="2" charset="-122"/>
                <a:ea typeface="宋体" panose="02010600030101010101" pitchFamily="2" charset="-122"/>
              </a:rPr>
              <a:t>产生新纪录</a:t>
            </a:r>
            <a:endParaRPr lang="zh-CN" altLang="en-US" sz="2000" b="1" dirty="0">
              <a:latin typeface="宋体" panose="02010600030101010101" pitchFamily="2" charset="-122"/>
              <a:ea typeface="宋体" panose="02010600030101010101" pitchFamily="2" charset="-122"/>
            </a:endParaRPr>
          </a:p>
        </p:txBody>
      </p:sp>
      <p:sp>
        <p:nvSpPr>
          <p:cNvPr id="3" name="椭圆 2"/>
          <p:cNvSpPr/>
          <p:nvPr/>
        </p:nvSpPr>
        <p:spPr>
          <a:xfrm>
            <a:off x="3563426" y="1908046"/>
            <a:ext cx="721895" cy="66792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latin typeface="宋体" panose="02010600030101010101" pitchFamily="2" charset="-122"/>
              <a:ea typeface="宋体" panose="02010600030101010101" pitchFamily="2" charset="-122"/>
            </a:endParaRPr>
          </a:p>
        </p:txBody>
      </p:sp>
      <p:cxnSp>
        <p:nvCxnSpPr>
          <p:cNvPr id="5" name="直接箭头连接符 4"/>
          <p:cNvCxnSpPr>
            <a:stCxn id="3" idx="6"/>
          </p:cNvCxnSpPr>
          <p:nvPr/>
        </p:nvCxnSpPr>
        <p:spPr>
          <a:xfrm flipV="1">
            <a:off x="4285321" y="1937785"/>
            <a:ext cx="698977" cy="30422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7" name="直接箭头连接符 56"/>
          <p:cNvCxnSpPr>
            <a:stCxn id="3" idx="5"/>
          </p:cNvCxnSpPr>
          <p:nvPr/>
        </p:nvCxnSpPr>
        <p:spPr>
          <a:xfrm>
            <a:off x="4179602" y="2478152"/>
            <a:ext cx="386146" cy="22117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0" name="椭圆 59"/>
          <p:cNvSpPr/>
          <p:nvPr/>
        </p:nvSpPr>
        <p:spPr>
          <a:xfrm>
            <a:off x="4545428" y="2481852"/>
            <a:ext cx="721895" cy="66792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latin typeface="宋体" panose="02010600030101010101" pitchFamily="2" charset="-122"/>
              <a:ea typeface="宋体" panose="02010600030101010101" pitchFamily="2" charset="-122"/>
            </a:endParaRPr>
          </a:p>
        </p:txBody>
      </p:sp>
      <p:cxnSp>
        <p:nvCxnSpPr>
          <p:cNvPr id="61" name="直接箭头连接符 60"/>
          <p:cNvCxnSpPr>
            <a:stCxn id="60" idx="6"/>
          </p:cNvCxnSpPr>
          <p:nvPr/>
        </p:nvCxnSpPr>
        <p:spPr>
          <a:xfrm flipV="1">
            <a:off x="5267323" y="2338250"/>
            <a:ext cx="900234" cy="4775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直接箭头连接符 61"/>
          <p:cNvCxnSpPr/>
          <p:nvPr/>
        </p:nvCxnSpPr>
        <p:spPr>
          <a:xfrm>
            <a:off x="5213383" y="3008423"/>
            <a:ext cx="414900" cy="262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4" name="椭圆 63"/>
          <p:cNvSpPr/>
          <p:nvPr/>
        </p:nvSpPr>
        <p:spPr>
          <a:xfrm>
            <a:off x="5596972" y="2915943"/>
            <a:ext cx="910191" cy="8435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latin typeface="宋体" panose="02010600030101010101" pitchFamily="2" charset="-122"/>
              <a:ea typeface="宋体" panose="02010600030101010101" pitchFamily="2" charset="-122"/>
            </a:endParaRPr>
          </a:p>
        </p:txBody>
      </p:sp>
      <p:cxnSp>
        <p:nvCxnSpPr>
          <p:cNvPr id="66" name="直接箭头连接符 65"/>
          <p:cNvCxnSpPr/>
          <p:nvPr/>
        </p:nvCxnSpPr>
        <p:spPr>
          <a:xfrm>
            <a:off x="6274427" y="3704049"/>
            <a:ext cx="488552" cy="31252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7" name="椭圆 66"/>
          <p:cNvSpPr/>
          <p:nvPr/>
        </p:nvSpPr>
        <p:spPr>
          <a:xfrm>
            <a:off x="6714388" y="3740702"/>
            <a:ext cx="721895" cy="66792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latin typeface="宋体" panose="02010600030101010101" pitchFamily="2" charset="-122"/>
              <a:ea typeface="宋体" panose="02010600030101010101" pitchFamily="2" charset="-122"/>
            </a:endParaRPr>
          </a:p>
        </p:txBody>
      </p:sp>
      <p:cxnSp>
        <p:nvCxnSpPr>
          <p:cNvPr id="69" name="直接箭头连接符 68"/>
          <p:cNvCxnSpPr>
            <a:stCxn id="67" idx="5"/>
          </p:cNvCxnSpPr>
          <p:nvPr/>
        </p:nvCxnSpPr>
        <p:spPr>
          <a:xfrm>
            <a:off x="7330564" y="4310808"/>
            <a:ext cx="649727" cy="4594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0" name="椭圆 69"/>
          <p:cNvSpPr/>
          <p:nvPr/>
        </p:nvSpPr>
        <p:spPr>
          <a:xfrm>
            <a:off x="7970274" y="4537635"/>
            <a:ext cx="721895" cy="66792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latin typeface="宋体" panose="02010600030101010101" pitchFamily="2" charset="-122"/>
              <a:ea typeface="宋体" panose="02010600030101010101" pitchFamily="2" charset="-122"/>
            </a:endParaRPr>
          </a:p>
        </p:txBody>
      </p:sp>
      <p:sp>
        <p:nvSpPr>
          <p:cNvPr id="73" name="椭圆 72"/>
          <p:cNvSpPr/>
          <p:nvPr/>
        </p:nvSpPr>
        <p:spPr>
          <a:xfrm>
            <a:off x="5478026" y="4255201"/>
            <a:ext cx="721895" cy="66792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latin typeface="宋体" panose="02010600030101010101" pitchFamily="2" charset="-122"/>
              <a:ea typeface="宋体" panose="02010600030101010101" pitchFamily="2" charset="-122"/>
            </a:endParaRPr>
          </a:p>
        </p:txBody>
      </p:sp>
      <p:cxnSp>
        <p:nvCxnSpPr>
          <p:cNvPr id="74" name="直接箭头连接符 73"/>
          <p:cNvCxnSpPr>
            <a:stCxn id="73" idx="6"/>
          </p:cNvCxnSpPr>
          <p:nvPr/>
        </p:nvCxnSpPr>
        <p:spPr>
          <a:xfrm flipV="1">
            <a:off x="6199921" y="4269980"/>
            <a:ext cx="577517" cy="31918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7" name="直接箭头连接符 76"/>
          <p:cNvCxnSpPr>
            <a:stCxn id="76" idx="6"/>
            <a:endCxn id="73" idx="3"/>
          </p:cNvCxnSpPr>
          <p:nvPr/>
        </p:nvCxnSpPr>
        <p:spPr>
          <a:xfrm flipV="1">
            <a:off x="4732190" y="4825307"/>
            <a:ext cx="851555" cy="4573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9" name="椭圆 78"/>
          <p:cNvSpPr/>
          <p:nvPr/>
        </p:nvSpPr>
        <p:spPr>
          <a:xfrm>
            <a:off x="6537469" y="5531035"/>
            <a:ext cx="921181" cy="77740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latin typeface="宋体" panose="02010600030101010101" pitchFamily="2" charset="-122"/>
              <a:ea typeface="宋体" panose="02010600030101010101" pitchFamily="2" charset="-122"/>
            </a:endParaRPr>
          </a:p>
        </p:txBody>
      </p:sp>
      <p:cxnSp>
        <p:nvCxnSpPr>
          <p:cNvPr id="80" name="直接箭头连接符 79"/>
          <p:cNvCxnSpPr>
            <a:stCxn id="79" idx="6"/>
            <a:endCxn id="82" idx="2"/>
          </p:cNvCxnSpPr>
          <p:nvPr/>
        </p:nvCxnSpPr>
        <p:spPr>
          <a:xfrm>
            <a:off x="7458650" y="5919736"/>
            <a:ext cx="845014" cy="50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2" name="椭圆 81"/>
          <p:cNvSpPr/>
          <p:nvPr/>
        </p:nvSpPr>
        <p:spPr>
          <a:xfrm>
            <a:off x="8303664" y="5536350"/>
            <a:ext cx="719863" cy="77696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latin typeface="宋体" panose="02010600030101010101" pitchFamily="2" charset="-122"/>
              <a:ea typeface="宋体" panose="02010600030101010101" pitchFamily="2" charset="-122"/>
            </a:endParaRPr>
          </a:p>
        </p:txBody>
      </p:sp>
      <p:cxnSp>
        <p:nvCxnSpPr>
          <p:cNvPr id="83" name="直接箭头连接符 82"/>
          <p:cNvCxnSpPr>
            <a:stCxn id="82" idx="6"/>
          </p:cNvCxnSpPr>
          <p:nvPr/>
        </p:nvCxnSpPr>
        <p:spPr>
          <a:xfrm flipV="1">
            <a:off x="9023527" y="5862921"/>
            <a:ext cx="1373254" cy="6191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0" name="直接箭头连接符 89"/>
          <p:cNvCxnSpPr/>
          <p:nvPr/>
        </p:nvCxnSpPr>
        <p:spPr>
          <a:xfrm>
            <a:off x="3036009" y="1869314"/>
            <a:ext cx="534489" cy="25715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1" name="文本框 90"/>
          <p:cNvSpPr txBox="1"/>
          <p:nvPr/>
        </p:nvSpPr>
        <p:spPr>
          <a:xfrm>
            <a:off x="2694994" y="2068216"/>
            <a:ext cx="721895" cy="615315"/>
          </a:xfrm>
          <a:prstGeom prst="rect">
            <a:avLst/>
          </a:prstGeom>
          <a:solidFill>
            <a:srgbClr val="FEFEFE"/>
          </a:solidFill>
        </p:spPr>
        <p:txBody>
          <a:bodyPr wrap="square" lIns="0" tIns="0" rIns="0" bIns="0" rtlCol="0">
            <a:spAutoFit/>
          </a:bodyPr>
          <a:lstStyle>
            <a:defPPr>
              <a:defRPr lang="zh-CN"/>
            </a:defPPr>
            <a:lvl1pPr algn="ctr">
              <a:defRPr sz="800"/>
            </a:lvl1pPr>
          </a:lstStyle>
          <a:p>
            <a:r>
              <a:rPr lang="zh-CN" altLang="en-US" sz="2000" b="1" dirty="0">
                <a:latin typeface="宋体" panose="02010600030101010101" pitchFamily="2" charset="-122"/>
                <a:ea typeface="宋体" panose="02010600030101010101" pitchFamily="2" charset="-122"/>
              </a:rPr>
              <a:t>修改卡片</a:t>
            </a:r>
            <a:endParaRPr lang="zh-CN" altLang="en-US" sz="2000" b="1" dirty="0">
              <a:latin typeface="宋体" panose="02010600030101010101" pitchFamily="2" charset="-122"/>
              <a:ea typeface="宋体" panose="02010600030101010101" pitchFamily="2" charset="-122"/>
            </a:endParaRPr>
          </a:p>
        </p:txBody>
      </p:sp>
      <p:sp>
        <p:nvSpPr>
          <p:cNvPr id="94" name="文本框 93"/>
          <p:cNvSpPr txBox="1"/>
          <p:nvPr/>
        </p:nvSpPr>
        <p:spPr>
          <a:xfrm>
            <a:off x="3710541" y="2663560"/>
            <a:ext cx="685866" cy="615315"/>
          </a:xfrm>
          <a:prstGeom prst="rect">
            <a:avLst/>
          </a:prstGeom>
          <a:solidFill>
            <a:srgbClr val="FDFDFD"/>
          </a:solidFill>
        </p:spPr>
        <p:txBody>
          <a:bodyPr wrap="square" lIns="0" tIns="0" rIns="0" bIns="0" rtlCol="0">
            <a:spAutoFit/>
          </a:bodyPr>
          <a:lstStyle/>
          <a:p>
            <a:pPr algn="ctr"/>
            <a:r>
              <a:rPr lang="zh-CN" altLang="en-US" sz="2000" b="1" dirty="0">
                <a:latin typeface="宋体" panose="02010600030101010101" pitchFamily="2" charset="-122"/>
                <a:ea typeface="宋体" panose="02010600030101010101" pitchFamily="2" charset="-122"/>
              </a:rPr>
              <a:t>顺序卡片</a:t>
            </a:r>
            <a:endParaRPr lang="zh-CN" altLang="en-US" sz="2000" b="1" dirty="0">
              <a:latin typeface="宋体" panose="02010600030101010101" pitchFamily="2" charset="-122"/>
              <a:ea typeface="宋体" panose="02010600030101010101" pitchFamily="2" charset="-122"/>
            </a:endParaRPr>
          </a:p>
        </p:txBody>
      </p:sp>
      <p:sp>
        <p:nvSpPr>
          <p:cNvPr id="95" name="文本框 94"/>
          <p:cNvSpPr txBox="1"/>
          <p:nvPr/>
        </p:nvSpPr>
        <p:spPr>
          <a:xfrm>
            <a:off x="4795280" y="3208121"/>
            <a:ext cx="631151" cy="615315"/>
          </a:xfrm>
          <a:prstGeom prst="rect">
            <a:avLst/>
          </a:prstGeom>
          <a:solidFill>
            <a:srgbClr val="FAFAF9"/>
          </a:solidFill>
        </p:spPr>
        <p:txBody>
          <a:bodyPr wrap="square" lIns="0" tIns="0" rIns="0" bIns="0" rtlCol="0">
            <a:spAutoFit/>
          </a:bodyPr>
          <a:lstStyle>
            <a:defPPr>
              <a:defRPr lang="zh-CN"/>
            </a:defPPr>
            <a:lvl1pPr algn="ctr">
              <a:defRPr sz="800"/>
            </a:lvl1pPr>
          </a:lstStyle>
          <a:p>
            <a:r>
              <a:rPr lang="zh-CN" altLang="en-US" sz="2000" b="1" dirty="0">
                <a:latin typeface="宋体" panose="02010600030101010101" pitchFamily="2" charset="-122"/>
                <a:ea typeface="宋体" panose="02010600030101010101" pitchFamily="2" charset="-122"/>
              </a:rPr>
              <a:t>合理卡片</a:t>
            </a:r>
            <a:endParaRPr lang="zh-CN" altLang="en-US" sz="2000" b="1" dirty="0">
              <a:latin typeface="宋体" panose="02010600030101010101" pitchFamily="2" charset="-122"/>
              <a:ea typeface="宋体" panose="02010600030101010101" pitchFamily="2" charset="-122"/>
            </a:endParaRPr>
          </a:p>
        </p:txBody>
      </p:sp>
      <p:sp>
        <p:nvSpPr>
          <p:cNvPr id="96" name="文本框 95"/>
          <p:cNvSpPr txBox="1"/>
          <p:nvPr/>
        </p:nvSpPr>
        <p:spPr>
          <a:xfrm>
            <a:off x="6615091" y="3061805"/>
            <a:ext cx="715474" cy="615315"/>
          </a:xfrm>
          <a:prstGeom prst="rect">
            <a:avLst/>
          </a:prstGeom>
          <a:solidFill>
            <a:srgbClr val="F9F9F8"/>
          </a:solidFill>
        </p:spPr>
        <p:txBody>
          <a:bodyPr wrap="square" lIns="0" tIns="0" rIns="0" bIns="0" rtlCol="0">
            <a:spAutoFit/>
          </a:bodyPr>
          <a:lstStyle>
            <a:defPPr>
              <a:defRPr lang="zh-CN"/>
            </a:defPPr>
            <a:lvl1pPr algn="ctr">
              <a:defRPr sz="800"/>
            </a:lvl1pPr>
          </a:lstStyle>
          <a:p>
            <a:r>
              <a:rPr lang="zh-CN" altLang="en-US" sz="2000" b="1" dirty="0">
                <a:latin typeface="宋体" panose="02010600030101010101" pitchFamily="2" charset="-122"/>
                <a:ea typeface="宋体" panose="02010600030101010101" pitchFamily="2" charset="-122"/>
              </a:rPr>
              <a:t>修改信息</a:t>
            </a:r>
            <a:endParaRPr lang="zh-CN" altLang="en-US" sz="2000" b="1" dirty="0">
              <a:latin typeface="宋体" panose="02010600030101010101" pitchFamily="2" charset="-122"/>
              <a:ea typeface="宋体" panose="02010600030101010101" pitchFamily="2" charset="-122"/>
            </a:endParaRPr>
          </a:p>
        </p:txBody>
      </p:sp>
      <p:sp>
        <p:nvSpPr>
          <p:cNvPr id="97" name="文本框 96"/>
          <p:cNvSpPr txBox="1"/>
          <p:nvPr/>
        </p:nvSpPr>
        <p:spPr>
          <a:xfrm>
            <a:off x="7593337" y="3766885"/>
            <a:ext cx="1104284" cy="615315"/>
          </a:xfrm>
          <a:prstGeom prst="rect">
            <a:avLst/>
          </a:prstGeom>
          <a:solidFill>
            <a:srgbClr val="F6F6F6"/>
          </a:solidFill>
        </p:spPr>
        <p:txBody>
          <a:bodyPr wrap="square" lIns="0" tIns="0" rIns="0" bIns="0" rtlCol="0">
            <a:spAutoFit/>
          </a:bodyPr>
          <a:lstStyle>
            <a:defPPr>
              <a:defRPr lang="zh-CN"/>
            </a:defPPr>
            <a:lvl1pPr algn="ctr">
              <a:defRPr sz="800"/>
            </a:lvl1pPr>
          </a:lstStyle>
          <a:p>
            <a:r>
              <a:rPr lang="zh-CN" altLang="en-US" sz="2000" b="1" dirty="0">
                <a:latin typeface="宋体" panose="02010600030101010101" pitchFamily="2" charset="-122"/>
                <a:ea typeface="宋体" panose="02010600030101010101" pitchFamily="2" charset="-122"/>
              </a:rPr>
              <a:t>需要修改的信息</a:t>
            </a:r>
            <a:endParaRPr lang="zh-CN" altLang="en-US" sz="2000" b="1" dirty="0">
              <a:latin typeface="宋体" panose="02010600030101010101" pitchFamily="2" charset="-122"/>
              <a:ea typeface="宋体" panose="02010600030101010101" pitchFamily="2" charset="-122"/>
            </a:endParaRPr>
          </a:p>
        </p:txBody>
      </p:sp>
      <p:sp>
        <p:nvSpPr>
          <p:cNvPr id="98" name="文本框 97"/>
          <p:cNvSpPr txBox="1"/>
          <p:nvPr/>
        </p:nvSpPr>
        <p:spPr>
          <a:xfrm>
            <a:off x="4276352" y="1734792"/>
            <a:ext cx="577517" cy="307340"/>
          </a:xfrm>
          <a:prstGeom prst="rect">
            <a:avLst/>
          </a:prstGeom>
          <a:solidFill>
            <a:srgbClr val="FDFDFD"/>
          </a:solidFill>
        </p:spPr>
        <p:txBody>
          <a:bodyPr wrap="square" lIns="0" tIns="0" rIns="0" bIns="0" rtlCol="0">
            <a:spAutoFit/>
          </a:bodyPr>
          <a:lstStyle>
            <a:defPPr>
              <a:defRPr lang="zh-CN"/>
            </a:defPPr>
            <a:lvl1pPr algn="ctr">
              <a:defRPr sz="800"/>
            </a:lvl1pPr>
          </a:lstStyle>
          <a:p>
            <a:r>
              <a:rPr lang="zh-CN" altLang="en-US" sz="2000" b="1" dirty="0">
                <a:latin typeface="宋体" panose="02010600030101010101" pitchFamily="2" charset="-122"/>
                <a:ea typeface="宋体" panose="02010600030101010101" pitchFamily="2" charset="-122"/>
              </a:rPr>
              <a:t>错误</a:t>
            </a:r>
            <a:endParaRPr lang="zh-CN" altLang="en-US" sz="2000" b="1" dirty="0">
              <a:latin typeface="宋体" panose="02010600030101010101" pitchFamily="2" charset="-122"/>
              <a:ea typeface="宋体" panose="02010600030101010101" pitchFamily="2" charset="-122"/>
            </a:endParaRPr>
          </a:p>
        </p:txBody>
      </p:sp>
      <p:sp>
        <p:nvSpPr>
          <p:cNvPr id="99" name="文本框 98"/>
          <p:cNvSpPr txBox="1"/>
          <p:nvPr/>
        </p:nvSpPr>
        <p:spPr>
          <a:xfrm>
            <a:off x="5258554" y="2182338"/>
            <a:ext cx="577517" cy="307340"/>
          </a:xfrm>
          <a:prstGeom prst="rect">
            <a:avLst/>
          </a:prstGeom>
          <a:solidFill>
            <a:srgbClr val="FCFCFC"/>
          </a:solidFill>
        </p:spPr>
        <p:txBody>
          <a:bodyPr wrap="square" lIns="0" tIns="0" rIns="0" bIns="0" rtlCol="0">
            <a:spAutoFit/>
          </a:bodyPr>
          <a:lstStyle>
            <a:defPPr>
              <a:defRPr lang="zh-CN"/>
            </a:defPPr>
            <a:lvl1pPr algn="ctr">
              <a:defRPr sz="800"/>
            </a:lvl1pPr>
          </a:lstStyle>
          <a:p>
            <a:r>
              <a:rPr lang="zh-CN" altLang="en-US" sz="2000" b="1" dirty="0">
                <a:latin typeface="宋体" panose="02010600030101010101" pitchFamily="2" charset="-122"/>
                <a:ea typeface="宋体" panose="02010600030101010101" pitchFamily="2" charset="-122"/>
              </a:rPr>
              <a:t>错误</a:t>
            </a:r>
            <a:endParaRPr lang="zh-CN" altLang="en-US" sz="2000" b="1" dirty="0">
              <a:latin typeface="宋体" panose="02010600030101010101" pitchFamily="2" charset="-122"/>
              <a:ea typeface="宋体" panose="02010600030101010101" pitchFamily="2" charset="-122"/>
            </a:endParaRPr>
          </a:p>
        </p:txBody>
      </p:sp>
      <p:sp>
        <p:nvSpPr>
          <p:cNvPr id="100" name="文本框 99"/>
          <p:cNvSpPr txBox="1"/>
          <p:nvPr/>
        </p:nvSpPr>
        <p:spPr>
          <a:xfrm>
            <a:off x="6283744" y="4394907"/>
            <a:ext cx="562102" cy="307340"/>
          </a:xfrm>
          <a:prstGeom prst="rect">
            <a:avLst/>
          </a:prstGeom>
          <a:solidFill>
            <a:srgbClr val="F6F6F5"/>
          </a:solidFill>
        </p:spPr>
        <p:txBody>
          <a:bodyPr wrap="square" lIns="0" tIns="0" rIns="0" bIns="0" rtlCol="0">
            <a:spAutoFit/>
          </a:bodyPr>
          <a:lstStyle>
            <a:defPPr>
              <a:defRPr lang="zh-CN"/>
            </a:defPPr>
            <a:lvl1pPr algn="ctr">
              <a:defRPr sz="800"/>
            </a:lvl1pPr>
          </a:lstStyle>
          <a:p>
            <a:r>
              <a:rPr lang="zh-CN" altLang="en-US" sz="2000" b="1" dirty="0">
                <a:latin typeface="宋体" panose="02010600030101010101" pitchFamily="2" charset="-122"/>
                <a:ea typeface="宋体" panose="02010600030101010101" pitchFamily="2" charset="-122"/>
              </a:rPr>
              <a:t>记录</a:t>
            </a:r>
            <a:endParaRPr lang="zh-CN" altLang="en-US" sz="2000" b="1" dirty="0">
              <a:latin typeface="宋体" panose="02010600030101010101" pitchFamily="2" charset="-122"/>
              <a:ea typeface="宋体" panose="02010600030101010101" pitchFamily="2" charset="-122"/>
            </a:endParaRPr>
          </a:p>
        </p:txBody>
      </p:sp>
      <p:cxnSp>
        <p:nvCxnSpPr>
          <p:cNvPr id="105" name="直接箭头连接符 104"/>
          <p:cNvCxnSpPr>
            <a:stCxn id="67" idx="4"/>
          </p:cNvCxnSpPr>
          <p:nvPr/>
        </p:nvCxnSpPr>
        <p:spPr>
          <a:xfrm flipH="1">
            <a:off x="6969617" y="4408623"/>
            <a:ext cx="105719" cy="11629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6" name="直接箭头连接符 105"/>
          <p:cNvCxnSpPr>
            <a:stCxn id="70" idx="3"/>
          </p:cNvCxnSpPr>
          <p:nvPr/>
        </p:nvCxnSpPr>
        <p:spPr>
          <a:xfrm flipH="1">
            <a:off x="7365712" y="5107741"/>
            <a:ext cx="710281" cy="5847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3" name="文本框 112"/>
          <p:cNvSpPr txBox="1"/>
          <p:nvPr/>
        </p:nvSpPr>
        <p:spPr>
          <a:xfrm>
            <a:off x="9150303" y="5518215"/>
            <a:ext cx="1197893" cy="307340"/>
          </a:xfrm>
          <a:prstGeom prst="rect">
            <a:avLst/>
          </a:prstGeom>
          <a:solidFill>
            <a:srgbClr val="EFEFEE"/>
          </a:solidFill>
        </p:spPr>
        <p:txBody>
          <a:bodyPr wrap="square" lIns="0" tIns="0" rIns="0" bIns="0" rtlCol="0">
            <a:spAutoFit/>
          </a:bodyPr>
          <a:lstStyle>
            <a:defPPr>
              <a:defRPr lang="zh-CN"/>
            </a:defPPr>
            <a:lvl1pPr algn="ctr">
              <a:defRPr sz="800"/>
            </a:lvl1pPr>
          </a:lstStyle>
          <a:p>
            <a:r>
              <a:rPr lang="zh-CN" altLang="en-US" sz="2000" b="1" dirty="0">
                <a:latin typeface="宋体" panose="02010600030101010101" pitchFamily="2" charset="-122"/>
                <a:ea typeface="宋体" panose="02010600030101010101" pitchFamily="2" charset="-122"/>
              </a:rPr>
              <a:t>新主文件</a:t>
            </a:r>
            <a:endParaRPr lang="zh-CN" altLang="en-US" sz="2000" b="1" dirty="0">
              <a:latin typeface="宋体" panose="02010600030101010101" pitchFamily="2" charset="-122"/>
              <a:ea typeface="宋体" panose="02010600030101010101" pitchFamily="2" charset="-122"/>
            </a:endParaRPr>
          </a:p>
        </p:txBody>
      </p:sp>
      <p:sp>
        <p:nvSpPr>
          <p:cNvPr id="115" name="文本框 114"/>
          <p:cNvSpPr txBox="1"/>
          <p:nvPr/>
        </p:nvSpPr>
        <p:spPr>
          <a:xfrm>
            <a:off x="7365712" y="5210438"/>
            <a:ext cx="1538524" cy="307340"/>
          </a:xfrm>
          <a:prstGeom prst="rect">
            <a:avLst/>
          </a:prstGeom>
          <a:solidFill>
            <a:srgbClr val="F3F3F2"/>
          </a:solidFill>
        </p:spPr>
        <p:txBody>
          <a:bodyPr wrap="square" lIns="0" tIns="0" rIns="0" bIns="0" rtlCol="0">
            <a:spAutoFit/>
          </a:bodyPr>
          <a:lstStyle>
            <a:defPPr>
              <a:defRPr lang="zh-CN"/>
            </a:defPPr>
            <a:lvl1pPr algn="ctr">
              <a:defRPr sz="800"/>
            </a:lvl1pPr>
          </a:lstStyle>
          <a:p>
            <a:r>
              <a:rPr lang="zh-CN" altLang="en-US" sz="2000" b="1" dirty="0">
                <a:latin typeface="宋体" panose="02010600030101010101" pitchFamily="2" charset="-122"/>
                <a:ea typeface="宋体" panose="02010600030101010101" pitchFamily="2" charset="-122"/>
              </a:rPr>
              <a:t>修改后的记录</a:t>
            </a:r>
            <a:endParaRPr lang="zh-CN" altLang="en-US" sz="2000" b="1" dirty="0">
              <a:latin typeface="宋体" panose="02010600030101010101" pitchFamily="2" charset="-122"/>
              <a:ea typeface="宋体" panose="02010600030101010101" pitchFamily="2" charset="-122"/>
            </a:endParaRPr>
          </a:p>
        </p:txBody>
      </p:sp>
      <p:sp>
        <p:nvSpPr>
          <p:cNvPr id="116" name="文本框 115"/>
          <p:cNvSpPr txBox="1"/>
          <p:nvPr/>
        </p:nvSpPr>
        <p:spPr>
          <a:xfrm>
            <a:off x="6165635" y="4871595"/>
            <a:ext cx="1095218" cy="615315"/>
          </a:xfrm>
          <a:prstGeom prst="rect">
            <a:avLst/>
          </a:prstGeom>
          <a:solidFill>
            <a:srgbClr val="F6F6F5"/>
          </a:solidFill>
        </p:spPr>
        <p:txBody>
          <a:bodyPr wrap="square" lIns="0" tIns="0" rIns="0" bIns="0" rtlCol="0">
            <a:spAutoFit/>
          </a:bodyPr>
          <a:lstStyle>
            <a:defPPr>
              <a:defRPr lang="zh-CN"/>
            </a:defPPr>
            <a:lvl1pPr algn="ctr">
              <a:defRPr sz="800"/>
            </a:lvl1pPr>
          </a:lstStyle>
          <a:p>
            <a:r>
              <a:rPr lang="zh-CN" altLang="en-US" sz="2000" b="1" dirty="0">
                <a:latin typeface="宋体" panose="02010600030101010101" pitchFamily="2" charset="-122"/>
                <a:ea typeface="宋体" panose="02010600030101010101" pitchFamily="2" charset="-122"/>
              </a:rPr>
              <a:t>不需要修改的信息</a:t>
            </a:r>
            <a:endParaRPr lang="zh-CN" altLang="en-US" sz="2000" b="1" dirty="0">
              <a:latin typeface="宋体" panose="02010600030101010101" pitchFamily="2" charset="-122"/>
              <a:ea typeface="宋体" panose="02010600030101010101" pitchFamily="2" charset="-122"/>
            </a:endParaRPr>
          </a:p>
        </p:txBody>
      </p:sp>
      <p:grpSp>
        <p:nvGrpSpPr>
          <p:cNvPr id="38" name="组合 37"/>
          <p:cNvGrpSpPr/>
          <p:nvPr/>
        </p:nvGrpSpPr>
        <p:grpSpPr>
          <a:xfrm>
            <a:off x="2763956" y="4474451"/>
            <a:ext cx="1968234" cy="1634559"/>
            <a:chOff x="2365306" y="3811968"/>
            <a:chExt cx="1968234" cy="1634559"/>
          </a:xfrm>
        </p:grpSpPr>
        <p:sp>
          <p:nvSpPr>
            <p:cNvPr id="76" name="椭圆 75"/>
            <p:cNvSpPr/>
            <p:nvPr/>
          </p:nvSpPr>
          <p:spPr>
            <a:xfrm>
              <a:off x="3611645" y="4286186"/>
              <a:ext cx="721895" cy="66792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latin typeface="宋体" panose="02010600030101010101" pitchFamily="2" charset="-122"/>
                <a:ea typeface="宋体" panose="02010600030101010101" pitchFamily="2" charset="-122"/>
              </a:endParaRPr>
            </a:p>
          </p:txBody>
        </p:sp>
        <p:cxnSp>
          <p:nvCxnSpPr>
            <p:cNvPr id="102" name="直接箭头连接符 101"/>
            <p:cNvCxnSpPr>
              <a:stCxn id="76" idx="0"/>
            </p:cNvCxnSpPr>
            <p:nvPr/>
          </p:nvCxnSpPr>
          <p:spPr>
            <a:xfrm flipH="1" flipV="1">
              <a:off x="3423966" y="3863649"/>
              <a:ext cx="548627" cy="42253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3" name="文本框 102"/>
            <p:cNvSpPr txBox="1"/>
            <p:nvPr/>
          </p:nvSpPr>
          <p:spPr>
            <a:xfrm>
              <a:off x="3560795" y="3811968"/>
              <a:ext cx="729983" cy="398780"/>
            </a:xfrm>
            <a:prstGeom prst="rect">
              <a:avLst/>
            </a:prstGeom>
            <a:solidFill>
              <a:srgbClr val="F9F9F9"/>
            </a:solidFill>
          </p:spPr>
          <p:txBody>
            <a:bodyPr wrap="square" rtlCol="0">
              <a:spAutoFit/>
            </a:bodyPr>
            <a:lstStyle>
              <a:defPPr>
                <a:defRPr lang="zh-CN"/>
              </a:defPPr>
              <a:lvl1pPr algn="ctr">
                <a:defRPr sz="800"/>
              </a:lvl1pPr>
            </a:lstStyle>
            <a:p>
              <a:r>
                <a:rPr lang="zh-CN" altLang="en-US" sz="2000" b="1" dirty="0">
                  <a:latin typeface="宋体" panose="02010600030101010101" pitchFamily="2" charset="-122"/>
                  <a:ea typeface="宋体" panose="02010600030101010101" pitchFamily="2" charset="-122"/>
                </a:rPr>
                <a:t>错误</a:t>
              </a:r>
              <a:endParaRPr lang="zh-CN" altLang="en-US" sz="2000" b="1" dirty="0">
                <a:latin typeface="宋体" panose="02010600030101010101" pitchFamily="2" charset="-122"/>
                <a:ea typeface="宋体" panose="02010600030101010101" pitchFamily="2" charset="-122"/>
              </a:endParaRPr>
            </a:p>
          </p:txBody>
        </p:sp>
        <p:cxnSp>
          <p:nvCxnSpPr>
            <p:cNvPr id="104" name="直接箭头连接符 103"/>
            <p:cNvCxnSpPr/>
            <p:nvPr/>
          </p:nvCxnSpPr>
          <p:spPr>
            <a:xfrm flipV="1">
              <a:off x="2937612" y="4776662"/>
              <a:ext cx="721895" cy="39659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9" name="文本框 138"/>
            <p:cNvSpPr txBox="1"/>
            <p:nvPr/>
          </p:nvSpPr>
          <p:spPr>
            <a:xfrm>
              <a:off x="2365306" y="4739772"/>
              <a:ext cx="1026192" cy="706755"/>
            </a:xfrm>
            <a:prstGeom prst="rect">
              <a:avLst/>
            </a:prstGeom>
            <a:solidFill>
              <a:srgbClr val="F8F8F7"/>
            </a:solidFill>
          </p:spPr>
          <p:txBody>
            <a:bodyPr wrap="square" rtlCol="0">
              <a:spAutoFit/>
            </a:bodyPr>
            <a:lstStyle>
              <a:defPPr>
                <a:defRPr lang="zh-CN"/>
              </a:defPPr>
              <a:lvl1pPr algn="ctr">
                <a:defRPr sz="800"/>
              </a:lvl1pPr>
            </a:lstStyle>
            <a:p>
              <a:r>
                <a:rPr lang="zh-CN" altLang="en-US" sz="2000" b="1" dirty="0">
                  <a:latin typeface="宋体" panose="02010600030101010101" pitchFamily="2" charset="-122"/>
                  <a:ea typeface="宋体" panose="02010600030101010101" pitchFamily="2" charset="-122"/>
                </a:rPr>
                <a:t>旧主文件</a:t>
              </a:r>
              <a:endParaRPr lang="zh-CN" altLang="en-US" sz="2000" b="1" dirty="0">
                <a:latin typeface="宋体" panose="02010600030101010101" pitchFamily="2" charset="-122"/>
                <a:ea typeface="宋体" panose="02010600030101010101" pitchFamily="2" charset="-122"/>
              </a:endParaRPr>
            </a:p>
          </p:txBody>
        </p:sp>
      </p:grpSp>
      <p:sp>
        <p:nvSpPr>
          <p:cNvPr id="140" name="文本框 139"/>
          <p:cNvSpPr txBox="1"/>
          <p:nvPr/>
        </p:nvSpPr>
        <p:spPr>
          <a:xfrm>
            <a:off x="4818044" y="5040799"/>
            <a:ext cx="895697" cy="615315"/>
          </a:xfrm>
          <a:prstGeom prst="rect">
            <a:avLst/>
          </a:prstGeom>
          <a:solidFill>
            <a:srgbClr val="F7F7F7"/>
          </a:solidFill>
        </p:spPr>
        <p:txBody>
          <a:bodyPr wrap="square" lIns="0" tIns="0" rIns="0" bIns="0" rtlCol="0">
            <a:spAutoFit/>
          </a:bodyPr>
          <a:lstStyle>
            <a:defPPr>
              <a:defRPr lang="zh-CN"/>
            </a:defPPr>
            <a:lvl1pPr algn="ctr">
              <a:defRPr sz="800"/>
            </a:lvl1pPr>
          </a:lstStyle>
          <a:p>
            <a:r>
              <a:rPr lang="zh-CN" altLang="en-US" sz="2000" b="1" dirty="0">
                <a:latin typeface="宋体" panose="02010600030101010101" pitchFamily="2" charset="-122"/>
                <a:ea typeface="宋体" panose="02010600030101010101" pitchFamily="2" charset="-122"/>
              </a:rPr>
              <a:t>正确主文件</a:t>
            </a:r>
            <a:endParaRPr lang="zh-CN" altLang="en-US" sz="2000" b="1" dirty="0">
              <a:latin typeface="宋体" panose="02010600030101010101" pitchFamily="2" charset="-122"/>
              <a:ea typeface="宋体" panose="02010600030101010101" pitchFamily="2" charset="-122"/>
            </a:endParaRPr>
          </a:p>
        </p:txBody>
      </p:sp>
      <p:sp>
        <p:nvSpPr>
          <p:cNvPr id="142" name="文本框 141"/>
          <p:cNvSpPr txBox="1"/>
          <p:nvPr/>
        </p:nvSpPr>
        <p:spPr>
          <a:xfrm>
            <a:off x="3526824" y="1912003"/>
            <a:ext cx="804152" cy="706755"/>
          </a:xfrm>
          <a:prstGeom prst="rect">
            <a:avLst/>
          </a:prstGeom>
          <a:noFill/>
        </p:spPr>
        <p:txBody>
          <a:bodyPr wrap="square" rtlCol="0">
            <a:spAutoFit/>
          </a:bodyPr>
          <a:lstStyle/>
          <a:p>
            <a:pPr algn="ctr"/>
            <a:r>
              <a:rPr lang="zh-CN" altLang="en-US" sz="2000" b="1" dirty="0">
                <a:latin typeface="宋体" panose="02010600030101010101" pitchFamily="2" charset="-122"/>
                <a:ea typeface="宋体" panose="02010600030101010101" pitchFamily="2" charset="-122"/>
              </a:rPr>
              <a:t>检查顺序</a:t>
            </a:r>
            <a:endParaRPr lang="zh-CN" altLang="en-US" sz="2000" b="1" dirty="0">
              <a:latin typeface="宋体" panose="02010600030101010101" pitchFamily="2" charset="-122"/>
              <a:ea typeface="宋体" panose="02010600030101010101" pitchFamily="2" charset="-122"/>
            </a:endParaRPr>
          </a:p>
        </p:txBody>
      </p:sp>
      <p:sp>
        <p:nvSpPr>
          <p:cNvPr id="143" name="文本框 142"/>
          <p:cNvSpPr txBox="1"/>
          <p:nvPr/>
        </p:nvSpPr>
        <p:spPr>
          <a:xfrm>
            <a:off x="4474388" y="2619889"/>
            <a:ext cx="864414" cy="398780"/>
          </a:xfrm>
          <a:prstGeom prst="rect">
            <a:avLst/>
          </a:prstGeom>
          <a:noFill/>
        </p:spPr>
        <p:txBody>
          <a:bodyPr wrap="square" rtlCol="0">
            <a:spAutoFit/>
          </a:bodyPr>
          <a:lstStyle/>
          <a:p>
            <a:pPr algn="ctr"/>
            <a:r>
              <a:rPr lang="zh-CN" altLang="en-US" sz="2000" b="1" dirty="0">
                <a:latin typeface="宋体" panose="02010600030101010101" pitchFamily="2" charset="-122"/>
                <a:ea typeface="宋体" panose="02010600030101010101" pitchFamily="2" charset="-122"/>
              </a:rPr>
              <a:t>编辑</a:t>
            </a:r>
            <a:endParaRPr lang="zh-CN" altLang="en-US" sz="2000" b="1" dirty="0">
              <a:latin typeface="宋体" panose="02010600030101010101" pitchFamily="2" charset="-122"/>
              <a:ea typeface="宋体" panose="02010600030101010101" pitchFamily="2" charset="-122"/>
            </a:endParaRPr>
          </a:p>
        </p:txBody>
      </p:sp>
      <p:sp>
        <p:nvSpPr>
          <p:cNvPr id="144" name="文本框 143"/>
          <p:cNvSpPr txBox="1"/>
          <p:nvPr/>
        </p:nvSpPr>
        <p:spPr>
          <a:xfrm>
            <a:off x="5573260" y="2971336"/>
            <a:ext cx="956983" cy="706755"/>
          </a:xfrm>
          <a:prstGeom prst="rect">
            <a:avLst/>
          </a:prstGeom>
          <a:noFill/>
          <a:ln>
            <a:noFill/>
          </a:ln>
        </p:spPr>
        <p:txBody>
          <a:bodyPr wrap="square" rtlCol="0">
            <a:spAutoFit/>
          </a:bodyPr>
          <a:lstStyle/>
          <a:p>
            <a:pPr algn="ctr"/>
            <a:r>
              <a:rPr lang="zh-CN" altLang="en-US" sz="2000" b="1" dirty="0">
                <a:latin typeface="宋体" panose="02010600030101010101" pitchFamily="2" charset="-122"/>
                <a:ea typeface="宋体" panose="02010600030101010101" pitchFamily="2" charset="-122"/>
              </a:rPr>
              <a:t>构成修改信息</a:t>
            </a:r>
            <a:endParaRPr lang="zh-CN" altLang="en-US" sz="2000" b="1" dirty="0">
              <a:latin typeface="宋体" panose="02010600030101010101" pitchFamily="2" charset="-122"/>
              <a:ea typeface="宋体" panose="02010600030101010101" pitchFamily="2" charset="-122"/>
            </a:endParaRPr>
          </a:p>
        </p:txBody>
      </p:sp>
      <p:sp>
        <p:nvSpPr>
          <p:cNvPr id="145" name="文本框 144"/>
          <p:cNvSpPr txBox="1"/>
          <p:nvPr/>
        </p:nvSpPr>
        <p:spPr>
          <a:xfrm>
            <a:off x="6650389" y="3896287"/>
            <a:ext cx="864414" cy="398780"/>
          </a:xfrm>
          <a:prstGeom prst="rect">
            <a:avLst/>
          </a:prstGeom>
          <a:noFill/>
        </p:spPr>
        <p:txBody>
          <a:bodyPr wrap="square" rtlCol="0">
            <a:spAutoFit/>
          </a:bodyPr>
          <a:lstStyle/>
          <a:p>
            <a:pPr algn="ctr"/>
            <a:r>
              <a:rPr lang="zh-CN" altLang="en-US" sz="2000" b="1" dirty="0">
                <a:latin typeface="宋体" panose="02010600030101010101" pitchFamily="2" charset="-122"/>
                <a:ea typeface="宋体" panose="02010600030101010101" pitchFamily="2" charset="-122"/>
              </a:rPr>
              <a:t>匹配</a:t>
            </a:r>
            <a:endParaRPr lang="zh-CN" altLang="en-US" sz="2000" b="1" dirty="0">
              <a:latin typeface="宋体" panose="02010600030101010101" pitchFamily="2" charset="-122"/>
              <a:ea typeface="宋体" panose="02010600030101010101" pitchFamily="2" charset="-122"/>
            </a:endParaRPr>
          </a:p>
        </p:txBody>
      </p:sp>
      <p:sp>
        <p:nvSpPr>
          <p:cNvPr id="147" name="文本框 146"/>
          <p:cNvSpPr txBox="1"/>
          <p:nvPr/>
        </p:nvSpPr>
        <p:spPr>
          <a:xfrm>
            <a:off x="7912454" y="4661812"/>
            <a:ext cx="864414" cy="398780"/>
          </a:xfrm>
          <a:prstGeom prst="rect">
            <a:avLst/>
          </a:prstGeom>
          <a:noFill/>
        </p:spPr>
        <p:txBody>
          <a:bodyPr wrap="square" rtlCol="0">
            <a:spAutoFit/>
          </a:bodyPr>
          <a:lstStyle/>
          <a:p>
            <a:pPr algn="ctr"/>
            <a:r>
              <a:rPr lang="zh-CN" altLang="en-US" sz="2000" b="1" dirty="0">
                <a:latin typeface="宋体" panose="02010600030101010101" pitchFamily="2" charset="-122"/>
                <a:ea typeface="宋体" panose="02010600030101010101" pitchFamily="2" charset="-122"/>
              </a:rPr>
              <a:t>修改</a:t>
            </a:r>
            <a:endParaRPr lang="zh-CN" altLang="en-US" sz="2000" b="1" dirty="0">
              <a:latin typeface="宋体" panose="02010600030101010101" pitchFamily="2" charset="-122"/>
              <a:ea typeface="宋体" panose="02010600030101010101" pitchFamily="2" charset="-122"/>
            </a:endParaRPr>
          </a:p>
        </p:txBody>
      </p:sp>
      <p:sp>
        <p:nvSpPr>
          <p:cNvPr id="150" name="文本框 149"/>
          <p:cNvSpPr txBox="1"/>
          <p:nvPr/>
        </p:nvSpPr>
        <p:spPr>
          <a:xfrm>
            <a:off x="5453252" y="4238935"/>
            <a:ext cx="795302" cy="706755"/>
          </a:xfrm>
          <a:prstGeom prst="rect">
            <a:avLst/>
          </a:prstGeom>
          <a:noFill/>
          <a:ln>
            <a:noFill/>
          </a:ln>
        </p:spPr>
        <p:txBody>
          <a:bodyPr wrap="square" rtlCol="0">
            <a:spAutoFit/>
          </a:bodyPr>
          <a:lstStyle/>
          <a:p>
            <a:pPr algn="ctr"/>
            <a:r>
              <a:rPr lang="zh-CN" altLang="en-US" sz="2000" b="1" dirty="0">
                <a:latin typeface="宋体" panose="02010600030101010101" pitchFamily="2" charset="-122"/>
                <a:ea typeface="宋体" panose="02010600030101010101" pitchFamily="2" charset="-122"/>
              </a:rPr>
              <a:t>构成记录</a:t>
            </a:r>
            <a:endParaRPr lang="zh-CN" altLang="en-US" sz="2000" b="1" dirty="0">
              <a:latin typeface="宋体" panose="02010600030101010101" pitchFamily="2" charset="-122"/>
              <a:ea typeface="宋体" panose="02010600030101010101" pitchFamily="2" charset="-122"/>
            </a:endParaRPr>
          </a:p>
        </p:txBody>
      </p:sp>
      <p:sp>
        <p:nvSpPr>
          <p:cNvPr id="151" name="文本框 150"/>
          <p:cNvSpPr txBox="1"/>
          <p:nvPr/>
        </p:nvSpPr>
        <p:spPr>
          <a:xfrm>
            <a:off x="3930866" y="5073105"/>
            <a:ext cx="864414" cy="398780"/>
          </a:xfrm>
          <a:prstGeom prst="rect">
            <a:avLst/>
          </a:prstGeom>
          <a:noFill/>
        </p:spPr>
        <p:txBody>
          <a:bodyPr wrap="square" rtlCol="0">
            <a:spAutoFit/>
          </a:bodyPr>
          <a:lstStyle/>
          <a:p>
            <a:pPr algn="ctr"/>
            <a:r>
              <a:rPr lang="zh-CN" altLang="en-US" sz="2000" b="1" dirty="0">
                <a:latin typeface="宋体" panose="02010600030101010101" pitchFamily="2" charset="-122"/>
                <a:ea typeface="宋体" panose="02010600030101010101" pitchFamily="2" charset="-122"/>
              </a:rPr>
              <a:t>核对</a:t>
            </a:r>
            <a:endParaRPr lang="zh-CN" altLang="en-US" sz="2000" b="1" dirty="0">
              <a:latin typeface="宋体" panose="02010600030101010101" pitchFamily="2" charset="-122"/>
              <a:ea typeface="宋体" panose="02010600030101010101" pitchFamily="2" charset="-122"/>
            </a:endParaRPr>
          </a:p>
        </p:txBody>
      </p:sp>
      <p:sp>
        <p:nvSpPr>
          <p:cNvPr id="63" name="文本框 62"/>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52" name="文本框 67"/>
          <p:cNvSpPr>
            <a:spLocks noChangeArrowheads="1"/>
          </p:cNvSpPr>
          <p:nvPr/>
        </p:nvSpPr>
        <p:spPr bwMode="auto">
          <a:xfrm>
            <a:off x="662594" y="796088"/>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）数据流图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53" name="矩形 52"/>
          <p:cNvSpPr/>
          <p:nvPr/>
        </p:nvSpPr>
        <p:spPr>
          <a:xfrm>
            <a:off x="2514683" y="1727200"/>
            <a:ext cx="8088662" cy="4581236"/>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4" name="文本框 67"/>
          <p:cNvSpPr>
            <a:spLocks noChangeArrowheads="1"/>
          </p:cNvSpPr>
          <p:nvPr/>
        </p:nvSpPr>
        <p:spPr bwMode="auto">
          <a:xfrm>
            <a:off x="5205792" y="1522803"/>
            <a:ext cx="3698443" cy="429895"/>
          </a:xfrm>
          <a:prstGeom prst="rect">
            <a:avLst/>
          </a:prstGeom>
          <a:solidFill>
            <a:schemeClr val="bg1"/>
          </a:solidFill>
          <a:ln>
            <a:solidFill>
              <a:srgbClr val="FF0000"/>
            </a:solidFill>
          </a:ln>
        </p:spPr>
        <p:txBody>
          <a:bodyPr wrap="square">
            <a:spAutoFit/>
          </a:bodyPr>
          <a:lstStyle/>
          <a:p>
            <a:pPr lvl="0" fontAlgn="base">
              <a:spcBef>
                <a:spcPct val="0"/>
              </a:spcBef>
              <a:spcAft>
                <a:spcPct val="0"/>
              </a:spcAft>
              <a:defRPr/>
            </a:pPr>
            <a:r>
              <a:rPr lang="zh-CN" altLang="en-US" sz="2200" b="1" kern="0" dirty="0">
                <a:solidFill>
                  <a:srgbClr val="FF0000"/>
                </a:solidFill>
                <a:latin typeface="宋体" panose="02010600030101010101" pitchFamily="2" charset="-122"/>
                <a:sym typeface="宋体" panose="02010600030101010101" pitchFamily="2" charset="-122"/>
              </a:rPr>
              <a:t>某系统最终细化的数据流程</a:t>
            </a:r>
            <a:endParaRPr lang="zh-CN" altLang="en-US" sz="2200" b="1" kern="0" dirty="0">
              <a:solidFill>
                <a:srgbClr val="FF0000"/>
              </a:solidFill>
              <a:latin typeface="宋体" panose="02010600030101010101" pitchFamily="2" charset="-122"/>
              <a:ea typeface="宋体" panose="02010600030101010101" pitchFamily="2" charset="-122"/>
              <a:sym typeface="宋体" panose="02010600030101010101" pitchFamily="2" charset="-122"/>
            </a:endParaRPr>
          </a:p>
        </p:txBody>
      </p:sp>
      <p:sp>
        <p:nvSpPr>
          <p:cNvPr id="2" name="日期占位符 1"/>
          <p:cNvSpPr>
            <a:spLocks noGrp="1"/>
          </p:cNvSpPr>
          <p:nvPr>
            <p:ph type="dt" sz="half" idx="10"/>
          </p:nvPr>
        </p:nvSpPr>
        <p:spPr/>
        <p:txBody>
          <a:bodyPr/>
          <a:lstStyle/>
          <a:p>
            <a:pPr>
              <a:defRPr/>
            </a:pPr>
            <a:fld id="{5D4A2D4E-0B9F-4E11-89FA-92B6933B90C0}"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additive="base">
                                        <p:cTn id="7" dur="500"/>
                                        <p:tgtEl>
                                          <p:spTgt spid="52"/>
                                        </p:tgtEl>
                                        <p:attrNameLst>
                                          <p:attrName>ppt_x</p:attrName>
                                        </p:attrNameLst>
                                      </p:cBhvr>
                                      <p:tavLst>
                                        <p:tav tm="0">
                                          <p:val>
                                            <p:strVal val="#ppt_x+#ppt_w*1.125000"/>
                                          </p:val>
                                        </p:tav>
                                        <p:tav tm="100000">
                                          <p:val>
                                            <p:strVal val="#ppt_x"/>
                                          </p:val>
                                        </p:tav>
                                      </p:tavLst>
                                    </p:anim>
                                    <p:animEffect transition="in" filter="wipe(left)">
                                      <p:cBhvr>
                                        <p:cTn id="8" dur="500"/>
                                        <p:tgtEl>
                                          <p:spTgt spid="52"/>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7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8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9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9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9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9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9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9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9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9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00"/>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05"/>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0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1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1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16"/>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38"/>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40"/>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4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4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44"/>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45"/>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47"/>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50"/>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0"/>
      <p:bldP spid="148" grpId="0"/>
      <p:bldP spid="3" grpId="0" animBg="1"/>
      <p:bldP spid="60" grpId="0" animBg="1"/>
      <p:bldP spid="64" grpId="0" animBg="1"/>
      <p:bldP spid="67" grpId="0" animBg="1"/>
      <p:bldP spid="70" grpId="0" animBg="1"/>
      <p:bldP spid="73" grpId="0" animBg="1"/>
      <p:bldP spid="79" grpId="0" animBg="1"/>
      <p:bldP spid="82" grpId="0" animBg="1"/>
      <p:bldP spid="91" grpId="0" bldLvl="0" animBg="1"/>
      <p:bldP spid="94" grpId="0" bldLvl="0" animBg="1"/>
      <p:bldP spid="95" grpId="0" bldLvl="0" animBg="1"/>
      <p:bldP spid="96" grpId="0" bldLvl="0" animBg="1"/>
      <p:bldP spid="97" grpId="0" bldLvl="0" animBg="1"/>
      <p:bldP spid="98" grpId="0" bldLvl="0" animBg="1"/>
      <p:bldP spid="99" grpId="0" bldLvl="0" animBg="1"/>
      <p:bldP spid="100" grpId="0" bldLvl="0" animBg="1"/>
      <p:bldP spid="113" grpId="0" bldLvl="0" animBg="1"/>
      <p:bldP spid="115" grpId="0" bldLvl="0" animBg="1"/>
      <p:bldP spid="116" grpId="0" bldLvl="0" animBg="1"/>
      <p:bldP spid="140" grpId="0" bldLvl="0" animBg="1"/>
      <p:bldP spid="142" grpId="0"/>
      <p:bldP spid="143" grpId="0"/>
      <p:bldP spid="144" grpId="0"/>
      <p:bldP spid="145" grpId="0"/>
      <p:bldP spid="147" grpId="0"/>
      <p:bldP spid="150" grpId="0"/>
      <p:bldP spid="151" grpId="0"/>
      <p:bldP spid="52" grpId="0"/>
      <p:bldP spid="53" grpId="0" animBg="1"/>
      <p:bldP spid="54"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文本框 175"/>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77" name="矩形: 圆角 176"/>
          <p:cNvSpPr/>
          <p:nvPr/>
        </p:nvSpPr>
        <p:spPr>
          <a:xfrm>
            <a:off x="700218" y="1697197"/>
            <a:ext cx="10793282" cy="67056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solidFill>
                  <a:srgbClr val="FF0000"/>
                </a:solidFill>
                <a:latin typeface="宋体" panose="02010600030101010101" pitchFamily="2" charset="-122"/>
                <a:ea typeface="宋体" panose="02010600030101010101" pitchFamily="2" charset="-122"/>
              </a:rPr>
              <a:t>关联图是数据流图最高层的抽象</a:t>
            </a:r>
            <a:r>
              <a:rPr lang="en-US" altLang="zh-CN" sz="2200" b="1" dirty="0">
                <a:solidFill>
                  <a:srgbClr val="FF0000"/>
                </a:solidFill>
                <a:latin typeface="宋体" panose="02010600030101010101" pitchFamily="2" charset="-122"/>
                <a:ea typeface="宋体" panose="02010600030101010101" pitchFamily="2" charset="-122"/>
              </a:rPr>
              <a:t>:</a:t>
            </a:r>
            <a:endPar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endParaRPr>
          </a:p>
        </p:txBody>
      </p:sp>
      <p:sp>
        <p:nvSpPr>
          <p:cNvPr id="179" name="矩形: 圆角 178"/>
          <p:cNvSpPr/>
          <p:nvPr/>
        </p:nvSpPr>
        <p:spPr>
          <a:xfrm>
            <a:off x="700218" y="1697197"/>
            <a:ext cx="10793282" cy="4084767"/>
          </a:xfrm>
          <a:prstGeom prst="round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p:txBody>
      </p:sp>
      <p:sp>
        <p:nvSpPr>
          <p:cNvPr id="6"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）数据流图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7" name="矩形: 圆角 6"/>
          <p:cNvSpPr/>
          <p:nvPr/>
        </p:nvSpPr>
        <p:spPr>
          <a:xfrm>
            <a:off x="917936" y="4624842"/>
            <a:ext cx="10356128" cy="670560"/>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defRPr/>
            </a:pPr>
            <a:r>
              <a:rPr lang="en-US" altLang="zh-CN" sz="2200" b="1" dirty="0">
                <a:solidFill>
                  <a:schemeClr val="tx1"/>
                </a:solidFill>
                <a:latin typeface="宋体" panose="02010600030101010101" pitchFamily="2" charset="-122"/>
                <a:ea typeface="宋体" panose="02010600030101010101" pitchFamily="2" charset="-122"/>
              </a:rPr>
              <a:t>3)</a:t>
            </a:r>
            <a:r>
              <a:rPr lang="zh-CN" altLang="en-US" sz="2200" b="1" dirty="0">
                <a:solidFill>
                  <a:schemeClr val="tx1"/>
                </a:solidFill>
                <a:latin typeface="宋体" panose="02010600030101010101" pitchFamily="2" charset="-122"/>
                <a:ea typeface="宋体" panose="02010600030101010101" pitchFamily="2" charset="-122"/>
              </a:rPr>
              <a:t>可把关联图详述成</a:t>
            </a:r>
            <a:r>
              <a:rPr lang="zh-CN" altLang="en-US" sz="2200" b="1" dirty="0">
                <a:solidFill>
                  <a:srgbClr val="FF0000"/>
                </a:solidFill>
                <a:latin typeface="宋体" panose="02010600030101010101" pitchFamily="2" charset="-122"/>
                <a:ea typeface="宋体" panose="02010600030101010101" pitchFamily="2" charset="-122"/>
              </a:rPr>
              <a:t>顶层数据流图</a:t>
            </a:r>
            <a:r>
              <a:rPr lang="zh-CN" altLang="en-US" sz="2200" b="1" dirty="0">
                <a:solidFill>
                  <a:schemeClr val="tx1"/>
                </a:solidFill>
                <a:latin typeface="宋体" panose="02010600030101010101" pitchFamily="2" charset="-122"/>
                <a:ea typeface="宋体" panose="02010600030101010101" pitchFamily="2" charset="-122"/>
              </a:rPr>
              <a:t>，将系统划分为主要部分或过程</a:t>
            </a:r>
            <a:endParaRPr lang="zh-CN" altLang="en-US" sz="2200" b="1" dirty="0">
              <a:solidFill>
                <a:schemeClr val="tx1"/>
              </a:solidFill>
              <a:latin typeface="宋体" panose="02010600030101010101" pitchFamily="2" charset="-122"/>
              <a:ea typeface="宋体" panose="02010600030101010101" pitchFamily="2" charset="-122"/>
            </a:endParaRPr>
          </a:p>
        </p:txBody>
      </p:sp>
      <p:sp>
        <p:nvSpPr>
          <p:cNvPr id="8" name="矩形: 圆角 7"/>
          <p:cNvSpPr/>
          <p:nvPr/>
        </p:nvSpPr>
        <p:spPr>
          <a:xfrm>
            <a:off x="893676" y="3369878"/>
            <a:ext cx="10356215" cy="104473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2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2)</a:t>
            </a:r>
            <a:r>
              <a:rPr kumimoji="0" lang="zh-CN" altLang="en-US" sz="22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关联图还表示出外部实体或与系统有关的端点，以及在系统与端点之间的数据和物质流</a:t>
            </a:r>
            <a:endParaRPr kumimoji="0" lang="zh-CN" altLang="en-US" sz="22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
        <p:nvSpPr>
          <p:cNvPr id="9" name="矩形: 圆角 8"/>
          <p:cNvSpPr/>
          <p:nvPr/>
        </p:nvSpPr>
        <p:spPr>
          <a:xfrm>
            <a:off x="893763" y="2502942"/>
            <a:ext cx="10356128" cy="670560"/>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2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zh-CN" altLang="en-US" sz="22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关联图把整个系统表示成一个简单的黑匣子的过程，并用一个圆圈表示</a:t>
            </a:r>
            <a:endParaRPr kumimoji="0" lang="zh-CN" altLang="en-US" sz="22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
        <p:nvSpPr>
          <p:cNvPr id="2" name="日期占位符 1"/>
          <p:cNvSpPr>
            <a:spLocks noGrp="1"/>
          </p:cNvSpPr>
          <p:nvPr>
            <p:ph type="dt" sz="half" idx="10"/>
          </p:nvPr>
        </p:nvSpPr>
        <p:spPr/>
        <p:txBody>
          <a:bodyPr/>
          <a:lstStyle/>
          <a:p>
            <a:pPr>
              <a:defRPr/>
            </a:pPr>
            <a:fld id="{E77CD79C-B7E2-4C77-9810-40D1935C765D}"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ppt_x</p:attrName>
                                        </p:attrNameLst>
                                      </p:cBhvr>
                                      <p:tavLst>
                                        <p:tav tm="0">
                                          <p:val>
                                            <p:strVal val="#ppt_x+#ppt_w*1.125000"/>
                                          </p:val>
                                        </p:tav>
                                        <p:tav tm="100000">
                                          <p:val>
                                            <p:strVal val="#ppt_x"/>
                                          </p:val>
                                        </p:tav>
                                      </p:tavLst>
                                    </p:anim>
                                    <p:animEffect transition="in" filter="wipe(left)">
                                      <p:cBhvr>
                                        <p:cTn id="8" dur="500"/>
                                        <p:tgtEl>
                                          <p:spTgt spid="6"/>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 grpId="0"/>
      <p:bldP spid="179" grpId="0" animBg="1"/>
      <p:bldP spid="6" grpId="0"/>
      <p:bldP spid="7" grpId="0" bldLvl="0" animBg="1"/>
      <p:bldP spid="8" grpId="0" bldLvl="0" animBg="1"/>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文本框 50"/>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49" name="文本框 67"/>
          <p:cNvSpPr>
            <a:spLocks noChangeArrowheads="1"/>
          </p:cNvSpPr>
          <p:nvPr/>
        </p:nvSpPr>
        <p:spPr bwMode="auto">
          <a:xfrm>
            <a:off x="660400" y="70930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）数据流图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grpSp>
        <p:nvGrpSpPr>
          <p:cNvPr id="46" name="组合 45"/>
          <p:cNvGrpSpPr/>
          <p:nvPr/>
        </p:nvGrpSpPr>
        <p:grpSpPr>
          <a:xfrm>
            <a:off x="1919287" y="1867711"/>
            <a:ext cx="8353426" cy="4354220"/>
            <a:chOff x="381000" y="200025"/>
            <a:chExt cx="8353426" cy="5481638"/>
          </a:xfrm>
        </p:grpSpPr>
        <p:sp>
          <p:nvSpPr>
            <p:cNvPr id="47" name="直接连接符 9237"/>
            <p:cNvSpPr>
              <a:spLocks noChangeShapeType="1"/>
            </p:cNvSpPr>
            <p:nvPr/>
          </p:nvSpPr>
          <p:spPr bwMode="auto">
            <a:xfrm flipV="1">
              <a:off x="5332412" y="2397124"/>
              <a:ext cx="2576513" cy="1354138"/>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grpSp>
          <p:nvGrpSpPr>
            <p:cNvPr id="50" name="组合 9218"/>
            <p:cNvGrpSpPr/>
            <p:nvPr/>
          </p:nvGrpSpPr>
          <p:grpSpPr bwMode="auto">
            <a:xfrm>
              <a:off x="381000" y="200025"/>
              <a:ext cx="8353426" cy="5481638"/>
              <a:chOff x="0" y="78"/>
              <a:chExt cx="5262" cy="3453"/>
            </a:xfrm>
          </p:grpSpPr>
          <p:sp>
            <p:nvSpPr>
              <p:cNvPr id="53" name="矩形 9219"/>
              <p:cNvSpPr>
                <a:spLocks noChangeArrowheads="1"/>
              </p:cNvSpPr>
              <p:nvPr/>
            </p:nvSpPr>
            <p:spPr bwMode="auto">
              <a:xfrm>
                <a:off x="4128" y="1104"/>
                <a:ext cx="1134" cy="363"/>
              </a:xfrm>
              <a:prstGeom prst="rect">
                <a:avLst/>
              </a:prstGeom>
              <a:noFill/>
              <a:ln w="12700">
                <a:solidFill>
                  <a:schemeClr val="tx1"/>
                </a:solidFill>
                <a:miter lim="800000"/>
              </a:ln>
            </p:spPr>
            <p:txBody>
              <a:bodyPr wrap="none" anchor="ctr"/>
              <a:lstStyle/>
              <a:p>
                <a:pPr algn="ctr"/>
                <a:r>
                  <a:rPr lang="zh-CN" altLang="en-US" b="1" dirty="0">
                    <a:latin typeface="宋体" panose="02010600030101010101" pitchFamily="2" charset="-122"/>
                    <a:ea typeface="宋体" panose="02010600030101010101" pitchFamily="2" charset="-122"/>
                  </a:rPr>
                  <a:t>化学制品仓库</a:t>
                </a:r>
                <a:endParaRPr lang="zh-CN" altLang="en-US" b="1" dirty="0">
                  <a:latin typeface="宋体" panose="02010600030101010101" pitchFamily="2" charset="-122"/>
                  <a:ea typeface="宋体" panose="02010600030101010101" pitchFamily="2" charset="-122"/>
                </a:endParaRPr>
              </a:p>
            </p:txBody>
          </p:sp>
          <p:sp>
            <p:nvSpPr>
              <p:cNvPr id="54" name="矩形 9220"/>
              <p:cNvSpPr>
                <a:spLocks noChangeArrowheads="1"/>
              </p:cNvSpPr>
              <p:nvPr/>
            </p:nvSpPr>
            <p:spPr bwMode="auto">
              <a:xfrm>
                <a:off x="0" y="1233"/>
                <a:ext cx="1134" cy="282"/>
              </a:xfrm>
              <a:prstGeom prst="rect">
                <a:avLst/>
              </a:prstGeom>
              <a:noFill/>
              <a:ln w="12700">
                <a:solidFill>
                  <a:schemeClr val="tx1"/>
                </a:solidFill>
                <a:miter lim="800000"/>
              </a:ln>
            </p:spPr>
            <p:txBody>
              <a:bodyPr wrap="none" anchor="ctr"/>
              <a:lstStyle/>
              <a:p>
                <a:pPr algn="ctr"/>
                <a:r>
                  <a:rPr lang="zh-CN" altLang="en-US" sz="2000" b="1" dirty="0">
                    <a:latin typeface="宋体" panose="02010600030101010101" pitchFamily="2" charset="-122"/>
                    <a:ea typeface="宋体" panose="02010600030101010101" pitchFamily="2" charset="-122"/>
                  </a:rPr>
                  <a:t>采购部门</a:t>
                </a:r>
                <a:endParaRPr lang="zh-CN" altLang="en-US" sz="2000" b="1" dirty="0">
                  <a:latin typeface="宋体" panose="02010600030101010101" pitchFamily="2" charset="-122"/>
                  <a:ea typeface="宋体" panose="02010600030101010101" pitchFamily="2" charset="-122"/>
                </a:endParaRPr>
              </a:p>
            </p:txBody>
          </p:sp>
          <p:sp>
            <p:nvSpPr>
              <p:cNvPr id="55" name="矩形 9221"/>
              <p:cNvSpPr>
                <a:spLocks noChangeArrowheads="1"/>
              </p:cNvSpPr>
              <p:nvPr/>
            </p:nvSpPr>
            <p:spPr bwMode="auto">
              <a:xfrm>
                <a:off x="0" y="3168"/>
                <a:ext cx="1134" cy="363"/>
              </a:xfrm>
              <a:prstGeom prst="rect">
                <a:avLst/>
              </a:prstGeom>
              <a:noFill/>
              <a:ln w="12700">
                <a:solidFill>
                  <a:schemeClr val="tx1"/>
                </a:solidFill>
                <a:miter lim="800000"/>
              </a:ln>
            </p:spPr>
            <p:txBody>
              <a:bodyPr wrap="none" anchor="ctr"/>
              <a:lstStyle/>
              <a:p>
                <a:pPr algn="ctr"/>
                <a:r>
                  <a:rPr lang="zh-CN" altLang="en-US" sz="2000" b="1" dirty="0">
                    <a:latin typeface="宋体" panose="02010600030101010101" pitchFamily="2" charset="-122"/>
                    <a:ea typeface="宋体" panose="02010600030101010101" pitchFamily="2" charset="-122"/>
                  </a:rPr>
                  <a:t>健康和安全部门</a:t>
                </a:r>
                <a:endParaRPr lang="zh-CN" altLang="en-US" sz="2000" b="1" dirty="0">
                  <a:latin typeface="宋体" panose="02010600030101010101" pitchFamily="2" charset="-122"/>
                  <a:ea typeface="宋体" panose="02010600030101010101" pitchFamily="2" charset="-122"/>
                </a:endParaRPr>
              </a:p>
            </p:txBody>
          </p:sp>
          <p:sp>
            <p:nvSpPr>
              <p:cNvPr id="56" name="矩形 9222"/>
              <p:cNvSpPr>
                <a:spLocks noChangeArrowheads="1"/>
              </p:cNvSpPr>
              <p:nvPr/>
            </p:nvSpPr>
            <p:spPr bwMode="auto">
              <a:xfrm>
                <a:off x="4041" y="3168"/>
                <a:ext cx="1134" cy="363"/>
              </a:xfrm>
              <a:prstGeom prst="rect">
                <a:avLst/>
              </a:prstGeom>
              <a:noFill/>
              <a:ln w="12700">
                <a:solidFill>
                  <a:schemeClr val="tx1"/>
                </a:solidFill>
                <a:miter lim="800000"/>
              </a:ln>
            </p:spPr>
            <p:txBody>
              <a:bodyPr wrap="none" anchor="ctr"/>
              <a:lstStyle/>
              <a:p>
                <a:pPr algn="ctr"/>
                <a:r>
                  <a:rPr lang="zh-CN" altLang="en-US" sz="2000" b="1" dirty="0">
                    <a:latin typeface="宋体" panose="02010600030101010101" pitchFamily="2" charset="-122"/>
                    <a:ea typeface="宋体" panose="02010600030101010101" pitchFamily="2" charset="-122"/>
                  </a:rPr>
                  <a:t>培训用数据库</a:t>
                </a:r>
                <a:endParaRPr lang="zh-CN" altLang="en-US" sz="2000" b="1" dirty="0">
                  <a:latin typeface="宋体" panose="02010600030101010101" pitchFamily="2" charset="-122"/>
                  <a:ea typeface="宋体" panose="02010600030101010101" pitchFamily="2" charset="-122"/>
                </a:endParaRPr>
              </a:p>
            </p:txBody>
          </p:sp>
          <p:sp>
            <p:nvSpPr>
              <p:cNvPr id="57" name="直接连接符 9223"/>
              <p:cNvSpPr>
                <a:spLocks noChangeShapeType="1"/>
              </p:cNvSpPr>
              <p:nvPr/>
            </p:nvSpPr>
            <p:spPr bwMode="auto">
              <a:xfrm flipH="1">
                <a:off x="576" y="2400"/>
                <a:ext cx="1488" cy="768"/>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58" name="文本框 9224"/>
              <p:cNvSpPr txBox="1">
                <a:spLocks noChangeArrowheads="1"/>
              </p:cNvSpPr>
              <p:nvPr/>
            </p:nvSpPr>
            <p:spPr bwMode="auto">
              <a:xfrm>
                <a:off x="1057" y="2496"/>
                <a:ext cx="643" cy="488"/>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2000" b="1" dirty="0">
                    <a:latin typeface="宋体" panose="02010600030101010101" pitchFamily="2" charset="-122"/>
                    <a:ea typeface="宋体" panose="02010600030101010101" pitchFamily="2" charset="-122"/>
                  </a:rPr>
                  <a:t>化学制品</a:t>
                </a:r>
                <a:endParaRPr lang="zh-CN" altLang="en-US" sz="2000" b="1" dirty="0">
                  <a:latin typeface="宋体" panose="02010600030101010101" pitchFamily="2" charset="-122"/>
                  <a:ea typeface="宋体" panose="02010600030101010101" pitchFamily="2" charset="-122"/>
                </a:endParaRPr>
              </a:p>
              <a:p>
                <a:r>
                  <a:rPr lang="zh-CN" altLang="en-US" sz="2000" b="1" dirty="0">
                    <a:latin typeface="宋体" panose="02010600030101010101" pitchFamily="2" charset="-122"/>
                    <a:ea typeface="宋体" panose="02010600030101010101" pitchFamily="2" charset="-122"/>
                  </a:rPr>
                  <a:t>使用报告</a:t>
                </a:r>
                <a:endParaRPr lang="zh-CN" altLang="en-US" sz="2000" b="1" dirty="0">
                  <a:latin typeface="宋体" panose="02010600030101010101" pitchFamily="2" charset="-122"/>
                  <a:ea typeface="宋体" panose="02010600030101010101" pitchFamily="2" charset="-122"/>
                </a:endParaRPr>
              </a:p>
            </p:txBody>
          </p:sp>
          <p:sp>
            <p:nvSpPr>
              <p:cNvPr id="59" name="直接连接符 9225"/>
              <p:cNvSpPr>
                <a:spLocks noChangeShapeType="1"/>
              </p:cNvSpPr>
              <p:nvPr/>
            </p:nvSpPr>
            <p:spPr bwMode="auto">
              <a:xfrm flipV="1">
                <a:off x="1133" y="2688"/>
                <a:ext cx="1219" cy="693"/>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dirty="0">
                  <a:latin typeface="宋体" panose="02010600030101010101" pitchFamily="2" charset="-122"/>
                  <a:ea typeface="宋体" panose="02010600030101010101" pitchFamily="2" charset="-122"/>
                </a:endParaRPr>
              </a:p>
            </p:txBody>
          </p:sp>
          <p:sp>
            <p:nvSpPr>
              <p:cNvPr id="60" name="文本框 9226"/>
              <p:cNvSpPr txBox="1">
                <a:spLocks noChangeArrowheads="1"/>
              </p:cNvSpPr>
              <p:nvPr/>
            </p:nvSpPr>
            <p:spPr bwMode="auto">
              <a:xfrm>
                <a:off x="1427" y="2985"/>
                <a:ext cx="965" cy="488"/>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en-US" sz="2000" b="1" dirty="0">
                    <a:latin typeface="宋体" panose="02010600030101010101" pitchFamily="2" charset="-122"/>
                    <a:ea typeface="宋体" panose="02010600030101010101" pitchFamily="2" charset="-122"/>
                  </a:rPr>
                  <a:t>请求化学制品</a:t>
                </a:r>
                <a:endParaRPr lang="zh-CN" altLang="en-US" sz="2000" b="1" dirty="0">
                  <a:latin typeface="宋体" panose="02010600030101010101" pitchFamily="2" charset="-122"/>
                  <a:ea typeface="宋体" panose="02010600030101010101" pitchFamily="2" charset="-122"/>
                </a:endParaRPr>
              </a:p>
              <a:p>
                <a:pPr algn="ctr"/>
                <a:r>
                  <a:rPr lang="zh-CN" altLang="en-US" sz="2000" b="1" dirty="0">
                    <a:latin typeface="宋体" panose="02010600030101010101" pitchFamily="2" charset="-122"/>
                    <a:ea typeface="宋体" panose="02010600030101010101" pitchFamily="2" charset="-122"/>
                  </a:rPr>
                  <a:t>使用报告</a:t>
                </a:r>
                <a:endParaRPr lang="zh-CN" altLang="en-US" sz="2000" b="1" dirty="0">
                  <a:latin typeface="宋体" panose="02010600030101010101" pitchFamily="2" charset="-122"/>
                  <a:ea typeface="宋体" panose="02010600030101010101" pitchFamily="2" charset="-122"/>
                </a:endParaRPr>
              </a:p>
            </p:txBody>
          </p:sp>
          <p:sp>
            <p:nvSpPr>
              <p:cNvPr id="61" name="直接连接符 9227"/>
              <p:cNvSpPr>
                <a:spLocks noChangeShapeType="1"/>
              </p:cNvSpPr>
              <p:nvPr/>
            </p:nvSpPr>
            <p:spPr bwMode="auto">
              <a:xfrm>
                <a:off x="3072" y="2400"/>
                <a:ext cx="1584" cy="768"/>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62" name="直接连接符 9228"/>
              <p:cNvSpPr>
                <a:spLocks noChangeShapeType="1"/>
              </p:cNvSpPr>
              <p:nvPr/>
            </p:nvSpPr>
            <p:spPr bwMode="auto">
              <a:xfrm flipH="1" flipV="1">
                <a:off x="2784" y="2688"/>
                <a:ext cx="1257" cy="682"/>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63" name="文本框 9229"/>
              <p:cNvSpPr txBox="1">
                <a:spLocks noChangeArrowheads="1"/>
              </p:cNvSpPr>
              <p:nvPr/>
            </p:nvSpPr>
            <p:spPr bwMode="auto">
              <a:xfrm>
                <a:off x="3394" y="2548"/>
                <a:ext cx="965" cy="244"/>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2000" b="1" dirty="0">
                    <a:latin typeface="宋体" panose="02010600030101010101" pitchFamily="2" charset="-122"/>
                    <a:ea typeface="宋体" panose="02010600030101010101" pitchFamily="2" charset="-122"/>
                  </a:rPr>
                  <a:t>培训记录请求</a:t>
                </a:r>
                <a:endParaRPr lang="zh-CN" altLang="en-US" sz="2000" b="1" dirty="0">
                  <a:latin typeface="宋体" panose="02010600030101010101" pitchFamily="2" charset="-122"/>
                  <a:ea typeface="宋体" panose="02010600030101010101" pitchFamily="2" charset="-122"/>
                </a:endParaRPr>
              </a:p>
            </p:txBody>
          </p:sp>
          <p:sp>
            <p:nvSpPr>
              <p:cNvPr id="64" name="文本框 9230"/>
              <p:cNvSpPr txBox="1">
                <a:spLocks noChangeArrowheads="1"/>
              </p:cNvSpPr>
              <p:nvPr/>
            </p:nvSpPr>
            <p:spPr bwMode="auto">
              <a:xfrm>
                <a:off x="2842" y="2784"/>
                <a:ext cx="965" cy="244"/>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2000" b="1" dirty="0">
                    <a:latin typeface="宋体" panose="02010600030101010101" pitchFamily="2" charset="-122"/>
                    <a:ea typeface="宋体" panose="02010600030101010101" pitchFamily="2" charset="-122"/>
                  </a:rPr>
                  <a:t>危险记录请求</a:t>
                </a:r>
                <a:endParaRPr lang="zh-CN" altLang="en-US" sz="2000" b="1" dirty="0">
                  <a:latin typeface="宋体" panose="02010600030101010101" pitchFamily="2" charset="-122"/>
                  <a:ea typeface="宋体" panose="02010600030101010101" pitchFamily="2" charset="-122"/>
                </a:endParaRPr>
              </a:p>
            </p:txBody>
          </p:sp>
          <p:sp>
            <p:nvSpPr>
              <p:cNvPr id="65" name="直接连接符 9231"/>
              <p:cNvSpPr>
                <a:spLocks noChangeShapeType="1"/>
              </p:cNvSpPr>
              <p:nvPr/>
            </p:nvSpPr>
            <p:spPr bwMode="auto">
              <a:xfrm flipH="1" flipV="1">
                <a:off x="394" y="1521"/>
                <a:ext cx="1622" cy="639"/>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66" name="直接连接符 9232"/>
              <p:cNvSpPr>
                <a:spLocks noChangeShapeType="1"/>
              </p:cNvSpPr>
              <p:nvPr/>
            </p:nvSpPr>
            <p:spPr bwMode="auto">
              <a:xfrm>
                <a:off x="1152" y="1440"/>
                <a:ext cx="1056" cy="384"/>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67" name="文本框 9233"/>
              <p:cNvSpPr txBox="1">
                <a:spLocks noChangeArrowheads="1"/>
              </p:cNvSpPr>
              <p:nvPr/>
            </p:nvSpPr>
            <p:spPr bwMode="auto">
              <a:xfrm>
                <a:off x="1171" y="1304"/>
                <a:ext cx="747" cy="488"/>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2000" b="1" dirty="0">
                    <a:latin typeface="宋体" panose="02010600030101010101" pitchFamily="2" charset="-122"/>
                    <a:ea typeface="宋体" panose="02010600030101010101" pitchFamily="2" charset="-122"/>
                  </a:rPr>
                  <a:t>供货商订</a:t>
                </a:r>
                <a:endParaRPr lang="zh-CN" altLang="en-US" sz="2000" b="1" dirty="0">
                  <a:latin typeface="宋体" panose="02010600030101010101" pitchFamily="2" charset="-122"/>
                  <a:ea typeface="宋体" panose="02010600030101010101" pitchFamily="2" charset="-122"/>
                </a:endParaRPr>
              </a:p>
              <a:p>
                <a:r>
                  <a:rPr lang="zh-CN" altLang="en-US" sz="2000" b="1" dirty="0">
                    <a:latin typeface="宋体" panose="02010600030101010101" pitchFamily="2" charset="-122"/>
                    <a:ea typeface="宋体" panose="02010600030101010101" pitchFamily="2" charset="-122"/>
                  </a:rPr>
                  <a:t>单状态</a:t>
                </a:r>
                <a:endParaRPr lang="zh-CN" altLang="en-US" sz="2000" b="1" dirty="0">
                  <a:latin typeface="宋体" panose="02010600030101010101" pitchFamily="2" charset="-122"/>
                  <a:ea typeface="宋体" panose="02010600030101010101" pitchFamily="2" charset="-122"/>
                </a:endParaRPr>
              </a:p>
            </p:txBody>
          </p:sp>
          <p:sp>
            <p:nvSpPr>
              <p:cNvPr id="68" name="文本框 9234"/>
              <p:cNvSpPr txBox="1">
                <a:spLocks noChangeArrowheads="1"/>
              </p:cNvSpPr>
              <p:nvPr/>
            </p:nvSpPr>
            <p:spPr bwMode="auto">
              <a:xfrm>
                <a:off x="920" y="1863"/>
                <a:ext cx="804" cy="488"/>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2000" b="1" dirty="0">
                    <a:latin typeface="宋体" panose="02010600030101010101" pitchFamily="2" charset="-122"/>
                    <a:ea typeface="宋体" panose="02010600030101010101" pitchFamily="2" charset="-122"/>
                  </a:rPr>
                  <a:t>供货商化学</a:t>
                </a:r>
                <a:endParaRPr lang="zh-CN" altLang="en-US" sz="2000" b="1" dirty="0">
                  <a:latin typeface="宋体" panose="02010600030101010101" pitchFamily="2" charset="-122"/>
                  <a:ea typeface="宋体" panose="02010600030101010101" pitchFamily="2" charset="-122"/>
                </a:endParaRPr>
              </a:p>
              <a:p>
                <a:r>
                  <a:rPr lang="zh-CN" altLang="en-US" sz="2000" b="1" dirty="0">
                    <a:latin typeface="宋体" panose="02010600030101010101" pitchFamily="2" charset="-122"/>
                    <a:ea typeface="宋体" panose="02010600030101010101" pitchFamily="2" charset="-122"/>
                  </a:rPr>
                  <a:t>制品请求</a:t>
                </a:r>
                <a:endParaRPr lang="zh-CN" altLang="en-US" sz="2000" b="1" dirty="0">
                  <a:latin typeface="宋体" panose="02010600030101010101" pitchFamily="2" charset="-122"/>
                  <a:ea typeface="宋体" panose="02010600030101010101" pitchFamily="2" charset="-122"/>
                </a:endParaRPr>
              </a:p>
            </p:txBody>
          </p:sp>
          <p:sp>
            <p:nvSpPr>
              <p:cNvPr id="69" name="直接连接符 9235"/>
              <p:cNvSpPr>
                <a:spLocks noChangeShapeType="1"/>
              </p:cNvSpPr>
              <p:nvPr/>
            </p:nvSpPr>
            <p:spPr bwMode="auto">
              <a:xfrm flipH="1">
                <a:off x="3024" y="1344"/>
                <a:ext cx="1104" cy="528"/>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70" name="文本框 9236"/>
              <p:cNvSpPr txBox="1">
                <a:spLocks noChangeArrowheads="1"/>
              </p:cNvSpPr>
              <p:nvPr/>
            </p:nvSpPr>
            <p:spPr bwMode="auto">
              <a:xfrm>
                <a:off x="3103" y="1514"/>
                <a:ext cx="965" cy="244"/>
              </a:xfrm>
              <a:prstGeom prst="rect">
                <a:avLst/>
              </a:prstGeom>
              <a:solidFill>
                <a:srgbClr val="F5F5F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2000" b="1" dirty="0">
                    <a:latin typeface="宋体" panose="02010600030101010101" pitchFamily="2" charset="-122"/>
                    <a:ea typeface="宋体" panose="02010600030101010101" pitchFamily="2" charset="-122"/>
                  </a:rPr>
                  <a:t>化学制品容器</a:t>
                </a:r>
                <a:endParaRPr lang="zh-CN" altLang="en-US" sz="2000" b="1" dirty="0">
                  <a:latin typeface="宋体" panose="02010600030101010101" pitchFamily="2" charset="-122"/>
                  <a:ea typeface="宋体" panose="02010600030101010101" pitchFamily="2" charset="-122"/>
                </a:endParaRPr>
              </a:p>
            </p:txBody>
          </p:sp>
          <p:sp>
            <p:nvSpPr>
              <p:cNvPr id="71" name="直接连接符 9237"/>
              <p:cNvSpPr>
                <a:spLocks noChangeShapeType="1"/>
              </p:cNvSpPr>
              <p:nvPr/>
            </p:nvSpPr>
            <p:spPr bwMode="auto">
              <a:xfrm flipV="1">
                <a:off x="2832" y="1104"/>
                <a:ext cx="1296" cy="624"/>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72" name="直接连接符 9238"/>
              <p:cNvSpPr>
                <a:spLocks noChangeShapeType="1"/>
              </p:cNvSpPr>
              <p:nvPr/>
            </p:nvSpPr>
            <p:spPr bwMode="auto">
              <a:xfrm flipH="1">
                <a:off x="3120" y="1473"/>
                <a:ext cx="1273" cy="639"/>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73" name="文本框 9239"/>
              <p:cNvSpPr txBox="1">
                <a:spLocks noChangeArrowheads="1"/>
              </p:cNvSpPr>
              <p:nvPr/>
            </p:nvSpPr>
            <p:spPr bwMode="auto">
              <a:xfrm>
                <a:off x="3129" y="1164"/>
                <a:ext cx="965" cy="244"/>
              </a:xfrm>
              <a:prstGeom prst="rect">
                <a:avLst/>
              </a:prstGeom>
              <a:solidFill>
                <a:srgbClr val="F5F5F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2000" b="1" dirty="0">
                    <a:latin typeface="宋体" panose="02010600030101010101" pitchFamily="2" charset="-122"/>
                    <a:ea typeface="宋体" panose="02010600030101010101" pitchFamily="2" charset="-122"/>
                  </a:rPr>
                  <a:t>存货清单报表</a:t>
                </a:r>
                <a:endParaRPr lang="zh-CN" altLang="en-US" sz="2000" b="1" dirty="0">
                  <a:latin typeface="宋体" panose="02010600030101010101" pitchFamily="2" charset="-122"/>
                  <a:ea typeface="宋体" panose="02010600030101010101" pitchFamily="2" charset="-122"/>
                </a:endParaRPr>
              </a:p>
            </p:txBody>
          </p:sp>
          <p:sp>
            <p:nvSpPr>
              <p:cNvPr id="74" name="文本框 9240"/>
              <p:cNvSpPr txBox="1">
                <a:spLocks noChangeArrowheads="1"/>
              </p:cNvSpPr>
              <p:nvPr/>
            </p:nvSpPr>
            <p:spPr bwMode="auto">
              <a:xfrm>
                <a:off x="3129" y="1804"/>
                <a:ext cx="965" cy="244"/>
              </a:xfrm>
              <a:prstGeom prst="rect">
                <a:avLst/>
              </a:prstGeom>
              <a:solidFill>
                <a:srgbClr val="F5F5F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2000" b="1" dirty="0">
                    <a:latin typeface="宋体" panose="02010600030101010101" pitchFamily="2" charset="-122"/>
                    <a:ea typeface="宋体" panose="02010600030101010101" pitchFamily="2" charset="-122"/>
                  </a:rPr>
                  <a:t>存货清单请求</a:t>
                </a:r>
                <a:endParaRPr lang="zh-CN" altLang="en-US" sz="2000" b="1" dirty="0">
                  <a:latin typeface="宋体" panose="02010600030101010101" pitchFamily="2" charset="-122"/>
                  <a:ea typeface="宋体" panose="02010600030101010101" pitchFamily="2" charset="-122"/>
                </a:endParaRPr>
              </a:p>
            </p:txBody>
          </p:sp>
          <p:sp>
            <p:nvSpPr>
              <p:cNvPr id="75" name="直接连接符 9243"/>
              <p:cNvSpPr>
                <a:spLocks noChangeShapeType="1"/>
              </p:cNvSpPr>
              <p:nvPr/>
            </p:nvSpPr>
            <p:spPr bwMode="auto">
              <a:xfrm flipH="1" flipV="1">
                <a:off x="2336" y="363"/>
                <a:ext cx="16" cy="1365"/>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76" name="直接连接符 9244"/>
              <p:cNvSpPr>
                <a:spLocks noChangeShapeType="1"/>
              </p:cNvSpPr>
              <p:nvPr/>
            </p:nvSpPr>
            <p:spPr bwMode="auto">
              <a:xfrm>
                <a:off x="2727" y="363"/>
                <a:ext cx="9" cy="1317"/>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77" name="椭圆 9245"/>
              <p:cNvSpPr>
                <a:spLocks noChangeArrowheads="1"/>
              </p:cNvSpPr>
              <p:nvPr/>
            </p:nvSpPr>
            <p:spPr bwMode="auto">
              <a:xfrm>
                <a:off x="1776" y="240"/>
                <a:ext cx="1440" cy="1488"/>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宋体" panose="02010600030101010101" pitchFamily="2" charset="-122"/>
                  <a:ea typeface="宋体" panose="02010600030101010101" pitchFamily="2" charset="-122"/>
                </a:endParaRPr>
              </a:p>
            </p:txBody>
          </p:sp>
          <p:sp>
            <p:nvSpPr>
              <p:cNvPr id="79" name="矩形 9246"/>
              <p:cNvSpPr>
                <a:spLocks noChangeArrowheads="1"/>
              </p:cNvSpPr>
              <p:nvPr/>
            </p:nvSpPr>
            <p:spPr bwMode="auto">
              <a:xfrm>
                <a:off x="1920" y="78"/>
                <a:ext cx="1134" cy="285"/>
              </a:xfrm>
              <a:prstGeom prst="rect">
                <a:avLst/>
              </a:prstGeom>
              <a:solidFill>
                <a:srgbClr val="FCFCFB"/>
              </a:solidFill>
              <a:ln w="12700">
                <a:solidFill>
                  <a:schemeClr val="tx1"/>
                </a:solidFill>
                <a:miter lim="800000"/>
              </a:ln>
            </p:spPr>
            <p:txBody>
              <a:bodyPr wrap="none" anchor="ctr"/>
              <a:lstStyle/>
              <a:p>
                <a:pPr algn="ctr"/>
                <a:r>
                  <a:rPr lang="zh-CN" altLang="en-US" sz="2200" b="1" dirty="0">
                    <a:latin typeface="宋体" panose="02010600030101010101" pitchFamily="2" charset="-122"/>
                    <a:ea typeface="宋体" panose="02010600030101010101" pitchFamily="2" charset="-122"/>
                  </a:rPr>
                  <a:t>药剂师</a:t>
                </a:r>
                <a:endParaRPr lang="zh-CN" altLang="en-US" sz="2200" b="1" dirty="0">
                  <a:latin typeface="宋体" panose="02010600030101010101" pitchFamily="2" charset="-122"/>
                  <a:ea typeface="宋体" panose="02010600030101010101" pitchFamily="2" charset="-122"/>
                </a:endParaRPr>
              </a:p>
            </p:txBody>
          </p:sp>
          <p:sp>
            <p:nvSpPr>
              <p:cNvPr id="80" name="椭圆 9247"/>
              <p:cNvSpPr>
                <a:spLocks noChangeArrowheads="1"/>
              </p:cNvSpPr>
              <p:nvPr/>
            </p:nvSpPr>
            <p:spPr bwMode="auto">
              <a:xfrm>
                <a:off x="2016" y="1680"/>
                <a:ext cx="1104" cy="1056"/>
              </a:xfrm>
              <a:prstGeom prst="ellipse">
                <a:avLst/>
              </a:prstGeom>
              <a:solidFill>
                <a:srgbClr val="F8F8F8"/>
              </a:solidFill>
              <a:ln w="12700">
                <a:solidFill>
                  <a:schemeClr val="tx1"/>
                </a:solidFill>
                <a:round/>
              </a:ln>
            </p:spPr>
            <p:txBody>
              <a:bodyPr wrap="none" anchor="ctr"/>
              <a:lstStyle/>
              <a:p>
                <a:pPr algn="ctr"/>
                <a:r>
                  <a:rPr lang="zh-CN" altLang="en-US" sz="2000" b="1" dirty="0">
                    <a:latin typeface="宋体" panose="02010600030101010101" pitchFamily="2" charset="-122"/>
                    <a:ea typeface="宋体" panose="02010600030101010101" pitchFamily="2" charset="-122"/>
                  </a:rPr>
                  <a:t>化学制品</a:t>
                </a:r>
                <a:endParaRPr lang="zh-CN" altLang="en-US" sz="2000" b="1" dirty="0">
                  <a:latin typeface="宋体" panose="02010600030101010101" pitchFamily="2" charset="-122"/>
                  <a:ea typeface="宋体" panose="02010600030101010101" pitchFamily="2" charset="-122"/>
                </a:endParaRPr>
              </a:p>
              <a:p>
                <a:pPr algn="ctr"/>
                <a:r>
                  <a:rPr lang="zh-CN" altLang="en-US" sz="2000" b="1" dirty="0">
                    <a:latin typeface="宋体" panose="02010600030101010101" pitchFamily="2" charset="-122"/>
                    <a:ea typeface="宋体" panose="02010600030101010101" pitchFamily="2" charset="-122"/>
                  </a:rPr>
                  <a:t>跟踪系统</a:t>
                </a:r>
                <a:endParaRPr lang="zh-CN" altLang="en-US" sz="2000" b="1" dirty="0">
                  <a:latin typeface="宋体" panose="02010600030101010101" pitchFamily="2" charset="-122"/>
                  <a:ea typeface="宋体" panose="02010600030101010101" pitchFamily="2" charset="-122"/>
                </a:endParaRPr>
              </a:p>
            </p:txBody>
          </p:sp>
          <p:sp>
            <p:nvSpPr>
              <p:cNvPr id="81" name="直接连接符 9248"/>
              <p:cNvSpPr>
                <a:spLocks noChangeShapeType="1"/>
              </p:cNvSpPr>
              <p:nvPr/>
            </p:nvSpPr>
            <p:spPr bwMode="auto">
              <a:xfrm>
                <a:off x="2208" y="1680"/>
                <a:ext cx="144" cy="48"/>
              </a:xfrm>
              <a:prstGeom prst="line">
                <a:avLst/>
              </a:prstGeom>
              <a:noFill/>
              <a:ln w="9525">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82" name="直接连接符 9249"/>
              <p:cNvSpPr>
                <a:spLocks noChangeShapeType="1"/>
              </p:cNvSpPr>
              <p:nvPr/>
            </p:nvSpPr>
            <p:spPr bwMode="auto">
              <a:xfrm flipH="1" flipV="1">
                <a:off x="3024" y="480"/>
                <a:ext cx="96" cy="144"/>
              </a:xfrm>
              <a:prstGeom prst="line">
                <a:avLst/>
              </a:prstGeom>
              <a:noFill/>
              <a:ln w="127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83" name="文本框 9250"/>
              <p:cNvSpPr txBox="1">
                <a:spLocks noChangeArrowheads="1"/>
              </p:cNvSpPr>
              <p:nvPr/>
            </p:nvSpPr>
            <p:spPr bwMode="auto">
              <a:xfrm>
                <a:off x="1489" y="843"/>
                <a:ext cx="515" cy="390"/>
              </a:xfrm>
              <a:prstGeom prst="rect">
                <a:avLst/>
              </a:prstGeom>
              <a:solidFill>
                <a:srgbClr val="FAFA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b="1" dirty="0">
                    <a:latin typeface="宋体" panose="02010600030101010101" pitchFamily="2" charset="-122"/>
                    <a:ea typeface="宋体" panose="02010600030101010101" pitchFamily="2" charset="-122"/>
                  </a:rPr>
                  <a:t>供货商目</a:t>
                </a:r>
                <a:endParaRPr lang="zh-CN" altLang="en-US" sz="1600" b="1" dirty="0">
                  <a:latin typeface="宋体" panose="02010600030101010101" pitchFamily="2" charset="-122"/>
                  <a:ea typeface="宋体" panose="02010600030101010101" pitchFamily="2" charset="-122"/>
                </a:endParaRPr>
              </a:p>
              <a:p>
                <a:r>
                  <a:rPr lang="zh-CN" altLang="en-US" sz="1600" b="1" dirty="0">
                    <a:latin typeface="宋体" panose="02010600030101010101" pitchFamily="2" charset="-122"/>
                    <a:ea typeface="宋体" panose="02010600030101010101" pitchFamily="2" charset="-122"/>
                  </a:rPr>
                  <a:t>录查询</a:t>
                </a:r>
                <a:endParaRPr lang="zh-CN" altLang="en-US" sz="1600" b="1" dirty="0">
                  <a:latin typeface="宋体" panose="02010600030101010101" pitchFamily="2" charset="-122"/>
                  <a:ea typeface="宋体" panose="02010600030101010101" pitchFamily="2" charset="-122"/>
                </a:endParaRPr>
              </a:p>
            </p:txBody>
          </p:sp>
          <p:sp>
            <p:nvSpPr>
              <p:cNvPr id="90" name="文本框 9251"/>
              <p:cNvSpPr txBox="1">
                <a:spLocks noChangeArrowheads="1"/>
              </p:cNvSpPr>
              <p:nvPr/>
            </p:nvSpPr>
            <p:spPr bwMode="auto">
              <a:xfrm>
                <a:off x="1970" y="624"/>
                <a:ext cx="643" cy="488"/>
              </a:xfrm>
              <a:prstGeom prst="rect">
                <a:avLst/>
              </a:prstGeom>
              <a:solidFill>
                <a:srgbClr val="FAFA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2000" b="1" dirty="0">
                    <a:latin typeface="宋体" panose="02010600030101010101" pitchFamily="2" charset="-122"/>
                    <a:ea typeface="宋体" panose="02010600030101010101" pitchFamily="2" charset="-122"/>
                  </a:rPr>
                  <a:t>供货商目</a:t>
                </a:r>
                <a:endParaRPr lang="zh-CN" altLang="en-US" sz="2000" b="1" dirty="0">
                  <a:latin typeface="宋体" panose="02010600030101010101" pitchFamily="2" charset="-122"/>
                  <a:ea typeface="宋体" panose="02010600030101010101" pitchFamily="2" charset="-122"/>
                </a:endParaRPr>
              </a:p>
              <a:p>
                <a:r>
                  <a:rPr lang="zh-CN" altLang="en-US" sz="2000" b="1" dirty="0">
                    <a:latin typeface="宋体" panose="02010600030101010101" pitchFamily="2" charset="-122"/>
                    <a:ea typeface="宋体" panose="02010600030101010101" pitchFamily="2" charset="-122"/>
                  </a:rPr>
                  <a:t>录信息</a:t>
                </a:r>
                <a:endParaRPr lang="zh-CN" altLang="en-US" sz="2000" b="1" dirty="0">
                  <a:latin typeface="宋体" panose="02010600030101010101" pitchFamily="2" charset="-122"/>
                  <a:ea typeface="宋体" panose="02010600030101010101" pitchFamily="2" charset="-122"/>
                </a:endParaRPr>
              </a:p>
            </p:txBody>
          </p:sp>
          <p:sp>
            <p:nvSpPr>
              <p:cNvPr id="91" name="文本框 9252"/>
              <p:cNvSpPr txBox="1">
                <a:spLocks noChangeArrowheads="1"/>
              </p:cNvSpPr>
              <p:nvPr/>
            </p:nvSpPr>
            <p:spPr bwMode="auto">
              <a:xfrm>
                <a:off x="2527" y="869"/>
                <a:ext cx="482" cy="488"/>
              </a:xfrm>
              <a:prstGeom prst="rect">
                <a:avLst/>
              </a:prstGeom>
              <a:solidFill>
                <a:srgbClr val="FAFA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2000" b="1" dirty="0">
                    <a:latin typeface="宋体" panose="02010600030101010101" pitchFamily="2" charset="-122"/>
                    <a:ea typeface="宋体" panose="02010600030101010101" pitchFamily="2" charset="-122"/>
                  </a:rPr>
                  <a:t>化学制</a:t>
                </a:r>
                <a:endParaRPr lang="zh-CN" altLang="en-US" sz="2000" b="1" dirty="0">
                  <a:latin typeface="宋体" panose="02010600030101010101" pitchFamily="2" charset="-122"/>
                  <a:ea typeface="宋体" panose="02010600030101010101" pitchFamily="2" charset="-122"/>
                </a:endParaRPr>
              </a:p>
              <a:p>
                <a:r>
                  <a:rPr lang="zh-CN" altLang="en-US" sz="2000" b="1" dirty="0">
                    <a:latin typeface="宋体" panose="02010600030101010101" pitchFamily="2" charset="-122"/>
                    <a:ea typeface="宋体" panose="02010600030101010101" pitchFamily="2" charset="-122"/>
                  </a:rPr>
                  <a:t>品请求</a:t>
                </a:r>
                <a:endParaRPr lang="zh-CN" altLang="en-US" sz="2000" b="1" dirty="0">
                  <a:latin typeface="宋体" panose="02010600030101010101" pitchFamily="2" charset="-122"/>
                  <a:ea typeface="宋体" panose="02010600030101010101" pitchFamily="2" charset="-122"/>
                </a:endParaRPr>
              </a:p>
            </p:txBody>
          </p:sp>
          <p:sp>
            <p:nvSpPr>
              <p:cNvPr id="94" name="文本框 9253"/>
              <p:cNvSpPr txBox="1">
                <a:spLocks noChangeArrowheads="1"/>
              </p:cNvSpPr>
              <p:nvPr/>
            </p:nvSpPr>
            <p:spPr bwMode="auto">
              <a:xfrm>
                <a:off x="3041" y="460"/>
                <a:ext cx="482" cy="488"/>
              </a:xfrm>
              <a:prstGeom prst="rect">
                <a:avLst/>
              </a:prstGeom>
              <a:solidFill>
                <a:srgbClr val="FAFA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2000" b="1" dirty="0">
                    <a:latin typeface="宋体" panose="02010600030101010101" pitchFamily="2" charset="-122"/>
                    <a:ea typeface="宋体" panose="02010600030101010101" pitchFamily="2" charset="-122"/>
                  </a:rPr>
                  <a:t>化学制</a:t>
                </a:r>
                <a:endParaRPr lang="zh-CN" altLang="en-US" sz="2000" b="1" dirty="0">
                  <a:latin typeface="宋体" panose="02010600030101010101" pitchFamily="2" charset="-122"/>
                  <a:ea typeface="宋体" panose="02010600030101010101" pitchFamily="2" charset="-122"/>
                </a:endParaRPr>
              </a:p>
              <a:p>
                <a:r>
                  <a:rPr lang="zh-CN" altLang="en-US" sz="2000" b="1" dirty="0">
                    <a:latin typeface="宋体" panose="02010600030101010101" pitchFamily="2" charset="-122"/>
                    <a:ea typeface="宋体" panose="02010600030101010101" pitchFamily="2" charset="-122"/>
                  </a:rPr>
                  <a:t>品容器</a:t>
                </a:r>
                <a:endParaRPr lang="zh-CN" altLang="en-US" sz="2000" b="1" dirty="0">
                  <a:latin typeface="宋体" panose="02010600030101010101" pitchFamily="2" charset="-122"/>
                  <a:ea typeface="宋体" panose="02010600030101010101" pitchFamily="2" charset="-122"/>
                </a:endParaRPr>
              </a:p>
            </p:txBody>
          </p:sp>
          <p:sp>
            <p:nvSpPr>
              <p:cNvPr id="95" name="文本框 9242"/>
              <p:cNvSpPr txBox="1">
                <a:spLocks noChangeArrowheads="1"/>
              </p:cNvSpPr>
              <p:nvPr/>
            </p:nvSpPr>
            <p:spPr bwMode="auto">
              <a:xfrm>
                <a:off x="3140" y="2127"/>
                <a:ext cx="965" cy="244"/>
              </a:xfrm>
              <a:prstGeom prst="rect">
                <a:avLst/>
              </a:prstGeom>
              <a:solidFill>
                <a:srgbClr val="F5F5F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2000" b="1" dirty="0">
                    <a:latin typeface="宋体" panose="02010600030101010101" pitchFamily="2" charset="-122"/>
                    <a:ea typeface="宋体" panose="02010600030101010101" pitchFamily="2" charset="-122"/>
                  </a:rPr>
                  <a:t>化学制品请求</a:t>
                </a:r>
                <a:endParaRPr lang="zh-CN" altLang="en-US" sz="2000" b="1" dirty="0">
                  <a:latin typeface="宋体" panose="02010600030101010101" pitchFamily="2" charset="-122"/>
                  <a:ea typeface="宋体" panose="02010600030101010101" pitchFamily="2" charset="-122"/>
                </a:endParaRPr>
              </a:p>
            </p:txBody>
          </p:sp>
        </p:grpSp>
      </p:grpSp>
      <p:sp>
        <p:nvSpPr>
          <p:cNvPr id="44" name="矩形 43"/>
          <p:cNvSpPr/>
          <p:nvPr/>
        </p:nvSpPr>
        <p:spPr>
          <a:xfrm>
            <a:off x="1634836" y="1539113"/>
            <a:ext cx="8968509" cy="4769323"/>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67"/>
          <p:cNvSpPr>
            <a:spLocks noChangeArrowheads="1"/>
          </p:cNvSpPr>
          <p:nvPr/>
        </p:nvSpPr>
        <p:spPr bwMode="auto">
          <a:xfrm>
            <a:off x="4348263" y="1329863"/>
            <a:ext cx="3326910" cy="430887"/>
          </a:xfrm>
          <a:prstGeom prst="rect">
            <a:avLst/>
          </a:prstGeom>
          <a:solidFill>
            <a:schemeClr val="bg1"/>
          </a:solidFill>
          <a:ln>
            <a:solidFill>
              <a:srgbClr val="FF0000"/>
            </a:solidFill>
          </a:ln>
        </p:spPr>
        <p:txBody>
          <a:bodyPr wrap="square">
            <a:spAutoFit/>
          </a:bodyPr>
          <a:lstStyle/>
          <a:p>
            <a:pPr lvl="0" fontAlgn="base">
              <a:spcBef>
                <a:spcPct val="0"/>
              </a:spcBef>
              <a:spcAft>
                <a:spcPct val="0"/>
              </a:spcAft>
              <a:defRPr/>
            </a:pPr>
            <a:r>
              <a:rPr lang="zh-CN" altLang="en-US" sz="2200" b="1" kern="0" dirty="0">
                <a:solidFill>
                  <a:srgbClr val="FF0000"/>
                </a:solidFill>
                <a:latin typeface="宋体" panose="02010600030101010101" pitchFamily="2" charset="-122"/>
                <a:sym typeface="宋体" panose="02010600030101010101" pitchFamily="2" charset="-122"/>
              </a:rPr>
              <a:t>化学制品跟踪系统关联图</a:t>
            </a:r>
            <a:endParaRPr lang="zh-CN" altLang="en-US" sz="2200" b="1" kern="0" dirty="0">
              <a:solidFill>
                <a:srgbClr val="FF0000"/>
              </a:solidFill>
              <a:latin typeface="宋体" panose="02010600030101010101" pitchFamily="2" charset="-122"/>
              <a:ea typeface="宋体" panose="02010600030101010101" pitchFamily="2" charset="-122"/>
              <a:sym typeface="宋体" panose="02010600030101010101" pitchFamily="2" charset="-122"/>
            </a:endParaRPr>
          </a:p>
        </p:txBody>
      </p:sp>
      <p:sp>
        <p:nvSpPr>
          <p:cNvPr id="2" name="日期占位符 1"/>
          <p:cNvSpPr>
            <a:spLocks noGrp="1"/>
          </p:cNvSpPr>
          <p:nvPr>
            <p:ph type="dt" sz="half" idx="10"/>
          </p:nvPr>
        </p:nvSpPr>
        <p:spPr/>
        <p:txBody>
          <a:bodyPr/>
          <a:lstStyle/>
          <a:p>
            <a:pPr>
              <a:defRPr/>
            </a:pPr>
            <a:fld id="{4A685884-CF4B-4E01-9FF7-A5341826EDF6}"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3" name="灯片编号占位符 2"/>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p:tgtEl>
                                          <p:spTgt spid="49"/>
                                        </p:tgtEl>
                                        <p:attrNameLst>
                                          <p:attrName>ppt_x</p:attrName>
                                        </p:attrNameLst>
                                      </p:cBhvr>
                                      <p:tavLst>
                                        <p:tav tm="0">
                                          <p:val>
                                            <p:strVal val="#ppt_x+#ppt_w*1.125000"/>
                                          </p:val>
                                        </p:tav>
                                        <p:tav tm="100000">
                                          <p:val>
                                            <p:strVal val="#ppt_x"/>
                                          </p:val>
                                        </p:tav>
                                      </p:tavLst>
                                    </p:anim>
                                    <p:animEffect transition="in" filter="wipe(left)">
                                      <p:cBhvr>
                                        <p:cTn id="8" dur="500"/>
                                        <p:tgtEl>
                                          <p:spTgt spid="49"/>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44" grpId="0" animBg="1"/>
      <p:bldP spid="4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文本框 175"/>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77" name="矩形: 圆角 176"/>
          <p:cNvSpPr/>
          <p:nvPr/>
        </p:nvSpPr>
        <p:spPr>
          <a:xfrm>
            <a:off x="700218" y="1697197"/>
            <a:ext cx="10793282" cy="67056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solidFill>
                  <a:srgbClr val="FF0000"/>
                </a:solidFill>
                <a:latin typeface="宋体" panose="02010600030101010101" pitchFamily="2" charset="-122"/>
                <a:ea typeface="宋体" panose="02010600030101010101" pitchFamily="2" charset="-122"/>
              </a:rPr>
              <a:t>由关联图导出数据流图的方法</a:t>
            </a:r>
            <a:r>
              <a:rPr lang="en-US" altLang="zh-CN" sz="2200" b="1" dirty="0">
                <a:solidFill>
                  <a:srgbClr val="FF0000"/>
                </a:solidFill>
                <a:latin typeface="宋体" panose="02010600030101010101" pitchFamily="2" charset="-122"/>
                <a:ea typeface="宋体" panose="02010600030101010101" pitchFamily="2" charset="-122"/>
              </a:rPr>
              <a:t>:</a:t>
            </a:r>
            <a:endPar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endParaRPr>
          </a:p>
        </p:txBody>
      </p:sp>
      <p:sp>
        <p:nvSpPr>
          <p:cNvPr id="179" name="矩形: 圆角 178"/>
          <p:cNvSpPr/>
          <p:nvPr/>
        </p:nvSpPr>
        <p:spPr>
          <a:xfrm>
            <a:off x="700218" y="1697197"/>
            <a:ext cx="10793282" cy="4329576"/>
          </a:xfrm>
          <a:prstGeom prst="round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p:txBody>
      </p:sp>
      <p:sp>
        <p:nvSpPr>
          <p:cNvPr id="6"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）数据流图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7" name="矩形: 圆角 6"/>
          <p:cNvSpPr/>
          <p:nvPr/>
        </p:nvSpPr>
        <p:spPr>
          <a:xfrm>
            <a:off x="894080" y="3900170"/>
            <a:ext cx="10356215" cy="1024890"/>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defRPr/>
            </a:pPr>
            <a:r>
              <a:rPr lang="en-US" altLang="zh-CN" sz="2200" b="1" dirty="0">
                <a:solidFill>
                  <a:schemeClr val="tx1"/>
                </a:solidFill>
                <a:latin typeface="宋体" panose="02010600030101010101" pitchFamily="2" charset="-122"/>
                <a:ea typeface="宋体" panose="02010600030101010101" pitchFamily="2" charset="-122"/>
              </a:rPr>
              <a:t>3)</a:t>
            </a:r>
            <a:r>
              <a:rPr lang="zh-CN" altLang="en-US" sz="2200" b="1" dirty="0">
                <a:solidFill>
                  <a:schemeClr val="tx1"/>
                </a:solidFill>
                <a:latin typeface="宋体" panose="02010600030101010101" pitchFamily="2" charset="-122"/>
                <a:ea typeface="宋体" panose="02010600030101010101" pitchFamily="2" charset="-122"/>
              </a:rPr>
              <a:t>所有的数据流也出现在</a:t>
            </a:r>
            <a:r>
              <a:rPr lang="en-US" altLang="zh-CN" sz="2200" b="1" dirty="0">
                <a:solidFill>
                  <a:schemeClr val="tx1"/>
                </a:solidFill>
                <a:latin typeface="宋体" panose="02010600030101010101" pitchFamily="2" charset="-122"/>
                <a:ea typeface="宋体" panose="02010600030101010101" pitchFamily="2" charset="-122"/>
              </a:rPr>
              <a:t>0</a:t>
            </a:r>
            <a:r>
              <a:rPr lang="zh-CN" altLang="en-US" sz="2200" b="1" dirty="0">
                <a:solidFill>
                  <a:schemeClr val="tx1"/>
                </a:solidFill>
                <a:latin typeface="宋体" panose="02010600030101010101" pitchFamily="2" charset="-122"/>
                <a:ea typeface="宋体" panose="02010600030101010101" pitchFamily="2" charset="-122"/>
              </a:rPr>
              <a:t>层数据流图上；</a:t>
            </a:r>
            <a:r>
              <a:rPr lang="en-US" altLang="zh-CN" sz="2200" b="1" dirty="0">
                <a:solidFill>
                  <a:schemeClr val="tx1"/>
                </a:solidFill>
                <a:latin typeface="宋体" panose="02010600030101010101" pitchFamily="2" charset="-122"/>
                <a:ea typeface="宋体" panose="02010600030101010101" pitchFamily="2" charset="-122"/>
              </a:rPr>
              <a:t>0</a:t>
            </a:r>
            <a:r>
              <a:rPr lang="zh-CN" altLang="en-US" sz="2200" b="1" dirty="0">
                <a:solidFill>
                  <a:schemeClr val="tx1"/>
                </a:solidFill>
                <a:latin typeface="宋体" panose="02010600030101010101" pitchFamily="2" charset="-122"/>
                <a:ea typeface="宋体" panose="02010600030101010101" pitchFamily="2" charset="-122"/>
              </a:rPr>
              <a:t>层数据流图包含许多数据存储</a:t>
            </a:r>
            <a:r>
              <a:rPr lang="en-US" altLang="zh-CN" sz="2200" b="1" dirty="0">
                <a:solidFill>
                  <a:schemeClr val="tx1"/>
                </a:solidFill>
                <a:latin typeface="宋体" panose="02010600030101010101" pitchFamily="2" charset="-122"/>
                <a:ea typeface="宋体" panose="02010600030101010101" pitchFamily="2" charset="-122"/>
              </a:rPr>
              <a:t>(datastore) </a:t>
            </a:r>
            <a:r>
              <a:rPr lang="zh-CN" altLang="en-US" sz="2200" b="1" dirty="0">
                <a:solidFill>
                  <a:schemeClr val="tx1"/>
                </a:solidFill>
                <a:latin typeface="宋体" panose="02010600030101010101" pitchFamily="2" charset="-122"/>
                <a:ea typeface="宋体" panose="02010600030101010101" pitchFamily="2" charset="-122"/>
              </a:rPr>
              <a:t>，是用一对水平的平行线表示，由于数据存储在系统内部，因此并不出现在关联图中</a:t>
            </a:r>
            <a:endParaRPr lang="zh-CN" altLang="en-US" sz="2200" b="1" dirty="0">
              <a:solidFill>
                <a:schemeClr val="tx1"/>
              </a:solidFill>
              <a:latin typeface="宋体" panose="02010600030101010101" pitchFamily="2" charset="-122"/>
              <a:ea typeface="宋体" panose="02010600030101010101" pitchFamily="2" charset="-122"/>
            </a:endParaRPr>
          </a:p>
        </p:txBody>
      </p:sp>
      <p:sp>
        <p:nvSpPr>
          <p:cNvPr id="8" name="矩形: 圆角 7"/>
          <p:cNvSpPr/>
          <p:nvPr/>
        </p:nvSpPr>
        <p:spPr>
          <a:xfrm>
            <a:off x="893763" y="3179380"/>
            <a:ext cx="10356128" cy="616818"/>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200" b="1" i="0" u="none" strike="noStrike" kern="1200" cap="none" spc="0" normalizeH="0" noProof="0" dirty="0">
                <a:ln>
                  <a:noFill/>
                </a:ln>
                <a:solidFill>
                  <a:schemeClr val="tx1"/>
                </a:solidFill>
                <a:effectLst/>
                <a:uLnTx/>
                <a:uFillTx/>
                <a:latin typeface="宋体" panose="02010600030101010101" pitchFamily="2" charset="-122"/>
                <a:ea typeface="宋体" panose="02010600030101010101" pitchFamily="2" charset="-122"/>
              </a:rPr>
              <a:t>2)</a:t>
            </a:r>
            <a:r>
              <a:rPr kumimoji="0" lang="zh-CN" altLang="en-US" sz="2200" b="1" i="0" u="none" strike="noStrike" kern="1200" cap="none" spc="0" normalizeH="0" noProof="0" dirty="0">
                <a:ln>
                  <a:noFill/>
                </a:ln>
                <a:solidFill>
                  <a:schemeClr val="tx1"/>
                </a:solidFill>
                <a:effectLst/>
                <a:uLnTx/>
                <a:uFillTx/>
                <a:latin typeface="宋体" panose="02010600030101010101" pitchFamily="2" charset="-122"/>
                <a:ea typeface="宋体" panose="02010600030101010101" pitchFamily="2" charset="-122"/>
              </a:rPr>
              <a:t>端点用矩形框表示</a:t>
            </a:r>
            <a:endParaRPr kumimoji="0" lang="zh-CN" altLang="en-US" sz="2200" b="1" i="0" u="none" strike="noStrike" kern="1200" cap="none" spc="0" normalizeH="0" noProof="0" dirty="0">
              <a:ln>
                <a:noFill/>
              </a:ln>
              <a:solidFill>
                <a:schemeClr val="tx1"/>
              </a:solidFill>
              <a:effectLst/>
              <a:uLnTx/>
              <a:uFillTx/>
              <a:latin typeface="宋体" panose="02010600030101010101" pitchFamily="2" charset="-122"/>
              <a:ea typeface="宋体" panose="02010600030101010101" pitchFamily="2" charset="-122"/>
            </a:endParaRPr>
          </a:p>
        </p:txBody>
      </p:sp>
      <p:sp>
        <p:nvSpPr>
          <p:cNvPr id="9" name="矩形: 圆角 8"/>
          <p:cNvSpPr/>
          <p:nvPr/>
        </p:nvSpPr>
        <p:spPr>
          <a:xfrm>
            <a:off x="893763" y="2373635"/>
            <a:ext cx="10356128" cy="616818"/>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200" b="1" i="0" u="none" strike="noStrike" kern="1200" cap="none" spc="0" normalizeH="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zh-CN" altLang="en-US" sz="2200" b="1" i="0" u="none" strike="noStrike" kern="1200" cap="none" spc="0" normalizeH="0" noProof="0" dirty="0">
                <a:ln>
                  <a:noFill/>
                </a:ln>
                <a:solidFill>
                  <a:schemeClr val="tx1"/>
                </a:solidFill>
                <a:effectLst/>
                <a:uLnTx/>
                <a:uFillTx/>
                <a:latin typeface="宋体" panose="02010600030101010101" pitchFamily="2" charset="-122"/>
                <a:ea typeface="宋体" panose="02010600030101010101" pitchFamily="2" charset="-122"/>
              </a:rPr>
              <a:t>代表整个“化学制品跟踪系统”的单一过程圆圈被细分成</a:t>
            </a:r>
            <a:r>
              <a:rPr kumimoji="0" lang="en-US" altLang="zh-CN" sz="2200" b="1" i="0" u="none" strike="noStrike" kern="1200" cap="none" spc="0" normalizeH="0" noProof="0" dirty="0">
                <a:ln>
                  <a:noFill/>
                </a:ln>
                <a:solidFill>
                  <a:schemeClr val="tx1"/>
                </a:solidFill>
                <a:effectLst/>
                <a:uLnTx/>
                <a:uFillTx/>
                <a:latin typeface="宋体" panose="02010600030101010101" pitchFamily="2" charset="-122"/>
                <a:ea typeface="宋体" panose="02010600030101010101" pitchFamily="2" charset="-122"/>
              </a:rPr>
              <a:t>7</a:t>
            </a:r>
            <a:r>
              <a:rPr kumimoji="0" lang="zh-CN" altLang="en-US" sz="2200" b="1" i="0" u="none" strike="noStrike" kern="1200" cap="none" spc="0" normalizeH="0" noProof="0" dirty="0">
                <a:ln>
                  <a:noFill/>
                </a:ln>
                <a:solidFill>
                  <a:schemeClr val="tx1"/>
                </a:solidFill>
                <a:effectLst/>
                <a:uLnTx/>
                <a:uFillTx/>
                <a:latin typeface="宋体" panose="02010600030101010101" pitchFamily="2" charset="-122"/>
                <a:ea typeface="宋体" panose="02010600030101010101" pitchFamily="2" charset="-122"/>
              </a:rPr>
              <a:t>个主要过程</a:t>
            </a:r>
            <a:r>
              <a:rPr kumimoji="0" lang="en-US" altLang="zh-CN" sz="2200" b="1" i="0" u="none" strike="noStrike" kern="1200" cap="none" spc="0" normalizeH="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200" b="1" i="0" u="none" strike="noStrike" kern="1200" cap="none" spc="0" normalizeH="0" noProof="0" dirty="0">
                <a:ln>
                  <a:noFill/>
                </a:ln>
                <a:solidFill>
                  <a:schemeClr val="tx1"/>
                </a:solidFill>
                <a:effectLst/>
                <a:uLnTx/>
                <a:uFillTx/>
                <a:latin typeface="宋体" panose="02010600030101010101" pitchFamily="2" charset="-122"/>
                <a:ea typeface="宋体" panose="02010600030101010101" pitchFamily="2" charset="-122"/>
              </a:rPr>
              <a:t>圆圈</a:t>
            </a:r>
            <a:r>
              <a:rPr kumimoji="0" lang="en-US" altLang="zh-CN" sz="2200" b="1" i="0" u="none" strike="noStrike" kern="1200" cap="none" spc="0" normalizeH="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zh-CN" altLang="en-US" sz="2200" b="1" i="0" u="none" strike="noStrike" kern="1200" cap="none" spc="0" normalizeH="0" noProof="0" dirty="0">
              <a:ln>
                <a:noFill/>
              </a:ln>
              <a:solidFill>
                <a:schemeClr val="tx1"/>
              </a:solidFill>
              <a:effectLst/>
              <a:uLnTx/>
              <a:uFillTx/>
              <a:latin typeface="宋体" panose="02010600030101010101" pitchFamily="2" charset="-122"/>
              <a:ea typeface="宋体" panose="02010600030101010101" pitchFamily="2" charset="-122"/>
            </a:endParaRPr>
          </a:p>
        </p:txBody>
      </p:sp>
      <p:sp>
        <p:nvSpPr>
          <p:cNvPr id="10" name="矩形: 圆角 9"/>
          <p:cNvSpPr/>
          <p:nvPr/>
        </p:nvSpPr>
        <p:spPr>
          <a:xfrm>
            <a:off x="997268" y="5110429"/>
            <a:ext cx="10356128" cy="783416"/>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spcBef>
                <a:spcPts val="0"/>
              </a:spcBef>
              <a:spcAft>
                <a:spcPts val="0"/>
              </a:spcAft>
              <a:buClrTx/>
              <a:buSzTx/>
              <a:buFontTx/>
              <a:buNone/>
              <a:defRPr/>
            </a:pPr>
            <a:r>
              <a:rPr kumimoji="0" lang="en-US" altLang="zh-CN" sz="2200" b="1" i="0" u="none" strike="noStrike" kern="1200" cap="none" spc="0" normalizeH="0" noProof="0" dirty="0">
                <a:ln>
                  <a:noFill/>
                </a:ln>
                <a:solidFill>
                  <a:schemeClr val="tx1"/>
                </a:solidFill>
                <a:effectLst/>
                <a:uLnTx/>
                <a:uFillTx/>
                <a:latin typeface="宋体" panose="02010600030101010101" pitchFamily="2" charset="-122"/>
                <a:ea typeface="宋体" panose="02010600030101010101" pitchFamily="2" charset="-122"/>
              </a:rPr>
              <a:t>4)</a:t>
            </a:r>
            <a:r>
              <a:rPr kumimoji="0" lang="zh-CN" altLang="en-US" sz="2200" b="1" i="0" u="none" strike="noStrike" kern="1200" cap="none" spc="0" normalizeH="0" noProof="0" dirty="0">
                <a:ln>
                  <a:noFill/>
                </a:ln>
                <a:solidFill>
                  <a:schemeClr val="tx1"/>
                </a:solidFill>
                <a:effectLst/>
                <a:uLnTx/>
                <a:uFillTx/>
                <a:latin typeface="宋体" panose="02010600030101010101" pitchFamily="2" charset="-122"/>
                <a:ea typeface="宋体" panose="02010600030101010101" pitchFamily="2" charset="-122"/>
              </a:rPr>
              <a:t>从圆圈到数据存储的流表示数据放入数据存储器，从数据存储器出来的流表示一个读操作，而数据存储器和圆圈之间的双向箭头则表示一个更新操作</a:t>
            </a:r>
            <a:endParaRPr kumimoji="0" lang="zh-CN" altLang="en-US" sz="2200" b="1" i="0" u="none" strike="noStrike" kern="1200" cap="none" spc="0" normalizeH="0" noProof="0" dirty="0">
              <a:ln>
                <a:noFill/>
              </a:ln>
              <a:solidFill>
                <a:schemeClr val="tx1"/>
              </a:solidFill>
              <a:effectLst/>
              <a:uLnTx/>
              <a:uFillTx/>
              <a:latin typeface="宋体" panose="02010600030101010101" pitchFamily="2" charset="-122"/>
              <a:ea typeface="宋体" panose="02010600030101010101" pitchFamily="2" charset="-122"/>
            </a:endParaRPr>
          </a:p>
        </p:txBody>
      </p:sp>
      <p:sp>
        <p:nvSpPr>
          <p:cNvPr id="2" name="日期占位符 1"/>
          <p:cNvSpPr>
            <a:spLocks noGrp="1"/>
          </p:cNvSpPr>
          <p:nvPr>
            <p:ph type="dt" sz="half" idx="10"/>
          </p:nvPr>
        </p:nvSpPr>
        <p:spPr/>
        <p:txBody>
          <a:bodyPr/>
          <a:lstStyle/>
          <a:p>
            <a:pPr>
              <a:defRPr/>
            </a:pPr>
            <a:fld id="{6BF44A23-CB6B-4EAE-836E-A8B702005D11}"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ppt_x</p:attrName>
                                        </p:attrNameLst>
                                      </p:cBhvr>
                                      <p:tavLst>
                                        <p:tav tm="0">
                                          <p:val>
                                            <p:strVal val="#ppt_x+#ppt_w*1.125000"/>
                                          </p:val>
                                        </p:tav>
                                        <p:tav tm="100000">
                                          <p:val>
                                            <p:strVal val="#ppt_x"/>
                                          </p:val>
                                        </p:tav>
                                      </p:tavLst>
                                    </p:anim>
                                    <p:animEffect transition="in" filter="wipe(left)">
                                      <p:cBhvr>
                                        <p:cTn id="8" dur="500"/>
                                        <p:tgtEl>
                                          <p:spTgt spid="6"/>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 grpId="0"/>
      <p:bldP spid="179" grpId="0" animBg="1"/>
      <p:bldP spid="6" grpId="0"/>
      <p:bldP spid="7" grpId="0" bldLvl="0" animBg="1"/>
      <p:bldP spid="8" grpId="0" animBg="1"/>
      <p:bldP spid="9" grpId="0" animBg="1"/>
      <p:bldP spid="10"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组合 50"/>
          <p:cNvGrpSpPr/>
          <p:nvPr/>
        </p:nvGrpSpPr>
        <p:grpSpPr>
          <a:xfrm>
            <a:off x="2784510" y="1539113"/>
            <a:ext cx="7985089" cy="4950023"/>
            <a:chOff x="2546866" y="181580"/>
            <a:chExt cx="7901678" cy="5808190"/>
          </a:xfrm>
        </p:grpSpPr>
        <p:sp>
          <p:nvSpPr>
            <p:cNvPr id="52" name="椭圆 51"/>
            <p:cNvSpPr/>
            <p:nvPr/>
          </p:nvSpPr>
          <p:spPr>
            <a:xfrm>
              <a:off x="2822791" y="444406"/>
              <a:ext cx="1144298" cy="62474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3" name="直接箭头连接符 52"/>
            <p:cNvCxnSpPr/>
            <p:nvPr/>
          </p:nvCxnSpPr>
          <p:spPr>
            <a:xfrm>
              <a:off x="3967089" y="626012"/>
              <a:ext cx="133643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4" name="直接箭头连接符 53"/>
            <p:cNvCxnSpPr/>
            <p:nvPr/>
          </p:nvCxnSpPr>
          <p:spPr>
            <a:xfrm flipH="1">
              <a:off x="3896752" y="879231"/>
              <a:ext cx="140676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5" name="矩形 54"/>
            <p:cNvSpPr/>
            <p:nvPr/>
          </p:nvSpPr>
          <p:spPr>
            <a:xfrm>
              <a:off x="5303520" y="559827"/>
              <a:ext cx="1593107" cy="38487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箭头连接符 55"/>
            <p:cNvCxnSpPr>
              <a:endCxn id="52" idx="4"/>
            </p:cNvCxnSpPr>
            <p:nvPr/>
          </p:nvCxnSpPr>
          <p:spPr>
            <a:xfrm flipV="1">
              <a:off x="3394940" y="1069146"/>
              <a:ext cx="0" cy="73855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7" name="矩形 56"/>
            <p:cNvSpPr/>
            <p:nvPr/>
          </p:nvSpPr>
          <p:spPr>
            <a:xfrm>
              <a:off x="8224913" y="564339"/>
              <a:ext cx="1593107" cy="38487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5529157" y="1636169"/>
              <a:ext cx="1144298" cy="62474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6962786" y="2137218"/>
              <a:ext cx="1144298" cy="62474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8430955" y="1636169"/>
              <a:ext cx="1144298" cy="62474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a:off x="8430955" y="4170854"/>
              <a:ext cx="1144298" cy="62474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p:nvSpPr>
          <p:spPr>
            <a:xfrm>
              <a:off x="5523851" y="4170854"/>
              <a:ext cx="1144298" cy="62474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p:nvPr/>
          </p:nvSpPr>
          <p:spPr>
            <a:xfrm>
              <a:off x="2810098" y="4159068"/>
              <a:ext cx="1144298" cy="624740"/>
            </a:xfrm>
            <a:prstGeom prst="ellipse">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p:cNvSpPr/>
            <p:nvPr/>
          </p:nvSpPr>
          <p:spPr>
            <a:xfrm>
              <a:off x="2585693" y="2704158"/>
              <a:ext cx="1593107" cy="384873"/>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5301486" y="5604897"/>
              <a:ext cx="1593107" cy="384873"/>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2569371" y="5604897"/>
              <a:ext cx="1593107" cy="38487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7" name="组合 66"/>
            <p:cNvGrpSpPr/>
            <p:nvPr/>
          </p:nvGrpSpPr>
          <p:grpSpPr>
            <a:xfrm>
              <a:off x="2616747" y="1828799"/>
              <a:ext cx="1562053" cy="215705"/>
              <a:chOff x="2616747" y="1821765"/>
              <a:chExt cx="1562053" cy="215705"/>
            </a:xfrm>
          </p:grpSpPr>
          <p:cxnSp>
            <p:nvCxnSpPr>
              <p:cNvPr id="180" name="直接连接符 179"/>
              <p:cNvCxnSpPr/>
              <p:nvPr/>
            </p:nvCxnSpPr>
            <p:spPr>
              <a:xfrm>
                <a:off x="2616747" y="1821765"/>
                <a:ext cx="1545731" cy="0"/>
              </a:xfrm>
              <a:prstGeom prst="line">
                <a:avLst/>
              </a:prstGeom>
            </p:spPr>
            <p:style>
              <a:lnRef idx="2">
                <a:schemeClr val="dk1"/>
              </a:lnRef>
              <a:fillRef idx="0">
                <a:schemeClr val="dk1"/>
              </a:fillRef>
              <a:effectRef idx="1">
                <a:schemeClr val="dk1"/>
              </a:effectRef>
              <a:fontRef idx="minor">
                <a:schemeClr val="tx1"/>
              </a:fontRef>
            </p:style>
          </p:cxnSp>
          <p:cxnSp>
            <p:nvCxnSpPr>
              <p:cNvPr id="181" name="直接连接符 180"/>
              <p:cNvCxnSpPr/>
              <p:nvPr/>
            </p:nvCxnSpPr>
            <p:spPr>
              <a:xfrm>
                <a:off x="2633069" y="2037470"/>
                <a:ext cx="1545731" cy="0"/>
              </a:xfrm>
              <a:prstGeom prst="line">
                <a:avLst/>
              </a:prstGeom>
            </p:spPr>
            <p:style>
              <a:lnRef idx="2">
                <a:schemeClr val="dk1"/>
              </a:lnRef>
              <a:fillRef idx="0">
                <a:schemeClr val="dk1"/>
              </a:fillRef>
              <a:effectRef idx="1">
                <a:schemeClr val="dk1"/>
              </a:effectRef>
              <a:fontRef idx="minor">
                <a:schemeClr val="tx1"/>
              </a:fontRef>
            </p:style>
          </p:cxnSp>
        </p:grpSp>
        <p:grpSp>
          <p:nvGrpSpPr>
            <p:cNvPr id="68" name="组合 67"/>
            <p:cNvGrpSpPr/>
            <p:nvPr/>
          </p:nvGrpSpPr>
          <p:grpSpPr>
            <a:xfrm>
              <a:off x="5344235" y="3347346"/>
              <a:ext cx="1545731" cy="215705"/>
              <a:chOff x="2633069" y="1821765"/>
              <a:chExt cx="1545731" cy="215705"/>
            </a:xfrm>
          </p:grpSpPr>
          <p:cxnSp>
            <p:nvCxnSpPr>
              <p:cNvPr id="178" name="直接连接符 177"/>
              <p:cNvCxnSpPr/>
              <p:nvPr/>
            </p:nvCxnSpPr>
            <p:spPr>
              <a:xfrm>
                <a:off x="2647650" y="1821765"/>
                <a:ext cx="1514828" cy="0"/>
              </a:xfrm>
              <a:prstGeom prst="line">
                <a:avLst/>
              </a:prstGeom>
            </p:spPr>
            <p:style>
              <a:lnRef idx="2">
                <a:schemeClr val="dk1"/>
              </a:lnRef>
              <a:fillRef idx="0">
                <a:schemeClr val="dk1"/>
              </a:fillRef>
              <a:effectRef idx="1">
                <a:schemeClr val="dk1"/>
              </a:effectRef>
              <a:fontRef idx="minor">
                <a:schemeClr val="tx1"/>
              </a:fontRef>
            </p:style>
          </p:cxnSp>
          <p:cxnSp>
            <p:nvCxnSpPr>
              <p:cNvPr id="179" name="直接连接符 178"/>
              <p:cNvCxnSpPr/>
              <p:nvPr/>
            </p:nvCxnSpPr>
            <p:spPr>
              <a:xfrm>
                <a:off x="2633069" y="2037470"/>
                <a:ext cx="1545731" cy="0"/>
              </a:xfrm>
              <a:prstGeom prst="line">
                <a:avLst/>
              </a:prstGeom>
            </p:spPr>
            <p:style>
              <a:lnRef idx="2">
                <a:schemeClr val="dk1"/>
              </a:lnRef>
              <a:fillRef idx="0">
                <a:schemeClr val="dk1"/>
              </a:fillRef>
              <a:effectRef idx="1">
                <a:schemeClr val="dk1"/>
              </a:effectRef>
              <a:fontRef idx="minor">
                <a:schemeClr val="tx1"/>
              </a:fontRef>
            </p:style>
          </p:cxnSp>
        </p:grpSp>
        <p:grpSp>
          <p:nvGrpSpPr>
            <p:cNvPr id="69" name="组合 68"/>
            <p:cNvGrpSpPr/>
            <p:nvPr/>
          </p:nvGrpSpPr>
          <p:grpSpPr>
            <a:xfrm>
              <a:off x="8107084" y="3291841"/>
              <a:ext cx="1562053" cy="317339"/>
              <a:chOff x="2616747" y="1821765"/>
              <a:chExt cx="1562053" cy="215705"/>
            </a:xfrm>
          </p:grpSpPr>
          <p:cxnSp>
            <p:nvCxnSpPr>
              <p:cNvPr id="176" name="直接连接符 175"/>
              <p:cNvCxnSpPr/>
              <p:nvPr/>
            </p:nvCxnSpPr>
            <p:spPr>
              <a:xfrm>
                <a:off x="2616747" y="1821765"/>
                <a:ext cx="1545731" cy="0"/>
              </a:xfrm>
              <a:prstGeom prst="line">
                <a:avLst/>
              </a:prstGeom>
            </p:spPr>
            <p:style>
              <a:lnRef idx="2">
                <a:schemeClr val="dk1"/>
              </a:lnRef>
              <a:fillRef idx="0">
                <a:schemeClr val="dk1"/>
              </a:fillRef>
              <a:effectRef idx="1">
                <a:schemeClr val="dk1"/>
              </a:effectRef>
              <a:fontRef idx="minor">
                <a:schemeClr val="tx1"/>
              </a:fontRef>
            </p:style>
          </p:cxnSp>
          <p:cxnSp>
            <p:nvCxnSpPr>
              <p:cNvPr id="177" name="直接连接符 176"/>
              <p:cNvCxnSpPr/>
              <p:nvPr/>
            </p:nvCxnSpPr>
            <p:spPr>
              <a:xfrm>
                <a:off x="2833929" y="2037470"/>
                <a:ext cx="1344871" cy="0"/>
              </a:xfrm>
              <a:prstGeom prst="line">
                <a:avLst/>
              </a:prstGeom>
            </p:spPr>
            <p:style>
              <a:lnRef idx="2">
                <a:schemeClr val="dk1"/>
              </a:lnRef>
              <a:fillRef idx="0">
                <a:schemeClr val="dk1"/>
              </a:fillRef>
              <a:effectRef idx="1">
                <a:schemeClr val="dk1"/>
              </a:effectRef>
              <a:fontRef idx="minor">
                <a:schemeClr val="tx1"/>
              </a:fontRef>
            </p:style>
          </p:cxnSp>
        </p:grpSp>
        <p:cxnSp>
          <p:nvCxnSpPr>
            <p:cNvPr id="70" name="直接箭头连接符 69"/>
            <p:cNvCxnSpPr>
              <a:stCxn id="55" idx="2"/>
              <a:endCxn id="58" idx="0"/>
            </p:cNvCxnSpPr>
            <p:nvPr/>
          </p:nvCxnSpPr>
          <p:spPr>
            <a:xfrm>
              <a:off x="6100074" y="944700"/>
              <a:ext cx="1232" cy="69146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1" name="直接箭头连接符 70"/>
            <p:cNvCxnSpPr>
              <a:endCxn id="58" idx="2"/>
            </p:cNvCxnSpPr>
            <p:nvPr/>
          </p:nvCxnSpPr>
          <p:spPr>
            <a:xfrm flipV="1">
              <a:off x="4162478" y="1948539"/>
              <a:ext cx="1366679" cy="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2" name="直接箭头连接符 71"/>
            <p:cNvCxnSpPr/>
            <p:nvPr/>
          </p:nvCxnSpPr>
          <p:spPr>
            <a:xfrm flipH="1">
              <a:off x="4173292" y="2057621"/>
              <a:ext cx="1372187" cy="76070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73" name="组合 72"/>
            <p:cNvGrpSpPr/>
            <p:nvPr/>
          </p:nvGrpSpPr>
          <p:grpSpPr>
            <a:xfrm>
              <a:off x="4173292" y="2260910"/>
              <a:ext cx="1727636" cy="741963"/>
              <a:chOff x="4173292" y="2260910"/>
              <a:chExt cx="1727636" cy="741963"/>
            </a:xfrm>
          </p:grpSpPr>
          <p:cxnSp>
            <p:nvCxnSpPr>
              <p:cNvPr id="174" name="直接连接符 173"/>
              <p:cNvCxnSpPr/>
              <p:nvPr/>
            </p:nvCxnSpPr>
            <p:spPr>
              <a:xfrm>
                <a:off x="4173292" y="3002873"/>
                <a:ext cx="462012" cy="0"/>
              </a:xfrm>
              <a:prstGeom prst="line">
                <a:avLst/>
              </a:prstGeom>
            </p:spPr>
            <p:style>
              <a:lnRef idx="2">
                <a:schemeClr val="dk1"/>
              </a:lnRef>
              <a:fillRef idx="0">
                <a:schemeClr val="dk1"/>
              </a:fillRef>
              <a:effectRef idx="1">
                <a:schemeClr val="dk1"/>
              </a:effectRef>
              <a:fontRef idx="minor">
                <a:schemeClr val="tx1"/>
              </a:fontRef>
            </p:style>
          </p:cxnSp>
          <p:cxnSp>
            <p:nvCxnSpPr>
              <p:cNvPr id="175" name="直接箭头连接符 174"/>
              <p:cNvCxnSpPr/>
              <p:nvPr/>
            </p:nvCxnSpPr>
            <p:spPr>
              <a:xfrm flipV="1">
                <a:off x="4635304" y="2260910"/>
                <a:ext cx="1265624" cy="7419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cxnSp>
          <p:nvCxnSpPr>
            <p:cNvPr id="74" name="直接箭头连接符 73"/>
            <p:cNvCxnSpPr>
              <a:endCxn id="145" idx="0"/>
            </p:cNvCxnSpPr>
            <p:nvPr/>
          </p:nvCxnSpPr>
          <p:spPr>
            <a:xfrm flipH="1">
              <a:off x="6086789" y="2273998"/>
              <a:ext cx="9212" cy="104907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5" name="直接箭头连接符 74"/>
            <p:cNvCxnSpPr/>
            <p:nvPr/>
          </p:nvCxnSpPr>
          <p:spPr>
            <a:xfrm flipV="1">
              <a:off x="3896752" y="3547470"/>
              <a:ext cx="1406768" cy="80507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6" name="直接箭头连接符 75"/>
            <p:cNvCxnSpPr/>
            <p:nvPr/>
          </p:nvCxnSpPr>
          <p:spPr>
            <a:xfrm flipH="1">
              <a:off x="3925574" y="4602480"/>
              <a:ext cx="316226" cy="67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7" name="直接连接符 76"/>
            <p:cNvCxnSpPr/>
            <p:nvPr/>
          </p:nvCxnSpPr>
          <p:spPr>
            <a:xfrm flipV="1">
              <a:off x="4241800" y="3563051"/>
              <a:ext cx="1745534" cy="1034404"/>
            </a:xfrm>
            <a:prstGeom prst="line">
              <a:avLst/>
            </a:prstGeom>
          </p:spPr>
          <p:style>
            <a:lnRef idx="2">
              <a:schemeClr val="dk1"/>
            </a:lnRef>
            <a:fillRef idx="0">
              <a:schemeClr val="dk1"/>
            </a:fillRef>
            <a:effectRef idx="1">
              <a:schemeClr val="dk1"/>
            </a:effectRef>
            <a:fontRef idx="minor">
              <a:schemeClr val="tx1"/>
            </a:fontRef>
          </p:style>
        </p:cxnSp>
        <p:cxnSp>
          <p:nvCxnSpPr>
            <p:cNvPr id="79" name="直接箭头连接符 78"/>
            <p:cNvCxnSpPr/>
            <p:nvPr/>
          </p:nvCxnSpPr>
          <p:spPr>
            <a:xfrm flipV="1">
              <a:off x="3060473" y="4783808"/>
              <a:ext cx="19757" cy="82108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0" name="直接箭头连接符 79"/>
            <p:cNvCxnSpPr/>
            <p:nvPr/>
          </p:nvCxnSpPr>
          <p:spPr>
            <a:xfrm>
              <a:off x="3613897" y="4795594"/>
              <a:ext cx="0" cy="80930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1" name="直接箭头连接符 80"/>
            <p:cNvCxnSpPr/>
            <p:nvPr/>
          </p:nvCxnSpPr>
          <p:spPr>
            <a:xfrm flipV="1">
              <a:off x="6359973" y="4751522"/>
              <a:ext cx="0" cy="85337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2" name="直接箭头连接符 81"/>
            <p:cNvCxnSpPr/>
            <p:nvPr/>
          </p:nvCxnSpPr>
          <p:spPr>
            <a:xfrm>
              <a:off x="5823697" y="4777900"/>
              <a:ext cx="0" cy="81582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3" name="直接箭头连接符 82"/>
            <p:cNvCxnSpPr>
              <a:endCxn id="62" idx="7"/>
            </p:cNvCxnSpPr>
            <p:nvPr/>
          </p:nvCxnSpPr>
          <p:spPr>
            <a:xfrm flipH="1">
              <a:off x="6500570" y="3547470"/>
              <a:ext cx="1533960" cy="7148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0" name="直接箭头连接符 89"/>
            <p:cNvCxnSpPr>
              <a:endCxn id="61" idx="0"/>
            </p:cNvCxnSpPr>
            <p:nvPr/>
          </p:nvCxnSpPr>
          <p:spPr>
            <a:xfrm>
              <a:off x="9003104" y="3617892"/>
              <a:ext cx="0" cy="55296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1" name="直接箭头连接符 90"/>
            <p:cNvCxnSpPr/>
            <p:nvPr/>
          </p:nvCxnSpPr>
          <p:spPr>
            <a:xfrm>
              <a:off x="8731489" y="2260909"/>
              <a:ext cx="0" cy="103093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4" name="直接箭头连接符 93"/>
            <p:cNvCxnSpPr/>
            <p:nvPr/>
          </p:nvCxnSpPr>
          <p:spPr>
            <a:xfrm>
              <a:off x="9261841" y="2246492"/>
              <a:ext cx="0" cy="103093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5" name="直接箭头连接符 94"/>
            <p:cNvCxnSpPr/>
            <p:nvPr/>
          </p:nvCxnSpPr>
          <p:spPr>
            <a:xfrm>
              <a:off x="8731489" y="958319"/>
              <a:ext cx="0" cy="7245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6" name="直接箭头连接符 95"/>
            <p:cNvCxnSpPr/>
            <p:nvPr/>
          </p:nvCxnSpPr>
          <p:spPr>
            <a:xfrm>
              <a:off x="9261841" y="958319"/>
              <a:ext cx="0" cy="7245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7" name="直接箭头连接符 96"/>
            <p:cNvCxnSpPr>
              <a:stCxn id="57" idx="1"/>
              <a:endCxn id="58" idx="7"/>
            </p:cNvCxnSpPr>
            <p:nvPr/>
          </p:nvCxnSpPr>
          <p:spPr>
            <a:xfrm flipH="1">
              <a:off x="6505876" y="756776"/>
              <a:ext cx="1719037" cy="97088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8" name="直接连接符 97"/>
            <p:cNvCxnSpPr/>
            <p:nvPr/>
          </p:nvCxnSpPr>
          <p:spPr>
            <a:xfrm flipH="1">
              <a:off x="7551258" y="1569559"/>
              <a:ext cx="1" cy="567659"/>
            </a:xfrm>
            <a:prstGeom prst="line">
              <a:avLst/>
            </a:prstGeom>
          </p:spPr>
          <p:style>
            <a:lnRef idx="2">
              <a:schemeClr val="dk1"/>
            </a:lnRef>
            <a:fillRef idx="0">
              <a:schemeClr val="dk1"/>
            </a:fillRef>
            <a:effectRef idx="1">
              <a:schemeClr val="dk1"/>
            </a:effectRef>
            <a:fontRef idx="minor">
              <a:schemeClr val="tx1"/>
            </a:fontRef>
          </p:style>
        </p:cxnSp>
        <p:cxnSp>
          <p:nvCxnSpPr>
            <p:cNvPr id="99" name="直接箭头连接符 98"/>
            <p:cNvCxnSpPr/>
            <p:nvPr/>
          </p:nvCxnSpPr>
          <p:spPr>
            <a:xfrm flipH="1" flipV="1">
              <a:off x="6438455" y="944245"/>
              <a:ext cx="1112803" cy="62531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0" name="直接连接符 99"/>
            <p:cNvCxnSpPr/>
            <p:nvPr/>
          </p:nvCxnSpPr>
          <p:spPr>
            <a:xfrm flipH="1">
              <a:off x="6973804" y="3456940"/>
              <a:ext cx="321076" cy="0"/>
            </a:xfrm>
            <a:prstGeom prst="line">
              <a:avLst/>
            </a:prstGeom>
          </p:spPr>
          <p:style>
            <a:lnRef idx="2">
              <a:schemeClr val="dk1"/>
            </a:lnRef>
            <a:fillRef idx="0">
              <a:schemeClr val="dk1"/>
            </a:fillRef>
            <a:effectRef idx="1">
              <a:schemeClr val="dk1"/>
            </a:effectRef>
            <a:fontRef idx="minor">
              <a:schemeClr val="tx1"/>
            </a:fontRef>
          </p:style>
        </p:cxnSp>
        <p:cxnSp>
          <p:nvCxnSpPr>
            <p:cNvPr id="102" name="直接箭头连接符 101"/>
            <p:cNvCxnSpPr/>
            <p:nvPr/>
          </p:nvCxnSpPr>
          <p:spPr>
            <a:xfrm flipV="1">
              <a:off x="7294881" y="2728742"/>
              <a:ext cx="7481" cy="73683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3" name="直接连接符 102"/>
            <p:cNvCxnSpPr/>
            <p:nvPr/>
          </p:nvCxnSpPr>
          <p:spPr>
            <a:xfrm flipH="1">
              <a:off x="7802880" y="3465572"/>
              <a:ext cx="231650" cy="0"/>
            </a:xfrm>
            <a:prstGeom prst="line">
              <a:avLst/>
            </a:prstGeom>
          </p:spPr>
          <p:style>
            <a:lnRef idx="2">
              <a:schemeClr val="dk1"/>
            </a:lnRef>
            <a:fillRef idx="0">
              <a:schemeClr val="dk1"/>
            </a:fillRef>
            <a:effectRef idx="1">
              <a:schemeClr val="dk1"/>
            </a:effectRef>
            <a:fontRef idx="minor">
              <a:schemeClr val="tx1"/>
            </a:fontRef>
          </p:style>
        </p:cxnSp>
        <p:cxnSp>
          <p:nvCxnSpPr>
            <p:cNvPr id="104" name="直接箭头连接符 103"/>
            <p:cNvCxnSpPr/>
            <p:nvPr/>
          </p:nvCxnSpPr>
          <p:spPr>
            <a:xfrm flipV="1">
              <a:off x="7808583" y="2728742"/>
              <a:ext cx="9699" cy="738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5" name="任意多边形: 形状 104"/>
            <p:cNvSpPr/>
            <p:nvPr/>
          </p:nvSpPr>
          <p:spPr>
            <a:xfrm>
              <a:off x="9582912" y="762000"/>
              <a:ext cx="865632" cy="3730752"/>
            </a:xfrm>
            <a:custGeom>
              <a:avLst/>
              <a:gdLst>
                <a:gd name="connsiteX0" fmla="*/ 0 w 865632"/>
                <a:gd name="connsiteY0" fmla="*/ 3730752 h 3730752"/>
                <a:gd name="connsiteX1" fmla="*/ 865632 w 865632"/>
                <a:gd name="connsiteY1" fmla="*/ 3724656 h 3730752"/>
                <a:gd name="connsiteX2" fmla="*/ 859536 w 865632"/>
                <a:gd name="connsiteY2" fmla="*/ 0 h 3730752"/>
              </a:gdLst>
              <a:ahLst/>
              <a:cxnLst>
                <a:cxn ang="0">
                  <a:pos x="connsiteX0" y="connsiteY0"/>
                </a:cxn>
                <a:cxn ang="0">
                  <a:pos x="connsiteX1" y="connsiteY1"/>
                </a:cxn>
                <a:cxn ang="0">
                  <a:pos x="connsiteX2" y="connsiteY2"/>
                </a:cxn>
              </a:cxnLst>
              <a:rect l="l" t="t" r="r" b="b"/>
              <a:pathLst>
                <a:path w="865632" h="3730752">
                  <a:moveTo>
                    <a:pt x="0" y="3730752"/>
                  </a:moveTo>
                  <a:lnTo>
                    <a:pt x="865632" y="3724656"/>
                  </a:lnTo>
                  <a:lnTo>
                    <a:pt x="859536" y="0"/>
                  </a:lnTo>
                </a:path>
              </a:pathLst>
            </a:cu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cxnSp>
          <p:nvCxnSpPr>
            <p:cNvPr id="106" name="直接箭头连接符 105"/>
            <p:cNvCxnSpPr>
              <a:stCxn id="105" idx="2"/>
            </p:cNvCxnSpPr>
            <p:nvPr/>
          </p:nvCxnSpPr>
          <p:spPr>
            <a:xfrm flipH="1" flipV="1">
              <a:off x="9824871" y="752263"/>
              <a:ext cx="617577" cy="973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3" name="文本框 112"/>
            <p:cNvSpPr txBox="1"/>
            <p:nvPr/>
          </p:nvSpPr>
          <p:spPr>
            <a:xfrm>
              <a:off x="2950039" y="344133"/>
              <a:ext cx="864414" cy="757009"/>
            </a:xfrm>
            <a:prstGeom prst="rect">
              <a:avLst/>
            </a:prstGeom>
            <a:noFill/>
          </p:spPr>
          <p:txBody>
            <a:bodyPr wrap="square" rtlCol="0">
              <a:spAutoFit/>
            </a:bodyPr>
            <a:lstStyle/>
            <a:p>
              <a:pPr algn="ctr"/>
              <a:r>
                <a:rPr lang="en-US" altLang="zh-CN" sz="1200" b="1" dirty="0"/>
                <a:t>7</a:t>
              </a:r>
              <a:endParaRPr lang="en-US" altLang="zh-CN" sz="1200" b="1" dirty="0"/>
            </a:p>
            <a:p>
              <a:pPr algn="ctr"/>
              <a:r>
                <a:rPr lang="zh-CN" altLang="en-US" sz="1200" b="1" dirty="0"/>
                <a:t>查询供应商目录</a:t>
              </a:r>
              <a:endParaRPr lang="zh-CN" altLang="en-US" sz="1200" b="1" dirty="0"/>
            </a:p>
          </p:txBody>
        </p:sp>
        <p:sp>
          <p:nvSpPr>
            <p:cNvPr id="115" name="文本框 114"/>
            <p:cNvSpPr txBox="1"/>
            <p:nvPr/>
          </p:nvSpPr>
          <p:spPr>
            <a:xfrm>
              <a:off x="5441124" y="618201"/>
              <a:ext cx="1432677" cy="323368"/>
            </a:xfrm>
            <a:prstGeom prst="rect">
              <a:avLst/>
            </a:prstGeom>
            <a:noFill/>
          </p:spPr>
          <p:txBody>
            <a:bodyPr wrap="square" rtlCol="0">
              <a:spAutoFit/>
            </a:bodyPr>
            <a:lstStyle>
              <a:defPPr>
                <a:defRPr lang="zh-CN"/>
              </a:defPPr>
              <a:lvl1pPr algn="ctr">
                <a:defRPr sz="1200">
                  <a:solidFill>
                    <a:schemeClr val="bg1"/>
                  </a:solidFill>
                </a:defRPr>
              </a:lvl1pPr>
            </a:lstStyle>
            <a:p>
              <a:r>
                <a:rPr lang="zh-CN" altLang="en-US" b="1" dirty="0"/>
                <a:t>药剂师（化学家）</a:t>
              </a:r>
              <a:endParaRPr lang="zh-CN" altLang="en-US" b="1" dirty="0"/>
            </a:p>
          </p:txBody>
        </p:sp>
        <p:sp>
          <p:nvSpPr>
            <p:cNvPr id="116" name="文本框 115"/>
            <p:cNvSpPr txBox="1"/>
            <p:nvPr/>
          </p:nvSpPr>
          <p:spPr>
            <a:xfrm>
              <a:off x="8231701" y="583182"/>
              <a:ext cx="1753144" cy="323368"/>
            </a:xfrm>
            <a:prstGeom prst="rect">
              <a:avLst/>
            </a:prstGeom>
            <a:noFill/>
          </p:spPr>
          <p:txBody>
            <a:bodyPr wrap="square" rtlCol="0">
              <a:spAutoFit/>
            </a:bodyPr>
            <a:lstStyle>
              <a:defPPr>
                <a:defRPr lang="zh-CN"/>
              </a:defPPr>
              <a:lvl1pPr algn="ctr">
                <a:defRPr sz="1200">
                  <a:solidFill>
                    <a:schemeClr val="bg1"/>
                  </a:solidFill>
                </a:defRPr>
              </a:lvl1pPr>
            </a:lstStyle>
            <a:p>
              <a:r>
                <a:rPr lang="zh-CN" altLang="en-US" b="1" dirty="0"/>
                <a:t>化学制品仓库（人员）</a:t>
              </a:r>
              <a:endParaRPr lang="zh-CN" altLang="en-US" b="1" dirty="0"/>
            </a:p>
          </p:txBody>
        </p:sp>
        <p:sp>
          <p:nvSpPr>
            <p:cNvPr id="137" name="文本框 136"/>
            <p:cNvSpPr txBox="1"/>
            <p:nvPr/>
          </p:nvSpPr>
          <p:spPr>
            <a:xfrm>
              <a:off x="5685073" y="1564013"/>
              <a:ext cx="864414" cy="757009"/>
            </a:xfrm>
            <a:prstGeom prst="rect">
              <a:avLst/>
            </a:prstGeom>
            <a:noFill/>
          </p:spPr>
          <p:txBody>
            <a:bodyPr wrap="square" rtlCol="0">
              <a:spAutoFit/>
            </a:bodyPr>
            <a:lstStyle/>
            <a:p>
              <a:pPr algn="ctr"/>
              <a:r>
                <a:rPr lang="en-US" altLang="zh-CN" sz="1200" b="1" dirty="0"/>
                <a:t>1</a:t>
              </a:r>
              <a:endParaRPr lang="en-US" altLang="zh-CN" sz="1200" b="1" dirty="0"/>
            </a:p>
            <a:p>
              <a:pPr algn="ctr"/>
              <a:r>
                <a:rPr lang="zh-CN" altLang="en-US" sz="1200" b="1" dirty="0"/>
                <a:t>提出化学制品请示</a:t>
              </a:r>
              <a:endParaRPr lang="zh-CN" altLang="en-US" sz="1200" b="1" dirty="0"/>
            </a:p>
          </p:txBody>
        </p:sp>
        <p:sp>
          <p:nvSpPr>
            <p:cNvPr id="138" name="文本框 137"/>
            <p:cNvSpPr txBox="1"/>
            <p:nvPr/>
          </p:nvSpPr>
          <p:spPr>
            <a:xfrm>
              <a:off x="8588106" y="1567637"/>
              <a:ext cx="864414" cy="757009"/>
            </a:xfrm>
            <a:prstGeom prst="rect">
              <a:avLst/>
            </a:prstGeom>
            <a:noFill/>
            <a:ln>
              <a:noFill/>
            </a:ln>
          </p:spPr>
          <p:txBody>
            <a:bodyPr wrap="square" rtlCol="0">
              <a:spAutoFit/>
            </a:bodyPr>
            <a:lstStyle/>
            <a:p>
              <a:pPr algn="ctr"/>
              <a:r>
                <a:rPr lang="en-US" altLang="zh-CN" sz="1200" b="1" dirty="0"/>
                <a:t>6</a:t>
              </a:r>
              <a:endParaRPr lang="en-US" altLang="zh-CN" sz="1200" b="1" dirty="0"/>
            </a:p>
            <a:p>
              <a:pPr algn="ctr"/>
              <a:r>
                <a:rPr lang="zh-CN" altLang="en-US" sz="1200" b="1" dirty="0"/>
                <a:t>存货清单更新</a:t>
              </a:r>
              <a:endParaRPr lang="zh-CN" altLang="en-US" sz="1200" b="1" dirty="0"/>
            </a:p>
          </p:txBody>
        </p:sp>
        <p:sp>
          <p:nvSpPr>
            <p:cNvPr id="139" name="文本框 138"/>
            <p:cNvSpPr txBox="1"/>
            <p:nvPr/>
          </p:nvSpPr>
          <p:spPr>
            <a:xfrm>
              <a:off x="2905266" y="4066719"/>
              <a:ext cx="959406" cy="757009"/>
            </a:xfrm>
            <a:prstGeom prst="rect">
              <a:avLst/>
            </a:prstGeom>
            <a:noFill/>
            <a:ln>
              <a:noFill/>
            </a:ln>
          </p:spPr>
          <p:txBody>
            <a:bodyPr wrap="square" rtlCol="0">
              <a:spAutoFit/>
            </a:bodyPr>
            <a:lstStyle/>
            <a:p>
              <a:pPr algn="ctr"/>
              <a:r>
                <a:rPr lang="en-US" altLang="zh-CN" sz="1200" b="1" dirty="0"/>
                <a:t>3</a:t>
              </a:r>
              <a:endParaRPr lang="en-US" altLang="zh-CN" sz="1200" b="1" dirty="0"/>
            </a:p>
            <a:p>
              <a:pPr algn="ctr"/>
              <a:r>
                <a:rPr lang="zh-CN" altLang="en-US" sz="1200" b="1" dirty="0"/>
                <a:t>请求一供应商化学制品</a:t>
              </a:r>
              <a:endParaRPr lang="zh-CN" altLang="en-US" sz="1200" b="1" dirty="0"/>
            </a:p>
          </p:txBody>
        </p:sp>
        <p:sp>
          <p:nvSpPr>
            <p:cNvPr id="140" name="文本框 139"/>
            <p:cNvSpPr txBox="1"/>
            <p:nvPr/>
          </p:nvSpPr>
          <p:spPr>
            <a:xfrm>
              <a:off x="5677432" y="4108025"/>
              <a:ext cx="864414" cy="757009"/>
            </a:xfrm>
            <a:prstGeom prst="rect">
              <a:avLst/>
            </a:prstGeom>
            <a:noFill/>
          </p:spPr>
          <p:txBody>
            <a:bodyPr wrap="square" rtlCol="0">
              <a:spAutoFit/>
            </a:bodyPr>
            <a:lstStyle/>
            <a:p>
              <a:pPr algn="ctr"/>
              <a:r>
                <a:rPr lang="en-US" altLang="zh-CN" sz="1200" b="1" dirty="0"/>
                <a:t>4</a:t>
              </a:r>
              <a:endParaRPr lang="en-US" altLang="zh-CN" sz="1200" b="1" dirty="0"/>
            </a:p>
            <a:p>
              <a:pPr algn="ctr"/>
              <a:r>
                <a:rPr lang="zh-CN" altLang="en-US" sz="1200" b="1" dirty="0"/>
                <a:t>产生政府报表</a:t>
              </a:r>
              <a:endParaRPr lang="zh-CN" altLang="en-US" sz="1200" b="1" dirty="0"/>
            </a:p>
          </p:txBody>
        </p:sp>
        <p:sp>
          <p:nvSpPr>
            <p:cNvPr id="141" name="文本框 140"/>
            <p:cNvSpPr txBox="1"/>
            <p:nvPr/>
          </p:nvSpPr>
          <p:spPr>
            <a:xfrm>
              <a:off x="8598566" y="4105407"/>
              <a:ext cx="864414" cy="757009"/>
            </a:xfrm>
            <a:prstGeom prst="rect">
              <a:avLst/>
            </a:prstGeom>
            <a:noFill/>
            <a:ln>
              <a:noFill/>
            </a:ln>
          </p:spPr>
          <p:txBody>
            <a:bodyPr wrap="square" rtlCol="0">
              <a:spAutoFit/>
            </a:bodyPr>
            <a:lstStyle/>
            <a:p>
              <a:pPr algn="ctr"/>
              <a:r>
                <a:rPr lang="en-US" altLang="zh-CN" sz="1200" b="1" dirty="0"/>
                <a:t>5</a:t>
              </a:r>
              <a:endParaRPr lang="en-US" altLang="zh-CN" sz="1200" b="1" dirty="0"/>
            </a:p>
            <a:p>
              <a:pPr algn="ctr"/>
              <a:r>
                <a:rPr lang="zh-CN" altLang="en-US" sz="1200" b="1" dirty="0"/>
                <a:t>生产存货报单</a:t>
              </a:r>
              <a:endParaRPr lang="zh-CN" altLang="en-US" sz="1200" b="1" dirty="0"/>
            </a:p>
          </p:txBody>
        </p:sp>
        <p:sp>
          <p:nvSpPr>
            <p:cNvPr id="142" name="文本框 141"/>
            <p:cNvSpPr txBox="1"/>
            <p:nvPr/>
          </p:nvSpPr>
          <p:spPr>
            <a:xfrm>
              <a:off x="2933717" y="5664735"/>
              <a:ext cx="864414" cy="323368"/>
            </a:xfrm>
            <a:prstGeom prst="rect">
              <a:avLst/>
            </a:prstGeom>
            <a:noFill/>
          </p:spPr>
          <p:txBody>
            <a:bodyPr wrap="square" rtlCol="0">
              <a:spAutoFit/>
            </a:bodyPr>
            <a:lstStyle>
              <a:defPPr>
                <a:defRPr lang="zh-CN"/>
              </a:defPPr>
              <a:lvl1pPr algn="ctr">
                <a:defRPr sz="1200">
                  <a:solidFill>
                    <a:schemeClr val="bg1"/>
                  </a:solidFill>
                </a:defRPr>
              </a:lvl1pPr>
            </a:lstStyle>
            <a:p>
              <a:r>
                <a:rPr lang="zh-CN" altLang="en-US" b="1" dirty="0"/>
                <a:t>采购部门</a:t>
              </a:r>
              <a:endParaRPr lang="zh-CN" altLang="en-US" b="1" dirty="0"/>
            </a:p>
          </p:txBody>
        </p:sp>
        <p:sp>
          <p:nvSpPr>
            <p:cNvPr id="143" name="文本框 142"/>
            <p:cNvSpPr txBox="1"/>
            <p:nvPr/>
          </p:nvSpPr>
          <p:spPr>
            <a:xfrm>
              <a:off x="5441921" y="5646263"/>
              <a:ext cx="1308158" cy="276999"/>
            </a:xfrm>
            <a:prstGeom prst="rect">
              <a:avLst/>
            </a:prstGeom>
            <a:noFill/>
            <a:ln>
              <a:noFill/>
            </a:ln>
          </p:spPr>
          <p:txBody>
            <a:bodyPr wrap="square" rtlCol="0">
              <a:spAutoFit/>
            </a:bodyPr>
            <a:lstStyle>
              <a:defPPr>
                <a:defRPr lang="zh-CN"/>
              </a:defPPr>
              <a:lvl1pPr algn="ctr">
                <a:defRPr sz="1200">
                  <a:solidFill>
                    <a:schemeClr val="bg1"/>
                  </a:solidFill>
                </a:defRPr>
              </a:lvl1pPr>
            </a:lstStyle>
            <a:p>
              <a:r>
                <a:rPr lang="zh-CN" altLang="en-US" dirty="0"/>
                <a:t>健康与安全部门</a:t>
              </a:r>
              <a:endParaRPr lang="zh-CN" altLang="en-US" dirty="0"/>
            </a:p>
          </p:txBody>
        </p:sp>
        <p:sp>
          <p:nvSpPr>
            <p:cNvPr id="144" name="文本框 143"/>
            <p:cNvSpPr txBox="1"/>
            <p:nvPr/>
          </p:nvSpPr>
          <p:spPr>
            <a:xfrm>
              <a:off x="2833406" y="1813444"/>
              <a:ext cx="1115710" cy="323368"/>
            </a:xfrm>
            <a:prstGeom prst="rect">
              <a:avLst/>
            </a:prstGeom>
            <a:solidFill>
              <a:schemeClr val="accent1">
                <a:lumMod val="40000"/>
                <a:lumOff val="60000"/>
              </a:schemeClr>
            </a:solidFill>
            <a:ln>
              <a:noFill/>
            </a:ln>
          </p:spPr>
          <p:txBody>
            <a:bodyPr wrap="square" rtlCol="0">
              <a:spAutoFit/>
            </a:bodyPr>
            <a:lstStyle/>
            <a:p>
              <a:pPr algn="ctr"/>
              <a:r>
                <a:rPr lang="zh-CN" altLang="en-US" sz="1200" b="1" dirty="0">
                  <a:solidFill>
                    <a:srgbClr val="FF0000"/>
                  </a:solidFill>
                </a:rPr>
                <a:t>供应商目录表 </a:t>
              </a:r>
              <a:endParaRPr lang="zh-CN" altLang="en-US" sz="1200" b="1" dirty="0">
                <a:solidFill>
                  <a:srgbClr val="FF0000"/>
                </a:solidFill>
              </a:endParaRPr>
            </a:p>
          </p:txBody>
        </p:sp>
        <p:sp>
          <p:nvSpPr>
            <p:cNvPr id="145" name="文本框 144"/>
            <p:cNvSpPr txBox="1"/>
            <p:nvPr/>
          </p:nvSpPr>
          <p:spPr>
            <a:xfrm>
              <a:off x="5533840" y="3323074"/>
              <a:ext cx="1105898" cy="323368"/>
            </a:xfrm>
            <a:prstGeom prst="rect">
              <a:avLst/>
            </a:prstGeom>
            <a:solidFill>
              <a:schemeClr val="accent1">
                <a:lumMod val="40000"/>
                <a:lumOff val="60000"/>
              </a:schemeClr>
            </a:solidFill>
            <a:ln>
              <a:noFill/>
            </a:ln>
          </p:spPr>
          <p:txBody>
            <a:bodyPr wrap="square" rtlCol="0">
              <a:spAutoFit/>
            </a:bodyPr>
            <a:lstStyle>
              <a:defPPr>
                <a:defRPr lang="zh-CN"/>
              </a:defPPr>
              <a:lvl1pPr algn="ctr">
                <a:defRPr sz="1200"/>
              </a:lvl1pPr>
            </a:lstStyle>
            <a:p>
              <a:r>
                <a:rPr lang="zh-CN" altLang="en-US" b="1" dirty="0">
                  <a:solidFill>
                    <a:srgbClr val="FF0000"/>
                  </a:solidFill>
                </a:rPr>
                <a:t>化学制品请求</a:t>
              </a:r>
              <a:endParaRPr lang="zh-CN" altLang="en-US" b="1" dirty="0">
                <a:solidFill>
                  <a:srgbClr val="FF0000"/>
                </a:solidFill>
              </a:endParaRPr>
            </a:p>
          </p:txBody>
        </p:sp>
        <p:sp>
          <p:nvSpPr>
            <p:cNvPr id="146" name="文本框 145"/>
            <p:cNvSpPr txBox="1"/>
            <p:nvPr/>
          </p:nvSpPr>
          <p:spPr>
            <a:xfrm>
              <a:off x="8454519" y="3305542"/>
              <a:ext cx="1139747" cy="323368"/>
            </a:xfrm>
            <a:prstGeom prst="rect">
              <a:avLst/>
            </a:prstGeom>
            <a:solidFill>
              <a:schemeClr val="accent1">
                <a:lumMod val="40000"/>
                <a:lumOff val="60000"/>
              </a:schemeClr>
            </a:solidFill>
            <a:ln>
              <a:noFill/>
            </a:ln>
          </p:spPr>
          <p:txBody>
            <a:bodyPr wrap="square" rtlCol="0">
              <a:spAutoFit/>
            </a:bodyPr>
            <a:lstStyle>
              <a:defPPr>
                <a:defRPr lang="zh-CN"/>
              </a:defPPr>
              <a:lvl1pPr algn="ctr">
                <a:defRPr sz="1200"/>
              </a:lvl1pPr>
            </a:lstStyle>
            <a:p>
              <a:r>
                <a:rPr lang="zh-CN" altLang="en-US" b="1" dirty="0">
                  <a:solidFill>
                    <a:srgbClr val="FF0000"/>
                  </a:solidFill>
                </a:rPr>
                <a:t>制品仓库存货</a:t>
              </a:r>
              <a:endParaRPr lang="zh-CN" altLang="en-US" b="1" dirty="0">
                <a:solidFill>
                  <a:srgbClr val="FF0000"/>
                </a:solidFill>
              </a:endParaRPr>
            </a:p>
          </p:txBody>
        </p:sp>
        <p:sp>
          <p:nvSpPr>
            <p:cNvPr id="147" name="文本框 146"/>
            <p:cNvSpPr txBox="1"/>
            <p:nvPr/>
          </p:nvSpPr>
          <p:spPr>
            <a:xfrm>
              <a:off x="2934956" y="2763961"/>
              <a:ext cx="981450" cy="323368"/>
            </a:xfrm>
            <a:prstGeom prst="rect">
              <a:avLst/>
            </a:prstGeom>
            <a:noFill/>
            <a:ln>
              <a:noFill/>
            </a:ln>
          </p:spPr>
          <p:txBody>
            <a:bodyPr wrap="square" rtlCol="0">
              <a:spAutoFit/>
            </a:bodyPr>
            <a:lstStyle/>
            <a:p>
              <a:pPr algn="ctr"/>
              <a:r>
                <a:rPr lang="zh-CN" altLang="en-US" sz="1200" b="1" dirty="0">
                  <a:solidFill>
                    <a:schemeClr val="bg1"/>
                  </a:solidFill>
                </a:rPr>
                <a:t>培训数据库</a:t>
              </a:r>
              <a:endParaRPr lang="zh-CN" altLang="en-US" sz="1200" b="1" dirty="0">
                <a:solidFill>
                  <a:schemeClr val="bg1"/>
                </a:solidFill>
              </a:endParaRPr>
            </a:p>
          </p:txBody>
        </p:sp>
        <p:sp>
          <p:nvSpPr>
            <p:cNvPr id="148" name="文本框 147"/>
            <p:cNvSpPr txBox="1"/>
            <p:nvPr/>
          </p:nvSpPr>
          <p:spPr>
            <a:xfrm>
              <a:off x="7119051" y="2059923"/>
              <a:ext cx="864414" cy="757009"/>
            </a:xfrm>
            <a:prstGeom prst="rect">
              <a:avLst/>
            </a:prstGeom>
            <a:noFill/>
            <a:ln>
              <a:noFill/>
            </a:ln>
          </p:spPr>
          <p:txBody>
            <a:bodyPr wrap="square" rtlCol="0">
              <a:spAutoFit/>
            </a:bodyPr>
            <a:lstStyle/>
            <a:p>
              <a:pPr algn="ctr"/>
              <a:r>
                <a:rPr lang="en-US" altLang="zh-CN" sz="1200" b="1" dirty="0"/>
                <a:t>2</a:t>
              </a:r>
              <a:endParaRPr lang="en-US" altLang="zh-CN" sz="1200" b="1" dirty="0"/>
            </a:p>
            <a:p>
              <a:pPr algn="ctr"/>
              <a:r>
                <a:rPr lang="zh-CN" altLang="en-US" sz="1200" b="1" dirty="0"/>
                <a:t>在仓库中完成请示</a:t>
              </a:r>
              <a:endParaRPr lang="zh-CN" altLang="en-US" sz="1200" b="1" dirty="0"/>
            </a:p>
          </p:txBody>
        </p:sp>
        <p:sp>
          <p:nvSpPr>
            <p:cNvPr id="149" name="文本框 148"/>
            <p:cNvSpPr txBox="1"/>
            <p:nvPr/>
          </p:nvSpPr>
          <p:spPr>
            <a:xfrm>
              <a:off x="4150174" y="3639726"/>
              <a:ext cx="864414" cy="461665"/>
            </a:xfrm>
            <a:prstGeom prst="rect">
              <a:avLst/>
            </a:prstGeom>
            <a:solidFill>
              <a:srgbClr val="F8F8F8"/>
            </a:solidFill>
          </p:spPr>
          <p:txBody>
            <a:bodyPr wrap="square" rtlCol="0">
              <a:spAutoFit/>
            </a:bodyPr>
            <a:lstStyle>
              <a:defPPr>
                <a:defRPr lang="zh-CN"/>
              </a:defPPr>
              <a:lvl1pPr algn="ctr">
                <a:defRPr sz="1200"/>
              </a:lvl1pPr>
            </a:lstStyle>
            <a:p>
              <a:r>
                <a:rPr lang="zh-CN" altLang="en-US" dirty="0"/>
                <a:t>供应商订单状态</a:t>
              </a:r>
              <a:endParaRPr lang="zh-CN" altLang="en-US" dirty="0"/>
            </a:p>
          </p:txBody>
        </p:sp>
        <p:sp>
          <p:nvSpPr>
            <p:cNvPr id="150" name="文本框 149"/>
            <p:cNvSpPr txBox="1"/>
            <p:nvPr/>
          </p:nvSpPr>
          <p:spPr>
            <a:xfrm>
              <a:off x="4345905" y="4031512"/>
              <a:ext cx="976688" cy="461665"/>
            </a:xfrm>
            <a:prstGeom prst="rect">
              <a:avLst/>
            </a:prstGeom>
            <a:solidFill>
              <a:srgbClr val="F8F8F8"/>
            </a:solidFill>
          </p:spPr>
          <p:txBody>
            <a:bodyPr wrap="square" rtlCol="0">
              <a:spAutoFit/>
            </a:bodyPr>
            <a:lstStyle/>
            <a:p>
              <a:pPr algn="ctr"/>
              <a:r>
                <a:rPr lang="zh-CN" altLang="en-US" sz="1200" dirty="0"/>
                <a:t>供应商化学制品请求</a:t>
              </a:r>
              <a:endParaRPr lang="zh-CN" altLang="en-US" sz="1200" dirty="0"/>
            </a:p>
          </p:txBody>
        </p:sp>
        <p:sp>
          <p:nvSpPr>
            <p:cNvPr id="151" name="文本框 150"/>
            <p:cNvSpPr txBox="1"/>
            <p:nvPr/>
          </p:nvSpPr>
          <p:spPr>
            <a:xfrm>
              <a:off x="2546866" y="4980465"/>
              <a:ext cx="864414" cy="461665"/>
            </a:xfrm>
            <a:prstGeom prst="rect">
              <a:avLst/>
            </a:prstGeom>
            <a:solidFill>
              <a:srgbClr val="F9F9F9"/>
            </a:solidFill>
          </p:spPr>
          <p:txBody>
            <a:bodyPr wrap="square" rtlCol="0">
              <a:spAutoFit/>
            </a:bodyPr>
            <a:lstStyle/>
            <a:p>
              <a:pPr algn="ctr"/>
              <a:r>
                <a:rPr lang="zh-CN" altLang="en-US" sz="1200" dirty="0"/>
                <a:t>供应商订单状态</a:t>
              </a:r>
              <a:endParaRPr lang="zh-CN" altLang="en-US" sz="1200" dirty="0"/>
            </a:p>
          </p:txBody>
        </p:sp>
        <p:sp>
          <p:nvSpPr>
            <p:cNvPr id="152" name="文本框 151"/>
            <p:cNvSpPr txBox="1"/>
            <p:nvPr/>
          </p:nvSpPr>
          <p:spPr>
            <a:xfrm>
              <a:off x="3285410" y="4987850"/>
              <a:ext cx="956040" cy="461665"/>
            </a:xfrm>
            <a:prstGeom prst="rect">
              <a:avLst/>
            </a:prstGeom>
            <a:solidFill>
              <a:srgbClr val="F8F8F7"/>
            </a:solidFill>
          </p:spPr>
          <p:txBody>
            <a:bodyPr wrap="square" rtlCol="0">
              <a:spAutoFit/>
            </a:bodyPr>
            <a:lstStyle/>
            <a:p>
              <a:pPr algn="ctr"/>
              <a:r>
                <a:rPr lang="zh-CN" altLang="en-US" sz="1200" dirty="0"/>
                <a:t>供应商化学制品请求</a:t>
              </a:r>
              <a:endParaRPr lang="zh-CN" altLang="en-US" sz="1200" dirty="0"/>
            </a:p>
          </p:txBody>
        </p:sp>
        <p:sp>
          <p:nvSpPr>
            <p:cNvPr id="153" name="文本框 152"/>
            <p:cNvSpPr txBox="1"/>
            <p:nvPr/>
          </p:nvSpPr>
          <p:spPr>
            <a:xfrm>
              <a:off x="4440998" y="1707313"/>
              <a:ext cx="864414" cy="461665"/>
            </a:xfrm>
            <a:prstGeom prst="rect">
              <a:avLst/>
            </a:prstGeom>
            <a:solidFill>
              <a:srgbClr val="FCFCFB"/>
            </a:solidFill>
          </p:spPr>
          <p:txBody>
            <a:bodyPr wrap="square" rtlCol="0">
              <a:spAutoFit/>
            </a:bodyPr>
            <a:lstStyle/>
            <a:p>
              <a:pPr algn="ctr"/>
              <a:r>
                <a:rPr lang="zh-CN" altLang="en-US" sz="1200" dirty="0"/>
                <a:t>供应商目录表信息</a:t>
              </a:r>
              <a:endParaRPr lang="zh-CN" altLang="en-US" sz="1200" dirty="0"/>
            </a:p>
          </p:txBody>
        </p:sp>
        <p:sp>
          <p:nvSpPr>
            <p:cNvPr id="154" name="文本框 153"/>
            <p:cNvSpPr txBox="1"/>
            <p:nvPr/>
          </p:nvSpPr>
          <p:spPr>
            <a:xfrm>
              <a:off x="6044551" y="4958130"/>
              <a:ext cx="1004507" cy="461665"/>
            </a:xfrm>
            <a:prstGeom prst="rect">
              <a:avLst/>
            </a:prstGeom>
            <a:solidFill>
              <a:srgbClr val="F3F3F3"/>
            </a:solidFill>
          </p:spPr>
          <p:txBody>
            <a:bodyPr wrap="square" rtlCol="0">
              <a:spAutoFit/>
            </a:bodyPr>
            <a:lstStyle/>
            <a:p>
              <a:pPr algn="ctr"/>
              <a:r>
                <a:rPr lang="zh-CN" altLang="en-US" sz="1200" dirty="0"/>
                <a:t>请求化学制品使用报表</a:t>
              </a:r>
              <a:endParaRPr lang="zh-CN" altLang="en-US" sz="1200" dirty="0"/>
            </a:p>
          </p:txBody>
        </p:sp>
        <p:sp>
          <p:nvSpPr>
            <p:cNvPr id="155" name="文本框 154"/>
            <p:cNvSpPr txBox="1"/>
            <p:nvPr/>
          </p:nvSpPr>
          <p:spPr>
            <a:xfrm>
              <a:off x="5325139" y="4954978"/>
              <a:ext cx="864414" cy="461665"/>
            </a:xfrm>
            <a:prstGeom prst="rect">
              <a:avLst/>
            </a:prstGeom>
            <a:solidFill>
              <a:srgbClr val="F3F3F3"/>
            </a:solidFill>
          </p:spPr>
          <p:txBody>
            <a:bodyPr wrap="square" rtlCol="0">
              <a:spAutoFit/>
            </a:bodyPr>
            <a:lstStyle>
              <a:defPPr>
                <a:defRPr lang="zh-CN"/>
              </a:defPPr>
              <a:lvl1pPr algn="ctr">
                <a:defRPr sz="1200"/>
              </a:lvl1pPr>
            </a:lstStyle>
            <a:p>
              <a:r>
                <a:rPr lang="zh-CN" altLang="en-US" dirty="0"/>
                <a:t>化学制品使用报表</a:t>
              </a:r>
              <a:endParaRPr lang="zh-CN" altLang="en-US" dirty="0"/>
            </a:p>
          </p:txBody>
        </p:sp>
        <p:sp>
          <p:nvSpPr>
            <p:cNvPr id="156" name="文本框 155"/>
            <p:cNvSpPr txBox="1"/>
            <p:nvPr/>
          </p:nvSpPr>
          <p:spPr>
            <a:xfrm>
              <a:off x="9575253" y="4526185"/>
              <a:ext cx="864414" cy="276999"/>
            </a:xfrm>
            <a:prstGeom prst="rect">
              <a:avLst/>
            </a:prstGeom>
            <a:noFill/>
          </p:spPr>
          <p:txBody>
            <a:bodyPr wrap="square" rtlCol="0">
              <a:spAutoFit/>
            </a:bodyPr>
            <a:lstStyle/>
            <a:p>
              <a:pPr algn="ctr"/>
              <a:r>
                <a:rPr lang="zh-CN" altLang="en-US" sz="1200" dirty="0"/>
                <a:t>存货报单</a:t>
              </a:r>
              <a:endParaRPr lang="zh-CN" altLang="en-US" sz="1200" dirty="0"/>
            </a:p>
          </p:txBody>
        </p:sp>
        <p:sp>
          <p:nvSpPr>
            <p:cNvPr id="157" name="文本框 156"/>
            <p:cNvSpPr txBox="1"/>
            <p:nvPr/>
          </p:nvSpPr>
          <p:spPr>
            <a:xfrm>
              <a:off x="8599452" y="3745960"/>
              <a:ext cx="875679" cy="276999"/>
            </a:xfrm>
            <a:prstGeom prst="rect">
              <a:avLst/>
            </a:prstGeom>
            <a:solidFill>
              <a:srgbClr val="F5F5F4"/>
            </a:solidFill>
          </p:spPr>
          <p:txBody>
            <a:bodyPr wrap="square" rtlCol="0">
              <a:spAutoFit/>
            </a:bodyPr>
            <a:lstStyle>
              <a:defPPr>
                <a:defRPr lang="zh-CN"/>
              </a:defPPr>
              <a:lvl1pPr algn="ctr">
                <a:defRPr sz="1200"/>
              </a:lvl1pPr>
            </a:lstStyle>
            <a:p>
              <a:r>
                <a:rPr lang="zh-CN" altLang="en-US" dirty="0"/>
                <a:t>存货状态</a:t>
              </a:r>
              <a:endParaRPr lang="zh-CN" altLang="en-US" dirty="0"/>
            </a:p>
          </p:txBody>
        </p:sp>
        <p:sp>
          <p:nvSpPr>
            <p:cNvPr id="158" name="文本框 157"/>
            <p:cNvSpPr txBox="1"/>
            <p:nvPr/>
          </p:nvSpPr>
          <p:spPr>
            <a:xfrm>
              <a:off x="6853377" y="3709189"/>
              <a:ext cx="864414" cy="461665"/>
            </a:xfrm>
            <a:prstGeom prst="rect">
              <a:avLst/>
            </a:prstGeom>
            <a:solidFill>
              <a:srgbClr val="F5F5F4"/>
            </a:solidFill>
          </p:spPr>
          <p:txBody>
            <a:bodyPr wrap="square" rtlCol="0">
              <a:spAutoFit/>
            </a:bodyPr>
            <a:lstStyle>
              <a:defPPr>
                <a:defRPr lang="zh-CN"/>
              </a:defPPr>
              <a:lvl1pPr algn="ctr">
                <a:defRPr sz="1200"/>
              </a:lvl1pPr>
            </a:lstStyle>
            <a:p>
              <a:r>
                <a:rPr lang="zh-CN" altLang="en-US" dirty="0"/>
                <a:t>存货跟踪数据</a:t>
              </a:r>
              <a:endParaRPr lang="zh-CN" altLang="en-US" dirty="0"/>
            </a:p>
          </p:txBody>
        </p:sp>
        <p:sp>
          <p:nvSpPr>
            <p:cNvPr id="159" name="文本框 158"/>
            <p:cNvSpPr txBox="1"/>
            <p:nvPr/>
          </p:nvSpPr>
          <p:spPr>
            <a:xfrm>
              <a:off x="7551258" y="2929834"/>
              <a:ext cx="777053" cy="369332"/>
            </a:xfrm>
            <a:prstGeom prst="rect">
              <a:avLst/>
            </a:prstGeom>
            <a:solidFill>
              <a:srgbClr val="F5F5F5"/>
            </a:solidFill>
          </p:spPr>
          <p:txBody>
            <a:bodyPr wrap="square" lIns="0" tIns="0" rIns="0" bIns="0" rtlCol="0">
              <a:spAutoFit/>
            </a:bodyPr>
            <a:lstStyle>
              <a:defPPr>
                <a:defRPr lang="zh-CN"/>
              </a:defPPr>
              <a:lvl1pPr algn="ctr">
                <a:defRPr sz="1200"/>
              </a:lvl1pPr>
            </a:lstStyle>
            <a:p>
              <a:r>
                <a:rPr lang="zh-CN" altLang="en-US" dirty="0"/>
                <a:t>化学制品容器</a:t>
              </a:r>
              <a:endParaRPr lang="zh-CN" altLang="en-US" dirty="0"/>
            </a:p>
          </p:txBody>
        </p:sp>
        <p:sp>
          <p:nvSpPr>
            <p:cNvPr id="160" name="文本框 159"/>
            <p:cNvSpPr txBox="1"/>
            <p:nvPr/>
          </p:nvSpPr>
          <p:spPr>
            <a:xfrm>
              <a:off x="6964087" y="2937609"/>
              <a:ext cx="587053" cy="369332"/>
            </a:xfrm>
            <a:prstGeom prst="rect">
              <a:avLst/>
            </a:prstGeom>
            <a:solidFill>
              <a:srgbClr val="F5F5F5"/>
            </a:solidFill>
          </p:spPr>
          <p:txBody>
            <a:bodyPr wrap="square" lIns="0" tIns="0" rIns="0" bIns="0" rtlCol="0">
              <a:spAutoFit/>
            </a:bodyPr>
            <a:lstStyle>
              <a:defPPr>
                <a:defRPr lang="zh-CN"/>
              </a:defPPr>
              <a:lvl1pPr algn="ctr">
                <a:defRPr sz="1200"/>
              </a:lvl1pPr>
            </a:lstStyle>
            <a:p>
              <a:r>
                <a:rPr lang="zh-CN" altLang="en-US" dirty="0"/>
                <a:t>仓库请求</a:t>
              </a:r>
              <a:endParaRPr lang="zh-CN" altLang="en-US" dirty="0"/>
            </a:p>
          </p:txBody>
        </p:sp>
        <p:sp>
          <p:nvSpPr>
            <p:cNvPr id="161" name="文本框 160"/>
            <p:cNvSpPr txBox="1"/>
            <p:nvPr/>
          </p:nvSpPr>
          <p:spPr>
            <a:xfrm>
              <a:off x="7127461" y="1568381"/>
              <a:ext cx="864414" cy="461665"/>
            </a:xfrm>
            <a:prstGeom prst="rect">
              <a:avLst/>
            </a:prstGeom>
            <a:noFill/>
          </p:spPr>
          <p:txBody>
            <a:bodyPr wrap="square" rtlCol="0">
              <a:spAutoFit/>
            </a:bodyPr>
            <a:lstStyle/>
            <a:p>
              <a:pPr algn="ctr"/>
              <a:r>
                <a:rPr lang="zh-CN" altLang="en-US" sz="1200" dirty="0"/>
                <a:t>化学制品容器</a:t>
              </a:r>
              <a:endParaRPr lang="zh-CN" altLang="en-US" sz="1200" dirty="0"/>
            </a:p>
          </p:txBody>
        </p:sp>
        <p:sp>
          <p:nvSpPr>
            <p:cNvPr id="162" name="文本框 161"/>
            <p:cNvSpPr txBox="1"/>
            <p:nvPr/>
          </p:nvSpPr>
          <p:spPr>
            <a:xfrm>
              <a:off x="4173291" y="181580"/>
              <a:ext cx="969447" cy="461665"/>
            </a:xfrm>
            <a:prstGeom prst="rect">
              <a:avLst/>
            </a:prstGeom>
            <a:noFill/>
          </p:spPr>
          <p:txBody>
            <a:bodyPr wrap="square" rtlCol="0">
              <a:spAutoFit/>
            </a:bodyPr>
            <a:lstStyle/>
            <a:p>
              <a:pPr algn="ctr"/>
              <a:r>
                <a:rPr lang="zh-CN" altLang="en-US" sz="1200" dirty="0"/>
                <a:t>供应商目录表信息</a:t>
              </a:r>
              <a:endParaRPr lang="zh-CN" altLang="en-US" sz="1200" dirty="0"/>
            </a:p>
          </p:txBody>
        </p:sp>
        <p:sp>
          <p:nvSpPr>
            <p:cNvPr id="163" name="文本框 162"/>
            <p:cNvSpPr txBox="1"/>
            <p:nvPr/>
          </p:nvSpPr>
          <p:spPr>
            <a:xfrm>
              <a:off x="4180559" y="852042"/>
              <a:ext cx="864414" cy="461665"/>
            </a:xfrm>
            <a:prstGeom prst="rect">
              <a:avLst/>
            </a:prstGeom>
            <a:noFill/>
          </p:spPr>
          <p:txBody>
            <a:bodyPr wrap="square" rtlCol="0">
              <a:spAutoFit/>
            </a:bodyPr>
            <a:lstStyle/>
            <a:p>
              <a:pPr algn="ctr"/>
              <a:r>
                <a:rPr lang="zh-CN" altLang="en-US" sz="1200" dirty="0"/>
                <a:t>查询供应商目录表</a:t>
              </a:r>
              <a:endParaRPr lang="zh-CN" altLang="en-US" sz="1200" dirty="0"/>
            </a:p>
          </p:txBody>
        </p:sp>
        <p:sp>
          <p:nvSpPr>
            <p:cNvPr id="164" name="文本框 163"/>
            <p:cNvSpPr txBox="1"/>
            <p:nvPr/>
          </p:nvSpPr>
          <p:spPr>
            <a:xfrm>
              <a:off x="5781175" y="1030092"/>
              <a:ext cx="650919" cy="461665"/>
            </a:xfrm>
            <a:prstGeom prst="rect">
              <a:avLst/>
            </a:prstGeom>
            <a:solidFill>
              <a:srgbClr val="FBFBFB"/>
            </a:solidFill>
          </p:spPr>
          <p:txBody>
            <a:bodyPr wrap="square" rtlCol="0">
              <a:spAutoFit/>
            </a:bodyPr>
            <a:lstStyle/>
            <a:p>
              <a:pPr algn="ctr"/>
              <a:r>
                <a:rPr lang="zh-CN" altLang="en-US" sz="1200" dirty="0"/>
                <a:t>化学制品请求</a:t>
              </a:r>
              <a:endParaRPr lang="zh-CN" altLang="en-US" sz="1200" dirty="0"/>
            </a:p>
          </p:txBody>
        </p:sp>
        <p:sp>
          <p:nvSpPr>
            <p:cNvPr id="165" name="文本框 164"/>
            <p:cNvSpPr txBox="1"/>
            <p:nvPr/>
          </p:nvSpPr>
          <p:spPr>
            <a:xfrm>
              <a:off x="7333249" y="850249"/>
              <a:ext cx="684163" cy="461665"/>
            </a:xfrm>
            <a:prstGeom prst="rect">
              <a:avLst/>
            </a:prstGeom>
            <a:solidFill>
              <a:srgbClr val="FBFBFB"/>
            </a:solidFill>
          </p:spPr>
          <p:txBody>
            <a:bodyPr wrap="square" rtlCol="0">
              <a:spAutoFit/>
            </a:bodyPr>
            <a:lstStyle>
              <a:defPPr>
                <a:defRPr lang="zh-CN"/>
              </a:defPPr>
              <a:lvl1pPr algn="ctr">
                <a:defRPr sz="1200"/>
              </a:lvl1pPr>
            </a:lstStyle>
            <a:p>
              <a:r>
                <a:rPr lang="zh-CN" altLang="en-US" dirty="0"/>
                <a:t>化学制品请求</a:t>
              </a:r>
              <a:endParaRPr lang="zh-CN" altLang="en-US" dirty="0"/>
            </a:p>
          </p:txBody>
        </p:sp>
        <p:sp>
          <p:nvSpPr>
            <p:cNvPr id="166" name="文本框 165"/>
            <p:cNvSpPr txBox="1"/>
            <p:nvPr/>
          </p:nvSpPr>
          <p:spPr>
            <a:xfrm>
              <a:off x="8291956" y="2526469"/>
              <a:ext cx="728357" cy="461665"/>
            </a:xfrm>
            <a:prstGeom prst="rect">
              <a:avLst/>
            </a:prstGeom>
            <a:solidFill>
              <a:srgbClr val="F5F5F5"/>
            </a:solidFill>
          </p:spPr>
          <p:txBody>
            <a:bodyPr wrap="square" lIns="0" tIns="0" rIns="0" bIns="0" rtlCol="0">
              <a:spAutoFit/>
            </a:bodyPr>
            <a:lstStyle>
              <a:defPPr>
                <a:defRPr lang="zh-CN"/>
              </a:defPPr>
              <a:lvl1pPr algn="ctr">
                <a:defRPr sz="1200"/>
              </a:lvl1pPr>
            </a:lstStyle>
            <a:p>
              <a:r>
                <a:rPr lang="zh-CN" altLang="en-US" dirty="0"/>
                <a:t>化学制品容器</a:t>
              </a:r>
              <a:endParaRPr lang="zh-CN" altLang="en-US" dirty="0"/>
            </a:p>
          </p:txBody>
        </p:sp>
        <p:sp>
          <p:nvSpPr>
            <p:cNvPr id="167" name="文本框 166"/>
            <p:cNvSpPr txBox="1"/>
            <p:nvPr/>
          </p:nvSpPr>
          <p:spPr>
            <a:xfrm>
              <a:off x="9023242" y="2538946"/>
              <a:ext cx="578665" cy="461665"/>
            </a:xfrm>
            <a:prstGeom prst="rect">
              <a:avLst/>
            </a:prstGeom>
            <a:solidFill>
              <a:srgbClr val="F5F5F5"/>
            </a:solidFill>
          </p:spPr>
          <p:txBody>
            <a:bodyPr wrap="square" lIns="0" tIns="0" rIns="0" bIns="0" rtlCol="0">
              <a:spAutoFit/>
            </a:bodyPr>
            <a:lstStyle>
              <a:defPPr>
                <a:defRPr lang="zh-CN"/>
              </a:defPPr>
              <a:lvl1pPr algn="ctr">
                <a:defRPr sz="1200"/>
              </a:lvl1pPr>
            </a:lstStyle>
            <a:p>
              <a:r>
                <a:rPr lang="zh-CN" altLang="en-US" dirty="0"/>
                <a:t>存货更改</a:t>
              </a:r>
              <a:endParaRPr lang="zh-CN" altLang="en-US" dirty="0"/>
            </a:p>
          </p:txBody>
        </p:sp>
        <p:sp>
          <p:nvSpPr>
            <p:cNvPr id="168" name="文本框 167"/>
            <p:cNvSpPr txBox="1"/>
            <p:nvPr/>
          </p:nvSpPr>
          <p:spPr>
            <a:xfrm>
              <a:off x="8981894" y="1065893"/>
              <a:ext cx="658806" cy="461665"/>
            </a:xfrm>
            <a:prstGeom prst="rect">
              <a:avLst/>
            </a:prstGeom>
            <a:solidFill>
              <a:srgbClr val="FBFBFB"/>
            </a:solidFill>
          </p:spPr>
          <p:txBody>
            <a:bodyPr wrap="square" rtlCol="0">
              <a:spAutoFit/>
            </a:bodyPr>
            <a:lstStyle>
              <a:defPPr>
                <a:defRPr lang="zh-CN"/>
              </a:defPPr>
              <a:lvl1pPr algn="ctr">
                <a:defRPr sz="1200"/>
              </a:lvl1pPr>
            </a:lstStyle>
            <a:p>
              <a:r>
                <a:rPr lang="zh-CN" altLang="en-US" dirty="0"/>
                <a:t>存货清单更新</a:t>
              </a:r>
              <a:endParaRPr lang="zh-CN" altLang="en-US" dirty="0"/>
            </a:p>
          </p:txBody>
        </p:sp>
        <p:sp>
          <p:nvSpPr>
            <p:cNvPr id="169" name="文本框 168"/>
            <p:cNvSpPr txBox="1"/>
            <p:nvPr/>
          </p:nvSpPr>
          <p:spPr>
            <a:xfrm>
              <a:off x="8319113" y="1065892"/>
              <a:ext cx="683992" cy="469327"/>
            </a:xfrm>
            <a:prstGeom prst="rect">
              <a:avLst/>
            </a:prstGeom>
            <a:solidFill>
              <a:srgbClr val="FBFBFB"/>
            </a:solidFill>
          </p:spPr>
          <p:txBody>
            <a:bodyPr wrap="square" rtlCol="0">
              <a:spAutoFit/>
            </a:bodyPr>
            <a:lstStyle>
              <a:defPPr>
                <a:defRPr lang="zh-CN"/>
              </a:defPPr>
              <a:lvl1pPr algn="ctr">
                <a:defRPr sz="1200"/>
              </a:lvl1pPr>
            </a:lstStyle>
            <a:p>
              <a:r>
                <a:rPr lang="zh-CN" altLang="en-US" dirty="0"/>
                <a:t>化学制品容器</a:t>
              </a:r>
              <a:endParaRPr lang="zh-CN" altLang="en-US" dirty="0"/>
            </a:p>
          </p:txBody>
        </p:sp>
        <p:sp>
          <p:nvSpPr>
            <p:cNvPr id="170" name="文本框 169"/>
            <p:cNvSpPr txBox="1"/>
            <p:nvPr/>
          </p:nvSpPr>
          <p:spPr>
            <a:xfrm>
              <a:off x="4264227" y="2276054"/>
              <a:ext cx="1131498" cy="276999"/>
            </a:xfrm>
            <a:prstGeom prst="rect">
              <a:avLst/>
            </a:prstGeom>
            <a:solidFill>
              <a:srgbClr val="F9F9F9"/>
            </a:solidFill>
          </p:spPr>
          <p:txBody>
            <a:bodyPr wrap="square" rtlCol="0">
              <a:spAutoFit/>
            </a:bodyPr>
            <a:lstStyle>
              <a:defPPr>
                <a:defRPr lang="zh-CN"/>
              </a:defPPr>
              <a:lvl1pPr algn="ctr">
                <a:defRPr sz="1200"/>
              </a:lvl1pPr>
            </a:lstStyle>
            <a:p>
              <a:r>
                <a:rPr lang="zh-CN" altLang="en-US" dirty="0"/>
                <a:t>训练记录请求</a:t>
              </a:r>
              <a:endParaRPr lang="zh-CN" altLang="en-US" dirty="0"/>
            </a:p>
          </p:txBody>
        </p:sp>
        <p:sp>
          <p:nvSpPr>
            <p:cNvPr id="171" name="文本框 170"/>
            <p:cNvSpPr txBox="1"/>
            <p:nvPr/>
          </p:nvSpPr>
          <p:spPr>
            <a:xfrm>
              <a:off x="4527522" y="2650410"/>
              <a:ext cx="1135740" cy="276999"/>
            </a:xfrm>
            <a:prstGeom prst="rect">
              <a:avLst/>
            </a:prstGeom>
            <a:solidFill>
              <a:srgbClr val="F9F9F9"/>
            </a:solidFill>
          </p:spPr>
          <p:txBody>
            <a:bodyPr wrap="square" rtlCol="0">
              <a:spAutoFit/>
            </a:bodyPr>
            <a:lstStyle>
              <a:defPPr>
                <a:defRPr lang="zh-CN"/>
              </a:defPPr>
              <a:lvl1pPr algn="ctr">
                <a:defRPr sz="1200"/>
              </a:lvl1pPr>
            </a:lstStyle>
            <a:p>
              <a:r>
                <a:rPr lang="zh-CN" altLang="en-US" dirty="0"/>
                <a:t>危险训练记录</a:t>
              </a:r>
              <a:endParaRPr lang="zh-CN" altLang="en-US" dirty="0"/>
            </a:p>
          </p:txBody>
        </p:sp>
        <p:sp>
          <p:nvSpPr>
            <p:cNvPr id="172" name="文本框 171"/>
            <p:cNvSpPr txBox="1"/>
            <p:nvPr/>
          </p:nvSpPr>
          <p:spPr>
            <a:xfrm>
              <a:off x="5653085" y="2619595"/>
              <a:ext cx="864414" cy="276999"/>
            </a:xfrm>
            <a:prstGeom prst="rect">
              <a:avLst/>
            </a:prstGeom>
            <a:solidFill>
              <a:srgbClr val="F9F9F9"/>
            </a:solidFill>
          </p:spPr>
          <p:txBody>
            <a:bodyPr wrap="square" rtlCol="0">
              <a:spAutoFit/>
            </a:bodyPr>
            <a:lstStyle/>
            <a:p>
              <a:pPr algn="ctr"/>
              <a:r>
                <a:rPr lang="zh-CN" altLang="en-US" sz="1200" dirty="0"/>
                <a:t>请示信息</a:t>
              </a:r>
              <a:endParaRPr lang="zh-CN" altLang="en-US" sz="1200" dirty="0"/>
            </a:p>
          </p:txBody>
        </p:sp>
      </p:grpSp>
      <p:sp>
        <p:nvSpPr>
          <p:cNvPr id="108" name="文本框 107"/>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01" name="文本框 67"/>
          <p:cNvSpPr>
            <a:spLocks noChangeArrowheads="1"/>
          </p:cNvSpPr>
          <p:nvPr/>
        </p:nvSpPr>
        <p:spPr bwMode="auto">
          <a:xfrm>
            <a:off x="660400" y="70930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）数据流图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109" name="矩形 108"/>
          <p:cNvSpPr/>
          <p:nvPr/>
        </p:nvSpPr>
        <p:spPr>
          <a:xfrm>
            <a:off x="1671782" y="1539113"/>
            <a:ext cx="9319491" cy="5018705"/>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文本框 67"/>
          <p:cNvSpPr>
            <a:spLocks noChangeArrowheads="1"/>
          </p:cNvSpPr>
          <p:nvPr/>
        </p:nvSpPr>
        <p:spPr bwMode="auto">
          <a:xfrm>
            <a:off x="1479139" y="1735839"/>
            <a:ext cx="436485" cy="4524315"/>
          </a:xfrm>
          <a:prstGeom prst="rect">
            <a:avLst/>
          </a:prstGeom>
          <a:solidFill>
            <a:schemeClr val="bg1"/>
          </a:solidFill>
          <a:ln>
            <a:solidFill>
              <a:srgbClr val="FF0000"/>
            </a:solidFill>
          </a:ln>
        </p:spPr>
        <p:txBody>
          <a:bodyPr wrap="square">
            <a:spAutoFit/>
          </a:bodyPr>
          <a:lstStyle/>
          <a:p>
            <a:pPr lvl="0" fontAlgn="base">
              <a:spcBef>
                <a:spcPct val="0"/>
              </a:spcBef>
              <a:spcAft>
                <a:spcPct val="0"/>
              </a:spcAft>
              <a:defRPr/>
            </a:pPr>
            <a:r>
              <a:rPr lang="zh-CN" altLang="en-US" b="1" kern="0" dirty="0">
                <a:solidFill>
                  <a:srgbClr val="FF0000"/>
                </a:solidFill>
                <a:latin typeface="宋体" panose="02010600030101010101" pitchFamily="2" charset="-122"/>
                <a:sym typeface="宋体" panose="02010600030101010101" pitchFamily="2" charset="-122"/>
              </a:rPr>
              <a:t>“化学制品跟踪系统”</a:t>
            </a:r>
            <a:r>
              <a:rPr lang="en-US" altLang="zh-CN" b="1" kern="0" dirty="0">
                <a:solidFill>
                  <a:srgbClr val="FF0000"/>
                </a:solidFill>
                <a:latin typeface="宋体" panose="02010600030101010101" pitchFamily="2" charset="-122"/>
                <a:sym typeface="宋体" panose="02010600030101010101" pitchFamily="2" charset="-122"/>
              </a:rPr>
              <a:t>0</a:t>
            </a:r>
            <a:r>
              <a:rPr lang="zh-CN" altLang="en-US" b="1" kern="0" dirty="0">
                <a:solidFill>
                  <a:srgbClr val="FF0000"/>
                </a:solidFill>
                <a:latin typeface="宋体" panose="02010600030101010101" pitchFamily="2" charset="-122"/>
                <a:sym typeface="宋体" panose="02010600030101010101" pitchFamily="2" charset="-122"/>
              </a:rPr>
              <a:t>层数据流图</a:t>
            </a:r>
            <a:endParaRPr lang="zh-CN" altLang="en-US" b="1" kern="0" dirty="0">
              <a:solidFill>
                <a:srgbClr val="FF0000"/>
              </a:solidFill>
              <a:latin typeface="宋体" panose="02010600030101010101" pitchFamily="2" charset="-122"/>
              <a:ea typeface="宋体" panose="02010600030101010101" pitchFamily="2" charset="-122"/>
              <a:sym typeface="宋体" panose="02010600030101010101" pitchFamily="2" charset="-122"/>
            </a:endParaRPr>
          </a:p>
        </p:txBody>
      </p:sp>
      <p:sp>
        <p:nvSpPr>
          <p:cNvPr id="2" name="日期占位符 1"/>
          <p:cNvSpPr>
            <a:spLocks noGrp="1"/>
          </p:cNvSpPr>
          <p:nvPr>
            <p:ph type="dt" sz="half" idx="10"/>
          </p:nvPr>
        </p:nvSpPr>
        <p:spPr/>
        <p:txBody>
          <a:bodyPr/>
          <a:lstStyle/>
          <a:p>
            <a:pPr>
              <a:defRPr/>
            </a:pPr>
            <a:fld id="{4B63B4C7-3E7C-4414-BEDE-2833327AD71A}"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01"/>
                                        </p:tgtEl>
                                        <p:attrNameLst>
                                          <p:attrName>style.visibility</p:attrName>
                                        </p:attrNameLst>
                                      </p:cBhvr>
                                      <p:to>
                                        <p:strVal val="visible"/>
                                      </p:to>
                                    </p:set>
                                    <p:anim calcmode="lin" valueType="num">
                                      <p:cBhvr additive="base">
                                        <p:cTn id="7" dur="500"/>
                                        <p:tgtEl>
                                          <p:spTgt spid="101"/>
                                        </p:tgtEl>
                                        <p:attrNameLst>
                                          <p:attrName>ppt_x</p:attrName>
                                        </p:attrNameLst>
                                      </p:cBhvr>
                                      <p:tavLst>
                                        <p:tav tm="0">
                                          <p:val>
                                            <p:strVal val="#ppt_x+#ppt_w*1.125000"/>
                                          </p:val>
                                        </p:tav>
                                        <p:tav tm="100000">
                                          <p:val>
                                            <p:strVal val="#ppt_x"/>
                                          </p:val>
                                        </p:tav>
                                      </p:tavLst>
                                    </p:anim>
                                    <p:animEffect transition="in" filter="wipe(left)">
                                      <p:cBhvr>
                                        <p:cTn id="8" dur="500"/>
                                        <p:tgtEl>
                                          <p:spTgt spid="101"/>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9" grpId="0" animBg="1"/>
      <p:bldP spid="1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2" name="矩形: 圆角 1"/>
          <p:cNvSpPr/>
          <p:nvPr/>
        </p:nvSpPr>
        <p:spPr>
          <a:xfrm>
            <a:off x="679449" y="1624583"/>
            <a:ext cx="10833100" cy="56432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lnSpc>
                <a:spcPct val="150000"/>
              </a:lnSpc>
              <a:spcBef>
                <a:spcPct val="0"/>
              </a:spcBef>
              <a:spcAft>
                <a:spcPct val="0"/>
              </a:spcAft>
              <a:buFont typeface="Arial" panose="020B0604020202020204" pitchFamily="34" charset="0"/>
              <a:buNone/>
            </a:pPr>
            <a:r>
              <a:rPr lang="zh-CN" altLang="en-US" sz="2200" b="1" dirty="0">
                <a:solidFill>
                  <a:schemeClr val="tx1"/>
                </a:solidFill>
                <a:latin typeface="+mn-ea"/>
              </a:rPr>
              <a:t>绘制数据流图的</a:t>
            </a:r>
            <a:r>
              <a:rPr lang="en-US" altLang="zh-CN" sz="2200" b="1" dirty="0">
                <a:solidFill>
                  <a:srgbClr val="FF0000"/>
                </a:solidFill>
                <a:latin typeface="+mn-ea"/>
              </a:rPr>
              <a:t>7</a:t>
            </a:r>
            <a:r>
              <a:rPr lang="zh-CN" altLang="en-US" sz="2200" b="1" dirty="0">
                <a:solidFill>
                  <a:srgbClr val="FF0000"/>
                </a:solidFill>
                <a:latin typeface="+mn-ea"/>
              </a:rPr>
              <a:t>条主要规则</a:t>
            </a:r>
            <a:r>
              <a:rPr lang="zh-CN" altLang="en-US" sz="2200" b="1" dirty="0">
                <a:solidFill>
                  <a:schemeClr val="tx1"/>
                </a:solidFill>
                <a:latin typeface="+mn-ea"/>
              </a:rPr>
              <a:t>：</a:t>
            </a:r>
            <a:endParaRPr lang="zh-CN" altLang="en-US" sz="2200" b="1" dirty="0">
              <a:solidFill>
                <a:schemeClr val="tx1"/>
              </a:solidFill>
              <a:latin typeface="+mn-ea"/>
            </a:endParaRPr>
          </a:p>
        </p:txBody>
      </p:sp>
      <p:sp>
        <p:nvSpPr>
          <p:cNvPr id="124" name="文本框 123"/>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5"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）数据流图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16" name="文本框 15"/>
          <p:cNvSpPr txBox="1"/>
          <p:nvPr/>
        </p:nvSpPr>
        <p:spPr>
          <a:xfrm>
            <a:off x="698500" y="2522626"/>
            <a:ext cx="10795000" cy="598805"/>
          </a:xfrm>
          <a:prstGeom prst="rect">
            <a:avLst/>
          </a:prstGeom>
          <a:solidFill>
            <a:schemeClr val="accent6">
              <a:lumMod val="20000"/>
              <a:lumOff val="80000"/>
            </a:schemeClr>
          </a:solidFill>
        </p:spPr>
        <p:txBody>
          <a:bodyPr wrap="square" rtlCol="0">
            <a:spAutoFit/>
          </a:bodyPr>
          <a:lstStyle/>
          <a:p>
            <a:pPr lvl="0">
              <a:lnSpc>
                <a:spcPct val="150000"/>
              </a:lnSpc>
            </a:pPr>
            <a:r>
              <a:rPr lang="en-US" altLang="zh-CN" sz="2200" b="1" dirty="0">
                <a:solidFill>
                  <a:schemeClr val="tx1"/>
                </a:solidFill>
                <a:latin typeface="+mn-ea"/>
              </a:rPr>
              <a:t>1</a:t>
            </a:r>
            <a:r>
              <a:rPr lang="zh-CN" altLang="en-US" sz="2200" b="1" dirty="0">
                <a:solidFill>
                  <a:schemeClr val="tx1"/>
                </a:solidFill>
                <a:latin typeface="+mn-ea"/>
              </a:rPr>
              <a:t>）把数据存储放在</a:t>
            </a:r>
            <a:r>
              <a:rPr lang="en-US" altLang="zh-CN" sz="2200" b="1" dirty="0">
                <a:solidFill>
                  <a:schemeClr val="tx1"/>
                </a:solidFill>
                <a:latin typeface="+mn-ea"/>
              </a:rPr>
              <a:t>0</a:t>
            </a:r>
            <a:r>
              <a:rPr lang="zh-CN" altLang="en-US" sz="2200" b="1" dirty="0">
                <a:solidFill>
                  <a:schemeClr val="tx1"/>
                </a:solidFill>
                <a:latin typeface="+mn-ea"/>
              </a:rPr>
              <a:t>层数据流图或更低层子图上，不要放在关联图上</a:t>
            </a:r>
            <a:endParaRPr lang="zh-CN" altLang="en-US" sz="2200" b="1" dirty="0">
              <a:solidFill>
                <a:schemeClr val="tx1"/>
              </a:solidFill>
              <a:latin typeface="+mn-ea"/>
            </a:endParaRPr>
          </a:p>
        </p:txBody>
      </p:sp>
      <p:sp>
        <p:nvSpPr>
          <p:cNvPr id="18" name="文本框 17"/>
          <p:cNvSpPr txBox="1"/>
          <p:nvPr/>
        </p:nvSpPr>
        <p:spPr>
          <a:xfrm>
            <a:off x="701675" y="3174970"/>
            <a:ext cx="10795000" cy="1106805"/>
          </a:xfrm>
          <a:prstGeom prst="rect">
            <a:avLst/>
          </a:prstGeom>
          <a:solidFill>
            <a:schemeClr val="accent5">
              <a:lumMod val="20000"/>
              <a:lumOff val="80000"/>
            </a:schemeClr>
          </a:solidFill>
        </p:spPr>
        <p:txBody>
          <a:bodyPr wrap="square" rtlCol="0">
            <a:spAutoFit/>
          </a:bodyPr>
          <a:lstStyle/>
          <a:p>
            <a:pPr>
              <a:lnSpc>
                <a:spcPct val="150000"/>
              </a:lnSpc>
            </a:pPr>
            <a:r>
              <a:rPr lang="en-US" altLang="zh-CN" sz="2200" b="1" dirty="0">
                <a:solidFill>
                  <a:schemeClr val="tx1"/>
                </a:solidFill>
                <a:latin typeface="+mn-ea"/>
              </a:rPr>
              <a:t>2</a:t>
            </a:r>
            <a:r>
              <a:rPr lang="zh-CN" altLang="en-US" sz="2200" b="1" dirty="0">
                <a:solidFill>
                  <a:schemeClr val="tx1"/>
                </a:solidFill>
                <a:latin typeface="+mn-ea"/>
              </a:rPr>
              <a:t>）</a:t>
            </a:r>
            <a:r>
              <a:rPr lang="zh-CN" altLang="en-US" sz="2200" b="1" dirty="0">
                <a:solidFill>
                  <a:schemeClr val="tx1"/>
                </a:solidFill>
                <a:latin typeface="+mn-ea"/>
              </a:rPr>
              <a:t>过程是通过数据存储进行通讯，而不是从一个过程直接流到另一过程；类似地，数据不能直接由一个数据存储直接流到另一个数据存储，它必须通过一个过程（圆圈）</a:t>
            </a:r>
            <a:endParaRPr lang="en-US" altLang="zh-CN" sz="2200" b="1" dirty="0">
              <a:solidFill>
                <a:schemeClr val="tx1"/>
              </a:solidFill>
              <a:latin typeface="+mn-ea"/>
            </a:endParaRPr>
          </a:p>
        </p:txBody>
      </p:sp>
      <p:sp>
        <p:nvSpPr>
          <p:cNvPr id="19" name="文本框 18"/>
          <p:cNvSpPr txBox="1"/>
          <p:nvPr/>
        </p:nvSpPr>
        <p:spPr>
          <a:xfrm>
            <a:off x="701675" y="4304081"/>
            <a:ext cx="10795000" cy="598805"/>
          </a:xfrm>
          <a:prstGeom prst="rect">
            <a:avLst/>
          </a:prstGeom>
          <a:solidFill>
            <a:schemeClr val="accent4">
              <a:lumMod val="20000"/>
              <a:lumOff val="80000"/>
            </a:schemeClr>
          </a:solidFill>
        </p:spPr>
        <p:txBody>
          <a:bodyPr wrap="square" rtlCol="0">
            <a:spAutoFit/>
          </a:bodyPr>
          <a:lstStyle/>
          <a:p>
            <a:pPr>
              <a:lnSpc>
                <a:spcPct val="150000"/>
              </a:lnSpc>
            </a:pPr>
            <a:r>
              <a:rPr lang="en-US" altLang="zh-CN" sz="2200" b="1" dirty="0">
                <a:solidFill>
                  <a:schemeClr val="tx1"/>
                </a:solidFill>
                <a:latin typeface="+mn-ea"/>
              </a:rPr>
              <a:t>3</a:t>
            </a:r>
            <a:r>
              <a:rPr lang="zh-CN" altLang="en-US" sz="2200" b="1" dirty="0">
                <a:solidFill>
                  <a:schemeClr val="tx1"/>
                </a:solidFill>
                <a:latin typeface="+mn-ea"/>
              </a:rPr>
              <a:t>）使用数据流图时，不要试图让数据流图反映处理的顺序</a:t>
            </a:r>
            <a:endParaRPr lang="zh-CN" altLang="en-US" sz="2200" b="1" dirty="0">
              <a:solidFill>
                <a:schemeClr val="tx1"/>
              </a:solidFill>
              <a:latin typeface="+mn-ea"/>
            </a:endParaRPr>
          </a:p>
        </p:txBody>
      </p:sp>
      <p:sp>
        <p:nvSpPr>
          <p:cNvPr id="20" name="文本框 19"/>
          <p:cNvSpPr txBox="1"/>
          <p:nvPr/>
        </p:nvSpPr>
        <p:spPr>
          <a:xfrm>
            <a:off x="698499" y="4997450"/>
            <a:ext cx="10795000" cy="900000"/>
          </a:xfrm>
          <a:prstGeom prst="rect">
            <a:avLst/>
          </a:prstGeom>
          <a:solidFill>
            <a:schemeClr val="accent3">
              <a:lumMod val="20000"/>
              <a:lumOff val="80000"/>
            </a:schemeClr>
          </a:solidFill>
        </p:spPr>
        <p:txBody>
          <a:bodyPr wrap="square" rtlCol="0" anchor="ctr" anchorCtr="0">
            <a:noAutofit/>
          </a:bodyPr>
          <a:lstStyle/>
          <a:p>
            <a:pPr>
              <a:lnSpc>
                <a:spcPct val="150000"/>
              </a:lnSpc>
            </a:pPr>
            <a:r>
              <a:rPr lang="en-US" altLang="zh-CN" sz="2200" b="1" dirty="0">
                <a:solidFill>
                  <a:schemeClr val="tx1"/>
                </a:solidFill>
                <a:latin typeface="+mn-ea"/>
              </a:rPr>
              <a:t>4</a:t>
            </a:r>
            <a:r>
              <a:rPr lang="zh-CN" altLang="en-US" sz="2200" b="1" dirty="0">
                <a:solidFill>
                  <a:schemeClr val="tx1"/>
                </a:solidFill>
                <a:latin typeface="+mn-ea"/>
              </a:rPr>
              <a:t>）用一个简明的动作命名过程：</a:t>
            </a:r>
            <a:r>
              <a:rPr lang="zh-CN" altLang="en-US" sz="2200" b="1" dirty="0">
                <a:solidFill>
                  <a:srgbClr val="FF0000"/>
                </a:solidFill>
                <a:latin typeface="+mn-ea"/>
              </a:rPr>
              <a:t>动词</a:t>
            </a:r>
            <a:r>
              <a:rPr lang="en-US" altLang="zh-CN" sz="2200" b="1" dirty="0">
                <a:solidFill>
                  <a:srgbClr val="FF0000"/>
                </a:solidFill>
                <a:latin typeface="+mn-ea"/>
              </a:rPr>
              <a:t>+</a:t>
            </a:r>
            <a:r>
              <a:rPr lang="zh-CN" altLang="en-US" sz="2200" b="1" dirty="0">
                <a:solidFill>
                  <a:srgbClr val="FF0000"/>
                </a:solidFill>
                <a:latin typeface="+mn-ea"/>
              </a:rPr>
              <a:t>对象</a:t>
            </a:r>
            <a:r>
              <a:rPr lang="zh-CN" altLang="en-US" sz="2200" b="1" dirty="0">
                <a:solidFill>
                  <a:schemeClr val="tx1"/>
                </a:solidFill>
                <a:latin typeface="+mn-ea"/>
              </a:rPr>
              <a:t>；数据流图中所用的名字应对客户有意义，并且与业务或问题域相关</a:t>
            </a:r>
            <a:endParaRPr lang="zh-CN" altLang="en-US" sz="2200" b="1" dirty="0">
              <a:solidFill>
                <a:schemeClr val="tx1"/>
              </a:solidFill>
              <a:latin typeface="+mn-ea"/>
            </a:endParaRPr>
          </a:p>
        </p:txBody>
      </p:sp>
      <p:sp>
        <p:nvSpPr>
          <p:cNvPr id="17" name="矩形: 圆角 16"/>
          <p:cNvSpPr/>
          <p:nvPr/>
        </p:nvSpPr>
        <p:spPr>
          <a:xfrm>
            <a:off x="523875" y="2274379"/>
            <a:ext cx="11125199" cy="3869246"/>
          </a:xfrm>
          <a:prstGeom prst="round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220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p:txBody>
      </p:sp>
      <p:sp>
        <p:nvSpPr>
          <p:cNvPr id="3" name="日期占位符 2"/>
          <p:cNvSpPr>
            <a:spLocks noGrp="1"/>
          </p:cNvSpPr>
          <p:nvPr>
            <p:ph type="dt" sz="half" idx="10"/>
          </p:nvPr>
        </p:nvSpPr>
        <p:spPr/>
        <p:txBody>
          <a:bodyPr/>
          <a:lstStyle/>
          <a:p>
            <a:pPr>
              <a:defRPr/>
            </a:pPr>
            <a:fld id="{59C31D31-BC16-467C-AE71-F6C6498A51A1}" type="datetime1">
              <a:rPr lang="zh-CN" altLang="en-US" smtClean="0">
                <a:solidFill>
                  <a:prstClr val="black">
                    <a:tint val="75000"/>
                  </a:prstClr>
                </a:solidFill>
              </a:rPr>
            </a:fld>
            <a:endParaRPr lang="zh-CN" altLang="en-US" dirty="0">
              <a:solidFill>
                <a:prstClr val="black">
                  <a:tint val="75000"/>
                </a:prstClr>
              </a:solidFill>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p:tgtEl>
                                          <p:spTgt spid="15"/>
                                        </p:tgtEl>
                                        <p:attrNameLst>
                                          <p:attrName>ppt_x</p:attrName>
                                        </p:attrNameLst>
                                      </p:cBhvr>
                                      <p:tavLst>
                                        <p:tav tm="0">
                                          <p:val>
                                            <p:strVal val="#ppt_x+#ppt_w*1.125000"/>
                                          </p:val>
                                        </p:tav>
                                        <p:tav tm="100000">
                                          <p:val>
                                            <p:strVal val="#ppt_x"/>
                                          </p:val>
                                        </p:tav>
                                      </p:tavLst>
                                    </p:anim>
                                    <p:animEffect transition="in" filter="wipe(left)">
                                      <p:cBhvr>
                                        <p:cTn id="8" dur="500"/>
                                        <p:tgtEl>
                                          <p:spTgt spid="15"/>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 grpId="0"/>
      <p:bldP spid="16" grpId="0" bldLvl="0" animBg="1"/>
      <p:bldP spid="18" grpId="0" bldLvl="0" animBg="1"/>
      <p:bldP spid="19" grpId="0" bldLvl="0" animBg="1"/>
      <p:bldP spid="20" grpId="0" animBg="1"/>
      <p:bldP spid="1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5"/>
          <p:cNvGrpSpPr/>
          <p:nvPr/>
        </p:nvGrpSpPr>
        <p:grpSpPr>
          <a:xfrm>
            <a:off x="108557" y="337632"/>
            <a:ext cx="525184" cy="422276"/>
            <a:chOff x="5075564" y="2933562"/>
            <a:chExt cx="2860947" cy="2302753"/>
          </a:xfrm>
        </p:grpSpPr>
        <p:sp>
          <p:nvSpPr>
            <p:cNvPr id="21" name="等腰三角形 2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22" name="等腰三角形 2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17" name="矩形: 圆角 116"/>
          <p:cNvSpPr/>
          <p:nvPr/>
        </p:nvSpPr>
        <p:spPr>
          <a:xfrm>
            <a:off x="698502" y="1989138"/>
            <a:ext cx="10794999" cy="968327"/>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zh-CN" sz="2200" b="1" dirty="0">
                <a:solidFill>
                  <a:schemeClr val="tx1"/>
                </a:solidFill>
                <a:latin typeface="+mn-ea"/>
              </a:rPr>
              <a:t>5</a:t>
            </a:r>
            <a:r>
              <a:rPr lang="zh-CN" altLang="en-US" sz="2200" b="1" dirty="0">
                <a:solidFill>
                  <a:schemeClr val="tx1"/>
                </a:solidFill>
                <a:latin typeface="+mn-ea"/>
              </a:rPr>
              <a:t>）对过程的编号要唯一且具有层次性：在</a:t>
            </a:r>
            <a:r>
              <a:rPr lang="en-US" altLang="zh-CN" sz="2200" b="1" dirty="0">
                <a:solidFill>
                  <a:schemeClr val="tx1"/>
                </a:solidFill>
                <a:latin typeface="+mn-ea"/>
              </a:rPr>
              <a:t>0</a:t>
            </a:r>
            <a:r>
              <a:rPr lang="zh-CN" altLang="en-US" sz="2200" b="1" dirty="0">
                <a:solidFill>
                  <a:schemeClr val="tx1"/>
                </a:solidFill>
                <a:latin typeface="+mn-ea"/>
              </a:rPr>
              <a:t>层图上，每个过程的编号用整数表示，如果要为过程</a:t>
            </a:r>
            <a:r>
              <a:rPr lang="en-US" altLang="zh-CN" sz="2200" b="1" dirty="0">
                <a:solidFill>
                  <a:schemeClr val="tx1"/>
                </a:solidFill>
                <a:latin typeface="+mn-ea"/>
              </a:rPr>
              <a:t>3</a:t>
            </a:r>
            <a:r>
              <a:rPr lang="zh-CN" altLang="en-US" sz="2200" b="1" dirty="0">
                <a:solidFill>
                  <a:schemeClr val="tx1"/>
                </a:solidFill>
                <a:latin typeface="+mn-ea"/>
              </a:rPr>
              <a:t>创建子图，则子图中的过程编号应表示为</a:t>
            </a:r>
            <a:r>
              <a:rPr lang="en-US" altLang="zh-CN" sz="2200" b="1" dirty="0">
                <a:solidFill>
                  <a:schemeClr val="tx1"/>
                </a:solidFill>
                <a:latin typeface="+mn-ea"/>
              </a:rPr>
              <a:t>3.1</a:t>
            </a:r>
            <a:r>
              <a:rPr lang="zh-CN" altLang="en-US" sz="2200" b="1" dirty="0">
                <a:solidFill>
                  <a:schemeClr val="tx1"/>
                </a:solidFill>
                <a:latin typeface="+mn-ea"/>
              </a:rPr>
              <a:t>、</a:t>
            </a:r>
            <a:r>
              <a:rPr lang="en-US" altLang="zh-CN" sz="2200" b="1" dirty="0">
                <a:solidFill>
                  <a:schemeClr val="tx1"/>
                </a:solidFill>
                <a:latin typeface="+mn-ea"/>
              </a:rPr>
              <a:t>3.2</a:t>
            </a:r>
            <a:r>
              <a:rPr lang="zh-CN" altLang="en-US" sz="2200" b="1" dirty="0">
                <a:solidFill>
                  <a:schemeClr val="tx1"/>
                </a:solidFill>
                <a:latin typeface="+mn-ea"/>
              </a:rPr>
              <a:t>等</a:t>
            </a:r>
            <a:endParaRPr lang="zh-CN" altLang="en-US" sz="2200" b="1" dirty="0">
              <a:solidFill>
                <a:schemeClr val="tx1"/>
              </a:solidFill>
              <a:latin typeface="+mn-ea"/>
            </a:endParaRPr>
          </a:p>
        </p:txBody>
      </p:sp>
      <p:sp>
        <p:nvSpPr>
          <p:cNvPr id="118" name="矩形: 圆角 117"/>
          <p:cNvSpPr/>
          <p:nvPr/>
        </p:nvSpPr>
        <p:spPr>
          <a:xfrm>
            <a:off x="698502" y="3224750"/>
            <a:ext cx="10794999" cy="844063"/>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zh-CN" sz="2200" b="1" dirty="0">
                <a:solidFill>
                  <a:schemeClr val="tx1"/>
                </a:solidFill>
                <a:latin typeface="+mn-ea"/>
              </a:rPr>
              <a:t>6</a:t>
            </a:r>
            <a:r>
              <a:rPr lang="zh-CN" altLang="en-US" sz="2200" b="1" dirty="0">
                <a:solidFill>
                  <a:schemeClr val="tx1"/>
                </a:solidFill>
                <a:latin typeface="+mn-ea"/>
              </a:rPr>
              <a:t>）不要在一个图中绘制多达</a:t>
            </a:r>
            <a:r>
              <a:rPr lang="en-US" altLang="zh-CN" sz="2200" b="1" dirty="0">
                <a:solidFill>
                  <a:schemeClr val="tx1"/>
                </a:solidFill>
                <a:latin typeface="+mn-ea"/>
              </a:rPr>
              <a:t>7-10</a:t>
            </a:r>
            <a:r>
              <a:rPr lang="zh-CN" altLang="en-US" sz="2200" b="1" dirty="0">
                <a:solidFill>
                  <a:schemeClr val="tx1"/>
                </a:solidFill>
                <a:latin typeface="+mn-ea"/>
              </a:rPr>
              <a:t>个以上的过程，否则就很难绘制、更改和理解</a:t>
            </a:r>
            <a:endParaRPr lang="zh-CN" altLang="en-US" sz="2200" b="1" dirty="0">
              <a:solidFill>
                <a:schemeClr val="tx1"/>
              </a:solidFill>
              <a:latin typeface="+mn-ea"/>
            </a:endParaRPr>
          </a:p>
        </p:txBody>
      </p:sp>
      <p:sp>
        <p:nvSpPr>
          <p:cNvPr id="119" name="矩形: 圆角 118"/>
          <p:cNvSpPr/>
          <p:nvPr/>
        </p:nvSpPr>
        <p:spPr>
          <a:xfrm>
            <a:off x="698501" y="4446295"/>
            <a:ext cx="10794999" cy="968327"/>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zh-CN" sz="2200" b="1" dirty="0">
                <a:solidFill>
                  <a:schemeClr val="tx1"/>
                </a:solidFill>
                <a:latin typeface="+mn-ea"/>
              </a:rPr>
              <a:t>7</a:t>
            </a:r>
            <a:r>
              <a:rPr lang="zh-CN" altLang="en-US" sz="2200" b="1" dirty="0">
                <a:solidFill>
                  <a:schemeClr val="tx1"/>
                </a:solidFill>
                <a:latin typeface="+mn-ea"/>
              </a:rPr>
              <a:t>）不要使某些圆圈只有输入或只有输出，数据流图中圆圈所代表的处理过程通常要求既有输入又有输出</a:t>
            </a:r>
            <a:endParaRPr lang="zh-CN" altLang="en-US" sz="2200" b="1" dirty="0">
              <a:solidFill>
                <a:schemeClr val="tx1"/>
              </a:solidFill>
              <a:latin typeface="+mn-ea"/>
            </a:endParaRPr>
          </a:p>
        </p:txBody>
      </p:sp>
      <p:sp>
        <p:nvSpPr>
          <p:cNvPr id="127" name="文本框 12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0"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）数据流图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11" name="矩形: 圆角 10"/>
          <p:cNvSpPr/>
          <p:nvPr/>
        </p:nvSpPr>
        <p:spPr>
          <a:xfrm>
            <a:off x="598907" y="1764145"/>
            <a:ext cx="10983493" cy="3870037"/>
          </a:xfrm>
          <a:prstGeom prst="round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p:txBody>
      </p:sp>
      <p:sp>
        <p:nvSpPr>
          <p:cNvPr id="2" name="日期占位符 1"/>
          <p:cNvSpPr>
            <a:spLocks noGrp="1"/>
          </p:cNvSpPr>
          <p:nvPr>
            <p:ph type="dt" sz="half" idx="10"/>
          </p:nvPr>
        </p:nvSpPr>
        <p:spPr/>
        <p:txBody>
          <a:bodyPr/>
          <a:lstStyle/>
          <a:p>
            <a:pPr>
              <a:defRPr/>
            </a:pPr>
            <a:fld id="{64F56C40-8EA4-41D5-A686-D341B4DF641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ustDataLst>
      <p:tags r:id="rId1"/>
    </p:custData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p:tgtEl>
                                          <p:spTgt spid="10"/>
                                        </p:tgtEl>
                                        <p:attrNameLst>
                                          <p:attrName>ppt_x</p:attrName>
                                        </p:attrNameLst>
                                      </p:cBhvr>
                                      <p:tavLst>
                                        <p:tav tm="0">
                                          <p:val>
                                            <p:strVal val="#ppt_x+#ppt_w*1.125000"/>
                                          </p:val>
                                        </p:tav>
                                        <p:tav tm="100000">
                                          <p:val>
                                            <p:strVal val="#ppt_x"/>
                                          </p:val>
                                        </p:tav>
                                      </p:tavLst>
                                    </p:anim>
                                    <p:animEffect transition="in" filter="wipe(left)">
                                      <p:cBhvr>
                                        <p:cTn id="8" dur="50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 grpId="0" animBg="1"/>
      <p:bldP spid="118" grpId="0" animBg="1"/>
      <p:bldP spid="119" grpId="0" animBg="1"/>
      <p:bldP spid="10" grpId="0"/>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6"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7" name="文本框 67"/>
          <p:cNvSpPr>
            <a:spLocks noChangeArrowheads="1"/>
          </p:cNvSpPr>
          <p:nvPr/>
        </p:nvSpPr>
        <p:spPr bwMode="auto">
          <a:xfrm>
            <a:off x="700838" y="1504327"/>
            <a:ext cx="7765668"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200" b="1" kern="0" dirty="0">
                <a:latin typeface="宋体" panose="02010600030101010101" pitchFamily="2" charset="-122"/>
                <a:ea typeface="宋体" panose="02010600030101010101" pitchFamily="2" charset="-122"/>
                <a:sym typeface="宋体" panose="02010600030101010101" pitchFamily="2" charset="-122"/>
              </a:rPr>
              <a:t>思考题：</a:t>
            </a:r>
            <a:endParaRPr lang="zh-CN" altLang="en-US" sz="22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3" name="文本框 67"/>
          <p:cNvSpPr>
            <a:spLocks noChangeArrowheads="1"/>
          </p:cNvSpPr>
          <p:nvPr/>
        </p:nvSpPr>
        <p:spPr bwMode="auto">
          <a:xfrm>
            <a:off x="700838" y="2178125"/>
            <a:ext cx="7765668"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200" b="1" kern="0" dirty="0">
                <a:latin typeface="宋体" panose="02010600030101010101" pitchFamily="2" charset="-122"/>
                <a:ea typeface="宋体" panose="02010600030101010101" pitchFamily="2" charset="-122"/>
                <a:sym typeface="宋体" panose="02010600030101010101" pitchFamily="2" charset="-122"/>
              </a:rPr>
              <a:t>数据流图中包括哪些要素？</a:t>
            </a:r>
            <a:endParaRPr lang="zh-CN" altLang="en-US" sz="22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4" name="文本框 67"/>
          <p:cNvSpPr>
            <a:spLocks noChangeArrowheads="1"/>
          </p:cNvSpPr>
          <p:nvPr/>
        </p:nvSpPr>
        <p:spPr bwMode="auto">
          <a:xfrm>
            <a:off x="700838" y="2851922"/>
            <a:ext cx="3896562"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200" b="1" kern="0" dirty="0">
                <a:latin typeface="宋体" panose="02010600030101010101" pitchFamily="2" charset="-122"/>
                <a:ea typeface="宋体" panose="02010600030101010101" pitchFamily="2" charset="-122"/>
                <a:sym typeface="宋体" panose="02010600030101010101" pitchFamily="2" charset="-122"/>
              </a:rPr>
              <a:t>A. </a:t>
            </a:r>
            <a:r>
              <a:rPr lang="zh-CN" altLang="en-US" sz="2200" b="1" kern="0" dirty="0">
                <a:latin typeface="宋体" panose="02010600030101010101" pitchFamily="2" charset="-122"/>
                <a:ea typeface="宋体" panose="02010600030101010101" pitchFamily="2" charset="-122"/>
                <a:sym typeface="宋体" panose="02010600030101010101" pitchFamily="2" charset="-122"/>
              </a:rPr>
              <a:t>外部实体</a:t>
            </a:r>
            <a:endParaRPr lang="zh-CN" altLang="en-US" sz="22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5" name="文本框 67"/>
          <p:cNvSpPr>
            <a:spLocks noChangeArrowheads="1"/>
          </p:cNvSpPr>
          <p:nvPr/>
        </p:nvSpPr>
        <p:spPr bwMode="auto">
          <a:xfrm>
            <a:off x="700838" y="3525720"/>
            <a:ext cx="3896562"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200" b="1" kern="0" dirty="0">
                <a:latin typeface="宋体" panose="02010600030101010101" pitchFamily="2" charset="-122"/>
                <a:ea typeface="宋体" panose="02010600030101010101" pitchFamily="2" charset="-122"/>
                <a:sym typeface="宋体" panose="02010600030101010101" pitchFamily="2" charset="-122"/>
              </a:rPr>
              <a:t>B. </a:t>
            </a:r>
            <a:r>
              <a:rPr lang="zh-CN" altLang="en-US" sz="2200" b="1" kern="0" dirty="0">
                <a:latin typeface="宋体" panose="02010600030101010101" pitchFamily="2" charset="-122"/>
                <a:ea typeface="宋体" panose="02010600030101010101" pitchFamily="2" charset="-122"/>
                <a:sym typeface="宋体" panose="02010600030101010101" pitchFamily="2" charset="-122"/>
              </a:rPr>
              <a:t>处理（加工）</a:t>
            </a:r>
            <a:endParaRPr lang="zh-CN" altLang="en-US" sz="22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6" name="文本框 67"/>
          <p:cNvSpPr>
            <a:spLocks noChangeArrowheads="1"/>
          </p:cNvSpPr>
          <p:nvPr/>
        </p:nvSpPr>
        <p:spPr bwMode="auto">
          <a:xfrm>
            <a:off x="700838" y="4199518"/>
            <a:ext cx="3896562"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200" b="1" kern="0" dirty="0">
                <a:latin typeface="宋体" panose="02010600030101010101" pitchFamily="2" charset="-122"/>
                <a:ea typeface="宋体" panose="02010600030101010101" pitchFamily="2" charset="-122"/>
                <a:sym typeface="宋体" panose="02010600030101010101" pitchFamily="2" charset="-122"/>
              </a:rPr>
              <a:t>C. </a:t>
            </a:r>
            <a:r>
              <a:rPr lang="zh-CN" altLang="en-US" sz="2200" b="1" kern="0" dirty="0">
                <a:latin typeface="宋体" panose="02010600030101010101" pitchFamily="2" charset="-122"/>
                <a:ea typeface="宋体" panose="02010600030101010101" pitchFamily="2" charset="-122"/>
                <a:sym typeface="宋体" panose="02010600030101010101" pitchFamily="2" charset="-122"/>
              </a:rPr>
              <a:t>数据存储</a:t>
            </a:r>
            <a:endParaRPr lang="zh-CN" altLang="en-US" sz="22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7" name="文本框 67"/>
          <p:cNvSpPr>
            <a:spLocks noChangeArrowheads="1"/>
          </p:cNvSpPr>
          <p:nvPr/>
        </p:nvSpPr>
        <p:spPr bwMode="auto">
          <a:xfrm>
            <a:off x="700838" y="4873316"/>
            <a:ext cx="3896562"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200" b="1" kern="0" dirty="0">
                <a:latin typeface="宋体" panose="02010600030101010101" pitchFamily="2" charset="-122"/>
                <a:ea typeface="宋体" panose="02010600030101010101" pitchFamily="2" charset="-122"/>
                <a:sym typeface="宋体" panose="02010600030101010101" pitchFamily="2" charset="-122"/>
              </a:rPr>
              <a:t>D. </a:t>
            </a:r>
            <a:r>
              <a:rPr lang="zh-CN" altLang="en-US" sz="2200" b="1" kern="0" dirty="0">
                <a:latin typeface="宋体" panose="02010600030101010101" pitchFamily="2" charset="-122"/>
                <a:ea typeface="宋体" panose="02010600030101010101" pitchFamily="2" charset="-122"/>
                <a:sym typeface="宋体" panose="02010600030101010101" pitchFamily="2" charset="-122"/>
              </a:rPr>
              <a:t>数据流</a:t>
            </a:r>
            <a:endParaRPr lang="zh-CN" altLang="en-US" sz="2200" b="1" kern="0" dirty="0">
              <a:latin typeface="宋体" panose="02010600030101010101" pitchFamily="2" charset="-122"/>
              <a:ea typeface="宋体" panose="02010600030101010101" pitchFamily="2" charset="-122"/>
              <a:sym typeface="宋体" panose="02010600030101010101" pitchFamily="2" charset="-122"/>
            </a:endParaRPr>
          </a:p>
        </p:txBody>
      </p:sp>
      <p:pic>
        <p:nvPicPr>
          <p:cNvPr id="29" name="图形 28" descr="复选标记"/>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789197" y="3469938"/>
            <a:ext cx="592393" cy="592393"/>
          </a:xfrm>
          <a:prstGeom prst="rect">
            <a:avLst/>
          </a:prstGeom>
        </p:spPr>
      </p:pic>
      <p:pic>
        <p:nvPicPr>
          <p:cNvPr id="30" name="图形 29" descr="复选标记"/>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789197" y="4062331"/>
            <a:ext cx="592393" cy="592393"/>
          </a:xfrm>
          <a:prstGeom prst="rect">
            <a:avLst/>
          </a:prstGeom>
        </p:spPr>
      </p:pic>
      <p:pic>
        <p:nvPicPr>
          <p:cNvPr id="32" name="图形 31" descr="复选标记"/>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793292" y="2720558"/>
            <a:ext cx="592393" cy="592393"/>
          </a:xfrm>
          <a:prstGeom prst="rect">
            <a:avLst/>
          </a:prstGeom>
        </p:spPr>
      </p:pic>
      <p:sp>
        <p:nvSpPr>
          <p:cNvPr id="2" name="日期占位符 1"/>
          <p:cNvSpPr>
            <a:spLocks noGrp="1"/>
          </p:cNvSpPr>
          <p:nvPr>
            <p:ph type="dt" sz="half" idx="10"/>
          </p:nvPr>
        </p:nvSpPr>
        <p:spPr/>
        <p:txBody>
          <a:bodyPr/>
          <a:lstStyle/>
          <a:p>
            <a:pPr>
              <a:defRPr/>
            </a:pPr>
            <a:fld id="{867206AC-579A-4A5B-91F8-FF1A6BA09E55}" type="datetime1">
              <a:rPr lang="zh-CN" altLang="en-US" smtClean="0">
                <a:solidFill>
                  <a:prstClr val="black">
                    <a:tint val="75000"/>
                  </a:prstClr>
                </a:solidFill>
              </a:rPr>
            </a:fld>
            <a:endParaRPr lang="zh-CN" altLang="en-US" dirty="0">
              <a:solidFill>
                <a:prstClr val="black">
                  <a:tint val="75000"/>
                </a:prstClr>
              </a:solidFill>
            </a:endParaRPr>
          </a:p>
        </p:txBody>
      </p:sp>
      <p:pic>
        <p:nvPicPr>
          <p:cNvPr id="14" name="图形 13" descr="复选标记"/>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789197" y="4727175"/>
            <a:ext cx="592393" cy="592393"/>
          </a:xfrm>
          <a:prstGeom prst="rect">
            <a:avLst/>
          </a:prstGeom>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78" name="矩形: 圆角 177"/>
          <p:cNvSpPr/>
          <p:nvPr/>
        </p:nvSpPr>
        <p:spPr>
          <a:xfrm>
            <a:off x="701661" y="1604827"/>
            <a:ext cx="10790256" cy="64008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rgbClr val="FF0000"/>
                </a:solidFill>
                <a:latin typeface="+mj-ea"/>
                <a:ea typeface="+mj-ea"/>
              </a:rPr>
              <a:t>什么是实体</a:t>
            </a:r>
            <a:r>
              <a:rPr lang="en-US" altLang="zh-CN" sz="2200" b="1" dirty="0">
                <a:solidFill>
                  <a:srgbClr val="FF0000"/>
                </a:solidFill>
                <a:latin typeface="+mj-ea"/>
                <a:ea typeface="+mj-ea"/>
              </a:rPr>
              <a:t>-</a:t>
            </a:r>
            <a:r>
              <a:rPr lang="zh-CN" altLang="en-US" sz="2200" b="1" dirty="0">
                <a:solidFill>
                  <a:srgbClr val="FF0000"/>
                </a:solidFill>
                <a:latin typeface="+mj-ea"/>
                <a:ea typeface="+mj-ea"/>
              </a:rPr>
              <a:t>关系图？</a:t>
            </a:r>
            <a:endParaRPr lang="zh-CN" altLang="en-US" sz="2200" b="1" dirty="0">
              <a:solidFill>
                <a:srgbClr val="FF0000"/>
              </a:solidFill>
              <a:latin typeface="+mj-ea"/>
              <a:ea typeface="+mj-ea"/>
            </a:endParaRPr>
          </a:p>
        </p:txBody>
      </p:sp>
      <p:sp>
        <p:nvSpPr>
          <p:cNvPr id="180" name="矩形: 圆角 179"/>
          <p:cNvSpPr/>
          <p:nvPr/>
        </p:nvSpPr>
        <p:spPr>
          <a:xfrm>
            <a:off x="703244" y="2362461"/>
            <a:ext cx="10790256" cy="3420666"/>
          </a:xfrm>
          <a:prstGeom prst="round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en-US" altLang="zh-CN" b="1" dirty="0">
              <a:solidFill>
                <a:schemeClr val="tx1"/>
              </a:solidFill>
              <a:latin typeface="微软雅黑" panose="020B0503020204020204" pitchFamily="34" charset="-122"/>
              <a:ea typeface="微软雅黑" panose="020B0503020204020204" pitchFamily="34" charset="-122"/>
            </a:endParaRPr>
          </a:p>
        </p:txBody>
      </p:sp>
      <p:sp>
        <p:nvSpPr>
          <p:cNvPr id="181" name="文本框 180"/>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742950" y="2673885"/>
            <a:ext cx="10748968" cy="429895"/>
          </a:xfrm>
          <a:prstGeom prst="rect">
            <a:avLst/>
          </a:prstGeom>
          <a:solidFill>
            <a:schemeClr val="accent6">
              <a:lumMod val="20000"/>
              <a:lumOff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）实体</a:t>
            </a:r>
            <a:r>
              <a:rPr kumimoji="0" lang="en-US" altLang="zh-CN"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t>
            </a: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关系图</a:t>
            </a:r>
            <a:r>
              <a:rPr kumimoji="0" lang="en-US" altLang="zh-CN"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(Entity—Relationship Diagram</a:t>
            </a: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t>
            </a:r>
            <a:r>
              <a:rPr kumimoji="0" lang="en-US" altLang="zh-CN"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ERD)</a:t>
            </a: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描绘了系统的数据关系</a:t>
            </a:r>
            <a:endPar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1" name="文本框 10"/>
          <p:cNvSpPr txBox="1"/>
          <p:nvPr/>
        </p:nvSpPr>
        <p:spPr>
          <a:xfrm>
            <a:off x="724945" y="3250939"/>
            <a:ext cx="10742110" cy="429895"/>
          </a:xfrm>
          <a:prstGeom prst="rect">
            <a:avLst/>
          </a:prstGeom>
          <a:solidFill>
            <a:schemeClr val="accent5">
              <a:lumMod val="20000"/>
              <a:lumOff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200" b="1" dirty="0">
                <a:solidFill>
                  <a:prstClr val="black"/>
                </a:solidFill>
                <a:latin typeface="Calibri" panose="020F0502020204030204"/>
                <a:ea typeface="宋体" panose="02010600030101010101" pitchFamily="2" charset="-122"/>
              </a:rPr>
              <a:t>2</a:t>
            </a:r>
            <a:r>
              <a:rPr lang="zh-CN" altLang="en-US" sz="2200" b="1" dirty="0">
                <a:solidFill>
                  <a:prstClr val="black"/>
                </a:solidFill>
                <a:latin typeface="Calibri" panose="020F0502020204030204"/>
                <a:ea typeface="宋体" panose="02010600030101010101" pitchFamily="2" charset="-122"/>
              </a:rPr>
              <a:t>）利用实体</a:t>
            </a:r>
            <a:r>
              <a:rPr lang="en-US" altLang="zh-CN" sz="2200" b="1" dirty="0">
                <a:solidFill>
                  <a:prstClr val="black"/>
                </a:solidFill>
                <a:latin typeface="Calibri" panose="020F0502020204030204"/>
                <a:ea typeface="宋体" panose="02010600030101010101" pitchFamily="2" charset="-122"/>
              </a:rPr>
              <a:t>-</a:t>
            </a:r>
            <a:r>
              <a:rPr lang="zh-CN" altLang="en-US" sz="2200" b="1" dirty="0">
                <a:solidFill>
                  <a:prstClr val="black"/>
                </a:solidFill>
                <a:latin typeface="Calibri" panose="020F0502020204030204"/>
                <a:ea typeface="宋体" panose="02010600030101010101" pitchFamily="2" charset="-122"/>
              </a:rPr>
              <a:t>关系图作为需求分析的工具，表示来自于问题域及其联系的逻辑信息组</a:t>
            </a:r>
            <a:endParaRPr lang="zh-CN" altLang="en-US" sz="2200" b="1" dirty="0">
              <a:solidFill>
                <a:prstClr val="black"/>
              </a:solidFill>
              <a:latin typeface="Calibri" panose="020F0502020204030204"/>
              <a:ea typeface="宋体" panose="02010600030101010101" pitchFamily="2" charset="-122"/>
            </a:endParaRPr>
          </a:p>
        </p:txBody>
      </p:sp>
      <p:sp>
        <p:nvSpPr>
          <p:cNvPr id="12" name="文本框 11"/>
          <p:cNvSpPr txBox="1"/>
          <p:nvPr/>
        </p:nvSpPr>
        <p:spPr>
          <a:xfrm>
            <a:off x="749808" y="3812427"/>
            <a:ext cx="10742110" cy="768350"/>
          </a:xfrm>
          <a:prstGeom prst="rect">
            <a:avLst/>
          </a:prstGeom>
          <a:solidFill>
            <a:schemeClr val="accent4">
              <a:lumMod val="20000"/>
              <a:lumOff val="80000"/>
            </a:schemeClr>
          </a:solidFill>
        </p:spPr>
        <p:txBody>
          <a:bodyPr wrap="square" rtlCol="0">
            <a:spAutoFit/>
          </a:bodyPr>
          <a:lstStyle/>
          <a:p>
            <a:pPr>
              <a:defRPr/>
            </a:pPr>
            <a:r>
              <a:rPr lang="en-US" altLang="zh-CN" sz="2200" b="1" dirty="0">
                <a:solidFill>
                  <a:prstClr val="black"/>
                </a:solidFill>
                <a:latin typeface="Calibri" panose="020F0502020204030204"/>
                <a:ea typeface="宋体" panose="02010600030101010101" pitchFamily="2" charset="-122"/>
              </a:rPr>
              <a:t>3</a:t>
            </a:r>
            <a:r>
              <a:rPr lang="zh-CN" altLang="en-US" sz="2200" b="1" dirty="0">
                <a:solidFill>
                  <a:prstClr val="black"/>
                </a:solidFill>
                <a:latin typeface="Calibri" panose="020F0502020204030204"/>
                <a:ea typeface="宋体" panose="02010600030101010101" pitchFamily="2" charset="-122"/>
              </a:rPr>
              <a:t>）分析实体</a:t>
            </a:r>
            <a:r>
              <a:rPr lang="en-US" altLang="zh-CN" sz="2200" b="1" dirty="0">
                <a:solidFill>
                  <a:prstClr val="black"/>
                </a:solidFill>
                <a:latin typeface="Calibri" panose="020F0502020204030204"/>
                <a:ea typeface="宋体" panose="02010600030101010101" pitchFamily="2" charset="-122"/>
              </a:rPr>
              <a:t>-</a:t>
            </a:r>
            <a:r>
              <a:rPr lang="zh-CN" altLang="en-US" sz="2200" b="1" dirty="0">
                <a:solidFill>
                  <a:prstClr val="black"/>
                </a:solidFill>
                <a:latin typeface="Calibri" panose="020F0502020204030204"/>
                <a:ea typeface="宋体" panose="02010600030101010101" pitchFamily="2" charset="-122"/>
              </a:rPr>
              <a:t>关系图有助于对业务或系统数据组成的理解和交互，并暗示产品将有必要包含一个数据库</a:t>
            </a:r>
            <a:endParaRPr lang="zh-CN" altLang="en-US" sz="2200" b="1" dirty="0">
              <a:solidFill>
                <a:prstClr val="black"/>
              </a:solidFill>
              <a:latin typeface="Calibri" panose="020F0502020204030204"/>
              <a:ea typeface="宋体" panose="02010600030101010101" pitchFamily="2" charset="-122"/>
            </a:endParaRPr>
          </a:p>
        </p:txBody>
      </p:sp>
      <p:sp>
        <p:nvSpPr>
          <p:cNvPr id="13" name="文本框 12"/>
          <p:cNvSpPr txBox="1"/>
          <p:nvPr/>
        </p:nvSpPr>
        <p:spPr>
          <a:xfrm>
            <a:off x="743712" y="4700163"/>
            <a:ext cx="10745044" cy="768350"/>
          </a:xfrm>
          <a:prstGeom prst="rect">
            <a:avLst/>
          </a:prstGeom>
          <a:solidFill>
            <a:schemeClr val="accent3">
              <a:lumMod val="20000"/>
              <a:lumOff val="80000"/>
            </a:schemeClr>
          </a:solidFill>
        </p:spPr>
        <p:txBody>
          <a:bodyPr wrap="square" rtlCol="0">
            <a:spAutoFit/>
          </a:bodyPr>
          <a:lstStyle/>
          <a:p>
            <a:pPr marR="0" lvl="0" indent="0" fontAlgn="auto">
              <a:lnSpc>
                <a:spcPct val="100000"/>
              </a:lnSpc>
              <a:spcBef>
                <a:spcPts val="0"/>
              </a:spcBef>
              <a:spcAft>
                <a:spcPts val="0"/>
              </a:spcAft>
              <a:buClrTx/>
              <a:buSzTx/>
              <a:buFontTx/>
              <a:buNone/>
              <a:defRPr/>
            </a:pPr>
            <a:r>
              <a:rPr lang="en-US" altLang="zh-CN" sz="2200" b="1" dirty="0">
                <a:solidFill>
                  <a:prstClr val="black"/>
                </a:solidFill>
                <a:latin typeface="Calibri" panose="020F0502020204030204"/>
                <a:ea typeface="宋体" panose="02010600030101010101" pitchFamily="2" charset="-122"/>
              </a:rPr>
              <a:t>4</a:t>
            </a:r>
            <a:r>
              <a:rPr lang="zh-CN" altLang="en-US" sz="2200" b="1" dirty="0">
                <a:solidFill>
                  <a:prstClr val="black"/>
                </a:solidFill>
                <a:latin typeface="Calibri" panose="020F0502020204030204"/>
                <a:ea typeface="宋体" panose="02010600030101010101" pitchFamily="2" charset="-122"/>
              </a:rPr>
              <a:t>）实体</a:t>
            </a:r>
            <a:r>
              <a:rPr lang="en-US" altLang="zh-CN" sz="2200" b="1" dirty="0">
                <a:solidFill>
                  <a:prstClr val="black"/>
                </a:solidFill>
                <a:latin typeface="Calibri" panose="020F0502020204030204"/>
                <a:ea typeface="宋体" panose="02010600030101010101" pitchFamily="2" charset="-122"/>
              </a:rPr>
              <a:t>(entity)</a:t>
            </a:r>
            <a:r>
              <a:rPr lang="zh-CN" altLang="en-US" sz="2200" b="1" dirty="0">
                <a:solidFill>
                  <a:prstClr val="black"/>
                </a:solidFill>
                <a:latin typeface="Calibri" panose="020F0502020204030204"/>
                <a:ea typeface="宋体" panose="02010600030101010101" pitchFamily="2" charset="-122"/>
              </a:rPr>
              <a:t>是物理数据项</a:t>
            </a:r>
            <a:r>
              <a:rPr lang="en-US" altLang="zh-CN" sz="2200" b="1" dirty="0">
                <a:solidFill>
                  <a:prstClr val="black"/>
                </a:solidFill>
                <a:latin typeface="Calibri" panose="020F0502020204030204"/>
                <a:ea typeface="宋体" panose="02010600030101010101" pitchFamily="2" charset="-122"/>
              </a:rPr>
              <a:t>(</a:t>
            </a:r>
            <a:r>
              <a:rPr lang="zh-CN" altLang="en-US" sz="2200" b="1" dirty="0">
                <a:solidFill>
                  <a:prstClr val="black"/>
                </a:solidFill>
                <a:latin typeface="Calibri" panose="020F0502020204030204"/>
                <a:ea typeface="宋体" panose="02010600030101010101" pitchFamily="2" charset="-122"/>
              </a:rPr>
              <a:t>包括人</a:t>
            </a:r>
            <a:r>
              <a:rPr lang="en-US" altLang="zh-CN" sz="2200" b="1" dirty="0">
                <a:solidFill>
                  <a:prstClr val="black"/>
                </a:solidFill>
                <a:latin typeface="Calibri" panose="020F0502020204030204"/>
                <a:ea typeface="宋体" panose="02010600030101010101" pitchFamily="2" charset="-122"/>
              </a:rPr>
              <a:t>)</a:t>
            </a:r>
            <a:r>
              <a:rPr lang="zh-CN" altLang="en-US" sz="2200" b="1" dirty="0">
                <a:solidFill>
                  <a:prstClr val="black"/>
                </a:solidFill>
                <a:latin typeface="Calibri" panose="020F0502020204030204"/>
                <a:ea typeface="宋体" panose="02010600030101010101" pitchFamily="2" charset="-122"/>
              </a:rPr>
              <a:t>或者数据项的集合，这对所分析的业务或所要构造的系统是很重要的</a:t>
            </a:r>
            <a:endParaRPr lang="zh-CN" altLang="en-US" sz="2200" b="1" dirty="0">
              <a:solidFill>
                <a:prstClr val="black"/>
              </a:solidFill>
              <a:latin typeface="Calibri" panose="020F0502020204030204"/>
              <a:ea typeface="宋体" panose="02010600030101010101" pitchFamily="2" charset="-122"/>
            </a:endParaRPr>
          </a:p>
        </p:txBody>
      </p:sp>
      <p:sp>
        <p:nvSpPr>
          <p:cNvPr id="14"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）实体</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关系图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 name="日期占位符 1"/>
          <p:cNvSpPr>
            <a:spLocks noGrp="1"/>
          </p:cNvSpPr>
          <p:nvPr>
            <p:ph type="dt" sz="half" idx="10"/>
          </p:nvPr>
        </p:nvSpPr>
        <p:spPr/>
        <p:txBody>
          <a:bodyPr/>
          <a:lstStyle/>
          <a:p>
            <a:pPr>
              <a:defRPr/>
            </a:pPr>
            <a:fld id="{BB07D5FD-573D-4977-A429-CB3DEB7F4BE6}"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p:tgtEl>
                                          <p:spTgt spid="14"/>
                                        </p:tgtEl>
                                        <p:attrNameLst>
                                          <p:attrName>ppt_x</p:attrName>
                                        </p:attrNameLst>
                                      </p:cBhvr>
                                      <p:tavLst>
                                        <p:tav tm="0">
                                          <p:val>
                                            <p:strVal val="#ppt_x+#ppt_w*1.125000"/>
                                          </p:val>
                                        </p:tav>
                                        <p:tav tm="100000">
                                          <p:val>
                                            <p:strVal val="#ppt_x"/>
                                          </p:val>
                                        </p:tav>
                                      </p:tavLst>
                                    </p:anim>
                                    <p:animEffect transition="in" filter="wipe(left)">
                                      <p:cBhvr>
                                        <p:cTn id="8" dur="500"/>
                                        <p:tgtEl>
                                          <p:spTgt spid="14"/>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 grpId="0"/>
      <p:bldP spid="180" grpId="0" animBg="1"/>
      <p:bldP spid="10" grpId="0" bldLvl="0" animBg="1"/>
      <p:bldP spid="11" grpId="0" bldLvl="0" animBg="1"/>
      <p:bldP spid="12" grpId="0" bldLvl="0" animBg="1"/>
      <p:bldP spid="13" grpId="0" bldLvl="0" animBg="1"/>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5"/>
          <p:cNvGrpSpPr/>
          <p:nvPr/>
        </p:nvGrpSpPr>
        <p:grpSpPr>
          <a:xfrm>
            <a:off x="108557" y="337632"/>
            <a:ext cx="525184" cy="422276"/>
            <a:chOff x="5075564" y="2933562"/>
            <a:chExt cx="2860947" cy="2302753"/>
          </a:xfrm>
        </p:grpSpPr>
        <p:sp>
          <p:nvSpPr>
            <p:cNvPr id="21" name="等腰三角形 2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22" name="等腰三角形 2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grpSp>
        <p:nvGrpSpPr>
          <p:cNvPr id="104" name="组合 16426"/>
          <p:cNvGrpSpPr/>
          <p:nvPr/>
        </p:nvGrpSpPr>
        <p:grpSpPr>
          <a:xfrm>
            <a:off x="1745673" y="1989397"/>
            <a:ext cx="8719127" cy="4121755"/>
            <a:chOff x="586" y="48"/>
            <a:chExt cx="4931" cy="3549"/>
          </a:xfrm>
          <a:solidFill>
            <a:schemeClr val="bg1"/>
          </a:solidFill>
        </p:grpSpPr>
        <p:sp>
          <p:nvSpPr>
            <p:cNvPr id="108" name="直接连接符 16405"/>
            <p:cNvSpPr/>
            <p:nvPr/>
          </p:nvSpPr>
          <p:spPr>
            <a:xfrm>
              <a:off x="1437" y="2304"/>
              <a:ext cx="2448" cy="0"/>
            </a:xfrm>
            <a:prstGeom prst="line">
              <a:avLst/>
            </a:prstGeom>
            <a:grpFill/>
            <a:ln w="28575" cap="flat" cmpd="sng">
              <a:solidFill>
                <a:srgbClr val="000000"/>
              </a:solidFill>
              <a:prstDash val="solid"/>
              <a:round/>
              <a:headEnd type="none" w="med" len="med"/>
              <a:tailEnd type="none" w="med" len="med"/>
            </a:ln>
          </p:spPr>
        </p:sp>
        <p:sp>
          <p:nvSpPr>
            <p:cNvPr id="105" name="直接连接符 16408"/>
            <p:cNvSpPr/>
            <p:nvPr/>
          </p:nvSpPr>
          <p:spPr>
            <a:xfrm>
              <a:off x="3501" y="528"/>
              <a:ext cx="1248" cy="0"/>
            </a:xfrm>
            <a:prstGeom prst="line">
              <a:avLst/>
            </a:prstGeom>
            <a:grpFill/>
            <a:ln w="28575" cap="flat" cmpd="sng">
              <a:solidFill>
                <a:srgbClr val="000000"/>
              </a:solidFill>
              <a:prstDash val="solid"/>
              <a:round/>
              <a:headEnd type="none" w="med" len="med"/>
              <a:tailEnd type="none" w="med" len="med"/>
            </a:ln>
          </p:spPr>
        </p:sp>
        <p:sp>
          <p:nvSpPr>
            <p:cNvPr id="106" name="直接连接符 16407"/>
            <p:cNvSpPr/>
            <p:nvPr/>
          </p:nvSpPr>
          <p:spPr>
            <a:xfrm>
              <a:off x="3165" y="720"/>
              <a:ext cx="0" cy="1344"/>
            </a:xfrm>
            <a:prstGeom prst="line">
              <a:avLst/>
            </a:prstGeom>
            <a:grpFill/>
            <a:ln w="28575" cap="flat" cmpd="sng">
              <a:solidFill>
                <a:srgbClr val="000000"/>
              </a:solidFill>
              <a:prstDash val="solid"/>
              <a:round/>
              <a:headEnd type="none" w="med" len="med"/>
              <a:tailEnd type="none" w="med" len="med"/>
            </a:ln>
          </p:spPr>
        </p:sp>
        <p:sp>
          <p:nvSpPr>
            <p:cNvPr id="107" name="直接连接符 16403"/>
            <p:cNvSpPr/>
            <p:nvPr/>
          </p:nvSpPr>
          <p:spPr>
            <a:xfrm>
              <a:off x="1053" y="720"/>
              <a:ext cx="0" cy="2112"/>
            </a:xfrm>
            <a:prstGeom prst="line">
              <a:avLst/>
            </a:prstGeom>
            <a:grpFill/>
            <a:ln w="28575" cap="flat" cmpd="sng">
              <a:solidFill>
                <a:srgbClr val="000000"/>
              </a:solidFill>
              <a:prstDash val="solid"/>
              <a:round/>
              <a:headEnd type="none" w="med" len="med"/>
              <a:tailEnd type="none" w="med" len="med"/>
            </a:ln>
          </p:spPr>
          <p:txBody>
            <a:bodyPr/>
            <a:lstStyle/>
            <a:p>
              <a:endParaRPr lang="zh-CN" altLang="en-US" dirty="0"/>
            </a:p>
          </p:txBody>
        </p:sp>
        <p:sp>
          <p:nvSpPr>
            <p:cNvPr id="111" name="矩形 16388"/>
            <p:cNvSpPr/>
            <p:nvPr/>
          </p:nvSpPr>
          <p:spPr>
            <a:xfrm>
              <a:off x="669" y="240"/>
              <a:ext cx="953" cy="480"/>
            </a:xfrm>
            <a:prstGeom prst="rect">
              <a:avLst/>
            </a:prstGeom>
            <a:grpFill/>
            <a:ln w="2857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2000" b="1" kern="0" dirty="0">
                  <a:solidFill>
                    <a:srgbClr val="000000"/>
                  </a:solidFill>
                  <a:latin typeface="Arial" panose="020B0604020202020204" pitchFamily="34" charset="0"/>
                </a:rPr>
                <a:t>化学制品仓</a:t>
              </a:r>
              <a:endParaRPr lang="zh-CN" altLang="en-US" sz="2000" b="1" kern="0" dirty="0">
                <a:solidFill>
                  <a:srgbClr val="000000"/>
                </a:solidFill>
                <a:latin typeface="Arial" panose="020B0604020202020204" pitchFamily="34" charset="0"/>
              </a:endParaRPr>
            </a:p>
            <a:p>
              <a:pPr algn="ctr" fontAlgn="base">
                <a:spcBef>
                  <a:spcPct val="0"/>
                </a:spcBef>
                <a:spcAft>
                  <a:spcPct val="0"/>
                </a:spcAft>
              </a:pPr>
              <a:r>
                <a:rPr lang="zh-CN" altLang="en-US" sz="2000" b="1" kern="0" dirty="0">
                  <a:solidFill>
                    <a:srgbClr val="000000"/>
                  </a:solidFill>
                  <a:latin typeface="Arial" panose="020B0604020202020204" pitchFamily="34" charset="0"/>
                </a:rPr>
                <a:t>库存货清单</a:t>
              </a:r>
              <a:endParaRPr lang="zh-CN" altLang="en-US" sz="2000" b="1" kern="0" dirty="0">
                <a:solidFill>
                  <a:srgbClr val="000000"/>
                </a:solidFill>
                <a:latin typeface="Arial" panose="020B0604020202020204" pitchFamily="34" charset="0"/>
              </a:endParaRPr>
            </a:p>
          </p:txBody>
        </p:sp>
        <p:sp>
          <p:nvSpPr>
            <p:cNvPr id="112" name="矩形 16389"/>
            <p:cNvSpPr/>
            <p:nvPr/>
          </p:nvSpPr>
          <p:spPr>
            <a:xfrm>
              <a:off x="2727" y="48"/>
              <a:ext cx="774" cy="672"/>
            </a:xfrm>
            <a:prstGeom prst="rect">
              <a:avLst/>
            </a:prstGeom>
            <a:grpFill/>
            <a:ln w="2857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2200" b="1" kern="0" dirty="0">
                  <a:solidFill>
                    <a:srgbClr val="000000"/>
                  </a:solidFill>
                  <a:latin typeface="Arial" panose="020B0604020202020204" pitchFamily="34" charset="0"/>
                </a:rPr>
                <a:t>化学制品</a:t>
              </a:r>
              <a:endParaRPr lang="zh-CN" altLang="en-US" sz="2200" b="1" kern="0" dirty="0">
                <a:solidFill>
                  <a:srgbClr val="000000"/>
                </a:solidFill>
                <a:latin typeface="Arial" panose="020B0604020202020204" pitchFamily="34" charset="0"/>
              </a:endParaRPr>
            </a:p>
            <a:p>
              <a:pPr algn="ctr" fontAlgn="base">
                <a:spcBef>
                  <a:spcPct val="0"/>
                </a:spcBef>
                <a:spcAft>
                  <a:spcPct val="0"/>
                </a:spcAft>
              </a:pPr>
              <a:r>
                <a:rPr lang="zh-CN" altLang="en-US" sz="2200" b="1" kern="0" dirty="0">
                  <a:solidFill>
                    <a:srgbClr val="000000"/>
                  </a:solidFill>
                  <a:latin typeface="Arial" panose="020B0604020202020204" pitchFamily="34" charset="0"/>
                </a:rPr>
                <a:t>请求</a:t>
              </a:r>
              <a:endParaRPr lang="zh-CN" altLang="en-US" sz="2200" b="1" kern="0" dirty="0">
                <a:solidFill>
                  <a:srgbClr val="000000"/>
                </a:solidFill>
                <a:latin typeface="Arial" panose="020B0604020202020204" pitchFamily="34" charset="0"/>
              </a:endParaRPr>
            </a:p>
          </p:txBody>
        </p:sp>
        <p:sp>
          <p:nvSpPr>
            <p:cNvPr id="113" name="矩形 16390"/>
            <p:cNvSpPr/>
            <p:nvPr/>
          </p:nvSpPr>
          <p:spPr>
            <a:xfrm>
              <a:off x="4749" y="240"/>
              <a:ext cx="768" cy="480"/>
            </a:xfrm>
            <a:prstGeom prst="rect">
              <a:avLst/>
            </a:prstGeom>
            <a:grpFill/>
            <a:ln w="2857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2200" b="1" kern="0" dirty="0">
                  <a:solidFill>
                    <a:srgbClr val="000000"/>
                  </a:solidFill>
                  <a:latin typeface="Arial" panose="020B0604020202020204" pitchFamily="34" charset="0"/>
                </a:rPr>
                <a:t>请求者</a:t>
              </a:r>
              <a:endParaRPr lang="zh-CN" altLang="en-US" sz="2200" b="1" kern="0" dirty="0">
                <a:solidFill>
                  <a:srgbClr val="000000"/>
                </a:solidFill>
                <a:latin typeface="Arial" panose="020B0604020202020204" pitchFamily="34" charset="0"/>
              </a:endParaRPr>
            </a:p>
          </p:txBody>
        </p:sp>
        <p:sp>
          <p:nvSpPr>
            <p:cNvPr id="114" name="菱形 16391"/>
            <p:cNvSpPr/>
            <p:nvPr/>
          </p:nvSpPr>
          <p:spPr>
            <a:xfrm>
              <a:off x="3741" y="144"/>
              <a:ext cx="765" cy="765"/>
            </a:xfrm>
            <a:prstGeom prst="diamond">
              <a:avLst/>
            </a:prstGeom>
            <a:grpFill/>
            <a:ln w="2857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2200" b="1" kern="0" dirty="0">
                  <a:solidFill>
                    <a:srgbClr val="000000"/>
                  </a:solidFill>
                  <a:latin typeface="Arial" panose="020B0604020202020204" pitchFamily="34" charset="0"/>
                </a:rPr>
                <a:t>提出</a:t>
              </a:r>
              <a:endParaRPr lang="zh-CN" altLang="en-US" sz="2200" b="1" kern="0" dirty="0">
                <a:solidFill>
                  <a:srgbClr val="000000"/>
                </a:solidFill>
                <a:latin typeface="Arial" panose="020B0604020202020204" pitchFamily="34" charset="0"/>
              </a:endParaRPr>
            </a:p>
          </p:txBody>
        </p:sp>
        <p:sp>
          <p:nvSpPr>
            <p:cNvPr id="115" name="菱形 16392"/>
            <p:cNvSpPr/>
            <p:nvPr/>
          </p:nvSpPr>
          <p:spPr>
            <a:xfrm>
              <a:off x="2781" y="960"/>
              <a:ext cx="765" cy="765"/>
            </a:xfrm>
            <a:prstGeom prst="diamond">
              <a:avLst/>
            </a:prstGeom>
            <a:grpFill/>
            <a:ln w="2857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2200" b="1" kern="0" dirty="0">
                  <a:solidFill>
                    <a:srgbClr val="000000"/>
                  </a:solidFill>
                  <a:latin typeface="Arial" panose="020B0604020202020204" pitchFamily="34" charset="0"/>
                </a:rPr>
                <a:t>列出</a:t>
              </a:r>
              <a:endParaRPr lang="zh-CN" altLang="en-US" sz="2200" b="1" kern="0" dirty="0">
                <a:solidFill>
                  <a:srgbClr val="000000"/>
                </a:solidFill>
                <a:latin typeface="Arial" panose="020B0604020202020204" pitchFamily="34" charset="0"/>
              </a:endParaRPr>
            </a:p>
          </p:txBody>
        </p:sp>
        <p:sp>
          <p:nvSpPr>
            <p:cNvPr id="116" name="菱形 16394"/>
            <p:cNvSpPr/>
            <p:nvPr/>
          </p:nvSpPr>
          <p:spPr>
            <a:xfrm>
              <a:off x="669" y="960"/>
              <a:ext cx="765" cy="765"/>
            </a:xfrm>
            <a:prstGeom prst="diamond">
              <a:avLst/>
            </a:prstGeom>
            <a:grpFill/>
            <a:ln w="28575" cap="flat" cmpd="sng">
              <a:solidFill>
                <a:schemeClr val="tx1"/>
              </a:solidFill>
              <a:prstDash val="solid"/>
              <a:miter/>
              <a:headEnd type="none" w="med" len="med"/>
              <a:tailEnd type="none" w="med" len="med"/>
            </a:ln>
          </p:spPr>
          <p:txBody>
            <a:bodyPr wrap="none" anchor="ctr"/>
            <a:lstStyle/>
            <a:p>
              <a:pPr algn="ctr" fontAlgn="base">
                <a:spcBef>
                  <a:spcPct val="0"/>
                </a:spcBef>
                <a:spcAft>
                  <a:spcPct val="0"/>
                </a:spcAft>
              </a:pPr>
              <a:r>
                <a:rPr lang="zh-CN" altLang="en-US" sz="2200" b="1" kern="0" dirty="0">
                  <a:solidFill>
                    <a:srgbClr val="000000"/>
                  </a:solidFill>
                  <a:latin typeface="Arial" panose="020B0604020202020204" pitchFamily="34" charset="0"/>
                </a:rPr>
                <a:t>存储</a:t>
              </a:r>
              <a:endParaRPr lang="zh-CN" altLang="en-US" sz="2200" b="1" kern="0" dirty="0">
                <a:solidFill>
                  <a:srgbClr val="000000"/>
                </a:solidFill>
                <a:latin typeface="Arial" panose="020B0604020202020204" pitchFamily="34" charset="0"/>
              </a:endParaRPr>
            </a:p>
          </p:txBody>
        </p:sp>
        <p:sp>
          <p:nvSpPr>
            <p:cNvPr id="117" name="矩形 16395"/>
            <p:cNvSpPr/>
            <p:nvPr/>
          </p:nvSpPr>
          <p:spPr>
            <a:xfrm>
              <a:off x="586" y="1965"/>
              <a:ext cx="851" cy="579"/>
            </a:xfrm>
            <a:prstGeom prst="rect">
              <a:avLst/>
            </a:prstGeom>
            <a:grpFill/>
            <a:ln w="28575" cap="flat" cmpd="sng">
              <a:solidFill>
                <a:srgbClr val="000000"/>
              </a:solidFill>
              <a:prstDash val="solid"/>
              <a:miter/>
              <a:headEnd type="none" w="med" len="med"/>
              <a:tailEnd type="none" w="med" len="med"/>
            </a:ln>
          </p:spPr>
          <p:txBody>
            <a:bodyPr wrap="none" anchor="ct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0" cap="none" spc="0" normalizeH="0" baseline="0" noProof="0" dirty="0">
                  <a:ln>
                    <a:noFill/>
                  </a:ln>
                  <a:solidFill>
                    <a:srgbClr val="000000"/>
                  </a:solidFill>
                  <a:effectLst/>
                  <a:uLnTx/>
                  <a:uFillTx/>
                  <a:latin typeface="Arial" panose="020B0604020202020204" pitchFamily="34" charset="0"/>
                </a:rPr>
                <a:t>化学制品</a:t>
              </a:r>
              <a:endParaRPr kumimoji="0" lang="zh-CN" altLang="en-US" sz="2200" b="1" i="0" u="none" strike="noStrike" kern="0" cap="none" spc="0" normalizeH="0" baseline="0" noProof="0" dirty="0">
                <a:ln>
                  <a:noFill/>
                </a:ln>
                <a:solidFill>
                  <a:srgbClr val="000000"/>
                </a:solidFill>
                <a:effectLst/>
                <a:uLnTx/>
                <a:uFillTx/>
                <a:latin typeface="Arial" panose="020B0604020202020204" pitchFamily="34" charset="0"/>
              </a:endParaRPr>
            </a:p>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0" cap="none" spc="0" normalizeH="0" baseline="0" noProof="0" dirty="0">
                  <a:ln>
                    <a:noFill/>
                  </a:ln>
                  <a:solidFill>
                    <a:srgbClr val="000000"/>
                  </a:solidFill>
                  <a:effectLst/>
                  <a:uLnTx/>
                  <a:uFillTx/>
                  <a:latin typeface="Arial" panose="020B0604020202020204" pitchFamily="34" charset="0"/>
                </a:rPr>
                <a:t>容器</a:t>
              </a:r>
              <a:endParaRPr kumimoji="0" lang="zh-CN" altLang="en-US" sz="2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18" name="菱形 16396"/>
            <p:cNvSpPr/>
            <p:nvPr/>
          </p:nvSpPr>
          <p:spPr>
            <a:xfrm>
              <a:off x="1728" y="1923"/>
              <a:ext cx="765" cy="765"/>
            </a:xfrm>
            <a:prstGeom prst="diamond">
              <a:avLst/>
            </a:prstGeom>
            <a:grpFill/>
            <a:ln w="2857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2200" b="1" kern="0" dirty="0">
                  <a:solidFill>
                    <a:srgbClr val="000000"/>
                  </a:solidFill>
                  <a:latin typeface="Arial" panose="020B0604020202020204" pitchFamily="34" charset="0"/>
                </a:rPr>
                <a:t>包含</a:t>
              </a:r>
              <a:endParaRPr lang="zh-CN" altLang="en-US" sz="2200" b="1" kern="0" dirty="0">
                <a:solidFill>
                  <a:srgbClr val="000000"/>
                </a:solidFill>
                <a:latin typeface="Arial" panose="020B0604020202020204" pitchFamily="34" charset="0"/>
              </a:endParaRPr>
            </a:p>
          </p:txBody>
        </p:sp>
        <p:sp>
          <p:nvSpPr>
            <p:cNvPr id="119" name="矩形 16397"/>
            <p:cNvSpPr/>
            <p:nvPr/>
          </p:nvSpPr>
          <p:spPr>
            <a:xfrm>
              <a:off x="2829" y="2064"/>
              <a:ext cx="768" cy="480"/>
            </a:xfrm>
            <a:prstGeom prst="rect">
              <a:avLst/>
            </a:prstGeom>
            <a:grpFill/>
            <a:ln w="2857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2200" b="1" kern="0" dirty="0">
                  <a:solidFill>
                    <a:srgbClr val="000000"/>
                  </a:solidFill>
                  <a:latin typeface="Arial" panose="020B0604020202020204" pitchFamily="34" charset="0"/>
                </a:rPr>
                <a:t>化学制品</a:t>
              </a:r>
              <a:endParaRPr lang="zh-CN" altLang="en-US" sz="2200" b="1" kern="0" dirty="0">
                <a:solidFill>
                  <a:srgbClr val="000000"/>
                </a:solidFill>
                <a:latin typeface="Arial" panose="020B0604020202020204" pitchFamily="34" charset="0"/>
              </a:endParaRPr>
            </a:p>
          </p:txBody>
        </p:sp>
        <p:sp>
          <p:nvSpPr>
            <p:cNvPr id="120" name="菱形 16398"/>
            <p:cNvSpPr/>
            <p:nvPr/>
          </p:nvSpPr>
          <p:spPr>
            <a:xfrm>
              <a:off x="3888" y="1920"/>
              <a:ext cx="765" cy="765"/>
            </a:xfrm>
            <a:prstGeom prst="diamond">
              <a:avLst/>
            </a:prstGeom>
            <a:grpFill/>
            <a:ln w="2857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2200" b="1" kern="0" dirty="0">
                  <a:solidFill>
                    <a:srgbClr val="000000"/>
                  </a:solidFill>
                  <a:latin typeface="Arial" panose="020B0604020202020204" pitchFamily="34" charset="0"/>
                </a:rPr>
                <a:t>描述</a:t>
              </a:r>
              <a:endParaRPr lang="zh-CN" altLang="en-US" sz="2200" b="1" kern="0" dirty="0">
                <a:solidFill>
                  <a:srgbClr val="000000"/>
                </a:solidFill>
                <a:latin typeface="Arial" panose="020B0604020202020204" pitchFamily="34" charset="0"/>
              </a:endParaRPr>
            </a:p>
          </p:txBody>
        </p:sp>
        <p:sp>
          <p:nvSpPr>
            <p:cNvPr id="121" name="矩形 16399"/>
            <p:cNvSpPr/>
            <p:nvPr/>
          </p:nvSpPr>
          <p:spPr>
            <a:xfrm>
              <a:off x="1725" y="2894"/>
              <a:ext cx="813" cy="562"/>
            </a:xfrm>
            <a:prstGeom prst="rect">
              <a:avLst/>
            </a:prstGeom>
            <a:grpFill/>
            <a:ln w="2857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2200" b="1" kern="0" dirty="0">
                  <a:solidFill>
                    <a:srgbClr val="000000"/>
                  </a:solidFill>
                  <a:latin typeface="Arial" panose="020B0604020202020204" pitchFamily="34" charset="0"/>
                </a:rPr>
                <a:t>容器历史</a:t>
              </a:r>
              <a:endParaRPr lang="zh-CN" altLang="en-US" sz="2200" b="1" kern="0" dirty="0">
                <a:solidFill>
                  <a:srgbClr val="000000"/>
                </a:solidFill>
                <a:latin typeface="Arial" panose="020B0604020202020204" pitchFamily="34" charset="0"/>
              </a:endParaRPr>
            </a:p>
            <a:p>
              <a:pPr algn="ctr" fontAlgn="base">
                <a:spcBef>
                  <a:spcPct val="0"/>
                </a:spcBef>
                <a:spcAft>
                  <a:spcPct val="0"/>
                </a:spcAft>
              </a:pPr>
              <a:r>
                <a:rPr lang="zh-CN" altLang="en-US" sz="2200" b="1" kern="0" dirty="0">
                  <a:solidFill>
                    <a:srgbClr val="000000"/>
                  </a:solidFill>
                  <a:latin typeface="Arial" panose="020B0604020202020204" pitchFamily="34" charset="0"/>
                </a:rPr>
                <a:t>记录</a:t>
              </a:r>
              <a:endParaRPr lang="zh-CN" altLang="en-US" sz="2200" b="1" kern="0" dirty="0">
                <a:solidFill>
                  <a:srgbClr val="000000"/>
                </a:solidFill>
                <a:latin typeface="Arial" panose="020B0604020202020204" pitchFamily="34" charset="0"/>
              </a:endParaRPr>
            </a:p>
          </p:txBody>
        </p:sp>
        <p:sp>
          <p:nvSpPr>
            <p:cNvPr id="122" name="矩形 16400"/>
            <p:cNvSpPr/>
            <p:nvPr/>
          </p:nvSpPr>
          <p:spPr>
            <a:xfrm>
              <a:off x="3885" y="2930"/>
              <a:ext cx="793" cy="526"/>
            </a:xfrm>
            <a:prstGeom prst="rect">
              <a:avLst/>
            </a:prstGeom>
            <a:grpFill/>
            <a:ln w="2857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2200" b="1" kern="0" dirty="0">
                  <a:solidFill>
                    <a:srgbClr val="000000"/>
                  </a:solidFill>
                  <a:latin typeface="Arial" panose="020B0604020202020204" pitchFamily="34" charset="0"/>
                </a:rPr>
                <a:t>供应商目</a:t>
              </a:r>
              <a:endParaRPr lang="zh-CN" altLang="en-US" sz="2200" b="1" kern="0" dirty="0">
                <a:solidFill>
                  <a:srgbClr val="000000"/>
                </a:solidFill>
                <a:latin typeface="Arial" panose="020B0604020202020204" pitchFamily="34" charset="0"/>
              </a:endParaRPr>
            </a:p>
            <a:p>
              <a:pPr algn="ctr" fontAlgn="base">
                <a:spcBef>
                  <a:spcPct val="0"/>
                </a:spcBef>
                <a:spcAft>
                  <a:spcPct val="0"/>
                </a:spcAft>
              </a:pPr>
              <a:r>
                <a:rPr lang="zh-CN" altLang="en-US" sz="2200" b="1" kern="0" dirty="0">
                  <a:solidFill>
                    <a:srgbClr val="000000"/>
                  </a:solidFill>
                  <a:latin typeface="Arial" panose="020B0604020202020204" pitchFamily="34" charset="0"/>
                </a:rPr>
                <a:t>录表</a:t>
              </a:r>
              <a:endParaRPr lang="zh-CN" altLang="en-US" sz="2200" b="1" kern="0" dirty="0">
                <a:solidFill>
                  <a:srgbClr val="000000"/>
                </a:solidFill>
                <a:latin typeface="Arial" panose="020B0604020202020204" pitchFamily="34" charset="0"/>
              </a:endParaRPr>
            </a:p>
          </p:txBody>
        </p:sp>
        <p:sp>
          <p:nvSpPr>
            <p:cNvPr id="123" name="菱形 16401"/>
            <p:cNvSpPr/>
            <p:nvPr/>
          </p:nvSpPr>
          <p:spPr>
            <a:xfrm>
              <a:off x="669" y="2832"/>
              <a:ext cx="765" cy="765"/>
            </a:xfrm>
            <a:prstGeom prst="diamond">
              <a:avLst/>
            </a:prstGeom>
            <a:grpFill/>
            <a:ln w="2857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2200" b="1" kern="0" dirty="0">
                  <a:solidFill>
                    <a:srgbClr val="000000"/>
                  </a:solidFill>
                  <a:latin typeface="Arial" panose="020B0604020202020204" pitchFamily="34" charset="0"/>
                </a:rPr>
                <a:t>跟踪</a:t>
              </a:r>
              <a:endParaRPr lang="zh-CN" altLang="en-US" sz="2200" b="1" kern="0" dirty="0">
                <a:solidFill>
                  <a:srgbClr val="000000"/>
                </a:solidFill>
                <a:latin typeface="Arial" panose="020B0604020202020204" pitchFamily="34" charset="0"/>
              </a:endParaRPr>
            </a:p>
          </p:txBody>
        </p:sp>
        <p:sp>
          <p:nvSpPr>
            <p:cNvPr id="124" name="直接连接符 16404"/>
            <p:cNvSpPr/>
            <p:nvPr/>
          </p:nvSpPr>
          <p:spPr>
            <a:xfrm flipH="1">
              <a:off x="1437" y="720"/>
              <a:ext cx="1296" cy="1344"/>
            </a:xfrm>
            <a:prstGeom prst="line">
              <a:avLst/>
            </a:prstGeom>
            <a:grpFill/>
            <a:ln w="28575" cap="flat" cmpd="sng">
              <a:solidFill>
                <a:srgbClr val="000000"/>
              </a:solidFill>
              <a:prstDash val="solid"/>
              <a:round/>
              <a:headEnd type="none" w="med" len="med"/>
              <a:tailEnd type="none" w="med" len="med"/>
            </a:ln>
          </p:spPr>
        </p:sp>
        <p:sp>
          <p:nvSpPr>
            <p:cNvPr id="125" name="菱形 16393"/>
            <p:cNvSpPr/>
            <p:nvPr/>
          </p:nvSpPr>
          <p:spPr>
            <a:xfrm>
              <a:off x="1725" y="960"/>
              <a:ext cx="765" cy="765"/>
            </a:xfrm>
            <a:prstGeom prst="diamond">
              <a:avLst/>
            </a:prstGeom>
            <a:grpFill/>
            <a:ln w="2857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2200" b="1" kern="0" dirty="0">
                  <a:solidFill>
                    <a:srgbClr val="000000"/>
                  </a:solidFill>
                  <a:latin typeface="Arial" panose="020B0604020202020204" pitchFamily="34" charset="0"/>
                </a:rPr>
                <a:t>执行</a:t>
              </a:r>
              <a:endParaRPr lang="zh-CN" altLang="en-US" sz="2200" b="1" kern="0" dirty="0">
                <a:solidFill>
                  <a:srgbClr val="000000"/>
                </a:solidFill>
                <a:latin typeface="Arial" panose="020B0604020202020204" pitchFamily="34" charset="0"/>
              </a:endParaRPr>
            </a:p>
          </p:txBody>
        </p:sp>
        <p:sp>
          <p:nvSpPr>
            <p:cNvPr id="126" name="直接连接符 16406"/>
            <p:cNvSpPr/>
            <p:nvPr/>
          </p:nvSpPr>
          <p:spPr>
            <a:xfrm>
              <a:off x="1437" y="3216"/>
              <a:ext cx="288" cy="0"/>
            </a:xfrm>
            <a:prstGeom prst="line">
              <a:avLst/>
            </a:prstGeom>
            <a:grpFill/>
            <a:ln w="28575" cap="flat" cmpd="sng">
              <a:solidFill>
                <a:srgbClr val="000000"/>
              </a:solidFill>
              <a:prstDash val="solid"/>
              <a:round/>
              <a:headEnd type="none" w="med" len="med"/>
              <a:tailEnd type="none" w="med" len="med"/>
            </a:ln>
          </p:spPr>
        </p:sp>
        <p:sp>
          <p:nvSpPr>
            <p:cNvPr id="127" name="直接连接符 16409"/>
            <p:cNvSpPr/>
            <p:nvPr/>
          </p:nvSpPr>
          <p:spPr>
            <a:xfrm>
              <a:off x="4269" y="2688"/>
              <a:ext cx="0" cy="288"/>
            </a:xfrm>
            <a:prstGeom prst="line">
              <a:avLst/>
            </a:prstGeom>
            <a:grpFill/>
            <a:ln w="28575" cap="flat" cmpd="sng">
              <a:solidFill>
                <a:srgbClr val="000000"/>
              </a:solidFill>
              <a:prstDash val="solid"/>
              <a:round/>
              <a:headEnd type="none" w="med" len="med"/>
              <a:tailEnd type="none" w="med" len="med"/>
            </a:ln>
          </p:spPr>
        </p:sp>
        <p:sp>
          <p:nvSpPr>
            <p:cNvPr id="128" name="文本框 16410"/>
            <p:cNvSpPr txBox="1"/>
            <p:nvPr/>
          </p:nvSpPr>
          <p:spPr>
            <a:xfrm>
              <a:off x="3527" y="214"/>
              <a:ext cx="274" cy="371"/>
            </a:xfrm>
            <a:prstGeom prst="rect">
              <a:avLst/>
            </a:prstGeom>
            <a:no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rPr>
                <a:t>M</a:t>
              </a:r>
              <a:endPar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29" name="文本框 16411"/>
            <p:cNvSpPr txBox="1"/>
            <p:nvPr/>
          </p:nvSpPr>
          <p:spPr>
            <a:xfrm>
              <a:off x="3168" y="720"/>
              <a:ext cx="274" cy="371"/>
            </a:xfrm>
            <a:prstGeom prst="rect">
              <a:avLst/>
            </a:prstGeom>
            <a:no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rPr>
                <a:t>M</a:t>
              </a:r>
              <a:endPar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30" name="文本框 16412"/>
            <p:cNvSpPr txBox="1"/>
            <p:nvPr/>
          </p:nvSpPr>
          <p:spPr>
            <a:xfrm>
              <a:off x="1488" y="1593"/>
              <a:ext cx="274" cy="371"/>
            </a:xfrm>
            <a:prstGeom prst="rect">
              <a:avLst/>
            </a:prstGeom>
            <a:no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rPr>
                <a:t>M</a:t>
              </a:r>
              <a:endPar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31" name="文本框 16413"/>
            <p:cNvSpPr txBox="1"/>
            <p:nvPr/>
          </p:nvSpPr>
          <p:spPr>
            <a:xfrm>
              <a:off x="1093" y="1656"/>
              <a:ext cx="274" cy="371"/>
            </a:xfrm>
            <a:prstGeom prst="rect">
              <a:avLst/>
            </a:prstGeom>
            <a:no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rPr>
                <a:t>M</a:t>
              </a:r>
              <a:endPar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32" name="文本框 16414"/>
            <p:cNvSpPr txBox="1"/>
            <p:nvPr/>
          </p:nvSpPr>
          <p:spPr>
            <a:xfrm>
              <a:off x="1485" y="2298"/>
              <a:ext cx="274" cy="371"/>
            </a:xfrm>
            <a:prstGeom prst="rect">
              <a:avLst/>
            </a:prstGeom>
            <a:no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rPr>
                <a:t>M</a:t>
              </a:r>
              <a:endPar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33" name="文本框 16415"/>
            <p:cNvSpPr txBox="1"/>
            <p:nvPr/>
          </p:nvSpPr>
          <p:spPr>
            <a:xfrm>
              <a:off x="3168" y="1776"/>
              <a:ext cx="274" cy="371"/>
            </a:xfrm>
            <a:prstGeom prst="rect">
              <a:avLst/>
            </a:prstGeom>
            <a:no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rPr>
                <a:t>M</a:t>
              </a:r>
              <a:endPar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34" name="文本框 16416"/>
            <p:cNvSpPr txBox="1"/>
            <p:nvPr/>
          </p:nvSpPr>
          <p:spPr>
            <a:xfrm>
              <a:off x="3664" y="1980"/>
              <a:ext cx="274" cy="371"/>
            </a:xfrm>
            <a:prstGeom prst="rect">
              <a:avLst/>
            </a:prstGeom>
            <a:no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rPr>
                <a:t>M</a:t>
              </a:r>
              <a:endPar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35" name="文本框 16417"/>
            <p:cNvSpPr txBox="1"/>
            <p:nvPr/>
          </p:nvSpPr>
          <p:spPr>
            <a:xfrm>
              <a:off x="4289" y="2609"/>
              <a:ext cx="274" cy="371"/>
            </a:xfrm>
            <a:prstGeom prst="rect">
              <a:avLst/>
            </a:prstGeom>
            <a:no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rPr>
                <a:t>M</a:t>
              </a:r>
              <a:endPar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36" name="文本框 16418"/>
            <p:cNvSpPr txBox="1"/>
            <p:nvPr/>
          </p:nvSpPr>
          <p:spPr>
            <a:xfrm>
              <a:off x="4516" y="214"/>
              <a:ext cx="223" cy="371"/>
            </a:xfrm>
            <a:prstGeom prst="rect">
              <a:avLst/>
            </a:prstGeom>
            <a:no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rPr>
                <a:t>1</a:t>
              </a:r>
              <a:endPar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37" name="文本框 16421"/>
            <p:cNvSpPr txBox="1"/>
            <p:nvPr/>
          </p:nvSpPr>
          <p:spPr>
            <a:xfrm>
              <a:off x="2540" y="2032"/>
              <a:ext cx="187" cy="231"/>
            </a:xfrm>
            <a:prstGeom prst="rect">
              <a:avLst/>
            </a:prstGeom>
            <a:no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0" cap="none" spc="0" normalizeH="0" baseline="0" noProof="0" dirty="0">
                  <a:ln>
                    <a:noFill/>
                  </a:ln>
                  <a:solidFill>
                    <a:srgbClr val="000000"/>
                  </a:solidFill>
                  <a:effectLst/>
                  <a:uLnTx/>
                  <a:uFillTx/>
                  <a:latin typeface="Arial" panose="020B0604020202020204" pitchFamily="34" charset="0"/>
                </a:rPr>
                <a:t>1</a:t>
              </a:r>
              <a:endParaRPr kumimoji="0" lang="en-US" altLang="zh-CN" sz="18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38" name="文本框 16422"/>
            <p:cNvSpPr txBox="1"/>
            <p:nvPr/>
          </p:nvSpPr>
          <p:spPr>
            <a:xfrm>
              <a:off x="2352" y="729"/>
              <a:ext cx="186" cy="231"/>
            </a:xfrm>
            <a:prstGeom prst="rect">
              <a:avLst/>
            </a:prstGeom>
            <a:no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0" cap="none" spc="0" normalizeH="0" baseline="0" noProof="0" dirty="0">
                  <a:ln>
                    <a:noFill/>
                  </a:ln>
                  <a:solidFill>
                    <a:srgbClr val="000000"/>
                  </a:solidFill>
                  <a:effectLst/>
                  <a:uLnTx/>
                  <a:uFillTx/>
                  <a:latin typeface="Arial" panose="020B0604020202020204" pitchFamily="34" charset="0"/>
                </a:rPr>
                <a:t>1</a:t>
              </a:r>
              <a:endParaRPr kumimoji="0" lang="en-US" altLang="zh-CN" sz="18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39" name="文本框 16423"/>
            <p:cNvSpPr txBox="1"/>
            <p:nvPr/>
          </p:nvSpPr>
          <p:spPr>
            <a:xfrm>
              <a:off x="1056" y="729"/>
              <a:ext cx="223" cy="371"/>
            </a:xfrm>
            <a:prstGeom prst="rect">
              <a:avLst/>
            </a:prstGeom>
            <a:no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rPr>
                <a:t>1</a:t>
              </a:r>
              <a:endPar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40" name="文本框 16424"/>
            <p:cNvSpPr txBox="1"/>
            <p:nvPr/>
          </p:nvSpPr>
          <p:spPr>
            <a:xfrm>
              <a:off x="1056" y="2553"/>
              <a:ext cx="223" cy="371"/>
            </a:xfrm>
            <a:prstGeom prst="rect">
              <a:avLst/>
            </a:prstGeom>
            <a:no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rPr>
                <a:t>1</a:t>
              </a:r>
              <a:endPar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41" name="文本框 16425"/>
            <p:cNvSpPr txBox="1"/>
            <p:nvPr/>
          </p:nvSpPr>
          <p:spPr>
            <a:xfrm>
              <a:off x="1461" y="2906"/>
              <a:ext cx="223" cy="371"/>
            </a:xfrm>
            <a:prstGeom prst="rect">
              <a:avLst/>
            </a:prstGeom>
            <a:no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rPr>
                <a:t>1</a:t>
              </a:r>
              <a:endPar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endParaRPr>
            </a:p>
          </p:txBody>
        </p:sp>
      </p:grpSp>
      <p:sp>
        <p:nvSpPr>
          <p:cNvPr id="53" name="文本框 52"/>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44" name="文本框 67"/>
          <p:cNvSpPr>
            <a:spLocks noChangeArrowheads="1"/>
          </p:cNvSpPr>
          <p:nvPr/>
        </p:nvSpPr>
        <p:spPr bwMode="auto">
          <a:xfrm>
            <a:off x="660400" y="76010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）实体</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关系图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45" name="矩形 44"/>
          <p:cNvSpPr/>
          <p:nvPr/>
        </p:nvSpPr>
        <p:spPr>
          <a:xfrm>
            <a:off x="1634836" y="1539113"/>
            <a:ext cx="8968509" cy="4769323"/>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67"/>
          <p:cNvSpPr>
            <a:spLocks noChangeArrowheads="1"/>
          </p:cNvSpPr>
          <p:nvPr/>
        </p:nvSpPr>
        <p:spPr bwMode="auto">
          <a:xfrm>
            <a:off x="3924300" y="1329863"/>
            <a:ext cx="4720788" cy="430887"/>
          </a:xfrm>
          <a:prstGeom prst="rect">
            <a:avLst/>
          </a:prstGeom>
          <a:solidFill>
            <a:schemeClr val="bg1"/>
          </a:solidFill>
          <a:ln>
            <a:solidFill>
              <a:srgbClr val="FF0000"/>
            </a:solidFill>
          </a:ln>
        </p:spPr>
        <p:txBody>
          <a:bodyPr wrap="square">
            <a:spAutoFit/>
          </a:bodyPr>
          <a:lstStyle/>
          <a:p>
            <a:pPr lvl="0" fontAlgn="base">
              <a:spcBef>
                <a:spcPct val="0"/>
              </a:spcBef>
              <a:spcAft>
                <a:spcPct val="0"/>
              </a:spcAft>
              <a:defRPr/>
            </a:pPr>
            <a:r>
              <a:rPr lang="zh-CN" altLang="en-US" sz="2200" b="1" kern="0" dirty="0">
                <a:solidFill>
                  <a:srgbClr val="FF0000"/>
                </a:solidFill>
                <a:latin typeface="宋体" panose="02010600030101010101" pitchFamily="2" charset="-122"/>
                <a:sym typeface="宋体" panose="02010600030101010101" pitchFamily="2" charset="-122"/>
              </a:rPr>
              <a:t>“化学制品跟踪系统”的实体联系图</a:t>
            </a:r>
            <a:endParaRPr lang="zh-CN" altLang="en-US" sz="2200" b="1" kern="0" dirty="0">
              <a:solidFill>
                <a:srgbClr val="FF0000"/>
              </a:solidFill>
              <a:latin typeface="宋体" panose="02010600030101010101" pitchFamily="2" charset="-122"/>
              <a:ea typeface="宋体" panose="02010600030101010101" pitchFamily="2" charset="-122"/>
              <a:sym typeface="宋体" panose="02010600030101010101" pitchFamily="2" charset="-122"/>
            </a:endParaRPr>
          </a:p>
        </p:txBody>
      </p:sp>
      <p:sp>
        <p:nvSpPr>
          <p:cNvPr id="2" name="日期占位符 1"/>
          <p:cNvSpPr>
            <a:spLocks noGrp="1"/>
          </p:cNvSpPr>
          <p:nvPr>
            <p:ph type="dt" sz="half" idx="10"/>
          </p:nvPr>
        </p:nvSpPr>
        <p:spPr/>
        <p:txBody>
          <a:bodyPr/>
          <a:lstStyle/>
          <a:p>
            <a:pPr>
              <a:defRPr/>
            </a:pPr>
            <a:fld id="{35474B4C-EB0A-49E6-AE9E-7E05F7FED3A4}"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p:tgtEl>
                                          <p:spTgt spid="44"/>
                                        </p:tgtEl>
                                        <p:attrNameLst>
                                          <p:attrName>ppt_x</p:attrName>
                                        </p:attrNameLst>
                                      </p:cBhvr>
                                      <p:tavLst>
                                        <p:tav tm="0">
                                          <p:val>
                                            <p:strVal val="#ppt_x+#ppt_w*1.125000"/>
                                          </p:val>
                                        </p:tav>
                                        <p:tav tm="100000">
                                          <p:val>
                                            <p:strVal val="#ppt_x"/>
                                          </p:val>
                                        </p:tav>
                                      </p:tavLst>
                                    </p:anim>
                                    <p:animEffect transition="in" filter="wipe(left)">
                                      <p:cBhvr>
                                        <p:cTn id="8" dur="500"/>
                                        <p:tgtEl>
                                          <p:spTgt spid="44"/>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0" animBg="1"/>
      <p:bldP spid="4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31" name="文本框 130"/>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 name="矩形: 圆角 1"/>
          <p:cNvSpPr/>
          <p:nvPr/>
        </p:nvSpPr>
        <p:spPr>
          <a:xfrm>
            <a:off x="901697" y="2622272"/>
            <a:ext cx="10449791" cy="678640"/>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dirty="0">
                <a:solidFill>
                  <a:schemeClr val="tx1"/>
                </a:solidFill>
                <a:latin typeface="+mn-ea"/>
              </a:rPr>
              <a:t>1</a:t>
            </a:r>
            <a:r>
              <a:rPr lang="zh-CN" altLang="en-US" sz="2200" b="1" dirty="0">
                <a:solidFill>
                  <a:schemeClr val="tx1"/>
                </a:solidFill>
                <a:latin typeface="+mn-ea"/>
              </a:rPr>
              <a:t>）上图仅仅描述了“化学制品跟踪系统”实体</a:t>
            </a:r>
            <a:r>
              <a:rPr lang="en-US" altLang="zh-CN" sz="2200" b="1" dirty="0">
                <a:solidFill>
                  <a:schemeClr val="tx1"/>
                </a:solidFill>
                <a:latin typeface="+mn-ea"/>
              </a:rPr>
              <a:t>-</a:t>
            </a:r>
            <a:r>
              <a:rPr lang="zh-CN" altLang="en-US" sz="2200" b="1" dirty="0">
                <a:solidFill>
                  <a:schemeClr val="tx1"/>
                </a:solidFill>
                <a:latin typeface="+mn-ea"/>
              </a:rPr>
              <a:t>关系图的一部分</a:t>
            </a:r>
            <a:endParaRPr lang="zh-CN" altLang="en-US" sz="2200" b="1" dirty="0">
              <a:solidFill>
                <a:schemeClr val="tx1"/>
              </a:solidFill>
              <a:latin typeface="+mn-ea"/>
            </a:endParaRPr>
          </a:p>
        </p:txBody>
      </p:sp>
      <p:sp>
        <p:nvSpPr>
          <p:cNvPr id="132" name="矩形: 圆角 131"/>
          <p:cNvSpPr/>
          <p:nvPr/>
        </p:nvSpPr>
        <p:spPr>
          <a:xfrm>
            <a:off x="698500" y="2350286"/>
            <a:ext cx="10795000" cy="3875023"/>
          </a:xfrm>
          <a:prstGeom prst="round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en-US" altLang="zh-CN" sz="2200" b="1" dirty="0">
              <a:solidFill>
                <a:schemeClr val="tx1"/>
              </a:solidFill>
              <a:latin typeface="微软雅黑" panose="020B0503020204020204" pitchFamily="34" charset="-122"/>
              <a:ea typeface="微软雅黑" panose="020B0503020204020204" pitchFamily="34" charset="-122"/>
            </a:endParaRPr>
          </a:p>
        </p:txBody>
      </p:sp>
      <p:sp>
        <p:nvSpPr>
          <p:cNvPr id="133" name="矩形: 圆角 132"/>
          <p:cNvSpPr/>
          <p:nvPr/>
        </p:nvSpPr>
        <p:spPr>
          <a:xfrm>
            <a:off x="901697" y="4293875"/>
            <a:ext cx="10443596" cy="74922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dirty="0">
                <a:solidFill>
                  <a:schemeClr val="tx1"/>
                </a:solidFill>
                <a:latin typeface="+mn-ea"/>
              </a:rPr>
              <a:t>3</a:t>
            </a:r>
            <a:r>
              <a:rPr lang="zh-CN" altLang="en-US" sz="2200" b="1" dirty="0">
                <a:solidFill>
                  <a:schemeClr val="tx1"/>
                </a:solidFill>
                <a:latin typeface="+mn-ea"/>
              </a:rPr>
              <a:t>）其它一些实体代表与系统交互的操作员</a:t>
            </a:r>
            <a:r>
              <a:rPr lang="en-US" altLang="zh-CN" sz="2200" b="1" dirty="0">
                <a:solidFill>
                  <a:schemeClr val="tx1"/>
                </a:solidFill>
                <a:latin typeface="+mn-ea"/>
              </a:rPr>
              <a:t>(</a:t>
            </a:r>
            <a:r>
              <a:rPr lang="zh-CN" altLang="en-US" sz="2200" b="1" dirty="0">
                <a:solidFill>
                  <a:schemeClr val="tx1"/>
                </a:solidFill>
                <a:latin typeface="+mn-ea"/>
              </a:rPr>
              <a:t>请求者</a:t>
            </a:r>
            <a:r>
              <a:rPr lang="en-US" altLang="zh-CN" sz="2200" b="1" dirty="0">
                <a:solidFill>
                  <a:schemeClr val="tx1"/>
                </a:solidFill>
                <a:latin typeface="+mn-ea"/>
              </a:rPr>
              <a:t>)</a:t>
            </a:r>
            <a:endParaRPr lang="zh-CN" altLang="en-US" sz="2200" b="1" dirty="0">
              <a:solidFill>
                <a:schemeClr val="tx1"/>
              </a:solidFill>
              <a:latin typeface="+mn-ea"/>
            </a:endParaRPr>
          </a:p>
        </p:txBody>
      </p:sp>
      <p:sp>
        <p:nvSpPr>
          <p:cNvPr id="11"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）实体</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关系图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12" name="矩形: 圆角 11"/>
          <p:cNvSpPr/>
          <p:nvPr/>
        </p:nvSpPr>
        <p:spPr>
          <a:xfrm>
            <a:off x="703243" y="1649483"/>
            <a:ext cx="10790256" cy="64008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rgbClr val="FF0000"/>
                </a:solidFill>
                <a:latin typeface="+mj-ea"/>
                <a:ea typeface="+mj-ea"/>
              </a:rPr>
              <a:t>实体</a:t>
            </a:r>
            <a:r>
              <a:rPr lang="en-US" altLang="zh-CN" sz="2200" b="1" dirty="0">
                <a:solidFill>
                  <a:srgbClr val="FF0000"/>
                </a:solidFill>
                <a:latin typeface="+mj-ea"/>
                <a:ea typeface="+mj-ea"/>
              </a:rPr>
              <a:t>-</a:t>
            </a:r>
            <a:r>
              <a:rPr lang="zh-CN" altLang="en-US" sz="2200" b="1" dirty="0">
                <a:solidFill>
                  <a:srgbClr val="FF0000"/>
                </a:solidFill>
                <a:latin typeface="+mj-ea"/>
                <a:ea typeface="+mj-ea"/>
              </a:rPr>
              <a:t>关系图与数据流图的关系：</a:t>
            </a:r>
            <a:endParaRPr lang="zh-CN" altLang="en-US" sz="2200" b="1" dirty="0">
              <a:solidFill>
                <a:srgbClr val="FF0000"/>
              </a:solidFill>
              <a:latin typeface="+mj-ea"/>
              <a:ea typeface="+mj-ea"/>
            </a:endParaRPr>
          </a:p>
        </p:txBody>
      </p:sp>
      <p:sp>
        <p:nvSpPr>
          <p:cNvPr id="13" name="矩形: 圆角 12"/>
          <p:cNvSpPr/>
          <p:nvPr/>
        </p:nvSpPr>
        <p:spPr>
          <a:xfrm>
            <a:off x="901697" y="5203662"/>
            <a:ext cx="10443596" cy="749224"/>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dirty="0">
                <a:solidFill>
                  <a:schemeClr val="tx1"/>
                </a:solidFill>
                <a:latin typeface="+mn-ea"/>
              </a:rPr>
              <a:t>4</a:t>
            </a:r>
            <a:r>
              <a:rPr lang="zh-CN" altLang="en-US" sz="2200" b="1" dirty="0">
                <a:solidFill>
                  <a:schemeClr val="tx1"/>
                </a:solidFill>
                <a:latin typeface="+mn-ea"/>
              </a:rPr>
              <a:t>）业务运转中一部分物理项</a:t>
            </a:r>
            <a:r>
              <a:rPr lang="en-US" altLang="zh-CN" sz="2200" b="1" dirty="0">
                <a:solidFill>
                  <a:schemeClr val="tx1"/>
                </a:solidFill>
                <a:latin typeface="+mn-ea"/>
              </a:rPr>
              <a:t>(</a:t>
            </a:r>
            <a:r>
              <a:rPr lang="zh-CN" altLang="en-US" sz="2200" b="1" dirty="0">
                <a:solidFill>
                  <a:schemeClr val="tx1"/>
                </a:solidFill>
                <a:latin typeface="+mn-ea"/>
              </a:rPr>
              <a:t>化学制品容器</a:t>
            </a:r>
            <a:r>
              <a:rPr lang="en-US" altLang="zh-CN" sz="2200" b="1" dirty="0">
                <a:solidFill>
                  <a:schemeClr val="tx1"/>
                </a:solidFill>
                <a:latin typeface="+mn-ea"/>
              </a:rPr>
              <a:t>)</a:t>
            </a:r>
            <a:r>
              <a:rPr lang="zh-CN" altLang="en-US" sz="2200" b="1" dirty="0">
                <a:solidFill>
                  <a:schemeClr val="tx1"/>
                </a:solidFill>
                <a:latin typeface="+mn-ea"/>
              </a:rPr>
              <a:t>、数据块等，并不出现在</a:t>
            </a:r>
            <a:r>
              <a:rPr lang="en-US" altLang="zh-CN" sz="2200" b="1" dirty="0">
                <a:solidFill>
                  <a:schemeClr val="tx1"/>
                </a:solidFill>
                <a:latin typeface="+mn-ea"/>
              </a:rPr>
              <a:t>0</a:t>
            </a:r>
            <a:r>
              <a:rPr lang="zh-CN" altLang="en-US" sz="2200" b="1" dirty="0">
                <a:solidFill>
                  <a:schemeClr val="tx1"/>
                </a:solidFill>
                <a:latin typeface="+mn-ea"/>
              </a:rPr>
              <a:t>层数据流图中，但将出现在一个更低层的数据流图中</a:t>
            </a:r>
            <a:r>
              <a:rPr lang="en-US" altLang="zh-CN" sz="2200" b="1" dirty="0">
                <a:solidFill>
                  <a:schemeClr val="tx1"/>
                </a:solidFill>
                <a:latin typeface="+mn-ea"/>
              </a:rPr>
              <a:t>(</a:t>
            </a:r>
            <a:r>
              <a:rPr lang="zh-CN" altLang="en-US" sz="2200" b="1" dirty="0">
                <a:solidFill>
                  <a:schemeClr val="tx1"/>
                </a:solidFill>
                <a:latin typeface="+mn-ea"/>
              </a:rPr>
              <a:t>容器的历史记录，化学制品</a:t>
            </a:r>
            <a:r>
              <a:rPr lang="en-US" altLang="zh-CN" sz="2200" b="1" dirty="0">
                <a:solidFill>
                  <a:schemeClr val="tx1"/>
                </a:solidFill>
                <a:latin typeface="+mn-ea"/>
              </a:rPr>
              <a:t>)</a:t>
            </a:r>
            <a:endParaRPr lang="zh-CN" altLang="en-US" sz="2200" b="1" dirty="0">
              <a:solidFill>
                <a:schemeClr val="tx1"/>
              </a:solidFill>
              <a:latin typeface="+mn-ea"/>
            </a:endParaRPr>
          </a:p>
        </p:txBody>
      </p:sp>
      <p:sp>
        <p:nvSpPr>
          <p:cNvPr id="14" name="矩形: 圆角 13"/>
          <p:cNvSpPr/>
          <p:nvPr/>
        </p:nvSpPr>
        <p:spPr>
          <a:xfrm>
            <a:off x="901697" y="3465494"/>
            <a:ext cx="10449791" cy="678640"/>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dirty="0">
                <a:solidFill>
                  <a:schemeClr val="tx1"/>
                </a:solidFill>
                <a:latin typeface="+mn-ea"/>
              </a:rPr>
              <a:t>2</a:t>
            </a:r>
            <a:r>
              <a:rPr lang="zh-CN" altLang="en-US" sz="2200" b="1" dirty="0">
                <a:solidFill>
                  <a:schemeClr val="tx1"/>
                </a:solidFill>
                <a:latin typeface="+mn-ea"/>
              </a:rPr>
              <a:t>）被命名为</a:t>
            </a:r>
            <a:r>
              <a:rPr lang="zh-CN" altLang="en-US" sz="2200" b="1" dirty="0">
                <a:solidFill>
                  <a:srgbClr val="0000FF"/>
                </a:solidFill>
                <a:latin typeface="+mn-ea"/>
              </a:rPr>
              <a:t>化学制品请求</a:t>
            </a:r>
            <a:r>
              <a:rPr lang="zh-CN" altLang="en-US" sz="2200" b="1" dirty="0">
                <a:solidFill>
                  <a:schemeClr val="tx1"/>
                </a:solidFill>
                <a:latin typeface="+mn-ea"/>
              </a:rPr>
              <a:t>、</a:t>
            </a:r>
            <a:r>
              <a:rPr lang="zh-CN" altLang="en-US" sz="2200" b="1" dirty="0">
                <a:solidFill>
                  <a:srgbClr val="0000FF"/>
                </a:solidFill>
                <a:latin typeface="+mn-ea"/>
              </a:rPr>
              <a:t>供应商目录表</a:t>
            </a:r>
            <a:r>
              <a:rPr lang="zh-CN" altLang="en-US" sz="2200" b="1" dirty="0">
                <a:solidFill>
                  <a:schemeClr val="tx1"/>
                </a:solidFill>
                <a:latin typeface="+mn-ea"/>
              </a:rPr>
              <a:t>和</a:t>
            </a:r>
            <a:r>
              <a:rPr lang="zh-CN" altLang="en-US" sz="2200" b="1" dirty="0">
                <a:solidFill>
                  <a:srgbClr val="0000FF"/>
                </a:solidFill>
                <a:latin typeface="+mn-ea"/>
              </a:rPr>
              <a:t>化学制品仓库存货清单</a:t>
            </a:r>
            <a:r>
              <a:rPr lang="zh-CN" altLang="en-US" sz="2200" b="1" dirty="0">
                <a:solidFill>
                  <a:schemeClr val="tx1"/>
                </a:solidFill>
                <a:latin typeface="+mn-ea"/>
              </a:rPr>
              <a:t>的实体在“化学制品跟踪系统”</a:t>
            </a:r>
            <a:r>
              <a:rPr lang="en-US" altLang="zh-CN" sz="2200" b="1" dirty="0">
                <a:solidFill>
                  <a:schemeClr val="tx1"/>
                </a:solidFill>
                <a:latin typeface="+mn-ea"/>
              </a:rPr>
              <a:t>0</a:t>
            </a:r>
            <a:r>
              <a:rPr lang="zh-CN" altLang="en-US" sz="2200" b="1" dirty="0">
                <a:solidFill>
                  <a:schemeClr val="tx1"/>
                </a:solidFill>
                <a:latin typeface="+mn-ea"/>
              </a:rPr>
              <a:t>层数据流图中是</a:t>
            </a:r>
            <a:r>
              <a:rPr lang="zh-CN" altLang="en-US" sz="2200" b="1" dirty="0">
                <a:solidFill>
                  <a:srgbClr val="0000FF"/>
                </a:solidFill>
                <a:latin typeface="+mn-ea"/>
              </a:rPr>
              <a:t>作为数据存储</a:t>
            </a:r>
            <a:r>
              <a:rPr lang="zh-CN" altLang="en-US" sz="2200" b="1" dirty="0">
                <a:solidFill>
                  <a:schemeClr val="tx1"/>
                </a:solidFill>
                <a:latin typeface="+mn-ea"/>
              </a:rPr>
              <a:t>出现的</a:t>
            </a:r>
            <a:endParaRPr lang="zh-CN" altLang="en-US" sz="2200" b="1" dirty="0">
              <a:solidFill>
                <a:schemeClr val="tx1"/>
              </a:solidFill>
              <a:latin typeface="+mn-ea"/>
            </a:endParaRPr>
          </a:p>
        </p:txBody>
      </p:sp>
      <p:sp>
        <p:nvSpPr>
          <p:cNvPr id="3" name="日期占位符 2"/>
          <p:cNvSpPr>
            <a:spLocks noGrp="1"/>
          </p:cNvSpPr>
          <p:nvPr>
            <p:ph type="dt" sz="half" idx="10"/>
          </p:nvPr>
        </p:nvSpPr>
        <p:spPr/>
        <p:txBody>
          <a:bodyPr/>
          <a:lstStyle/>
          <a:p>
            <a:pPr>
              <a:defRPr/>
            </a:pPr>
            <a:fld id="{FB05B830-8999-4F55-B7C2-FAF54F8A4567}"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b="1" smtClean="0">
                <a:solidFill>
                  <a:prstClr val="black">
                    <a:tint val="75000"/>
                  </a:prstClr>
                </a:solidFill>
              </a:rPr>
            </a:fld>
            <a:endParaRPr lang="zh-CN" altLang="en-US" b="1" dirty="0" smtClean="0">
              <a:solidFill>
                <a:prstClr val="black">
                  <a:tint val="75000"/>
                </a:prstClr>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p:tgtEl>
                                          <p:spTgt spid="11"/>
                                        </p:tgtEl>
                                        <p:attrNameLst>
                                          <p:attrName>ppt_x</p:attrName>
                                        </p:attrNameLst>
                                      </p:cBhvr>
                                      <p:tavLst>
                                        <p:tav tm="0">
                                          <p:val>
                                            <p:strVal val="#ppt_x+#ppt_w*1.125000"/>
                                          </p:val>
                                        </p:tav>
                                        <p:tav tm="100000">
                                          <p:val>
                                            <p:strVal val="#ppt_x"/>
                                          </p:val>
                                        </p:tav>
                                      </p:tavLst>
                                    </p:anim>
                                    <p:animEffect transition="in" filter="wipe(left)">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32" grpId="0" animBg="1"/>
      <p:bldP spid="133" grpId="0" animBg="1"/>
      <p:bldP spid="11" grpId="0"/>
      <p:bldP spid="12" grpId="0"/>
      <p:bldP spid="13" grpId="0" animBg="1"/>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5"/>
          <p:cNvGrpSpPr/>
          <p:nvPr/>
        </p:nvGrpSpPr>
        <p:grpSpPr>
          <a:xfrm>
            <a:off x="108557" y="337632"/>
            <a:ext cx="525184" cy="422276"/>
            <a:chOff x="5075564" y="2933562"/>
            <a:chExt cx="2860947" cy="2302753"/>
          </a:xfrm>
        </p:grpSpPr>
        <p:sp>
          <p:nvSpPr>
            <p:cNvPr id="21" name="等腰三角形 2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22" name="等腰三角形 2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grpSp>
        <p:nvGrpSpPr>
          <p:cNvPr id="17" name="组合 16"/>
          <p:cNvGrpSpPr/>
          <p:nvPr/>
        </p:nvGrpSpPr>
        <p:grpSpPr>
          <a:xfrm flipH="1">
            <a:off x="476828" y="2620576"/>
            <a:ext cx="1632532" cy="1118645"/>
            <a:chOff x="1452167" y="2228059"/>
            <a:chExt cx="3790057" cy="1505668"/>
          </a:xfrm>
        </p:grpSpPr>
        <p:grpSp>
          <p:nvGrpSpPr>
            <p:cNvPr id="23" name="Group 38"/>
            <p:cNvGrpSpPr/>
            <p:nvPr/>
          </p:nvGrpSpPr>
          <p:grpSpPr>
            <a:xfrm>
              <a:off x="1452167" y="2228059"/>
              <a:ext cx="3790057" cy="1505668"/>
              <a:chOff x="1033079" y="1841591"/>
              <a:chExt cx="4132094" cy="1641549"/>
            </a:xfrm>
            <a:effectLst/>
          </p:grpSpPr>
          <p:sp>
            <p:nvSpPr>
              <p:cNvPr id="32" name="Arrow: Right 39"/>
              <p:cNvSpPr/>
              <p:nvPr/>
            </p:nvSpPr>
            <p:spPr>
              <a:xfrm rot="10800000">
                <a:off x="1033079" y="1841591"/>
                <a:ext cx="3705726" cy="164154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p>
            </p:txBody>
          </p:sp>
          <p:sp>
            <p:nvSpPr>
              <p:cNvPr id="33" name="Oval 40"/>
              <p:cNvSpPr/>
              <p:nvPr/>
            </p:nvSpPr>
            <p:spPr>
              <a:xfrm>
                <a:off x="4346784" y="2250566"/>
                <a:ext cx="818389" cy="818388"/>
              </a:xfrm>
              <a:prstGeom prst="ellipse">
                <a:avLst/>
              </a:prstGeom>
              <a:solidFill>
                <a:schemeClr val="accent1"/>
              </a:solidFill>
              <a:ln w="41275">
                <a:noFill/>
              </a:ln>
              <a:effectLst/>
            </p:spPr>
            <p:style>
              <a:lnRef idx="1">
                <a:schemeClr val="accent1"/>
              </a:lnRef>
              <a:fillRef idx="3">
                <a:schemeClr val="accent1"/>
              </a:fillRef>
              <a:effectRef idx="2">
                <a:schemeClr val="accent1"/>
              </a:effectRef>
              <a:fontRef idx="minor">
                <a:schemeClr val="lt1"/>
              </a:fontRef>
            </p:style>
            <p:txBody>
              <a:bodyPr wrap="none" anchor="ctr">
                <a:normAutofit fontScale="72500"/>
              </a:bodyPr>
              <a:lstStyle/>
              <a:p>
                <a:r>
                  <a:rPr lang="en-US" sz="2400" b="1" dirty="0">
                    <a:solidFill>
                      <a:srgbClr val="FFFFFF"/>
                    </a:solidFill>
                  </a:rPr>
                  <a:t>01</a:t>
                </a:r>
                <a:endParaRPr lang="en-US" sz="2400" b="1" dirty="0">
                  <a:solidFill>
                    <a:srgbClr val="FFFFFF"/>
                  </a:solidFill>
                </a:endParaRPr>
              </a:p>
            </p:txBody>
          </p:sp>
        </p:grpSp>
        <p:grpSp>
          <p:nvGrpSpPr>
            <p:cNvPr id="24" name="Group 45"/>
            <p:cNvGrpSpPr/>
            <p:nvPr/>
          </p:nvGrpSpPr>
          <p:grpSpPr bwMode="auto">
            <a:xfrm>
              <a:off x="1814006" y="2750912"/>
              <a:ext cx="414276" cy="414277"/>
              <a:chOff x="0" y="0"/>
              <a:chExt cx="575" cy="575"/>
            </a:xfrm>
            <a:solidFill>
              <a:srgbClr val="FFFFFF"/>
            </a:solidFill>
            <a:effectLst/>
          </p:grpSpPr>
          <p:sp>
            <p:nvSpPr>
              <p:cNvPr id="30" name="Freeform: Shape 46"/>
              <p:cNvSpPr/>
              <p:nvPr/>
            </p:nvSpPr>
            <p:spPr bwMode="auto">
              <a:xfrm>
                <a:off x="360" y="0"/>
                <a:ext cx="215" cy="21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w 21600"/>
                  <a:gd name="T35" fmla="*/ 0 h 21600"/>
                  <a:gd name="T36" fmla="*/ 0 w 21600"/>
                  <a:gd name="T37" fmla="*/ 0 h 21600"/>
                  <a:gd name="T38" fmla="*/ 0 w 21600"/>
                  <a:gd name="T39" fmla="*/ 0 h 21600"/>
                  <a:gd name="T40" fmla="*/ 0 w 21600"/>
                  <a:gd name="T41" fmla="*/ 0 h 21600"/>
                  <a:gd name="T42" fmla="*/ 0 w 21600"/>
                  <a:gd name="T43" fmla="*/ 0 h 21600"/>
                  <a:gd name="T44" fmla="*/ 0 w 21600"/>
                  <a:gd name="T45" fmla="*/ 0 h 21600"/>
                  <a:gd name="T46" fmla="*/ 0 w 21600"/>
                  <a:gd name="T47" fmla="*/ 0 h 21600"/>
                  <a:gd name="T48" fmla="*/ 0 w 21600"/>
                  <a:gd name="T49" fmla="*/ 0 h 21600"/>
                  <a:gd name="T50" fmla="*/ 0 w 21600"/>
                  <a:gd name="T51" fmla="*/ 0 h 21600"/>
                  <a:gd name="T52" fmla="*/ 0 w 21600"/>
                  <a:gd name="T53" fmla="*/ 0 h 21600"/>
                  <a:gd name="T54" fmla="*/ 0 w 21600"/>
                  <a:gd name="T55" fmla="*/ 0 h 21600"/>
                  <a:gd name="T56" fmla="*/ 0 w 21600"/>
                  <a:gd name="T57" fmla="*/ 0 h 21600"/>
                  <a:gd name="T58" fmla="*/ 0 w 21600"/>
                  <a:gd name="T59" fmla="*/ 0 h 21600"/>
                  <a:gd name="T60" fmla="*/ 0 w 21600"/>
                  <a:gd name="T61" fmla="*/ 0 h 21600"/>
                  <a:gd name="T62" fmla="*/ 0 w 21600"/>
                  <a:gd name="T63" fmla="*/ 0 h 21600"/>
                  <a:gd name="T64" fmla="*/ 0 w 21600"/>
                  <a:gd name="T65" fmla="*/ 0 h 21600"/>
                  <a:gd name="T66" fmla="*/ 0 w 21600"/>
                  <a:gd name="T67" fmla="*/ 0 h 21600"/>
                  <a:gd name="T68" fmla="*/ 0 w 21600"/>
                  <a:gd name="T69" fmla="*/ 0 h 21600"/>
                  <a:gd name="T70" fmla="*/ 0 w 21600"/>
                  <a:gd name="T71" fmla="*/ 0 h 21600"/>
                  <a:gd name="T72" fmla="*/ 0 w 21600"/>
                  <a:gd name="T73" fmla="*/ 0 h 21600"/>
                  <a:gd name="T74" fmla="*/ 0 w 21600"/>
                  <a:gd name="T75" fmla="*/ 0 h 21600"/>
                  <a:gd name="T76" fmla="*/ 0 w 21600"/>
                  <a:gd name="T77" fmla="*/ 0 h 21600"/>
                  <a:gd name="T78" fmla="*/ 0 w 21600"/>
                  <a:gd name="T79" fmla="*/ 0 h 21600"/>
                  <a:gd name="T80" fmla="*/ 0 w 21600"/>
                  <a:gd name="T81" fmla="*/ 0 h 21600"/>
                  <a:gd name="T82" fmla="*/ 0 w 21600"/>
                  <a:gd name="T83" fmla="*/ 0 h 21600"/>
                  <a:gd name="T84" fmla="*/ 0 w 21600"/>
                  <a:gd name="T85" fmla="*/ 0 h 21600"/>
                  <a:gd name="T86" fmla="*/ 0 w 21600"/>
                  <a:gd name="T87" fmla="*/ 0 h 21600"/>
                  <a:gd name="T88" fmla="*/ 0 w 21600"/>
                  <a:gd name="T89" fmla="*/ 0 h 21600"/>
                  <a:gd name="T90" fmla="*/ 0 w 21600"/>
                  <a:gd name="T91" fmla="*/ 0 h 21600"/>
                  <a:gd name="T92" fmla="*/ 0 w 21600"/>
                  <a:gd name="T93" fmla="*/ 0 h 21600"/>
                  <a:gd name="T94" fmla="*/ 0 w 21600"/>
                  <a:gd name="T95" fmla="*/ 0 h 21600"/>
                  <a:gd name="T96" fmla="*/ 0 w 21600"/>
                  <a:gd name="T97" fmla="*/ 0 h 21600"/>
                  <a:gd name="T98" fmla="*/ 0 w 21600"/>
                  <a:gd name="T99" fmla="*/ 0 h 21600"/>
                  <a:gd name="T100" fmla="*/ 0 w 21600"/>
                  <a:gd name="T101" fmla="*/ 0 h 21600"/>
                  <a:gd name="T102" fmla="*/ 0 w 21600"/>
                  <a:gd name="T103" fmla="*/ 0 h 21600"/>
                  <a:gd name="T104" fmla="*/ 0 w 21600"/>
                  <a:gd name="T105" fmla="*/ 0 h 21600"/>
                  <a:gd name="T106" fmla="*/ 0 w 21600"/>
                  <a:gd name="T107" fmla="*/ 0 h 21600"/>
                  <a:gd name="T108" fmla="*/ 0 w 21600"/>
                  <a:gd name="T109" fmla="*/ 0 h 2160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1600" h="21600">
                    <a:moveTo>
                      <a:pt x="21031" y="8861"/>
                    </a:moveTo>
                    <a:lnTo>
                      <a:pt x="17805" y="8267"/>
                    </a:lnTo>
                    <a:cubicBezTo>
                      <a:pt x="17492" y="8210"/>
                      <a:pt x="17382" y="7947"/>
                      <a:pt x="17559" y="7682"/>
                    </a:cubicBezTo>
                    <a:lnTo>
                      <a:pt x="19409" y="4939"/>
                    </a:lnTo>
                    <a:cubicBezTo>
                      <a:pt x="19588" y="4676"/>
                      <a:pt x="19549" y="4276"/>
                      <a:pt x="19324" y="4051"/>
                    </a:cubicBezTo>
                    <a:lnTo>
                      <a:pt x="17549" y="2276"/>
                    </a:lnTo>
                    <a:cubicBezTo>
                      <a:pt x="17324" y="2052"/>
                      <a:pt x="16924" y="2013"/>
                      <a:pt x="16661" y="2191"/>
                    </a:cubicBezTo>
                    <a:lnTo>
                      <a:pt x="13918" y="4042"/>
                    </a:lnTo>
                    <a:cubicBezTo>
                      <a:pt x="13654" y="4220"/>
                      <a:pt x="13391" y="4109"/>
                      <a:pt x="13333" y="3796"/>
                    </a:cubicBezTo>
                    <a:lnTo>
                      <a:pt x="12739" y="569"/>
                    </a:lnTo>
                    <a:cubicBezTo>
                      <a:pt x="12681" y="255"/>
                      <a:pt x="12374" y="0"/>
                      <a:pt x="12056" y="0"/>
                    </a:cubicBezTo>
                    <a:lnTo>
                      <a:pt x="9545" y="0"/>
                    </a:lnTo>
                    <a:cubicBezTo>
                      <a:pt x="9227" y="0"/>
                      <a:pt x="8919" y="255"/>
                      <a:pt x="8861" y="569"/>
                    </a:cubicBezTo>
                    <a:lnTo>
                      <a:pt x="8267" y="3796"/>
                    </a:lnTo>
                    <a:cubicBezTo>
                      <a:pt x="8210" y="4109"/>
                      <a:pt x="7947" y="4219"/>
                      <a:pt x="7682" y="4041"/>
                    </a:cubicBezTo>
                    <a:lnTo>
                      <a:pt x="4939" y="2191"/>
                    </a:lnTo>
                    <a:cubicBezTo>
                      <a:pt x="4676" y="2013"/>
                      <a:pt x="4276" y="2052"/>
                      <a:pt x="4051" y="2276"/>
                    </a:cubicBezTo>
                    <a:lnTo>
                      <a:pt x="2276" y="4051"/>
                    </a:lnTo>
                    <a:cubicBezTo>
                      <a:pt x="2051" y="4277"/>
                      <a:pt x="2012" y="4677"/>
                      <a:pt x="2191" y="4939"/>
                    </a:cubicBezTo>
                    <a:lnTo>
                      <a:pt x="4041" y="7682"/>
                    </a:lnTo>
                    <a:cubicBezTo>
                      <a:pt x="4220" y="7946"/>
                      <a:pt x="4108" y="8209"/>
                      <a:pt x="3796" y="8267"/>
                    </a:cubicBezTo>
                    <a:lnTo>
                      <a:pt x="569" y="8861"/>
                    </a:lnTo>
                    <a:cubicBezTo>
                      <a:pt x="255" y="8919"/>
                      <a:pt x="0" y="9226"/>
                      <a:pt x="0" y="9545"/>
                    </a:cubicBezTo>
                    <a:lnTo>
                      <a:pt x="0" y="12055"/>
                    </a:lnTo>
                    <a:cubicBezTo>
                      <a:pt x="0" y="12373"/>
                      <a:pt x="255" y="12681"/>
                      <a:pt x="569" y="12739"/>
                    </a:cubicBezTo>
                    <a:lnTo>
                      <a:pt x="3796" y="13333"/>
                    </a:lnTo>
                    <a:cubicBezTo>
                      <a:pt x="4110" y="13390"/>
                      <a:pt x="4219" y="13653"/>
                      <a:pt x="4042" y="13917"/>
                    </a:cubicBezTo>
                    <a:lnTo>
                      <a:pt x="2191" y="16661"/>
                    </a:lnTo>
                    <a:cubicBezTo>
                      <a:pt x="2012" y="16925"/>
                      <a:pt x="2051" y="17324"/>
                      <a:pt x="2276" y="17549"/>
                    </a:cubicBezTo>
                    <a:lnTo>
                      <a:pt x="4051" y="19324"/>
                    </a:lnTo>
                    <a:cubicBezTo>
                      <a:pt x="4276" y="19549"/>
                      <a:pt x="4676" y="19589"/>
                      <a:pt x="4939" y="19410"/>
                    </a:cubicBezTo>
                    <a:lnTo>
                      <a:pt x="7682" y="17559"/>
                    </a:lnTo>
                    <a:cubicBezTo>
                      <a:pt x="7946" y="17381"/>
                      <a:pt x="8209" y="17492"/>
                      <a:pt x="8267" y="17804"/>
                    </a:cubicBezTo>
                    <a:lnTo>
                      <a:pt x="8861" y="21031"/>
                    </a:lnTo>
                    <a:cubicBezTo>
                      <a:pt x="8919" y="21345"/>
                      <a:pt x="9226" y="21600"/>
                      <a:pt x="9545" y="21600"/>
                    </a:cubicBezTo>
                    <a:lnTo>
                      <a:pt x="12056" y="21600"/>
                    </a:lnTo>
                    <a:cubicBezTo>
                      <a:pt x="12374" y="21600"/>
                      <a:pt x="12681" y="21345"/>
                      <a:pt x="12739" y="21031"/>
                    </a:cubicBezTo>
                    <a:lnTo>
                      <a:pt x="13333" y="17804"/>
                    </a:lnTo>
                    <a:cubicBezTo>
                      <a:pt x="13390" y="17492"/>
                      <a:pt x="13653" y="17382"/>
                      <a:pt x="13918" y="17559"/>
                    </a:cubicBezTo>
                    <a:lnTo>
                      <a:pt x="16661" y="19410"/>
                    </a:lnTo>
                    <a:cubicBezTo>
                      <a:pt x="16924" y="19589"/>
                      <a:pt x="17324" y="19549"/>
                      <a:pt x="17549" y="19324"/>
                    </a:cubicBezTo>
                    <a:lnTo>
                      <a:pt x="19324" y="17551"/>
                    </a:lnTo>
                    <a:cubicBezTo>
                      <a:pt x="19549" y="17324"/>
                      <a:pt x="19588" y="16925"/>
                      <a:pt x="19409" y="16661"/>
                    </a:cubicBezTo>
                    <a:lnTo>
                      <a:pt x="17559" y="13917"/>
                    </a:lnTo>
                    <a:cubicBezTo>
                      <a:pt x="17380" y="13654"/>
                      <a:pt x="17491" y="13391"/>
                      <a:pt x="17804" y="13333"/>
                    </a:cubicBezTo>
                    <a:lnTo>
                      <a:pt x="21031" y="12739"/>
                    </a:lnTo>
                    <a:cubicBezTo>
                      <a:pt x="21344" y="12681"/>
                      <a:pt x="21600" y="12374"/>
                      <a:pt x="21600" y="12055"/>
                    </a:cubicBezTo>
                    <a:lnTo>
                      <a:pt x="21600" y="9545"/>
                    </a:lnTo>
                    <a:cubicBezTo>
                      <a:pt x="21600" y="9227"/>
                      <a:pt x="21344" y="8919"/>
                      <a:pt x="21031" y="8861"/>
                    </a:cubicBezTo>
                    <a:close/>
                    <a:moveTo>
                      <a:pt x="10826" y="14160"/>
                    </a:moveTo>
                    <a:cubicBezTo>
                      <a:pt x="8974" y="14160"/>
                      <a:pt x="7473" y="12659"/>
                      <a:pt x="7473" y="10807"/>
                    </a:cubicBezTo>
                    <a:cubicBezTo>
                      <a:pt x="7473" y="8956"/>
                      <a:pt x="8974" y="7456"/>
                      <a:pt x="10826" y="7456"/>
                    </a:cubicBezTo>
                    <a:cubicBezTo>
                      <a:pt x="12677" y="7456"/>
                      <a:pt x="14178" y="8956"/>
                      <a:pt x="14178" y="10807"/>
                    </a:cubicBezTo>
                    <a:cubicBezTo>
                      <a:pt x="14178" y="12659"/>
                      <a:pt x="12677" y="14160"/>
                      <a:pt x="10826" y="14160"/>
                    </a:cubicBezTo>
                    <a:close/>
                    <a:moveTo>
                      <a:pt x="10826" y="14160"/>
                    </a:moveTo>
                  </a:path>
                </a:pathLst>
              </a:custGeom>
              <a:grpFill/>
              <a:ln>
                <a:noFill/>
              </a:ln>
            </p:spPr>
            <p:txBody>
              <a:bodyPr anchor="ctr"/>
              <a:lstStyle/>
              <a:p>
                <a:pPr algn="ctr"/>
                <a:endParaRPr b="1"/>
              </a:p>
            </p:txBody>
          </p:sp>
          <p:sp>
            <p:nvSpPr>
              <p:cNvPr id="31" name="Freeform: Shape 47"/>
              <p:cNvSpPr/>
              <p:nvPr/>
            </p:nvSpPr>
            <p:spPr bwMode="auto">
              <a:xfrm>
                <a:off x="0" y="143"/>
                <a:ext cx="431" cy="43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w 21600"/>
                  <a:gd name="T35" fmla="*/ 0 h 21600"/>
                  <a:gd name="T36" fmla="*/ 0 w 21600"/>
                  <a:gd name="T37" fmla="*/ 0 h 21600"/>
                  <a:gd name="T38" fmla="*/ 0 w 21600"/>
                  <a:gd name="T39" fmla="*/ 0 h 21600"/>
                  <a:gd name="T40" fmla="*/ 0 w 21600"/>
                  <a:gd name="T41" fmla="*/ 0 h 21600"/>
                  <a:gd name="T42" fmla="*/ 0 w 21600"/>
                  <a:gd name="T43" fmla="*/ 0 h 21600"/>
                  <a:gd name="T44" fmla="*/ 0 w 21600"/>
                  <a:gd name="T45" fmla="*/ 0 h 21600"/>
                  <a:gd name="T46" fmla="*/ 0 w 21600"/>
                  <a:gd name="T47" fmla="*/ 0 h 21600"/>
                  <a:gd name="T48" fmla="*/ 0 w 21600"/>
                  <a:gd name="T49" fmla="*/ 0 h 21600"/>
                  <a:gd name="T50" fmla="*/ 0 w 21600"/>
                  <a:gd name="T51" fmla="*/ 0 h 21600"/>
                  <a:gd name="T52" fmla="*/ 0 w 21600"/>
                  <a:gd name="T53" fmla="*/ 0 h 21600"/>
                  <a:gd name="T54" fmla="*/ 0 w 21600"/>
                  <a:gd name="T55" fmla="*/ 0 h 21600"/>
                  <a:gd name="T56" fmla="*/ 0 w 21600"/>
                  <a:gd name="T57" fmla="*/ 0 h 21600"/>
                  <a:gd name="T58" fmla="*/ 0 w 21600"/>
                  <a:gd name="T59" fmla="*/ 0 h 21600"/>
                  <a:gd name="T60" fmla="*/ 0 w 21600"/>
                  <a:gd name="T61" fmla="*/ 0 h 21600"/>
                  <a:gd name="T62" fmla="*/ 0 w 21600"/>
                  <a:gd name="T63" fmla="*/ 0 h 21600"/>
                  <a:gd name="T64" fmla="*/ 0 w 21600"/>
                  <a:gd name="T65" fmla="*/ 0 h 21600"/>
                  <a:gd name="T66" fmla="*/ 0 w 21600"/>
                  <a:gd name="T67" fmla="*/ 0 h 21600"/>
                  <a:gd name="T68" fmla="*/ 0 w 21600"/>
                  <a:gd name="T69" fmla="*/ 0 h 21600"/>
                  <a:gd name="T70" fmla="*/ 0 w 21600"/>
                  <a:gd name="T71" fmla="*/ 0 h 21600"/>
                  <a:gd name="T72" fmla="*/ 0 w 21600"/>
                  <a:gd name="T73" fmla="*/ 0 h 21600"/>
                  <a:gd name="T74" fmla="*/ 0 w 21600"/>
                  <a:gd name="T75" fmla="*/ 0 h 21600"/>
                  <a:gd name="T76" fmla="*/ 0 w 21600"/>
                  <a:gd name="T77" fmla="*/ 0 h 21600"/>
                  <a:gd name="T78" fmla="*/ 0 w 21600"/>
                  <a:gd name="T79" fmla="*/ 0 h 21600"/>
                  <a:gd name="T80" fmla="*/ 0 w 21600"/>
                  <a:gd name="T81" fmla="*/ 0 h 21600"/>
                  <a:gd name="T82" fmla="*/ 0 w 21600"/>
                  <a:gd name="T83" fmla="*/ 0 h 21600"/>
                  <a:gd name="T84" fmla="*/ 0 w 21600"/>
                  <a:gd name="T85" fmla="*/ 0 h 21600"/>
                  <a:gd name="T86" fmla="*/ 0 w 21600"/>
                  <a:gd name="T87" fmla="*/ 0 h 21600"/>
                  <a:gd name="T88" fmla="*/ 0 w 21600"/>
                  <a:gd name="T89" fmla="*/ 0 h 21600"/>
                  <a:gd name="T90" fmla="*/ 0 w 21600"/>
                  <a:gd name="T91" fmla="*/ 0 h 21600"/>
                  <a:gd name="T92" fmla="*/ 0 w 21600"/>
                  <a:gd name="T93" fmla="*/ 0 h 21600"/>
                  <a:gd name="T94" fmla="*/ 0 w 21600"/>
                  <a:gd name="T95" fmla="*/ 0 h 21600"/>
                  <a:gd name="T96" fmla="*/ 0 w 21600"/>
                  <a:gd name="T97" fmla="*/ 0 h 21600"/>
                  <a:gd name="T98" fmla="*/ 0 w 21600"/>
                  <a:gd name="T99" fmla="*/ 0 h 21600"/>
                  <a:gd name="T100" fmla="*/ 0 w 21600"/>
                  <a:gd name="T101" fmla="*/ 0 h 21600"/>
                  <a:gd name="T102" fmla="*/ 0 w 21600"/>
                  <a:gd name="T103" fmla="*/ 0 h 21600"/>
                  <a:gd name="T104" fmla="*/ 0 w 21600"/>
                  <a:gd name="T105" fmla="*/ 0 h 21600"/>
                  <a:gd name="T106" fmla="*/ 0 w 21600"/>
                  <a:gd name="T107" fmla="*/ 0 h 21600"/>
                  <a:gd name="T108" fmla="*/ 0 w 21600"/>
                  <a:gd name="T109" fmla="*/ 0 h 2160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1600" h="21600">
                    <a:moveTo>
                      <a:pt x="21032" y="8862"/>
                    </a:moveTo>
                    <a:lnTo>
                      <a:pt x="17805" y="8267"/>
                    </a:lnTo>
                    <a:cubicBezTo>
                      <a:pt x="17492" y="8210"/>
                      <a:pt x="17382" y="7947"/>
                      <a:pt x="17560" y="7684"/>
                    </a:cubicBezTo>
                    <a:lnTo>
                      <a:pt x="19410" y="4940"/>
                    </a:lnTo>
                    <a:cubicBezTo>
                      <a:pt x="19588" y="4676"/>
                      <a:pt x="19550" y="4276"/>
                      <a:pt x="19324" y="4051"/>
                    </a:cubicBezTo>
                    <a:lnTo>
                      <a:pt x="17549" y="2276"/>
                    </a:lnTo>
                    <a:cubicBezTo>
                      <a:pt x="17324" y="2051"/>
                      <a:pt x="16924" y="2013"/>
                      <a:pt x="16661" y="2191"/>
                    </a:cubicBezTo>
                    <a:lnTo>
                      <a:pt x="13917" y="4041"/>
                    </a:lnTo>
                    <a:cubicBezTo>
                      <a:pt x="13653" y="4219"/>
                      <a:pt x="13390" y="4108"/>
                      <a:pt x="13332" y="3796"/>
                    </a:cubicBezTo>
                    <a:lnTo>
                      <a:pt x="12739" y="569"/>
                    </a:lnTo>
                    <a:cubicBezTo>
                      <a:pt x="12681" y="256"/>
                      <a:pt x="12374" y="0"/>
                      <a:pt x="12055" y="0"/>
                    </a:cubicBezTo>
                    <a:lnTo>
                      <a:pt x="9545" y="0"/>
                    </a:lnTo>
                    <a:cubicBezTo>
                      <a:pt x="9226" y="0"/>
                      <a:pt x="8919" y="256"/>
                      <a:pt x="8861" y="569"/>
                    </a:cubicBezTo>
                    <a:lnTo>
                      <a:pt x="8268" y="3796"/>
                    </a:lnTo>
                    <a:cubicBezTo>
                      <a:pt x="8210" y="4108"/>
                      <a:pt x="7947" y="4219"/>
                      <a:pt x="7683" y="4041"/>
                    </a:cubicBezTo>
                    <a:lnTo>
                      <a:pt x="4940" y="2191"/>
                    </a:lnTo>
                    <a:cubicBezTo>
                      <a:pt x="4676" y="2013"/>
                      <a:pt x="4276" y="2051"/>
                      <a:pt x="4051" y="2276"/>
                    </a:cubicBezTo>
                    <a:lnTo>
                      <a:pt x="2276" y="4051"/>
                    </a:lnTo>
                    <a:cubicBezTo>
                      <a:pt x="2051" y="4276"/>
                      <a:pt x="2012" y="4677"/>
                      <a:pt x="2190" y="4940"/>
                    </a:cubicBezTo>
                    <a:lnTo>
                      <a:pt x="4040" y="7684"/>
                    </a:lnTo>
                    <a:cubicBezTo>
                      <a:pt x="4218" y="7947"/>
                      <a:pt x="4108" y="8210"/>
                      <a:pt x="3795" y="8267"/>
                    </a:cubicBezTo>
                    <a:lnTo>
                      <a:pt x="568" y="8862"/>
                    </a:lnTo>
                    <a:cubicBezTo>
                      <a:pt x="256" y="8920"/>
                      <a:pt x="0" y="9227"/>
                      <a:pt x="0" y="9545"/>
                    </a:cubicBezTo>
                    <a:lnTo>
                      <a:pt x="0" y="12055"/>
                    </a:lnTo>
                    <a:cubicBezTo>
                      <a:pt x="0" y="12374"/>
                      <a:pt x="256" y="12681"/>
                      <a:pt x="568" y="12738"/>
                    </a:cubicBezTo>
                    <a:lnTo>
                      <a:pt x="3796" y="13333"/>
                    </a:lnTo>
                    <a:cubicBezTo>
                      <a:pt x="4108" y="13391"/>
                      <a:pt x="4219" y="13654"/>
                      <a:pt x="4041" y="13917"/>
                    </a:cubicBezTo>
                    <a:lnTo>
                      <a:pt x="2190" y="16661"/>
                    </a:lnTo>
                    <a:cubicBezTo>
                      <a:pt x="2012" y="16924"/>
                      <a:pt x="2050" y="17324"/>
                      <a:pt x="2276" y="17549"/>
                    </a:cubicBezTo>
                    <a:lnTo>
                      <a:pt x="4051" y="19324"/>
                    </a:lnTo>
                    <a:cubicBezTo>
                      <a:pt x="4276" y="19549"/>
                      <a:pt x="4676" y="19588"/>
                      <a:pt x="4940" y="19410"/>
                    </a:cubicBezTo>
                    <a:lnTo>
                      <a:pt x="7683" y="17560"/>
                    </a:lnTo>
                    <a:cubicBezTo>
                      <a:pt x="7947" y="17382"/>
                      <a:pt x="8210" y="17493"/>
                      <a:pt x="8268" y="17805"/>
                    </a:cubicBezTo>
                    <a:lnTo>
                      <a:pt x="8861" y="21031"/>
                    </a:lnTo>
                    <a:cubicBezTo>
                      <a:pt x="8919" y="21344"/>
                      <a:pt x="9226" y="21600"/>
                      <a:pt x="9545" y="21600"/>
                    </a:cubicBezTo>
                    <a:lnTo>
                      <a:pt x="12055" y="21600"/>
                    </a:lnTo>
                    <a:cubicBezTo>
                      <a:pt x="12374" y="21600"/>
                      <a:pt x="12681" y="21344"/>
                      <a:pt x="12739" y="21031"/>
                    </a:cubicBezTo>
                    <a:lnTo>
                      <a:pt x="13332" y="17805"/>
                    </a:lnTo>
                    <a:cubicBezTo>
                      <a:pt x="13390" y="17492"/>
                      <a:pt x="13653" y="17381"/>
                      <a:pt x="13917" y="17560"/>
                    </a:cubicBezTo>
                    <a:lnTo>
                      <a:pt x="16661" y="19410"/>
                    </a:lnTo>
                    <a:cubicBezTo>
                      <a:pt x="16924" y="19588"/>
                      <a:pt x="17324" y="19550"/>
                      <a:pt x="17549" y="19324"/>
                    </a:cubicBezTo>
                    <a:lnTo>
                      <a:pt x="19324" y="17550"/>
                    </a:lnTo>
                    <a:cubicBezTo>
                      <a:pt x="19549" y="17324"/>
                      <a:pt x="19588" y="16924"/>
                      <a:pt x="19410" y="16661"/>
                    </a:cubicBezTo>
                    <a:lnTo>
                      <a:pt x="17559" y="13917"/>
                    </a:lnTo>
                    <a:cubicBezTo>
                      <a:pt x="17381" y="13654"/>
                      <a:pt x="17492" y="13391"/>
                      <a:pt x="17804" y="13333"/>
                    </a:cubicBezTo>
                    <a:lnTo>
                      <a:pt x="21032" y="12738"/>
                    </a:lnTo>
                    <a:cubicBezTo>
                      <a:pt x="21344" y="12681"/>
                      <a:pt x="21600" y="12374"/>
                      <a:pt x="21600" y="12055"/>
                    </a:cubicBezTo>
                    <a:lnTo>
                      <a:pt x="21600" y="9545"/>
                    </a:lnTo>
                    <a:cubicBezTo>
                      <a:pt x="21600" y="9227"/>
                      <a:pt x="21344" y="8920"/>
                      <a:pt x="21032" y="8862"/>
                    </a:cubicBezTo>
                    <a:close/>
                    <a:moveTo>
                      <a:pt x="10799" y="14712"/>
                    </a:moveTo>
                    <a:cubicBezTo>
                      <a:pt x="8643" y="14712"/>
                      <a:pt x="6896" y="12964"/>
                      <a:pt x="6896" y="10809"/>
                    </a:cubicBezTo>
                    <a:cubicBezTo>
                      <a:pt x="6896" y="8654"/>
                      <a:pt x="8643" y="6907"/>
                      <a:pt x="10799" y="6907"/>
                    </a:cubicBezTo>
                    <a:cubicBezTo>
                      <a:pt x="12954" y="6907"/>
                      <a:pt x="14701" y="8654"/>
                      <a:pt x="14701" y="10809"/>
                    </a:cubicBezTo>
                    <a:cubicBezTo>
                      <a:pt x="14701" y="12964"/>
                      <a:pt x="12954" y="14712"/>
                      <a:pt x="10799" y="14712"/>
                    </a:cubicBezTo>
                    <a:close/>
                    <a:moveTo>
                      <a:pt x="10799" y="14712"/>
                    </a:moveTo>
                  </a:path>
                </a:pathLst>
              </a:custGeom>
              <a:grpFill/>
              <a:ln>
                <a:noFill/>
              </a:ln>
            </p:spPr>
            <p:txBody>
              <a:bodyPr anchor="ctr"/>
              <a:lstStyle/>
              <a:p>
                <a:pPr algn="ctr"/>
                <a:endParaRPr b="1"/>
              </a:p>
            </p:txBody>
          </p:sp>
        </p:grpSp>
      </p:grpSp>
      <p:grpSp>
        <p:nvGrpSpPr>
          <p:cNvPr id="2" name="组合 1"/>
          <p:cNvGrpSpPr/>
          <p:nvPr/>
        </p:nvGrpSpPr>
        <p:grpSpPr>
          <a:xfrm>
            <a:off x="473652" y="5015690"/>
            <a:ext cx="1632239" cy="1103552"/>
            <a:chOff x="1250061" y="4273120"/>
            <a:chExt cx="2383155" cy="1505668"/>
          </a:xfrm>
        </p:grpSpPr>
        <p:grpSp>
          <p:nvGrpSpPr>
            <p:cNvPr id="34" name="Group 41"/>
            <p:cNvGrpSpPr/>
            <p:nvPr/>
          </p:nvGrpSpPr>
          <p:grpSpPr>
            <a:xfrm>
              <a:off x="1250061" y="4273120"/>
              <a:ext cx="2383155" cy="1505668"/>
              <a:chOff x="7203266" y="3825303"/>
              <a:chExt cx="4555150" cy="1641549"/>
            </a:xfrm>
            <a:solidFill>
              <a:schemeClr val="bg1">
                <a:lumMod val="65000"/>
              </a:schemeClr>
            </a:solidFill>
            <a:effectLst/>
          </p:grpSpPr>
          <p:sp>
            <p:nvSpPr>
              <p:cNvPr id="35" name="Arrow: Right 42"/>
              <p:cNvSpPr/>
              <p:nvPr/>
            </p:nvSpPr>
            <p:spPr>
              <a:xfrm>
                <a:off x="7635595" y="3825303"/>
                <a:ext cx="4122821" cy="1641549"/>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p>
            </p:txBody>
          </p:sp>
          <p:sp>
            <p:nvSpPr>
              <p:cNvPr id="36" name="Oval 43"/>
              <p:cNvSpPr/>
              <p:nvPr/>
            </p:nvSpPr>
            <p:spPr>
              <a:xfrm>
                <a:off x="7203266" y="4236883"/>
                <a:ext cx="818388" cy="818388"/>
              </a:xfrm>
              <a:prstGeom prst="ellipse">
                <a:avLst/>
              </a:prstGeom>
              <a:solidFill>
                <a:schemeClr val="accent6"/>
              </a:solidFill>
              <a:ln w="41275">
                <a:noFill/>
              </a:ln>
              <a:effectLst/>
            </p:spPr>
            <p:style>
              <a:lnRef idx="1">
                <a:schemeClr val="accent1"/>
              </a:lnRef>
              <a:fillRef idx="3">
                <a:schemeClr val="accent1"/>
              </a:fillRef>
              <a:effectRef idx="2">
                <a:schemeClr val="accent1"/>
              </a:effectRef>
              <a:fontRef idx="minor">
                <a:schemeClr val="lt1"/>
              </a:fontRef>
            </p:style>
            <p:txBody>
              <a:bodyPr wrap="none" anchor="ctr">
                <a:normAutofit fontScale="72500"/>
              </a:bodyPr>
              <a:lstStyle/>
              <a:p>
                <a:pPr algn="ctr"/>
                <a:r>
                  <a:rPr lang="en-US" sz="2400" b="1" dirty="0">
                    <a:solidFill>
                      <a:srgbClr val="FFFFFF"/>
                    </a:solidFill>
                  </a:rPr>
                  <a:t>02</a:t>
                </a:r>
                <a:endParaRPr lang="en-US" sz="2400" b="1" dirty="0">
                  <a:solidFill>
                    <a:srgbClr val="FFFFFF"/>
                  </a:solidFill>
                </a:endParaRPr>
              </a:p>
            </p:txBody>
          </p:sp>
        </p:grpSp>
        <p:grpSp>
          <p:nvGrpSpPr>
            <p:cNvPr id="37" name="Group 48"/>
            <p:cNvGrpSpPr/>
            <p:nvPr/>
          </p:nvGrpSpPr>
          <p:grpSpPr bwMode="auto">
            <a:xfrm>
              <a:off x="2953550" y="4837101"/>
              <a:ext cx="334828" cy="414277"/>
              <a:chOff x="0" y="0"/>
              <a:chExt cx="464" cy="573"/>
            </a:xfrm>
            <a:solidFill>
              <a:srgbClr val="FFFFFF"/>
            </a:solidFill>
            <a:effectLst/>
          </p:grpSpPr>
          <p:sp>
            <p:nvSpPr>
              <p:cNvPr id="38" name="Freeform: Shape 49"/>
              <p:cNvSpPr/>
              <p:nvPr/>
            </p:nvSpPr>
            <p:spPr bwMode="auto">
              <a:xfrm>
                <a:off x="88" y="24"/>
                <a:ext cx="376" cy="322"/>
              </a:xfrm>
              <a:custGeom>
                <a:avLst/>
                <a:gdLst>
                  <a:gd name="T0" fmla="*/ 0 w 21115"/>
                  <a:gd name="T1" fmla="*/ 0 h 18556"/>
                  <a:gd name="T2" fmla="*/ 0 w 21115"/>
                  <a:gd name="T3" fmla="*/ 0 h 18556"/>
                  <a:gd name="T4" fmla="*/ 0 w 21115"/>
                  <a:gd name="T5" fmla="*/ 0 h 18556"/>
                  <a:gd name="T6" fmla="*/ 0 w 21115"/>
                  <a:gd name="T7" fmla="*/ 0 h 18556"/>
                  <a:gd name="T8" fmla="*/ 0 w 21115"/>
                  <a:gd name="T9" fmla="*/ 0 h 18556"/>
                  <a:gd name="T10" fmla="*/ 0 w 21115"/>
                  <a:gd name="T11" fmla="*/ 0 h 18556"/>
                  <a:gd name="T12" fmla="*/ 0 w 21115"/>
                  <a:gd name="T13" fmla="*/ 0 h 18556"/>
                  <a:gd name="T14" fmla="*/ 0 w 21115"/>
                  <a:gd name="T15" fmla="*/ 0 h 18556"/>
                  <a:gd name="T16" fmla="*/ 0 w 21115"/>
                  <a:gd name="T17" fmla="*/ 0 h 18556"/>
                  <a:gd name="T18" fmla="*/ 0 w 21115"/>
                  <a:gd name="T19" fmla="*/ 0 h 18556"/>
                  <a:gd name="T20" fmla="*/ 0 w 21115"/>
                  <a:gd name="T21" fmla="*/ 0 h 1855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115" h="18556">
                    <a:moveTo>
                      <a:pt x="20779" y="3635"/>
                    </a:moveTo>
                    <a:cubicBezTo>
                      <a:pt x="20779" y="3635"/>
                      <a:pt x="16054" y="3835"/>
                      <a:pt x="13538" y="4151"/>
                    </a:cubicBezTo>
                    <a:cubicBezTo>
                      <a:pt x="12114" y="4330"/>
                      <a:pt x="13006" y="1476"/>
                      <a:pt x="13006" y="911"/>
                    </a:cubicBezTo>
                    <a:cubicBezTo>
                      <a:pt x="13006" y="-1684"/>
                      <a:pt x="0" y="2094"/>
                      <a:pt x="0" y="2094"/>
                    </a:cubicBezTo>
                    <a:lnTo>
                      <a:pt x="0" y="17384"/>
                    </a:lnTo>
                    <a:cubicBezTo>
                      <a:pt x="0" y="17384"/>
                      <a:pt x="988" y="17824"/>
                      <a:pt x="2373" y="17286"/>
                    </a:cubicBezTo>
                    <a:cubicBezTo>
                      <a:pt x="5889" y="15919"/>
                      <a:pt x="11968" y="13959"/>
                      <a:pt x="10988" y="17189"/>
                    </a:cubicBezTo>
                    <a:cubicBezTo>
                      <a:pt x="10160" y="19916"/>
                      <a:pt x="20491" y="17722"/>
                      <a:pt x="20491" y="17722"/>
                    </a:cubicBezTo>
                    <a:cubicBezTo>
                      <a:pt x="20491" y="17722"/>
                      <a:pt x="19749" y="12037"/>
                      <a:pt x="20675" y="8735"/>
                    </a:cubicBezTo>
                    <a:cubicBezTo>
                      <a:pt x="21600" y="5433"/>
                      <a:pt x="20779" y="3635"/>
                      <a:pt x="20779" y="3635"/>
                    </a:cubicBezTo>
                    <a:close/>
                    <a:moveTo>
                      <a:pt x="20779" y="3635"/>
                    </a:moveTo>
                  </a:path>
                </a:pathLst>
              </a:custGeom>
              <a:grpFill/>
              <a:ln>
                <a:noFill/>
              </a:ln>
            </p:spPr>
            <p:txBody>
              <a:bodyPr anchor="ctr"/>
              <a:lstStyle/>
              <a:p>
                <a:pPr algn="ctr"/>
                <a:endParaRPr b="1" dirty="0"/>
              </a:p>
            </p:txBody>
          </p:sp>
          <p:sp>
            <p:nvSpPr>
              <p:cNvPr id="39" name="Freeform: Shape 50"/>
              <p:cNvSpPr/>
              <p:nvPr/>
            </p:nvSpPr>
            <p:spPr bwMode="auto">
              <a:xfrm>
                <a:off x="0" y="0"/>
                <a:ext cx="56" cy="57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65"/>
                    </a:moveTo>
                    <a:cubicBezTo>
                      <a:pt x="21600" y="477"/>
                      <a:pt x="16763" y="0"/>
                      <a:pt x="10802" y="0"/>
                    </a:cubicBezTo>
                    <a:cubicBezTo>
                      <a:pt x="4834" y="0"/>
                      <a:pt x="0" y="477"/>
                      <a:pt x="0" y="1065"/>
                    </a:cubicBezTo>
                    <a:lnTo>
                      <a:pt x="0" y="21600"/>
                    </a:lnTo>
                    <a:lnTo>
                      <a:pt x="21600" y="21600"/>
                    </a:lnTo>
                    <a:lnTo>
                      <a:pt x="21600" y="1065"/>
                    </a:lnTo>
                    <a:close/>
                    <a:moveTo>
                      <a:pt x="21600" y="1065"/>
                    </a:moveTo>
                  </a:path>
                </a:pathLst>
              </a:custGeom>
              <a:grpFill/>
              <a:ln>
                <a:noFill/>
              </a:ln>
            </p:spPr>
            <p:txBody>
              <a:bodyPr anchor="ctr"/>
              <a:lstStyle/>
              <a:p>
                <a:pPr algn="ctr"/>
                <a:endParaRPr b="1"/>
              </a:p>
            </p:txBody>
          </p:sp>
        </p:grpSp>
      </p:grpSp>
      <p:sp>
        <p:nvSpPr>
          <p:cNvPr id="42" name="文本框 41"/>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5" name="文本框 67"/>
          <p:cNvSpPr>
            <a:spLocks noChangeArrowheads="1"/>
          </p:cNvSpPr>
          <p:nvPr/>
        </p:nvSpPr>
        <p:spPr bwMode="auto">
          <a:xfrm>
            <a:off x="660400" y="7677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）实体</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关系图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6" name="文本框 25"/>
          <p:cNvSpPr txBox="1"/>
          <p:nvPr/>
        </p:nvSpPr>
        <p:spPr>
          <a:xfrm>
            <a:off x="2175123" y="2005862"/>
            <a:ext cx="9329965" cy="902970"/>
          </a:xfrm>
          <a:prstGeom prst="rect">
            <a:avLst/>
          </a:prstGeom>
          <a:solidFill>
            <a:schemeClr val="accent6">
              <a:lumMod val="20000"/>
              <a:lumOff val="80000"/>
            </a:schemeClr>
          </a:solidFill>
        </p:spPr>
        <p:txBody>
          <a:bodyPr wrap="square" rtlCol="0">
            <a:spAutoFit/>
          </a:bodyPr>
          <a:lstStyle/>
          <a:p>
            <a:pPr lvl="0" algn="just">
              <a:lnSpc>
                <a:spcPct val="120000"/>
              </a:lnSpc>
            </a:pPr>
            <a:r>
              <a:rPr lang="en-US" altLang="zh-CN" sz="2200" b="1" dirty="0">
                <a:solidFill>
                  <a:srgbClr val="000000"/>
                </a:solidFill>
              </a:rPr>
              <a:t>1</a:t>
            </a:r>
            <a:r>
              <a:rPr lang="zh-CN" altLang="en-US" sz="2200" b="1" dirty="0">
                <a:solidFill>
                  <a:srgbClr val="000000"/>
                </a:solidFill>
              </a:rPr>
              <a:t>）每个实体用几个属性</a:t>
            </a:r>
            <a:r>
              <a:rPr lang="en-US" altLang="zh-CN" sz="2200" b="1" dirty="0">
                <a:solidFill>
                  <a:srgbClr val="000000"/>
                </a:solidFill>
              </a:rPr>
              <a:t>(attribute)</a:t>
            </a:r>
            <a:r>
              <a:rPr lang="zh-CN" altLang="en-US" sz="2200" b="1" dirty="0">
                <a:solidFill>
                  <a:srgbClr val="000000"/>
                </a:solidFill>
              </a:rPr>
              <a:t>来描述、每个实体的单个实例将具有不同的属性值</a:t>
            </a:r>
            <a:endParaRPr lang="en-US" altLang="zh-CN" sz="2200" b="1" dirty="0">
              <a:solidFill>
                <a:srgbClr val="000000"/>
              </a:solidFill>
            </a:endParaRPr>
          </a:p>
        </p:txBody>
      </p:sp>
      <p:sp>
        <p:nvSpPr>
          <p:cNvPr id="27" name="文本框 26"/>
          <p:cNvSpPr txBox="1"/>
          <p:nvPr/>
        </p:nvSpPr>
        <p:spPr>
          <a:xfrm>
            <a:off x="2177033" y="2801021"/>
            <a:ext cx="9320502" cy="902970"/>
          </a:xfrm>
          <a:prstGeom prst="rect">
            <a:avLst/>
          </a:prstGeom>
          <a:noFill/>
          <a:ln>
            <a:solidFill>
              <a:schemeClr val="tx1"/>
            </a:solidFill>
            <a:prstDash val="dash"/>
          </a:ln>
        </p:spPr>
        <p:txBody>
          <a:bodyPr wrap="square" rtlCol="0">
            <a:spAutoFit/>
          </a:bodyPr>
          <a:lstStyle/>
          <a:p>
            <a:pPr lvl="0" algn="just">
              <a:lnSpc>
                <a:spcPct val="120000"/>
              </a:lnSpc>
            </a:pPr>
            <a:r>
              <a:rPr lang="zh-CN" altLang="en-US" sz="2200" b="1" dirty="0">
                <a:solidFill>
                  <a:srgbClr val="FF0000"/>
                </a:solidFill>
              </a:rPr>
              <a:t>例如：</a:t>
            </a:r>
            <a:r>
              <a:rPr lang="zh-CN" altLang="en-US" sz="2200" b="1" dirty="0">
                <a:solidFill>
                  <a:srgbClr val="000000"/>
                </a:solidFill>
              </a:rPr>
              <a:t>每一个化学制品的属性包括一个唯一的化学制品标识号、它的正式化学制品名称和它的化学结构的图形表示</a:t>
            </a:r>
            <a:endParaRPr lang="en-US" altLang="zh-CN" sz="2200" b="1" dirty="0">
              <a:solidFill>
                <a:srgbClr val="000000"/>
              </a:solidFill>
            </a:endParaRPr>
          </a:p>
        </p:txBody>
      </p:sp>
      <p:sp>
        <p:nvSpPr>
          <p:cNvPr id="28" name="文本框 27"/>
          <p:cNvSpPr txBox="1"/>
          <p:nvPr/>
        </p:nvSpPr>
        <p:spPr>
          <a:xfrm>
            <a:off x="2168651" y="3677766"/>
            <a:ext cx="9336438" cy="902970"/>
          </a:xfrm>
          <a:prstGeom prst="rect">
            <a:avLst/>
          </a:prstGeom>
          <a:solidFill>
            <a:schemeClr val="accent4">
              <a:lumMod val="20000"/>
              <a:lumOff val="80000"/>
            </a:schemeClr>
          </a:solidFill>
        </p:spPr>
        <p:txBody>
          <a:bodyPr wrap="square" rtlCol="0">
            <a:spAutoFit/>
          </a:bodyPr>
          <a:lstStyle/>
          <a:p>
            <a:pPr lvl="0" algn="just">
              <a:lnSpc>
                <a:spcPct val="120000"/>
              </a:lnSpc>
            </a:pPr>
            <a:r>
              <a:rPr lang="en-US" altLang="zh-CN" sz="2200" b="1" dirty="0">
                <a:solidFill>
                  <a:srgbClr val="000000"/>
                </a:solidFill>
              </a:rPr>
              <a:t>2</a:t>
            </a:r>
            <a:r>
              <a:rPr lang="zh-CN" altLang="en-US" sz="2200" b="1" dirty="0">
                <a:solidFill>
                  <a:srgbClr val="000000"/>
                </a:solidFill>
              </a:rPr>
              <a:t>）数据字典中包含这些属性的详细定义，保证了实体联系图中的实体和在数据流图中相应的数据存储定义一致</a:t>
            </a:r>
            <a:endParaRPr lang="zh-CN" altLang="en-US" sz="2200" b="1" dirty="0">
              <a:solidFill>
                <a:srgbClr val="000000"/>
              </a:solidFill>
            </a:endParaRPr>
          </a:p>
        </p:txBody>
      </p:sp>
      <p:sp>
        <p:nvSpPr>
          <p:cNvPr id="29" name="文本框 28"/>
          <p:cNvSpPr txBox="1"/>
          <p:nvPr/>
        </p:nvSpPr>
        <p:spPr>
          <a:xfrm>
            <a:off x="2154309" y="4764610"/>
            <a:ext cx="9560863" cy="902970"/>
          </a:xfrm>
          <a:prstGeom prst="rect">
            <a:avLst/>
          </a:prstGeom>
          <a:solidFill>
            <a:schemeClr val="accent5">
              <a:lumMod val="20000"/>
              <a:lumOff val="80000"/>
            </a:schemeClr>
          </a:solidFill>
        </p:spPr>
        <p:txBody>
          <a:bodyPr wrap="square" rtlCol="0">
            <a:spAutoFit/>
          </a:bodyPr>
          <a:lstStyle/>
          <a:p>
            <a:pPr algn="just">
              <a:lnSpc>
                <a:spcPct val="120000"/>
              </a:lnSpc>
            </a:pPr>
            <a:r>
              <a:rPr lang="en-US" altLang="zh-CN" sz="2200" b="1" dirty="0">
                <a:solidFill>
                  <a:srgbClr val="000000"/>
                </a:solidFill>
              </a:rPr>
              <a:t>1</a:t>
            </a:r>
            <a:r>
              <a:rPr lang="zh-CN" altLang="en-US" sz="2200" b="1" dirty="0">
                <a:solidFill>
                  <a:srgbClr val="000000"/>
                </a:solidFill>
              </a:rPr>
              <a:t>）实体</a:t>
            </a:r>
            <a:r>
              <a:rPr lang="en-US" altLang="zh-CN" sz="2200" b="1" dirty="0">
                <a:solidFill>
                  <a:srgbClr val="000000"/>
                </a:solidFill>
              </a:rPr>
              <a:t>-</a:t>
            </a:r>
            <a:r>
              <a:rPr lang="zh-CN" altLang="en-US" sz="2200" b="1" dirty="0">
                <a:solidFill>
                  <a:srgbClr val="000000"/>
                </a:solidFill>
              </a:rPr>
              <a:t>关系图中的菱形框代表关系</a:t>
            </a:r>
            <a:r>
              <a:rPr lang="en-US" altLang="zh-CN" sz="2200" b="1" dirty="0">
                <a:solidFill>
                  <a:srgbClr val="000000"/>
                </a:solidFill>
              </a:rPr>
              <a:t>(relationship)</a:t>
            </a:r>
            <a:r>
              <a:rPr lang="zh-CN" altLang="en-US" sz="2200" b="1" dirty="0">
                <a:solidFill>
                  <a:srgbClr val="000000"/>
                </a:solidFill>
              </a:rPr>
              <a:t>，它确定了实体对之间逻辑上和数量上的联系。关系按照关联的属性来命名。</a:t>
            </a:r>
            <a:endParaRPr lang="en-US" altLang="zh-CN" sz="2200" b="1" dirty="0">
              <a:solidFill>
                <a:srgbClr val="000000"/>
              </a:solidFill>
            </a:endParaRPr>
          </a:p>
        </p:txBody>
      </p:sp>
      <p:sp>
        <p:nvSpPr>
          <p:cNvPr id="43" name="文本框 42"/>
          <p:cNvSpPr txBox="1"/>
          <p:nvPr/>
        </p:nvSpPr>
        <p:spPr>
          <a:xfrm>
            <a:off x="2160658" y="5565983"/>
            <a:ext cx="9560863" cy="902970"/>
          </a:xfrm>
          <a:prstGeom prst="rect">
            <a:avLst/>
          </a:prstGeom>
          <a:noFill/>
          <a:ln>
            <a:solidFill>
              <a:schemeClr val="tx1"/>
            </a:solidFill>
            <a:prstDash val="dash"/>
          </a:ln>
        </p:spPr>
        <p:txBody>
          <a:bodyPr wrap="square" rtlCol="0">
            <a:spAutoFit/>
          </a:bodyPr>
          <a:lstStyle/>
          <a:p>
            <a:pPr algn="just">
              <a:lnSpc>
                <a:spcPct val="120000"/>
              </a:lnSpc>
            </a:pPr>
            <a:r>
              <a:rPr lang="zh-CN" altLang="en-US" sz="2200" b="1" dirty="0">
                <a:solidFill>
                  <a:srgbClr val="FF0000"/>
                </a:solidFill>
              </a:rPr>
              <a:t>例如：</a:t>
            </a:r>
            <a:r>
              <a:rPr lang="zh-CN" altLang="en-US" sz="2200" b="1" dirty="0">
                <a:solidFill>
                  <a:srgbClr val="000000"/>
                </a:solidFill>
              </a:rPr>
              <a:t>请求者和化学制品请求之间的关系被称为“提出”</a:t>
            </a:r>
            <a:r>
              <a:rPr lang="en-US" altLang="zh-CN" sz="2200" b="1" dirty="0">
                <a:solidFill>
                  <a:srgbClr val="000000"/>
                </a:solidFill>
              </a:rPr>
              <a:t>(placing)</a:t>
            </a:r>
            <a:r>
              <a:rPr lang="zh-CN" altLang="en-US" sz="2200" b="1" dirty="0">
                <a:solidFill>
                  <a:srgbClr val="000000"/>
                </a:solidFill>
              </a:rPr>
              <a:t>，因为一个请求者提出一个化学制品的请求，一个化学制品请求被一个请求者提出</a:t>
            </a:r>
            <a:endParaRPr lang="en-US" altLang="zh-CN" sz="2200" b="1" dirty="0">
              <a:solidFill>
                <a:srgbClr val="000000"/>
              </a:solidFill>
            </a:endParaRPr>
          </a:p>
        </p:txBody>
      </p:sp>
      <p:sp>
        <p:nvSpPr>
          <p:cNvPr id="41" name="矩形: 圆角 40"/>
          <p:cNvSpPr/>
          <p:nvPr/>
        </p:nvSpPr>
        <p:spPr>
          <a:xfrm>
            <a:off x="473652" y="1539789"/>
            <a:ext cx="3962399" cy="36769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rgbClr val="FF0000"/>
                </a:solidFill>
                <a:latin typeface="+mn-ea"/>
              </a:rPr>
              <a:t>实体</a:t>
            </a:r>
            <a:r>
              <a:rPr lang="en-US" altLang="zh-CN" sz="2200" b="1" dirty="0">
                <a:solidFill>
                  <a:srgbClr val="FF0000"/>
                </a:solidFill>
                <a:latin typeface="+mn-ea"/>
              </a:rPr>
              <a:t>-</a:t>
            </a:r>
            <a:r>
              <a:rPr lang="zh-CN" altLang="en-US" sz="2200" b="1" dirty="0">
                <a:solidFill>
                  <a:srgbClr val="FF0000"/>
                </a:solidFill>
                <a:latin typeface="+mn-ea"/>
              </a:rPr>
              <a:t>联系图中各元素的含义：</a:t>
            </a:r>
            <a:endParaRPr lang="zh-CN" altLang="en-US" sz="2200" b="1" dirty="0">
              <a:solidFill>
                <a:srgbClr val="FF0000"/>
              </a:solidFill>
              <a:latin typeface="+mn-ea"/>
            </a:endParaRPr>
          </a:p>
        </p:txBody>
      </p:sp>
      <p:sp>
        <p:nvSpPr>
          <p:cNvPr id="3" name="文本框 2"/>
          <p:cNvSpPr txBox="1"/>
          <p:nvPr/>
        </p:nvSpPr>
        <p:spPr>
          <a:xfrm>
            <a:off x="830836" y="2979578"/>
            <a:ext cx="744220" cy="429895"/>
          </a:xfrm>
          <a:prstGeom prst="rect">
            <a:avLst/>
          </a:prstGeom>
          <a:noFill/>
        </p:spPr>
        <p:txBody>
          <a:bodyPr wrap="none" rtlCol="0">
            <a:spAutoFit/>
          </a:bodyPr>
          <a:lstStyle/>
          <a:p>
            <a:r>
              <a:rPr lang="zh-CN" altLang="en-US" sz="2200" b="1" dirty="0">
                <a:solidFill>
                  <a:schemeClr val="bg1"/>
                </a:solidFill>
              </a:rPr>
              <a:t>属性</a:t>
            </a:r>
            <a:endParaRPr lang="zh-CN" altLang="en-US" sz="2200" b="1" dirty="0">
              <a:solidFill>
                <a:schemeClr val="bg1"/>
              </a:solidFill>
            </a:endParaRPr>
          </a:p>
        </p:txBody>
      </p:sp>
      <p:sp>
        <p:nvSpPr>
          <p:cNvPr id="45" name="文本框 44"/>
          <p:cNvSpPr txBox="1"/>
          <p:nvPr/>
        </p:nvSpPr>
        <p:spPr>
          <a:xfrm>
            <a:off x="815296" y="5363355"/>
            <a:ext cx="744220" cy="429895"/>
          </a:xfrm>
          <a:prstGeom prst="rect">
            <a:avLst/>
          </a:prstGeom>
          <a:noFill/>
        </p:spPr>
        <p:txBody>
          <a:bodyPr wrap="none" rtlCol="0">
            <a:spAutoFit/>
          </a:bodyPr>
          <a:lstStyle/>
          <a:p>
            <a:r>
              <a:rPr lang="zh-CN" altLang="en-US" sz="2200" b="1" dirty="0">
                <a:solidFill>
                  <a:schemeClr val="bg1"/>
                </a:solidFill>
              </a:rPr>
              <a:t>联系</a:t>
            </a:r>
            <a:endParaRPr lang="zh-CN" altLang="en-US" sz="2200" b="1" dirty="0">
              <a:solidFill>
                <a:schemeClr val="bg1"/>
              </a:solidFill>
            </a:endParaRPr>
          </a:p>
        </p:txBody>
      </p:sp>
      <p:sp>
        <p:nvSpPr>
          <p:cNvPr id="46" name="矩形: 圆角 45"/>
          <p:cNvSpPr/>
          <p:nvPr/>
        </p:nvSpPr>
        <p:spPr>
          <a:xfrm>
            <a:off x="2081766" y="1907482"/>
            <a:ext cx="9633406" cy="2641658"/>
          </a:xfrm>
          <a:prstGeom prst="round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p:txBody>
      </p:sp>
      <p:sp>
        <p:nvSpPr>
          <p:cNvPr id="47" name="矩形: 圆角 46"/>
          <p:cNvSpPr/>
          <p:nvPr/>
        </p:nvSpPr>
        <p:spPr>
          <a:xfrm>
            <a:off x="2080279" y="4670380"/>
            <a:ext cx="9639315" cy="1783760"/>
          </a:xfrm>
          <a:prstGeom prst="round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p:txBody>
      </p:sp>
      <p:sp>
        <p:nvSpPr>
          <p:cNvPr id="4" name="日期占位符 3"/>
          <p:cNvSpPr>
            <a:spLocks noGrp="1"/>
          </p:cNvSpPr>
          <p:nvPr>
            <p:ph type="dt" sz="half" idx="10"/>
          </p:nvPr>
        </p:nvSpPr>
        <p:spPr/>
        <p:txBody>
          <a:bodyPr/>
          <a:lstStyle/>
          <a:p>
            <a:pPr>
              <a:defRPr/>
            </a:pPr>
            <a:fld id="{6DF66784-C96A-426B-8144-DB855243F199}"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5" name="灯片编号占位符 4"/>
          <p:cNvSpPr>
            <a:spLocks noGrp="1"/>
          </p:cNvSpPr>
          <p:nvPr>
            <p:ph type="sldNum" sz="quarter" idx="12"/>
          </p:nvPr>
        </p:nvSpPr>
        <p:spPr/>
        <p:txBody>
          <a:bodyPr/>
          <a:lstStyle/>
          <a:p>
            <a:pPr>
              <a:defRPr/>
            </a:pPr>
            <a:fld id="{0519FDB0-D360-4966-A01C-1D1C6BB19AF3}" type="slidenum">
              <a:rPr lang="zh-CN" altLang="en-US" b="1" smtClean="0">
                <a:solidFill>
                  <a:prstClr val="black">
                    <a:tint val="75000"/>
                  </a:prstClr>
                </a:solidFill>
              </a:rPr>
            </a:fld>
            <a:endParaRPr lang="zh-CN" altLang="en-US" b="1" dirty="0" smtClean="0">
              <a:solidFill>
                <a:prstClr val="black">
                  <a:tint val="75000"/>
                </a:prstClr>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p:tgtEl>
                                          <p:spTgt spid="25"/>
                                        </p:tgtEl>
                                        <p:attrNameLst>
                                          <p:attrName>ppt_x</p:attrName>
                                        </p:attrNameLst>
                                      </p:cBhvr>
                                      <p:tavLst>
                                        <p:tav tm="0">
                                          <p:val>
                                            <p:strVal val="#ppt_x+#ppt_w*1.125000"/>
                                          </p:val>
                                        </p:tav>
                                        <p:tav tm="100000">
                                          <p:val>
                                            <p:strVal val="#ppt_x"/>
                                          </p:val>
                                        </p:tav>
                                      </p:tavLst>
                                    </p:anim>
                                    <p:animEffect transition="in" filter="wipe(left)">
                                      <p:cBhvr>
                                        <p:cTn id="8" dur="500"/>
                                        <p:tgtEl>
                                          <p:spTgt spid="25"/>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bldLvl="0" animBg="1"/>
      <p:bldP spid="27" grpId="0" bldLvl="0" animBg="1"/>
      <p:bldP spid="28" grpId="0" bldLvl="0" animBg="1"/>
      <p:bldP spid="29" grpId="0" bldLvl="0" animBg="1"/>
      <p:bldP spid="43" grpId="0" bldLvl="0" animBg="1"/>
      <p:bldP spid="41" grpId="0"/>
      <p:bldP spid="3" grpId="0"/>
      <p:bldP spid="45" grpId="0"/>
      <p:bldP spid="46" grpId="0" animBg="1"/>
      <p:bldP spid="4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5"/>
          <p:cNvGrpSpPr/>
          <p:nvPr/>
        </p:nvGrpSpPr>
        <p:grpSpPr>
          <a:xfrm>
            <a:off x="108557" y="337632"/>
            <a:ext cx="525184" cy="422276"/>
            <a:chOff x="5075564" y="2933562"/>
            <a:chExt cx="2860947" cy="2302753"/>
          </a:xfrm>
        </p:grpSpPr>
        <p:sp>
          <p:nvSpPr>
            <p:cNvPr id="21" name="等腰三角形 2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22" name="等腰三角形 2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25" name="文本框 24"/>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7" name="文本框 67"/>
          <p:cNvSpPr>
            <a:spLocks noChangeArrowheads="1"/>
          </p:cNvSpPr>
          <p:nvPr/>
        </p:nvSpPr>
        <p:spPr bwMode="auto">
          <a:xfrm>
            <a:off x="660400" y="76899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）实体</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关系图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6" name="文本框 25"/>
          <p:cNvSpPr txBox="1"/>
          <p:nvPr/>
        </p:nvSpPr>
        <p:spPr>
          <a:xfrm>
            <a:off x="2445892" y="2061687"/>
            <a:ext cx="9050783" cy="497205"/>
          </a:xfrm>
          <a:prstGeom prst="rect">
            <a:avLst/>
          </a:prstGeom>
          <a:solidFill>
            <a:schemeClr val="accent6">
              <a:lumMod val="20000"/>
              <a:lumOff val="80000"/>
            </a:schemeClr>
          </a:solidFill>
        </p:spPr>
        <p:txBody>
          <a:bodyPr wrap="square" rtlCol="0">
            <a:spAutoFit/>
          </a:bodyPr>
          <a:lstStyle/>
          <a:p>
            <a:pPr algn="just">
              <a:lnSpc>
                <a:spcPct val="120000"/>
              </a:lnSpc>
            </a:pPr>
            <a:r>
              <a:rPr lang="en-US" altLang="zh-CN" sz="2200" b="1" dirty="0">
                <a:solidFill>
                  <a:srgbClr val="000000"/>
                </a:solidFill>
              </a:rPr>
              <a:t>2</a:t>
            </a:r>
            <a:r>
              <a:rPr lang="zh-CN" altLang="en-US" sz="2200" b="1" dirty="0">
                <a:solidFill>
                  <a:srgbClr val="000000"/>
                </a:solidFill>
              </a:rPr>
              <a:t>）在实体和关系的连线上用一个数字或字母表示实体的单联系和多联系</a:t>
            </a:r>
            <a:endParaRPr lang="en-US" altLang="zh-CN" sz="2200" b="1" dirty="0">
              <a:solidFill>
                <a:srgbClr val="000000"/>
              </a:solidFill>
            </a:endParaRPr>
          </a:p>
        </p:txBody>
      </p:sp>
      <p:sp>
        <p:nvSpPr>
          <p:cNvPr id="28" name="文本框 27"/>
          <p:cNvSpPr txBox="1"/>
          <p:nvPr/>
        </p:nvSpPr>
        <p:spPr>
          <a:xfrm>
            <a:off x="2447290" y="2577465"/>
            <a:ext cx="9479915" cy="497205"/>
          </a:xfrm>
          <a:prstGeom prst="rect">
            <a:avLst/>
          </a:prstGeom>
          <a:solidFill>
            <a:schemeClr val="accent5">
              <a:lumMod val="20000"/>
              <a:lumOff val="80000"/>
            </a:schemeClr>
          </a:solidFill>
        </p:spPr>
        <p:txBody>
          <a:bodyPr wrap="square" rtlCol="0">
            <a:spAutoFit/>
          </a:bodyPr>
          <a:lstStyle/>
          <a:p>
            <a:pPr algn="just">
              <a:lnSpc>
                <a:spcPct val="120000"/>
              </a:lnSpc>
            </a:pPr>
            <a:r>
              <a:rPr lang="en-US" altLang="zh-CN" sz="2200" b="1" dirty="0">
                <a:solidFill>
                  <a:srgbClr val="000000"/>
                </a:solidFill>
              </a:rPr>
              <a:t>3</a:t>
            </a:r>
            <a:r>
              <a:rPr lang="zh-CN" altLang="en-US" sz="2200" b="1" dirty="0">
                <a:solidFill>
                  <a:srgbClr val="000000"/>
                </a:solidFill>
              </a:rPr>
              <a:t>）不同的实体联系图规则可用不同符号表示联系，此处是普遍使用</a:t>
            </a:r>
            <a:r>
              <a:rPr lang="zh-CN" altLang="en-US" sz="2200" b="1" dirty="0">
                <a:solidFill>
                  <a:srgbClr val="000000"/>
                </a:solidFill>
              </a:rPr>
              <a:t>的方法</a:t>
            </a:r>
            <a:endParaRPr lang="en-US" altLang="zh-CN" sz="2200" b="1" dirty="0">
              <a:solidFill>
                <a:srgbClr val="000000"/>
              </a:solidFill>
            </a:endParaRPr>
          </a:p>
        </p:txBody>
      </p:sp>
      <p:sp>
        <p:nvSpPr>
          <p:cNvPr id="29" name="文本框 28"/>
          <p:cNvSpPr txBox="1"/>
          <p:nvPr/>
        </p:nvSpPr>
        <p:spPr>
          <a:xfrm>
            <a:off x="2439437" y="3086948"/>
            <a:ext cx="9057237" cy="768350"/>
          </a:xfrm>
          <a:prstGeom prst="rect">
            <a:avLst/>
          </a:prstGeom>
          <a:solidFill>
            <a:schemeClr val="accent4">
              <a:lumMod val="20000"/>
              <a:lumOff val="80000"/>
            </a:schemeClr>
          </a:solidFill>
        </p:spPr>
        <p:txBody>
          <a:bodyPr wrap="square" rtlCol="0">
            <a:spAutoFit/>
          </a:bodyPr>
          <a:lstStyle/>
          <a:p>
            <a:pPr algn="just"/>
            <a:r>
              <a:rPr lang="en-US" altLang="zh-CN" sz="2200" b="1" dirty="0">
                <a:solidFill>
                  <a:srgbClr val="000000"/>
                </a:solidFill>
              </a:rPr>
              <a:t>4</a:t>
            </a:r>
            <a:r>
              <a:rPr lang="zh-CN" altLang="en-US" sz="2200" b="1" dirty="0">
                <a:solidFill>
                  <a:srgbClr val="000000"/>
                </a:solidFill>
              </a:rPr>
              <a:t>）每个请求者可以提出多个请求，因此，在请求者和化学制品请求之间存在一对多联系</a:t>
            </a:r>
            <a:endParaRPr lang="en-US" altLang="zh-CN" sz="2200" b="1" dirty="0">
              <a:solidFill>
                <a:srgbClr val="000000"/>
              </a:solidFill>
            </a:endParaRPr>
          </a:p>
        </p:txBody>
      </p:sp>
      <p:sp>
        <p:nvSpPr>
          <p:cNvPr id="42" name="文本框 41"/>
          <p:cNvSpPr txBox="1"/>
          <p:nvPr/>
        </p:nvSpPr>
        <p:spPr>
          <a:xfrm>
            <a:off x="2439435" y="3888048"/>
            <a:ext cx="9057239" cy="902970"/>
          </a:xfrm>
          <a:prstGeom prst="rect">
            <a:avLst/>
          </a:prstGeom>
          <a:solidFill>
            <a:schemeClr val="accent3">
              <a:lumMod val="20000"/>
              <a:lumOff val="80000"/>
            </a:schemeClr>
          </a:solidFill>
        </p:spPr>
        <p:txBody>
          <a:bodyPr wrap="square" rtlCol="0">
            <a:spAutoFit/>
          </a:bodyPr>
          <a:lstStyle/>
          <a:p>
            <a:pPr algn="just">
              <a:lnSpc>
                <a:spcPct val="120000"/>
              </a:lnSpc>
            </a:pPr>
            <a:r>
              <a:rPr lang="en-US" altLang="zh-CN" sz="2200" b="1" dirty="0">
                <a:solidFill>
                  <a:srgbClr val="000000"/>
                </a:solidFill>
              </a:rPr>
              <a:t>5</a:t>
            </a:r>
            <a:r>
              <a:rPr lang="zh-CN" altLang="en-US" sz="2200" b="1" dirty="0">
                <a:solidFill>
                  <a:srgbClr val="000000"/>
                </a:solidFill>
              </a:rPr>
              <a:t>）单联系在请求者和“提出”关系的连线上标明“</a:t>
            </a:r>
            <a:r>
              <a:rPr lang="en-US" altLang="zh-CN" sz="2200" b="1" dirty="0">
                <a:solidFill>
                  <a:srgbClr val="000000"/>
                </a:solidFill>
              </a:rPr>
              <a:t>1”</a:t>
            </a:r>
            <a:r>
              <a:rPr lang="zh-CN" altLang="en-US" sz="2200" b="1" dirty="0">
                <a:solidFill>
                  <a:srgbClr val="000000"/>
                </a:solidFill>
              </a:rPr>
              <a:t>，多联系在化学制品请求和“提出”关系的连线上标明“</a:t>
            </a:r>
            <a:r>
              <a:rPr lang="en-US" altLang="zh-CN" sz="2200" b="1" dirty="0">
                <a:solidFill>
                  <a:srgbClr val="000000"/>
                </a:solidFill>
              </a:rPr>
              <a:t>M”</a:t>
            </a:r>
            <a:r>
              <a:rPr lang="zh-CN" altLang="en-US" sz="2200" b="1" dirty="0">
                <a:solidFill>
                  <a:srgbClr val="000000"/>
                </a:solidFill>
              </a:rPr>
              <a:t>（代表多）</a:t>
            </a:r>
            <a:endParaRPr lang="zh-CN" altLang="en-US" sz="2200" b="1" dirty="0">
              <a:solidFill>
                <a:srgbClr val="000000"/>
              </a:solidFill>
            </a:endParaRPr>
          </a:p>
        </p:txBody>
      </p:sp>
      <p:sp>
        <p:nvSpPr>
          <p:cNvPr id="43" name="文本框 42"/>
          <p:cNvSpPr txBox="1"/>
          <p:nvPr/>
        </p:nvSpPr>
        <p:spPr>
          <a:xfrm>
            <a:off x="2440442" y="4797649"/>
            <a:ext cx="9038629" cy="1308735"/>
          </a:xfrm>
          <a:prstGeom prst="rect">
            <a:avLst/>
          </a:prstGeom>
          <a:solidFill>
            <a:schemeClr val="accent2">
              <a:lumMod val="20000"/>
              <a:lumOff val="80000"/>
            </a:schemeClr>
          </a:solidFill>
        </p:spPr>
        <p:txBody>
          <a:bodyPr wrap="square" rtlCol="0">
            <a:spAutoFit/>
          </a:bodyPr>
          <a:lstStyle/>
          <a:p>
            <a:pPr algn="just">
              <a:lnSpc>
                <a:spcPct val="120000"/>
              </a:lnSpc>
            </a:pPr>
            <a:r>
              <a:rPr lang="en-US" altLang="zh-CN" sz="2200" b="1" dirty="0">
                <a:solidFill>
                  <a:srgbClr val="000000"/>
                </a:solidFill>
              </a:rPr>
              <a:t>6</a:t>
            </a:r>
            <a:r>
              <a:rPr lang="zh-CN" altLang="en-US" sz="2200" b="1" dirty="0">
                <a:solidFill>
                  <a:srgbClr val="000000"/>
                </a:solidFill>
              </a:rPr>
              <a:t>）其他可能的联系：</a:t>
            </a:r>
            <a:r>
              <a:rPr lang="zh-CN" altLang="en-US" sz="2200" b="1" dirty="0">
                <a:solidFill>
                  <a:srgbClr val="FF0000"/>
                </a:solidFill>
              </a:rPr>
              <a:t>一对一</a:t>
            </a:r>
            <a:r>
              <a:rPr lang="zh-CN" altLang="en-US" sz="2200" b="1" dirty="0">
                <a:solidFill>
                  <a:srgbClr val="000000"/>
                </a:solidFill>
              </a:rPr>
              <a:t>（每一个容器历史记录跟踪一个化学制品容器）、</a:t>
            </a:r>
            <a:r>
              <a:rPr lang="zh-CN" altLang="en-US" sz="2200" b="1" dirty="0">
                <a:solidFill>
                  <a:srgbClr val="FF0000"/>
                </a:solidFill>
              </a:rPr>
              <a:t>多对多</a:t>
            </a:r>
            <a:r>
              <a:rPr lang="zh-CN" altLang="en-US" sz="2200" b="1" dirty="0">
                <a:solidFill>
                  <a:srgbClr val="000000"/>
                </a:solidFill>
              </a:rPr>
              <a:t>（每一个供应商目录中描述了许多种化学制品，并且每种化学制品可以被多个供应商目录表所描述）</a:t>
            </a:r>
            <a:endParaRPr lang="zh-CN" altLang="en-US" sz="2200" b="1" dirty="0">
              <a:solidFill>
                <a:srgbClr val="000000"/>
              </a:solidFill>
            </a:endParaRPr>
          </a:p>
        </p:txBody>
      </p:sp>
      <p:grpSp>
        <p:nvGrpSpPr>
          <p:cNvPr id="40" name="组合 39"/>
          <p:cNvGrpSpPr/>
          <p:nvPr/>
        </p:nvGrpSpPr>
        <p:grpSpPr>
          <a:xfrm>
            <a:off x="598908" y="3412569"/>
            <a:ext cx="1599348" cy="1103552"/>
            <a:chOff x="1250061" y="4273120"/>
            <a:chExt cx="2383155" cy="1505668"/>
          </a:xfrm>
        </p:grpSpPr>
        <p:grpSp>
          <p:nvGrpSpPr>
            <p:cNvPr id="41" name="Group 41"/>
            <p:cNvGrpSpPr/>
            <p:nvPr/>
          </p:nvGrpSpPr>
          <p:grpSpPr>
            <a:xfrm>
              <a:off x="1250061" y="4273120"/>
              <a:ext cx="2383155" cy="1505668"/>
              <a:chOff x="7203266" y="3825303"/>
              <a:chExt cx="4555150" cy="1641549"/>
            </a:xfrm>
            <a:solidFill>
              <a:schemeClr val="bg1">
                <a:lumMod val="65000"/>
              </a:schemeClr>
            </a:solidFill>
            <a:effectLst/>
          </p:grpSpPr>
          <p:sp>
            <p:nvSpPr>
              <p:cNvPr id="48" name="Arrow: Right 42"/>
              <p:cNvSpPr/>
              <p:nvPr/>
            </p:nvSpPr>
            <p:spPr>
              <a:xfrm>
                <a:off x="7635595" y="3825303"/>
                <a:ext cx="4122821" cy="1641549"/>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p>
            </p:txBody>
          </p:sp>
          <p:sp>
            <p:nvSpPr>
              <p:cNvPr id="49" name="Oval 43"/>
              <p:cNvSpPr/>
              <p:nvPr/>
            </p:nvSpPr>
            <p:spPr>
              <a:xfrm>
                <a:off x="7203266" y="4236883"/>
                <a:ext cx="818388" cy="818388"/>
              </a:xfrm>
              <a:prstGeom prst="ellipse">
                <a:avLst/>
              </a:prstGeom>
              <a:solidFill>
                <a:schemeClr val="accent6"/>
              </a:solidFill>
              <a:ln w="41275">
                <a:noFill/>
              </a:ln>
              <a:effectLst/>
            </p:spPr>
            <p:style>
              <a:lnRef idx="1">
                <a:schemeClr val="accent1"/>
              </a:lnRef>
              <a:fillRef idx="3">
                <a:schemeClr val="accent1"/>
              </a:fillRef>
              <a:effectRef idx="2">
                <a:schemeClr val="accent1"/>
              </a:effectRef>
              <a:fontRef idx="minor">
                <a:schemeClr val="lt1"/>
              </a:fontRef>
            </p:style>
            <p:txBody>
              <a:bodyPr wrap="none" anchor="ctr">
                <a:normAutofit fontScale="72500"/>
              </a:bodyPr>
              <a:lstStyle/>
              <a:p>
                <a:pPr algn="ctr"/>
                <a:r>
                  <a:rPr lang="en-US" sz="2400" b="1" dirty="0">
                    <a:solidFill>
                      <a:srgbClr val="FFFFFF"/>
                    </a:solidFill>
                  </a:rPr>
                  <a:t>02</a:t>
                </a:r>
                <a:endParaRPr lang="en-US" sz="2400" b="1" dirty="0">
                  <a:solidFill>
                    <a:srgbClr val="FFFFFF"/>
                  </a:solidFill>
                </a:endParaRPr>
              </a:p>
            </p:txBody>
          </p:sp>
        </p:grpSp>
        <p:grpSp>
          <p:nvGrpSpPr>
            <p:cNvPr id="45" name="Group 48"/>
            <p:cNvGrpSpPr/>
            <p:nvPr/>
          </p:nvGrpSpPr>
          <p:grpSpPr bwMode="auto">
            <a:xfrm>
              <a:off x="2953550" y="4837101"/>
              <a:ext cx="334828" cy="414277"/>
              <a:chOff x="0" y="0"/>
              <a:chExt cx="464" cy="573"/>
            </a:xfrm>
            <a:solidFill>
              <a:srgbClr val="FFFFFF"/>
            </a:solidFill>
            <a:effectLst/>
          </p:grpSpPr>
          <p:sp>
            <p:nvSpPr>
              <p:cNvPr id="46" name="Freeform: Shape 49"/>
              <p:cNvSpPr/>
              <p:nvPr/>
            </p:nvSpPr>
            <p:spPr bwMode="auto">
              <a:xfrm>
                <a:off x="88" y="24"/>
                <a:ext cx="376" cy="322"/>
              </a:xfrm>
              <a:custGeom>
                <a:avLst/>
                <a:gdLst>
                  <a:gd name="T0" fmla="*/ 0 w 21115"/>
                  <a:gd name="T1" fmla="*/ 0 h 18556"/>
                  <a:gd name="T2" fmla="*/ 0 w 21115"/>
                  <a:gd name="T3" fmla="*/ 0 h 18556"/>
                  <a:gd name="T4" fmla="*/ 0 w 21115"/>
                  <a:gd name="T5" fmla="*/ 0 h 18556"/>
                  <a:gd name="T6" fmla="*/ 0 w 21115"/>
                  <a:gd name="T7" fmla="*/ 0 h 18556"/>
                  <a:gd name="T8" fmla="*/ 0 w 21115"/>
                  <a:gd name="T9" fmla="*/ 0 h 18556"/>
                  <a:gd name="T10" fmla="*/ 0 w 21115"/>
                  <a:gd name="T11" fmla="*/ 0 h 18556"/>
                  <a:gd name="T12" fmla="*/ 0 w 21115"/>
                  <a:gd name="T13" fmla="*/ 0 h 18556"/>
                  <a:gd name="T14" fmla="*/ 0 w 21115"/>
                  <a:gd name="T15" fmla="*/ 0 h 18556"/>
                  <a:gd name="T16" fmla="*/ 0 w 21115"/>
                  <a:gd name="T17" fmla="*/ 0 h 18556"/>
                  <a:gd name="T18" fmla="*/ 0 w 21115"/>
                  <a:gd name="T19" fmla="*/ 0 h 18556"/>
                  <a:gd name="T20" fmla="*/ 0 w 21115"/>
                  <a:gd name="T21" fmla="*/ 0 h 1855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115" h="18556">
                    <a:moveTo>
                      <a:pt x="20779" y="3635"/>
                    </a:moveTo>
                    <a:cubicBezTo>
                      <a:pt x="20779" y="3635"/>
                      <a:pt x="16054" y="3835"/>
                      <a:pt x="13538" y="4151"/>
                    </a:cubicBezTo>
                    <a:cubicBezTo>
                      <a:pt x="12114" y="4330"/>
                      <a:pt x="13006" y="1476"/>
                      <a:pt x="13006" y="911"/>
                    </a:cubicBezTo>
                    <a:cubicBezTo>
                      <a:pt x="13006" y="-1684"/>
                      <a:pt x="0" y="2094"/>
                      <a:pt x="0" y="2094"/>
                    </a:cubicBezTo>
                    <a:lnTo>
                      <a:pt x="0" y="17384"/>
                    </a:lnTo>
                    <a:cubicBezTo>
                      <a:pt x="0" y="17384"/>
                      <a:pt x="988" y="17824"/>
                      <a:pt x="2373" y="17286"/>
                    </a:cubicBezTo>
                    <a:cubicBezTo>
                      <a:pt x="5889" y="15919"/>
                      <a:pt x="11968" y="13959"/>
                      <a:pt x="10988" y="17189"/>
                    </a:cubicBezTo>
                    <a:cubicBezTo>
                      <a:pt x="10160" y="19916"/>
                      <a:pt x="20491" y="17722"/>
                      <a:pt x="20491" y="17722"/>
                    </a:cubicBezTo>
                    <a:cubicBezTo>
                      <a:pt x="20491" y="17722"/>
                      <a:pt x="19749" y="12037"/>
                      <a:pt x="20675" y="8735"/>
                    </a:cubicBezTo>
                    <a:cubicBezTo>
                      <a:pt x="21600" y="5433"/>
                      <a:pt x="20779" y="3635"/>
                      <a:pt x="20779" y="3635"/>
                    </a:cubicBezTo>
                    <a:close/>
                    <a:moveTo>
                      <a:pt x="20779" y="3635"/>
                    </a:moveTo>
                  </a:path>
                </a:pathLst>
              </a:custGeom>
              <a:grpFill/>
              <a:ln>
                <a:noFill/>
              </a:ln>
            </p:spPr>
            <p:txBody>
              <a:bodyPr anchor="ctr"/>
              <a:lstStyle/>
              <a:p>
                <a:pPr algn="ctr"/>
                <a:endParaRPr b="1" dirty="0"/>
              </a:p>
            </p:txBody>
          </p:sp>
          <p:sp>
            <p:nvSpPr>
              <p:cNvPr id="47" name="Freeform: Shape 50"/>
              <p:cNvSpPr/>
              <p:nvPr/>
            </p:nvSpPr>
            <p:spPr bwMode="auto">
              <a:xfrm>
                <a:off x="0" y="0"/>
                <a:ext cx="56" cy="57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65"/>
                    </a:moveTo>
                    <a:cubicBezTo>
                      <a:pt x="21600" y="477"/>
                      <a:pt x="16763" y="0"/>
                      <a:pt x="10802" y="0"/>
                    </a:cubicBezTo>
                    <a:cubicBezTo>
                      <a:pt x="4834" y="0"/>
                      <a:pt x="0" y="477"/>
                      <a:pt x="0" y="1065"/>
                    </a:cubicBezTo>
                    <a:lnTo>
                      <a:pt x="0" y="21600"/>
                    </a:lnTo>
                    <a:lnTo>
                      <a:pt x="21600" y="21600"/>
                    </a:lnTo>
                    <a:lnTo>
                      <a:pt x="21600" y="1065"/>
                    </a:lnTo>
                    <a:close/>
                    <a:moveTo>
                      <a:pt x="21600" y="1065"/>
                    </a:moveTo>
                  </a:path>
                </a:pathLst>
              </a:custGeom>
              <a:grpFill/>
              <a:ln>
                <a:noFill/>
              </a:ln>
            </p:spPr>
            <p:txBody>
              <a:bodyPr anchor="ctr"/>
              <a:lstStyle/>
              <a:p>
                <a:pPr algn="ctr"/>
                <a:endParaRPr b="1"/>
              </a:p>
            </p:txBody>
          </p:sp>
        </p:grpSp>
      </p:grpSp>
      <p:sp>
        <p:nvSpPr>
          <p:cNvPr id="50" name="文本框 49"/>
          <p:cNvSpPr txBox="1"/>
          <p:nvPr/>
        </p:nvSpPr>
        <p:spPr>
          <a:xfrm>
            <a:off x="940551" y="3760234"/>
            <a:ext cx="744220" cy="429895"/>
          </a:xfrm>
          <a:prstGeom prst="rect">
            <a:avLst/>
          </a:prstGeom>
          <a:noFill/>
        </p:spPr>
        <p:txBody>
          <a:bodyPr wrap="none" rtlCol="0">
            <a:spAutoFit/>
          </a:bodyPr>
          <a:lstStyle/>
          <a:p>
            <a:r>
              <a:rPr lang="zh-CN" altLang="en-US" sz="2200" b="1" dirty="0">
                <a:solidFill>
                  <a:schemeClr val="bg1"/>
                </a:solidFill>
              </a:rPr>
              <a:t>联系</a:t>
            </a:r>
            <a:endParaRPr lang="zh-CN" altLang="en-US" sz="2200" b="1" dirty="0">
              <a:solidFill>
                <a:schemeClr val="bg1"/>
              </a:solidFill>
            </a:endParaRPr>
          </a:p>
        </p:txBody>
      </p:sp>
      <p:sp>
        <p:nvSpPr>
          <p:cNvPr id="59" name="矩形: 圆角 58"/>
          <p:cNvSpPr/>
          <p:nvPr/>
        </p:nvSpPr>
        <p:spPr>
          <a:xfrm>
            <a:off x="473652" y="1539789"/>
            <a:ext cx="3962399" cy="36769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rgbClr val="FF0000"/>
                </a:solidFill>
                <a:latin typeface="+mn-ea"/>
              </a:rPr>
              <a:t>实体</a:t>
            </a:r>
            <a:r>
              <a:rPr lang="en-US" altLang="zh-CN" sz="2200" b="1" dirty="0">
                <a:solidFill>
                  <a:srgbClr val="FF0000"/>
                </a:solidFill>
                <a:latin typeface="+mn-ea"/>
              </a:rPr>
              <a:t>-</a:t>
            </a:r>
            <a:r>
              <a:rPr lang="zh-CN" altLang="en-US" sz="2200" b="1" dirty="0">
                <a:solidFill>
                  <a:srgbClr val="FF0000"/>
                </a:solidFill>
                <a:latin typeface="+mn-ea"/>
              </a:rPr>
              <a:t>联系图中各元素的含义：</a:t>
            </a:r>
            <a:endParaRPr lang="zh-CN" altLang="en-US" sz="2200" b="1" dirty="0">
              <a:solidFill>
                <a:srgbClr val="FF0000"/>
              </a:solidFill>
              <a:latin typeface="+mn-ea"/>
            </a:endParaRPr>
          </a:p>
        </p:txBody>
      </p:sp>
      <p:sp>
        <p:nvSpPr>
          <p:cNvPr id="60" name="矩形: 圆角 59"/>
          <p:cNvSpPr/>
          <p:nvPr/>
        </p:nvSpPr>
        <p:spPr>
          <a:xfrm>
            <a:off x="2213753" y="1907481"/>
            <a:ext cx="9504596" cy="4225463"/>
          </a:xfrm>
          <a:prstGeom prst="round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p:txBody>
      </p:sp>
      <p:sp>
        <p:nvSpPr>
          <p:cNvPr id="2" name="日期占位符 1"/>
          <p:cNvSpPr>
            <a:spLocks noGrp="1"/>
          </p:cNvSpPr>
          <p:nvPr>
            <p:ph type="dt" sz="half" idx="10"/>
          </p:nvPr>
        </p:nvSpPr>
        <p:spPr/>
        <p:txBody>
          <a:bodyPr/>
          <a:lstStyle/>
          <a:p>
            <a:pPr>
              <a:defRPr/>
            </a:pPr>
            <a:fld id="{6A0FE466-9A83-4D21-9843-EDD011C10BED}"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3" name="灯片编号占位符 2"/>
          <p:cNvSpPr>
            <a:spLocks noGrp="1"/>
          </p:cNvSpPr>
          <p:nvPr>
            <p:ph type="sldNum" sz="quarter" idx="12"/>
          </p:nvPr>
        </p:nvSpPr>
        <p:spPr/>
        <p:txBody>
          <a:bodyPr/>
          <a:lstStyle/>
          <a:p>
            <a:pPr>
              <a:defRPr/>
            </a:pPr>
            <a:fld id="{0519FDB0-D360-4966-A01C-1D1C6BB19AF3}" type="slidenum">
              <a:rPr lang="zh-CN" altLang="en-US" b="1" smtClean="0">
                <a:solidFill>
                  <a:prstClr val="black">
                    <a:tint val="75000"/>
                  </a:prstClr>
                </a:solidFill>
              </a:rPr>
            </a:fld>
            <a:endParaRPr lang="zh-CN" altLang="en-US" b="1" dirty="0" smtClean="0">
              <a:solidFill>
                <a:prstClr val="black">
                  <a:tint val="75000"/>
                </a:prstClr>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p:tgtEl>
                                          <p:spTgt spid="27"/>
                                        </p:tgtEl>
                                        <p:attrNameLst>
                                          <p:attrName>ppt_x</p:attrName>
                                        </p:attrNameLst>
                                      </p:cBhvr>
                                      <p:tavLst>
                                        <p:tav tm="0">
                                          <p:val>
                                            <p:strVal val="#ppt_x+#ppt_w*1.125000"/>
                                          </p:val>
                                        </p:tav>
                                        <p:tav tm="100000">
                                          <p:val>
                                            <p:strVal val="#ppt_x"/>
                                          </p:val>
                                        </p:tav>
                                      </p:tavLst>
                                    </p:anim>
                                    <p:animEffect transition="in" filter="wipe(left)">
                                      <p:cBhvr>
                                        <p:cTn id="8" dur="500"/>
                                        <p:tgtEl>
                                          <p:spTgt spid="27"/>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6" grpId="0" bldLvl="0" animBg="1"/>
      <p:bldP spid="28" grpId="0" bldLvl="0" animBg="1"/>
      <p:bldP spid="29" grpId="0" bldLvl="0" animBg="1"/>
      <p:bldP spid="42" grpId="0" bldLvl="0" animBg="1"/>
      <p:bldP spid="43" grpId="0" bldLvl="0" animBg="1"/>
      <p:bldP spid="6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5"/>
          <p:cNvGrpSpPr/>
          <p:nvPr/>
        </p:nvGrpSpPr>
        <p:grpSpPr>
          <a:xfrm>
            <a:off x="108557" y="337632"/>
            <a:ext cx="525184" cy="422276"/>
            <a:chOff x="5075564" y="2933562"/>
            <a:chExt cx="2860947" cy="2302753"/>
          </a:xfrm>
        </p:grpSpPr>
        <p:sp>
          <p:nvSpPr>
            <p:cNvPr id="21" name="等腰三角形 2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22" name="等腰三角形 2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grpSp>
        <p:nvGrpSpPr>
          <p:cNvPr id="113" name="组合 112"/>
          <p:cNvGrpSpPr/>
          <p:nvPr/>
        </p:nvGrpSpPr>
        <p:grpSpPr>
          <a:xfrm>
            <a:off x="2082292" y="2229790"/>
            <a:ext cx="8154359" cy="4067941"/>
            <a:chOff x="1659995" y="1115301"/>
            <a:chExt cx="8154359" cy="4067941"/>
          </a:xfrm>
        </p:grpSpPr>
        <p:sp>
          <p:nvSpPr>
            <p:cNvPr id="33" name="椭圆 32"/>
            <p:cNvSpPr/>
            <p:nvPr/>
          </p:nvSpPr>
          <p:spPr>
            <a:xfrm>
              <a:off x="3152302" y="3787721"/>
              <a:ext cx="949363" cy="672729"/>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5" name="椭圆 34"/>
            <p:cNvSpPr/>
            <p:nvPr/>
          </p:nvSpPr>
          <p:spPr>
            <a:xfrm>
              <a:off x="5693180" y="1232464"/>
              <a:ext cx="949363" cy="672729"/>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6" name="椭圆 35"/>
            <p:cNvSpPr/>
            <p:nvPr/>
          </p:nvSpPr>
          <p:spPr>
            <a:xfrm>
              <a:off x="8721380" y="1115301"/>
              <a:ext cx="949363" cy="672729"/>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37" name="椭圆 36"/>
            <p:cNvSpPr/>
            <p:nvPr/>
          </p:nvSpPr>
          <p:spPr>
            <a:xfrm>
              <a:off x="8864991" y="1877581"/>
              <a:ext cx="949363" cy="672729"/>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38" name="椭圆 37"/>
            <p:cNvSpPr/>
            <p:nvPr/>
          </p:nvSpPr>
          <p:spPr>
            <a:xfrm>
              <a:off x="8864991" y="2688124"/>
              <a:ext cx="949363" cy="672729"/>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9" name="椭圆 38"/>
            <p:cNvSpPr/>
            <p:nvPr/>
          </p:nvSpPr>
          <p:spPr>
            <a:xfrm>
              <a:off x="8864991" y="3562630"/>
              <a:ext cx="949363" cy="672729"/>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40" name="椭圆 39"/>
            <p:cNvSpPr/>
            <p:nvPr/>
          </p:nvSpPr>
          <p:spPr>
            <a:xfrm>
              <a:off x="8777609" y="4359676"/>
              <a:ext cx="949363" cy="672729"/>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2" name="椭圆 41"/>
            <p:cNvSpPr/>
            <p:nvPr/>
          </p:nvSpPr>
          <p:spPr>
            <a:xfrm>
              <a:off x="5811416" y="4121218"/>
              <a:ext cx="949363" cy="672729"/>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3" name="矩形 42"/>
            <p:cNvSpPr/>
            <p:nvPr/>
          </p:nvSpPr>
          <p:spPr>
            <a:xfrm>
              <a:off x="5085249" y="2721693"/>
              <a:ext cx="917943" cy="69112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4" name="矩形 43"/>
            <p:cNvSpPr/>
            <p:nvPr/>
          </p:nvSpPr>
          <p:spPr>
            <a:xfrm>
              <a:off x="7772285" y="2731149"/>
              <a:ext cx="917943" cy="69112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5" name="菱形 44"/>
            <p:cNvSpPr/>
            <p:nvPr/>
          </p:nvSpPr>
          <p:spPr>
            <a:xfrm>
              <a:off x="6438936" y="2725862"/>
              <a:ext cx="917943" cy="691121"/>
            </a:xfrm>
            <a:prstGeom prst="diamon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46" name="椭圆 45"/>
            <p:cNvSpPr/>
            <p:nvPr/>
          </p:nvSpPr>
          <p:spPr>
            <a:xfrm>
              <a:off x="2377324" y="1164367"/>
              <a:ext cx="1145365" cy="71949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47" name="椭圆 46"/>
            <p:cNvSpPr/>
            <p:nvPr/>
          </p:nvSpPr>
          <p:spPr>
            <a:xfrm>
              <a:off x="1660633" y="1884444"/>
              <a:ext cx="949363" cy="672729"/>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9" name="椭圆 48"/>
            <p:cNvSpPr/>
            <p:nvPr/>
          </p:nvSpPr>
          <p:spPr>
            <a:xfrm>
              <a:off x="2376641" y="4510513"/>
              <a:ext cx="949363" cy="672729"/>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0" name="矩形 49"/>
            <p:cNvSpPr/>
            <p:nvPr/>
          </p:nvSpPr>
          <p:spPr>
            <a:xfrm>
              <a:off x="2408061" y="2727634"/>
              <a:ext cx="917943" cy="69112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2" name="椭圆 51"/>
            <p:cNvSpPr/>
            <p:nvPr/>
          </p:nvSpPr>
          <p:spPr>
            <a:xfrm>
              <a:off x="4584351" y="1247100"/>
              <a:ext cx="949363" cy="672729"/>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53" name="椭圆 52"/>
            <p:cNvSpPr/>
            <p:nvPr/>
          </p:nvSpPr>
          <p:spPr>
            <a:xfrm>
              <a:off x="4594858" y="4142777"/>
              <a:ext cx="949363" cy="672729"/>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5" name="菱形 54"/>
            <p:cNvSpPr/>
            <p:nvPr/>
          </p:nvSpPr>
          <p:spPr>
            <a:xfrm>
              <a:off x="3751579" y="2718779"/>
              <a:ext cx="917943" cy="691121"/>
            </a:xfrm>
            <a:prstGeom prst="diamon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58" name="椭圆 57"/>
            <p:cNvSpPr/>
            <p:nvPr/>
          </p:nvSpPr>
          <p:spPr>
            <a:xfrm>
              <a:off x="1659995" y="3819272"/>
              <a:ext cx="949363" cy="672729"/>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cxnSp>
          <p:nvCxnSpPr>
            <p:cNvPr id="6" name="直接连接符 5"/>
            <p:cNvCxnSpPr>
              <a:stCxn id="46" idx="4"/>
              <a:endCxn id="50" idx="0"/>
            </p:cNvCxnSpPr>
            <p:nvPr/>
          </p:nvCxnSpPr>
          <p:spPr>
            <a:xfrm flipH="1">
              <a:off x="2867033" y="1883863"/>
              <a:ext cx="82974" cy="843771"/>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61" name="直接连接符 60"/>
            <p:cNvCxnSpPr>
              <a:stCxn id="47" idx="6"/>
              <a:endCxn id="50" idx="0"/>
            </p:cNvCxnSpPr>
            <p:nvPr/>
          </p:nvCxnSpPr>
          <p:spPr>
            <a:xfrm>
              <a:off x="2609996" y="2220809"/>
              <a:ext cx="257037" cy="506825"/>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62" name="直接连接符 61"/>
            <p:cNvCxnSpPr>
              <a:stCxn id="55" idx="1"/>
              <a:endCxn id="50" idx="3"/>
            </p:cNvCxnSpPr>
            <p:nvPr/>
          </p:nvCxnSpPr>
          <p:spPr>
            <a:xfrm flipH="1">
              <a:off x="3326004" y="3064340"/>
              <a:ext cx="425575" cy="8855"/>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63" name="直接连接符 62"/>
            <p:cNvCxnSpPr>
              <a:stCxn id="43" idx="1"/>
              <a:endCxn id="55" idx="3"/>
            </p:cNvCxnSpPr>
            <p:nvPr/>
          </p:nvCxnSpPr>
          <p:spPr>
            <a:xfrm flipH="1" flipV="1">
              <a:off x="4669522" y="3064340"/>
              <a:ext cx="415727" cy="2914"/>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67" name="直接连接符 66"/>
            <p:cNvCxnSpPr>
              <a:stCxn id="45" idx="1"/>
              <a:endCxn id="43" idx="3"/>
            </p:cNvCxnSpPr>
            <p:nvPr/>
          </p:nvCxnSpPr>
          <p:spPr>
            <a:xfrm flipH="1" flipV="1">
              <a:off x="6003192" y="3067254"/>
              <a:ext cx="435744" cy="4169"/>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70" name="直接连接符 69"/>
            <p:cNvCxnSpPr>
              <a:stCxn id="44" idx="1"/>
              <a:endCxn id="45" idx="3"/>
            </p:cNvCxnSpPr>
            <p:nvPr/>
          </p:nvCxnSpPr>
          <p:spPr>
            <a:xfrm flipH="1" flipV="1">
              <a:off x="7356879" y="3071423"/>
              <a:ext cx="415406" cy="5287"/>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73" name="直接连接符 72"/>
            <p:cNvCxnSpPr>
              <a:stCxn id="36" idx="3"/>
              <a:endCxn id="44" idx="3"/>
            </p:cNvCxnSpPr>
            <p:nvPr/>
          </p:nvCxnSpPr>
          <p:spPr>
            <a:xfrm flipH="1">
              <a:off x="8690228" y="1689511"/>
              <a:ext cx="170183" cy="1387199"/>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76" name="直接连接符 75"/>
            <p:cNvCxnSpPr>
              <a:stCxn id="37" idx="2"/>
              <a:endCxn id="44" idx="3"/>
            </p:cNvCxnSpPr>
            <p:nvPr/>
          </p:nvCxnSpPr>
          <p:spPr>
            <a:xfrm flipH="1">
              <a:off x="8690228" y="2213946"/>
              <a:ext cx="174763" cy="862764"/>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79" name="直接连接符 78"/>
            <p:cNvCxnSpPr>
              <a:stCxn id="38" idx="2"/>
              <a:endCxn id="44" idx="3"/>
            </p:cNvCxnSpPr>
            <p:nvPr/>
          </p:nvCxnSpPr>
          <p:spPr>
            <a:xfrm flipH="1">
              <a:off x="8690228" y="3024489"/>
              <a:ext cx="174763" cy="52221"/>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82" name="直接连接符 81"/>
            <p:cNvCxnSpPr>
              <a:stCxn id="39" idx="2"/>
              <a:endCxn id="44" idx="3"/>
            </p:cNvCxnSpPr>
            <p:nvPr/>
          </p:nvCxnSpPr>
          <p:spPr>
            <a:xfrm flipH="1" flipV="1">
              <a:off x="8690228" y="3076710"/>
              <a:ext cx="174763" cy="822285"/>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85" name="直接连接符 84"/>
            <p:cNvCxnSpPr>
              <a:stCxn id="40" idx="2"/>
              <a:endCxn id="44" idx="3"/>
            </p:cNvCxnSpPr>
            <p:nvPr/>
          </p:nvCxnSpPr>
          <p:spPr>
            <a:xfrm flipH="1" flipV="1">
              <a:off x="8690228" y="3076710"/>
              <a:ext cx="87381" cy="1619331"/>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91" name="直接连接符 90"/>
            <p:cNvCxnSpPr>
              <a:stCxn id="52" idx="4"/>
              <a:endCxn id="43" idx="0"/>
            </p:cNvCxnSpPr>
            <p:nvPr/>
          </p:nvCxnSpPr>
          <p:spPr>
            <a:xfrm>
              <a:off x="5059033" y="1919829"/>
              <a:ext cx="485188" cy="801864"/>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94" name="直接连接符 93"/>
            <p:cNvCxnSpPr>
              <a:stCxn id="35" idx="4"/>
              <a:endCxn id="43" idx="0"/>
            </p:cNvCxnSpPr>
            <p:nvPr/>
          </p:nvCxnSpPr>
          <p:spPr>
            <a:xfrm flipH="1">
              <a:off x="5544221" y="1905193"/>
              <a:ext cx="623641" cy="81650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97" name="直接连接符 96"/>
            <p:cNvCxnSpPr>
              <a:stCxn id="53" idx="0"/>
              <a:endCxn id="43" idx="2"/>
            </p:cNvCxnSpPr>
            <p:nvPr/>
          </p:nvCxnSpPr>
          <p:spPr>
            <a:xfrm flipV="1">
              <a:off x="5069540" y="3412814"/>
              <a:ext cx="474681" cy="729963"/>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00" name="直接连接符 99"/>
            <p:cNvCxnSpPr>
              <a:stCxn id="42" idx="0"/>
              <a:endCxn id="43" idx="2"/>
            </p:cNvCxnSpPr>
            <p:nvPr/>
          </p:nvCxnSpPr>
          <p:spPr>
            <a:xfrm flipH="1" flipV="1">
              <a:off x="5544221" y="3412814"/>
              <a:ext cx="741877" cy="708404"/>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04" name="直接连接符 103"/>
            <p:cNvCxnSpPr>
              <a:stCxn id="50" idx="2"/>
              <a:endCxn id="49" idx="0"/>
            </p:cNvCxnSpPr>
            <p:nvPr/>
          </p:nvCxnSpPr>
          <p:spPr>
            <a:xfrm flipH="1">
              <a:off x="2851323" y="3418755"/>
              <a:ext cx="15710" cy="1091758"/>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07" name="直接连接符 106"/>
            <p:cNvCxnSpPr>
              <a:stCxn id="50" idx="2"/>
              <a:endCxn id="58" idx="0"/>
            </p:cNvCxnSpPr>
            <p:nvPr/>
          </p:nvCxnSpPr>
          <p:spPr>
            <a:xfrm flipH="1">
              <a:off x="2134677" y="3418755"/>
              <a:ext cx="732356" cy="400517"/>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10" name="直接连接符 109"/>
            <p:cNvCxnSpPr>
              <a:stCxn id="50" idx="2"/>
              <a:endCxn id="33" idx="0"/>
            </p:cNvCxnSpPr>
            <p:nvPr/>
          </p:nvCxnSpPr>
          <p:spPr>
            <a:xfrm>
              <a:off x="2867033" y="3418755"/>
              <a:ext cx="759951" cy="368966"/>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sp>
        <p:nvSpPr>
          <p:cNvPr id="114" name="文本框 113"/>
          <p:cNvSpPr txBox="1"/>
          <p:nvPr/>
        </p:nvSpPr>
        <p:spPr>
          <a:xfrm>
            <a:off x="2726996" y="2445617"/>
            <a:ext cx="1463152" cy="429895"/>
          </a:xfrm>
          <a:prstGeom prst="rect">
            <a:avLst/>
          </a:prstGeom>
          <a:noFill/>
        </p:spPr>
        <p:txBody>
          <a:bodyPr wrap="square" rtlCol="0">
            <a:spAutoFit/>
          </a:bodyPr>
          <a:lstStyle/>
          <a:p>
            <a:r>
              <a:rPr lang="zh-CN" altLang="en-US" sz="2200" b="1" dirty="0"/>
              <a:t>教职工号</a:t>
            </a:r>
            <a:endParaRPr lang="zh-CN" altLang="en-US" sz="2200" b="1" dirty="0"/>
          </a:p>
        </p:txBody>
      </p:sp>
      <p:sp>
        <p:nvSpPr>
          <p:cNvPr id="115" name="文本框 114"/>
          <p:cNvSpPr txBox="1"/>
          <p:nvPr/>
        </p:nvSpPr>
        <p:spPr>
          <a:xfrm>
            <a:off x="5002424" y="2498824"/>
            <a:ext cx="1032552" cy="429895"/>
          </a:xfrm>
          <a:prstGeom prst="rect">
            <a:avLst/>
          </a:prstGeom>
          <a:noFill/>
        </p:spPr>
        <p:txBody>
          <a:bodyPr wrap="square" rtlCol="0">
            <a:spAutoFit/>
          </a:bodyPr>
          <a:lstStyle/>
          <a:p>
            <a:r>
              <a:rPr lang="zh-CN" altLang="en-US" sz="2200" b="1" dirty="0"/>
              <a:t>课程号</a:t>
            </a:r>
            <a:endParaRPr lang="zh-CN" altLang="en-US" sz="2200" b="1" dirty="0"/>
          </a:p>
        </p:txBody>
      </p:sp>
      <p:sp>
        <p:nvSpPr>
          <p:cNvPr id="116" name="文本框 115"/>
          <p:cNvSpPr txBox="1"/>
          <p:nvPr/>
        </p:nvSpPr>
        <p:spPr>
          <a:xfrm>
            <a:off x="6112871" y="2527430"/>
            <a:ext cx="1100804" cy="429895"/>
          </a:xfrm>
          <a:prstGeom prst="rect">
            <a:avLst/>
          </a:prstGeom>
          <a:noFill/>
        </p:spPr>
        <p:txBody>
          <a:bodyPr wrap="square" rtlCol="0">
            <a:spAutoFit/>
          </a:bodyPr>
          <a:lstStyle/>
          <a:p>
            <a:r>
              <a:rPr lang="zh-CN" altLang="en-US" sz="2200" b="1" dirty="0"/>
              <a:t>课程名</a:t>
            </a:r>
            <a:endParaRPr lang="zh-CN" altLang="en-US" sz="2200" b="1" dirty="0"/>
          </a:p>
        </p:txBody>
      </p:sp>
      <p:sp>
        <p:nvSpPr>
          <p:cNvPr id="117" name="文本框 116"/>
          <p:cNvSpPr txBox="1"/>
          <p:nvPr/>
        </p:nvSpPr>
        <p:spPr>
          <a:xfrm>
            <a:off x="9267346" y="2328794"/>
            <a:ext cx="1070201" cy="429895"/>
          </a:xfrm>
          <a:prstGeom prst="rect">
            <a:avLst/>
          </a:prstGeom>
          <a:noFill/>
        </p:spPr>
        <p:txBody>
          <a:bodyPr wrap="square" rtlCol="0">
            <a:spAutoFit/>
          </a:bodyPr>
          <a:lstStyle/>
          <a:p>
            <a:r>
              <a:rPr lang="zh-CN" altLang="en-US" sz="2200" b="1" dirty="0"/>
              <a:t>学号</a:t>
            </a:r>
            <a:endParaRPr lang="zh-CN" altLang="en-US" sz="2200" b="1" dirty="0"/>
          </a:p>
        </p:txBody>
      </p:sp>
      <p:sp>
        <p:nvSpPr>
          <p:cNvPr id="118" name="文本框 117"/>
          <p:cNvSpPr txBox="1"/>
          <p:nvPr/>
        </p:nvSpPr>
        <p:spPr>
          <a:xfrm>
            <a:off x="9411796" y="3146566"/>
            <a:ext cx="1067040" cy="429895"/>
          </a:xfrm>
          <a:prstGeom prst="rect">
            <a:avLst/>
          </a:prstGeom>
          <a:noFill/>
        </p:spPr>
        <p:txBody>
          <a:bodyPr wrap="square" rtlCol="0">
            <a:spAutoFit/>
          </a:bodyPr>
          <a:lstStyle/>
          <a:p>
            <a:r>
              <a:rPr lang="zh-CN" altLang="en-US" sz="2200" b="1" dirty="0"/>
              <a:t>姓名</a:t>
            </a:r>
            <a:endParaRPr lang="zh-CN" altLang="en-US" sz="2200" b="1" dirty="0"/>
          </a:p>
        </p:txBody>
      </p:sp>
      <p:sp>
        <p:nvSpPr>
          <p:cNvPr id="119" name="文本框 118"/>
          <p:cNvSpPr txBox="1"/>
          <p:nvPr/>
        </p:nvSpPr>
        <p:spPr>
          <a:xfrm>
            <a:off x="9399501" y="3949644"/>
            <a:ext cx="980551" cy="429895"/>
          </a:xfrm>
          <a:prstGeom prst="rect">
            <a:avLst/>
          </a:prstGeom>
          <a:noFill/>
        </p:spPr>
        <p:txBody>
          <a:bodyPr wrap="square" rtlCol="0">
            <a:spAutoFit/>
          </a:bodyPr>
          <a:lstStyle/>
          <a:p>
            <a:r>
              <a:rPr lang="zh-CN" altLang="en-US" sz="2200" b="1" dirty="0"/>
              <a:t>性别</a:t>
            </a:r>
            <a:endParaRPr lang="zh-CN" altLang="en-US" sz="2200" b="1" dirty="0"/>
          </a:p>
        </p:txBody>
      </p:sp>
      <p:sp>
        <p:nvSpPr>
          <p:cNvPr id="120" name="文本框 119"/>
          <p:cNvSpPr txBox="1"/>
          <p:nvPr/>
        </p:nvSpPr>
        <p:spPr>
          <a:xfrm>
            <a:off x="9394652" y="4812937"/>
            <a:ext cx="949362" cy="429895"/>
          </a:xfrm>
          <a:prstGeom prst="rect">
            <a:avLst/>
          </a:prstGeom>
          <a:noFill/>
        </p:spPr>
        <p:txBody>
          <a:bodyPr wrap="square" rtlCol="0">
            <a:spAutoFit/>
          </a:bodyPr>
          <a:lstStyle/>
          <a:p>
            <a:r>
              <a:rPr lang="zh-CN" altLang="en-US" sz="2200" b="1" dirty="0"/>
              <a:t>年龄</a:t>
            </a:r>
            <a:endParaRPr lang="zh-CN" altLang="en-US" sz="2200" b="1" dirty="0"/>
          </a:p>
        </p:txBody>
      </p:sp>
      <p:sp>
        <p:nvSpPr>
          <p:cNvPr id="121" name="文本框 120"/>
          <p:cNvSpPr txBox="1"/>
          <p:nvPr/>
        </p:nvSpPr>
        <p:spPr>
          <a:xfrm>
            <a:off x="9332216" y="5618127"/>
            <a:ext cx="1011798" cy="429895"/>
          </a:xfrm>
          <a:prstGeom prst="rect">
            <a:avLst/>
          </a:prstGeom>
          <a:noFill/>
        </p:spPr>
        <p:txBody>
          <a:bodyPr wrap="square" rtlCol="0">
            <a:spAutoFit/>
          </a:bodyPr>
          <a:lstStyle/>
          <a:p>
            <a:r>
              <a:rPr lang="zh-CN" altLang="en-US" sz="2200" b="1" dirty="0"/>
              <a:t>专业</a:t>
            </a:r>
            <a:endParaRPr lang="zh-CN" altLang="en-US" sz="2200" b="1" dirty="0"/>
          </a:p>
        </p:txBody>
      </p:sp>
      <p:sp>
        <p:nvSpPr>
          <p:cNvPr id="122" name="文本框 121"/>
          <p:cNvSpPr txBox="1"/>
          <p:nvPr/>
        </p:nvSpPr>
        <p:spPr>
          <a:xfrm>
            <a:off x="8282464" y="3998335"/>
            <a:ext cx="917311" cy="429895"/>
          </a:xfrm>
          <a:prstGeom prst="rect">
            <a:avLst/>
          </a:prstGeom>
          <a:noFill/>
        </p:spPr>
        <p:txBody>
          <a:bodyPr wrap="square" rtlCol="0">
            <a:spAutoFit/>
          </a:bodyPr>
          <a:lstStyle>
            <a:defPPr>
              <a:defRPr lang="zh-CN"/>
            </a:defPPr>
            <a:lvl1pPr>
              <a:defRPr sz="1400"/>
            </a:lvl1pPr>
          </a:lstStyle>
          <a:p>
            <a:r>
              <a:rPr lang="zh-CN" altLang="en-US" sz="2200" b="1" dirty="0"/>
              <a:t>学生</a:t>
            </a:r>
            <a:endParaRPr lang="zh-CN" altLang="en-US" sz="2200" b="1" dirty="0"/>
          </a:p>
        </p:txBody>
      </p:sp>
      <p:sp>
        <p:nvSpPr>
          <p:cNvPr id="123" name="文本框 122"/>
          <p:cNvSpPr txBox="1"/>
          <p:nvPr/>
        </p:nvSpPr>
        <p:spPr>
          <a:xfrm>
            <a:off x="6967992" y="3982444"/>
            <a:ext cx="824288" cy="429895"/>
          </a:xfrm>
          <a:prstGeom prst="rect">
            <a:avLst/>
          </a:prstGeom>
          <a:noFill/>
        </p:spPr>
        <p:txBody>
          <a:bodyPr wrap="square" rtlCol="0">
            <a:spAutoFit/>
          </a:bodyPr>
          <a:lstStyle>
            <a:defPPr>
              <a:defRPr lang="zh-CN"/>
            </a:defPPr>
            <a:lvl1pPr>
              <a:defRPr sz="1400"/>
            </a:lvl1pPr>
          </a:lstStyle>
          <a:p>
            <a:r>
              <a:rPr lang="zh-CN" altLang="en-US" sz="2200" b="1" dirty="0"/>
              <a:t>选课</a:t>
            </a:r>
            <a:endParaRPr lang="zh-CN" altLang="en-US" sz="2200" b="1" dirty="0"/>
          </a:p>
        </p:txBody>
      </p:sp>
      <p:sp>
        <p:nvSpPr>
          <p:cNvPr id="124" name="文本框 123"/>
          <p:cNvSpPr txBox="1"/>
          <p:nvPr/>
        </p:nvSpPr>
        <p:spPr>
          <a:xfrm>
            <a:off x="5621647" y="3975754"/>
            <a:ext cx="829930" cy="429895"/>
          </a:xfrm>
          <a:prstGeom prst="rect">
            <a:avLst/>
          </a:prstGeom>
          <a:noFill/>
        </p:spPr>
        <p:txBody>
          <a:bodyPr wrap="square" rtlCol="0">
            <a:spAutoFit/>
          </a:bodyPr>
          <a:lstStyle>
            <a:defPPr>
              <a:defRPr lang="zh-CN"/>
            </a:defPPr>
            <a:lvl1pPr>
              <a:defRPr sz="1400"/>
            </a:lvl1pPr>
          </a:lstStyle>
          <a:p>
            <a:r>
              <a:rPr lang="zh-CN" altLang="en-US" sz="2200" b="1" dirty="0"/>
              <a:t>课程</a:t>
            </a:r>
            <a:endParaRPr lang="zh-CN" altLang="en-US" sz="2200" b="1" dirty="0"/>
          </a:p>
        </p:txBody>
      </p:sp>
      <p:sp>
        <p:nvSpPr>
          <p:cNvPr id="125" name="文本框 124"/>
          <p:cNvSpPr txBox="1"/>
          <p:nvPr/>
        </p:nvSpPr>
        <p:spPr>
          <a:xfrm>
            <a:off x="4264312" y="3989008"/>
            <a:ext cx="894263" cy="429895"/>
          </a:xfrm>
          <a:prstGeom prst="rect">
            <a:avLst/>
          </a:prstGeom>
          <a:noFill/>
        </p:spPr>
        <p:txBody>
          <a:bodyPr wrap="square" rtlCol="0">
            <a:spAutoFit/>
          </a:bodyPr>
          <a:lstStyle>
            <a:defPPr>
              <a:defRPr lang="zh-CN"/>
            </a:defPPr>
            <a:lvl1pPr>
              <a:defRPr sz="1400"/>
            </a:lvl1pPr>
          </a:lstStyle>
          <a:p>
            <a:r>
              <a:rPr lang="zh-CN" altLang="en-US" sz="2200" b="1" dirty="0"/>
              <a:t>授课</a:t>
            </a:r>
            <a:endParaRPr lang="zh-CN" altLang="en-US" sz="2200" b="1" dirty="0"/>
          </a:p>
        </p:txBody>
      </p:sp>
      <p:sp>
        <p:nvSpPr>
          <p:cNvPr id="126" name="文本框 125"/>
          <p:cNvSpPr txBox="1"/>
          <p:nvPr/>
        </p:nvSpPr>
        <p:spPr>
          <a:xfrm>
            <a:off x="2923152" y="3926204"/>
            <a:ext cx="896071" cy="429895"/>
          </a:xfrm>
          <a:prstGeom prst="rect">
            <a:avLst/>
          </a:prstGeom>
          <a:noFill/>
        </p:spPr>
        <p:txBody>
          <a:bodyPr wrap="square" rtlCol="0">
            <a:spAutoFit/>
          </a:bodyPr>
          <a:lstStyle/>
          <a:p>
            <a:r>
              <a:rPr lang="zh-CN" altLang="en-US" sz="2200" b="1" dirty="0"/>
              <a:t>教师</a:t>
            </a:r>
            <a:endParaRPr lang="zh-CN" altLang="en-US" sz="2200" b="1" dirty="0"/>
          </a:p>
        </p:txBody>
      </p:sp>
      <p:sp>
        <p:nvSpPr>
          <p:cNvPr id="127" name="文本框 126"/>
          <p:cNvSpPr txBox="1"/>
          <p:nvPr/>
        </p:nvSpPr>
        <p:spPr>
          <a:xfrm>
            <a:off x="2201864" y="5084497"/>
            <a:ext cx="847209" cy="429895"/>
          </a:xfrm>
          <a:prstGeom prst="rect">
            <a:avLst/>
          </a:prstGeom>
          <a:noFill/>
        </p:spPr>
        <p:txBody>
          <a:bodyPr wrap="square" rtlCol="0">
            <a:spAutoFit/>
          </a:bodyPr>
          <a:lstStyle/>
          <a:p>
            <a:r>
              <a:rPr lang="zh-CN" altLang="en-US" sz="2200" b="1" dirty="0"/>
              <a:t>性别</a:t>
            </a:r>
            <a:endParaRPr lang="zh-CN" altLang="en-US" sz="2200" b="1" dirty="0"/>
          </a:p>
        </p:txBody>
      </p:sp>
      <p:sp>
        <p:nvSpPr>
          <p:cNvPr id="128" name="文本框 127"/>
          <p:cNvSpPr txBox="1"/>
          <p:nvPr/>
        </p:nvSpPr>
        <p:spPr>
          <a:xfrm>
            <a:off x="3694612" y="5007288"/>
            <a:ext cx="818426" cy="429895"/>
          </a:xfrm>
          <a:prstGeom prst="rect">
            <a:avLst/>
          </a:prstGeom>
          <a:noFill/>
        </p:spPr>
        <p:txBody>
          <a:bodyPr wrap="square" rtlCol="0">
            <a:spAutoFit/>
          </a:bodyPr>
          <a:lstStyle/>
          <a:p>
            <a:r>
              <a:rPr lang="zh-CN" altLang="en-US" sz="2200" b="1" dirty="0"/>
              <a:t>职称</a:t>
            </a:r>
            <a:endParaRPr lang="zh-CN" altLang="en-US" sz="2200" b="1" dirty="0"/>
          </a:p>
        </p:txBody>
      </p:sp>
      <p:sp>
        <p:nvSpPr>
          <p:cNvPr id="129" name="文本框 128"/>
          <p:cNvSpPr txBox="1"/>
          <p:nvPr/>
        </p:nvSpPr>
        <p:spPr>
          <a:xfrm>
            <a:off x="2971839" y="5795343"/>
            <a:ext cx="908771" cy="429895"/>
          </a:xfrm>
          <a:prstGeom prst="rect">
            <a:avLst/>
          </a:prstGeom>
          <a:noFill/>
        </p:spPr>
        <p:txBody>
          <a:bodyPr wrap="square" rtlCol="0">
            <a:spAutoFit/>
          </a:bodyPr>
          <a:lstStyle/>
          <a:p>
            <a:r>
              <a:rPr lang="zh-CN" altLang="en-US" sz="2200" b="1" dirty="0"/>
              <a:t>年龄</a:t>
            </a:r>
            <a:endParaRPr lang="zh-CN" altLang="en-US" sz="2200" b="1" dirty="0"/>
          </a:p>
        </p:txBody>
      </p:sp>
      <p:sp>
        <p:nvSpPr>
          <p:cNvPr id="130" name="文本框 129"/>
          <p:cNvSpPr txBox="1"/>
          <p:nvPr/>
        </p:nvSpPr>
        <p:spPr>
          <a:xfrm>
            <a:off x="4980533" y="5421161"/>
            <a:ext cx="1079020" cy="429895"/>
          </a:xfrm>
          <a:prstGeom prst="rect">
            <a:avLst/>
          </a:prstGeom>
          <a:noFill/>
        </p:spPr>
        <p:txBody>
          <a:bodyPr wrap="square" rtlCol="0">
            <a:spAutoFit/>
          </a:bodyPr>
          <a:lstStyle/>
          <a:p>
            <a:r>
              <a:rPr lang="zh-CN" altLang="en-US" sz="2200" b="1" dirty="0"/>
              <a:t>学时数</a:t>
            </a:r>
            <a:endParaRPr lang="zh-CN" altLang="en-US" sz="2200" b="1" dirty="0"/>
          </a:p>
        </p:txBody>
      </p:sp>
      <p:sp>
        <p:nvSpPr>
          <p:cNvPr id="131" name="文本框 130"/>
          <p:cNvSpPr txBox="1"/>
          <p:nvPr/>
        </p:nvSpPr>
        <p:spPr>
          <a:xfrm>
            <a:off x="6183403" y="5378186"/>
            <a:ext cx="1079020" cy="429895"/>
          </a:xfrm>
          <a:prstGeom prst="rect">
            <a:avLst/>
          </a:prstGeom>
          <a:noFill/>
        </p:spPr>
        <p:txBody>
          <a:bodyPr wrap="square" rtlCol="0">
            <a:spAutoFit/>
          </a:bodyPr>
          <a:lstStyle/>
          <a:p>
            <a:r>
              <a:rPr lang="zh-CN" altLang="en-US" sz="2200" b="1" dirty="0"/>
              <a:t>学分数</a:t>
            </a:r>
            <a:endParaRPr lang="zh-CN" altLang="en-US" sz="2200" b="1" dirty="0"/>
          </a:p>
        </p:txBody>
      </p:sp>
      <p:sp>
        <p:nvSpPr>
          <p:cNvPr id="132" name="文本框 131"/>
          <p:cNvSpPr txBox="1"/>
          <p:nvPr/>
        </p:nvSpPr>
        <p:spPr>
          <a:xfrm>
            <a:off x="2227364" y="3128529"/>
            <a:ext cx="883387" cy="429895"/>
          </a:xfrm>
          <a:prstGeom prst="rect">
            <a:avLst/>
          </a:prstGeom>
          <a:noFill/>
        </p:spPr>
        <p:txBody>
          <a:bodyPr wrap="square" rtlCol="0">
            <a:spAutoFit/>
          </a:bodyPr>
          <a:lstStyle/>
          <a:p>
            <a:r>
              <a:rPr lang="zh-CN" altLang="en-US" sz="2200" b="1" dirty="0"/>
              <a:t>姓名</a:t>
            </a:r>
            <a:endParaRPr lang="zh-CN" altLang="en-US" sz="2200" b="1" dirty="0"/>
          </a:p>
        </p:txBody>
      </p:sp>
      <p:sp>
        <p:nvSpPr>
          <p:cNvPr id="133" name="文本框 132"/>
          <p:cNvSpPr txBox="1"/>
          <p:nvPr/>
        </p:nvSpPr>
        <p:spPr>
          <a:xfrm>
            <a:off x="3944986" y="4368728"/>
            <a:ext cx="474681" cy="368300"/>
          </a:xfrm>
          <a:prstGeom prst="rect">
            <a:avLst/>
          </a:prstGeom>
          <a:noFill/>
        </p:spPr>
        <p:txBody>
          <a:bodyPr wrap="square" rtlCol="0">
            <a:spAutoFit/>
          </a:bodyPr>
          <a:lstStyle/>
          <a:p>
            <a:r>
              <a:rPr lang="en-US" altLang="zh-CN" b="1" dirty="0"/>
              <a:t>M</a:t>
            </a:r>
            <a:endParaRPr lang="en-US" altLang="zh-CN" b="1" dirty="0"/>
          </a:p>
        </p:txBody>
      </p:sp>
      <p:sp>
        <p:nvSpPr>
          <p:cNvPr id="134" name="文本框 133"/>
          <p:cNvSpPr txBox="1"/>
          <p:nvPr/>
        </p:nvSpPr>
        <p:spPr>
          <a:xfrm>
            <a:off x="4934737" y="4367076"/>
            <a:ext cx="474681" cy="368300"/>
          </a:xfrm>
          <a:prstGeom prst="rect">
            <a:avLst/>
          </a:prstGeom>
          <a:noFill/>
        </p:spPr>
        <p:txBody>
          <a:bodyPr wrap="square" rtlCol="0">
            <a:spAutoFit/>
          </a:bodyPr>
          <a:lstStyle/>
          <a:p>
            <a:r>
              <a:rPr lang="en-US" altLang="zh-CN" b="1" dirty="0"/>
              <a:t>N</a:t>
            </a:r>
            <a:endParaRPr lang="en-US" altLang="zh-CN" b="1" dirty="0"/>
          </a:p>
        </p:txBody>
      </p:sp>
      <p:sp>
        <p:nvSpPr>
          <p:cNvPr id="135" name="文本框 134"/>
          <p:cNvSpPr txBox="1"/>
          <p:nvPr/>
        </p:nvSpPr>
        <p:spPr>
          <a:xfrm>
            <a:off x="6576085" y="4344272"/>
            <a:ext cx="474681" cy="429895"/>
          </a:xfrm>
          <a:prstGeom prst="rect">
            <a:avLst/>
          </a:prstGeom>
          <a:noFill/>
        </p:spPr>
        <p:txBody>
          <a:bodyPr wrap="square" rtlCol="0">
            <a:spAutoFit/>
          </a:bodyPr>
          <a:lstStyle/>
          <a:p>
            <a:r>
              <a:rPr lang="en-US" altLang="zh-CN" sz="2200" b="1" dirty="0"/>
              <a:t>N</a:t>
            </a:r>
            <a:endParaRPr lang="en-US" altLang="zh-CN" sz="2200" b="1" dirty="0"/>
          </a:p>
        </p:txBody>
      </p:sp>
      <p:sp>
        <p:nvSpPr>
          <p:cNvPr id="136" name="文本框 135"/>
          <p:cNvSpPr txBox="1"/>
          <p:nvPr/>
        </p:nvSpPr>
        <p:spPr>
          <a:xfrm>
            <a:off x="7579906" y="4332501"/>
            <a:ext cx="474681" cy="429895"/>
          </a:xfrm>
          <a:prstGeom prst="rect">
            <a:avLst/>
          </a:prstGeom>
          <a:noFill/>
        </p:spPr>
        <p:txBody>
          <a:bodyPr wrap="square" rtlCol="0">
            <a:spAutoFit/>
          </a:bodyPr>
          <a:lstStyle/>
          <a:p>
            <a:r>
              <a:rPr lang="en-US" altLang="zh-CN" sz="2200" b="1" dirty="0"/>
              <a:t>M</a:t>
            </a:r>
            <a:endParaRPr lang="en-US" altLang="zh-CN" sz="2200" b="1" dirty="0"/>
          </a:p>
        </p:txBody>
      </p:sp>
      <p:sp>
        <p:nvSpPr>
          <p:cNvPr id="77" name="文本框 7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68"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）实体</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关系图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69" name="矩形 68"/>
          <p:cNvSpPr/>
          <p:nvPr/>
        </p:nvSpPr>
        <p:spPr>
          <a:xfrm>
            <a:off x="1634836" y="1930400"/>
            <a:ext cx="8968509" cy="4414983"/>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1" name="文本框 67"/>
          <p:cNvSpPr>
            <a:spLocks noChangeArrowheads="1"/>
          </p:cNvSpPr>
          <p:nvPr/>
        </p:nvSpPr>
        <p:spPr bwMode="auto">
          <a:xfrm>
            <a:off x="2969419" y="1699943"/>
            <a:ext cx="6864694" cy="429895"/>
          </a:xfrm>
          <a:prstGeom prst="rect">
            <a:avLst/>
          </a:prstGeom>
          <a:solidFill>
            <a:schemeClr val="bg1"/>
          </a:solidFill>
          <a:ln>
            <a:solidFill>
              <a:srgbClr val="FF0000"/>
            </a:solidFill>
          </a:ln>
        </p:spPr>
        <p:txBody>
          <a:bodyPr wrap="square">
            <a:spAutoFit/>
          </a:bodyPr>
          <a:lstStyle/>
          <a:p>
            <a:pPr lvl="0" algn="ctr" fontAlgn="base">
              <a:spcBef>
                <a:spcPct val="0"/>
              </a:spcBef>
              <a:spcAft>
                <a:spcPct val="0"/>
              </a:spcAft>
              <a:defRPr/>
            </a:pPr>
            <a:r>
              <a:rPr lang="zh-CN" altLang="en-US" sz="2200" b="1" kern="0" dirty="0">
                <a:solidFill>
                  <a:srgbClr val="FF0000"/>
                </a:solidFill>
                <a:latin typeface="宋体" panose="02010600030101010101" pitchFamily="2" charset="-122"/>
                <a:sym typeface="宋体" panose="02010600030101010101" pitchFamily="2" charset="-122"/>
              </a:rPr>
              <a:t>本科生应用系统中教师、学生和课程之间的实体</a:t>
            </a:r>
            <a:r>
              <a:rPr lang="en-US" altLang="zh-CN" sz="2200" b="1" kern="0" dirty="0">
                <a:solidFill>
                  <a:srgbClr val="FF0000"/>
                </a:solidFill>
                <a:latin typeface="宋体" panose="02010600030101010101" pitchFamily="2" charset="-122"/>
                <a:sym typeface="宋体" panose="02010600030101010101" pitchFamily="2" charset="-122"/>
              </a:rPr>
              <a:t>-</a:t>
            </a:r>
            <a:r>
              <a:rPr lang="zh-CN" altLang="en-US" sz="2200" b="1" kern="0" dirty="0">
                <a:solidFill>
                  <a:srgbClr val="FF0000"/>
                </a:solidFill>
                <a:latin typeface="宋体" panose="02010600030101010101" pitchFamily="2" charset="-122"/>
                <a:sym typeface="宋体" panose="02010600030101010101" pitchFamily="2" charset="-122"/>
              </a:rPr>
              <a:t>关系</a:t>
            </a:r>
            <a:endParaRPr lang="zh-CN" altLang="en-US" sz="2200" b="1" kern="0" dirty="0">
              <a:solidFill>
                <a:srgbClr val="FF0000"/>
              </a:solidFill>
              <a:latin typeface="宋体" panose="02010600030101010101" pitchFamily="2" charset="-122"/>
              <a:ea typeface="宋体" panose="02010600030101010101" pitchFamily="2" charset="-122"/>
              <a:sym typeface="宋体" panose="02010600030101010101" pitchFamily="2" charset="-122"/>
            </a:endParaRPr>
          </a:p>
        </p:txBody>
      </p:sp>
      <p:sp>
        <p:nvSpPr>
          <p:cNvPr id="2" name="日期占位符 1"/>
          <p:cNvSpPr>
            <a:spLocks noGrp="1"/>
          </p:cNvSpPr>
          <p:nvPr>
            <p:ph type="dt" sz="half" idx="10"/>
          </p:nvPr>
        </p:nvSpPr>
        <p:spPr/>
        <p:txBody>
          <a:bodyPr/>
          <a:lstStyle/>
          <a:p>
            <a:pPr>
              <a:defRPr/>
            </a:pPr>
            <a:fld id="{C7AC4E47-5443-4978-B63D-2C237A332082}"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3" name="灯片编号占位符 2"/>
          <p:cNvSpPr>
            <a:spLocks noGrp="1"/>
          </p:cNvSpPr>
          <p:nvPr>
            <p:ph type="sldNum" sz="quarter" idx="12"/>
          </p:nvPr>
        </p:nvSpPr>
        <p:spPr/>
        <p:txBody>
          <a:bodyPr/>
          <a:lstStyle/>
          <a:p>
            <a:pPr>
              <a:defRPr/>
            </a:pPr>
            <a:fld id="{0519FDB0-D360-4966-A01C-1D1C6BB19AF3}" type="slidenum">
              <a:rPr lang="zh-CN" altLang="en-US" b="1" smtClean="0">
                <a:solidFill>
                  <a:prstClr val="black">
                    <a:tint val="75000"/>
                  </a:prstClr>
                </a:solidFill>
              </a:rPr>
            </a:fld>
            <a:endParaRPr lang="zh-CN" altLang="en-US" b="1" dirty="0" smtClean="0">
              <a:solidFill>
                <a:prstClr val="black">
                  <a:tint val="75000"/>
                </a:prstClr>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additive="base">
                                        <p:cTn id="7" dur="500"/>
                                        <p:tgtEl>
                                          <p:spTgt spid="68"/>
                                        </p:tgtEl>
                                        <p:attrNameLst>
                                          <p:attrName>ppt_x</p:attrName>
                                        </p:attrNameLst>
                                      </p:cBhvr>
                                      <p:tavLst>
                                        <p:tav tm="0">
                                          <p:val>
                                            <p:strVal val="#ppt_x+#ppt_w*1.125000"/>
                                          </p:val>
                                        </p:tav>
                                        <p:tav tm="100000">
                                          <p:val>
                                            <p:strVal val="#ppt_x"/>
                                          </p:val>
                                        </p:tav>
                                      </p:tavLst>
                                    </p:anim>
                                    <p:animEffect transition="in" filter="wipe(left)">
                                      <p:cBhvr>
                                        <p:cTn id="8" dur="500"/>
                                        <p:tgtEl>
                                          <p:spTgt spid="68"/>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2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2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2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3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3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3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3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3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3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115" grpId="0"/>
      <p:bldP spid="116" grpId="0"/>
      <p:bldP spid="117" grpId="0"/>
      <p:bldP spid="118" grpId="0"/>
      <p:bldP spid="119" grpId="0"/>
      <p:bldP spid="120" grpId="0"/>
      <p:bldP spid="121" grpId="0"/>
      <p:bldP spid="122" grpId="0"/>
      <p:bldP spid="123" grpId="0"/>
      <p:bldP spid="124" grpId="0"/>
      <p:bldP spid="125" grpId="0"/>
      <p:bldP spid="126" grpId="0"/>
      <p:bldP spid="127" grpId="0"/>
      <p:bldP spid="128" grpId="0"/>
      <p:bldP spid="129" grpId="0"/>
      <p:bldP spid="130" grpId="0"/>
      <p:bldP spid="131" grpId="0"/>
      <p:bldP spid="132" grpId="0"/>
      <p:bldP spid="133" grpId="0"/>
      <p:bldP spid="134" grpId="0"/>
      <p:bldP spid="135" grpId="0"/>
      <p:bldP spid="136" grpId="0"/>
      <p:bldP spid="68" grpId="0"/>
      <p:bldP spid="69" grpId="0" animBg="1"/>
      <p:bldP spid="71"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78" name="矩形: 圆角 177"/>
          <p:cNvSpPr/>
          <p:nvPr/>
        </p:nvSpPr>
        <p:spPr>
          <a:xfrm>
            <a:off x="698500" y="1607557"/>
            <a:ext cx="10795000" cy="54192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rgbClr val="FF0000"/>
                </a:solidFill>
                <a:latin typeface="+mn-ea"/>
              </a:rPr>
              <a:t>什么是状态转换图？</a:t>
            </a:r>
            <a:endParaRPr lang="zh-CN" altLang="en-US" sz="2200" b="1" dirty="0">
              <a:solidFill>
                <a:srgbClr val="FF0000"/>
              </a:solidFill>
              <a:latin typeface="+mn-ea"/>
            </a:endParaRPr>
          </a:p>
        </p:txBody>
      </p:sp>
      <p:sp>
        <p:nvSpPr>
          <p:cNvPr id="176" name="矩形: 圆角 175"/>
          <p:cNvSpPr/>
          <p:nvPr/>
        </p:nvSpPr>
        <p:spPr>
          <a:xfrm>
            <a:off x="701591" y="2127776"/>
            <a:ext cx="10223404" cy="3801979"/>
          </a:xfrm>
          <a:prstGeom prst="roundRect">
            <a:avLst/>
          </a:prstGeom>
        </p:spPr>
        <p:txBody>
          <a:bodyPr wrap="square" lIns="144000" tIns="0" rIns="144000" bIns="0">
            <a:noAutofit/>
          </a:bodyPr>
          <a:lstStyle/>
          <a:p>
            <a:pPr algn="just">
              <a:lnSpc>
                <a:spcPct val="120000"/>
              </a:lnSpc>
            </a:pPr>
            <a:endParaRPr lang="en-US" altLang="zh-CN" sz="2000" b="1" dirty="0">
              <a:solidFill>
                <a:srgbClr val="000000"/>
              </a:solidFill>
            </a:endParaRPr>
          </a:p>
        </p:txBody>
      </p:sp>
      <p:sp>
        <p:nvSpPr>
          <p:cNvPr id="180" name="文本框 179"/>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542926" y="2192551"/>
            <a:ext cx="10950574" cy="429895"/>
          </a:xfrm>
          <a:prstGeom prst="rect">
            <a:avLst/>
          </a:prstGeom>
          <a:solidFill>
            <a:schemeClr val="accent6">
              <a:lumMod val="20000"/>
              <a:lumOff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0" lang="zh-CN" altLang="en-US" sz="18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t>
            </a: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所有软件系统都包含功能行为、数据操作和状态转变</a:t>
            </a:r>
            <a:endPar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2" name="文本框 11"/>
          <p:cNvSpPr txBox="1"/>
          <p:nvPr/>
        </p:nvSpPr>
        <p:spPr>
          <a:xfrm>
            <a:off x="523875" y="2668724"/>
            <a:ext cx="10964881" cy="768350"/>
          </a:xfrm>
          <a:prstGeom prst="rect">
            <a:avLst/>
          </a:prstGeom>
          <a:solidFill>
            <a:schemeClr val="accent5">
              <a:lumMod val="20000"/>
              <a:lumOff val="80000"/>
            </a:schemeClr>
          </a:solidFill>
        </p:spPr>
        <p:txBody>
          <a:bodyPr wrap="square" rtlCol="0">
            <a:spAutoFit/>
          </a:bodyPr>
          <a:lstStyle/>
          <a:p>
            <a:r>
              <a:rPr lang="en-US" altLang="zh-CN" sz="2200" b="1" dirty="0">
                <a:solidFill>
                  <a:prstClr val="black"/>
                </a:solidFill>
                <a:latin typeface="Calibri" panose="020F0502020204030204"/>
                <a:ea typeface="宋体" panose="02010600030101010101" pitchFamily="2" charset="-122"/>
              </a:rPr>
              <a:t>2</a:t>
            </a:r>
            <a:r>
              <a:rPr lang="zh-CN" altLang="en-US" sz="2200" b="1" dirty="0">
                <a:solidFill>
                  <a:prstClr val="black"/>
                </a:solidFill>
                <a:latin typeface="Calibri" panose="020F0502020204030204"/>
                <a:ea typeface="宋体" panose="02010600030101010101" pitchFamily="2" charset="-122"/>
              </a:rPr>
              <a:t>）实时系统和过程控制应用程序可在任何给定的时间内以有限状态中的某一种状态存在</a:t>
            </a:r>
            <a:endParaRPr lang="zh-CN" altLang="en-US" sz="2200" b="1" dirty="0">
              <a:solidFill>
                <a:prstClr val="black"/>
              </a:solidFill>
              <a:latin typeface="Calibri" panose="020F0502020204030204"/>
              <a:ea typeface="宋体" panose="02010600030101010101" pitchFamily="2" charset="-122"/>
            </a:endParaRPr>
          </a:p>
        </p:txBody>
      </p:sp>
      <p:sp>
        <p:nvSpPr>
          <p:cNvPr id="13" name="文本框 12"/>
          <p:cNvSpPr txBox="1"/>
          <p:nvPr/>
        </p:nvSpPr>
        <p:spPr>
          <a:xfrm>
            <a:off x="523875" y="3170385"/>
            <a:ext cx="10969625" cy="768350"/>
          </a:xfrm>
          <a:prstGeom prst="rect">
            <a:avLst/>
          </a:prstGeom>
          <a:solidFill>
            <a:schemeClr val="accent4">
              <a:lumMod val="20000"/>
              <a:lumOff val="80000"/>
            </a:schemeClr>
          </a:solidFill>
        </p:spPr>
        <p:txBody>
          <a:bodyPr wrap="square" rtlCol="0">
            <a:spAutoFit/>
          </a:bodyPr>
          <a:lstStyle/>
          <a:p>
            <a:r>
              <a:rPr lang="en-US" altLang="zh-CN" sz="2200" b="1" dirty="0">
                <a:solidFill>
                  <a:prstClr val="black"/>
                </a:solidFill>
                <a:latin typeface="Calibri" panose="020F0502020204030204"/>
                <a:ea typeface="宋体" panose="02010600030101010101" pitchFamily="2" charset="-122"/>
              </a:rPr>
              <a:t>3</a:t>
            </a:r>
            <a:r>
              <a:rPr lang="zh-CN" altLang="en-US" sz="2200" b="1" dirty="0">
                <a:solidFill>
                  <a:prstClr val="black"/>
                </a:solidFill>
                <a:latin typeface="Calibri" panose="020F0502020204030204"/>
                <a:ea typeface="宋体" panose="02010600030101010101" pitchFamily="2" charset="-122"/>
              </a:rPr>
              <a:t>）当满足所定义的标准时，状态就会发生改变。例如：在特定条件下，接收到一个特定的输入激励，这样的系统是有限状态机的例子</a:t>
            </a:r>
            <a:endParaRPr lang="en-US" altLang="zh-CN" sz="2200" b="1" dirty="0">
              <a:solidFill>
                <a:prstClr val="black"/>
              </a:solidFill>
              <a:latin typeface="Calibri" panose="020F0502020204030204"/>
              <a:ea typeface="宋体" panose="02010600030101010101" pitchFamily="2" charset="-122"/>
            </a:endParaRPr>
          </a:p>
        </p:txBody>
      </p:sp>
      <p:sp>
        <p:nvSpPr>
          <p:cNvPr id="14" name="文本框 13"/>
          <p:cNvSpPr txBox="1"/>
          <p:nvPr/>
        </p:nvSpPr>
        <p:spPr>
          <a:xfrm>
            <a:off x="519131" y="3958448"/>
            <a:ext cx="10958062" cy="768350"/>
          </a:xfrm>
          <a:prstGeom prst="rect">
            <a:avLst/>
          </a:prstGeom>
          <a:solidFill>
            <a:schemeClr val="accent3">
              <a:lumMod val="20000"/>
              <a:lumOff val="80000"/>
            </a:schemeClr>
          </a:solidFill>
        </p:spPr>
        <p:txBody>
          <a:bodyPr wrap="square" rtlCol="0">
            <a:spAutoFit/>
          </a:bodyPr>
          <a:lstStyle/>
          <a:p>
            <a:r>
              <a:rPr lang="en-US" altLang="zh-CN" sz="2200" b="1" dirty="0">
                <a:solidFill>
                  <a:prstClr val="black"/>
                </a:solidFill>
                <a:latin typeface="Calibri" panose="020F0502020204030204"/>
                <a:ea typeface="宋体" panose="02010600030101010101" pitchFamily="2" charset="-122"/>
              </a:rPr>
              <a:t>4</a:t>
            </a:r>
            <a:r>
              <a:rPr lang="zh-CN" altLang="en-US" sz="2200" b="1" dirty="0">
                <a:solidFill>
                  <a:prstClr val="black"/>
                </a:solidFill>
                <a:latin typeface="Calibri" panose="020F0502020204030204"/>
                <a:ea typeface="宋体" panose="02010600030101010101" pitchFamily="2" charset="-122"/>
              </a:rPr>
              <a:t>）用自然语言描述一个复杂的有限状态机可能会忽略一个允许的状态改变或者引起一个不允许的改变</a:t>
            </a:r>
            <a:endParaRPr lang="en-US" altLang="zh-CN" sz="2200" b="1" dirty="0">
              <a:solidFill>
                <a:prstClr val="black"/>
              </a:solidFill>
              <a:latin typeface="Calibri" panose="020F0502020204030204"/>
              <a:ea typeface="宋体" panose="02010600030101010101" pitchFamily="2" charset="-122"/>
            </a:endParaRPr>
          </a:p>
        </p:txBody>
      </p:sp>
      <p:sp>
        <p:nvSpPr>
          <p:cNvPr id="15" name="文本框 14"/>
          <p:cNvSpPr txBox="1"/>
          <p:nvPr/>
        </p:nvSpPr>
        <p:spPr>
          <a:xfrm>
            <a:off x="519131" y="4745190"/>
            <a:ext cx="10931525" cy="768350"/>
          </a:xfrm>
          <a:prstGeom prst="rect">
            <a:avLst/>
          </a:prstGeom>
          <a:solidFill>
            <a:schemeClr val="accent2">
              <a:lumMod val="20000"/>
              <a:lumOff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200" b="1" dirty="0">
                <a:solidFill>
                  <a:prstClr val="black"/>
                </a:solidFill>
                <a:latin typeface="Calibri" panose="020F0502020204030204"/>
                <a:ea typeface="宋体" panose="02010600030101010101" pitchFamily="2" charset="-122"/>
              </a:rPr>
              <a:t>5</a:t>
            </a:r>
            <a:r>
              <a:rPr lang="zh-CN" altLang="en-US" sz="2200" b="1" dirty="0">
                <a:solidFill>
                  <a:prstClr val="black"/>
                </a:solidFill>
                <a:latin typeface="Calibri" panose="020F0502020204030204"/>
                <a:ea typeface="宋体" panose="02010600030101010101" pitchFamily="2" charset="-122"/>
              </a:rPr>
              <a:t>）与状态机的行为有关的需求可能将多次出现在软件需求规格说明中，它取决于软件需求规格说明是如何组织的。这对综合理解系统行为造成困难</a:t>
            </a:r>
            <a:endParaRPr lang="zh-CN" altLang="en-US" sz="2200" b="1" dirty="0">
              <a:solidFill>
                <a:prstClr val="black"/>
              </a:solidFill>
              <a:latin typeface="Calibri" panose="020F0502020204030204"/>
              <a:ea typeface="宋体" panose="02010600030101010101" pitchFamily="2" charset="-122"/>
            </a:endParaRPr>
          </a:p>
        </p:txBody>
      </p:sp>
      <p:sp>
        <p:nvSpPr>
          <p:cNvPr id="16" name="文本框 15"/>
          <p:cNvSpPr txBox="1"/>
          <p:nvPr/>
        </p:nvSpPr>
        <p:spPr>
          <a:xfrm>
            <a:off x="519131" y="5536829"/>
            <a:ext cx="10969625" cy="768350"/>
          </a:xfrm>
          <a:prstGeom prst="rect">
            <a:avLst/>
          </a:prstGeom>
          <a:solidFill>
            <a:schemeClr val="accent1">
              <a:lumMod val="20000"/>
              <a:lumOff val="80000"/>
            </a:schemeClr>
          </a:solidFill>
        </p:spPr>
        <p:txBody>
          <a:bodyPr wrap="square" rtlCol="0">
            <a:spAutoFit/>
          </a:bodyPr>
          <a:lstStyle/>
          <a:p>
            <a:pPr>
              <a:defRPr/>
            </a:pPr>
            <a:r>
              <a:rPr lang="en-US" altLang="zh-CN" sz="2200" b="1" dirty="0">
                <a:solidFill>
                  <a:prstClr val="black"/>
                </a:solidFill>
                <a:latin typeface="Calibri" panose="020F0502020204030204"/>
                <a:ea typeface="宋体" panose="02010600030101010101" pitchFamily="2" charset="-122"/>
              </a:rPr>
              <a:t>6</a:t>
            </a:r>
            <a:r>
              <a:rPr lang="zh-CN" altLang="en-US" sz="2200" b="1" dirty="0">
                <a:solidFill>
                  <a:prstClr val="black"/>
                </a:solidFill>
                <a:latin typeface="Calibri" panose="020F0502020204030204"/>
                <a:ea typeface="宋体" panose="02010600030101010101" pitchFamily="2" charset="-122"/>
              </a:rPr>
              <a:t>）状态转换图</a:t>
            </a:r>
            <a:r>
              <a:rPr lang="en-US" altLang="zh-CN" sz="2200" b="1" dirty="0">
                <a:solidFill>
                  <a:prstClr val="black"/>
                </a:solidFill>
                <a:latin typeface="Calibri" panose="020F0502020204030204"/>
                <a:ea typeface="宋体" panose="02010600030101010101" pitchFamily="2" charset="-122"/>
              </a:rPr>
              <a:t>(State Transition Diagram</a:t>
            </a:r>
            <a:r>
              <a:rPr lang="zh-CN" altLang="en-US" sz="2200" b="1" dirty="0">
                <a:solidFill>
                  <a:prstClr val="black"/>
                </a:solidFill>
                <a:latin typeface="Calibri" panose="020F0502020204030204"/>
                <a:ea typeface="宋体" panose="02010600030101010101" pitchFamily="2" charset="-122"/>
              </a:rPr>
              <a:t>，</a:t>
            </a:r>
            <a:r>
              <a:rPr lang="en-US" altLang="zh-CN" sz="2200" b="1" dirty="0">
                <a:solidFill>
                  <a:prstClr val="black"/>
                </a:solidFill>
                <a:latin typeface="Calibri" panose="020F0502020204030204"/>
                <a:ea typeface="宋体" panose="02010600030101010101" pitchFamily="2" charset="-122"/>
              </a:rPr>
              <a:t>STD)</a:t>
            </a:r>
            <a:r>
              <a:rPr lang="zh-CN" altLang="en-US" sz="2200" b="1" dirty="0">
                <a:solidFill>
                  <a:prstClr val="black"/>
                </a:solidFill>
                <a:latin typeface="Calibri" panose="020F0502020204030204"/>
                <a:ea typeface="宋体" panose="02010600030101010101" pitchFamily="2" charset="-122"/>
              </a:rPr>
              <a:t>为有限状态机提供了一个简洁、完整、无二义性的表示</a:t>
            </a:r>
            <a:endParaRPr lang="zh-CN" altLang="en-US" sz="2200" b="1" dirty="0">
              <a:solidFill>
                <a:prstClr val="black"/>
              </a:solidFill>
              <a:latin typeface="Calibri" panose="020F0502020204030204"/>
              <a:ea typeface="宋体" panose="02010600030101010101" pitchFamily="2" charset="-122"/>
            </a:endParaRPr>
          </a:p>
        </p:txBody>
      </p:sp>
      <p:sp>
        <p:nvSpPr>
          <p:cNvPr id="19"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5</a:t>
            </a:r>
            <a:r>
              <a:rPr lang="zh-CN" altLang="en-US" sz="2400" b="1" kern="0" dirty="0">
                <a:latin typeface="宋体" panose="02010600030101010101" pitchFamily="2" charset="-122"/>
                <a:sym typeface="宋体" panose="02010600030101010101" pitchFamily="2" charset="-122"/>
              </a:rPr>
              <a:t>）状态转换图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17" name="矩形: 圆角 16"/>
          <p:cNvSpPr/>
          <p:nvPr/>
        </p:nvSpPr>
        <p:spPr>
          <a:xfrm>
            <a:off x="320267" y="2088623"/>
            <a:ext cx="11328807" cy="4302438"/>
          </a:xfrm>
          <a:prstGeom prst="round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p:txBody>
      </p:sp>
      <p:sp>
        <p:nvSpPr>
          <p:cNvPr id="2" name="日期占位符 1"/>
          <p:cNvSpPr>
            <a:spLocks noGrp="1"/>
          </p:cNvSpPr>
          <p:nvPr>
            <p:ph type="dt" sz="half" idx="10"/>
          </p:nvPr>
        </p:nvSpPr>
        <p:spPr/>
        <p:txBody>
          <a:bodyPr/>
          <a:lstStyle/>
          <a:p>
            <a:pPr>
              <a:defRPr/>
            </a:pPr>
            <a:fld id="{FE0BBB56-2743-4124-861D-8FC30E7AFEE9}"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p:tgtEl>
                                          <p:spTgt spid="19"/>
                                        </p:tgtEl>
                                        <p:attrNameLst>
                                          <p:attrName>ppt_x</p:attrName>
                                        </p:attrNameLst>
                                      </p:cBhvr>
                                      <p:tavLst>
                                        <p:tav tm="0">
                                          <p:val>
                                            <p:strVal val="#ppt_x+#ppt_w*1.125000"/>
                                          </p:val>
                                        </p:tav>
                                        <p:tav tm="100000">
                                          <p:val>
                                            <p:strVal val="#ppt_x"/>
                                          </p:val>
                                        </p:tav>
                                      </p:tavLst>
                                    </p:anim>
                                    <p:animEffect transition="in" filter="wipe(left)">
                                      <p:cBhvr>
                                        <p:cTn id="8" dur="500"/>
                                        <p:tgtEl>
                                          <p:spTgt spid="19"/>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 grpId="0"/>
      <p:bldP spid="11" grpId="0" bldLvl="0" animBg="1"/>
      <p:bldP spid="12" grpId="0" bldLvl="0" animBg="1"/>
      <p:bldP spid="13" grpId="0" bldLvl="0" animBg="1"/>
      <p:bldP spid="14" grpId="0" bldLvl="0" animBg="1"/>
      <p:bldP spid="15" grpId="0" bldLvl="0" animBg="1"/>
      <p:bldP spid="16" grpId="0" bldLvl="0" animBg="1"/>
      <p:bldP spid="19" grpId="0"/>
      <p:bldP spid="1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5"/>
          <p:cNvGrpSpPr/>
          <p:nvPr/>
        </p:nvGrpSpPr>
        <p:grpSpPr>
          <a:xfrm>
            <a:off x="108557" y="337632"/>
            <a:ext cx="525184" cy="422276"/>
            <a:chOff x="5075564" y="2933562"/>
            <a:chExt cx="2860947" cy="2302753"/>
          </a:xfrm>
        </p:grpSpPr>
        <p:sp>
          <p:nvSpPr>
            <p:cNvPr id="21" name="等腰三角形 2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22" name="等腰三角形 2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4" name="任意多边形: 形状 3"/>
          <p:cNvSpPr/>
          <p:nvPr/>
        </p:nvSpPr>
        <p:spPr>
          <a:xfrm>
            <a:off x="2668248" y="3512714"/>
            <a:ext cx="1257211" cy="1321622"/>
          </a:xfrm>
          <a:custGeom>
            <a:avLst/>
            <a:gdLst>
              <a:gd name="connsiteX0" fmla="*/ 0 w 675382"/>
              <a:gd name="connsiteY0" fmla="*/ 0 h 1286933"/>
              <a:gd name="connsiteX1" fmla="*/ 337691 w 675382"/>
              <a:gd name="connsiteY1" fmla="*/ 0 h 1286933"/>
              <a:gd name="connsiteX2" fmla="*/ 337691 w 675382"/>
              <a:gd name="connsiteY2" fmla="*/ 1286933 h 1286933"/>
              <a:gd name="connsiteX3" fmla="*/ 675382 w 675382"/>
              <a:gd name="connsiteY3" fmla="*/ 1286933 h 1286933"/>
            </a:gdLst>
            <a:ahLst/>
            <a:cxnLst>
              <a:cxn ang="0">
                <a:pos x="connsiteX0" y="connsiteY0"/>
              </a:cxn>
              <a:cxn ang="0">
                <a:pos x="connsiteX1" y="connsiteY1"/>
              </a:cxn>
              <a:cxn ang="0">
                <a:pos x="connsiteX2" y="connsiteY2"/>
              </a:cxn>
              <a:cxn ang="0">
                <a:pos x="connsiteX3" y="connsiteY3"/>
              </a:cxn>
            </a:cxnLst>
            <a:rect l="l" t="t" r="r" b="b"/>
            <a:pathLst>
              <a:path w="675382" h="1286933">
                <a:moveTo>
                  <a:pt x="0" y="0"/>
                </a:moveTo>
                <a:lnTo>
                  <a:pt x="337691" y="0"/>
                </a:lnTo>
                <a:lnTo>
                  <a:pt x="337691" y="1286933"/>
                </a:lnTo>
                <a:lnTo>
                  <a:pt x="675382" y="1286933"/>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314057" tIns="607132" rIns="314056" bIns="607132" numCol="1" spcCol="1270" anchor="ctr" anchorCtr="0">
            <a:noAutofit/>
          </a:bodyPr>
          <a:lstStyle/>
          <a:p>
            <a:pPr marL="0" lvl="0" indent="0" algn="ctr" defTabSz="222250">
              <a:lnSpc>
                <a:spcPct val="90000"/>
              </a:lnSpc>
              <a:spcBef>
                <a:spcPct val="0"/>
              </a:spcBef>
              <a:spcAft>
                <a:spcPct val="35000"/>
              </a:spcAft>
              <a:buNone/>
            </a:pPr>
            <a:endParaRPr lang="zh-CN" altLang="en-US" sz="500" kern="1200"/>
          </a:p>
        </p:txBody>
      </p:sp>
      <p:sp>
        <p:nvSpPr>
          <p:cNvPr id="5" name="任意多边形: 形状 4"/>
          <p:cNvSpPr/>
          <p:nvPr/>
        </p:nvSpPr>
        <p:spPr>
          <a:xfrm>
            <a:off x="2576950" y="3485467"/>
            <a:ext cx="1348509" cy="45719"/>
          </a:xfrm>
          <a:custGeom>
            <a:avLst/>
            <a:gdLst>
              <a:gd name="connsiteX0" fmla="*/ 0 w 675382"/>
              <a:gd name="connsiteY0" fmla="*/ 45720 h 91440"/>
              <a:gd name="connsiteX1" fmla="*/ 675382 w 675382"/>
              <a:gd name="connsiteY1" fmla="*/ 45720 h 91440"/>
            </a:gdLst>
            <a:ahLst/>
            <a:cxnLst>
              <a:cxn ang="0">
                <a:pos x="connsiteX0" y="connsiteY0"/>
              </a:cxn>
              <a:cxn ang="0">
                <a:pos x="connsiteX1" y="connsiteY1"/>
              </a:cxn>
            </a:cxnLst>
            <a:rect l="l" t="t" r="r" b="b"/>
            <a:pathLst>
              <a:path w="675382" h="91440">
                <a:moveTo>
                  <a:pt x="0" y="45720"/>
                </a:moveTo>
                <a:lnTo>
                  <a:pt x="675382" y="45720"/>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333507" tIns="28835" rIns="333506" bIns="28836" numCol="1" spcCol="1270" anchor="ctr" anchorCtr="0">
            <a:noAutofit/>
          </a:bodyPr>
          <a:lstStyle/>
          <a:p>
            <a:pPr marL="0" lvl="0" indent="0" algn="ctr" defTabSz="222250">
              <a:lnSpc>
                <a:spcPct val="90000"/>
              </a:lnSpc>
              <a:spcBef>
                <a:spcPct val="0"/>
              </a:spcBef>
              <a:spcAft>
                <a:spcPct val="35000"/>
              </a:spcAft>
              <a:buNone/>
            </a:pPr>
            <a:endParaRPr lang="zh-CN" altLang="en-US" sz="500" kern="1200"/>
          </a:p>
        </p:txBody>
      </p:sp>
      <p:sp>
        <p:nvSpPr>
          <p:cNvPr id="6" name="任意多边形: 形状 5"/>
          <p:cNvSpPr/>
          <p:nvPr/>
        </p:nvSpPr>
        <p:spPr>
          <a:xfrm>
            <a:off x="2660078" y="2397152"/>
            <a:ext cx="1265381" cy="1115562"/>
          </a:xfrm>
          <a:custGeom>
            <a:avLst/>
            <a:gdLst>
              <a:gd name="connsiteX0" fmla="*/ 0 w 675382"/>
              <a:gd name="connsiteY0" fmla="*/ 1286933 h 1286933"/>
              <a:gd name="connsiteX1" fmla="*/ 337691 w 675382"/>
              <a:gd name="connsiteY1" fmla="*/ 1286933 h 1286933"/>
              <a:gd name="connsiteX2" fmla="*/ 337691 w 675382"/>
              <a:gd name="connsiteY2" fmla="*/ 0 h 1286933"/>
              <a:gd name="connsiteX3" fmla="*/ 675382 w 675382"/>
              <a:gd name="connsiteY3" fmla="*/ 0 h 1286933"/>
            </a:gdLst>
            <a:ahLst/>
            <a:cxnLst>
              <a:cxn ang="0">
                <a:pos x="connsiteX0" y="connsiteY0"/>
              </a:cxn>
              <a:cxn ang="0">
                <a:pos x="connsiteX1" y="connsiteY1"/>
              </a:cxn>
              <a:cxn ang="0">
                <a:pos x="connsiteX2" y="connsiteY2"/>
              </a:cxn>
              <a:cxn ang="0">
                <a:pos x="connsiteX3" y="connsiteY3"/>
              </a:cxn>
            </a:cxnLst>
            <a:rect l="l" t="t" r="r" b="b"/>
            <a:pathLst>
              <a:path w="675382" h="1286933">
                <a:moveTo>
                  <a:pt x="0" y="1286933"/>
                </a:moveTo>
                <a:lnTo>
                  <a:pt x="337691" y="1286933"/>
                </a:lnTo>
                <a:lnTo>
                  <a:pt x="337691" y="0"/>
                </a:lnTo>
                <a:lnTo>
                  <a:pt x="675382" y="0"/>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314057" tIns="607132" rIns="314056" bIns="607132" numCol="1" spcCol="1270" anchor="ctr" anchorCtr="0">
            <a:noAutofit/>
          </a:bodyPr>
          <a:lstStyle/>
          <a:p>
            <a:pPr marL="0" lvl="0" indent="0" algn="ctr" defTabSz="222250">
              <a:lnSpc>
                <a:spcPct val="90000"/>
              </a:lnSpc>
              <a:spcBef>
                <a:spcPct val="0"/>
              </a:spcBef>
              <a:spcAft>
                <a:spcPct val="35000"/>
              </a:spcAft>
              <a:buNone/>
            </a:pPr>
            <a:endParaRPr lang="zh-CN" altLang="en-US" sz="500" kern="1200"/>
          </a:p>
        </p:txBody>
      </p:sp>
      <p:sp>
        <p:nvSpPr>
          <p:cNvPr id="7" name="任意多边形: 形状 6"/>
          <p:cNvSpPr/>
          <p:nvPr/>
        </p:nvSpPr>
        <p:spPr>
          <a:xfrm>
            <a:off x="868223" y="3137515"/>
            <a:ext cx="1791855" cy="657274"/>
          </a:xfrm>
          <a:custGeom>
            <a:avLst/>
            <a:gdLst>
              <a:gd name="connsiteX0" fmla="*/ 0 w 5418667"/>
              <a:gd name="connsiteY0" fmla="*/ 0 h 1029546"/>
              <a:gd name="connsiteX1" fmla="*/ 5418667 w 5418667"/>
              <a:gd name="connsiteY1" fmla="*/ 0 h 1029546"/>
              <a:gd name="connsiteX2" fmla="*/ 5418667 w 5418667"/>
              <a:gd name="connsiteY2" fmla="*/ 1029546 h 1029546"/>
              <a:gd name="connsiteX3" fmla="*/ 0 w 5418667"/>
              <a:gd name="connsiteY3" fmla="*/ 1029546 h 1029546"/>
              <a:gd name="connsiteX4" fmla="*/ 0 w 5418667"/>
              <a:gd name="connsiteY4" fmla="*/ 0 h 1029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8667" h="1029546">
                <a:moveTo>
                  <a:pt x="0" y="0"/>
                </a:moveTo>
                <a:lnTo>
                  <a:pt x="5418667" y="0"/>
                </a:lnTo>
                <a:lnTo>
                  <a:pt x="5418667" y="1029546"/>
                </a:lnTo>
                <a:lnTo>
                  <a:pt x="0" y="1029546"/>
                </a:lnTo>
                <a:lnTo>
                  <a:pt x="0" y="0"/>
                </a:lnTo>
                <a:close/>
              </a:path>
            </a:pathLst>
          </a:custGeom>
          <a:solidFill>
            <a:schemeClr val="accent5">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004" tIns="40005" rIns="40005" bIns="40004" numCol="1" spcCol="1270" anchor="ctr" anchorCtr="0">
            <a:noAutofit/>
          </a:bodyPr>
          <a:lstStyle/>
          <a:p>
            <a:pPr marL="0" lvl="0" indent="0" algn="ctr" defTabSz="2800350">
              <a:lnSpc>
                <a:spcPct val="90000"/>
              </a:lnSpc>
              <a:spcBef>
                <a:spcPct val="0"/>
              </a:spcBef>
              <a:spcAft>
                <a:spcPct val="35000"/>
              </a:spcAft>
              <a:buNone/>
            </a:pPr>
            <a:r>
              <a:rPr lang="zh-CN" altLang="en-US" sz="2200" b="1" kern="1200" dirty="0">
                <a:solidFill>
                  <a:srgbClr val="FF0000"/>
                </a:solidFill>
              </a:rPr>
              <a:t>状态转换图</a:t>
            </a:r>
            <a:endParaRPr lang="zh-CN" altLang="en-US" sz="2200" b="1" kern="1200" dirty="0">
              <a:solidFill>
                <a:srgbClr val="FF0000"/>
              </a:solidFill>
            </a:endParaRPr>
          </a:p>
        </p:txBody>
      </p:sp>
      <p:sp>
        <p:nvSpPr>
          <p:cNvPr id="8" name="任意多边形: 形状 7"/>
          <p:cNvSpPr/>
          <p:nvPr/>
        </p:nvSpPr>
        <p:spPr>
          <a:xfrm>
            <a:off x="3925458" y="2078736"/>
            <a:ext cx="7656941" cy="616097"/>
          </a:xfrm>
          <a:custGeom>
            <a:avLst/>
            <a:gdLst>
              <a:gd name="connsiteX0" fmla="*/ 0 w 3376913"/>
              <a:gd name="connsiteY0" fmla="*/ 0 h 1029546"/>
              <a:gd name="connsiteX1" fmla="*/ 3376913 w 3376913"/>
              <a:gd name="connsiteY1" fmla="*/ 0 h 1029546"/>
              <a:gd name="connsiteX2" fmla="*/ 3376913 w 3376913"/>
              <a:gd name="connsiteY2" fmla="*/ 1029546 h 1029546"/>
              <a:gd name="connsiteX3" fmla="*/ 0 w 3376913"/>
              <a:gd name="connsiteY3" fmla="*/ 1029546 h 1029546"/>
              <a:gd name="connsiteX4" fmla="*/ 0 w 3376913"/>
              <a:gd name="connsiteY4" fmla="*/ 0 h 1029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6913" h="1029546">
                <a:moveTo>
                  <a:pt x="0" y="0"/>
                </a:moveTo>
                <a:lnTo>
                  <a:pt x="3376913" y="0"/>
                </a:lnTo>
                <a:lnTo>
                  <a:pt x="3376913" y="1029546"/>
                </a:lnTo>
                <a:lnTo>
                  <a:pt x="0" y="1029546"/>
                </a:lnTo>
                <a:lnTo>
                  <a:pt x="0" y="0"/>
                </a:lnTo>
                <a:close/>
              </a:path>
            </a:pathLst>
          </a:custGeom>
          <a:solidFill>
            <a:schemeClr val="accent6">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004" tIns="40005" rIns="40005" bIns="40004" numCol="1" spcCol="1270" anchor="ctr" anchorCtr="0">
            <a:noAutofit/>
          </a:bodyPr>
          <a:lstStyle/>
          <a:p>
            <a:pPr defTabSz="2800350">
              <a:lnSpc>
                <a:spcPct val="90000"/>
              </a:lnSpc>
              <a:spcBef>
                <a:spcPct val="0"/>
              </a:spcBef>
              <a:spcAft>
                <a:spcPct val="35000"/>
              </a:spcAft>
            </a:pPr>
            <a:r>
              <a:rPr lang="zh-CN" altLang="en-US" sz="2000" b="1" dirty="0">
                <a:solidFill>
                  <a:schemeClr val="tx1"/>
                </a:solidFill>
              </a:rPr>
              <a:t>          ：</a:t>
            </a:r>
            <a:r>
              <a:rPr lang="zh-CN" altLang="en-US" sz="2200" b="1" dirty="0">
                <a:solidFill>
                  <a:schemeClr val="tx1"/>
                </a:solidFill>
              </a:rPr>
              <a:t>用矩形框表示可能的系统状态。</a:t>
            </a:r>
            <a:endParaRPr lang="en-US" altLang="zh-CN" sz="2200" b="1" dirty="0">
              <a:solidFill>
                <a:schemeClr val="tx1"/>
              </a:solidFill>
            </a:endParaRPr>
          </a:p>
        </p:txBody>
      </p:sp>
      <p:sp>
        <p:nvSpPr>
          <p:cNvPr id="9" name="任意多边形: 形状 8"/>
          <p:cNvSpPr/>
          <p:nvPr/>
        </p:nvSpPr>
        <p:spPr>
          <a:xfrm>
            <a:off x="3925458" y="3156374"/>
            <a:ext cx="7656941" cy="668895"/>
          </a:xfrm>
          <a:custGeom>
            <a:avLst/>
            <a:gdLst>
              <a:gd name="connsiteX0" fmla="*/ 0 w 3376913"/>
              <a:gd name="connsiteY0" fmla="*/ 0 h 1029546"/>
              <a:gd name="connsiteX1" fmla="*/ 3376913 w 3376913"/>
              <a:gd name="connsiteY1" fmla="*/ 0 h 1029546"/>
              <a:gd name="connsiteX2" fmla="*/ 3376913 w 3376913"/>
              <a:gd name="connsiteY2" fmla="*/ 1029546 h 1029546"/>
              <a:gd name="connsiteX3" fmla="*/ 0 w 3376913"/>
              <a:gd name="connsiteY3" fmla="*/ 1029546 h 1029546"/>
              <a:gd name="connsiteX4" fmla="*/ 0 w 3376913"/>
              <a:gd name="connsiteY4" fmla="*/ 0 h 1029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6913" h="1029546">
                <a:moveTo>
                  <a:pt x="0" y="0"/>
                </a:moveTo>
                <a:lnTo>
                  <a:pt x="3376913" y="0"/>
                </a:lnTo>
                <a:lnTo>
                  <a:pt x="3376913" y="1029546"/>
                </a:lnTo>
                <a:lnTo>
                  <a:pt x="0" y="1029546"/>
                </a:lnTo>
                <a:lnTo>
                  <a:pt x="0" y="0"/>
                </a:lnTo>
                <a:close/>
              </a:path>
            </a:pathLst>
          </a:custGeom>
          <a:solidFill>
            <a:schemeClr val="accent4">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004" tIns="40005" rIns="40005" bIns="40004" numCol="1" spcCol="1270" anchor="ctr" anchorCtr="0">
            <a:noAutofit/>
          </a:bodyPr>
          <a:lstStyle/>
          <a:p>
            <a:pPr defTabSz="2800350">
              <a:lnSpc>
                <a:spcPct val="90000"/>
              </a:lnSpc>
              <a:spcBef>
                <a:spcPct val="0"/>
              </a:spcBef>
              <a:spcAft>
                <a:spcPct val="35000"/>
              </a:spcAft>
            </a:pPr>
            <a:r>
              <a:rPr lang="en-US" altLang="zh-CN" sz="2000" b="1" dirty="0">
                <a:solidFill>
                  <a:schemeClr val="tx1"/>
                </a:solidFill>
              </a:rPr>
              <a:t>          </a:t>
            </a:r>
            <a:r>
              <a:rPr lang="zh-CN" altLang="en-US" sz="2000" b="1" dirty="0">
                <a:solidFill>
                  <a:schemeClr val="tx1"/>
                </a:solidFill>
              </a:rPr>
              <a:t>：</a:t>
            </a:r>
            <a:r>
              <a:rPr lang="zh-CN" altLang="en-US" sz="2200" b="1" dirty="0">
                <a:solidFill>
                  <a:schemeClr val="tx1"/>
                </a:solidFill>
              </a:rPr>
              <a:t>用箭头连接一对矩形框表示允许的状态改变或转换</a:t>
            </a:r>
            <a:endParaRPr lang="en-US" altLang="zh-CN" sz="2200" b="1" dirty="0">
              <a:solidFill>
                <a:schemeClr val="tx1"/>
              </a:solidFill>
            </a:endParaRPr>
          </a:p>
        </p:txBody>
      </p:sp>
      <p:sp>
        <p:nvSpPr>
          <p:cNvPr id="10" name="任意多边形: 形状 9"/>
          <p:cNvSpPr/>
          <p:nvPr/>
        </p:nvSpPr>
        <p:spPr>
          <a:xfrm>
            <a:off x="3925458" y="4485979"/>
            <a:ext cx="8022127" cy="668895"/>
          </a:xfrm>
          <a:custGeom>
            <a:avLst/>
            <a:gdLst>
              <a:gd name="connsiteX0" fmla="*/ 0 w 3376913"/>
              <a:gd name="connsiteY0" fmla="*/ 0 h 1029546"/>
              <a:gd name="connsiteX1" fmla="*/ 3376913 w 3376913"/>
              <a:gd name="connsiteY1" fmla="*/ 0 h 1029546"/>
              <a:gd name="connsiteX2" fmla="*/ 3376913 w 3376913"/>
              <a:gd name="connsiteY2" fmla="*/ 1029546 h 1029546"/>
              <a:gd name="connsiteX3" fmla="*/ 0 w 3376913"/>
              <a:gd name="connsiteY3" fmla="*/ 1029546 h 1029546"/>
              <a:gd name="connsiteX4" fmla="*/ 0 w 3376913"/>
              <a:gd name="connsiteY4" fmla="*/ 0 h 1029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6913" h="1029546">
                <a:moveTo>
                  <a:pt x="0" y="0"/>
                </a:moveTo>
                <a:lnTo>
                  <a:pt x="3376913" y="0"/>
                </a:lnTo>
                <a:lnTo>
                  <a:pt x="3376913" y="1029546"/>
                </a:lnTo>
                <a:lnTo>
                  <a:pt x="0" y="1029546"/>
                </a:lnTo>
                <a:lnTo>
                  <a:pt x="0" y="0"/>
                </a:lnTo>
                <a:close/>
              </a:path>
            </a:pathLst>
          </a:custGeom>
          <a:solidFill>
            <a:schemeClr val="accent1">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004" tIns="40005" rIns="40005" bIns="40004" numCol="1" spcCol="1270" anchor="ctr" anchorCtr="0">
            <a:noAutofit/>
          </a:bodyPr>
          <a:lstStyle/>
          <a:p>
            <a:pPr defTabSz="2800350">
              <a:lnSpc>
                <a:spcPct val="90000"/>
              </a:lnSpc>
              <a:spcBef>
                <a:spcPct val="0"/>
              </a:spcBef>
              <a:spcAft>
                <a:spcPct val="35000"/>
              </a:spcAft>
            </a:pPr>
            <a:r>
              <a:rPr lang="en-US" altLang="zh-CN" sz="2000" b="1" dirty="0">
                <a:solidFill>
                  <a:schemeClr val="tx1"/>
                </a:solidFill>
              </a:rPr>
              <a:t>           </a:t>
            </a:r>
            <a:r>
              <a:rPr lang="zh-CN" altLang="en-US" sz="2000" b="1" dirty="0">
                <a:solidFill>
                  <a:schemeClr val="tx1"/>
                </a:solidFill>
              </a:rPr>
              <a:t>：</a:t>
            </a:r>
            <a:r>
              <a:rPr lang="zh-CN" altLang="en-US" sz="2200" b="1" dirty="0">
                <a:solidFill>
                  <a:schemeClr val="tx1"/>
                </a:solidFill>
              </a:rPr>
              <a:t>用每个转换箭头上的文本标签表示引起转换的事件或条件</a:t>
            </a:r>
            <a:endParaRPr lang="zh-CN" altLang="en-US" sz="2200" b="1" dirty="0">
              <a:solidFill>
                <a:schemeClr val="tx1"/>
              </a:solidFill>
            </a:endParaRPr>
          </a:p>
        </p:txBody>
      </p:sp>
      <p:sp>
        <p:nvSpPr>
          <p:cNvPr id="11" name="对话气泡: 矩形 10"/>
          <p:cNvSpPr/>
          <p:nvPr/>
        </p:nvSpPr>
        <p:spPr>
          <a:xfrm>
            <a:off x="2668248" y="5418755"/>
            <a:ext cx="6986122" cy="525007"/>
          </a:xfrm>
          <a:prstGeom prst="wedgeRectCallout">
            <a:avLst>
              <a:gd name="adj1" fmla="val 25616"/>
              <a:gd name="adj2" fmla="val -116753"/>
            </a:avLst>
          </a:prstGeom>
          <a:noFill/>
          <a:ln>
            <a:solidFill>
              <a:srgbClr val="FF0000"/>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004" tIns="40005" rIns="40005" bIns="40004" numCol="1" spcCol="1270" anchor="ctr" anchorCtr="0">
            <a:noAutofit/>
          </a:bodyPr>
          <a:lstStyle/>
          <a:p>
            <a:pPr algn="ctr" defTabSz="2800350">
              <a:lnSpc>
                <a:spcPct val="90000"/>
              </a:lnSpc>
              <a:spcBef>
                <a:spcPct val="0"/>
              </a:spcBef>
              <a:spcAft>
                <a:spcPct val="35000"/>
              </a:spcAft>
            </a:pPr>
            <a:r>
              <a:rPr lang="zh-CN" altLang="en-US" sz="2200" b="1" dirty="0">
                <a:solidFill>
                  <a:schemeClr val="tx1"/>
                </a:solidFill>
              </a:rPr>
              <a:t>标签可能既标识事件也标识相应的系统响应或输出</a:t>
            </a:r>
            <a:endParaRPr lang="zh-CN" altLang="en-US" sz="2200" b="1" dirty="0">
              <a:solidFill>
                <a:schemeClr val="tx1"/>
              </a:solidFill>
            </a:endParaRPr>
          </a:p>
        </p:txBody>
      </p:sp>
      <p:sp>
        <p:nvSpPr>
          <p:cNvPr id="30" name="文本框 29"/>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5"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5</a:t>
            </a:r>
            <a:r>
              <a:rPr lang="zh-CN" altLang="en-US" sz="2400" b="1" kern="0" dirty="0">
                <a:latin typeface="宋体" panose="02010600030101010101" pitchFamily="2" charset="-122"/>
                <a:sym typeface="宋体" panose="02010600030101010101" pitchFamily="2" charset="-122"/>
              </a:rPr>
              <a:t>）状态转换图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16" name="矩形: 圆角 15"/>
          <p:cNvSpPr/>
          <p:nvPr/>
        </p:nvSpPr>
        <p:spPr>
          <a:xfrm>
            <a:off x="698500" y="1607557"/>
            <a:ext cx="10795000" cy="54192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rgbClr val="FF0000"/>
                </a:solidFill>
                <a:latin typeface="+mn-ea"/>
              </a:rPr>
              <a:t>状态转换图的各个元素：</a:t>
            </a:r>
            <a:endParaRPr lang="zh-CN" altLang="en-US" sz="2200" b="1" dirty="0">
              <a:solidFill>
                <a:srgbClr val="FF0000"/>
              </a:solidFill>
              <a:latin typeface="+mn-ea"/>
            </a:endParaRPr>
          </a:p>
        </p:txBody>
      </p:sp>
      <p:sp>
        <p:nvSpPr>
          <p:cNvPr id="2" name="矩形 1"/>
          <p:cNvSpPr/>
          <p:nvPr/>
        </p:nvSpPr>
        <p:spPr>
          <a:xfrm>
            <a:off x="4011148" y="2268966"/>
            <a:ext cx="433054" cy="28176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11"/>
          <p:cNvCxnSpPr/>
          <p:nvPr/>
        </p:nvCxnSpPr>
        <p:spPr>
          <a:xfrm>
            <a:off x="3992676" y="3508321"/>
            <a:ext cx="433054"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20" name="组合 19"/>
          <p:cNvGrpSpPr/>
          <p:nvPr/>
        </p:nvGrpSpPr>
        <p:grpSpPr>
          <a:xfrm>
            <a:off x="3992676" y="4620807"/>
            <a:ext cx="468487" cy="308830"/>
            <a:chOff x="1775949" y="4317091"/>
            <a:chExt cx="468487" cy="308830"/>
          </a:xfrm>
        </p:grpSpPr>
        <p:cxnSp>
          <p:nvCxnSpPr>
            <p:cNvPr id="23" name="直接箭头连接符 22"/>
            <p:cNvCxnSpPr/>
            <p:nvPr/>
          </p:nvCxnSpPr>
          <p:spPr>
            <a:xfrm>
              <a:off x="1775949" y="4625921"/>
              <a:ext cx="468487"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1882593" y="4317091"/>
              <a:ext cx="255198" cy="276999"/>
            </a:xfrm>
            <a:prstGeom prst="rect">
              <a:avLst/>
            </a:prstGeom>
            <a:solidFill>
              <a:schemeClr val="bg1"/>
            </a:solidFill>
            <a:ln>
              <a:solidFill>
                <a:srgbClr val="FF0000"/>
              </a:solidFill>
            </a:ln>
          </p:spPr>
          <p:txBody>
            <a:bodyPr wrap="none" rtlCol="0">
              <a:spAutoFit/>
            </a:bodyPr>
            <a:lstStyle/>
            <a:p>
              <a:r>
                <a:rPr lang="zh-CN" altLang="en-US" sz="1200" dirty="0"/>
                <a:t>  </a:t>
              </a:r>
              <a:endParaRPr lang="zh-CN" altLang="en-US" sz="1200" dirty="0"/>
            </a:p>
          </p:txBody>
        </p:sp>
      </p:grpSp>
      <p:sp>
        <p:nvSpPr>
          <p:cNvPr id="3" name="日期占位符 2"/>
          <p:cNvSpPr>
            <a:spLocks noGrp="1"/>
          </p:cNvSpPr>
          <p:nvPr>
            <p:ph type="dt" sz="half" idx="10"/>
          </p:nvPr>
        </p:nvSpPr>
        <p:spPr/>
        <p:txBody>
          <a:bodyPr/>
          <a:lstStyle/>
          <a:p>
            <a:pPr>
              <a:defRPr/>
            </a:pPr>
            <a:fld id="{B318D679-C883-4B18-9A80-60B2A4CEB1B5}" type="datetime1">
              <a:rPr lang="zh-CN" altLang="en-US" smtClean="0">
                <a:solidFill>
                  <a:prstClr val="black">
                    <a:tint val="75000"/>
                  </a:prstClr>
                </a:solidFill>
              </a:rPr>
            </a:fld>
            <a:endParaRPr lang="zh-CN" altLang="en-US" dirty="0">
              <a:solidFill>
                <a:prstClr val="black">
                  <a:tint val="75000"/>
                </a:prstClr>
              </a:solidFill>
            </a:endParaRPr>
          </a:p>
        </p:txBody>
      </p:sp>
      <p:sp>
        <p:nvSpPr>
          <p:cNvPr id="13" name="灯片编号占位符 12"/>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p:tgtEl>
                                          <p:spTgt spid="15"/>
                                        </p:tgtEl>
                                        <p:attrNameLst>
                                          <p:attrName>ppt_x</p:attrName>
                                        </p:attrNameLst>
                                      </p:cBhvr>
                                      <p:tavLst>
                                        <p:tav tm="0">
                                          <p:val>
                                            <p:strVal val="#ppt_x+#ppt_w*1.125000"/>
                                          </p:val>
                                        </p:tav>
                                        <p:tav tm="100000">
                                          <p:val>
                                            <p:strVal val="#ppt_x"/>
                                          </p:val>
                                        </p:tav>
                                      </p:tavLst>
                                    </p:anim>
                                    <p:animEffect transition="in" filter="wipe(left)">
                                      <p:cBhvr>
                                        <p:cTn id="8" dur="500"/>
                                        <p:tgtEl>
                                          <p:spTgt spid="15"/>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5" grpId="0"/>
      <p:bldP spid="16" grpId="0"/>
      <p:bldP spid="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37" name="文本框 3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 name="矩形: 圆角 1"/>
          <p:cNvSpPr/>
          <p:nvPr/>
        </p:nvSpPr>
        <p:spPr>
          <a:xfrm>
            <a:off x="698500" y="2072640"/>
            <a:ext cx="1219200" cy="111556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b="1" dirty="0"/>
              <a:t>例如</a:t>
            </a:r>
            <a:endParaRPr lang="zh-CN" altLang="en-US" sz="3600" b="1" dirty="0"/>
          </a:p>
        </p:txBody>
      </p:sp>
      <p:sp>
        <p:nvSpPr>
          <p:cNvPr id="9"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5</a:t>
            </a:r>
            <a:r>
              <a:rPr lang="zh-CN" altLang="en-US" sz="2400" b="1" kern="0" dirty="0">
                <a:latin typeface="宋体" panose="02010600030101010101" pitchFamily="2" charset="-122"/>
                <a:sym typeface="宋体" panose="02010600030101010101" pitchFamily="2" charset="-122"/>
              </a:rPr>
              <a:t>）状态转换图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10" name="矩形: 圆角 9"/>
          <p:cNvSpPr/>
          <p:nvPr/>
        </p:nvSpPr>
        <p:spPr>
          <a:xfrm>
            <a:off x="2627376" y="1808163"/>
            <a:ext cx="8869299" cy="4249737"/>
          </a:xfrm>
          <a:prstGeom prst="round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en-US" altLang="zh-CN" b="1" dirty="0">
              <a:solidFill>
                <a:schemeClr val="tx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2856230" y="2072640"/>
            <a:ext cx="8488680" cy="1180465"/>
          </a:xfrm>
          <a:prstGeom prst="rect">
            <a:avLst/>
          </a:prstGeom>
          <a:solidFill>
            <a:schemeClr val="bg1"/>
          </a:solidFill>
          <a:ln w="15875">
            <a:solidFill>
              <a:schemeClr val="accent6"/>
            </a:solidFill>
            <a:prstDash val="solid"/>
          </a:ln>
        </p:spPr>
        <p:txBody>
          <a:bodyPr wrap="square" rtlCol="0">
            <a:noAutofit/>
          </a:bodyPr>
          <a:lstStyle/>
          <a:p>
            <a:pPr lvl="0"/>
            <a:r>
              <a:rPr lang="en-US" altLang="zh-CN" sz="2200" b="1" dirty="0">
                <a:latin typeface="+mn-ea"/>
              </a:rPr>
              <a:t>1</a:t>
            </a:r>
            <a:r>
              <a:rPr lang="zh-CN" altLang="en-US" sz="2200" b="1" dirty="0">
                <a:latin typeface="+mn-ea"/>
              </a:rPr>
              <a:t>）在化学制品跟踪系统中有一个主要功能是允许请求者（操作员）提出对化学制品的请求，这一请求可以由化学制品仓库中的存货清单来执行完成，也可以通过向外界供应商发出订单来执行完成</a:t>
            </a:r>
            <a:endParaRPr lang="zh-CN" altLang="en-US" sz="2200" b="1" dirty="0">
              <a:latin typeface="+mn-ea"/>
            </a:endParaRPr>
          </a:p>
        </p:txBody>
      </p:sp>
      <p:sp>
        <p:nvSpPr>
          <p:cNvPr id="13" name="文本框 12"/>
          <p:cNvSpPr txBox="1"/>
          <p:nvPr/>
        </p:nvSpPr>
        <p:spPr>
          <a:xfrm>
            <a:off x="2855913" y="3429699"/>
            <a:ext cx="8488743" cy="923330"/>
          </a:xfrm>
          <a:prstGeom prst="rect">
            <a:avLst/>
          </a:prstGeom>
          <a:solidFill>
            <a:schemeClr val="bg1"/>
          </a:solidFill>
          <a:ln w="15875">
            <a:solidFill>
              <a:srgbClr val="0000FF"/>
            </a:solidFill>
          </a:ln>
        </p:spPr>
        <p:txBody>
          <a:bodyPr wrap="square" rtlCol="0" anchor="ctr" anchorCtr="0">
            <a:noAutofit/>
          </a:bodyPr>
          <a:lstStyle/>
          <a:p>
            <a:r>
              <a:rPr lang="en-US" altLang="zh-CN" sz="2200" b="1" dirty="0">
                <a:latin typeface="+mn-ea"/>
              </a:rPr>
              <a:t>2</a:t>
            </a:r>
            <a:r>
              <a:rPr lang="zh-CN" altLang="en-US" sz="2200" b="1" dirty="0">
                <a:latin typeface="+mn-ea"/>
              </a:rPr>
              <a:t>）每一个请求从创建到完成或取消这一时间段内将经历一系列可能的状态</a:t>
            </a:r>
            <a:endParaRPr lang="zh-CN" altLang="en-US" sz="2200" b="1" dirty="0">
              <a:latin typeface="+mn-ea"/>
            </a:endParaRPr>
          </a:p>
        </p:txBody>
      </p:sp>
      <p:sp>
        <p:nvSpPr>
          <p:cNvPr id="14" name="文本框 13"/>
          <p:cNvSpPr txBox="1"/>
          <p:nvPr/>
        </p:nvSpPr>
        <p:spPr>
          <a:xfrm>
            <a:off x="2856230" y="4765040"/>
            <a:ext cx="8488680" cy="1051560"/>
          </a:xfrm>
          <a:prstGeom prst="rect">
            <a:avLst/>
          </a:prstGeom>
          <a:solidFill>
            <a:schemeClr val="bg1"/>
          </a:solidFill>
          <a:ln w="15875">
            <a:solidFill>
              <a:schemeClr val="accent2"/>
            </a:solidFill>
          </a:ln>
        </p:spPr>
        <p:txBody>
          <a:bodyPr wrap="square" rtlCol="0" anchor="ctr" anchorCtr="0">
            <a:noAutofit/>
          </a:bodyPr>
          <a:lstStyle/>
          <a:p>
            <a:r>
              <a:rPr lang="en-US" altLang="zh-CN" sz="2200" b="1" dirty="0">
                <a:latin typeface="+mn-ea"/>
              </a:rPr>
              <a:t>3</a:t>
            </a:r>
            <a:r>
              <a:rPr lang="zh-CN" altLang="en-US" sz="2200" b="1" dirty="0">
                <a:latin typeface="+mn-ea"/>
              </a:rPr>
              <a:t>）于是，我们就可以把化学制品请求的生存周期看成一个有限状态机，其建模如下图所示，这个状态转换图说明了一个请求可取下列七种可能状态中的一种：</a:t>
            </a:r>
            <a:endParaRPr lang="zh-CN" altLang="en-US" sz="2200" b="1" dirty="0">
              <a:latin typeface="+mn-ea"/>
            </a:endParaRPr>
          </a:p>
        </p:txBody>
      </p:sp>
      <p:sp>
        <p:nvSpPr>
          <p:cNvPr id="3" name="日期占位符 2"/>
          <p:cNvSpPr>
            <a:spLocks noGrp="1"/>
          </p:cNvSpPr>
          <p:nvPr>
            <p:ph type="dt" sz="half" idx="10"/>
          </p:nvPr>
        </p:nvSpPr>
        <p:spPr/>
        <p:txBody>
          <a:bodyPr/>
          <a:lstStyle/>
          <a:p>
            <a:pPr>
              <a:defRPr/>
            </a:pPr>
            <a:fld id="{29473DED-7C0E-465F-BBE5-85F019D11B6A}"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b="1" smtClean="0">
                <a:solidFill>
                  <a:prstClr val="black">
                    <a:tint val="75000"/>
                  </a:prstClr>
                </a:solidFill>
              </a:rPr>
            </a:fld>
            <a:endParaRPr lang="zh-CN" altLang="en-US" b="1" dirty="0" smtClean="0">
              <a:solidFill>
                <a:prstClr val="black">
                  <a:tint val="75000"/>
                </a:prstClr>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p:tgtEl>
                                          <p:spTgt spid="9"/>
                                        </p:tgtEl>
                                        <p:attrNameLst>
                                          <p:attrName>ppt_x</p:attrName>
                                        </p:attrNameLst>
                                      </p:cBhvr>
                                      <p:tavLst>
                                        <p:tav tm="0">
                                          <p:val>
                                            <p:strVal val="#ppt_x+#ppt_w*1.125000"/>
                                          </p:val>
                                        </p:tav>
                                        <p:tav tm="100000">
                                          <p:val>
                                            <p:strVal val="#ppt_x"/>
                                          </p:val>
                                        </p:tav>
                                      </p:tavLst>
                                    </p:anim>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p:bldP spid="10" grpId="0" animBg="1"/>
      <p:bldP spid="5" grpId="0" bldLvl="0" animBg="1"/>
      <p:bldP spid="13" grpId="0" animBg="1"/>
      <p:bldP spid="14"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5"/>
          <p:cNvGrpSpPr/>
          <p:nvPr/>
        </p:nvGrpSpPr>
        <p:grpSpPr>
          <a:xfrm>
            <a:off x="109497" y="349963"/>
            <a:ext cx="525184" cy="422276"/>
            <a:chOff x="5075564" y="2933562"/>
            <a:chExt cx="2860947" cy="2302753"/>
          </a:xfrm>
        </p:grpSpPr>
        <p:sp>
          <p:nvSpPr>
            <p:cNvPr id="21" name="等腰三角形 2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22" name="等腰三角形 2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grpSp>
        <p:nvGrpSpPr>
          <p:cNvPr id="116" name="组合 115"/>
          <p:cNvGrpSpPr/>
          <p:nvPr/>
        </p:nvGrpSpPr>
        <p:grpSpPr>
          <a:xfrm>
            <a:off x="1801090" y="1935602"/>
            <a:ext cx="8672945" cy="4311647"/>
            <a:chOff x="2480088" y="599696"/>
            <a:chExt cx="6456450" cy="5362013"/>
          </a:xfrm>
        </p:grpSpPr>
        <p:sp>
          <p:nvSpPr>
            <p:cNvPr id="2" name="矩形 1"/>
            <p:cNvSpPr/>
            <p:nvPr/>
          </p:nvSpPr>
          <p:spPr>
            <a:xfrm>
              <a:off x="5128260" y="2720340"/>
              <a:ext cx="1127760" cy="5181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p>
          </p:txBody>
        </p:sp>
        <p:sp>
          <p:nvSpPr>
            <p:cNvPr id="17" name="矩形 16"/>
            <p:cNvSpPr/>
            <p:nvPr/>
          </p:nvSpPr>
          <p:spPr>
            <a:xfrm>
              <a:off x="5128260" y="4050745"/>
              <a:ext cx="1127760" cy="5181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p>
          </p:txBody>
        </p:sp>
        <p:sp>
          <p:nvSpPr>
            <p:cNvPr id="23" name="矩形 22"/>
            <p:cNvSpPr/>
            <p:nvPr/>
          </p:nvSpPr>
          <p:spPr>
            <a:xfrm>
              <a:off x="5203461" y="5361770"/>
              <a:ext cx="921207" cy="5264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p>
          </p:txBody>
        </p:sp>
        <p:sp>
          <p:nvSpPr>
            <p:cNvPr id="24" name="矩形 23"/>
            <p:cNvSpPr/>
            <p:nvPr/>
          </p:nvSpPr>
          <p:spPr>
            <a:xfrm>
              <a:off x="2480088" y="5370049"/>
              <a:ext cx="1127760" cy="5181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p>
          </p:txBody>
        </p:sp>
        <p:sp>
          <p:nvSpPr>
            <p:cNvPr id="30" name="矩形 29"/>
            <p:cNvSpPr/>
            <p:nvPr/>
          </p:nvSpPr>
          <p:spPr>
            <a:xfrm>
              <a:off x="7808778" y="5345147"/>
              <a:ext cx="1127760" cy="5430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p>
          </p:txBody>
        </p:sp>
        <p:sp>
          <p:nvSpPr>
            <p:cNvPr id="31" name="矩形 30"/>
            <p:cNvSpPr/>
            <p:nvPr/>
          </p:nvSpPr>
          <p:spPr>
            <a:xfrm>
              <a:off x="7794871" y="1400029"/>
              <a:ext cx="1127760" cy="5181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p>
          </p:txBody>
        </p:sp>
        <p:sp>
          <p:nvSpPr>
            <p:cNvPr id="32" name="矩形 31"/>
            <p:cNvSpPr/>
            <p:nvPr/>
          </p:nvSpPr>
          <p:spPr>
            <a:xfrm>
              <a:off x="5128260" y="1400029"/>
              <a:ext cx="1127760" cy="5181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p>
          </p:txBody>
        </p:sp>
        <p:cxnSp>
          <p:nvCxnSpPr>
            <p:cNvPr id="4" name="直接箭头连接符 3"/>
            <p:cNvCxnSpPr>
              <a:stCxn id="32" idx="2"/>
              <a:endCxn id="2" idx="0"/>
            </p:cNvCxnSpPr>
            <p:nvPr/>
          </p:nvCxnSpPr>
          <p:spPr>
            <a:xfrm>
              <a:off x="5692140" y="1918189"/>
              <a:ext cx="0" cy="80215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直接箭头连接符 32"/>
            <p:cNvCxnSpPr>
              <a:endCxn id="17" idx="0"/>
            </p:cNvCxnSpPr>
            <p:nvPr/>
          </p:nvCxnSpPr>
          <p:spPr>
            <a:xfrm>
              <a:off x="5692140" y="3238500"/>
              <a:ext cx="0" cy="81224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6" name="直接箭头连接符 35"/>
            <p:cNvCxnSpPr/>
            <p:nvPr/>
          </p:nvCxnSpPr>
          <p:spPr>
            <a:xfrm>
              <a:off x="5410200" y="599696"/>
              <a:ext cx="0" cy="80215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7" name="直接箭头连接符 36"/>
            <p:cNvCxnSpPr/>
            <p:nvPr/>
          </p:nvCxnSpPr>
          <p:spPr>
            <a:xfrm flipV="1">
              <a:off x="5966460" y="599696"/>
              <a:ext cx="0" cy="80033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1" name="直接箭头连接符 40"/>
            <p:cNvCxnSpPr/>
            <p:nvPr/>
          </p:nvCxnSpPr>
          <p:spPr>
            <a:xfrm>
              <a:off x="6256020" y="1501140"/>
              <a:ext cx="153885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4" name="直接箭头连接符 43"/>
            <p:cNvCxnSpPr/>
            <p:nvPr/>
          </p:nvCxnSpPr>
          <p:spPr>
            <a:xfrm flipH="1">
              <a:off x="6256021" y="1844040"/>
              <a:ext cx="155275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7" name="直接箭头连接符 46"/>
            <p:cNvCxnSpPr>
              <a:stCxn id="23" idx="1"/>
              <a:endCxn id="24" idx="3"/>
            </p:cNvCxnSpPr>
            <p:nvPr/>
          </p:nvCxnSpPr>
          <p:spPr>
            <a:xfrm flipH="1">
              <a:off x="3607848" y="5624989"/>
              <a:ext cx="1595613" cy="414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直接箭头连接符 50"/>
            <p:cNvCxnSpPr>
              <a:stCxn id="23" idx="3"/>
              <a:endCxn id="30" idx="1"/>
            </p:cNvCxnSpPr>
            <p:nvPr/>
          </p:nvCxnSpPr>
          <p:spPr>
            <a:xfrm flipV="1">
              <a:off x="6124668" y="5616678"/>
              <a:ext cx="1684110" cy="831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4" name="直接箭头连接符 53"/>
            <p:cNvCxnSpPr>
              <a:stCxn id="110" idx="2"/>
              <a:endCxn id="23" idx="0"/>
            </p:cNvCxnSpPr>
            <p:nvPr/>
          </p:nvCxnSpPr>
          <p:spPr>
            <a:xfrm flipH="1">
              <a:off x="5664213" y="4477900"/>
              <a:ext cx="9927" cy="88366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8" name="直接连接符 57"/>
            <p:cNvCxnSpPr>
              <a:endCxn id="17" idx="1"/>
            </p:cNvCxnSpPr>
            <p:nvPr/>
          </p:nvCxnSpPr>
          <p:spPr>
            <a:xfrm>
              <a:off x="3275772" y="4309825"/>
              <a:ext cx="1852488" cy="0"/>
            </a:xfrm>
            <a:prstGeom prst="line">
              <a:avLst/>
            </a:prstGeom>
          </p:spPr>
          <p:style>
            <a:lnRef idx="2">
              <a:schemeClr val="dk1"/>
            </a:lnRef>
            <a:fillRef idx="0">
              <a:schemeClr val="dk1"/>
            </a:fillRef>
            <a:effectRef idx="1">
              <a:schemeClr val="dk1"/>
            </a:effectRef>
            <a:fontRef idx="minor">
              <a:schemeClr val="tx1"/>
            </a:fontRef>
          </p:style>
        </p:cxnSp>
        <p:cxnSp>
          <p:nvCxnSpPr>
            <p:cNvPr id="60" name="直接连接符 59"/>
            <p:cNvCxnSpPr>
              <a:stCxn id="17" idx="3"/>
            </p:cNvCxnSpPr>
            <p:nvPr/>
          </p:nvCxnSpPr>
          <p:spPr>
            <a:xfrm flipV="1">
              <a:off x="6256020" y="4302204"/>
              <a:ext cx="1852488" cy="7621"/>
            </a:xfrm>
            <a:prstGeom prst="line">
              <a:avLst/>
            </a:prstGeom>
          </p:spPr>
          <p:style>
            <a:lnRef idx="2">
              <a:schemeClr val="dk1"/>
            </a:lnRef>
            <a:fillRef idx="0">
              <a:schemeClr val="dk1"/>
            </a:fillRef>
            <a:effectRef idx="1">
              <a:schemeClr val="dk1"/>
            </a:effectRef>
            <a:fontRef idx="minor">
              <a:schemeClr val="tx1"/>
            </a:fontRef>
          </p:style>
        </p:cxnSp>
        <p:cxnSp>
          <p:nvCxnSpPr>
            <p:cNvPr id="63" name="直接连接符 62"/>
            <p:cNvCxnSpPr/>
            <p:nvPr/>
          </p:nvCxnSpPr>
          <p:spPr>
            <a:xfrm flipH="1">
              <a:off x="2697480" y="2979420"/>
              <a:ext cx="2430780" cy="7621"/>
            </a:xfrm>
            <a:prstGeom prst="line">
              <a:avLst/>
            </a:prstGeom>
          </p:spPr>
          <p:style>
            <a:lnRef idx="2">
              <a:schemeClr val="dk1"/>
            </a:lnRef>
            <a:fillRef idx="0">
              <a:schemeClr val="dk1"/>
            </a:fillRef>
            <a:effectRef idx="1">
              <a:schemeClr val="dk1"/>
            </a:effectRef>
            <a:fontRef idx="minor">
              <a:schemeClr val="tx1"/>
            </a:fontRef>
          </p:style>
        </p:cxnSp>
        <p:cxnSp>
          <p:nvCxnSpPr>
            <p:cNvPr id="67" name="直接连接符 66"/>
            <p:cNvCxnSpPr>
              <a:endCxn id="2" idx="3"/>
            </p:cNvCxnSpPr>
            <p:nvPr/>
          </p:nvCxnSpPr>
          <p:spPr>
            <a:xfrm flipH="1" flipV="1">
              <a:off x="6256020" y="2979420"/>
              <a:ext cx="2369820" cy="7621"/>
            </a:xfrm>
            <a:prstGeom prst="line">
              <a:avLst/>
            </a:prstGeom>
          </p:spPr>
          <p:style>
            <a:lnRef idx="2">
              <a:schemeClr val="dk1"/>
            </a:lnRef>
            <a:fillRef idx="0">
              <a:schemeClr val="dk1"/>
            </a:fillRef>
            <a:effectRef idx="1">
              <a:schemeClr val="dk1"/>
            </a:effectRef>
            <a:fontRef idx="minor">
              <a:schemeClr val="tx1"/>
            </a:fontRef>
          </p:style>
        </p:cxnSp>
        <p:cxnSp>
          <p:nvCxnSpPr>
            <p:cNvPr id="71" name="直接箭头连接符 70"/>
            <p:cNvCxnSpPr/>
            <p:nvPr/>
          </p:nvCxnSpPr>
          <p:spPr>
            <a:xfrm flipH="1">
              <a:off x="3281724" y="4296345"/>
              <a:ext cx="4184" cy="107370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5" name="直接箭头连接符 74"/>
            <p:cNvCxnSpPr/>
            <p:nvPr/>
          </p:nvCxnSpPr>
          <p:spPr>
            <a:xfrm>
              <a:off x="2688728" y="2979420"/>
              <a:ext cx="23165" cy="23739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1" name="直接箭头连接符 80"/>
            <p:cNvCxnSpPr/>
            <p:nvPr/>
          </p:nvCxnSpPr>
          <p:spPr>
            <a:xfrm>
              <a:off x="8625840" y="2987041"/>
              <a:ext cx="0" cy="238300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4" name="直接箭头连接符 83"/>
            <p:cNvCxnSpPr/>
            <p:nvPr/>
          </p:nvCxnSpPr>
          <p:spPr>
            <a:xfrm>
              <a:off x="8108508" y="4306014"/>
              <a:ext cx="0" cy="10473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6" name="文本框 95"/>
            <p:cNvSpPr txBox="1"/>
            <p:nvPr/>
          </p:nvSpPr>
          <p:spPr>
            <a:xfrm>
              <a:off x="5201415" y="1527160"/>
              <a:ext cx="981450" cy="381422"/>
            </a:xfrm>
            <a:prstGeom prst="rect">
              <a:avLst/>
            </a:prstGeom>
            <a:noFill/>
          </p:spPr>
          <p:txBody>
            <a:bodyPr wrap="square" rtlCol="0">
              <a:spAutoFit/>
            </a:bodyPr>
            <a:lstStyle/>
            <a:p>
              <a:pPr algn="ctr"/>
              <a:r>
                <a:rPr lang="zh-CN" altLang="en-US" sz="1400" b="1" dirty="0">
                  <a:solidFill>
                    <a:srgbClr val="FF0000"/>
                  </a:solidFill>
                </a:rPr>
                <a:t>准备</a:t>
              </a:r>
              <a:endParaRPr lang="zh-CN" altLang="en-US" sz="1400" b="1" dirty="0">
                <a:solidFill>
                  <a:srgbClr val="FF0000"/>
                </a:solidFill>
              </a:endParaRPr>
            </a:p>
          </p:txBody>
        </p:sp>
        <p:sp>
          <p:nvSpPr>
            <p:cNvPr id="97" name="文本框 96"/>
            <p:cNvSpPr txBox="1"/>
            <p:nvPr/>
          </p:nvSpPr>
          <p:spPr>
            <a:xfrm>
              <a:off x="7885043" y="1452306"/>
              <a:ext cx="981450" cy="381422"/>
            </a:xfrm>
            <a:prstGeom prst="rect">
              <a:avLst/>
            </a:prstGeom>
            <a:solidFill>
              <a:schemeClr val="bg1"/>
            </a:solidFill>
          </p:spPr>
          <p:txBody>
            <a:bodyPr wrap="square" rtlCol="0">
              <a:spAutoFit/>
            </a:bodyPr>
            <a:lstStyle/>
            <a:p>
              <a:pPr algn="ctr"/>
              <a:r>
                <a:rPr lang="zh-CN" altLang="en-US" sz="1400" b="1" dirty="0">
                  <a:solidFill>
                    <a:srgbClr val="FF0000"/>
                  </a:solidFill>
                </a:rPr>
                <a:t>延迟</a:t>
              </a:r>
              <a:endParaRPr lang="zh-CN" altLang="en-US" sz="1400" b="1" dirty="0">
                <a:solidFill>
                  <a:srgbClr val="FF0000"/>
                </a:solidFill>
              </a:endParaRPr>
            </a:p>
          </p:txBody>
        </p:sp>
        <p:sp>
          <p:nvSpPr>
            <p:cNvPr id="98" name="文本框 97"/>
            <p:cNvSpPr txBox="1"/>
            <p:nvPr/>
          </p:nvSpPr>
          <p:spPr>
            <a:xfrm>
              <a:off x="5043140" y="2094804"/>
              <a:ext cx="1303852" cy="381422"/>
            </a:xfrm>
            <a:prstGeom prst="rect">
              <a:avLst/>
            </a:prstGeom>
            <a:solidFill>
              <a:srgbClr val="FAFAF9"/>
            </a:solidFill>
          </p:spPr>
          <p:txBody>
            <a:bodyPr wrap="square" rtlCol="0">
              <a:spAutoFit/>
            </a:bodyPr>
            <a:lstStyle>
              <a:defPPr>
                <a:defRPr lang="zh-CN"/>
              </a:defPPr>
              <a:lvl1pPr algn="ctr">
                <a:defRPr sz="1200"/>
              </a:lvl1pPr>
            </a:lstStyle>
            <a:p>
              <a:r>
                <a:rPr lang="zh-CN" altLang="en-US" sz="1400" b="1" dirty="0"/>
                <a:t>系统接受有效请求</a:t>
              </a:r>
              <a:endParaRPr lang="zh-CN" altLang="en-US" sz="1400" b="1" dirty="0"/>
            </a:p>
          </p:txBody>
        </p:sp>
        <p:sp>
          <p:nvSpPr>
            <p:cNvPr id="99" name="文本框 98"/>
            <p:cNvSpPr txBox="1"/>
            <p:nvPr/>
          </p:nvSpPr>
          <p:spPr>
            <a:xfrm>
              <a:off x="4573905" y="822525"/>
              <a:ext cx="1127760" cy="381422"/>
            </a:xfrm>
            <a:prstGeom prst="rect">
              <a:avLst/>
            </a:prstGeom>
            <a:solidFill>
              <a:srgbClr val="FCFCFC"/>
            </a:solidFill>
          </p:spPr>
          <p:txBody>
            <a:bodyPr wrap="square" rtlCol="0">
              <a:spAutoFit/>
            </a:bodyPr>
            <a:lstStyle/>
            <a:p>
              <a:pPr algn="ctr"/>
              <a:r>
                <a:rPr lang="zh-CN" altLang="en-US" sz="1400" b="1" dirty="0"/>
                <a:t>用户产生新请求</a:t>
              </a:r>
              <a:endParaRPr lang="zh-CN" altLang="en-US" sz="1400" b="1" dirty="0"/>
            </a:p>
          </p:txBody>
        </p:sp>
        <p:sp>
          <p:nvSpPr>
            <p:cNvPr id="100" name="文本框 99"/>
            <p:cNvSpPr txBox="1"/>
            <p:nvPr/>
          </p:nvSpPr>
          <p:spPr>
            <a:xfrm>
              <a:off x="5692140" y="832103"/>
              <a:ext cx="1116693" cy="381422"/>
            </a:xfrm>
            <a:prstGeom prst="rect">
              <a:avLst/>
            </a:prstGeom>
            <a:solidFill>
              <a:srgbClr val="FCFCFC"/>
            </a:solidFill>
          </p:spPr>
          <p:txBody>
            <a:bodyPr wrap="square" rtlCol="0">
              <a:spAutoFit/>
            </a:bodyPr>
            <a:lstStyle>
              <a:defPPr>
                <a:defRPr lang="zh-CN"/>
              </a:defPPr>
              <a:lvl1pPr algn="ctr">
                <a:defRPr sz="1200"/>
              </a:lvl1pPr>
            </a:lstStyle>
            <a:p>
              <a:r>
                <a:rPr lang="zh-CN" altLang="en-US" sz="1400" b="1" dirty="0"/>
                <a:t>用户取消新请求</a:t>
              </a:r>
              <a:endParaRPr lang="zh-CN" altLang="en-US" sz="1400" b="1" dirty="0"/>
            </a:p>
          </p:txBody>
        </p:sp>
        <p:sp>
          <p:nvSpPr>
            <p:cNvPr id="101" name="文本框 100"/>
            <p:cNvSpPr txBox="1"/>
            <p:nvPr/>
          </p:nvSpPr>
          <p:spPr>
            <a:xfrm>
              <a:off x="3137349" y="2538639"/>
              <a:ext cx="1565456" cy="381422"/>
            </a:xfrm>
            <a:prstGeom prst="rect">
              <a:avLst/>
            </a:prstGeom>
            <a:noFill/>
          </p:spPr>
          <p:txBody>
            <a:bodyPr wrap="square" rtlCol="0">
              <a:spAutoFit/>
            </a:bodyPr>
            <a:lstStyle/>
            <a:p>
              <a:pPr algn="ctr"/>
              <a:r>
                <a:rPr lang="zh-CN" altLang="en-US" sz="1400" b="1" dirty="0"/>
                <a:t>化学制品仓库填写请求</a:t>
              </a:r>
              <a:endParaRPr lang="zh-CN" altLang="en-US" sz="1400" b="1" dirty="0"/>
            </a:p>
          </p:txBody>
        </p:sp>
        <p:sp>
          <p:nvSpPr>
            <p:cNvPr id="102" name="文本框 101"/>
            <p:cNvSpPr txBox="1"/>
            <p:nvPr/>
          </p:nvSpPr>
          <p:spPr>
            <a:xfrm>
              <a:off x="6966874" y="2637496"/>
              <a:ext cx="1322070" cy="381422"/>
            </a:xfrm>
            <a:prstGeom prst="rect">
              <a:avLst/>
            </a:prstGeom>
            <a:noFill/>
          </p:spPr>
          <p:txBody>
            <a:bodyPr wrap="square" rtlCol="0">
              <a:spAutoFit/>
            </a:bodyPr>
            <a:lstStyle/>
            <a:p>
              <a:pPr algn="ctr"/>
              <a:r>
                <a:rPr lang="zh-CN" altLang="en-US" sz="1400" b="1" dirty="0"/>
                <a:t>请求者取消请求</a:t>
              </a:r>
              <a:endParaRPr lang="zh-CN" altLang="en-US" sz="1400" b="1" dirty="0"/>
            </a:p>
          </p:txBody>
        </p:sp>
        <p:sp>
          <p:nvSpPr>
            <p:cNvPr id="103" name="文本框 102"/>
            <p:cNvSpPr txBox="1"/>
            <p:nvPr/>
          </p:nvSpPr>
          <p:spPr>
            <a:xfrm>
              <a:off x="5183550" y="3348805"/>
              <a:ext cx="981450" cy="535412"/>
            </a:xfrm>
            <a:prstGeom prst="rect">
              <a:avLst/>
            </a:prstGeom>
            <a:solidFill>
              <a:srgbClr val="F7F7F7"/>
            </a:solidFill>
          </p:spPr>
          <p:txBody>
            <a:bodyPr wrap="square" lIns="0" tIns="0" rIns="0" bIns="0" rtlCol="0">
              <a:spAutoFit/>
            </a:bodyPr>
            <a:lstStyle>
              <a:defPPr>
                <a:defRPr lang="zh-CN"/>
              </a:defPPr>
              <a:lvl1pPr algn="ctr">
                <a:defRPr sz="1200"/>
              </a:lvl1pPr>
            </a:lstStyle>
            <a:p>
              <a:r>
                <a:rPr lang="zh-CN" altLang="en-US" sz="1400" b="1" dirty="0"/>
                <a:t>采购员向供应商订货</a:t>
              </a:r>
              <a:endParaRPr lang="zh-CN" altLang="en-US" sz="1400" b="1" dirty="0"/>
            </a:p>
          </p:txBody>
        </p:sp>
        <p:sp>
          <p:nvSpPr>
            <p:cNvPr id="104" name="文本框 103"/>
            <p:cNvSpPr txBox="1"/>
            <p:nvPr/>
          </p:nvSpPr>
          <p:spPr>
            <a:xfrm>
              <a:off x="3607852" y="4095988"/>
              <a:ext cx="981450" cy="535412"/>
            </a:xfrm>
            <a:prstGeom prst="rect">
              <a:avLst/>
            </a:prstGeom>
            <a:solidFill>
              <a:srgbClr val="F8F8F8"/>
            </a:solidFill>
          </p:spPr>
          <p:txBody>
            <a:bodyPr wrap="square" lIns="0" tIns="0" rIns="0" bIns="0" rtlCol="0">
              <a:spAutoFit/>
            </a:bodyPr>
            <a:lstStyle>
              <a:defPPr>
                <a:defRPr lang="zh-CN"/>
              </a:defPPr>
              <a:lvl1pPr algn="ctr">
                <a:defRPr sz="1200"/>
              </a:lvl1pPr>
            </a:lstStyle>
            <a:p>
              <a:r>
                <a:rPr lang="zh-CN" altLang="en-US" sz="1400" b="1" dirty="0"/>
                <a:t>从供应商收到化学制品</a:t>
              </a:r>
              <a:endParaRPr lang="zh-CN" altLang="en-US" sz="1400" b="1" dirty="0"/>
            </a:p>
          </p:txBody>
        </p:sp>
        <p:sp>
          <p:nvSpPr>
            <p:cNvPr id="105" name="文本框 104"/>
            <p:cNvSpPr txBox="1"/>
            <p:nvPr/>
          </p:nvSpPr>
          <p:spPr>
            <a:xfrm>
              <a:off x="6793594" y="4095988"/>
              <a:ext cx="981450" cy="535412"/>
            </a:xfrm>
            <a:prstGeom prst="rect">
              <a:avLst/>
            </a:prstGeom>
            <a:solidFill>
              <a:srgbClr val="F4F4F4"/>
            </a:solidFill>
          </p:spPr>
          <p:txBody>
            <a:bodyPr wrap="square" lIns="0" tIns="0" rIns="0" bIns="0" rtlCol="0">
              <a:spAutoFit/>
            </a:bodyPr>
            <a:lstStyle>
              <a:defPPr>
                <a:defRPr lang="zh-CN"/>
              </a:defPPr>
              <a:lvl1pPr algn="ctr">
                <a:defRPr sz="1200"/>
              </a:lvl1pPr>
            </a:lstStyle>
            <a:p>
              <a:r>
                <a:rPr lang="zh-CN" altLang="en-US" sz="1400" b="1" dirty="0"/>
                <a:t>采购员取消供应商订单</a:t>
              </a:r>
              <a:endParaRPr lang="zh-CN" altLang="en-US" sz="1400" b="1" dirty="0"/>
            </a:p>
          </p:txBody>
        </p:sp>
        <p:sp>
          <p:nvSpPr>
            <p:cNvPr id="106" name="文本框 105"/>
            <p:cNvSpPr txBox="1"/>
            <p:nvPr/>
          </p:nvSpPr>
          <p:spPr>
            <a:xfrm>
              <a:off x="5081714" y="4755700"/>
              <a:ext cx="1170123" cy="381422"/>
            </a:xfrm>
            <a:prstGeom prst="rect">
              <a:avLst/>
            </a:prstGeom>
            <a:solidFill>
              <a:srgbClr val="F5F5F5"/>
            </a:solidFill>
          </p:spPr>
          <p:txBody>
            <a:bodyPr wrap="square" rtlCol="0">
              <a:spAutoFit/>
            </a:bodyPr>
            <a:lstStyle/>
            <a:p>
              <a:pPr algn="ctr"/>
              <a:r>
                <a:rPr lang="zh-CN" altLang="en-US" sz="1400" b="1" dirty="0"/>
                <a:t>供应商</a:t>
              </a:r>
              <a:r>
                <a:rPr lang="zh-CN" altLang="en-US" sz="1400" b="1" dirty="0"/>
                <a:t>推迟供货</a:t>
              </a:r>
              <a:endParaRPr lang="zh-CN" altLang="en-US" sz="1400" b="1" dirty="0"/>
            </a:p>
          </p:txBody>
        </p:sp>
        <p:sp>
          <p:nvSpPr>
            <p:cNvPr id="107" name="文本框 106"/>
            <p:cNvSpPr txBox="1"/>
            <p:nvPr/>
          </p:nvSpPr>
          <p:spPr>
            <a:xfrm>
              <a:off x="2553243" y="5486136"/>
              <a:ext cx="981450" cy="381422"/>
            </a:xfrm>
            <a:prstGeom prst="rect">
              <a:avLst/>
            </a:prstGeom>
            <a:noFill/>
          </p:spPr>
          <p:txBody>
            <a:bodyPr wrap="square" rtlCol="0">
              <a:spAutoFit/>
            </a:bodyPr>
            <a:lstStyle/>
            <a:p>
              <a:pPr algn="ctr"/>
              <a:r>
                <a:rPr lang="zh-CN" altLang="en-US" sz="1400" b="1" dirty="0">
                  <a:solidFill>
                    <a:srgbClr val="FF0000"/>
                  </a:solidFill>
                </a:rPr>
                <a:t>执行完成</a:t>
              </a:r>
              <a:endParaRPr lang="zh-CN" altLang="en-US" sz="1400" b="1" dirty="0">
                <a:solidFill>
                  <a:srgbClr val="FF0000"/>
                </a:solidFill>
              </a:endParaRPr>
            </a:p>
          </p:txBody>
        </p:sp>
        <p:sp>
          <p:nvSpPr>
            <p:cNvPr id="108" name="文本框 107"/>
            <p:cNvSpPr txBox="1"/>
            <p:nvPr/>
          </p:nvSpPr>
          <p:spPr>
            <a:xfrm>
              <a:off x="5201415" y="5486136"/>
              <a:ext cx="981450" cy="381422"/>
            </a:xfrm>
            <a:prstGeom prst="rect">
              <a:avLst/>
            </a:prstGeom>
            <a:noFill/>
          </p:spPr>
          <p:txBody>
            <a:bodyPr wrap="square" rtlCol="0">
              <a:spAutoFit/>
            </a:bodyPr>
            <a:lstStyle/>
            <a:p>
              <a:pPr algn="ctr"/>
              <a:r>
                <a:rPr lang="zh-CN" altLang="en-US" sz="1400" b="1" dirty="0">
                  <a:solidFill>
                    <a:srgbClr val="FF0000"/>
                  </a:solidFill>
                </a:rPr>
                <a:t>订单返回</a:t>
              </a:r>
              <a:endParaRPr lang="zh-CN" altLang="en-US" sz="1400" b="1" dirty="0">
                <a:solidFill>
                  <a:srgbClr val="FF0000"/>
                </a:solidFill>
              </a:endParaRPr>
            </a:p>
          </p:txBody>
        </p:sp>
        <p:sp>
          <p:nvSpPr>
            <p:cNvPr id="109" name="文本框 108"/>
            <p:cNvSpPr txBox="1"/>
            <p:nvPr/>
          </p:nvSpPr>
          <p:spPr>
            <a:xfrm>
              <a:off x="7884847" y="5463974"/>
              <a:ext cx="981450" cy="381422"/>
            </a:xfrm>
            <a:prstGeom prst="rect">
              <a:avLst/>
            </a:prstGeom>
            <a:noFill/>
          </p:spPr>
          <p:txBody>
            <a:bodyPr wrap="square" rtlCol="0">
              <a:spAutoFit/>
            </a:bodyPr>
            <a:lstStyle/>
            <a:p>
              <a:pPr algn="ctr"/>
              <a:r>
                <a:rPr lang="zh-CN" altLang="en-US" sz="1400" b="1" dirty="0">
                  <a:solidFill>
                    <a:srgbClr val="FF0000"/>
                  </a:solidFill>
                </a:rPr>
                <a:t>取消</a:t>
              </a:r>
              <a:endParaRPr lang="zh-CN" altLang="en-US" sz="1400" b="1" dirty="0">
                <a:solidFill>
                  <a:srgbClr val="FF0000"/>
                </a:solidFill>
              </a:endParaRPr>
            </a:p>
          </p:txBody>
        </p:sp>
        <p:sp>
          <p:nvSpPr>
            <p:cNvPr id="110" name="文本框 109"/>
            <p:cNvSpPr txBox="1"/>
            <p:nvPr/>
          </p:nvSpPr>
          <p:spPr>
            <a:xfrm>
              <a:off x="5183415" y="4095935"/>
              <a:ext cx="981450" cy="381422"/>
            </a:xfrm>
            <a:prstGeom prst="rect">
              <a:avLst/>
            </a:prstGeom>
            <a:noFill/>
          </p:spPr>
          <p:txBody>
            <a:bodyPr wrap="square" rtlCol="0">
              <a:spAutoFit/>
            </a:bodyPr>
            <a:lstStyle/>
            <a:p>
              <a:pPr algn="ctr"/>
              <a:r>
                <a:rPr lang="zh-CN" altLang="en-US" sz="1400" b="1" dirty="0">
                  <a:solidFill>
                    <a:srgbClr val="FF0000"/>
                  </a:solidFill>
                </a:rPr>
                <a:t>提出</a:t>
              </a:r>
              <a:endParaRPr lang="zh-CN" altLang="en-US" sz="1400" b="1" dirty="0">
                <a:solidFill>
                  <a:srgbClr val="FF0000"/>
                </a:solidFill>
              </a:endParaRPr>
            </a:p>
          </p:txBody>
        </p:sp>
        <p:sp>
          <p:nvSpPr>
            <p:cNvPr id="111" name="文本框 110"/>
            <p:cNvSpPr txBox="1"/>
            <p:nvPr/>
          </p:nvSpPr>
          <p:spPr>
            <a:xfrm>
              <a:off x="5203404" y="2857633"/>
              <a:ext cx="981450" cy="381422"/>
            </a:xfrm>
            <a:prstGeom prst="rect">
              <a:avLst/>
            </a:prstGeom>
            <a:noFill/>
          </p:spPr>
          <p:txBody>
            <a:bodyPr wrap="square" rtlCol="0">
              <a:spAutoFit/>
            </a:bodyPr>
            <a:lstStyle/>
            <a:p>
              <a:pPr algn="ctr"/>
              <a:r>
                <a:rPr lang="zh-CN" altLang="en-US" sz="1400" b="1" dirty="0">
                  <a:solidFill>
                    <a:srgbClr val="FF0000"/>
                  </a:solidFill>
                </a:rPr>
                <a:t>接受</a:t>
              </a:r>
              <a:endParaRPr lang="zh-CN" altLang="en-US" sz="1400" b="1" dirty="0">
                <a:solidFill>
                  <a:srgbClr val="FF0000"/>
                </a:solidFill>
              </a:endParaRPr>
            </a:p>
          </p:txBody>
        </p:sp>
        <p:sp>
          <p:nvSpPr>
            <p:cNvPr id="112" name="文本框 111"/>
            <p:cNvSpPr txBox="1"/>
            <p:nvPr/>
          </p:nvSpPr>
          <p:spPr>
            <a:xfrm>
              <a:off x="3957439" y="5425722"/>
              <a:ext cx="802897" cy="535412"/>
            </a:xfrm>
            <a:prstGeom prst="rect">
              <a:avLst/>
            </a:prstGeom>
            <a:solidFill>
              <a:srgbClr val="F4F4F4"/>
            </a:solidFill>
          </p:spPr>
          <p:txBody>
            <a:bodyPr wrap="square" lIns="0" tIns="0" rIns="0" bIns="0" rtlCol="0">
              <a:spAutoFit/>
            </a:bodyPr>
            <a:lstStyle>
              <a:defPPr>
                <a:defRPr lang="zh-CN"/>
              </a:defPPr>
              <a:lvl1pPr algn="ctr">
                <a:defRPr sz="1200"/>
              </a:lvl1pPr>
            </a:lstStyle>
            <a:p>
              <a:r>
                <a:rPr lang="zh-CN" altLang="en-US" sz="1400" b="1" dirty="0"/>
                <a:t>从供应商接受制品</a:t>
              </a:r>
              <a:endParaRPr lang="zh-CN" altLang="en-US" sz="1400" b="1" dirty="0"/>
            </a:p>
          </p:txBody>
        </p:sp>
        <p:sp>
          <p:nvSpPr>
            <p:cNvPr id="113" name="文本框 112"/>
            <p:cNvSpPr txBox="1"/>
            <p:nvPr/>
          </p:nvSpPr>
          <p:spPr>
            <a:xfrm>
              <a:off x="6605611" y="5426297"/>
              <a:ext cx="981450" cy="535412"/>
            </a:xfrm>
            <a:prstGeom prst="rect">
              <a:avLst/>
            </a:prstGeom>
            <a:solidFill>
              <a:srgbClr val="F1F1F1"/>
            </a:solidFill>
          </p:spPr>
          <p:txBody>
            <a:bodyPr wrap="square" lIns="0" tIns="0" rIns="0" bIns="0" rtlCol="0">
              <a:spAutoFit/>
            </a:bodyPr>
            <a:lstStyle>
              <a:defPPr>
                <a:defRPr lang="zh-CN"/>
              </a:defPPr>
              <a:lvl1pPr algn="ctr">
                <a:defRPr sz="1200"/>
              </a:lvl1pPr>
            </a:lstStyle>
            <a:p>
              <a:r>
                <a:rPr lang="zh-CN" altLang="en-US" sz="1400" b="1" dirty="0"/>
                <a:t>采购员取消供应商订单</a:t>
              </a:r>
              <a:endParaRPr lang="zh-CN" altLang="en-US" sz="1400" b="1" dirty="0"/>
            </a:p>
          </p:txBody>
        </p:sp>
        <p:sp>
          <p:nvSpPr>
            <p:cNvPr id="114" name="文本框 113"/>
            <p:cNvSpPr txBox="1"/>
            <p:nvPr/>
          </p:nvSpPr>
          <p:spPr>
            <a:xfrm>
              <a:off x="6746172" y="845371"/>
              <a:ext cx="992528" cy="649128"/>
            </a:xfrm>
            <a:prstGeom prst="rect">
              <a:avLst/>
            </a:prstGeom>
            <a:noFill/>
          </p:spPr>
          <p:txBody>
            <a:bodyPr wrap="square" rtlCol="0">
              <a:spAutoFit/>
            </a:bodyPr>
            <a:lstStyle/>
            <a:p>
              <a:pPr algn="ctr"/>
              <a:r>
                <a:rPr lang="zh-CN" altLang="en-US" sz="1400" b="1" dirty="0"/>
                <a:t>用户保存未完成请求</a:t>
              </a:r>
              <a:endParaRPr lang="zh-CN" altLang="en-US" sz="1400" b="1" dirty="0"/>
            </a:p>
          </p:txBody>
        </p:sp>
        <p:sp>
          <p:nvSpPr>
            <p:cNvPr id="115" name="文本框 114"/>
            <p:cNvSpPr txBox="1"/>
            <p:nvPr/>
          </p:nvSpPr>
          <p:spPr>
            <a:xfrm>
              <a:off x="6622067" y="1825570"/>
              <a:ext cx="992527" cy="649128"/>
            </a:xfrm>
            <a:prstGeom prst="rect">
              <a:avLst/>
            </a:prstGeom>
            <a:noFill/>
          </p:spPr>
          <p:txBody>
            <a:bodyPr wrap="square" rtlCol="0">
              <a:spAutoFit/>
            </a:bodyPr>
            <a:lstStyle/>
            <a:p>
              <a:pPr algn="ctr"/>
              <a:r>
                <a:rPr lang="zh-CN" altLang="en-US" sz="1400" b="1" dirty="0"/>
                <a:t>用户查询未完成请求</a:t>
              </a:r>
              <a:endParaRPr lang="zh-CN" altLang="en-US" sz="1400" b="1" dirty="0"/>
            </a:p>
          </p:txBody>
        </p:sp>
      </p:grpSp>
      <p:sp>
        <p:nvSpPr>
          <p:cNvPr id="61" name="文本框 60"/>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53"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5</a:t>
            </a:r>
            <a:r>
              <a:rPr lang="zh-CN" altLang="en-US" sz="2400" b="1" kern="0" dirty="0">
                <a:latin typeface="宋体" panose="02010600030101010101" pitchFamily="2" charset="-122"/>
                <a:sym typeface="宋体" panose="02010600030101010101" pitchFamily="2" charset="-122"/>
              </a:rPr>
              <a:t>）状态转换图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57" name="矩形 56"/>
          <p:cNvSpPr/>
          <p:nvPr/>
        </p:nvSpPr>
        <p:spPr>
          <a:xfrm>
            <a:off x="1634836" y="1764148"/>
            <a:ext cx="8968509" cy="4553525"/>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9" name="文本框 67"/>
          <p:cNvSpPr>
            <a:spLocks noChangeArrowheads="1"/>
          </p:cNvSpPr>
          <p:nvPr/>
        </p:nvSpPr>
        <p:spPr bwMode="auto">
          <a:xfrm>
            <a:off x="3278909" y="1533691"/>
            <a:ext cx="6624216" cy="429895"/>
          </a:xfrm>
          <a:prstGeom prst="rect">
            <a:avLst/>
          </a:prstGeom>
          <a:solidFill>
            <a:schemeClr val="bg1"/>
          </a:solidFill>
          <a:ln>
            <a:solidFill>
              <a:srgbClr val="FF0000"/>
            </a:solidFill>
          </a:ln>
        </p:spPr>
        <p:txBody>
          <a:bodyPr wrap="square">
            <a:spAutoFit/>
          </a:bodyPr>
          <a:lstStyle/>
          <a:p>
            <a:pPr lvl="0" algn="ctr" fontAlgn="base">
              <a:spcBef>
                <a:spcPct val="0"/>
              </a:spcBef>
              <a:spcAft>
                <a:spcPct val="0"/>
              </a:spcAft>
              <a:defRPr/>
            </a:pPr>
            <a:r>
              <a:rPr lang="zh-CN" altLang="en-US" sz="2200" b="1" kern="0" dirty="0">
                <a:solidFill>
                  <a:srgbClr val="FF0000"/>
                </a:solidFill>
                <a:latin typeface="宋体" panose="02010600030101010101" pitchFamily="2" charset="-122"/>
                <a:sym typeface="宋体" panose="02010600030101010101" pitchFamily="2" charset="-122"/>
              </a:rPr>
              <a:t>“化学制品跟踪系统”化学制品请求的状态转换图</a:t>
            </a:r>
            <a:endParaRPr lang="zh-CN" altLang="en-US" sz="2200" b="1" kern="0" dirty="0">
              <a:solidFill>
                <a:srgbClr val="FF0000"/>
              </a:solidFill>
              <a:latin typeface="宋体" panose="02010600030101010101" pitchFamily="2" charset="-122"/>
              <a:ea typeface="宋体" panose="02010600030101010101" pitchFamily="2" charset="-122"/>
              <a:sym typeface="宋体" panose="02010600030101010101" pitchFamily="2" charset="-122"/>
            </a:endParaRPr>
          </a:p>
        </p:txBody>
      </p:sp>
      <p:sp>
        <p:nvSpPr>
          <p:cNvPr id="3" name="日期占位符 2"/>
          <p:cNvSpPr>
            <a:spLocks noGrp="1"/>
          </p:cNvSpPr>
          <p:nvPr>
            <p:ph type="dt" sz="half" idx="10"/>
          </p:nvPr>
        </p:nvSpPr>
        <p:spPr/>
        <p:txBody>
          <a:bodyPr/>
          <a:lstStyle/>
          <a:p>
            <a:pPr>
              <a:defRPr/>
            </a:pPr>
            <a:fld id="{684D35CE-1F22-4927-AF82-3BA7F9253FCB}"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5" name="灯片编号占位符 4"/>
          <p:cNvSpPr>
            <a:spLocks noGrp="1"/>
          </p:cNvSpPr>
          <p:nvPr>
            <p:ph type="sldNum" sz="quarter" idx="12"/>
          </p:nvPr>
        </p:nvSpPr>
        <p:spPr/>
        <p:txBody>
          <a:bodyPr/>
          <a:lstStyle/>
          <a:p>
            <a:pPr>
              <a:defRPr/>
            </a:pPr>
            <a:fld id="{0519FDB0-D360-4966-A01C-1D1C6BB19AF3}" type="slidenum">
              <a:rPr lang="zh-CN" altLang="en-US" b="1" smtClean="0">
                <a:solidFill>
                  <a:prstClr val="black">
                    <a:tint val="75000"/>
                  </a:prstClr>
                </a:solidFill>
              </a:rPr>
            </a:fld>
            <a:endParaRPr lang="zh-CN" altLang="en-US" b="1" dirty="0" smtClean="0">
              <a:solidFill>
                <a:prstClr val="black">
                  <a:tint val="75000"/>
                </a:prstClr>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p:tgtEl>
                                          <p:spTgt spid="53"/>
                                        </p:tgtEl>
                                        <p:attrNameLst>
                                          <p:attrName>ppt_x</p:attrName>
                                        </p:attrNameLst>
                                      </p:cBhvr>
                                      <p:tavLst>
                                        <p:tav tm="0">
                                          <p:val>
                                            <p:strVal val="#ppt_x+#ppt_w*1.125000"/>
                                          </p:val>
                                        </p:tav>
                                        <p:tav tm="100000">
                                          <p:val>
                                            <p:strVal val="#ppt_x"/>
                                          </p:val>
                                        </p:tav>
                                      </p:tavLst>
                                    </p:anim>
                                    <p:animEffect transition="in" filter="wipe(left)">
                                      <p:cBhvr>
                                        <p:cTn id="8" dur="500"/>
                                        <p:tgtEl>
                                          <p:spTgt spid="53"/>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7" grpId="0" animBg="1"/>
      <p:bldP spid="59"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3"/>
          <p:cNvSpPr txBox="1"/>
          <p:nvPr/>
        </p:nvSpPr>
        <p:spPr>
          <a:xfrm>
            <a:off x="452582" y="1978195"/>
            <a:ext cx="2262909" cy="737919"/>
          </a:xfrm>
          <a:prstGeom prst="rect">
            <a:avLst/>
          </a:prstGeom>
          <a:solidFill>
            <a:schemeClr val="accent1"/>
          </a:solidFill>
          <a:ln>
            <a:noFill/>
          </a:ln>
        </p:spPr>
        <p:txBody>
          <a:bodyPr wrap="none">
            <a:normAutofit lnSpcReduction="10000"/>
          </a:bodyPr>
          <a:lstStyle>
            <a:defPPr>
              <a:defRPr lang="zh-CN"/>
            </a:defPPr>
            <a:lvl1pPr algn="ctr">
              <a:defRPr sz="2000" b="1">
                <a:solidFill>
                  <a:schemeClr val="bg1"/>
                </a:solidFill>
                <a:latin typeface="+mn-ea"/>
              </a:defRPr>
            </a:lvl1pPr>
          </a:lstStyle>
          <a:p>
            <a:r>
              <a:rPr lang="en-US" altLang="zh-CN" sz="2200" dirty="0"/>
              <a:t>01  </a:t>
            </a:r>
            <a:r>
              <a:rPr lang="zh-CN" altLang="en-US" sz="2200" dirty="0"/>
              <a:t>准备</a:t>
            </a:r>
            <a:endParaRPr lang="en-US" altLang="zh-CN" sz="2200" dirty="0"/>
          </a:p>
          <a:p>
            <a:r>
              <a:rPr lang="zh-CN" altLang="en-US" sz="2200" dirty="0"/>
              <a:t>（</a:t>
            </a:r>
            <a:r>
              <a:rPr lang="en-US" altLang="zh-CN" sz="2200" dirty="0"/>
              <a:t>in preparation</a:t>
            </a:r>
            <a:r>
              <a:rPr lang="zh-CN" altLang="en-US" dirty="0"/>
              <a:t>）</a:t>
            </a:r>
            <a:endParaRPr lang="en-GB" dirty="0"/>
          </a:p>
        </p:txBody>
      </p:sp>
      <p:sp>
        <p:nvSpPr>
          <p:cNvPr id="20" name="文本框 19"/>
          <p:cNvSpPr txBox="1"/>
          <p:nvPr/>
        </p:nvSpPr>
        <p:spPr>
          <a:xfrm>
            <a:off x="2855913" y="1969560"/>
            <a:ext cx="8640762" cy="804672"/>
          </a:xfrm>
          <a:prstGeom prst="rect">
            <a:avLst/>
          </a:prstGeom>
          <a:solidFill>
            <a:schemeClr val="bg1"/>
          </a:solidFill>
          <a:ln>
            <a:solidFill>
              <a:schemeClr val="tx1"/>
            </a:solidFill>
          </a:ln>
        </p:spPr>
        <p:txBody>
          <a:bodyPr wrap="square" anchor="ctr" anchorCtr="0">
            <a:noAutofit/>
          </a:bodyPr>
          <a:lstStyle/>
          <a:p>
            <a:pPr algn="just"/>
            <a:r>
              <a:rPr lang="zh-CN" altLang="en-US" sz="2200" b="1" dirty="0">
                <a:solidFill>
                  <a:schemeClr val="tx1">
                    <a:lumMod val="95000"/>
                    <a:lumOff val="5000"/>
                  </a:schemeClr>
                </a:solidFill>
                <a:latin typeface="+mn-ea"/>
              </a:rPr>
              <a:t>请求者正在创建一个新的请求，已经从系统的其它部分启动了这一功能</a:t>
            </a:r>
            <a:endParaRPr lang="zh-CN" altLang="en-US" sz="2200" b="1" dirty="0">
              <a:solidFill>
                <a:schemeClr val="tx1">
                  <a:lumMod val="95000"/>
                  <a:lumOff val="5000"/>
                </a:schemeClr>
              </a:solidFill>
              <a:latin typeface="+mn-ea"/>
            </a:endParaRPr>
          </a:p>
        </p:txBody>
      </p:sp>
      <p:sp>
        <p:nvSpPr>
          <p:cNvPr id="19" name="TextBox 23"/>
          <p:cNvSpPr txBox="1"/>
          <p:nvPr/>
        </p:nvSpPr>
        <p:spPr>
          <a:xfrm>
            <a:off x="453512" y="3161459"/>
            <a:ext cx="2262909" cy="737919"/>
          </a:xfrm>
          <a:prstGeom prst="rect">
            <a:avLst/>
          </a:prstGeom>
          <a:solidFill>
            <a:schemeClr val="accent1"/>
          </a:solidFill>
          <a:ln>
            <a:noFill/>
          </a:ln>
        </p:spPr>
        <p:txBody>
          <a:bodyPr wrap="none">
            <a:noAutofit/>
          </a:bodyPr>
          <a:lstStyle>
            <a:defPPr>
              <a:defRPr lang="zh-CN"/>
            </a:defPPr>
            <a:lvl1pPr algn="ctr">
              <a:defRPr sz="2000" b="1">
                <a:solidFill>
                  <a:schemeClr val="bg1"/>
                </a:solidFill>
                <a:latin typeface="+mn-ea"/>
              </a:defRPr>
            </a:lvl1pPr>
          </a:lstStyle>
          <a:p>
            <a:r>
              <a:rPr lang="en-US" altLang="zh-CN" sz="2200" dirty="0"/>
              <a:t>02  </a:t>
            </a:r>
            <a:r>
              <a:rPr lang="zh-CN" altLang="en-US" sz="2200" dirty="0"/>
              <a:t>延迟</a:t>
            </a:r>
            <a:endParaRPr lang="en-US" altLang="zh-CN" sz="2200" dirty="0"/>
          </a:p>
          <a:p>
            <a:r>
              <a:rPr lang="en-US" altLang="zh-CN" sz="2200" dirty="0"/>
              <a:t>(postponed)</a:t>
            </a:r>
            <a:endParaRPr lang="en-GB" sz="2200" dirty="0"/>
          </a:p>
        </p:txBody>
      </p:sp>
      <p:sp>
        <p:nvSpPr>
          <p:cNvPr id="21" name="文本框 20"/>
          <p:cNvSpPr txBox="1"/>
          <p:nvPr/>
        </p:nvSpPr>
        <p:spPr>
          <a:xfrm>
            <a:off x="2855914" y="3139440"/>
            <a:ext cx="8640762" cy="786384"/>
          </a:xfrm>
          <a:prstGeom prst="rect">
            <a:avLst/>
          </a:prstGeom>
          <a:solidFill>
            <a:schemeClr val="bg1"/>
          </a:solidFill>
          <a:ln>
            <a:solidFill>
              <a:schemeClr val="tx1"/>
            </a:solidFill>
          </a:ln>
        </p:spPr>
        <p:txBody>
          <a:bodyPr wrap="square" anchor="ctr" anchorCtr="0">
            <a:noAutofit/>
          </a:bodyPr>
          <a:lstStyle>
            <a:defPPr>
              <a:defRPr lang="zh-CN"/>
            </a:defPPr>
            <a:lvl1pPr algn="just">
              <a:defRPr sz="2000">
                <a:solidFill>
                  <a:schemeClr val="tx1">
                    <a:lumMod val="95000"/>
                    <a:lumOff val="5000"/>
                  </a:schemeClr>
                </a:solidFill>
                <a:latin typeface="+mn-ea"/>
              </a:defRPr>
            </a:lvl1pPr>
          </a:lstStyle>
          <a:p>
            <a:r>
              <a:rPr lang="zh-CN" altLang="en-US" sz="2200" b="1" dirty="0"/>
              <a:t>请求者存储其工作以备后用，而并不向系统提交请求或者取消请求</a:t>
            </a:r>
            <a:endParaRPr lang="zh-CN" altLang="en-US" sz="2200" b="1" dirty="0"/>
          </a:p>
        </p:txBody>
      </p:sp>
      <p:sp>
        <p:nvSpPr>
          <p:cNvPr id="26" name="TextBox 23"/>
          <p:cNvSpPr txBox="1"/>
          <p:nvPr/>
        </p:nvSpPr>
        <p:spPr>
          <a:xfrm>
            <a:off x="443269" y="4358888"/>
            <a:ext cx="2262909" cy="737919"/>
          </a:xfrm>
          <a:prstGeom prst="rect">
            <a:avLst/>
          </a:prstGeom>
          <a:solidFill>
            <a:schemeClr val="accent1"/>
          </a:solidFill>
          <a:ln>
            <a:noFill/>
          </a:ln>
        </p:spPr>
        <p:txBody>
          <a:bodyPr wrap="none">
            <a:normAutofit lnSpcReduction="10000"/>
          </a:bodyPr>
          <a:lstStyle>
            <a:defPPr>
              <a:defRPr lang="zh-CN"/>
            </a:defPPr>
            <a:lvl1pPr algn="ctr">
              <a:defRPr sz="2000" b="1">
                <a:solidFill>
                  <a:schemeClr val="bg1"/>
                </a:solidFill>
                <a:latin typeface="+mn-ea"/>
              </a:defRPr>
            </a:lvl1pPr>
          </a:lstStyle>
          <a:p>
            <a:r>
              <a:rPr lang="en-US" altLang="zh-CN" sz="2200" dirty="0"/>
              <a:t>03  </a:t>
            </a:r>
            <a:r>
              <a:rPr lang="zh-CN" altLang="en-US" sz="2200" dirty="0"/>
              <a:t>接受</a:t>
            </a:r>
            <a:endParaRPr lang="en-US" altLang="zh-CN" sz="2200" dirty="0"/>
          </a:p>
          <a:p>
            <a:r>
              <a:rPr lang="en-US" altLang="zh-CN" sz="2200" dirty="0"/>
              <a:t>(accepted)</a:t>
            </a:r>
            <a:endParaRPr lang="en-GB" sz="2200" dirty="0"/>
          </a:p>
        </p:txBody>
      </p:sp>
      <p:sp>
        <p:nvSpPr>
          <p:cNvPr id="27" name="文本框 26"/>
          <p:cNvSpPr txBox="1"/>
          <p:nvPr/>
        </p:nvSpPr>
        <p:spPr>
          <a:xfrm>
            <a:off x="2855913" y="4383024"/>
            <a:ext cx="8640762" cy="804672"/>
          </a:xfrm>
          <a:prstGeom prst="rect">
            <a:avLst/>
          </a:prstGeom>
          <a:solidFill>
            <a:schemeClr val="bg1"/>
          </a:solidFill>
          <a:ln>
            <a:solidFill>
              <a:schemeClr val="tx1"/>
            </a:solidFill>
          </a:ln>
        </p:spPr>
        <p:txBody>
          <a:bodyPr wrap="square" anchor="ctr" anchorCtr="0">
            <a:noAutofit/>
          </a:bodyPr>
          <a:lstStyle>
            <a:defPPr>
              <a:defRPr lang="zh-CN"/>
            </a:defPPr>
            <a:lvl1pPr algn="just">
              <a:defRPr sz="2000">
                <a:solidFill>
                  <a:schemeClr val="tx1">
                    <a:lumMod val="95000"/>
                    <a:lumOff val="5000"/>
                  </a:schemeClr>
                </a:solidFill>
                <a:latin typeface="+mn-ea"/>
              </a:defRPr>
            </a:lvl1pPr>
          </a:lstStyle>
          <a:p>
            <a:r>
              <a:rPr lang="zh-CN" altLang="en-US" sz="2200" b="1" dirty="0"/>
              <a:t>用户提交一个完整的化学制品请求，系统判断该请求顺序是否有效，如果有效就接受该请求进行处理</a:t>
            </a:r>
            <a:endParaRPr lang="zh-CN" altLang="en-US" sz="2200" b="1" dirty="0"/>
          </a:p>
        </p:txBody>
      </p:sp>
      <p:sp>
        <p:nvSpPr>
          <p:cNvPr id="28" name="TextBox 23"/>
          <p:cNvSpPr txBox="1"/>
          <p:nvPr/>
        </p:nvSpPr>
        <p:spPr>
          <a:xfrm>
            <a:off x="432358" y="5516580"/>
            <a:ext cx="2262909" cy="737919"/>
          </a:xfrm>
          <a:prstGeom prst="rect">
            <a:avLst/>
          </a:prstGeom>
          <a:solidFill>
            <a:schemeClr val="accent1"/>
          </a:solidFill>
          <a:ln>
            <a:noFill/>
          </a:ln>
        </p:spPr>
        <p:txBody>
          <a:bodyPr wrap="none">
            <a:noAutofit/>
          </a:bodyPr>
          <a:lstStyle>
            <a:defPPr>
              <a:defRPr lang="zh-CN"/>
            </a:defPPr>
            <a:lvl1pPr algn="ctr">
              <a:defRPr sz="2000" b="1">
                <a:solidFill>
                  <a:schemeClr val="bg1"/>
                </a:solidFill>
                <a:latin typeface="+mn-ea"/>
              </a:defRPr>
            </a:lvl1pPr>
          </a:lstStyle>
          <a:p>
            <a:r>
              <a:rPr lang="en-US" altLang="zh-CN" sz="2200" dirty="0"/>
              <a:t>04  </a:t>
            </a:r>
            <a:r>
              <a:rPr lang="zh-CN" altLang="en-US" sz="2200" dirty="0"/>
              <a:t>提出</a:t>
            </a:r>
            <a:endParaRPr lang="en-US" altLang="zh-CN" sz="2200" dirty="0"/>
          </a:p>
          <a:p>
            <a:r>
              <a:rPr lang="en-US" altLang="zh-CN" sz="2200" dirty="0"/>
              <a:t>(placed)</a:t>
            </a:r>
            <a:endParaRPr lang="en-GB" sz="2200" dirty="0"/>
          </a:p>
        </p:txBody>
      </p:sp>
      <p:sp>
        <p:nvSpPr>
          <p:cNvPr id="29" name="文本框 28"/>
          <p:cNvSpPr txBox="1"/>
          <p:nvPr/>
        </p:nvSpPr>
        <p:spPr>
          <a:xfrm>
            <a:off x="2855913" y="5529072"/>
            <a:ext cx="8640762" cy="810767"/>
          </a:xfrm>
          <a:prstGeom prst="rect">
            <a:avLst/>
          </a:prstGeom>
          <a:solidFill>
            <a:schemeClr val="bg1"/>
          </a:solidFill>
          <a:ln>
            <a:solidFill>
              <a:schemeClr val="tx1"/>
            </a:solidFill>
          </a:ln>
        </p:spPr>
        <p:txBody>
          <a:bodyPr wrap="square" anchor="ctr" anchorCtr="0">
            <a:noAutofit/>
          </a:bodyPr>
          <a:lstStyle>
            <a:defPPr>
              <a:defRPr lang="zh-CN"/>
            </a:defPPr>
            <a:lvl1pPr algn="just">
              <a:defRPr sz="2000">
                <a:solidFill>
                  <a:schemeClr val="tx1">
                    <a:lumMod val="95000"/>
                    <a:lumOff val="5000"/>
                  </a:schemeClr>
                </a:solidFill>
                <a:latin typeface="+mn-ea"/>
              </a:defRPr>
            </a:lvl1pPr>
          </a:lstStyle>
          <a:p>
            <a:r>
              <a:rPr lang="zh-CN" altLang="en-US" sz="2200" b="1" dirty="0"/>
              <a:t>采购员向供应商订货，并且外部供应商必须满足请求</a:t>
            </a:r>
            <a:endParaRPr lang="zh-CN" altLang="en-US" sz="2200" b="1" dirty="0"/>
          </a:p>
        </p:txBody>
      </p:sp>
      <p:grpSp>
        <p:nvGrpSpPr>
          <p:cNvPr id="31" name="组合 5"/>
          <p:cNvGrpSpPr/>
          <p:nvPr/>
        </p:nvGrpSpPr>
        <p:grpSpPr>
          <a:xfrm>
            <a:off x="109497" y="349963"/>
            <a:ext cx="525184" cy="422276"/>
            <a:chOff x="5075564" y="2933562"/>
            <a:chExt cx="2860947" cy="2302753"/>
          </a:xfrm>
        </p:grpSpPr>
        <p:sp>
          <p:nvSpPr>
            <p:cNvPr id="33" name="等腰三角形 32"/>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34" name="等腰三角形 33"/>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35" name="文本框 34"/>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2" name="文本框 67"/>
          <p:cNvSpPr>
            <a:spLocks noChangeArrowheads="1"/>
          </p:cNvSpPr>
          <p:nvPr/>
        </p:nvSpPr>
        <p:spPr bwMode="auto">
          <a:xfrm>
            <a:off x="660400" y="774712"/>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5</a:t>
            </a:r>
            <a:r>
              <a:rPr lang="zh-CN" altLang="en-US" sz="2400" b="1" kern="0" dirty="0">
                <a:latin typeface="宋体" panose="02010600030101010101" pitchFamily="2" charset="-122"/>
                <a:sym typeface="宋体" panose="02010600030101010101" pitchFamily="2" charset="-122"/>
              </a:rPr>
              <a:t>）状态转换图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16" name="文本框 15"/>
          <p:cNvSpPr txBox="1"/>
          <p:nvPr/>
        </p:nvSpPr>
        <p:spPr>
          <a:xfrm>
            <a:off x="599846" y="1510050"/>
            <a:ext cx="6749859" cy="429895"/>
          </a:xfrm>
          <a:prstGeom prst="rect">
            <a:avLst/>
          </a:prstGeom>
          <a:noFill/>
        </p:spPr>
        <p:txBody>
          <a:bodyPr wrap="square">
            <a:spAutoFit/>
          </a:bodyPr>
          <a:lstStyle/>
          <a:p>
            <a:pPr lvl="0" fontAlgn="base">
              <a:spcBef>
                <a:spcPct val="0"/>
              </a:spcBef>
              <a:spcAft>
                <a:spcPct val="0"/>
              </a:spcAft>
              <a:defRPr/>
            </a:pPr>
            <a:r>
              <a:rPr lang="zh-CN" altLang="en-US" sz="2200" b="1" kern="0" dirty="0">
                <a:solidFill>
                  <a:srgbClr val="FF0000"/>
                </a:solidFill>
                <a:latin typeface="宋体" panose="02010600030101010101" pitchFamily="2" charset="-122"/>
                <a:sym typeface="宋体" panose="02010600030101010101" pitchFamily="2" charset="-122"/>
              </a:rPr>
              <a:t>“化学制品跟踪系统”化学制品请求的</a:t>
            </a:r>
            <a:r>
              <a:rPr lang="en-US" altLang="zh-CN" sz="2200" b="1" kern="0" dirty="0">
                <a:solidFill>
                  <a:srgbClr val="FF0000"/>
                </a:solidFill>
                <a:latin typeface="宋体" panose="02010600030101010101" pitchFamily="2" charset="-122"/>
                <a:sym typeface="宋体" panose="02010600030101010101" pitchFamily="2" charset="-122"/>
              </a:rPr>
              <a:t>7</a:t>
            </a:r>
            <a:r>
              <a:rPr lang="zh-CN" altLang="en-US" sz="2200" b="1" kern="0" dirty="0">
                <a:solidFill>
                  <a:srgbClr val="FF0000"/>
                </a:solidFill>
                <a:latin typeface="宋体" panose="02010600030101010101" pitchFamily="2" charset="-122"/>
                <a:sym typeface="宋体" panose="02010600030101010101" pitchFamily="2" charset="-122"/>
              </a:rPr>
              <a:t>个状态说明：</a:t>
            </a:r>
            <a:endParaRPr lang="zh-CN" altLang="en-US" sz="2200" b="1" kern="0" dirty="0">
              <a:solidFill>
                <a:srgbClr val="FF0000"/>
              </a:solidFill>
              <a:latin typeface="宋体" panose="02010600030101010101" pitchFamily="2" charset="-122"/>
              <a:ea typeface="宋体" panose="02010600030101010101" pitchFamily="2" charset="-122"/>
              <a:sym typeface="宋体" panose="02010600030101010101" pitchFamily="2" charset="-122"/>
            </a:endParaRPr>
          </a:p>
        </p:txBody>
      </p:sp>
      <p:sp>
        <p:nvSpPr>
          <p:cNvPr id="2" name="日期占位符 1"/>
          <p:cNvSpPr>
            <a:spLocks noGrp="1"/>
          </p:cNvSpPr>
          <p:nvPr>
            <p:ph type="dt" sz="half" idx="10"/>
          </p:nvPr>
        </p:nvSpPr>
        <p:spPr/>
        <p:txBody>
          <a:bodyPr/>
          <a:lstStyle/>
          <a:p>
            <a:pPr>
              <a:defRPr/>
            </a:pPr>
            <a:fld id="{351ADFB8-046A-4CA8-9254-B742046A689A}" type="datetime1">
              <a:rPr lang="zh-CN" altLang="en-US" b="1" smtClean="0">
                <a:solidFill>
                  <a:prstClr val="black">
                    <a:tint val="75000"/>
                  </a:prstClr>
                </a:solidFill>
              </a:rPr>
            </a:fld>
            <a:endParaRPr lang="zh-CN" altLang="en-US" b="1" smtClean="0">
              <a:solidFill>
                <a:prstClr val="black">
                  <a:tint val="75000"/>
                </a:prstClr>
              </a:solidFill>
            </a:endParaRPr>
          </a:p>
        </p:txBody>
      </p:sp>
      <p:sp>
        <p:nvSpPr>
          <p:cNvPr id="3" name="灯片编号占位符 2"/>
          <p:cNvSpPr>
            <a:spLocks noGrp="1"/>
          </p:cNvSpPr>
          <p:nvPr>
            <p:ph type="sldNum" sz="quarter" idx="12"/>
          </p:nvPr>
        </p:nvSpPr>
        <p:spPr/>
        <p:txBody>
          <a:bodyPr/>
          <a:lstStyle/>
          <a:p>
            <a:pPr>
              <a:defRPr/>
            </a:pPr>
            <a:fld id="{0519FDB0-D360-4966-A01C-1D1C6BB19AF3}" type="slidenum">
              <a:rPr lang="zh-CN" altLang="en-US" b="1" smtClean="0">
                <a:solidFill>
                  <a:prstClr val="black">
                    <a:tint val="75000"/>
                  </a:prstClr>
                </a:solidFill>
              </a:rPr>
            </a:fld>
            <a:endParaRPr lang="zh-CN" altLang="en-US" b="1" smtClean="0">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p:tgtEl>
                                          <p:spTgt spid="22"/>
                                        </p:tgtEl>
                                        <p:attrNameLst>
                                          <p:attrName>ppt_x</p:attrName>
                                        </p:attrNameLst>
                                      </p:cBhvr>
                                      <p:tavLst>
                                        <p:tav tm="0">
                                          <p:val>
                                            <p:strVal val="#ppt_x+#ppt_w*1.125000"/>
                                          </p:val>
                                        </p:tav>
                                        <p:tav tm="100000">
                                          <p:val>
                                            <p:strVal val="#ppt_x"/>
                                          </p:val>
                                        </p:tav>
                                      </p:tavLst>
                                    </p:anim>
                                    <p:animEffect transition="in" filter="wipe(left)">
                                      <p:cBhvr>
                                        <p:cTn id="8" dur="500"/>
                                        <p:tgtEl>
                                          <p:spTgt spid="22"/>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0" grpId="0" animBg="1"/>
      <p:bldP spid="19" grpId="0" animBg="1"/>
      <p:bldP spid="21" grpId="0" animBg="1"/>
      <p:bldP spid="26" grpId="0" animBg="1"/>
      <p:bldP spid="27" grpId="0" animBg="1"/>
      <p:bldP spid="28" grpId="0" animBg="1"/>
      <p:bldP spid="29" grpId="0" animBg="1"/>
      <p:bldP spid="22" grpId="0"/>
      <p:bldP spid="1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3"/>
          <p:cNvSpPr txBox="1"/>
          <p:nvPr/>
        </p:nvSpPr>
        <p:spPr>
          <a:xfrm>
            <a:off x="711105" y="2096531"/>
            <a:ext cx="1784445" cy="737919"/>
          </a:xfrm>
          <a:prstGeom prst="rect">
            <a:avLst/>
          </a:prstGeom>
          <a:solidFill>
            <a:schemeClr val="accent1"/>
          </a:solidFill>
          <a:ln>
            <a:noFill/>
          </a:ln>
        </p:spPr>
        <p:txBody>
          <a:bodyPr wrap="none">
            <a:normAutofit lnSpcReduction="10000"/>
          </a:bodyPr>
          <a:lstStyle>
            <a:defPPr>
              <a:defRPr lang="zh-CN"/>
            </a:defPPr>
            <a:lvl1pPr algn="ctr">
              <a:defRPr sz="2000" b="1">
                <a:solidFill>
                  <a:schemeClr val="bg1"/>
                </a:solidFill>
                <a:latin typeface="+mn-ea"/>
              </a:defRPr>
            </a:lvl1pPr>
          </a:lstStyle>
          <a:p>
            <a:r>
              <a:rPr lang="en-US" altLang="zh-CN" sz="2200" dirty="0"/>
              <a:t>05  </a:t>
            </a:r>
            <a:r>
              <a:rPr lang="zh-CN" altLang="en-US" sz="2200" dirty="0"/>
              <a:t>执行完成</a:t>
            </a:r>
            <a:endParaRPr lang="en-US" altLang="zh-CN" sz="2200" dirty="0"/>
          </a:p>
          <a:p>
            <a:r>
              <a:rPr lang="en-US" altLang="zh-CN" sz="2200" dirty="0"/>
              <a:t>(fulfilled)</a:t>
            </a:r>
            <a:endParaRPr lang="en-GB" sz="2200" dirty="0"/>
          </a:p>
        </p:txBody>
      </p:sp>
      <p:sp>
        <p:nvSpPr>
          <p:cNvPr id="20" name="文本框 19"/>
          <p:cNvSpPr txBox="1"/>
          <p:nvPr/>
        </p:nvSpPr>
        <p:spPr>
          <a:xfrm>
            <a:off x="2855912" y="2114755"/>
            <a:ext cx="8640763" cy="804672"/>
          </a:xfrm>
          <a:prstGeom prst="rect">
            <a:avLst/>
          </a:prstGeom>
          <a:solidFill>
            <a:schemeClr val="bg1"/>
          </a:solidFill>
          <a:ln>
            <a:solidFill>
              <a:schemeClr val="tx1"/>
            </a:solidFill>
          </a:ln>
        </p:spPr>
        <p:txBody>
          <a:bodyPr wrap="square">
            <a:noAutofit/>
          </a:bodyPr>
          <a:lstStyle>
            <a:defPPr>
              <a:defRPr lang="zh-CN"/>
            </a:defPPr>
            <a:lvl1pPr algn="just">
              <a:defRPr sz="2000">
                <a:solidFill>
                  <a:schemeClr val="tx1">
                    <a:lumMod val="95000"/>
                    <a:lumOff val="5000"/>
                  </a:schemeClr>
                </a:solidFill>
                <a:latin typeface="+mn-ea"/>
              </a:defRPr>
            </a:lvl1pPr>
          </a:lstStyle>
          <a:p>
            <a:r>
              <a:rPr lang="zh-CN" altLang="en-US" sz="2200" b="1" dirty="0"/>
              <a:t>通过从化学制品仓库交付一个化学制品容器给请求者或者收到供应商的化学制品收据时才能使请求得以满足</a:t>
            </a:r>
            <a:endParaRPr lang="zh-CN" altLang="en-US" sz="2200" b="1" dirty="0"/>
          </a:p>
        </p:txBody>
      </p:sp>
      <p:sp>
        <p:nvSpPr>
          <p:cNvPr id="19" name="TextBox 23"/>
          <p:cNvSpPr txBox="1"/>
          <p:nvPr/>
        </p:nvSpPr>
        <p:spPr>
          <a:xfrm>
            <a:off x="698501" y="3309239"/>
            <a:ext cx="1797049" cy="737919"/>
          </a:xfrm>
          <a:prstGeom prst="rect">
            <a:avLst/>
          </a:prstGeom>
          <a:solidFill>
            <a:schemeClr val="accent1"/>
          </a:solidFill>
          <a:ln>
            <a:noFill/>
          </a:ln>
        </p:spPr>
        <p:txBody>
          <a:bodyPr wrap="none">
            <a:normAutofit lnSpcReduction="10000"/>
          </a:bodyPr>
          <a:lstStyle>
            <a:defPPr>
              <a:defRPr lang="zh-CN"/>
            </a:defPPr>
            <a:lvl1pPr algn="ctr">
              <a:defRPr sz="2000" b="1">
                <a:solidFill>
                  <a:schemeClr val="bg1"/>
                </a:solidFill>
                <a:latin typeface="+mn-ea"/>
              </a:defRPr>
            </a:lvl1pPr>
          </a:lstStyle>
          <a:p>
            <a:r>
              <a:rPr lang="en-US" altLang="zh-CN" sz="2200" dirty="0"/>
              <a:t>06  </a:t>
            </a:r>
            <a:r>
              <a:rPr lang="zh-CN" altLang="en-US" sz="2200" dirty="0"/>
              <a:t>订单返回</a:t>
            </a:r>
            <a:endParaRPr lang="en-US" altLang="zh-CN" sz="2200" dirty="0"/>
          </a:p>
          <a:p>
            <a:r>
              <a:rPr lang="en-US" altLang="zh-CN" sz="2200" dirty="0"/>
              <a:t>(back-ordered)</a:t>
            </a:r>
            <a:endParaRPr lang="en-US" altLang="zh-CN" sz="2200" dirty="0"/>
          </a:p>
        </p:txBody>
      </p:sp>
      <p:sp>
        <p:nvSpPr>
          <p:cNvPr id="21" name="文本框 20"/>
          <p:cNvSpPr txBox="1"/>
          <p:nvPr/>
        </p:nvSpPr>
        <p:spPr>
          <a:xfrm>
            <a:off x="2855913" y="3299412"/>
            <a:ext cx="8640762" cy="810768"/>
          </a:xfrm>
          <a:prstGeom prst="rect">
            <a:avLst/>
          </a:prstGeom>
          <a:solidFill>
            <a:schemeClr val="bg1"/>
          </a:solidFill>
          <a:ln>
            <a:solidFill>
              <a:schemeClr val="tx1"/>
            </a:solidFill>
          </a:ln>
        </p:spPr>
        <p:txBody>
          <a:bodyPr wrap="square" anchor="ctr" anchorCtr="0">
            <a:noAutofit/>
          </a:bodyPr>
          <a:lstStyle>
            <a:defPPr>
              <a:defRPr lang="zh-CN"/>
            </a:defPPr>
            <a:lvl1pPr algn="just">
              <a:defRPr sz="2000">
                <a:solidFill>
                  <a:schemeClr val="tx1">
                    <a:lumMod val="95000"/>
                    <a:lumOff val="5000"/>
                  </a:schemeClr>
                </a:solidFill>
                <a:latin typeface="+mn-ea"/>
              </a:defRPr>
            </a:lvl1pPr>
          </a:lstStyle>
          <a:p>
            <a:r>
              <a:rPr lang="zh-CN" altLang="en-US" sz="2200" b="1" dirty="0"/>
              <a:t>供应商没有可用的化学制品，他通知采购员货物已订购以后再交付</a:t>
            </a:r>
            <a:endParaRPr lang="zh-CN" altLang="en-US" sz="2200" b="1" dirty="0"/>
          </a:p>
        </p:txBody>
      </p:sp>
      <p:sp>
        <p:nvSpPr>
          <p:cNvPr id="26" name="TextBox 23"/>
          <p:cNvSpPr txBox="1"/>
          <p:nvPr/>
        </p:nvSpPr>
        <p:spPr>
          <a:xfrm>
            <a:off x="698499" y="4596045"/>
            <a:ext cx="1803400" cy="737919"/>
          </a:xfrm>
          <a:prstGeom prst="rect">
            <a:avLst/>
          </a:prstGeom>
          <a:solidFill>
            <a:schemeClr val="accent1"/>
          </a:solidFill>
          <a:ln>
            <a:noFill/>
          </a:ln>
        </p:spPr>
        <p:txBody>
          <a:bodyPr wrap="none">
            <a:noAutofit/>
          </a:bodyPr>
          <a:lstStyle/>
          <a:p>
            <a:pPr algn="ctr"/>
            <a:r>
              <a:rPr lang="en-US" altLang="zh-CN" sz="2200" b="1" dirty="0">
                <a:solidFill>
                  <a:schemeClr val="bg1"/>
                </a:solidFill>
                <a:latin typeface="+mn-ea"/>
              </a:rPr>
              <a:t>07  </a:t>
            </a:r>
            <a:r>
              <a:rPr lang="zh-CN" altLang="en-US" sz="2200" b="1" dirty="0">
                <a:solidFill>
                  <a:schemeClr val="bg1"/>
                </a:solidFill>
                <a:latin typeface="+mn-ea"/>
              </a:rPr>
              <a:t>取消</a:t>
            </a:r>
            <a:endParaRPr lang="en-US" altLang="zh-CN" sz="2200" b="1" dirty="0">
              <a:solidFill>
                <a:schemeClr val="bg1"/>
              </a:solidFill>
              <a:latin typeface="+mn-ea"/>
            </a:endParaRPr>
          </a:p>
          <a:p>
            <a:pPr algn="ctr"/>
            <a:r>
              <a:rPr lang="en-US" altLang="zh-CN" sz="2200" b="1" dirty="0">
                <a:solidFill>
                  <a:schemeClr val="bg1"/>
                </a:solidFill>
                <a:latin typeface="+mn-ea"/>
              </a:rPr>
              <a:t>(canceled)</a:t>
            </a:r>
            <a:endParaRPr lang="en-GB" sz="2200" b="1" dirty="0">
              <a:solidFill>
                <a:schemeClr val="bg1"/>
              </a:solidFill>
              <a:latin typeface="+mn-ea"/>
            </a:endParaRPr>
          </a:p>
        </p:txBody>
      </p:sp>
      <p:sp>
        <p:nvSpPr>
          <p:cNvPr id="27" name="文本框 26"/>
          <p:cNvSpPr txBox="1"/>
          <p:nvPr/>
        </p:nvSpPr>
        <p:spPr>
          <a:xfrm>
            <a:off x="2855913" y="4585669"/>
            <a:ext cx="8640762" cy="798576"/>
          </a:xfrm>
          <a:prstGeom prst="rect">
            <a:avLst/>
          </a:prstGeom>
          <a:solidFill>
            <a:schemeClr val="bg1"/>
          </a:solidFill>
          <a:ln>
            <a:solidFill>
              <a:schemeClr val="tx1"/>
            </a:solidFill>
          </a:ln>
        </p:spPr>
        <p:txBody>
          <a:bodyPr wrap="square">
            <a:noAutofit/>
          </a:bodyPr>
          <a:lstStyle>
            <a:defPPr>
              <a:defRPr lang="zh-CN"/>
            </a:defPPr>
            <a:lvl1pPr algn="just">
              <a:defRPr sz="2000">
                <a:solidFill>
                  <a:schemeClr val="tx1">
                    <a:lumMod val="95000"/>
                    <a:lumOff val="5000"/>
                  </a:schemeClr>
                </a:solidFill>
                <a:latin typeface="+mn-ea"/>
              </a:defRPr>
            </a:lvl1pPr>
          </a:lstStyle>
          <a:p>
            <a:r>
              <a:rPr lang="zh-CN" altLang="en-US" sz="2200" b="1" dirty="0"/>
              <a:t>在请求执行完成之前，请求者取消一个已被接受的请求，或者采购员在订单执行完成或返回订单之前，取消供应商订单</a:t>
            </a:r>
            <a:endParaRPr lang="zh-CN" altLang="en-US" sz="2200" b="1" dirty="0"/>
          </a:p>
        </p:txBody>
      </p:sp>
      <p:grpSp>
        <p:nvGrpSpPr>
          <p:cNvPr id="11" name="组合 5"/>
          <p:cNvGrpSpPr/>
          <p:nvPr/>
        </p:nvGrpSpPr>
        <p:grpSpPr>
          <a:xfrm>
            <a:off x="109497" y="349963"/>
            <a:ext cx="525184" cy="422276"/>
            <a:chOff x="5075564" y="2933562"/>
            <a:chExt cx="2860947" cy="2302753"/>
          </a:xfrm>
        </p:grpSpPr>
        <p:sp>
          <p:nvSpPr>
            <p:cNvPr id="12" name="等腰三角形 1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3" name="等腰三角形 1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4" name="文本框 13"/>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2" name="文本框 67"/>
          <p:cNvSpPr>
            <a:spLocks noChangeArrowheads="1"/>
          </p:cNvSpPr>
          <p:nvPr/>
        </p:nvSpPr>
        <p:spPr bwMode="auto">
          <a:xfrm>
            <a:off x="660400" y="792492"/>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5</a:t>
            </a:r>
            <a:r>
              <a:rPr lang="zh-CN" altLang="en-US" sz="2400" b="1" kern="0" dirty="0">
                <a:latin typeface="宋体" panose="02010600030101010101" pitchFamily="2" charset="-122"/>
                <a:sym typeface="宋体" panose="02010600030101010101" pitchFamily="2" charset="-122"/>
              </a:rPr>
              <a:t>）状态转换图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15" name="文本框 14"/>
          <p:cNvSpPr txBox="1"/>
          <p:nvPr/>
        </p:nvSpPr>
        <p:spPr>
          <a:xfrm>
            <a:off x="599846" y="1507866"/>
            <a:ext cx="6637715" cy="429895"/>
          </a:xfrm>
          <a:prstGeom prst="rect">
            <a:avLst/>
          </a:prstGeom>
          <a:noFill/>
        </p:spPr>
        <p:txBody>
          <a:bodyPr wrap="square">
            <a:spAutoFit/>
          </a:bodyPr>
          <a:lstStyle/>
          <a:p>
            <a:pPr lvl="0" fontAlgn="base">
              <a:spcBef>
                <a:spcPct val="0"/>
              </a:spcBef>
              <a:spcAft>
                <a:spcPct val="0"/>
              </a:spcAft>
              <a:defRPr/>
            </a:pPr>
            <a:r>
              <a:rPr lang="zh-CN" altLang="en-US" sz="2200" b="1" kern="0" dirty="0">
                <a:solidFill>
                  <a:srgbClr val="FF0000"/>
                </a:solidFill>
                <a:latin typeface="宋体" panose="02010600030101010101" pitchFamily="2" charset="-122"/>
                <a:sym typeface="宋体" panose="02010600030101010101" pitchFamily="2" charset="-122"/>
              </a:rPr>
              <a:t>“化学制品跟踪系统”化学制品请求的</a:t>
            </a:r>
            <a:r>
              <a:rPr lang="en-US" altLang="zh-CN" sz="2200" b="1" kern="0" dirty="0">
                <a:solidFill>
                  <a:srgbClr val="FF0000"/>
                </a:solidFill>
                <a:latin typeface="宋体" panose="02010600030101010101" pitchFamily="2" charset="-122"/>
                <a:sym typeface="宋体" panose="02010600030101010101" pitchFamily="2" charset="-122"/>
              </a:rPr>
              <a:t>7</a:t>
            </a:r>
            <a:r>
              <a:rPr lang="zh-CN" altLang="en-US" sz="2200" b="1" kern="0" dirty="0">
                <a:solidFill>
                  <a:srgbClr val="FF0000"/>
                </a:solidFill>
                <a:latin typeface="宋体" panose="02010600030101010101" pitchFamily="2" charset="-122"/>
                <a:sym typeface="宋体" panose="02010600030101010101" pitchFamily="2" charset="-122"/>
              </a:rPr>
              <a:t>个状态说明：</a:t>
            </a:r>
            <a:endParaRPr lang="zh-CN" altLang="en-US" sz="2200" b="1" kern="0" dirty="0">
              <a:solidFill>
                <a:srgbClr val="FF0000"/>
              </a:solidFill>
              <a:latin typeface="宋体" panose="02010600030101010101" pitchFamily="2" charset="-122"/>
              <a:ea typeface="宋体" panose="02010600030101010101" pitchFamily="2" charset="-122"/>
              <a:sym typeface="宋体" panose="02010600030101010101" pitchFamily="2" charset="-122"/>
            </a:endParaRPr>
          </a:p>
        </p:txBody>
      </p:sp>
      <p:sp>
        <p:nvSpPr>
          <p:cNvPr id="2" name="日期占位符 1"/>
          <p:cNvSpPr>
            <a:spLocks noGrp="1"/>
          </p:cNvSpPr>
          <p:nvPr>
            <p:ph type="dt" sz="half" idx="10"/>
          </p:nvPr>
        </p:nvSpPr>
        <p:spPr/>
        <p:txBody>
          <a:bodyPr/>
          <a:lstStyle/>
          <a:p>
            <a:pPr>
              <a:defRPr/>
            </a:pPr>
            <a:fld id="{08D438E3-4B96-429F-B159-D0DBD84AF921}"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p:tgtEl>
                                          <p:spTgt spid="22"/>
                                        </p:tgtEl>
                                        <p:attrNameLst>
                                          <p:attrName>ppt_x</p:attrName>
                                        </p:attrNameLst>
                                      </p:cBhvr>
                                      <p:tavLst>
                                        <p:tav tm="0">
                                          <p:val>
                                            <p:strVal val="#ppt_x+#ppt_w*1.125000"/>
                                          </p:val>
                                        </p:tav>
                                        <p:tav tm="100000">
                                          <p:val>
                                            <p:strVal val="#ppt_x"/>
                                          </p:val>
                                        </p:tav>
                                      </p:tavLst>
                                    </p:anim>
                                    <p:animEffect transition="in" filter="wipe(left)">
                                      <p:cBhvr>
                                        <p:cTn id="8" dur="500"/>
                                        <p:tgtEl>
                                          <p:spTgt spid="22"/>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0" grpId="0" animBg="1"/>
      <p:bldP spid="19" grpId="0" animBg="1"/>
      <p:bldP spid="21" grpId="0" animBg="1"/>
      <p:bldP spid="26" grpId="0" animBg="1"/>
      <p:bldP spid="27" grpId="0" animBg="1"/>
      <p:bldP spid="22" grpId="0"/>
      <p:bldP spid="1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21"/>
          <p:cNvSpPr/>
          <p:nvPr/>
        </p:nvSpPr>
        <p:spPr>
          <a:xfrm>
            <a:off x="395996" y="1951451"/>
            <a:ext cx="11335350" cy="747355"/>
          </a:xfrm>
          <a:prstGeom prst="rect">
            <a:avLst/>
          </a:prstGeom>
          <a:solidFill>
            <a:schemeClr val="bg1"/>
          </a:solidFill>
          <a:ln w="22225">
            <a:solidFill>
              <a:schemeClr val="accent6"/>
            </a:solidFill>
          </a:ln>
        </p:spPr>
        <p:txBody>
          <a:bodyPr wrap="square" lIns="144000" tIns="0" rIns="144000" bIns="0">
            <a:noAutofit/>
          </a:bodyPr>
          <a:lstStyle/>
          <a:p>
            <a:pPr algn="just">
              <a:lnSpc>
                <a:spcPct val="120000"/>
              </a:lnSpc>
            </a:pPr>
            <a:r>
              <a:rPr lang="en-US" altLang="zh-CN" sz="2200" b="1" dirty="0">
                <a:solidFill>
                  <a:srgbClr val="000000"/>
                </a:solidFill>
              </a:rPr>
              <a:t>1</a:t>
            </a:r>
            <a:r>
              <a:rPr lang="zh-CN" altLang="en-US" sz="2200" b="1" dirty="0">
                <a:solidFill>
                  <a:srgbClr val="000000"/>
                </a:solidFill>
              </a:rPr>
              <a:t>）当用户代表评审最初的化学制品请求的状态转换图时，发现</a:t>
            </a:r>
            <a:r>
              <a:rPr lang="en-US" altLang="zh-CN" sz="2200" b="1" dirty="0">
                <a:solidFill>
                  <a:srgbClr val="FF0000"/>
                </a:solidFill>
              </a:rPr>
              <a:t>1</a:t>
            </a:r>
            <a:r>
              <a:rPr lang="zh-CN" altLang="en-US" sz="2200" b="1" dirty="0">
                <a:solidFill>
                  <a:srgbClr val="FF0000"/>
                </a:solidFill>
              </a:rPr>
              <a:t>个不必要的状态</a:t>
            </a:r>
            <a:r>
              <a:rPr lang="zh-CN" altLang="en-US" sz="2200" b="1" dirty="0">
                <a:solidFill>
                  <a:srgbClr val="000000"/>
                </a:solidFill>
              </a:rPr>
              <a:t>、</a:t>
            </a:r>
            <a:r>
              <a:rPr lang="en-US" altLang="zh-CN" sz="2200" b="1" dirty="0">
                <a:solidFill>
                  <a:srgbClr val="FF0000"/>
                </a:solidFill>
              </a:rPr>
              <a:t>2</a:t>
            </a:r>
            <a:r>
              <a:rPr lang="zh-CN" altLang="en-US" sz="2200" b="1" dirty="0">
                <a:solidFill>
                  <a:srgbClr val="FF0000"/>
                </a:solidFill>
              </a:rPr>
              <a:t>个不正确的转换</a:t>
            </a:r>
            <a:r>
              <a:rPr lang="zh-CN" altLang="en-US" sz="2200" b="1" dirty="0"/>
              <a:t>、</a:t>
            </a:r>
            <a:r>
              <a:rPr lang="en-US" altLang="zh-CN" sz="2200" b="1" dirty="0">
                <a:solidFill>
                  <a:srgbClr val="FF0000"/>
                </a:solidFill>
              </a:rPr>
              <a:t>1</a:t>
            </a:r>
            <a:r>
              <a:rPr lang="zh-CN" altLang="en-US" sz="2200" b="1" dirty="0">
                <a:solidFill>
                  <a:srgbClr val="FF0000"/>
                </a:solidFill>
              </a:rPr>
              <a:t>个必不可少的状态未被分析者记录</a:t>
            </a:r>
            <a:r>
              <a:rPr lang="zh-CN" altLang="en-US" sz="2200" b="1" dirty="0"/>
              <a:t>，但</a:t>
            </a:r>
            <a:r>
              <a:rPr lang="zh-CN" altLang="en-US" sz="2200" b="1" dirty="0">
                <a:solidFill>
                  <a:srgbClr val="000000"/>
                </a:solidFill>
              </a:rPr>
              <a:t>这些在评审功能需求时没有被发现</a:t>
            </a:r>
            <a:endParaRPr lang="en-US" altLang="zh-CN" sz="2200" b="1" dirty="0">
              <a:solidFill>
                <a:srgbClr val="000000"/>
              </a:solidFill>
            </a:endParaRPr>
          </a:p>
        </p:txBody>
      </p:sp>
      <p:sp>
        <p:nvSpPr>
          <p:cNvPr id="41" name="Rectangle 21"/>
          <p:cNvSpPr/>
          <p:nvPr/>
        </p:nvSpPr>
        <p:spPr>
          <a:xfrm>
            <a:off x="395996" y="5776934"/>
            <a:ext cx="11335349" cy="439140"/>
          </a:xfrm>
          <a:prstGeom prst="rect">
            <a:avLst/>
          </a:prstGeom>
          <a:solidFill>
            <a:schemeClr val="bg1"/>
          </a:solidFill>
          <a:ln w="22225">
            <a:solidFill>
              <a:srgbClr val="FF0000"/>
            </a:solidFill>
          </a:ln>
        </p:spPr>
        <p:txBody>
          <a:bodyPr wrap="square" lIns="144000" tIns="0" rIns="144000" bIns="0" anchor="ctr" anchorCtr="0">
            <a:normAutofit/>
          </a:bodyPr>
          <a:lstStyle/>
          <a:p>
            <a:pPr algn="ctr">
              <a:lnSpc>
                <a:spcPct val="120000"/>
              </a:lnSpc>
            </a:pPr>
            <a:r>
              <a:rPr lang="zh-CN" altLang="en-US" sz="2200" b="1" dirty="0">
                <a:solidFill>
                  <a:srgbClr val="000000"/>
                </a:solidFill>
              </a:rPr>
              <a:t>软件需求规格说明必须包括与处理化学制品请求和它的可能状态变化相关的功能需求</a:t>
            </a:r>
            <a:endParaRPr lang="zh-CN" altLang="en-US" sz="2200" b="1" dirty="0">
              <a:solidFill>
                <a:srgbClr val="000000"/>
              </a:solidFill>
            </a:endParaRPr>
          </a:p>
        </p:txBody>
      </p:sp>
      <p:grpSp>
        <p:nvGrpSpPr>
          <p:cNvPr id="25" name="组合 5"/>
          <p:cNvGrpSpPr/>
          <p:nvPr/>
        </p:nvGrpSpPr>
        <p:grpSpPr>
          <a:xfrm>
            <a:off x="109497" y="349963"/>
            <a:ext cx="525184" cy="422276"/>
            <a:chOff x="5075564" y="2933562"/>
            <a:chExt cx="2860947" cy="2302753"/>
          </a:xfrm>
        </p:grpSpPr>
        <p:sp>
          <p:nvSpPr>
            <p:cNvPr id="26" name="等腰三角形 2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27" name="等腰三角形 2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28" name="文本框 27"/>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rPr>
              <a:t>需求的图形化分析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2" name="文本框 67"/>
          <p:cNvSpPr>
            <a:spLocks noChangeArrowheads="1"/>
          </p:cNvSpPr>
          <p:nvPr/>
        </p:nvSpPr>
        <p:spPr bwMode="auto">
          <a:xfrm>
            <a:off x="683387" y="759685"/>
            <a:ext cx="776566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5</a:t>
            </a:r>
            <a:r>
              <a:rPr lang="zh-CN" altLang="en-US" sz="2400" b="1" kern="0" dirty="0">
                <a:latin typeface="宋体" panose="02010600030101010101" pitchFamily="2" charset="-122"/>
                <a:sym typeface="宋体" panose="02010600030101010101" pitchFamily="2" charset="-122"/>
              </a:rPr>
              <a:t>）状态转换图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 name="箭头: 下 1"/>
          <p:cNvSpPr/>
          <p:nvPr/>
        </p:nvSpPr>
        <p:spPr>
          <a:xfrm>
            <a:off x="5809670" y="2736167"/>
            <a:ext cx="581891" cy="292557"/>
          </a:xfrm>
          <a:prstGeom prst="downArrow">
            <a:avLst>
              <a:gd name="adj1" fmla="val 50000"/>
              <a:gd name="adj2" fmla="val 46648"/>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0" name="文本框 9"/>
          <p:cNvSpPr txBox="1"/>
          <p:nvPr/>
        </p:nvSpPr>
        <p:spPr>
          <a:xfrm>
            <a:off x="749618" y="1483135"/>
            <a:ext cx="6096000" cy="429895"/>
          </a:xfrm>
          <a:prstGeom prst="rect">
            <a:avLst/>
          </a:prstGeom>
          <a:noFill/>
        </p:spPr>
        <p:txBody>
          <a:bodyPr wrap="square">
            <a:spAutoFit/>
          </a:bodyPr>
          <a:lstStyle/>
          <a:p>
            <a:pPr lvl="0" fontAlgn="base">
              <a:spcBef>
                <a:spcPct val="0"/>
              </a:spcBef>
              <a:spcAft>
                <a:spcPct val="0"/>
              </a:spcAft>
              <a:defRPr/>
            </a:pPr>
            <a:r>
              <a:rPr lang="zh-CN" altLang="en-US" sz="2200" b="1" kern="0" dirty="0">
                <a:solidFill>
                  <a:srgbClr val="FF0000"/>
                </a:solidFill>
                <a:latin typeface="宋体" panose="02010600030101010101" pitchFamily="2" charset="-122"/>
                <a:sym typeface="宋体" panose="02010600030101010101" pitchFamily="2" charset="-122"/>
              </a:rPr>
              <a:t>状态转换图的优缺点</a:t>
            </a:r>
            <a:r>
              <a:rPr lang="zh-CN" altLang="en-US" sz="2000" b="1" kern="0" dirty="0">
                <a:solidFill>
                  <a:srgbClr val="FF0000"/>
                </a:solidFill>
                <a:latin typeface="宋体" panose="02010600030101010101" pitchFamily="2" charset="-122"/>
                <a:sym typeface="宋体" panose="02010600030101010101" pitchFamily="2" charset="-122"/>
              </a:rPr>
              <a:t>：</a:t>
            </a:r>
            <a:endParaRPr lang="zh-CN" altLang="en-US" sz="2000" b="1" kern="0" dirty="0">
              <a:solidFill>
                <a:srgbClr val="FF0000"/>
              </a:solidFill>
              <a:latin typeface="宋体" panose="02010600030101010101" pitchFamily="2" charset="-122"/>
              <a:ea typeface="宋体" panose="02010600030101010101" pitchFamily="2" charset="-122"/>
              <a:sym typeface="宋体" panose="02010600030101010101" pitchFamily="2" charset="-122"/>
            </a:endParaRPr>
          </a:p>
        </p:txBody>
      </p:sp>
      <p:sp>
        <p:nvSpPr>
          <p:cNvPr id="11" name="Rectangle 21"/>
          <p:cNvSpPr/>
          <p:nvPr/>
        </p:nvSpPr>
        <p:spPr>
          <a:xfrm>
            <a:off x="395996" y="3028779"/>
            <a:ext cx="11335349" cy="2379899"/>
          </a:xfrm>
          <a:prstGeom prst="rect">
            <a:avLst/>
          </a:prstGeom>
          <a:solidFill>
            <a:schemeClr val="bg1"/>
          </a:solidFill>
          <a:ln w="22225">
            <a:solidFill>
              <a:srgbClr val="0000FF"/>
            </a:solidFill>
          </a:ln>
        </p:spPr>
        <p:txBody>
          <a:bodyPr wrap="square" lIns="144000" tIns="0" rIns="144000" bIns="0" anchor="ctr" anchorCtr="0">
            <a:normAutofit/>
          </a:bodyPr>
          <a:lstStyle/>
          <a:p>
            <a:pPr algn="ctr">
              <a:lnSpc>
                <a:spcPct val="120000"/>
              </a:lnSpc>
            </a:pPr>
            <a:endParaRPr lang="zh-CN" altLang="en-US" sz="2000" b="1" dirty="0">
              <a:solidFill>
                <a:srgbClr val="FF0000"/>
              </a:solidFill>
            </a:endParaRPr>
          </a:p>
        </p:txBody>
      </p:sp>
      <p:sp>
        <p:nvSpPr>
          <p:cNvPr id="12" name="箭头: 下 11"/>
          <p:cNvSpPr/>
          <p:nvPr/>
        </p:nvSpPr>
        <p:spPr>
          <a:xfrm>
            <a:off x="5772726" y="5484320"/>
            <a:ext cx="581891" cy="292557"/>
          </a:xfrm>
          <a:prstGeom prst="downArrow">
            <a:avLst>
              <a:gd name="adj1" fmla="val 50000"/>
              <a:gd name="adj2" fmla="val 46648"/>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3" name="文本框 12"/>
          <p:cNvSpPr txBox="1"/>
          <p:nvPr/>
        </p:nvSpPr>
        <p:spPr>
          <a:xfrm>
            <a:off x="557620" y="3084533"/>
            <a:ext cx="11066742" cy="354222"/>
          </a:xfrm>
          <a:prstGeom prst="rect">
            <a:avLst/>
          </a:prstGeom>
          <a:solidFill>
            <a:schemeClr val="accent6">
              <a:lumMod val="20000"/>
              <a:lumOff val="80000"/>
            </a:schemeClr>
          </a:solidFill>
          <a:ln>
            <a:solidFill>
              <a:schemeClr val="tx1"/>
            </a:solidFill>
            <a:prstDash val="dash"/>
          </a:ln>
        </p:spPr>
        <p:txBody>
          <a:bodyPr wrap="square">
            <a:noAutofit/>
          </a:bodyPr>
          <a:lstStyle>
            <a:defPPr>
              <a:defRPr lang="zh-CN"/>
            </a:defPPr>
            <a:lvl1pPr algn="just">
              <a:defRPr sz="2000">
                <a:solidFill>
                  <a:schemeClr val="tx1">
                    <a:lumMod val="95000"/>
                    <a:lumOff val="5000"/>
                  </a:schemeClr>
                </a:solidFill>
                <a:latin typeface="+mn-ea"/>
              </a:defRPr>
            </a:lvl1pPr>
          </a:lstStyle>
          <a:p>
            <a:pPr algn="ctr"/>
            <a:r>
              <a:rPr lang="en-US" altLang="zh-CN" sz="2100" b="1" dirty="0">
                <a:solidFill>
                  <a:srgbClr val="000000"/>
                </a:solidFill>
              </a:rPr>
              <a:t>1</a:t>
            </a:r>
            <a:r>
              <a:rPr lang="zh-CN" altLang="en-US" sz="2100" b="1" dirty="0">
                <a:solidFill>
                  <a:srgbClr val="000000"/>
                </a:solidFill>
              </a:rPr>
              <a:t>）对可能的请求状态和它们是如何允许变化提供了一个简洁的可视化表示</a:t>
            </a:r>
            <a:endParaRPr lang="en-US" altLang="zh-CN" sz="2100" b="1" dirty="0">
              <a:solidFill>
                <a:srgbClr val="000000"/>
              </a:solidFill>
            </a:endParaRPr>
          </a:p>
        </p:txBody>
      </p:sp>
      <p:sp>
        <p:nvSpPr>
          <p:cNvPr id="14" name="文本框 13"/>
          <p:cNvSpPr txBox="1"/>
          <p:nvPr/>
        </p:nvSpPr>
        <p:spPr>
          <a:xfrm>
            <a:off x="557619" y="3502200"/>
            <a:ext cx="11066743" cy="697350"/>
          </a:xfrm>
          <a:prstGeom prst="rect">
            <a:avLst/>
          </a:prstGeom>
          <a:solidFill>
            <a:schemeClr val="accent5">
              <a:lumMod val="20000"/>
              <a:lumOff val="80000"/>
            </a:schemeClr>
          </a:solidFill>
          <a:ln>
            <a:solidFill>
              <a:schemeClr val="tx1"/>
            </a:solidFill>
            <a:prstDash val="dash"/>
          </a:ln>
        </p:spPr>
        <p:txBody>
          <a:bodyPr wrap="square">
            <a:noAutofit/>
          </a:bodyPr>
          <a:lstStyle>
            <a:defPPr>
              <a:defRPr lang="zh-CN"/>
            </a:defPPr>
            <a:lvl1pPr algn="just">
              <a:defRPr sz="2000">
                <a:solidFill>
                  <a:schemeClr val="tx1">
                    <a:lumMod val="95000"/>
                    <a:lumOff val="5000"/>
                  </a:schemeClr>
                </a:solidFill>
                <a:latin typeface="+mn-ea"/>
              </a:defRPr>
            </a:lvl1pPr>
          </a:lstStyle>
          <a:p>
            <a:pPr algn="ctr"/>
            <a:r>
              <a:rPr lang="en-US" altLang="zh-CN" sz="2100" b="1" dirty="0">
                <a:solidFill>
                  <a:srgbClr val="000000"/>
                </a:solidFill>
              </a:rPr>
              <a:t>2</a:t>
            </a:r>
            <a:r>
              <a:rPr lang="zh-CN" altLang="en-US" sz="2100" b="1" dirty="0">
                <a:solidFill>
                  <a:srgbClr val="000000"/>
                </a:solidFill>
              </a:rPr>
              <a:t>）有助于开发者理解系统的预期行为，对检查所要求的状态和转换是否已全部正确地写入功能需求是一种好方法</a:t>
            </a:r>
            <a:endParaRPr lang="en-US" altLang="zh-CN" sz="2100" b="1" dirty="0">
              <a:solidFill>
                <a:srgbClr val="000000"/>
              </a:solidFill>
            </a:endParaRPr>
          </a:p>
        </p:txBody>
      </p:sp>
      <p:sp>
        <p:nvSpPr>
          <p:cNvPr id="15" name="文本框 14"/>
          <p:cNvSpPr txBox="1"/>
          <p:nvPr/>
        </p:nvSpPr>
        <p:spPr>
          <a:xfrm>
            <a:off x="557618" y="4260427"/>
            <a:ext cx="11066743" cy="378360"/>
          </a:xfrm>
          <a:prstGeom prst="rect">
            <a:avLst/>
          </a:prstGeom>
          <a:solidFill>
            <a:schemeClr val="accent4">
              <a:lumMod val="20000"/>
              <a:lumOff val="80000"/>
            </a:schemeClr>
          </a:solidFill>
          <a:ln>
            <a:solidFill>
              <a:schemeClr val="tx1"/>
            </a:solidFill>
            <a:prstDash val="dash"/>
          </a:ln>
        </p:spPr>
        <p:txBody>
          <a:bodyPr wrap="square">
            <a:noAutofit/>
          </a:bodyPr>
          <a:lstStyle>
            <a:defPPr>
              <a:defRPr lang="zh-CN"/>
            </a:defPPr>
            <a:lvl1pPr algn="just">
              <a:defRPr sz="2000">
                <a:solidFill>
                  <a:schemeClr val="tx1">
                    <a:lumMod val="95000"/>
                    <a:lumOff val="5000"/>
                  </a:schemeClr>
                </a:solidFill>
                <a:latin typeface="+mn-ea"/>
              </a:defRPr>
            </a:lvl1pPr>
          </a:lstStyle>
          <a:p>
            <a:pPr algn="ctr"/>
            <a:r>
              <a:rPr lang="en-US" altLang="zh-CN" sz="2100" b="1" dirty="0">
                <a:solidFill>
                  <a:srgbClr val="000000"/>
                </a:solidFill>
              </a:rPr>
              <a:t>3</a:t>
            </a:r>
            <a:r>
              <a:rPr lang="zh-CN" altLang="en-US" sz="2100" b="1" dirty="0">
                <a:solidFill>
                  <a:srgbClr val="000000"/>
                </a:solidFill>
              </a:rPr>
              <a:t>）测试者可以从覆盖所有转换路径的状态转换图中获得测试用例</a:t>
            </a:r>
            <a:endParaRPr lang="en-US" altLang="zh-CN" sz="2100" b="1" dirty="0">
              <a:solidFill>
                <a:srgbClr val="000000"/>
              </a:solidFill>
            </a:endParaRPr>
          </a:p>
        </p:txBody>
      </p:sp>
      <p:sp>
        <p:nvSpPr>
          <p:cNvPr id="16" name="文本框 15"/>
          <p:cNvSpPr txBox="1"/>
          <p:nvPr/>
        </p:nvSpPr>
        <p:spPr>
          <a:xfrm>
            <a:off x="557618" y="4703496"/>
            <a:ext cx="11066743" cy="647367"/>
          </a:xfrm>
          <a:prstGeom prst="rect">
            <a:avLst/>
          </a:prstGeom>
          <a:solidFill>
            <a:schemeClr val="accent2">
              <a:lumMod val="20000"/>
              <a:lumOff val="80000"/>
            </a:schemeClr>
          </a:solidFill>
          <a:ln>
            <a:solidFill>
              <a:schemeClr val="tx1"/>
            </a:solidFill>
            <a:prstDash val="dash"/>
          </a:ln>
        </p:spPr>
        <p:txBody>
          <a:bodyPr wrap="square">
            <a:noAutofit/>
          </a:bodyPr>
          <a:lstStyle>
            <a:defPPr>
              <a:defRPr lang="zh-CN"/>
            </a:defPPr>
            <a:lvl1pPr algn="just">
              <a:defRPr sz="2000">
                <a:solidFill>
                  <a:schemeClr val="tx1">
                    <a:lumMod val="95000"/>
                    <a:lumOff val="5000"/>
                  </a:schemeClr>
                </a:solidFill>
                <a:latin typeface="+mn-ea"/>
              </a:defRPr>
            </a:lvl1pPr>
          </a:lstStyle>
          <a:p>
            <a:pPr algn="ctr"/>
            <a:r>
              <a:rPr lang="en-US" altLang="zh-CN" sz="2100" b="1" dirty="0">
                <a:solidFill>
                  <a:schemeClr val="tx1"/>
                </a:solidFill>
              </a:rPr>
              <a:t>4</a:t>
            </a:r>
            <a:r>
              <a:rPr lang="zh-CN" altLang="en-US" sz="2100" b="1" dirty="0">
                <a:solidFill>
                  <a:schemeClr val="tx1"/>
                </a:solidFill>
              </a:rPr>
              <a:t>）只表示了处理结果可能的状态转换，没有表示出系统所执行的处理细节</a:t>
            </a:r>
            <a:r>
              <a:rPr lang="zh-CN" altLang="en-US" sz="2100" b="1" dirty="0">
                <a:solidFill>
                  <a:srgbClr val="FF0000"/>
                </a:solidFill>
              </a:rPr>
              <a:t>，不能提供</a:t>
            </a:r>
            <a:r>
              <a:rPr lang="zh-CN" altLang="en-US" sz="2100" b="1" dirty="0">
                <a:solidFill>
                  <a:srgbClr val="000000"/>
                </a:solidFill>
              </a:rPr>
              <a:t>使开发者如何构造系统的</a:t>
            </a:r>
            <a:r>
              <a:rPr lang="zh-CN" altLang="en-US" sz="2100" b="1" dirty="0">
                <a:solidFill>
                  <a:srgbClr val="FF0000"/>
                </a:solidFill>
              </a:rPr>
              <a:t>详细细节</a:t>
            </a:r>
            <a:endParaRPr lang="zh-CN" altLang="en-US" sz="2100" b="1" dirty="0">
              <a:solidFill>
                <a:srgbClr val="FF0000"/>
              </a:solidFill>
            </a:endParaRPr>
          </a:p>
        </p:txBody>
      </p:sp>
      <p:sp>
        <p:nvSpPr>
          <p:cNvPr id="3" name="日期占位符 2"/>
          <p:cNvSpPr>
            <a:spLocks noGrp="1"/>
          </p:cNvSpPr>
          <p:nvPr>
            <p:ph type="dt" sz="half" idx="10"/>
          </p:nvPr>
        </p:nvSpPr>
        <p:spPr/>
        <p:txBody>
          <a:bodyPr/>
          <a:lstStyle/>
          <a:p>
            <a:pPr>
              <a:defRPr/>
            </a:pPr>
            <a:fld id="{137353FA-BDCD-46EC-9A06-C193C771E320}"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b="1" smtClean="0">
                <a:solidFill>
                  <a:prstClr val="black">
                    <a:tint val="75000"/>
                  </a:prstClr>
                </a:solidFill>
              </a:rPr>
            </a:fld>
            <a:endParaRPr lang="zh-CN" altLang="en-US" b="1" dirty="0" smtClean="0">
              <a:solidFill>
                <a:prstClr val="black">
                  <a:tint val="75000"/>
                </a:prstClr>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p:tgtEl>
                                          <p:spTgt spid="22"/>
                                        </p:tgtEl>
                                        <p:attrNameLst>
                                          <p:attrName>ppt_x</p:attrName>
                                        </p:attrNameLst>
                                      </p:cBhvr>
                                      <p:tavLst>
                                        <p:tav tm="0">
                                          <p:val>
                                            <p:strVal val="#ppt_x+#ppt_w*1.125000"/>
                                          </p:val>
                                        </p:tav>
                                        <p:tav tm="100000">
                                          <p:val>
                                            <p:strVal val="#ppt_x"/>
                                          </p:val>
                                        </p:tav>
                                      </p:tavLst>
                                    </p:anim>
                                    <p:animEffect transition="in" filter="wipe(left)">
                                      <p:cBhvr>
                                        <p:cTn id="8" dur="500"/>
                                        <p:tgtEl>
                                          <p:spTgt spid="22"/>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22" grpId="0"/>
      <p:bldP spid="2" grpId="0" animBg="1"/>
      <p:bldP spid="10" grpId="0"/>
      <p:bldP spid="11" grpId="0" animBg="1"/>
      <p:bldP spid="12" grpId="0" animBg="1"/>
      <p:bldP spid="13" grpId="0" animBg="1"/>
      <p:bldP spid="14" grpId="0" animBg="1"/>
      <p:bldP spid="15" grpId="0" animBg="1"/>
      <p:bldP spid="1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66"/>
          <p:cNvSpPr>
            <a:spLocks noChangeArrowheads="1"/>
          </p:cNvSpPr>
          <p:nvPr/>
        </p:nvSpPr>
        <p:spPr bwMode="auto">
          <a:xfrm>
            <a:off x="2447290" y="1968130"/>
            <a:ext cx="8976703" cy="278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indent="0">
              <a:lnSpc>
                <a:spcPct val="114000"/>
              </a:lnSpc>
              <a:buFont typeface="Wingdings" panose="05000000000000000000" pitchFamily="2" charset="2"/>
              <a:buNone/>
            </a:pPr>
            <a:r>
              <a:rPr lang="en-US" altLang="zh-CN" sz="2200" b="1" dirty="0">
                <a:latin typeface="宋体" panose="02010600030101010101" pitchFamily="2" charset="-122"/>
                <a:ea typeface="宋体" panose="02010600030101010101" pitchFamily="2" charset="-122"/>
                <a:cs typeface="宋体" panose="02010600030101010101" pitchFamily="2" charset="-122"/>
              </a:rPr>
              <a:t>1</a:t>
            </a:r>
            <a:r>
              <a:rPr lang="zh-CN" altLang="en-US" sz="2200" b="1" dirty="0">
                <a:latin typeface="宋体" panose="02010600030101010101" pitchFamily="2" charset="-122"/>
                <a:ea typeface="宋体" panose="02010600030101010101" pitchFamily="2" charset="-122"/>
                <a:cs typeface="宋体" panose="02010600030101010101" pitchFamily="2" charset="-122"/>
              </a:rPr>
              <a:t>）在许多应用程序中，用户界面可以看作是一个有限状态机</a:t>
            </a:r>
            <a:endParaRPr lang="en-US" altLang="zh-CN" sz="2200" b="1" dirty="0">
              <a:latin typeface="宋体" panose="02010600030101010101" pitchFamily="2" charset="-122"/>
              <a:ea typeface="宋体" panose="02010600030101010101" pitchFamily="2" charset="-122"/>
              <a:cs typeface="宋体" panose="02010600030101010101" pitchFamily="2" charset="-122"/>
            </a:endParaRPr>
          </a:p>
          <a:p>
            <a:pPr lvl="0" indent="0">
              <a:lnSpc>
                <a:spcPct val="114000"/>
              </a:lnSpc>
              <a:buFont typeface="Wingdings" panose="05000000000000000000" pitchFamily="2" charset="2"/>
              <a:buNone/>
            </a:pPr>
            <a:r>
              <a:rPr lang="en-US" altLang="zh-CN" sz="2200" b="1" dirty="0">
                <a:latin typeface="宋体" panose="02010600030101010101" pitchFamily="2" charset="-122"/>
                <a:ea typeface="宋体" panose="02010600030101010101" pitchFamily="2" charset="-122"/>
                <a:cs typeface="宋体" panose="02010600030101010101" pitchFamily="2" charset="-122"/>
              </a:rPr>
              <a:t>2</a:t>
            </a:r>
            <a:r>
              <a:rPr lang="zh-CN" altLang="en-US" sz="2200" b="1" dirty="0">
                <a:latin typeface="宋体" panose="02010600030101010101" pitchFamily="2" charset="-122"/>
                <a:ea typeface="宋体" panose="02010600030101010101" pitchFamily="2" charset="-122"/>
                <a:cs typeface="宋体" panose="02010600030101010101" pitchFamily="2" charset="-122"/>
              </a:rPr>
              <a:t>）在任何情况下仅有一个对话元素</a:t>
            </a:r>
            <a:r>
              <a:rPr lang="en-US" altLang="zh-CN" sz="2200" b="1" dirty="0">
                <a:latin typeface="宋体" panose="02010600030101010101" pitchFamily="2" charset="-122"/>
                <a:ea typeface="宋体" panose="02010600030101010101" pitchFamily="2" charset="-122"/>
                <a:cs typeface="宋体" panose="02010600030101010101" pitchFamily="2" charset="-122"/>
              </a:rPr>
              <a:t>(</a:t>
            </a:r>
            <a:r>
              <a:rPr lang="zh-CN" altLang="en-US" sz="2200" b="1" dirty="0">
                <a:latin typeface="宋体" panose="02010600030101010101" pitchFamily="2" charset="-122"/>
                <a:ea typeface="宋体" panose="02010600030101010101" pitchFamily="2" charset="-122"/>
                <a:cs typeface="宋体" panose="02010600030101010101" pitchFamily="2" charset="-122"/>
              </a:rPr>
              <a:t>例如一个菜单，工作区，行提示符或对话框</a:t>
            </a:r>
            <a:r>
              <a:rPr lang="en-US" altLang="zh-CN" sz="2200" b="1" dirty="0">
                <a:latin typeface="宋体" panose="02010600030101010101" pitchFamily="2" charset="-122"/>
                <a:ea typeface="宋体" panose="02010600030101010101" pitchFamily="2" charset="-122"/>
                <a:cs typeface="宋体" panose="02010600030101010101" pitchFamily="2" charset="-122"/>
              </a:rPr>
              <a:t>)</a:t>
            </a:r>
            <a:r>
              <a:rPr lang="zh-CN" altLang="en-US" sz="2200" b="1" dirty="0">
                <a:latin typeface="宋体" panose="02010600030101010101" pitchFamily="2" charset="-122"/>
                <a:ea typeface="宋体" panose="02010600030101010101" pitchFamily="2" charset="-122"/>
                <a:cs typeface="宋体" panose="02010600030101010101" pitchFamily="2" charset="-122"/>
              </a:rPr>
              <a:t>对用户输入是可用的</a:t>
            </a:r>
            <a:endParaRPr lang="en-US" altLang="zh-CN" sz="2200" b="1" dirty="0">
              <a:latin typeface="宋体" panose="02010600030101010101" pitchFamily="2" charset="-122"/>
              <a:ea typeface="宋体" panose="02010600030101010101" pitchFamily="2" charset="-122"/>
              <a:cs typeface="宋体" panose="02010600030101010101" pitchFamily="2" charset="-122"/>
            </a:endParaRPr>
          </a:p>
          <a:p>
            <a:pPr lvl="0" indent="0">
              <a:lnSpc>
                <a:spcPct val="114000"/>
              </a:lnSpc>
              <a:buFont typeface="Wingdings" panose="05000000000000000000" pitchFamily="2" charset="2"/>
              <a:buNone/>
            </a:pPr>
            <a:r>
              <a:rPr lang="en-US" altLang="zh-CN" sz="2200" b="1" dirty="0">
                <a:latin typeface="宋体" panose="02010600030101010101" pitchFamily="2" charset="-122"/>
                <a:ea typeface="宋体" panose="02010600030101010101" pitchFamily="2" charset="-122"/>
                <a:cs typeface="宋体" panose="02010600030101010101" pitchFamily="2" charset="-122"/>
              </a:rPr>
              <a:t>3</a:t>
            </a:r>
            <a:r>
              <a:rPr lang="zh-CN" altLang="en-US" sz="2200" b="1" dirty="0">
                <a:latin typeface="宋体" panose="02010600030101010101" pitchFamily="2" charset="-122"/>
                <a:ea typeface="宋体" panose="02010600030101010101" pitchFamily="2" charset="-122"/>
                <a:cs typeface="宋体" panose="02010600030101010101" pitchFamily="2" charset="-122"/>
              </a:rPr>
              <a:t>）在激活的输入区中，用户根据他所采取的活动，可以导航到有限个其它对话元素</a:t>
            </a:r>
            <a:endParaRPr lang="en-US" altLang="zh-CN" sz="2200" b="1" dirty="0">
              <a:latin typeface="宋体" panose="02010600030101010101" pitchFamily="2" charset="-122"/>
              <a:ea typeface="宋体" panose="02010600030101010101" pitchFamily="2" charset="-122"/>
              <a:cs typeface="宋体" panose="02010600030101010101" pitchFamily="2" charset="-122"/>
            </a:endParaRPr>
          </a:p>
          <a:p>
            <a:pPr lvl="0" indent="0">
              <a:lnSpc>
                <a:spcPct val="114000"/>
              </a:lnSpc>
              <a:buFont typeface="Wingdings" panose="05000000000000000000" pitchFamily="2" charset="2"/>
              <a:buNone/>
            </a:pPr>
            <a:r>
              <a:rPr lang="en-US" altLang="zh-CN" sz="2200" b="1" dirty="0">
                <a:latin typeface="宋体" panose="02010600030101010101" pitchFamily="2" charset="-122"/>
                <a:ea typeface="宋体" panose="02010600030101010101" pitchFamily="2" charset="-122"/>
                <a:cs typeface="宋体" panose="02010600030101010101" pitchFamily="2" charset="-122"/>
              </a:rPr>
              <a:t>4</a:t>
            </a:r>
            <a:r>
              <a:rPr lang="zh-CN" altLang="en-US" sz="2200" b="1" dirty="0">
                <a:latin typeface="宋体" panose="02010600030101010101" pitchFamily="2" charset="-122"/>
                <a:ea typeface="宋体" panose="02010600030101010101" pitchFamily="2" charset="-122"/>
                <a:cs typeface="宋体" panose="02010600030101010101" pitchFamily="2" charset="-122"/>
              </a:rPr>
              <a:t>）在一个复杂的图形用户界面中，导航路径可以有许多种，但其数目是有限的，并且其选择通常是可知的</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grpSp>
        <p:nvGrpSpPr>
          <p:cNvPr id="49" name="组合 7"/>
          <p:cNvGrpSpPr/>
          <p:nvPr/>
        </p:nvGrpSpPr>
        <p:grpSpPr>
          <a:xfrm>
            <a:off x="108557" y="337632"/>
            <a:ext cx="4632960" cy="491490"/>
            <a:chOff x="198764" y="258545"/>
            <a:chExt cx="6175849" cy="655851"/>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521" y="300065"/>
              <a:ext cx="538609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需</a:t>
              </a:r>
              <a:r>
                <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求的图形化分析</a:t>
              </a:r>
              <a:endPar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17" name="组合 3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254362" y="2454610"/>
            <a:ext cx="1980000" cy="1704458"/>
            <a:chOff x="3171372" y="1119692"/>
            <a:chExt cx="5849257" cy="5035259"/>
          </a:xfrm>
        </p:grpSpPr>
        <p:sp>
          <p:nvSpPr>
            <p:cNvPr id="18" name="ïṣlîḍê"/>
            <p:cNvSpPr/>
            <p:nvPr/>
          </p:nvSpPr>
          <p:spPr bwMode="auto">
            <a:xfrm>
              <a:off x="7268944" y="3137974"/>
              <a:ext cx="1505145" cy="1539410"/>
            </a:xfrm>
            <a:custGeom>
              <a:avLst/>
              <a:gdLst/>
              <a:ahLst/>
              <a:cxnLst>
                <a:cxn ang="0">
                  <a:pos x="197" y="139"/>
                </a:cxn>
                <a:cxn ang="0">
                  <a:pos x="204" y="94"/>
                </a:cxn>
                <a:cxn ang="0">
                  <a:pos x="117" y="0"/>
                </a:cxn>
                <a:cxn ang="0">
                  <a:pos x="111" y="0"/>
                </a:cxn>
                <a:cxn ang="0">
                  <a:pos x="109" y="0"/>
                </a:cxn>
                <a:cxn ang="0">
                  <a:pos x="103" y="0"/>
                </a:cxn>
                <a:cxn ang="0">
                  <a:pos x="16" y="94"/>
                </a:cxn>
                <a:cxn ang="0">
                  <a:pos x="23" y="139"/>
                </a:cxn>
                <a:cxn ang="0">
                  <a:pos x="0" y="186"/>
                </a:cxn>
                <a:cxn ang="0">
                  <a:pos x="36" y="212"/>
                </a:cxn>
                <a:cxn ang="0">
                  <a:pos x="109" y="225"/>
                </a:cxn>
                <a:cxn ang="0">
                  <a:pos x="110" y="225"/>
                </a:cxn>
                <a:cxn ang="0">
                  <a:pos x="110" y="225"/>
                </a:cxn>
                <a:cxn ang="0">
                  <a:pos x="112" y="225"/>
                </a:cxn>
                <a:cxn ang="0">
                  <a:pos x="185" y="212"/>
                </a:cxn>
                <a:cxn ang="0">
                  <a:pos x="220" y="186"/>
                </a:cxn>
                <a:cxn ang="0">
                  <a:pos x="197" y="139"/>
                </a:cxn>
              </a:cxnLst>
              <a:rect l="0" t="0" r="r" b="b"/>
              <a:pathLst>
                <a:path w="220" h="225">
                  <a:moveTo>
                    <a:pt x="197" y="139"/>
                  </a:moveTo>
                  <a:cubicBezTo>
                    <a:pt x="198" y="129"/>
                    <a:pt x="202" y="106"/>
                    <a:pt x="204" y="94"/>
                  </a:cubicBezTo>
                  <a:cubicBezTo>
                    <a:pt x="213" y="44"/>
                    <a:pt x="173" y="0"/>
                    <a:pt x="117" y="0"/>
                  </a:cubicBezTo>
                  <a:cubicBezTo>
                    <a:pt x="115" y="0"/>
                    <a:pt x="113" y="0"/>
                    <a:pt x="111" y="0"/>
                  </a:cubicBezTo>
                  <a:cubicBezTo>
                    <a:pt x="111" y="0"/>
                    <a:pt x="110" y="0"/>
                    <a:pt x="109" y="0"/>
                  </a:cubicBezTo>
                  <a:cubicBezTo>
                    <a:pt x="107" y="0"/>
                    <a:pt x="105" y="0"/>
                    <a:pt x="103" y="0"/>
                  </a:cubicBezTo>
                  <a:cubicBezTo>
                    <a:pt x="47" y="0"/>
                    <a:pt x="8" y="44"/>
                    <a:pt x="16" y="94"/>
                  </a:cubicBezTo>
                  <a:cubicBezTo>
                    <a:pt x="18" y="106"/>
                    <a:pt x="23" y="129"/>
                    <a:pt x="23" y="139"/>
                  </a:cubicBezTo>
                  <a:cubicBezTo>
                    <a:pt x="25" y="173"/>
                    <a:pt x="0" y="186"/>
                    <a:pt x="0" y="186"/>
                  </a:cubicBezTo>
                  <a:cubicBezTo>
                    <a:pt x="0" y="186"/>
                    <a:pt x="11" y="201"/>
                    <a:pt x="36" y="212"/>
                  </a:cubicBezTo>
                  <a:cubicBezTo>
                    <a:pt x="65" y="225"/>
                    <a:pt x="109" y="225"/>
                    <a:pt x="109" y="225"/>
                  </a:cubicBezTo>
                  <a:cubicBezTo>
                    <a:pt x="110" y="225"/>
                    <a:pt x="110" y="225"/>
                    <a:pt x="110" y="225"/>
                  </a:cubicBezTo>
                  <a:cubicBezTo>
                    <a:pt x="110" y="225"/>
                    <a:pt x="110" y="225"/>
                    <a:pt x="110" y="225"/>
                  </a:cubicBezTo>
                  <a:cubicBezTo>
                    <a:pt x="112" y="225"/>
                    <a:pt x="112" y="225"/>
                    <a:pt x="112" y="225"/>
                  </a:cubicBezTo>
                  <a:cubicBezTo>
                    <a:pt x="112" y="225"/>
                    <a:pt x="155" y="225"/>
                    <a:pt x="185" y="212"/>
                  </a:cubicBezTo>
                  <a:cubicBezTo>
                    <a:pt x="209" y="201"/>
                    <a:pt x="220" y="186"/>
                    <a:pt x="220" y="186"/>
                  </a:cubicBezTo>
                  <a:cubicBezTo>
                    <a:pt x="220" y="186"/>
                    <a:pt x="196" y="173"/>
                    <a:pt x="197" y="139"/>
                  </a:cubicBezTo>
                  <a:close/>
                </a:path>
              </a:pathLst>
            </a:custGeom>
            <a:solidFill>
              <a:srgbClr val="253F59"/>
            </a:solidFill>
            <a:ln w="9525">
              <a:noFill/>
              <a:round/>
            </a:ln>
          </p:spPr>
          <p:txBody>
            <a:bodyPr anchor="ctr"/>
            <a:lstStyle/>
            <a:p>
              <a:pPr algn="ctr"/>
            </a:p>
          </p:txBody>
        </p:sp>
        <p:sp>
          <p:nvSpPr>
            <p:cNvPr id="19" name="îṥļîďé"/>
            <p:cNvSpPr/>
            <p:nvPr/>
          </p:nvSpPr>
          <p:spPr bwMode="auto">
            <a:xfrm>
              <a:off x="7029926" y="4485167"/>
              <a:ext cx="1990703" cy="1348029"/>
            </a:xfrm>
            <a:custGeom>
              <a:avLst/>
              <a:gdLst/>
              <a:ahLst/>
              <a:cxnLst>
                <a:cxn ang="0">
                  <a:pos x="45" y="197"/>
                </a:cxn>
                <a:cxn ang="0">
                  <a:pos x="49" y="171"/>
                </a:cxn>
                <a:cxn ang="0">
                  <a:pos x="49" y="171"/>
                </a:cxn>
                <a:cxn ang="0">
                  <a:pos x="49" y="171"/>
                </a:cxn>
                <a:cxn ang="0">
                  <a:pos x="54" y="197"/>
                </a:cxn>
                <a:cxn ang="0">
                  <a:pos x="237" y="197"/>
                </a:cxn>
                <a:cxn ang="0">
                  <a:pos x="242" y="171"/>
                </a:cxn>
                <a:cxn ang="0">
                  <a:pos x="242" y="171"/>
                </a:cxn>
                <a:cxn ang="0">
                  <a:pos x="242" y="171"/>
                </a:cxn>
                <a:cxn ang="0">
                  <a:pos x="246" y="197"/>
                </a:cxn>
                <a:cxn ang="0">
                  <a:pos x="291" y="197"/>
                </a:cxn>
                <a:cxn ang="0">
                  <a:pos x="283" y="98"/>
                </a:cxn>
                <a:cxn ang="0">
                  <a:pos x="242" y="59"/>
                </a:cxn>
                <a:cxn ang="0">
                  <a:pos x="206" y="51"/>
                </a:cxn>
                <a:cxn ang="0">
                  <a:pos x="206" y="51"/>
                </a:cxn>
                <a:cxn ang="0">
                  <a:pos x="199" y="50"/>
                </a:cxn>
                <a:cxn ang="0">
                  <a:pos x="181" y="29"/>
                </a:cxn>
                <a:cxn ang="0">
                  <a:pos x="180" y="11"/>
                </a:cxn>
                <a:cxn ang="0">
                  <a:pos x="180" y="0"/>
                </a:cxn>
                <a:cxn ang="0">
                  <a:pos x="148" y="0"/>
                </a:cxn>
                <a:cxn ang="0">
                  <a:pos x="145" y="0"/>
                </a:cxn>
                <a:cxn ang="0">
                  <a:pos x="143" y="0"/>
                </a:cxn>
                <a:cxn ang="0">
                  <a:pos x="111" y="0"/>
                </a:cxn>
                <a:cxn ang="0">
                  <a:pos x="110" y="11"/>
                </a:cxn>
                <a:cxn ang="0">
                  <a:pos x="110" y="29"/>
                </a:cxn>
                <a:cxn ang="0">
                  <a:pos x="92" y="50"/>
                </a:cxn>
                <a:cxn ang="0">
                  <a:pos x="85" y="51"/>
                </a:cxn>
                <a:cxn ang="0">
                  <a:pos x="85" y="51"/>
                </a:cxn>
                <a:cxn ang="0">
                  <a:pos x="48" y="59"/>
                </a:cxn>
                <a:cxn ang="0">
                  <a:pos x="8" y="98"/>
                </a:cxn>
                <a:cxn ang="0">
                  <a:pos x="0" y="197"/>
                </a:cxn>
                <a:cxn ang="0">
                  <a:pos x="45" y="197"/>
                </a:cxn>
              </a:cxnLst>
              <a:rect l="0" t="0" r="r" b="b"/>
              <a:pathLst>
                <a:path w="291" h="197">
                  <a:moveTo>
                    <a:pt x="45" y="197"/>
                  </a:moveTo>
                  <a:cubicBezTo>
                    <a:pt x="49" y="171"/>
                    <a:pt x="49" y="171"/>
                    <a:pt x="49" y="171"/>
                  </a:cubicBezTo>
                  <a:cubicBezTo>
                    <a:pt x="49" y="171"/>
                    <a:pt x="49" y="171"/>
                    <a:pt x="49" y="171"/>
                  </a:cubicBezTo>
                  <a:cubicBezTo>
                    <a:pt x="49" y="171"/>
                    <a:pt x="49" y="171"/>
                    <a:pt x="49" y="171"/>
                  </a:cubicBezTo>
                  <a:cubicBezTo>
                    <a:pt x="54" y="197"/>
                    <a:pt x="54" y="197"/>
                    <a:pt x="54" y="197"/>
                  </a:cubicBezTo>
                  <a:cubicBezTo>
                    <a:pt x="237" y="197"/>
                    <a:pt x="237" y="197"/>
                    <a:pt x="237" y="197"/>
                  </a:cubicBezTo>
                  <a:cubicBezTo>
                    <a:pt x="242" y="171"/>
                    <a:pt x="242" y="171"/>
                    <a:pt x="242" y="171"/>
                  </a:cubicBezTo>
                  <a:cubicBezTo>
                    <a:pt x="242" y="171"/>
                    <a:pt x="242" y="171"/>
                    <a:pt x="242" y="171"/>
                  </a:cubicBezTo>
                  <a:cubicBezTo>
                    <a:pt x="242" y="171"/>
                    <a:pt x="242" y="171"/>
                    <a:pt x="242" y="171"/>
                  </a:cubicBezTo>
                  <a:cubicBezTo>
                    <a:pt x="246" y="197"/>
                    <a:pt x="246" y="197"/>
                    <a:pt x="246" y="197"/>
                  </a:cubicBezTo>
                  <a:cubicBezTo>
                    <a:pt x="291" y="197"/>
                    <a:pt x="291" y="197"/>
                    <a:pt x="291" y="197"/>
                  </a:cubicBezTo>
                  <a:cubicBezTo>
                    <a:pt x="283" y="98"/>
                    <a:pt x="283" y="98"/>
                    <a:pt x="283" y="98"/>
                  </a:cubicBezTo>
                  <a:cubicBezTo>
                    <a:pt x="279" y="79"/>
                    <a:pt x="267" y="62"/>
                    <a:pt x="242" y="59"/>
                  </a:cubicBezTo>
                  <a:cubicBezTo>
                    <a:pt x="206" y="51"/>
                    <a:pt x="206" y="51"/>
                    <a:pt x="206" y="51"/>
                  </a:cubicBezTo>
                  <a:cubicBezTo>
                    <a:pt x="206" y="51"/>
                    <a:pt x="206" y="51"/>
                    <a:pt x="206" y="51"/>
                  </a:cubicBezTo>
                  <a:cubicBezTo>
                    <a:pt x="199" y="50"/>
                    <a:pt x="199" y="50"/>
                    <a:pt x="199" y="50"/>
                  </a:cubicBezTo>
                  <a:cubicBezTo>
                    <a:pt x="189" y="48"/>
                    <a:pt x="182" y="39"/>
                    <a:pt x="181" y="29"/>
                  </a:cubicBezTo>
                  <a:cubicBezTo>
                    <a:pt x="180" y="11"/>
                    <a:pt x="180" y="11"/>
                    <a:pt x="180" y="11"/>
                  </a:cubicBezTo>
                  <a:cubicBezTo>
                    <a:pt x="180" y="0"/>
                    <a:pt x="180" y="0"/>
                    <a:pt x="180" y="0"/>
                  </a:cubicBezTo>
                  <a:cubicBezTo>
                    <a:pt x="148" y="0"/>
                    <a:pt x="148" y="0"/>
                    <a:pt x="148" y="0"/>
                  </a:cubicBezTo>
                  <a:cubicBezTo>
                    <a:pt x="145" y="0"/>
                    <a:pt x="145" y="0"/>
                    <a:pt x="145" y="0"/>
                  </a:cubicBezTo>
                  <a:cubicBezTo>
                    <a:pt x="143" y="0"/>
                    <a:pt x="143" y="0"/>
                    <a:pt x="143" y="0"/>
                  </a:cubicBezTo>
                  <a:cubicBezTo>
                    <a:pt x="111" y="0"/>
                    <a:pt x="111" y="0"/>
                    <a:pt x="111" y="0"/>
                  </a:cubicBezTo>
                  <a:cubicBezTo>
                    <a:pt x="110" y="11"/>
                    <a:pt x="110" y="11"/>
                    <a:pt x="110" y="11"/>
                  </a:cubicBezTo>
                  <a:cubicBezTo>
                    <a:pt x="110" y="29"/>
                    <a:pt x="110" y="29"/>
                    <a:pt x="110" y="29"/>
                  </a:cubicBezTo>
                  <a:cubicBezTo>
                    <a:pt x="109" y="39"/>
                    <a:pt x="102" y="48"/>
                    <a:pt x="92" y="50"/>
                  </a:cubicBezTo>
                  <a:cubicBezTo>
                    <a:pt x="85" y="51"/>
                    <a:pt x="85" y="51"/>
                    <a:pt x="85" y="51"/>
                  </a:cubicBezTo>
                  <a:cubicBezTo>
                    <a:pt x="85" y="51"/>
                    <a:pt x="85" y="51"/>
                    <a:pt x="85" y="51"/>
                  </a:cubicBezTo>
                  <a:cubicBezTo>
                    <a:pt x="48" y="59"/>
                    <a:pt x="48" y="59"/>
                    <a:pt x="48" y="59"/>
                  </a:cubicBezTo>
                  <a:cubicBezTo>
                    <a:pt x="24" y="62"/>
                    <a:pt x="12" y="79"/>
                    <a:pt x="8" y="98"/>
                  </a:cubicBezTo>
                  <a:cubicBezTo>
                    <a:pt x="0" y="197"/>
                    <a:pt x="0" y="197"/>
                    <a:pt x="0" y="197"/>
                  </a:cubicBezTo>
                  <a:lnTo>
                    <a:pt x="45" y="197"/>
                  </a:lnTo>
                  <a:close/>
                </a:path>
              </a:pathLst>
            </a:custGeom>
            <a:solidFill>
              <a:srgbClr val="FFE1CC"/>
            </a:solidFill>
            <a:ln w="9525">
              <a:noFill/>
              <a:round/>
            </a:ln>
          </p:spPr>
          <p:txBody>
            <a:bodyPr anchor="ctr"/>
            <a:lstStyle/>
            <a:p>
              <a:pPr algn="ctr"/>
            </a:p>
          </p:txBody>
        </p:sp>
        <p:sp>
          <p:nvSpPr>
            <p:cNvPr id="20" name="ïśḷídê"/>
            <p:cNvSpPr/>
            <p:nvPr/>
          </p:nvSpPr>
          <p:spPr bwMode="auto">
            <a:xfrm>
              <a:off x="7350845" y="5135363"/>
              <a:ext cx="1348028" cy="697833"/>
            </a:xfrm>
            <a:custGeom>
              <a:avLst/>
              <a:gdLst/>
              <a:ahLst/>
              <a:cxnLst>
                <a:cxn ang="0">
                  <a:pos x="2" y="76"/>
                </a:cxn>
                <a:cxn ang="0">
                  <a:pos x="2" y="76"/>
                </a:cxn>
                <a:cxn ang="0">
                  <a:pos x="2" y="76"/>
                </a:cxn>
                <a:cxn ang="0">
                  <a:pos x="3" y="80"/>
                </a:cxn>
                <a:cxn ang="0">
                  <a:pos x="5" y="91"/>
                </a:cxn>
                <a:cxn ang="0">
                  <a:pos x="7" y="102"/>
                </a:cxn>
                <a:cxn ang="0">
                  <a:pos x="190" y="102"/>
                </a:cxn>
                <a:cxn ang="0">
                  <a:pos x="192" y="91"/>
                </a:cxn>
                <a:cxn ang="0">
                  <a:pos x="194" y="80"/>
                </a:cxn>
                <a:cxn ang="0">
                  <a:pos x="195" y="76"/>
                </a:cxn>
                <a:cxn ang="0">
                  <a:pos x="195" y="76"/>
                </a:cxn>
                <a:cxn ang="0">
                  <a:pos x="195" y="76"/>
                </a:cxn>
                <a:cxn ang="0">
                  <a:pos x="195" y="75"/>
                </a:cxn>
                <a:cxn ang="0">
                  <a:pos x="173" y="0"/>
                </a:cxn>
                <a:cxn ang="0">
                  <a:pos x="99" y="37"/>
                </a:cxn>
                <a:cxn ang="0">
                  <a:pos x="98" y="37"/>
                </a:cxn>
                <a:cxn ang="0">
                  <a:pos x="24" y="0"/>
                </a:cxn>
                <a:cxn ang="0">
                  <a:pos x="2" y="75"/>
                </a:cxn>
                <a:cxn ang="0">
                  <a:pos x="2" y="76"/>
                </a:cxn>
              </a:cxnLst>
              <a:rect l="0" t="0" r="r" b="b"/>
              <a:pathLst>
                <a:path w="197" h="102">
                  <a:moveTo>
                    <a:pt x="2" y="76"/>
                  </a:moveTo>
                  <a:cubicBezTo>
                    <a:pt x="2" y="76"/>
                    <a:pt x="2" y="76"/>
                    <a:pt x="2" y="76"/>
                  </a:cubicBezTo>
                  <a:cubicBezTo>
                    <a:pt x="2" y="76"/>
                    <a:pt x="2" y="76"/>
                    <a:pt x="2" y="76"/>
                  </a:cubicBezTo>
                  <a:cubicBezTo>
                    <a:pt x="3" y="80"/>
                    <a:pt x="3" y="80"/>
                    <a:pt x="3" y="80"/>
                  </a:cubicBezTo>
                  <a:cubicBezTo>
                    <a:pt x="3" y="84"/>
                    <a:pt x="4" y="88"/>
                    <a:pt x="5" y="91"/>
                  </a:cubicBezTo>
                  <a:cubicBezTo>
                    <a:pt x="7" y="102"/>
                    <a:pt x="7" y="102"/>
                    <a:pt x="7" y="102"/>
                  </a:cubicBezTo>
                  <a:cubicBezTo>
                    <a:pt x="190" y="102"/>
                    <a:pt x="190" y="102"/>
                    <a:pt x="190" y="102"/>
                  </a:cubicBezTo>
                  <a:cubicBezTo>
                    <a:pt x="192" y="91"/>
                    <a:pt x="192" y="91"/>
                    <a:pt x="192" y="91"/>
                  </a:cubicBezTo>
                  <a:cubicBezTo>
                    <a:pt x="193" y="88"/>
                    <a:pt x="193" y="84"/>
                    <a:pt x="194" y="80"/>
                  </a:cubicBezTo>
                  <a:cubicBezTo>
                    <a:pt x="195" y="76"/>
                    <a:pt x="195" y="76"/>
                    <a:pt x="195" y="76"/>
                  </a:cubicBezTo>
                  <a:cubicBezTo>
                    <a:pt x="195" y="76"/>
                    <a:pt x="195" y="76"/>
                    <a:pt x="195" y="76"/>
                  </a:cubicBezTo>
                  <a:cubicBezTo>
                    <a:pt x="195" y="76"/>
                    <a:pt x="195" y="76"/>
                    <a:pt x="195" y="76"/>
                  </a:cubicBezTo>
                  <a:cubicBezTo>
                    <a:pt x="195" y="75"/>
                    <a:pt x="195" y="75"/>
                    <a:pt x="195" y="75"/>
                  </a:cubicBezTo>
                  <a:cubicBezTo>
                    <a:pt x="197" y="60"/>
                    <a:pt x="173" y="0"/>
                    <a:pt x="173" y="0"/>
                  </a:cubicBezTo>
                  <a:cubicBezTo>
                    <a:pt x="170" y="0"/>
                    <a:pt x="134" y="37"/>
                    <a:pt x="99" y="37"/>
                  </a:cubicBezTo>
                  <a:cubicBezTo>
                    <a:pt x="98" y="37"/>
                    <a:pt x="98" y="37"/>
                    <a:pt x="98" y="37"/>
                  </a:cubicBezTo>
                  <a:cubicBezTo>
                    <a:pt x="59" y="37"/>
                    <a:pt x="27" y="0"/>
                    <a:pt x="24" y="0"/>
                  </a:cubicBezTo>
                  <a:cubicBezTo>
                    <a:pt x="24" y="0"/>
                    <a:pt x="0" y="60"/>
                    <a:pt x="2" y="75"/>
                  </a:cubicBezTo>
                  <a:lnTo>
                    <a:pt x="2" y="76"/>
                  </a:lnTo>
                  <a:close/>
                </a:path>
              </a:pathLst>
            </a:custGeom>
            <a:solidFill>
              <a:srgbClr val="FF6D3A"/>
            </a:solidFill>
            <a:ln w="9525">
              <a:noFill/>
              <a:round/>
            </a:ln>
          </p:spPr>
          <p:txBody>
            <a:bodyPr anchor="ctr"/>
            <a:lstStyle/>
            <a:p>
              <a:pPr algn="ctr"/>
            </a:p>
          </p:txBody>
        </p:sp>
        <p:sp>
          <p:nvSpPr>
            <p:cNvPr id="21" name="îSľíďe"/>
            <p:cNvSpPr/>
            <p:nvPr/>
          </p:nvSpPr>
          <p:spPr bwMode="auto">
            <a:xfrm>
              <a:off x="8041992" y="4793550"/>
              <a:ext cx="978637" cy="1039645"/>
            </a:xfrm>
            <a:custGeom>
              <a:avLst/>
              <a:gdLst/>
              <a:ahLst/>
              <a:cxnLst>
                <a:cxn ang="0">
                  <a:pos x="143" y="152"/>
                </a:cxn>
                <a:cxn ang="0">
                  <a:pos x="135" y="53"/>
                </a:cxn>
                <a:cxn ang="0">
                  <a:pos x="94" y="14"/>
                </a:cxn>
                <a:cxn ang="0">
                  <a:pos x="58" y="6"/>
                </a:cxn>
                <a:cxn ang="0">
                  <a:pos x="58" y="6"/>
                </a:cxn>
                <a:cxn ang="0">
                  <a:pos x="51" y="5"/>
                </a:cxn>
                <a:cxn ang="0">
                  <a:pos x="42" y="0"/>
                </a:cxn>
                <a:cxn ang="0">
                  <a:pos x="0" y="152"/>
                </a:cxn>
                <a:cxn ang="0">
                  <a:pos x="143" y="152"/>
                </a:cxn>
              </a:cxnLst>
              <a:rect l="0" t="0" r="r" b="b"/>
              <a:pathLst>
                <a:path w="143" h="152">
                  <a:moveTo>
                    <a:pt x="143" y="152"/>
                  </a:moveTo>
                  <a:cubicBezTo>
                    <a:pt x="135" y="53"/>
                    <a:pt x="135" y="53"/>
                    <a:pt x="135" y="53"/>
                  </a:cubicBezTo>
                  <a:cubicBezTo>
                    <a:pt x="131" y="34"/>
                    <a:pt x="119" y="17"/>
                    <a:pt x="94" y="14"/>
                  </a:cubicBezTo>
                  <a:cubicBezTo>
                    <a:pt x="58" y="6"/>
                    <a:pt x="58" y="6"/>
                    <a:pt x="58" y="6"/>
                  </a:cubicBezTo>
                  <a:cubicBezTo>
                    <a:pt x="58" y="6"/>
                    <a:pt x="58" y="6"/>
                    <a:pt x="58" y="6"/>
                  </a:cubicBezTo>
                  <a:cubicBezTo>
                    <a:pt x="51" y="5"/>
                    <a:pt x="51" y="5"/>
                    <a:pt x="51" y="5"/>
                  </a:cubicBezTo>
                  <a:cubicBezTo>
                    <a:pt x="48" y="4"/>
                    <a:pt x="44" y="2"/>
                    <a:pt x="42" y="0"/>
                  </a:cubicBezTo>
                  <a:cubicBezTo>
                    <a:pt x="0" y="152"/>
                    <a:pt x="0" y="152"/>
                    <a:pt x="0" y="152"/>
                  </a:cubicBezTo>
                  <a:lnTo>
                    <a:pt x="143" y="152"/>
                  </a:lnTo>
                  <a:close/>
                </a:path>
              </a:pathLst>
            </a:custGeom>
            <a:solidFill>
              <a:srgbClr val="17C5CC"/>
            </a:solidFill>
            <a:ln w="9525">
              <a:noFill/>
              <a:round/>
            </a:ln>
          </p:spPr>
          <p:txBody>
            <a:bodyPr anchor="ctr"/>
            <a:lstStyle/>
            <a:p>
              <a:pPr algn="ctr"/>
            </a:p>
          </p:txBody>
        </p:sp>
        <p:sp>
          <p:nvSpPr>
            <p:cNvPr id="22" name="ïṥ1iḑè"/>
            <p:cNvSpPr/>
            <p:nvPr/>
          </p:nvSpPr>
          <p:spPr bwMode="auto">
            <a:xfrm>
              <a:off x="7029926" y="4793550"/>
              <a:ext cx="951058" cy="1039645"/>
            </a:xfrm>
            <a:custGeom>
              <a:avLst/>
              <a:gdLst/>
              <a:ahLst/>
              <a:cxnLst>
                <a:cxn ang="0">
                  <a:pos x="139" y="152"/>
                </a:cxn>
                <a:cxn ang="0">
                  <a:pos x="101" y="0"/>
                </a:cxn>
                <a:cxn ang="0">
                  <a:pos x="92" y="5"/>
                </a:cxn>
                <a:cxn ang="0">
                  <a:pos x="85" y="6"/>
                </a:cxn>
                <a:cxn ang="0">
                  <a:pos x="85" y="6"/>
                </a:cxn>
                <a:cxn ang="0">
                  <a:pos x="48" y="14"/>
                </a:cxn>
                <a:cxn ang="0">
                  <a:pos x="8" y="53"/>
                </a:cxn>
                <a:cxn ang="0">
                  <a:pos x="0" y="152"/>
                </a:cxn>
                <a:cxn ang="0">
                  <a:pos x="139" y="152"/>
                </a:cxn>
              </a:cxnLst>
              <a:rect l="0" t="0" r="r" b="b"/>
              <a:pathLst>
                <a:path w="139" h="152">
                  <a:moveTo>
                    <a:pt x="139" y="152"/>
                  </a:moveTo>
                  <a:cubicBezTo>
                    <a:pt x="101" y="0"/>
                    <a:pt x="101" y="0"/>
                    <a:pt x="101" y="0"/>
                  </a:cubicBezTo>
                  <a:cubicBezTo>
                    <a:pt x="98" y="2"/>
                    <a:pt x="95" y="4"/>
                    <a:pt x="92" y="5"/>
                  </a:cubicBezTo>
                  <a:cubicBezTo>
                    <a:pt x="85" y="6"/>
                    <a:pt x="85" y="6"/>
                    <a:pt x="85" y="6"/>
                  </a:cubicBezTo>
                  <a:cubicBezTo>
                    <a:pt x="85" y="6"/>
                    <a:pt x="85" y="6"/>
                    <a:pt x="85" y="6"/>
                  </a:cubicBezTo>
                  <a:cubicBezTo>
                    <a:pt x="48" y="14"/>
                    <a:pt x="48" y="14"/>
                    <a:pt x="48" y="14"/>
                  </a:cubicBezTo>
                  <a:cubicBezTo>
                    <a:pt x="24" y="17"/>
                    <a:pt x="12" y="34"/>
                    <a:pt x="8" y="53"/>
                  </a:cubicBezTo>
                  <a:cubicBezTo>
                    <a:pt x="0" y="152"/>
                    <a:pt x="0" y="152"/>
                    <a:pt x="0" y="152"/>
                  </a:cubicBezTo>
                  <a:lnTo>
                    <a:pt x="139" y="152"/>
                  </a:lnTo>
                  <a:close/>
                </a:path>
              </a:pathLst>
            </a:custGeom>
            <a:solidFill>
              <a:srgbClr val="17C5CC"/>
            </a:solidFill>
            <a:ln w="9525">
              <a:noFill/>
              <a:round/>
            </a:ln>
          </p:spPr>
          <p:txBody>
            <a:bodyPr anchor="ctr"/>
            <a:lstStyle/>
            <a:p>
              <a:pPr algn="ctr"/>
            </a:p>
          </p:txBody>
        </p:sp>
        <p:sp>
          <p:nvSpPr>
            <p:cNvPr id="23" name="îśḻíḓè"/>
            <p:cNvSpPr/>
            <p:nvPr/>
          </p:nvSpPr>
          <p:spPr bwMode="auto">
            <a:xfrm>
              <a:off x="7782081" y="4485167"/>
              <a:ext cx="478872" cy="198903"/>
            </a:xfrm>
            <a:custGeom>
              <a:avLst/>
              <a:gdLst/>
              <a:ahLst/>
              <a:cxnLst>
                <a:cxn ang="0">
                  <a:pos x="70" y="13"/>
                </a:cxn>
                <a:cxn ang="0">
                  <a:pos x="70" y="11"/>
                </a:cxn>
                <a:cxn ang="0">
                  <a:pos x="70" y="0"/>
                </a:cxn>
                <a:cxn ang="0">
                  <a:pos x="38" y="0"/>
                </a:cxn>
                <a:cxn ang="0">
                  <a:pos x="35" y="0"/>
                </a:cxn>
                <a:cxn ang="0">
                  <a:pos x="33" y="0"/>
                </a:cxn>
                <a:cxn ang="0">
                  <a:pos x="1" y="0"/>
                </a:cxn>
                <a:cxn ang="0">
                  <a:pos x="0" y="11"/>
                </a:cxn>
                <a:cxn ang="0">
                  <a:pos x="0" y="14"/>
                </a:cxn>
                <a:cxn ang="0">
                  <a:pos x="35" y="29"/>
                </a:cxn>
                <a:cxn ang="0">
                  <a:pos x="70" y="13"/>
                </a:cxn>
              </a:cxnLst>
              <a:rect l="0" t="0" r="r" b="b"/>
              <a:pathLst>
                <a:path w="70" h="29">
                  <a:moveTo>
                    <a:pt x="70" y="13"/>
                  </a:moveTo>
                  <a:cubicBezTo>
                    <a:pt x="70" y="11"/>
                    <a:pt x="70" y="11"/>
                    <a:pt x="70" y="11"/>
                  </a:cubicBezTo>
                  <a:cubicBezTo>
                    <a:pt x="70" y="0"/>
                    <a:pt x="70" y="0"/>
                    <a:pt x="70" y="0"/>
                  </a:cubicBezTo>
                  <a:cubicBezTo>
                    <a:pt x="38" y="0"/>
                    <a:pt x="38" y="0"/>
                    <a:pt x="38" y="0"/>
                  </a:cubicBezTo>
                  <a:cubicBezTo>
                    <a:pt x="35" y="0"/>
                    <a:pt x="35" y="0"/>
                    <a:pt x="35" y="0"/>
                  </a:cubicBezTo>
                  <a:cubicBezTo>
                    <a:pt x="33" y="0"/>
                    <a:pt x="33" y="0"/>
                    <a:pt x="33" y="0"/>
                  </a:cubicBezTo>
                  <a:cubicBezTo>
                    <a:pt x="1" y="0"/>
                    <a:pt x="1" y="0"/>
                    <a:pt x="1" y="0"/>
                  </a:cubicBezTo>
                  <a:cubicBezTo>
                    <a:pt x="0" y="11"/>
                    <a:pt x="0" y="11"/>
                    <a:pt x="0" y="11"/>
                  </a:cubicBezTo>
                  <a:cubicBezTo>
                    <a:pt x="0" y="14"/>
                    <a:pt x="0" y="14"/>
                    <a:pt x="0" y="14"/>
                  </a:cubicBezTo>
                  <a:cubicBezTo>
                    <a:pt x="8" y="21"/>
                    <a:pt x="20" y="29"/>
                    <a:pt x="35" y="29"/>
                  </a:cubicBezTo>
                  <a:cubicBezTo>
                    <a:pt x="51" y="29"/>
                    <a:pt x="62" y="22"/>
                    <a:pt x="70" y="13"/>
                  </a:cubicBezTo>
                  <a:close/>
                </a:path>
              </a:pathLst>
            </a:custGeom>
            <a:solidFill>
              <a:srgbClr val="EACEBB"/>
            </a:solidFill>
            <a:ln w="9525">
              <a:noFill/>
              <a:round/>
            </a:ln>
          </p:spPr>
          <p:txBody>
            <a:bodyPr anchor="ctr"/>
            <a:lstStyle/>
            <a:p>
              <a:pPr algn="ctr"/>
            </a:p>
          </p:txBody>
        </p:sp>
        <p:sp>
          <p:nvSpPr>
            <p:cNvPr id="24" name="iṥľíďê"/>
            <p:cNvSpPr/>
            <p:nvPr/>
          </p:nvSpPr>
          <p:spPr bwMode="auto">
            <a:xfrm>
              <a:off x="7645021" y="3486473"/>
              <a:ext cx="759676" cy="1122382"/>
            </a:xfrm>
            <a:custGeom>
              <a:avLst/>
              <a:gdLst/>
              <a:ahLst/>
              <a:cxnLst>
                <a:cxn ang="0">
                  <a:pos x="55" y="0"/>
                </a:cxn>
                <a:cxn ang="0">
                  <a:pos x="0" y="0"/>
                </a:cxn>
                <a:cxn ang="0">
                  <a:pos x="0" y="102"/>
                </a:cxn>
                <a:cxn ang="0">
                  <a:pos x="7" y="130"/>
                </a:cxn>
                <a:cxn ang="0">
                  <a:pos x="55" y="164"/>
                </a:cxn>
                <a:cxn ang="0">
                  <a:pos x="106" y="126"/>
                </a:cxn>
                <a:cxn ang="0">
                  <a:pos x="111" y="102"/>
                </a:cxn>
                <a:cxn ang="0">
                  <a:pos x="111" y="0"/>
                </a:cxn>
                <a:cxn ang="0">
                  <a:pos x="55" y="0"/>
                </a:cxn>
              </a:cxnLst>
              <a:rect l="0" t="0" r="r" b="b"/>
              <a:pathLst>
                <a:path w="111" h="164">
                  <a:moveTo>
                    <a:pt x="55" y="0"/>
                  </a:moveTo>
                  <a:cubicBezTo>
                    <a:pt x="0" y="0"/>
                    <a:pt x="0" y="0"/>
                    <a:pt x="0" y="0"/>
                  </a:cubicBezTo>
                  <a:cubicBezTo>
                    <a:pt x="0" y="102"/>
                    <a:pt x="0" y="102"/>
                    <a:pt x="0" y="102"/>
                  </a:cubicBezTo>
                  <a:cubicBezTo>
                    <a:pt x="0" y="107"/>
                    <a:pt x="3" y="124"/>
                    <a:pt x="7" y="130"/>
                  </a:cubicBezTo>
                  <a:cubicBezTo>
                    <a:pt x="7" y="130"/>
                    <a:pt x="22" y="164"/>
                    <a:pt x="55" y="164"/>
                  </a:cubicBezTo>
                  <a:cubicBezTo>
                    <a:pt x="91" y="164"/>
                    <a:pt x="106" y="126"/>
                    <a:pt x="106" y="126"/>
                  </a:cubicBezTo>
                  <a:cubicBezTo>
                    <a:pt x="108" y="120"/>
                    <a:pt x="111" y="105"/>
                    <a:pt x="111" y="102"/>
                  </a:cubicBezTo>
                  <a:cubicBezTo>
                    <a:pt x="111" y="0"/>
                    <a:pt x="111" y="0"/>
                    <a:pt x="111" y="0"/>
                  </a:cubicBezTo>
                  <a:lnTo>
                    <a:pt x="55" y="0"/>
                  </a:lnTo>
                  <a:close/>
                </a:path>
              </a:pathLst>
            </a:custGeom>
            <a:solidFill>
              <a:srgbClr val="FFE1CC"/>
            </a:solidFill>
            <a:ln w="9525">
              <a:noFill/>
              <a:round/>
            </a:ln>
          </p:spPr>
          <p:txBody>
            <a:bodyPr anchor="ctr"/>
            <a:lstStyle/>
            <a:p>
              <a:pPr algn="ctr"/>
            </a:p>
          </p:txBody>
        </p:sp>
        <p:sp>
          <p:nvSpPr>
            <p:cNvPr id="25" name="îṩ1ïďé"/>
            <p:cNvSpPr/>
            <p:nvPr/>
          </p:nvSpPr>
          <p:spPr bwMode="auto">
            <a:xfrm>
              <a:off x="8041992" y="4765972"/>
              <a:ext cx="472186" cy="1067224"/>
            </a:xfrm>
            <a:custGeom>
              <a:avLst/>
              <a:gdLst/>
              <a:ahLst/>
              <a:cxnLst>
                <a:cxn ang="0">
                  <a:pos x="14" y="156"/>
                </a:cxn>
                <a:cxn ang="0">
                  <a:pos x="56" y="97"/>
                </a:cxn>
                <a:cxn ang="0">
                  <a:pos x="59" y="78"/>
                </a:cxn>
                <a:cxn ang="0">
                  <a:pos x="41" y="55"/>
                </a:cxn>
                <a:cxn ang="0">
                  <a:pos x="62" y="55"/>
                </a:cxn>
                <a:cxn ang="0">
                  <a:pos x="69" y="47"/>
                </a:cxn>
                <a:cxn ang="0">
                  <a:pos x="65" y="10"/>
                </a:cxn>
                <a:cxn ang="0">
                  <a:pos x="65" y="8"/>
                </a:cxn>
                <a:cxn ang="0">
                  <a:pos x="62" y="6"/>
                </a:cxn>
                <a:cxn ang="0">
                  <a:pos x="45" y="1"/>
                </a:cxn>
                <a:cxn ang="0">
                  <a:pos x="40" y="4"/>
                </a:cxn>
                <a:cxn ang="0">
                  <a:pos x="0" y="156"/>
                </a:cxn>
                <a:cxn ang="0">
                  <a:pos x="14" y="156"/>
                </a:cxn>
              </a:cxnLst>
              <a:rect l="0" t="0" r="r" b="b"/>
              <a:pathLst>
                <a:path w="69" h="156">
                  <a:moveTo>
                    <a:pt x="14" y="156"/>
                  </a:moveTo>
                  <a:cubicBezTo>
                    <a:pt x="56" y="97"/>
                    <a:pt x="56" y="97"/>
                    <a:pt x="56" y="97"/>
                  </a:cubicBezTo>
                  <a:cubicBezTo>
                    <a:pt x="60" y="93"/>
                    <a:pt x="64" y="84"/>
                    <a:pt x="59" y="78"/>
                  </a:cubicBezTo>
                  <a:cubicBezTo>
                    <a:pt x="41" y="55"/>
                    <a:pt x="41" y="55"/>
                    <a:pt x="41" y="55"/>
                  </a:cubicBezTo>
                  <a:cubicBezTo>
                    <a:pt x="62" y="55"/>
                    <a:pt x="62" y="55"/>
                    <a:pt x="62" y="55"/>
                  </a:cubicBezTo>
                  <a:cubicBezTo>
                    <a:pt x="68" y="55"/>
                    <a:pt x="69" y="54"/>
                    <a:pt x="69" y="47"/>
                  </a:cubicBezTo>
                  <a:cubicBezTo>
                    <a:pt x="65" y="10"/>
                    <a:pt x="65" y="10"/>
                    <a:pt x="65" y="10"/>
                  </a:cubicBezTo>
                  <a:cubicBezTo>
                    <a:pt x="65" y="10"/>
                    <a:pt x="65" y="8"/>
                    <a:pt x="65" y="8"/>
                  </a:cubicBezTo>
                  <a:cubicBezTo>
                    <a:pt x="65" y="7"/>
                    <a:pt x="62" y="6"/>
                    <a:pt x="62" y="6"/>
                  </a:cubicBezTo>
                  <a:cubicBezTo>
                    <a:pt x="45" y="1"/>
                    <a:pt x="45" y="1"/>
                    <a:pt x="45" y="1"/>
                  </a:cubicBezTo>
                  <a:cubicBezTo>
                    <a:pt x="43" y="0"/>
                    <a:pt x="41" y="0"/>
                    <a:pt x="40" y="4"/>
                  </a:cubicBezTo>
                  <a:cubicBezTo>
                    <a:pt x="0" y="156"/>
                    <a:pt x="0" y="156"/>
                    <a:pt x="0" y="156"/>
                  </a:cubicBezTo>
                  <a:lnTo>
                    <a:pt x="14" y="156"/>
                  </a:lnTo>
                  <a:close/>
                </a:path>
              </a:pathLst>
            </a:custGeom>
            <a:solidFill>
              <a:srgbClr val="253F59"/>
            </a:solidFill>
            <a:ln w="9525">
              <a:noFill/>
              <a:round/>
            </a:ln>
          </p:spPr>
          <p:txBody>
            <a:bodyPr anchor="ctr"/>
            <a:lstStyle/>
            <a:p>
              <a:pPr algn="ctr"/>
            </a:p>
          </p:txBody>
        </p:sp>
        <p:sp>
          <p:nvSpPr>
            <p:cNvPr id="26" name="išľiḑe"/>
            <p:cNvSpPr/>
            <p:nvPr/>
          </p:nvSpPr>
          <p:spPr bwMode="auto">
            <a:xfrm>
              <a:off x="7515484" y="4780179"/>
              <a:ext cx="465500" cy="1053017"/>
            </a:xfrm>
            <a:custGeom>
              <a:avLst/>
              <a:gdLst/>
              <a:ahLst/>
              <a:cxnLst>
                <a:cxn ang="0">
                  <a:pos x="8" y="55"/>
                </a:cxn>
                <a:cxn ang="0">
                  <a:pos x="29" y="55"/>
                </a:cxn>
                <a:cxn ang="0">
                  <a:pos x="11" y="78"/>
                </a:cxn>
                <a:cxn ang="0">
                  <a:pos x="13" y="97"/>
                </a:cxn>
                <a:cxn ang="0">
                  <a:pos x="56" y="154"/>
                </a:cxn>
                <a:cxn ang="0">
                  <a:pos x="68" y="154"/>
                </a:cxn>
                <a:cxn ang="0">
                  <a:pos x="30" y="4"/>
                </a:cxn>
                <a:cxn ang="0">
                  <a:pos x="25" y="1"/>
                </a:cxn>
                <a:cxn ang="0">
                  <a:pos x="8" y="6"/>
                </a:cxn>
                <a:cxn ang="0">
                  <a:pos x="5" y="8"/>
                </a:cxn>
                <a:cxn ang="0">
                  <a:pos x="4" y="10"/>
                </a:cxn>
                <a:cxn ang="0">
                  <a:pos x="1" y="47"/>
                </a:cxn>
                <a:cxn ang="0">
                  <a:pos x="8" y="55"/>
                </a:cxn>
              </a:cxnLst>
              <a:rect l="0" t="0" r="r" b="b"/>
              <a:pathLst>
                <a:path w="68" h="154">
                  <a:moveTo>
                    <a:pt x="8" y="55"/>
                  </a:moveTo>
                  <a:cubicBezTo>
                    <a:pt x="29" y="55"/>
                    <a:pt x="29" y="55"/>
                    <a:pt x="29" y="55"/>
                  </a:cubicBezTo>
                  <a:cubicBezTo>
                    <a:pt x="11" y="78"/>
                    <a:pt x="11" y="78"/>
                    <a:pt x="11" y="78"/>
                  </a:cubicBezTo>
                  <a:cubicBezTo>
                    <a:pt x="6" y="84"/>
                    <a:pt x="10" y="93"/>
                    <a:pt x="13" y="97"/>
                  </a:cubicBezTo>
                  <a:cubicBezTo>
                    <a:pt x="56" y="154"/>
                    <a:pt x="56" y="154"/>
                    <a:pt x="56" y="154"/>
                  </a:cubicBezTo>
                  <a:cubicBezTo>
                    <a:pt x="68" y="154"/>
                    <a:pt x="68" y="154"/>
                    <a:pt x="68" y="154"/>
                  </a:cubicBezTo>
                  <a:cubicBezTo>
                    <a:pt x="30" y="4"/>
                    <a:pt x="30" y="4"/>
                    <a:pt x="30" y="4"/>
                  </a:cubicBezTo>
                  <a:cubicBezTo>
                    <a:pt x="29" y="0"/>
                    <a:pt x="27" y="0"/>
                    <a:pt x="25" y="1"/>
                  </a:cubicBezTo>
                  <a:cubicBezTo>
                    <a:pt x="8" y="6"/>
                    <a:pt x="8" y="6"/>
                    <a:pt x="8" y="6"/>
                  </a:cubicBezTo>
                  <a:cubicBezTo>
                    <a:pt x="8" y="6"/>
                    <a:pt x="5" y="6"/>
                    <a:pt x="5" y="8"/>
                  </a:cubicBezTo>
                  <a:cubicBezTo>
                    <a:pt x="5" y="8"/>
                    <a:pt x="4" y="10"/>
                    <a:pt x="4" y="10"/>
                  </a:cubicBezTo>
                  <a:cubicBezTo>
                    <a:pt x="1" y="47"/>
                    <a:pt x="1" y="47"/>
                    <a:pt x="1" y="47"/>
                  </a:cubicBezTo>
                  <a:cubicBezTo>
                    <a:pt x="0" y="54"/>
                    <a:pt x="2" y="55"/>
                    <a:pt x="8" y="55"/>
                  </a:cubicBezTo>
                  <a:close/>
                </a:path>
              </a:pathLst>
            </a:custGeom>
            <a:solidFill>
              <a:srgbClr val="253F59"/>
            </a:solidFill>
            <a:ln w="9525">
              <a:noFill/>
              <a:round/>
            </a:ln>
          </p:spPr>
          <p:txBody>
            <a:bodyPr anchor="ctr"/>
            <a:lstStyle/>
            <a:p>
              <a:pPr algn="ctr"/>
            </a:p>
          </p:txBody>
        </p:sp>
        <p:sp>
          <p:nvSpPr>
            <p:cNvPr id="27" name="îṩḷiḓê"/>
            <p:cNvSpPr/>
            <p:nvPr/>
          </p:nvSpPr>
          <p:spPr bwMode="auto">
            <a:xfrm>
              <a:off x="7569806" y="3479787"/>
              <a:ext cx="924315" cy="437921"/>
            </a:xfrm>
            <a:custGeom>
              <a:avLst/>
              <a:gdLst/>
              <a:ahLst/>
              <a:cxnLst>
                <a:cxn ang="0">
                  <a:pos x="0" y="0"/>
                </a:cxn>
                <a:cxn ang="0">
                  <a:pos x="0" y="64"/>
                </a:cxn>
                <a:cxn ang="0">
                  <a:pos x="38" y="48"/>
                </a:cxn>
                <a:cxn ang="0">
                  <a:pos x="66" y="15"/>
                </a:cxn>
                <a:cxn ang="0">
                  <a:pos x="57" y="55"/>
                </a:cxn>
                <a:cxn ang="0">
                  <a:pos x="90" y="32"/>
                </a:cxn>
                <a:cxn ang="0">
                  <a:pos x="93" y="16"/>
                </a:cxn>
                <a:cxn ang="0">
                  <a:pos x="122" y="55"/>
                </a:cxn>
                <a:cxn ang="0">
                  <a:pos x="135" y="0"/>
                </a:cxn>
                <a:cxn ang="0">
                  <a:pos x="0" y="0"/>
                </a:cxn>
              </a:cxnLst>
              <a:rect l="0" t="0" r="r" b="b"/>
              <a:pathLst>
                <a:path w="135" h="64">
                  <a:moveTo>
                    <a:pt x="0" y="0"/>
                  </a:moveTo>
                  <a:cubicBezTo>
                    <a:pt x="0" y="64"/>
                    <a:pt x="0" y="64"/>
                    <a:pt x="0" y="64"/>
                  </a:cubicBezTo>
                  <a:cubicBezTo>
                    <a:pt x="0" y="64"/>
                    <a:pt x="26" y="56"/>
                    <a:pt x="38" y="48"/>
                  </a:cubicBezTo>
                  <a:cubicBezTo>
                    <a:pt x="60" y="33"/>
                    <a:pt x="66" y="15"/>
                    <a:pt x="66" y="15"/>
                  </a:cubicBezTo>
                  <a:cubicBezTo>
                    <a:pt x="66" y="15"/>
                    <a:pt x="67" y="45"/>
                    <a:pt x="57" y="55"/>
                  </a:cubicBezTo>
                  <a:cubicBezTo>
                    <a:pt x="57" y="55"/>
                    <a:pt x="81" y="56"/>
                    <a:pt x="90" y="32"/>
                  </a:cubicBezTo>
                  <a:cubicBezTo>
                    <a:pt x="94" y="20"/>
                    <a:pt x="93" y="16"/>
                    <a:pt x="93" y="16"/>
                  </a:cubicBezTo>
                  <a:cubicBezTo>
                    <a:pt x="93" y="16"/>
                    <a:pt x="118" y="12"/>
                    <a:pt x="122" y="55"/>
                  </a:cubicBezTo>
                  <a:cubicBezTo>
                    <a:pt x="135" y="0"/>
                    <a:pt x="135" y="0"/>
                    <a:pt x="135" y="0"/>
                  </a:cubicBezTo>
                  <a:lnTo>
                    <a:pt x="0" y="0"/>
                  </a:lnTo>
                  <a:close/>
                </a:path>
              </a:pathLst>
            </a:custGeom>
            <a:solidFill>
              <a:srgbClr val="253F59"/>
            </a:solidFill>
            <a:ln w="9525">
              <a:noFill/>
              <a:round/>
            </a:ln>
          </p:spPr>
          <p:txBody>
            <a:bodyPr anchor="ctr"/>
            <a:lstStyle/>
            <a:p>
              <a:pPr algn="ctr"/>
            </a:p>
          </p:txBody>
        </p:sp>
        <p:sp>
          <p:nvSpPr>
            <p:cNvPr id="28" name="îṩḻiďé"/>
            <p:cNvSpPr/>
            <p:nvPr/>
          </p:nvSpPr>
          <p:spPr bwMode="auto">
            <a:xfrm>
              <a:off x="3198115" y="4054767"/>
              <a:ext cx="2990233" cy="2093498"/>
            </a:xfrm>
            <a:custGeom>
              <a:avLst/>
              <a:gdLst/>
              <a:ahLst/>
              <a:cxnLst>
                <a:cxn ang="0">
                  <a:pos x="65" y="306"/>
                </a:cxn>
                <a:cxn ang="0">
                  <a:pos x="75" y="220"/>
                </a:cxn>
                <a:cxn ang="0">
                  <a:pos x="80" y="216"/>
                </a:cxn>
                <a:cxn ang="0">
                  <a:pos x="84" y="220"/>
                </a:cxn>
                <a:cxn ang="0">
                  <a:pos x="84" y="306"/>
                </a:cxn>
                <a:cxn ang="0">
                  <a:pos x="353" y="306"/>
                </a:cxn>
                <a:cxn ang="0">
                  <a:pos x="353" y="220"/>
                </a:cxn>
                <a:cxn ang="0">
                  <a:pos x="357" y="216"/>
                </a:cxn>
                <a:cxn ang="0">
                  <a:pos x="364" y="222"/>
                </a:cxn>
                <a:cxn ang="0">
                  <a:pos x="373" y="306"/>
                </a:cxn>
                <a:cxn ang="0">
                  <a:pos x="437" y="306"/>
                </a:cxn>
                <a:cxn ang="0">
                  <a:pos x="428" y="124"/>
                </a:cxn>
                <a:cxn ang="0">
                  <a:pos x="376" y="74"/>
                </a:cxn>
                <a:cxn ang="0">
                  <a:pos x="281" y="60"/>
                </a:cxn>
                <a:cxn ang="0">
                  <a:pos x="266" y="41"/>
                </a:cxn>
                <a:cxn ang="0">
                  <a:pos x="264" y="0"/>
                </a:cxn>
                <a:cxn ang="0">
                  <a:pos x="215" y="0"/>
                </a:cxn>
                <a:cxn ang="0">
                  <a:pos x="172" y="0"/>
                </a:cxn>
                <a:cxn ang="0">
                  <a:pos x="170" y="43"/>
                </a:cxn>
                <a:cxn ang="0">
                  <a:pos x="155" y="60"/>
                </a:cxn>
                <a:cxn ang="0">
                  <a:pos x="61" y="74"/>
                </a:cxn>
                <a:cxn ang="0">
                  <a:pos x="9" y="124"/>
                </a:cxn>
                <a:cxn ang="0">
                  <a:pos x="0" y="306"/>
                </a:cxn>
                <a:cxn ang="0">
                  <a:pos x="65" y="306"/>
                </a:cxn>
              </a:cxnLst>
              <a:rect l="0" t="0" r="r" b="b"/>
              <a:pathLst>
                <a:path w="437" h="306">
                  <a:moveTo>
                    <a:pt x="65" y="306"/>
                  </a:moveTo>
                  <a:cubicBezTo>
                    <a:pt x="75" y="220"/>
                    <a:pt x="75" y="220"/>
                    <a:pt x="75" y="220"/>
                  </a:cubicBezTo>
                  <a:cubicBezTo>
                    <a:pt x="75" y="217"/>
                    <a:pt x="77" y="216"/>
                    <a:pt x="80" y="216"/>
                  </a:cubicBezTo>
                  <a:cubicBezTo>
                    <a:pt x="82" y="216"/>
                    <a:pt x="84" y="218"/>
                    <a:pt x="84" y="220"/>
                  </a:cubicBezTo>
                  <a:cubicBezTo>
                    <a:pt x="84" y="306"/>
                    <a:pt x="84" y="306"/>
                    <a:pt x="84" y="306"/>
                  </a:cubicBezTo>
                  <a:cubicBezTo>
                    <a:pt x="353" y="306"/>
                    <a:pt x="353" y="306"/>
                    <a:pt x="353" y="306"/>
                  </a:cubicBezTo>
                  <a:cubicBezTo>
                    <a:pt x="353" y="220"/>
                    <a:pt x="353" y="220"/>
                    <a:pt x="353" y="220"/>
                  </a:cubicBezTo>
                  <a:cubicBezTo>
                    <a:pt x="353" y="218"/>
                    <a:pt x="355" y="216"/>
                    <a:pt x="357" y="216"/>
                  </a:cubicBezTo>
                  <a:cubicBezTo>
                    <a:pt x="360" y="216"/>
                    <a:pt x="364" y="216"/>
                    <a:pt x="364" y="222"/>
                  </a:cubicBezTo>
                  <a:cubicBezTo>
                    <a:pt x="373" y="306"/>
                    <a:pt x="373" y="306"/>
                    <a:pt x="373" y="306"/>
                  </a:cubicBezTo>
                  <a:cubicBezTo>
                    <a:pt x="437" y="306"/>
                    <a:pt x="437" y="306"/>
                    <a:pt x="437" y="306"/>
                  </a:cubicBezTo>
                  <a:cubicBezTo>
                    <a:pt x="428" y="124"/>
                    <a:pt x="428" y="124"/>
                    <a:pt x="428" y="124"/>
                  </a:cubicBezTo>
                  <a:cubicBezTo>
                    <a:pt x="423" y="99"/>
                    <a:pt x="402" y="79"/>
                    <a:pt x="376" y="74"/>
                  </a:cubicBezTo>
                  <a:cubicBezTo>
                    <a:pt x="281" y="60"/>
                    <a:pt x="281" y="60"/>
                    <a:pt x="281" y="60"/>
                  </a:cubicBezTo>
                  <a:cubicBezTo>
                    <a:pt x="272" y="59"/>
                    <a:pt x="266" y="50"/>
                    <a:pt x="266" y="41"/>
                  </a:cubicBezTo>
                  <a:cubicBezTo>
                    <a:pt x="264" y="0"/>
                    <a:pt x="264" y="0"/>
                    <a:pt x="264" y="0"/>
                  </a:cubicBezTo>
                  <a:cubicBezTo>
                    <a:pt x="215" y="0"/>
                    <a:pt x="215" y="0"/>
                    <a:pt x="215" y="0"/>
                  </a:cubicBezTo>
                  <a:cubicBezTo>
                    <a:pt x="172" y="0"/>
                    <a:pt x="172" y="0"/>
                    <a:pt x="172" y="0"/>
                  </a:cubicBezTo>
                  <a:cubicBezTo>
                    <a:pt x="170" y="43"/>
                    <a:pt x="170" y="43"/>
                    <a:pt x="170" y="43"/>
                  </a:cubicBezTo>
                  <a:cubicBezTo>
                    <a:pt x="170" y="51"/>
                    <a:pt x="164" y="58"/>
                    <a:pt x="155" y="60"/>
                  </a:cubicBezTo>
                  <a:cubicBezTo>
                    <a:pt x="61" y="74"/>
                    <a:pt x="61" y="74"/>
                    <a:pt x="61" y="74"/>
                  </a:cubicBezTo>
                  <a:cubicBezTo>
                    <a:pt x="35" y="79"/>
                    <a:pt x="14" y="99"/>
                    <a:pt x="9" y="124"/>
                  </a:cubicBezTo>
                  <a:cubicBezTo>
                    <a:pt x="0" y="306"/>
                    <a:pt x="0" y="306"/>
                    <a:pt x="0" y="306"/>
                  </a:cubicBezTo>
                  <a:lnTo>
                    <a:pt x="65" y="306"/>
                  </a:lnTo>
                  <a:close/>
                </a:path>
              </a:pathLst>
            </a:custGeom>
            <a:solidFill>
              <a:srgbClr val="FFE1CC"/>
            </a:solidFill>
            <a:ln w="9525">
              <a:noFill/>
              <a:round/>
            </a:ln>
          </p:spPr>
          <p:txBody>
            <a:bodyPr anchor="ctr"/>
            <a:lstStyle/>
            <a:p>
              <a:pPr algn="ctr"/>
            </a:p>
          </p:txBody>
        </p:sp>
        <p:sp>
          <p:nvSpPr>
            <p:cNvPr id="29" name="ïŝļíḋé"/>
            <p:cNvSpPr/>
            <p:nvPr/>
          </p:nvSpPr>
          <p:spPr bwMode="auto">
            <a:xfrm>
              <a:off x="4122430" y="4348943"/>
              <a:ext cx="1142439" cy="1799322"/>
            </a:xfrm>
            <a:custGeom>
              <a:avLst/>
              <a:gdLst/>
              <a:ahLst/>
              <a:cxnLst>
                <a:cxn ang="0">
                  <a:pos x="135" y="263"/>
                </a:cxn>
                <a:cxn ang="0">
                  <a:pos x="167" y="19"/>
                </a:cxn>
                <a:cxn ang="0">
                  <a:pos x="149" y="17"/>
                </a:cxn>
                <a:cxn ang="0">
                  <a:pos x="134" y="0"/>
                </a:cxn>
                <a:cxn ang="0">
                  <a:pos x="84" y="49"/>
                </a:cxn>
                <a:cxn ang="0">
                  <a:pos x="34" y="0"/>
                </a:cxn>
                <a:cxn ang="0">
                  <a:pos x="18" y="17"/>
                </a:cxn>
                <a:cxn ang="0">
                  <a:pos x="0" y="19"/>
                </a:cxn>
                <a:cxn ang="0">
                  <a:pos x="43" y="263"/>
                </a:cxn>
                <a:cxn ang="0">
                  <a:pos x="135" y="263"/>
                </a:cxn>
              </a:cxnLst>
              <a:rect l="0" t="0" r="r" b="b"/>
              <a:pathLst>
                <a:path w="167" h="263">
                  <a:moveTo>
                    <a:pt x="135" y="263"/>
                  </a:moveTo>
                  <a:cubicBezTo>
                    <a:pt x="167" y="19"/>
                    <a:pt x="167" y="19"/>
                    <a:pt x="167" y="19"/>
                  </a:cubicBezTo>
                  <a:cubicBezTo>
                    <a:pt x="149" y="17"/>
                    <a:pt x="149" y="17"/>
                    <a:pt x="149" y="17"/>
                  </a:cubicBezTo>
                  <a:cubicBezTo>
                    <a:pt x="140" y="15"/>
                    <a:pt x="134" y="8"/>
                    <a:pt x="134" y="0"/>
                  </a:cubicBezTo>
                  <a:cubicBezTo>
                    <a:pt x="84" y="49"/>
                    <a:pt x="84" y="49"/>
                    <a:pt x="84" y="49"/>
                  </a:cubicBezTo>
                  <a:cubicBezTo>
                    <a:pt x="34" y="0"/>
                    <a:pt x="34" y="0"/>
                    <a:pt x="34" y="0"/>
                  </a:cubicBezTo>
                  <a:cubicBezTo>
                    <a:pt x="33" y="8"/>
                    <a:pt x="27" y="15"/>
                    <a:pt x="18" y="17"/>
                  </a:cubicBezTo>
                  <a:cubicBezTo>
                    <a:pt x="0" y="19"/>
                    <a:pt x="0" y="19"/>
                    <a:pt x="0" y="19"/>
                  </a:cubicBezTo>
                  <a:cubicBezTo>
                    <a:pt x="43" y="263"/>
                    <a:pt x="43" y="263"/>
                    <a:pt x="43" y="263"/>
                  </a:cubicBezTo>
                  <a:lnTo>
                    <a:pt x="135" y="263"/>
                  </a:lnTo>
                  <a:close/>
                </a:path>
              </a:pathLst>
            </a:custGeom>
            <a:solidFill>
              <a:srgbClr val="DBDBDB"/>
            </a:solidFill>
            <a:ln w="9525">
              <a:noFill/>
              <a:round/>
            </a:ln>
          </p:spPr>
          <p:txBody>
            <a:bodyPr anchor="ctr"/>
            <a:lstStyle/>
            <a:p>
              <a:pPr algn="ctr"/>
            </a:p>
          </p:txBody>
        </p:sp>
        <p:sp>
          <p:nvSpPr>
            <p:cNvPr id="30" name="íś1îḓè"/>
            <p:cNvSpPr/>
            <p:nvPr/>
          </p:nvSpPr>
          <p:spPr bwMode="auto">
            <a:xfrm>
              <a:off x="4368134" y="4054767"/>
              <a:ext cx="643510" cy="294176"/>
            </a:xfrm>
            <a:custGeom>
              <a:avLst/>
              <a:gdLst/>
              <a:ahLst/>
              <a:cxnLst>
                <a:cxn ang="0">
                  <a:pos x="88" y="33"/>
                </a:cxn>
                <a:cxn ang="0">
                  <a:pos x="94" y="27"/>
                </a:cxn>
                <a:cxn ang="0">
                  <a:pos x="93" y="0"/>
                </a:cxn>
                <a:cxn ang="0">
                  <a:pos x="44" y="0"/>
                </a:cxn>
                <a:cxn ang="0">
                  <a:pos x="1" y="0"/>
                </a:cxn>
                <a:cxn ang="0">
                  <a:pos x="0" y="25"/>
                </a:cxn>
                <a:cxn ang="0">
                  <a:pos x="7" y="33"/>
                </a:cxn>
                <a:cxn ang="0">
                  <a:pos x="32" y="43"/>
                </a:cxn>
                <a:cxn ang="0">
                  <a:pos x="48" y="43"/>
                </a:cxn>
                <a:cxn ang="0">
                  <a:pos x="48" y="43"/>
                </a:cxn>
                <a:cxn ang="0">
                  <a:pos x="64" y="43"/>
                </a:cxn>
                <a:cxn ang="0">
                  <a:pos x="88" y="33"/>
                </a:cxn>
              </a:cxnLst>
              <a:rect l="0" t="0" r="r" b="b"/>
              <a:pathLst>
                <a:path w="94" h="43">
                  <a:moveTo>
                    <a:pt x="88" y="33"/>
                  </a:moveTo>
                  <a:cubicBezTo>
                    <a:pt x="94" y="27"/>
                    <a:pt x="94" y="27"/>
                    <a:pt x="94" y="27"/>
                  </a:cubicBezTo>
                  <a:cubicBezTo>
                    <a:pt x="93" y="0"/>
                    <a:pt x="93" y="0"/>
                    <a:pt x="93" y="0"/>
                  </a:cubicBezTo>
                  <a:cubicBezTo>
                    <a:pt x="44" y="0"/>
                    <a:pt x="44" y="0"/>
                    <a:pt x="44" y="0"/>
                  </a:cubicBezTo>
                  <a:cubicBezTo>
                    <a:pt x="1" y="0"/>
                    <a:pt x="1" y="0"/>
                    <a:pt x="1" y="0"/>
                  </a:cubicBezTo>
                  <a:cubicBezTo>
                    <a:pt x="0" y="25"/>
                    <a:pt x="0" y="25"/>
                    <a:pt x="0" y="25"/>
                  </a:cubicBezTo>
                  <a:cubicBezTo>
                    <a:pt x="7" y="33"/>
                    <a:pt x="7" y="33"/>
                    <a:pt x="7" y="33"/>
                  </a:cubicBezTo>
                  <a:cubicBezTo>
                    <a:pt x="14" y="39"/>
                    <a:pt x="23" y="43"/>
                    <a:pt x="32" y="43"/>
                  </a:cubicBezTo>
                  <a:cubicBezTo>
                    <a:pt x="48" y="43"/>
                    <a:pt x="48" y="43"/>
                    <a:pt x="48" y="43"/>
                  </a:cubicBezTo>
                  <a:cubicBezTo>
                    <a:pt x="48" y="43"/>
                    <a:pt x="48" y="43"/>
                    <a:pt x="48" y="43"/>
                  </a:cubicBezTo>
                  <a:cubicBezTo>
                    <a:pt x="64" y="43"/>
                    <a:pt x="64" y="43"/>
                    <a:pt x="64" y="43"/>
                  </a:cubicBezTo>
                  <a:cubicBezTo>
                    <a:pt x="73" y="43"/>
                    <a:pt x="82" y="39"/>
                    <a:pt x="88" y="33"/>
                  </a:cubicBezTo>
                  <a:close/>
                </a:path>
              </a:pathLst>
            </a:custGeom>
            <a:solidFill>
              <a:srgbClr val="EACEBB"/>
            </a:solidFill>
            <a:ln w="9525">
              <a:noFill/>
              <a:round/>
            </a:ln>
          </p:spPr>
          <p:txBody>
            <a:bodyPr anchor="ctr"/>
            <a:lstStyle/>
            <a:p>
              <a:pPr algn="ctr"/>
            </a:p>
          </p:txBody>
        </p:sp>
        <p:sp>
          <p:nvSpPr>
            <p:cNvPr id="31" name="işļíḓé"/>
            <p:cNvSpPr/>
            <p:nvPr/>
          </p:nvSpPr>
          <p:spPr bwMode="auto">
            <a:xfrm>
              <a:off x="5147867" y="3356935"/>
              <a:ext cx="185532" cy="457979"/>
            </a:xfrm>
            <a:custGeom>
              <a:avLst/>
              <a:gdLst/>
              <a:ahLst/>
              <a:cxnLst>
                <a:cxn ang="0">
                  <a:pos x="4" y="0"/>
                </a:cxn>
                <a:cxn ang="0">
                  <a:pos x="10" y="0"/>
                </a:cxn>
                <a:cxn ang="0">
                  <a:pos x="24" y="22"/>
                </a:cxn>
                <a:cxn ang="0">
                  <a:pos x="19" y="48"/>
                </a:cxn>
                <a:cxn ang="0">
                  <a:pos x="0" y="61"/>
                </a:cxn>
                <a:cxn ang="0">
                  <a:pos x="4" y="0"/>
                </a:cxn>
              </a:cxnLst>
              <a:rect l="0" t="0" r="r" b="b"/>
              <a:pathLst>
                <a:path w="27" h="67">
                  <a:moveTo>
                    <a:pt x="4" y="0"/>
                  </a:moveTo>
                  <a:cubicBezTo>
                    <a:pt x="10" y="0"/>
                    <a:pt x="10" y="0"/>
                    <a:pt x="10" y="0"/>
                  </a:cubicBezTo>
                  <a:cubicBezTo>
                    <a:pt x="18" y="2"/>
                    <a:pt x="27" y="10"/>
                    <a:pt x="24" y="22"/>
                  </a:cubicBezTo>
                  <a:cubicBezTo>
                    <a:pt x="23" y="33"/>
                    <a:pt x="22" y="34"/>
                    <a:pt x="19" y="48"/>
                  </a:cubicBezTo>
                  <a:cubicBezTo>
                    <a:pt x="16" y="67"/>
                    <a:pt x="0" y="61"/>
                    <a:pt x="0" y="61"/>
                  </a:cubicBezTo>
                  <a:lnTo>
                    <a:pt x="4" y="0"/>
                  </a:lnTo>
                  <a:close/>
                </a:path>
              </a:pathLst>
            </a:custGeom>
            <a:solidFill>
              <a:srgbClr val="EACEBB"/>
            </a:solidFill>
            <a:ln w="9525">
              <a:noFill/>
              <a:round/>
            </a:ln>
          </p:spPr>
          <p:txBody>
            <a:bodyPr anchor="ctr"/>
            <a:lstStyle/>
            <a:p>
              <a:pPr algn="ctr"/>
            </a:p>
          </p:txBody>
        </p:sp>
        <p:sp>
          <p:nvSpPr>
            <p:cNvPr id="32" name="ïṩḷîḓè"/>
            <p:cNvSpPr/>
            <p:nvPr/>
          </p:nvSpPr>
          <p:spPr bwMode="auto">
            <a:xfrm>
              <a:off x="4067272" y="3356935"/>
              <a:ext cx="178010" cy="457979"/>
            </a:xfrm>
            <a:custGeom>
              <a:avLst/>
              <a:gdLst/>
              <a:ahLst/>
              <a:cxnLst>
                <a:cxn ang="0">
                  <a:pos x="22" y="0"/>
                </a:cxn>
                <a:cxn ang="0">
                  <a:pos x="17" y="0"/>
                </a:cxn>
                <a:cxn ang="0">
                  <a:pos x="2" y="22"/>
                </a:cxn>
                <a:cxn ang="0">
                  <a:pos x="7" y="48"/>
                </a:cxn>
                <a:cxn ang="0">
                  <a:pos x="26" y="61"/>
                </a:cxn>
                <a:cxn ang="0">
                  <a:pos x="22" y="0"/>
                </a:cxn>
              </a:cxnLst>
              <a:rect l="0" t="0" r="r" b="b"/>
              <a:pathLst>
                <a:path w="26" h="67">
                  <a:moveTo>
                    <a:pt x="22" y="0"/>
                  </a:moveTo>
                  <a:cubicBezTo>
                    <a:pt x="17" y="0"/>
                    <a:pt x="17" y="0"/>
                    <a:pt x="17" y="0"/>
                  </a:cubicBezTo>
                  <a:cubicBezTo>
                    <a:pt x="9" y="2"/>
                    <a:pt x="0" y="10"/>
                    <a:pt x="2" y="22"/>
                  </a:cubicBezTo>
                  <a:cubicBezTo>
                    <a:pt x="4" y="33"/>
                    <a:pt x="5" y="34"/>
                    <a:pt x="7" y="48"/>
                  </a:cubicBezTo>
                  <a:cubicBezTo>
                    <a:pt x="10" y="67"/>
                    <a:pt x="26" y="61"/>
                    <a:pt x="26" y="61"/>
                  </a:cubicBezTo>
                  <a:lnTo>
                    <a:pt x="22" y="0"/>
                  </a:lnTo>
                  <a:close/>
                </a:path>
              </a:pathLst>
            </a:custGeom>
            <a:solidFill>
              <a:srgbClr val="EACEBB"/>
            </a:solidFill>
            <a:ln w="9525">
              <a:noFill/>
              <a:round/>
            </a:ln>
          </p:spPr>
          <p:txBody>
            <a:bodyPr anchor="ctr"/>
            <a:lstStyle/>
            <a:p>
              <a:pPr algn="ctr"/>
            </a:p>
          </p:txBody>
        </p:sp>
        <p:sp>
          <p:nvSpPr>
            <p:cNvPr id="33" name="î$ḷíḓè"/>
            <p:cNvSpPr/>
            <p:nvPr/>
          </p:nvSpPr>
          <p:spPr bwMode="auto">
            <a:xfrm>
              <a:off x="4197645" y="2904806"/>
              <a:ext cx="998694" cy="1348029"/>
            </a:xfrm>
            <a:custGeom>
              <a:avLst/>
              <a:gdLst/>
              <a:ahLst/>
              <a:cxnLst>
                <a:cxn ang="0">
                  <a:pos x="73" y="0"/>
                </a:cxn>
                <a:cxn ang="0">
                  <a:pos x="73" y="0"/>
                </a:cxn>
                <a:cxn ang="0">
                  <a:pos x="0" y="0"/>
                </a:cxn>
                <a:cxn ang="0">
                  <a:pos x="0" y="138"/>
                </a:cxn>
                <a:cxn ang="0">
                  <a:pos x="10" y="163"/>
                </a:cxn>
                <a:cxn ang="0">
                  <a:pos x="32" y="187"/>
                </a:cxn>
                <a:cxn ang="0">
                  <a:pos x="57" y="197"/>
                </a:cxn>
                <a:cxn ang="0">
                  <a:pos x="73" y="197"/>
                </a:cxn>
                <a:cxn ang="0">
                  <a:pos x="73" y="197"/>
                </a:cxn>
                <a:cxn ang="0">
                  <a:pos x="89" y="197"/>
                </a:cxn>
                <a:cxn ang="0">
                  <a:pos x="113" y="187"/>
                </a:cxn>
                <a:cxn ang="0">
                  <a:pos x="136" y="163"/>
                </a:cxn>
                <a:cxn ang="0">
                  <a:pos x="146" y="138"/>
                </a:cxn>
                <a:cxn ang="0">
                  <a:pos x="146" y="0"/>
                </a:cxn>
                <a:cxn ang="0">
                  <a:pos x="73" y="0"/>
                </a:cxn>
              </a:cxnLst>
              <a:rect l="0" t="0" r="r" b="b"/>
              <a:pathLst>
                <a:path w="146" h="197">
                  <a:moveTo>
                    <a:pt x="73" y="0"/>
                  </a:moveTo>
                  <a:cubicBezTo>
                    <a:pt x="73" y="0"/>
                    <a:pt x="73" y="0"/>
                    <a:pt x="73" y="0"/>
                  </a:cubicBezTo>
                  <a:cubicBezTo>
                    <a:pt x="0" y="0"/>
                    <a:pt x="0" y="0"/>
                    <a:pt x="0" y="0"/>
                  </a:cubicBezTo>
                  <a:cubicBezTo>
                    <a:pt x="0" y="138"/>
                    <a:pt x="0" y="138"/>
                    <a:pt x="0" y="138"/>
                  </a:cubicBezTo>
                  <a:cubicBezTo>
                    <a:pt x="0" y="148"/>
                    <a:pt x="4" y="157"/>
                    <a:pt x="10" y="163"/>
                  </a:cubicBezTo>
                  <a:cubicBezTo>
                    <a:pt x="32" y="187"/>
                    <a:pt x="32" y="187"/>
                    <a:pt x="32" y="187"/>
                  </a:cubicBezTo>
                  <a:cubicBezTo>
                    <a:pt x="39" y="193"/>
                    <a:pt x="48" y="197"/>
                    <a:pt x="57" y="197"/>
                  </a:cubicBezTo>
                  <a:cubicBezTo>
                    <a:pt x="73" y="197"/>
                    <a:pt x="73" y="197"/>
                    <a:pt x="73" y="197"/>
                  </a:cubicBezTo>
                  <a:cubicBezTo>
                    <a:pt x="73" y="197"/>
                    <a:pt x="73" y="197"/>
                    <a:pt x="73" y="197"/>
                  </a:cubicBezTo>
                  <a:cubicBezTo>
                    <a:pt x="89" y="197"/>
                    <a:pt x="89" y="197"/>
                    <a:pt x="89" y="197"/>
                  </a:cubicBezTo>
                  <a:cubicBezTo>
                    <a:pt x="98" y="197"/>
                    <a:pt x="107" y="193"/>
                    <a:pt x="113" y="187"/>
                  </a:cubicBezTo>
                  <a:cubicBezTo>
                    <a:pt x="136" y="163"/>
                    <a:pt x="136" y="163"/>
                    <a:pt x="136" y="163"/>
                  </a:cubicBezTo>
                  <a:cubicBezTo>
                    <a:pt x="142" y="157"/>
                    <a:pt x="146" y="148"/>
                    <a:pt x="146" y="138"/>
                  </a:cubicBezTo>
                  <a:cubicBezTo>
                    <a:pt x="146" y="0"/>
                    <a:pt x="146" y="0"/>
                    <a:pt x="146" y="0"/>
                  </a:cubicBezTo>
                  <a:lnTo>
                    <a:pt x="73" y="0"/>
                  </a:lnTo>
                  <a:close/>
                </a:path>
              </a:pathLst>
            </a:custGeom>
            <a:solidFill>
              <a:srgbClr val="FFE1CC"/>
            </a:solidFill>
            <a:ln w="9525">
              <a:noFill/>
              <a:round/>
            </a:ln>
          </p:spPr>
          <p:txBody>
            <a:bodyPr anchor="ctr"/>
            <a:lstStyle/>
            <a:p>
              <a:pPr algn="ctr"/>
            </a:p>
          </p:txBody>
        </p:sp>
        <p:sp>
          <p:nvSpPr>
            <p:cNvPr id="34" name="ïṩļíde"/>
            <p:cNvSpPr/>
            <p:nvPr/>
          </p:nvSpPr>
          <p:spPr bwMode="auto">
            <a:xfrm>
              <a:off x="3998742" y="2508671"/>
              <a:ext cx="1348028" cy="992009"/>
            </a:xfrm>
            <a:custGeom>
              <a:avLst/>
              <a:gdLst/>
              <a:ahLst/>
              <a:cxnLst>
                <a:cxn ang="0">
                  <a:pos x="29" y="142"/>
                </a:cxn>
                <a:cxn ang="0">
                  <a:pos x="29" y="94"/>
                </a:cxn>
                <a:cxn ang="0">
                  <a:pos x="59" y="60"/>
                </a:cxn>
                <a:cxn ang="0">
                  <a:pos x="94" y="60"/>
                </a:cxn>
                <a:cxn ang="0">
                  <a:pos x="104" y="81"/>
                </a:cxn>
                <a:cxn ang="0">
                  <a:pos x="159" y="60"/>
                </a:cxn>
                <a:cxn ang="0">
                  <a:pos x="175" y="74"/>
                </a:cxn>
                <a:cxn ang="0">
                  <a:pos x="175" y="142"/>
                </a:cxn>
                <a:cxn ang="0">
                  <a:pos x="190" y="121"/>
                </a:cxn>
                <a:cxn ang="0">
                  <a:pos x="196" y="26"/>
                </a:cxn>
                <a:cxn ang="0">
                  <a:pos x="175" y="1"/>
                </a:cxn>
                <a:cxn ang="0">
                  <a:pos x="134" y="1"/>
                </a:cxn>
                <a:cxn ang="0">
                  <a:pos x="79" y="1"/>
                </a:cxn>
                <a:cxn ang="0">
                  <a:pos x="8" y="71"/>
                </a:cxn>
                <a:cxn ang="0">
                  <a:pos x="17" y="125"/>
                </a:cxn>
                <a:cxn ang="0">
                  <a:pos x="29" y="142"/>
                </a:cxn>
              </a:cxnLst>
              <a:rect l="0" t="0" r="r" b="b"/>
              <a:pathLst>
                <a:path w="197" h="145">
                  <a:moveTo>
                    <a:pt x="29" y="142"/>
                  </a:moveTo>
                  <a:cubicBezTo>
                    <a:pt x="29" y="94"/>
                    <a:pt x="29" y="94"/>
                    <a:pt x="29" y="94"/>
                  </a:cubicBezTo>
                  <a:cubicBezTo>
                    <a:pt x="29" y="77"/>
                    <a:pt x="40" y="60"/>
                    <a:pt x="59" y="60"/>
                  </a:cubicBezTo>
                  <a:cubicBezTo>
                    <a:pt x="94" y="60"/>
                    <a:pt x="94" y="60"/>
                    <a:pt x="94" y="60"/>
                  </a:cubicBezTo>
                  <a:cubicBezTo>
                    <a:pt x="103" y="64"/>
                    <a:pt x="94" y="84"/>
                    <a:pt x="104" y="81"/>
                  </a:cubicBezTo>
                  <a:cubicBezTo>
                    <a:pt x="159" y="60"/>
                    <a:pt x="159" y="60"/>
                    <a:pt x="159" y="60"/>
                  </a:cubicBezTo>
                  <a:cubicBezTo>
                    <a:pt x="169" y="57"/>
                    <a:pt x="175" y="66"/>
                    <a:pt x="175" y="74"/>
                  </a:cubicBezTo>
                  <a:cubicBezTo>
                    <a:pt x="175" y="142"/>
                    <a:pt x="175" y="142"/>
                    <a:pt x="175" y="142"/>
                  </a:cubicBezTo>
                  <a:cubicBezTo>
                    <a:pt x="175" y="144"/>
                    <a:pt x="186" y="137"/>
                    <a:pt x="190" y="121"/>
                  </a:cubicBezTo>
                  <a:cubicBezTo>
                    <a:pt x="196" y="26"/>
                    <a:pt x="196" y="26"/>
                    <a:pt x="196" y="26"/>
                  </a:cubicBezTo>
                  <a:cubicBezTo>
                    <a:pt x="197" y="14"/>
                    <a:pt x="193" y="1"/>
                    <a:pt x="175" y="1"/>
                  </a:cubicBezTo>
                  <a:cubicBezTo>
                    <a:pt x="134" y="1"/>
                    <a:pt x="134" y="1"/>
                    <a:pt x="134" y="1"/>
                  </a:cubicBezTo>
                  <a:cubicBezTo>
                    <a:pt x="79" y="1"/>
                    <a:pt x="79" y="1"/>
                    <a:pt x="79" y="1"/>
                  </a:cubicBezTo>
                  <a:cubicBezTo>
                    <a:pt x="34" y="0"/>
                    <a:pt x="0" y="22"/>
                    <a:pt x="8" y="71"/>
                  </a:cubicBezTo>
                  <a:cubicBezTo>
                    <a:pt x="17" y="125"/>
                    <a:pt x="17" y="125"/>
                    <a:pt x="17" y="125"/>
                  </a:cubicBezTo>
                  <a:cubicBezTo>
                    <a:pt x="18" y="137"/>
                    <a:pt x="29" y="145"/>
                    <a:pt x="29" y="142"/>
                  </a:cubicBezTo>
                  <a:close/>
                </a:path>
              </a:pathLst>
            </a:custGeom>
            <a:solidFill>
              <a:srgbClr val="253F59"/>
            </a:solidFill>
            <a:ln w="9525">
              <a:noFill/>
              <a:round/>
            </a:ln>
          </p:spPr>
          <p:txBody>
            <a:bodyPr anchor="ctr"/>
            <a:lstStyle/>
            <a:p>
              <a:pPr algn="ctr"/>
            </a:p>
          </p:txBody>
        </p:sp>
        <p:sp>
          <p:nvSpPr>
            <p:cNvPr id="35" name="išḷïḑe"/>
            <p:cNvSpPr/>
            <p:nvPr/>
          </p:nvSpPr>
          <p:spPr bwMode="auto">
            <a:xfrm>
              <a:off x="4567037" y="4684070"/>
              <a:ext cx="253225" cy="1464195"/>
            </a:xfrm>
            <a:custGeom>
              <a:avLst/>
              <a:gdLst/>
              <a:ahLst/>
              <a:cxnLst>
                <a:cxn ang="0">
                  <a:pos x="11" y="60"/>
                </a:cxn>
                <a:cxn ang="0">
                  <a:pos x="3" y="214"/>
                </a:cxn>
                <a:cxn ang="0">
                  <a:pos x="35" y="214"/>
                </a:cxn>
                <a:cxn ang="0">
                  <a:pos x="27" y="60"/>
                </a:cxn>
                <a:cxn ang="0">
                  <a:pos x="28" y="51"/>
                </a:cxn>
                <a:cxn ang="0">
                  <a:pos x="37" y="33"/>
                </a:cxn>
                <a:cxn ang="0">
                  <a:pos x="19" y="1"/>
                </a:cxn>
                <a:cxn ang="0">
                  <a:pos x="19" y="0"/>
                </a:cxn>
                <a:cxn ang="0">
                  <a:pos x="19" y="0"/>
                </a:cxn>
                <a:cxn ang="0">
                  <a:pos x="18" y="0"/>
                </a:cxn>
                <a:cxn ang="0">
                  <a:pos x="18" y="1"/>
                </a:cxn>
                <a:cxn ang="0">
                  <a:pos x="0" y="33"/>
                </a:cxn>
                <a:cxn ang="0">
                  <a:pos x="9" y="51"/>
                </a:cxn>
                <a:cxn ang="0">
                  <a:pos x="11" y="60"/>
                </a:cxn>
              </a:cxnLst>
              <a:rect l="0" t="0" r="r" b="b"/>
              <a:pathLst>
                <a:path w="37" h="214">
                  <a:moveTo>
                    <a:pt x="11" y="60"/>
                  </a:moveTo>
                  <a:cubicBezTo>
                    <a:pt x="3" y="214"/>
                    <a:pt x="3" y="214"/>
                    <a:pt x="3" y="214"/>
                  </a:cubicBezTo>
                  <a:cubicBezTo>
                    <a:pt x="35" y="214"/>
                    <a:pt x="35" y="214"/>
                    <a:pt x="35" y="214"/>
                  </a:cubicBezTo>
                  <a:cubicBezTo>
                    <a:pt x="27" y="60"/>
                    <a:pt x="27" y="60"/>
                    <a:pt x="27" y="60"/>
                  </a:cubicBezTo>
                  <a:cubicBezTo>
                    <a:pt x="27" y="57"/>
                    <a:pt x="27" y="53"/>
                    <a:pt x="28" y="51"/>
                  </a:cubicBezTo>
                  <a:cubicBezTo>
                    <a:pt x="37" y="33"/>
                    <a:pt x="37" y="33"/>
                    <a:pt x="37" y="33"/>
                  </a:cubicBezTo>
                  <a:cubicBezTo>
                    <a:pt x="19" y="1"/>
                    <a:pt x="19" y="1"/>
                    <a:pt x="19" y="1"/>
                  </a:cubicBezTo>
                  <a:cubicBezTo>
                    <a:pt x="19" y="0"/>
                    <a:pt x="19" y="0"/>
                    <a:pt x="19" y="0"/>
                  </a:cubicBezTo>
                  <a:cubicBezTo>
                    <a:pt x="19" y="0"/>
                    <a:pt x="19" y="0"/>
                    <a:pt x="19" y="0"/>
                  </a:cubicBezTo>
                  <a:cubicBezTo>
                    <a:pt x="18" y="0"/>
                    <a:pt x="18" y="0"/>
                    <a:pt x="18" y="0"/>
                  </a:cubicBezTo>
                  <a:cubicBezTo>
                    <a:pt x="18" y="1"/>
                    <a:pt x="18" y="1"/>
                    <a:pt x="18" y="1"/>
                  </a:cubicBezTo>
                  <a:cubicBezTo>
                    <a:pt x="0" y="33"/>
                    <a:pt x="0" y="33"/>
                    <a:pt x="0" y="33"/>
                  </a:cubicBezTo>
                  <a:cubicBezTo>
                    <a:pt x="9" y="51"/>
                    <a:pt x="9" y="51"/>
                    <a:pt x="9" y="51"/>
                  </a:cubicBezTo>
                  <a:cubicBezTo>
                    <a:pt x="11" y="54"/>
                    <a:pt x="11" y="57"/>
                    <a:pt x="11" y="60"/>
                  </a:cubicBezTo>
                  <a:close/>
                </a:path>
              </a:pathLst>
            </a:custGeom>
            <a:solidFill>
              <a:srgbClr val="D8562E"/>
            </a:solidFill>
            <a:ln w="9525">
              <a:noFill/>
              <a:round/>
            </a:ln>
          </p:spPr>
          <p:txBody>
            <a:bodyPr anchor="ctr"/>
            <a:lstStyle/>
            <a:p>
              <a:pPr algn="ctr"/>
            </a:p>
          </p:txBody>
        </p:sp>
        <p:sp>
          <p:nvSpPr>
            <p:cNvPr id="36" name="iSļíďê"/>
            <p:cNvSpPr/>
            <p:nvPr/>
          </p:nvSpPr>
          <p:spPr bwMode="auto">
            <a:xfrm>
              <a:off x="4751733" y="4492689"/>
              <a:ext cx="1477566" cy="1655577"/>
            </a:xfrm>
            <a:custGeom>
              <a:avLst/>
              <a:gdLst/>
              <a:ahLst/>
              <a:cxnLst>
                <a:cxn ang="0">
                  <a:pos x="133" y="242"/>
                </a:cxn>
                <a:cxn ang="0">
                  <a:pos x="133" y="177"/>
                </a:cxn>
                <a:cxn ang="0">
                  <a:pos x="137" y="178"/>
                </a:cxn>
                <a:cxn ang="0">
                  <a:pos x="141" y="242"/>
                </a:cxn>
                <a:cxn ang="0">
                  <a:pos x="216" y="242"/>
                </a:cxn>
                <a:cxn ang="0">
                  <a:pos x="212" y="69"/>
                </a:cxn>
                <a:cxn ang="0">
                  <a:pos x="159" y="9"/>
                </a:cxn>
                <a:cxn ang="0">
                  <a:pos x="77" y="0"/>
                </a:cxn>
                <a:cxn ang="0">
                  <a:pos x="0" y="221"/>
                </a:cxn>
                <a:cxn ang="0">
                  <a:pos x="0" y="242"/>
                </a:cxn>
                <a:cxn ang="0">
                  <a:pos x="133" y="242"/>
                </a:cxn>
              </a:cxnLst>
              <a:rect l="0" t="0" r="r" b="b"/>
              <a:pathLst>
                <a:path w="216" h="242">
                  <a:moveTo>
                    <a:pt x="133" y="242"/>
                  </a:moveTo>
                  <a:cubicBezTo>
                    <a:pt x="133" y="177"/>
                    <a:pt x="133" y="177"/>
                    <a:pt x="133" y="177"/>
                  </a:cubicBezTo>
                  <a:cubicBezTo>
                    <a:pt x="133" y="175"/>
                    <a:pt x="136" y="176"/>
                    <a:pt x="137" y="178"/>
                  </a:cubicBezTo>
                  <a:cubicBezTo>
                    <a:pt x="141" y="242"/>
                    <a:pt x="141" y="242"/>
                    <a:pt x="141" y="242"/>
                  </a:cubicBezTo>
                  <a:cubicBezTo>
                    <a:pt x="216" y="242"/>
                    <a:pt x="216" y="242"/>
                    <a:pt x="216" y="242"/>
                  </a:cubicBezTo>
                  <a:cubicBezTo>
                    <a:pt x="212" y="69"/>
                    <a:pt x="212" y="69"/>
                    <a:pt x="212" y="69"/>
                  </a:cubicBezTo>
                  <a:cubicBezTo>
                    <a:pt x="212" y="34"/>
                    <a:pt x="192" y="16"/>
                    <a:pt x="159" y="9"/>
                  </a:cubicBezTo>
                  <a:cubicBezTo>
                    <a:pt x="77" y="0"/>
                    <a:pt x="77" y="0"/>
                    <a:pt x="77" y="0"/>
                  </a:cubicBezTo>
                  <a:cubicBezTo>
                    <a:pt x="0" y="221"/>
                    <a:pt x="0" y="221"/>
                    <a:pt x="0" y="221"/>
                  </a:cubicBezTo>
                  <a:cubicBezTo>
                    <a:pt x="0" y="242"/>
                    <a:pt x="0" y="242"/>
                    <a:pt x="0" y="242"/>
                  </a:cubicBezTo>
                  <a:lnTo>
                    <a:pt x="133" y="242"/>
                  </a:lnTo>
                  <a:close/>
                </a:path>
              </a:pathLst>
            </a:custGeom>
            <a:solidFill>
              <a:srgbClr val="0EB3BF"/>
            </a:solidFill>
            <a:ln w="9525">
              <a:noFill/>
              <a:round/>
            </a:ln>
          </p:spPr>
          <p:txBody>
            <a:bodyPr anchor="ctr"/>
            <a:lstStyle/>
            <a:p>
              <a:pPr algn="ctr"/>
            </a:p>
          </p:txBody>
        </p:sp>
        <p:sp>
          <p:nvSpPr>
            <p:cNvPr id="37" name="í$ḷíḍè"/>
            <p:cNvSpPr/>
            <p:nvPr/>
          </p:nvSpPr>
          <p:spPr bwMode="auto">
            <a:xfrm>
              <a:off x="4751733" y="4451738"/>
              <a:ext cx="608410" cy="1552782"/>
            </a:xfrm>
            <a:custGeom>
              <a:avLst/>
              <a:gdLst/>
              <a:ahLst/>
              <a:cxnLst>
                <a:cxn ang="0">
                  <a:pos x="61" y="0"/>
                </a:cxn>
                <a:cxn ang="0">
                  <a:pos x="84" y="4"/>
                </a:cxn>
                <a:cxn ang="0">
                  <a:pos x="87" y="5"/>
                </a:cxn>
                <a:cxn ang="0">
                  <a:pos x="87" y="8"/>
                </a:cxn>
                <a:cxn ang="0">
                  <a:pos x="89" y="57"/>
                </a:cxn>
                <a:cxn ang="0">
                  <a:pos x="80" y="67"/>
                </a:cxn>
                <a:cxn ang="0">
                  <a:pos x="55" y="67"/>
                </a:cxn>
                <a:cxn ang="0">
                  <a:pos x="78" y="97"/>
                </a:cxn>
                <a:cxn ang="0">
                  <a:pos x="77" y="115"/>
                </a:cxn>
                <a:cxn ang="0">
                  <a:pos x="0" y="227"/>
                </a:cxn>
                <a:cxn ang="0">
                  <a:pos x="61" y="0"/>
                </a:cxn>
              </a:cxnLst>
              <a:rect l="0" t="0" r="r" b="b"/>
              <a:pathLst>
                <a:path w="89" h="227">
                  <a:moveTo>
                    <a:pt x="61" y="0"/>
                  </a:moveTo>
                  <a:cubicBezTo>
                    <a:pt x="84" y="4"/>
                    <a:pt x="84" y="4"/>
                    <a:pt x="84" y="4"/>
                  </a:cubicBezTo>
                  <a:cubicBezTo>
                    <a:pt x="84" y="4"/>
                    <a:pt x="86" y="5"/>
                    <a:pt x="87" y="5"/>
                  </a:cubicBezTo>
                  <a:cubicBezTo>
                    <a:pt x="87" y="6"/>
                    <a:pt x="87" y="8"/>
                    <a:pt x="87" y="8"/>
                  </a:cubicBezTo>
                  <a:cubicBezTo>
                    <a:pt x="89" y="57"/>
                    <a:pt x="89" y="57"/>
                    <a:pt x="89" y="57"/>
                  </a:cubicBezTo>
                  <a:cubicBezTo>
                    <a:pt x="89" y="66"/>
                    <a:pt x="88" y="67"/>
                    <a:pt x="80" y="67"/>
                  </a:cubicBezTo>
                  <a:cubicBezTo>
                    <a:pt x="55" y="67"/>
                    <a:pt x="55" y="67"/>
                    <a:pt x="55" y="67"/>
                  </a:cubicBezTo>
                  <a:cubicBezTo>
                    <a:pt x="78" y="97"/>
                    <a:pt x="78" y="97"/>
                    <a:pt x="78" y="97"/>
                  </a:cubicBezTo>
                  <a:cubicBezTo>
                    <a:pt x="86" y="105"/>
                    <a:pt x="82" y="109"/>
                    <a:pt x="77" y="115"/>
                  </a:cubicBezTo>
                  <a:cubicBezTo>
                    <a:pt x="0" y="227"/>
                    <a:pt x="0" y="227"/>
                    <a:pt x="0" y="227"/>
                  </a:cubicBezTo>
                  <a:lnTo>
                    <a:pt x="61" y="0"/>
                  </a:lnTo>
                  <a:close/>
                </a:path>
              </a:pathLst>
            </a:custGeom>
            <a:solidFill>
              <a:srgbClr val="1ECFD3"/>
            </a:solidFill>
            <a:ln w="9525">
              <a:noFill/>
              <a:round/>
            </a:ln>
          </p:spPr>
          <p:txBody>
            <a:bodyPr anchor="ctr"/>
            <a:lstStyle/>
            <a:p>
              <a:pPr algn="ctr"/>
            </a:p>
          </p:txBody>
        </p:sp>
        <p:sp>
          <p:nvSpPr>
            <p:cNvPr id="38" name="ï$ḻiḓe"/>
            <p:cNvSpPr/>
            <p:nvPr/>
          </p:nvSpPr>
          <p:spPr bwMode="auto">
            <a:xfrm>
              <a:off x="3171372" y="4485167"/>
              <a:ext cx="1470881" cy="1669784"/>
            </a:xfrm>
            <a:custGeom>
              <a:avLst/>
              <a:gdLst/>
              <a:ahLst/>
              <a:cxnLst>
                <a:cxn ang="0">
                  <a:pos x="81" y="179"/>
                </a:cxn>
                <a:cxn ang="0">
                  <a:pos x="84" y="178"/>
                </a:cxn>
                <a:cxn ang="0">
                  <a:pos x="84" y="244"/>
                </a:cxn>
                <a:cxn ang="0">
                  <a:pos x="215" y="244"/>
                </a:cxn>
                <a:cxn ang="0">
                  <a:pos x="215" y="222"/>
                </a:cxn>
                <a:cxn ang="0">
                  <a:pos x="204" y="186"/>
                </a:cxn>
                <a:cxn ang="0">
                  <a:pos x="140" y="0"/>
                </a:cxn>
                <a:cxn ang="0">
                  <a:pos x="59" y="10"/>
                </a:cxn>
                <a:cxn ang="0">
                  <a:pos x="6" y="70"/>
                </a:cxn>
                <a:cxn ang="0">
                  <a:pos x="0" y="243"/>
                </a:cxn>
                <a:cxn ang="0">
                  <a:pos x="76" y="243"/>
                </a:cxn>
                <a:cxn ang="0">
                  <a:pos x="81" y="179"/>
                </a:cxn>
              </a:cxnLst>
              <a:rect l="0" t="0" r="r" b="b"/>
              <a:pathLst>
                <a:path w="215" h="244">
                  <a:moveTo>
                    <a:pt x="81" y="179"/>
                  </a:moveTo>
                  <a:cubicBezTo>
                    <a:pt x="81" y="177"/>
                    <a:pt x="84" y="176"/>
                    <a:pt x="84" y="178"/>
                  </a:cubicBezTo>
                  <a:cubicBezTo>
                    <a:pt x="84" y="244"/>
                    <a:pt x="84" y="244"/>
                    <a:pt x="84" y="244"/>
                  </a:cubicBezTo>
                  <a:cubicBezTo>
                    <a:pt x="215" y="244"/>
                    <a:pt x="215" y="244"/>
                    <a:pt x="215" y="244"/>
                  </a:cubicBezTo>
                  <a:cubicBezTo>
                    <a:pt x="215" y="222"/>
                    <a:pt x="215" y="222"/>
                    <a:pt x="215" y="222"/>
                  </a:cubicBezTo>
                  <a:cubicBezTo>
                    <a:pt x="215" y="222"/>
                    <a:pt x="207" y="196"/>
                    <a:pt x="204" y="186"/>
                  </a:cubicBezTo>
                  <a:cubicBezTo>
                    <a:pt x="140" y="0"/>
                    <a:pt x="140" y="0"/>
                    <a:pt x="140" y="0"/>
                  </a:cubicBezTo>
                  <a:cubicBezTo>
                    <a:pt x="59" y="10"/>
                    <a:pt x="59" y="10"/>
                    <a:pt x="59" y="10"/>
                  </a:cubicBezTo>
                  <a:cubicBezTo>
                    <a:pt x="26" y="17"/>
                    <a:pt x="6" y="35"/>
                    <a:pt x="6" y="70"/>
                  </a:cubicBezTo>
                  <a:cubicBezTo>
                    <a:pt x="0" y="243"/>
                    <a:pt x="0" y="243"/>
                    <a:pt x="0" y="243"/>
                  </a:cubicBezTo>
                  <a:cubicBezTo>
                    <a:pt x="76" y="243"/>
                    <a:pt x="76" y="243"/>
                    <a:pt x="76" y="243"/>
                  </a:cubicBezTo>
                  <a:lnTo>
                    <a:pt x="81" y="179"/>
                  </a:lnTo>
                  <a:close/>
                </a:path>
              </a:pathLst>
            </a:custGeom>
            <a:solidFill>
              <a:srgbClr val="0EB3BF"/>
            </a:solidFill>
            <a:ln w="9525">
              <a:noFill/>
              <a:round/>
            </a:ln>
          </p:spPr>
          <p:txBody>
            <a:bodyPr anchor="ctr"/>
            <a:lstStyle/>
            <a:p>
              <a:pPr algn="ctr"/>
            </a:p>
          </p:txBody>
        </p:sp>
        <p:sp>
          <p:nvSpPr>
            <p:cNvPr id="39" name="ïşļîḓè"/>
            <p:cNvSpPr/>
            <p:nvPr/>
          </p:nvSpPr>
          <p:spPr bwMode="auto">
            <a:xfrm>
              <a:off x="4026321" y="4458424"/>
              <a:ext cx="615931" cy="1546096"/>
            </a:xfrm>
            <a:custGeom>
              <a:avLst/>
              <a:gdLst/>
              <a:ahLst/>
              <a:cxnLst>
                <a:cxn ang="0">
                  <a:pos x="28" y="0"/>
                </a:cxn>
                <a:cxn ang="0">
                  <a:pos x="5" y="3"/>
                </a:cxn>
                <a:cxn ang="0">
                  <a:pos x="2" y="5"/>
                </a:cxn>
                <a:cxn ang="0">
                  <a:pos x="1" y="8"/>
                </a:cxn>
                <a:cxn ang="0">
                  <a:pos x="0" y="56"/>
                </a:cxn>
                <a:cxn ang="0">
                  <a:pos x="8" y="66"/>
                </a:cxn>
                <a:cxn ang="0">
                  <a:pos x="34" y="66"/>
                </a:cxn>
                <a:cxn ang="0">
                  <a:pos x="10" y="96"/>
                </a:cxn>
                <a:cxn ang="0">
                  <a:pos x="11" y="114"/>
                </a:cxn>
                <a:cxn ang="0">
                  <a:pos x="90" y="226"/>
                </a:cxn>
                <a:cxn ang="0">
                  <a:pos x="28" y="0"/>
                </a:cxn>
              </a:cxnLst>
              <a:rect l="0" t="0" r="r" b="b"/>
              <a:pathLst>
                <a:path w="90" h="226">
                  <a:moveTo>
                    <a:pt x="28" y="0"/>
                  </a:moveTo>
                  <a:cubicBezTo>
                    <a:pt x="5" y="3"/>
                    <a:pt x="5" y="3"/>
                    <a:pt x="5" y="3"/>
                  </a:cubicBezTo>
                  <a:cubicBezTo>
                    <a:pt x="5" y="3"/>
                    <a:pt x="3" y="4"/>
                    <a:pt x="2" y="5"/>
                  </a:cubicBezTo>
                  <a:cubicBezTo>
                    <a:pt x="2" y="6"/>
                    <a:pt x="1" y="8"/>
                    <a:pt x="1" y="8"/>
                  </a:cubicBezTo>
                  <a:cubicBezTo>
                    <a:pt x="0" y="56"/>
                    <a:pt x="0" y="56"/>
                    <a:pt x="0" y="56"/>
                  </a:cubicBezTo>
                  <a:cubicBezTo>
                    <a:pt x="0" y="65"/>
                    <a:pt x="1" y="66"/>
                    <a:pt x="8" y="66"/>
                  </a:cubicBezTo>
                  <a:cubicBezTo>
                    <a:pt x="34" y="66"/>
                    <a:pt x="34" y="66"/>
                    <a:pt x="34" y="66"/>
                  </a:cubicBezTo>
                  <a:cubicBezTo>
                    <a:pt x="10" y="96"/>
                    <a:pt x="10" y="96"/>
                    <a:pt x="10" y="96"/>
                  </a:cubicBezTo>
                  <a:cubicBezTo>
                    <a:pt x="3" y="104"/>
                    <a:pt x="7" y="108"/>
                    <a:pt x="11" y="114"/>
                  </a:cubicBezTo>
                  <a:cubicBezTo>
                    <a:pt x="90" y="226"/>
                    <a:pt x="90" y="226"/>
                    <a:pt x="90" y="226"/>
                  </a:cubicBezTo>
                  <a:lnTo>
                    <a:pt x="28" y="0"/>
                  </a:lnTo>
                  <a:close/>
                </a:path>
              </a:pathLst>
            </a:custGeom>
            <a:solidFill>
              <a:srgbClr val="1ECFD3"/>
            </a:solidFill>
            <a:ln w="9525">
              <a:noFill/>
              <a:round/>
            </a:ln>
          </p:spPr>
          <p:txBody>
            <a:bodyPr anchor="ctr"/>
            <a:lstStyle/>
            <a:p>
              <a:pPr algn="ctr"/>
            </a:p>
          </p:txBody>
        </p:sp>
        <p:sp>
          <p:nvSpPr>
            <p:cNvPr id="40" name="ïṧḻíḍê"/>
            <p:cNvSpPr/>
            <p:nvPr/>
          </p:nvSpPr>
          <p:spPr bwMode="auto">
            <a:xfrm>
              <a:off x="5538152" y="1174015"/>
              <a:ext cx="1730792" cy="1566989"/>
            </a:xfrm>
            <a:custGeom>
              <a:avLst/>
              <a:gdLst/>
              <a:ahLst/>
              <a:cxnLst>
                <a:cxn ang="0">
                  <a:pos x="253" y="96"/>
                </a:cxn>
                <a:cxn ang="0">
                  <a:pos x="105" y="190"/>
                </a:cxn>
                <a:cxn ang="0">
                  <a:pos x="36" y="221"/>
                </a:cxn>
                <a:cxn ang="0">
                  <a:pos x="40" y="166"/>
                </a:cxn>
                <a:cxn ang="0">
                  <a:pos x="0" y="96"/>
                </a:cxn>
                <a:cxn ang="0">
                  <a:pos x="127" y="0"/>
                </a:cxn>
                <a:cxn ang="0">
                  <a:pos x="253" y="96"/>
                </a:cxn>
              </a:cxnLst>
              <a:rect l="0" t="0" r="r" b="b"/>
              <a:pathLst>
                <a:path w="253" h="229">
                  <a:moveTo>
                    <a:pt x="253" y="96"/>
                  </a:moveTo>
                  <a:cubicBezTo>
                    <a:pt x="253" y="150"/>
                    <a:pt x="207" y="194"/>
                    <a:pt x="105" y="190"/>
                  </a:cubicBezTo>
                  <a:cubicBezTo>
                    <a:pt x="83" y="189"/>
                    <a:pt x="54" y="229"/>
                    <a:pt x="36" y="221"/>
                  </a:cubicBezTo>
                  <a:cubicBezTo>
                    <a:pt x="27" y="217"/>
                    <a:pt x="47" y="172"/>
                    <a:pt x="40" y="166"/>
                  </a:cubicBezTo>
                  <a:cubicBezTo>
                    <a:pt x="15" y="149"/>
                    <a:pt x="0" y="124"/>
                    <a:pt x="0" y="96"/>
                  </a:cubicBezTo>
                  <a:cubicBezTo>
                    <a:pt x="0" y="43"/>
                    <a:pt x="57" y="0"/>
                    <a:pt x="127" y="0"/>
                  </a:cubicBezTo>
                  <a:cubicBezTo>
                    <a:pt x="196" y="0"/>
                    <a:pt x="253" y="43"/>
                    <a:pt x="253" y="96"/>
                  </a:cubicBezTo>
                  <a:close/>
                </a:path>
              </a:pathLst>
            </a:custGeom>
            <a:solidFill>
              <a:srgbClr val="F5F5F5"/>
            </a:solidFill>
            <a:ln w="9525">
              <a:noFill/>
              <a:round/>
            </a:ln>
          </p:spPr>
          <p:txBody>
            <a:bodyPr anchor="ctr"/>
            <a:lstStyle/>
            <a:p>
              <a:pPr algn="ctr"/>
            </a:p>
          </p:txBody>
        </p:sp>
        <p:sp>
          <p:nvSpPr>
            <p:cNvPr id="41" name="ïşḷîḑé"/>
            <p:cNvSpPr/>
            <p:nvPr/>
          </p:nvSpPr>
          <p:spPr bwMode="auto">
            <a:xfrm>
              <a:off x="5462937" y="1119692"/>
              <a:ext cx="2230557" cy="1977331"/>
            </a:xfrm>
            <a:custGeom>
              <a:avLst/>
              <a:gdLst/>
              <a:ahLst/>
              <a:cxnLst>
                <a:cxn ang="0">
                  <a:pos x="326" y="176"/>
                </a:cxn>
                <a:cxn ang="0">
                  <a:pos x="277" y="105"/>
                </a:cxn>
                <a:cxn ang="0">
                  <a:pos x="277" y="105"/>
                </a:cxn>
                <a:cxn ang="0">
                  <a:pos x="139" y="0"/>
                </a:cxn>
                <a:cxn ang="0">
                  <a:pos x="0" y="105"/>
                </a:cxn>
                <a:cxn ang="0">
                  <a:pos x="38" y="178"/>
                </a:cxn>
                <a:cxn ang="0">
                  <a:pos x="31" y="235"/>
                </a:cxn>
                <a:cxn ang="0">
                  <a:pos x="36" y="245"/>
                </a:cxn>
                <a:cxn ang="0">
                  <a:pos x="41" y="246"/>
                </a:cxn>
                <a:cxn ang="0">
                  <a:pos x="46" y="245"/>
                </a:cxn>
                <a:cxn ang="0">
                  <a:pos x="106" y="208"/>
                </a:cxn>
                <a:cxn ang="0">
                  <a:pos x="113" y="208"/>
                </a:cxn>
                <a:cxn ang="0">
                  <a:pos x="239" y="258"/>
                </a:cxn>
                <a:cxn ang="0">
                  <a:pos x="286" y="287"/>
                </a:cxn>
                <a:cxn ang="0">
                  <a:pos x="291" y="289"/>
                </a:cxn>
                <a:cxn ang="0">
                  <a:pos x="297" y="287"/>
                </a:cxn>
                <a:cxn ang="0">
                  <a:pos x="301" y="278"/>
                </a:cxn>
                <a:cxn ang="0">
                  <a:pos x="296" y="233"/>
                </a:cxn>
                <a:cxn ang="0">
                  <a:pos x="326" y="176"/>
                </a:cxn>
                <a:cxn ang="0">
                  <a:pos x="107" y="188"/>
                </a:cxn>
                <a:cxn ang="0">
                  <a:pos x="100" y="189"/>
                </a:cxn>
                <a:cxn ang="0">
                  <a:pos x="53" y="218"/>
                </a:cxn>
                <a:cxn ang="0">
                  <a:pos x="58" y="174"/>
                </a:cxn>
                <a:cxn ang="0">
                  <a:pos x="54" y="165"/>
                </a:cxn>
                <a:cxn ang="0">
                  <a:pos x="20" y="105"/>
                </a:cxn>
                <a:cxn ang="0">
                  <a:pos x="139" y="19"/>
                </a:cxn>
                <a:cxn ang="0">
                  <a:pos x="257" y="105"/>
                </a:cxn>
                <a:cxn ang="0">
                  <a:pos x="139" y="191"/>
                </a:cxn>
                <a:cxn ang="0">
                  <a:pos x="107" y="188"/>
                </a:cxn>
                <a:cxn ang="0">
                  <a:pos x="280" y="221"/>
                </a:cxn>
                <a:cxn ang="0">
                  <a:pos x="276" y="230"/>
                </a:cxn>
                <a:cxn ang="0">
                  <a:pos x="280" y="260"/>
                </a:cxn>
                <a:cxn ang="0">
                  <a:pos x="246" y="240"/>
                </a:cxn>
                <a:cxn ang="0">
                  <a:pos x="241" y="238"/>
                </a:cxn>
                <a:cxn ang="0">
                  <a:pos x="239" y="238"/>
                </a:cxn>
                <a:cxn ang="0">
                  <a:pos x="138" y="211"/>
                </a:cxn>
                <a:cxn ang="0">
                  <a:pos x="139" y="211"/>
                </a:cxn>
                <a:cxn ang="0">
                  <a:pos x="274" y="126"/>
                </a:cxn>
                <a:cxn ang="0">
                  <a:pos x="306" y="176"/>
                </a:cxn>
                <a:cxn ang="0">
                  <a:pos x="280" y="221"/>
                </a:cxn>
              </a:cxnLst>
              <a:rect l="0" t="0" r="r" b="b"/>
              <a:pathLst>
                <a:path w="326" h="289">
                  <a:moveTo>
                    <a:pt x="326" y="176"/>
                  </a:moveTo>
                  <a:cubicBezTo>
                    <a:pt x="326" y="147"/>
                    <a:pt x="308" y="121"/>
                    <a:pt x="277" y="105"/>
                  </a:cubicBezTo>
                  <a:cubicBezTo>
                    <a:pt x="277" y="105"/>
                    <a:pt x="277" y="105"/>
                    <a:pt x="277" y="105"/>
                  </a:cubicBezTo>
                  <a:cubicBezTo>
                    <a:pt x="277" y="47"/>
                    <a:pt x="215" y="0"/>
                    <a:pt x="139" y="0"/>
                  </a:cubicBezTo>
                  <a:cubicBezTo>
                    <a:pt x="62" y="0"/>
                    <a:pt x="0" y="47"/>
                    <a:pt x="0" y="105"/>
                  </a:cubicBezTo>
                  <a:cubicBezTo>
                    <a:pt x="0" y="133"/>
                    <a:pt x="13" y="158"/>
                    <a:pt x="38" y="178"/>
                  </a:cubicBezTo>
                  <a:cubicBezTo>
                    <a:pt x="31" y="235"/>
                    <a:pt x="31" y="235"/>
                    <a:pt x="31" y="235"/>
                  </a:cubicBezTo>
                  <a:cubicBezTo>
                    <a:pt x="31" y="239"/>
                    <a:pt x="33" y="243"/>
                    <a:pt x="36" y="245"/>
                  </a:cubicBezTo>
                  <a:cubicBezTo>
                    <a:pt x="37" y="246"/>
                    <a:pt x="39" y="246"/>
                    <a:pt x="41" y="246"/>
                  </a:cubicBezTo>
                  <a:cubicBezTo>
                    <a:pt x="43" y="246"/>
                    <a:pt x="44" y="246"/>
                    <a:pt x="46" y="245"/>
                  </a:cubicBezTo>
                  <a:cubicBezTo>
                    <a:pt x="106" y="208"/>
                    <a:pt x="106" y="208"/>
                    <a:pt x="106" y="208"/>
                  </a:cubicBezTo>
                  <a:cubicBezTo>
                    <a:pt x="109" y="208"/>
                    <a:pt x="111" y="208"/>
                    <a:pt x="113" y="208"/>
                  </a:cubicBezTo>
                  <a:cubicBezTo>
                    <a:pt x="133" y="245"/>
                    <a:pt x="186" y="268"/>
                    <a:pt x="239" y="258"/>
                  </a:cubicBezTo>
                  <a:cubicBezTo>
                    <a:pt x="286" y="287"/>
                    <a:pt x="286" y="287"/>
                    <a:pt x="286" y="287"/>
                  </a:cubicBezTo>
                  <a:cubicBezTo>
                    <a:pt x="288" y="288"/>
                    <a:pt x="290" y="289"/>
                    <a:pt x="291" y="289"/>
                  </a:cubicBezTo>
                  <a:cubicBezTo>
                    <a:pt x="293" y="289"/>
                    <a:pt x="295" y="288"/>
                    <a:pt x="297" y="287"/>
                  </a:cubicBezTo>
                  <a:cubicBezTo>
                    <a:pt x="300" y="285"/>
                    <a:pt x="302" y="281"/>
                    <a:pt x="301" y="278"/>
                  </a:cubicBezTo>
                  <a:cubicBezTo>
                    <a:pt x="296" y="233"/>
                    <a:pt x="296" y="233"/>
                    <a:pt x="296" y="233"/>
                  </a:cubicBezTo>
                  <a:cubicBezTo>
                    <a:pt x="315" y="218"/>
                    <a:pt x="326" y="197"/>
                    <a:pt x="326" y="176"/>
                  </a:cubicBezTo>
                  <a:close/>
                  <a:moveTo>
                    <a:pt x="107" y="188"/>
                  </a:moveTo>
                  <a:cubicBezTo>
                    <a:pt x="104" y="187"/>
                    <a:pt x="102" y="188"/>
                    <a:pt x="100" y="189"/>
                  </a:cubicBezTo>
                  <a:cubicBezTo>
                    <a:pt x="53" y="218"/>
                    <a:pt x="53" y="218"/>
                    <a:pt x="53" y="218"/>
                  </a:cubicBezTo>
                  <a:cubicBezTo>
                    <a:pt x="58" y="174"/>
                    <a:pt x="58" y="174"/>
                    <a:pt x="58" y="174"/>
                  </a:cubicBezTo>
                  <a:cubicBezTo>
                    <a:pt x="58" y="171"/>
                    <a:pt x="57" y="167"/>
                    <a:pt x="54" y="165"/>
                  </a:cubicBezTo>
                  <a:cubicBezTo>
                    <a:pt x="32" y="149"/>
                    <a:pt x="20" y="128"/>
                    <a:pt x="20" y="105"/>
                  </a:cubicBezTo>
                  <a:cubicBezTo>
                    <a:pt x="20" y="58"/>
                    <a:pt x="73" y="19"/>
                    <a:pt x="139" y="19"/>
                  </a:cubicBezTo>
                  <a:cubicBezTo>
                    <a:pt x="204" y="19"/>
                    <a:pt x="257" y="58"/>
                    <a:pt x="257" y="105"/>
                  </a:cubicBezTo>
                  <a:cubicBezTo>
                    <a:pt x="257" y="153"/>
                    <a:pt x="204" y="191"/>
                    <a:pt x="139" y="191"/>
                  </a:cubicBezTo>
                  <a:cubicBezTo>
                    <a:pt x="128" y="191"/>
                    <a:pt x="117" y="190"/>
                    <a:pt x="107" y="188"/>
                  </a:cubicBezTo>
                  <a:close/>
                  <a:moveTo>
                    <a:pt x="280" y="221"/>
                  </a:moveTo>
                  <a:cubicBezTo>
                    <a:pt x="277" y="223"/>
                    <a:pt x="276" y="227"/>
                    <a:pt x="276" y="230"/>
                  </a:cubicBezTo>
                  <a:cubicBezTo>
                    <a:pt x="280" y="260"/>
                    <a:pt x="280" y="260"/>
                    <a:pt x="280" y="260"/>
                  </a:cubicBezTo>
                  <a:cubicBezTo>
                    <a:pt x="246" y="240"/>
                    <a:pt x="246" y="240"/>
                    <a:pt x="246" y="240"/>
                  </a:cubicBezTo>
                  <a:cubicBezTo>
                    <a:pt x="245" y="239"/>
                    <a:pt x="243" y="238"/>
                    <a:pt x="241" y="238"/>
                  </a:cubicBezTo>
                  <a:cubicBezTo>
                    <a:pt x="241" y="238"/>
                    <a:pt x="240" y="238"/>
                    <a:pt x="239" y="238"/>
                  </a:cubicBezTo>
                  <a:cubicBezTo>
                    <a:pt x="199" y="247"/>
                    <a:pt x="158" y="234"/>
                    <a:pt x="138" y="211"/>
                  </a:cubicBezTo>
                  <a:cubicBezTo>
                    <a:pt x="139" y="211"/>
                    <a:pt x="139" y="211"/>
                    <a:pt x="139" y="211"/>
                  </a:cubicBezTo>
                  <a:cubicBezTo>
                    <a:pt x="205" y="211"/>
                    <a:pt x="261" y="174"/>
                    <a:pt x="274" y="126"/>
                  </a:cubicBezTo>
                  <a:cubicBezTo>
                    <a:pt x="294" y="139"/>
                    <a:pt x="306" y="156"/>
                    <a:pt x="306" y="176"/>
                  </a:cubicBezTo>
                  <a:cubicBezTo>
                    <a:pt x="306" y="193"/>
                    <a:pt x="297" y="209"/>
                    <a:pt x="280" y="221"/>
                  </a:cubicBezTo>
                  <a:close/>
                </a:path>
              </a:pathLst>
            </a:custGeom>
            <a:solidFill>
              <a:srgbClr val="0EB3BF"/>
            </a:solidFill>
            <a:ln w="9525">
              <a:noFill/>
              <a:round/>
            </a:ln>
          </p:spPr>
          <p:txBody>
            <a:bodyPr anchor="ctr"/>
            <a:lstStyle/>
            <a:p>
              <a:pPr algn="ctr"/>
            </a:p>
          </p:txBody>
        </p:sp>
        <p:sp>
          <p:nvSpPr>
            <p:cNvPr id="43" name="îslïdé"/>
            <p:cNvSpPr/>
            <p:nvPr/>
          </p:nvSpPr>
          <p:spPr bwMode="auto">
            <a:xfrm>
              <a:off x="5804749" y="1742309"/>
              <a:ext cx="259911" cy="259912"/>
            </a:xfrm>
            <a:prstGeom prst="ellipse">
              <a:avLst/>
            </a:prstGeom>
            <a:solidFill>
              <a:srgbClr val="D8562E"/>
            </a:solidFill>
            <a:ln w="9525">
              <a:noFill/>
              <a:round/>
            </a:ln>
          </p:spPr>
          <p:txBody>
            <a:bodyPr anchor="ctr"/>
            <a:lstStyle/>
            <a:p>
              <a:pPr algn="ctr"/>
            </a:p>
          </p:txBody>
        </p:sp>
        <p:sp>
          <p:nvSpPr>
            <p:cNvPr id="57" name="îṥ1iḍê"/>
            <p:cNvSpPr/>
            <p:nvPr/>
          </p:nvSpPr>
          <p:spPr bwMode="auto">
            <a:xfrm>
              <a:off x="6249356" y="1742309"/>
              <a:ext cx="260747" cy="259912"/>
            </a:xfrm>
            <a:prstGeom prst="ellipse">
              <a:avLst/>
            </a:prstGeom>
            <a:solidFill>
              <a:srgbClr val="D8562E"/>
            </a:solidFill>
            <a:ln w="9525">
              <a:noFill/>
              <a:round/>
            </a:ln>
          </p:spPr>
          <p:txBody>
            <a:bodyPr anchor="ctr"/>
            <a:lstStyle/>
            <a:p>
              <a:pPr algn="ctr"/>
            </a:p>
          </p:txBody>
        </p:sp>
        <p:sp>
          <p:nvSpPr>
            <p:cNvPr id="58" name="íš1îďé"/>
            <p:cNvSpPr/>
            <p:nvPr/>
          </p:nvSpPr>
          <p:spPr bwMode="auto">
            <a:xfrm>
              <a:off x="6694799" y="1742309"/>
              <a:ext cx="259911" cy="259912"/>
            </a:xfrm>
            <a:prstGeom prst="ellipse">
              <a:avLst/>
            </a:prstGeom>
            <a:solidFill>
              <a:srgbClr val="D8562E"/>
            </a:solidFill>
            <a:ln w="9525">
              <a:noFill/>
              <a:round/>
            </a:ln>
          </p:spPr>
          <p:txBody>
            <a:bodyPr anchor="ctr"/>
            <a:lstStyle/>
            <a:p>
              <a:pPr algn="ctr"/>
            </a:p>
          </p:txBody>
        </p:sp>
        <p:sp>
          <p:nvSpPr>
            <p:cNvPr id="59" name="îṡlíḑe"/>
            <p:cNvSpPr/>
            <p:nvPr/>
          </p:nvSpPr>
          <p:spPr bwMode="auto">
            <a:xfrm>
              <a:off x="4217703" y="4267042"/>
              <a:ext cx="478872" cy="724576"/>
            </a:xfrm>
            <a:custGeom>
              <a:avLst/>
              <a:gdLst/>
              <a:ahLst/>
              <a:cxnLst>
                <a:cxn ang="0">
                  <a:pos x="22" y="6"/>
                </a:cxn>
                <a:cxn ang="0">
                  <a:pos x="14" y="5"/>
                </a:cxn>
                <a:cxn ang="0">
                  <a:pos x="0" y="28"/>
                </a:cxn>
                <a:cxn ang="0">
                  <a:pos x="43" y="101"/>
                </a:cxn>
                <a:cxn ang="0">
                  <a:pos x="51" y="100"/>
                </a:cxn>
                <a:cxn ang="0">
                  <a:pos x="70" y="61"/>
                </a:cxn>
                <a:cxn ang="0">
                  <a:pos x="22" y="6"/>
                </a:cxn>
              </a:cxnLst>
              <a:rect l="0" t="0" r="r" b="b"/>
              <a:pathLst>
                <a:path w="70" h="106">
                  <a:moveTo>
                    <a:pt x="22" y="6"/>
                  </a:moveTo>
                  <a:cubicBezTo>
                    <a:pt x="18" y="1"/>
                    <a:pt x="16" y="0"/>
                    <a:pt x="14" y="5"/>
                  </a:cubicBezTo>
                  <a:cubicBezTo>
                    <a:pt x="0" y="28"/>
                    <a:pt x="0" y="28"/>
                    <a:pt x="0" y="28"/>
                  </a:cubicBezTo>
                  <a:cubicBezTo>
                    <a:pt x="43" y="101"/>
                    <a:pt x="43" y="101"/>
                    <a:pt x="43" y="101"/>
                  </a:cubicBezTo>
                  <a:cubicBezTo>
                    <a:pt x="46" y="106"/>
                    <a:pt x="48" y="105"/>
                    <a:pt x="51" y="100"/>
                  </a:cubicBezTo>
                  <a:cubicBezTo>
                    <a:pt x="70" y="61"/>
                    <a:pt x="70" y="61"/>
                    <a:pt x="70" y="61"/>
                  </a:cubicBezTo>
                  <a:lnTo>
                    <a:pt x="22" y="6"/>
                  </a:lnTo>
                  <a:close/>
                </a:path>
              </a:pathLst>
            </a:custGeom>
            <a:solidFill>
              <a:srgbClr val="FFFFFF"/>
            </a:solidFill>
            <a:ln w="9525">
              <a:noFill/>
              <a:round/>
            </a:ln>
          </p:spPr>
          <p:txBody>
            <a:bodyPr anchor="ctr"/>
            <a:lstStyle/>
            <a:p>
              <a:pPr algn="ctr"/>
            </a:p>
          </p:txBody>
        </p:sp>
        <p:sp>
          <p:nvSpPr>
            <p:cNvPr id="60" name="ïşḻïḍè"/>
            <p:cNvSpPr/>
            <p:nvPr/>
          </p:nvSpPr>
          <p:spPr bwMode="auto">
            <a:xfrm>
              <a:off x="4689889" y="4267042"/>
              <a:ext cx="478872" cy="724576"/>
            </a:xfrm>
            <a:custGeom>
              <a:avLst/>
              <a:gdLst/>
              <a:ahLst/>
              <a:cxnLst>
                <a:cxn ang="0">
                  <a:pos x="48" y="6"/>
                </a:cxn>
                <a:cxn ang="0">
                  <a:pos x="56" y="5"/>
                </a:cxn>
                <a:cxn ang="0">
                  <a:pos x="70" y="28"/>
                </a:cxn>
                <a:cxn ang="0">
                  <a:pos x="27" y="101"/>
                </a:cxn>
                <a:cxn ang="0">
                  <a:pos x="19" y="100"/>
                </a:cxn>
                <a:cxn ang="0">
                  <a:pos x="0" y="61"/>
                </a:cxn>
                <a:cxn ang="0">
                  <a:pos x="48" y="6"/>
                </a:cxn>
              </a:cxnLst>
              <a:rect l="0" t="0" r="r" b="b"/>
              <a:pathLst>
                <a:path w="70" h="106">
                  <a:moveTo>
                    <a:pt x="48" y="6"/>
                  </a:moveTo>
                  <a:cubicBezTo>
                    <a:pt x="52" y="1"/>
                    <a:pt x="54" y="0"/>
                    <a:pt x="56" y="5"/>
                  </a:cubicBezTo>
                  <a:cubicBezTo>
                    <a:pt x="70" y="28"/>
                    <a:pt x="70" y="28"/>
                    <a:pt x="70" y="28"/>
                  </a:cubicBezTo>
                  <a:cubicBezTo>
                    <a:pt x="27" y="101"/>
                    <a:pt x="27" y="101"/>
                    <a:pt x="27" y="101"/>
                  </a:cubicBezTo>
                  <a:cubicBezTo>
                    <a:pt x="24" y="106"/>
                    <a:pt x="22" y="105"/>
                    <a:pt x="19" y="100"/>
                  </a:cubicBezTo>
                  <a:cubicBezTo>
                    <a:pt x="0" y="61"/>
                    <a:pt x="0" y="61"/>
                    <a:pt x="0" y="61"/>
                  </a:cubicBezTo>
                  <a:lnTo>
                    <a:pt x="48" y="6"/>
                  </a:lnTo>
                  <a:close/>
                </a:path>
              </a:pathLst>
            </a:custGeom>
            <a:solidFill>
              <a:srgbClr val="FFFFFF"/>
            </a:solidFill>
            <a:ln w="9525">
              <a:noFill/>
              <a:round/>
            </a:ln>
          </p:spPr>
          <p:txBody>
            <a:bodyPr anchor="ctr"/>
            <a:lstStyle/>
            <a:p>
              <a:pPr algn="ctr"/>
            </a:p>
          </p:txBody>
        </p:sp>
      </p:grpSp>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44"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sym typeface="宋体" panose="02010600030101010101" pitchFamily="2" charset="-122"/>
              </a:rPr>
              <a:t>）对话图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4" name="矩形: 圆角 3"/>
          <p:cNvSpPr/>
          <p:nvPr/>
        </p:nvSpPr>
        <p:spPr>
          <a:xfrm>
            <a:off x="2302510" y="1967865"/>
            <a:ext cx="9274810" cy="3103818"/>
          </a:xfrm>
          <a:prstGeom prst="round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80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p:txBody>
      </p:sp>
      <p:sp>
        <p:nvSpPr>
          <p:cNvPr id="45" name="Rectangle 21"/>
          <p:cNvSpPr/>
          <p:nvPr/>
        </p:nvSpPr>
        <p:spPr>
          <a:xfrm>
            <a:off x="2298236" y="5452908"/>
            <a:ext cx="9274810" cy="439140"/>
          </a:xfrm>
          <a:prstGeom prst="rect">
            <a:avLst/>
          </a:prstGeom>
          <a:solidFill>
            <a:schemeClr val="bg1"/>
          </a:solidFill>
          <a:ln w="22225">
            <a:solidFill>
              <a:srgbClr val="FF0000"/>
            </a:solidFill>
          </a:ln>
        </p:spPr>
        <p:txBody>
          <a:bodyPr wrap="square" lIns="144000" tIns="0" rIns="144000" bIns="0" anchor="ctr" anchorCtr="0">
            <a:normAutofit/>
          </a:bodyPr>
          <a:lstStyle/>
          <a:p>
            <a:pPr algn="ctr">
              <a:lnSpc>
                <a:spcPct val="120000"/>
              </a:lnSpc>
            </a:pPr>
            <a:r>
              <a:rPr lang="zh-CN" altLang="en-US" sz="2200" b="1" dirty="0">
                <a:solidFill>
                  <a:srgbClr val="000000"/>
                </a:solidFill>
              </a:rPr>
              <a:t>许多用户界面可以用状态转换图中的一种</a:t>
            </a:r>
            <a:r>
              <a:rPr lang="en-US" altLang="zh-CN" sz="2200" b="1" dirty="0">
                <a:solidFill>
                  <a:srgbClr val="000000"/>
                </a:solidFill>
              </a:rPr>
              <a:t>--</a:t>
            </a:r>
            <a:r>
              <a:rPr lang="zh-CN" altLang="en-US" sz="2200" b="1" dirty="0">
                <a:solidFill>
                  <a:srgbClr val="000000"/>
                </a:solidFill>
              </a:rPr>
              <a:t>对话图</a:t>
            </a:r>
            <a:r>
              <a:rPr lang="en-US" altLang="zh-CN" sz="2200" b="1" dirty="0">
                <a:solidFill>
                  <a:srgbClr val="000000"/>
                </a:solidFill>
              </a:rPr>
              <a:t>(</a:t>
            </a:r>
            <a:r>
              <a:rPr lang="en-US" altLang="zh-CN" sz="2200" b="1" dirty="0" err="1">
                <a:solidFill>
                  <a:srgbClr val="000000"/>
                </a:solidFill>
              </a:rPr>
              <a:t>dialogmap</a:t>
            </a:r>
            <a:r>
              <a:rPr lang="en-US" altLang="zh-CN" sz="2200" b="1" dirty="0">
                <a:solidFill>
                  <a:srgbClr val="000000"/>
                </a:solidFill>
              </a:rPr>
              <a:t>)</a:t>
            </a:r>
            <a:r>
              <a:rPr lang="zh-CN" altLang="en-US" sz="2200" b="1" dirty="0">
                <a:solidFill>
                  <a:srgbClr val="000000"/>
                </a:solidFill>
              </a:rPr>
              <a:t>来建模</a:t>
            </a:r>
            <a:endParaRPr lang="zh-CN" altLang="en-US" sz="2200" b="1" dirty="0">
              <a:solidFill>
                <a:srgbClr val="000000"/>
              </a:solidFill>
            </a:endParaRPr>
          </a:p>
        </p:txBody>
      </p:sp>
      <p:sp>
        <p:nvSpPr>
          <p:cNvPr id="46" name="箭头: 下 45"/>
          <p:cNvSpPr/>
          <p:nvPr/>
        </p:nvSpPr>
        <p:spPr>
          <a:xfrm>
            <a:off x="6751780" y="5071683"/>
            <a:ext cx="581891" cy="292557"/>
          </a:xfrm>
          <a:prstGeom prst="downArrow">
            <a:avLst>
              <a:gd name="adj1" fmla="val 50000"/>
              <a:gd name="adj2" fmla="val 46648"/>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689600" y="1539113"/>
            <a:ext cx="6096000" cy="430887"/>
          </a:xfrm>
          <a:prstGeom prst="rect">
            <a:avLst/>
          </a:prstGeom>
          <a:noFill/>
        </p:spPr>
        <p:txBody>
          <a:bodyPr wrap="square">
            <a:spAutoFit/>
          </a:bodyPr>
          <a:lstStyle/>
          <a:p>
            <a:pPr lvl="0" fontAlgn="base">
              <a:spcBef>
                <a:spcPct val="0"/>
              </a:spcBef>
              <a:spcAft>
                <a:spcPct val="0"/>
              </a:spcAft>
              <a:defRPr/>
            </a:pPr>
            <a:r>
              <a:rPr lang="zh-CN" altLang="en-US" sz="2200" b="1" kern="0" dirty="0">
                <a:solidFill>
                  <a:srgbClr val="FF0000"/>
                </a:solidFill>
                <a:latin typeface="宋体" panose="02010600030101010101" pitchFamily="2" charset="-122"/>
                <a:sym typeface="宋体" panose="02010600030101010101" pitchFamily="2" charset="-122"/>
              </a:rPr>
              <a:t>状态转换图</a:t>
            </a:r>
            <a:r>
              <a:rPr lang="en-US" altLang="zh-CN" sz="2200" b="1" kern="0" dirty="0">
                <a:solidFill>
                  <a:srgbClr val="FF0000"/>
                </a:solidFill>
                <a:latin typeface="宋体" panose="02010600030101010101" pitchFamily="2" charset="-122"/>
                <a:sym typeface="宋体" panose="02010600030101010101" pitchFamily="2" charset="-122"/>
              </a:rPr>
              <a:t>--</a:t>
            </a:r>
            <a:r>
              <a:rPr lang="zh-CN" altLang="en-US" sz="2200" b="1" kern="0" dirty="0">
                <a:solidFill>
                  <a:srgbClr val="FF0000"/>
                </a:solidFill>
                <a:latin typeface="宋体" panose="02010600030101010101" pitchFamily="2" charset="-122"/>
                <a:sym typeface="宋体" panose="02010600030101010101" pitchFamily="2" charset="-122"/>
              </a:rPr>
              <a:t>对话图：</a:t>
            </a:r>
            <a:endParaRPr lang="zh-CN" altLang="en-US" sz="2200" b="1" kern="0" dirty="0">
              <a:solidFill>
                <a:srgbClr val="FF0000"/>
              </a:solidFill>
              <a:latin typeface="宋体" panose="02010600030101010101" pitchFamily="2" charset="-122"/>
              <a:ea typeface="宋体" panose="02010600030101010101" pitchFamily="2" charset="-122"/>
              <a:sym typeface="宋体" panose="02010600030101010101" pitchFamily="2" charset="-122"/>
            </a:endParaRPr>
          </a:p>
        </p:txBody>
      </p:sp>
      <p:sp>
        <p:nvSpPr>
          <p:cNvPr id="3" name="日期占位符 2"/>
          <p:cNvSpPr>
            <a:spLocks noGrp="1"/>
          </p:cNvSpPr>
          <p:nvPr>
            <p:ph type="dt" sz="half" idx="10"/>
          </p:nvPr>
        </p:nvSpPr>
        <p:spPr/>
        <p:txBody>
          <a:bodyPr/>
          <a:lstStyle/>
          <a:p>
            <a:pPr>
              <a:defRPr/>
            </a:pPr>
            <a:fld id="{42339EBE-107D-48C9-9815-A386F30D0717}" type="datetime1">
              <a:rPr lang="zh-CN" altLang="en-US" smtClean="0">
                <a:solidFill>
                  <a:prstClr val="black">
                    <a:tint val="75000"/>
                  </a:prstClr>
                </a:solidFill>
              </a:rPr>
            </a:fld>
            <a:endParaRPr lang="zh-CN" altLang="en-US" dirty="0">
              <a:solidFill>
                <a:prstClr val="black">
                  <a:tint val="75000"/>
                </a:prstClr>
              </a:solidFill>
            </a:endParaRPr>
          </a:p>
        </p:txBody>
      </p:sp>
      <p:sp>
        <p:nvSpPr>
          <p:cNvPr id="5" name="灯片编号占位符 4"/>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fltVal val="0"/>
                                          </p:val>
                                        </p:tav>
                                        <p:tav tm="100000">
                                          <p:val>
                                            <p:strVal val="#ppt_h"/>
                                          </p:val>
                                        </p:tav>
                                      </p:tavLst>
                                    </p:anim>
                                    <p:animEffect transition="in" filter="fade">
                                      <p:cBhvr>
                                        <p:cTn id="13" dur="500"/>
                                        <p:tgtEl>
                                          <p:spTgt spid="2"/>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44"/>
                                        </p:tgtEl>
                                        <p:attrNameLst>
                                          <p:attrName>style.visibility</p:attrName>
                                        </p:attrNameLst>
                                      </p:cBhvr>
                                      <p:to>
                                        <p:strVal val="visible"/>
                                      </p:to>
                                    </p:set>
                                    <p:anim calcmode="lin" valueType="num">
                                      <p:cBhvr additive="base">
                                        <p:cTn id="16" dur="500"/>
                                        <p:tgtEl>
                                          <p:spTgt spid="44"/>
                                        </p:tgtEl>
                                        <p:attrNameLst>
                                          <p:attrName>ppt_x</p:attrName>
                                        </p:attrNameLst>
                                      </p:cBhvr>
                                      <p:tavLst>
                                        <p:tav tm="0">
                                          <p:val>
                                            <p:strVal val="#ppt_x+#ppt_w*1.125000"/>
                                          </p:val>
                                        </p:tav>
                                        <p:tav tm="100000">
                                          <p:val>
                                            <p:strVal val="#ppt_x"/>
                                          </p:val>
                                        </p:tav>
                                      </p:tavLst>
                                    </p:anim>
                                    <p:animEffect transition="in" filter="wipe(left)">
                                      <p:cBhvr>
                                        <p:cTn id="17" dur="500"/>
                                        <p:tgtEl>
                                          <p:spTgt spid="4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6"/>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4" grpId="0"/>
      <p:bldP spid="4" grpId="0" animBg="1"/>
      <p:bldP spid="45" grpId="0" animBg="1"/>
      <p:bldP spid="46" grpId="0" animBg="1"/>
      <p:bldP spid="4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5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9412246" y="2863453"/>
            <a:ext cx="2081254" cy="1565485"/>
            <a:chOff x="2830286" y="1233840"/>
            <a:chExt cx="6531428" cy="4912836"/>
          </a:xfrm>
        </p:grpSpPr>
        <p:sp>
          <p:nvSpPr>
            <p:cNvPr id="24" name="ïṩliḍé"/>
            <p:cNvSpPr/>
            <p:nvPr/>
          </p:nvSpPr>
          <p:spPr bwMode="auto">
            <a:xfrm>
              <a:off x="5476903" y="1895732"/>
              <a:ext cx="1277185" cy="1666142"/>
            </a:xfrm>
            <a:custGeom>
              <a:avLst/>
              <a:gdLst/>
              <a:ahLst/>
              <a:cxnLst>
                <a:cxn ang="0">
                  <a:pos x="164" y="82"/>
                </a:cxn>
                <a:cxn ang="0">
                  <a:pos x="82" y="0"/>
                </a:cxn>
                <a:cxn ang="0">
                  <a:pos x="0" y="82"/>
                </a:cxn>
                <a:cxn ang="0">
                  <a:pos x="35" y="149"/>
                </a:cxn>
                <a:cxn ang="0">
                  <a:pos x="41" y="159"/>
                </a:cxn>
                <a:cxn ang="0">
                  <a:pos x="41" y="192"/>
                </a:cxn>
                <a:cxn ang="0">
                  <a:pos x="63" y="214"/>
                </a:cxn>
                <a:cxn ang="0">
                  <a:pos x="101" y="214"/>
                </a:cxn>
                <a:cxn ang="0">
                  <a:pos x="123" y="192"/>
                </a:cxn>
                <a:cxn ang="0">
                  <a:pos x="123" y="159"/>
                </a:cxn>
                <a:cxn ang="0">
                  <a:pos x="129" y="149"/>
                </a:cxn>
                <a:cxn ang="0">
                  <a:pos x="164" y="82"/>
                </a:cxn>
              </a:cxnLst>
              <a:rect l="0" t="0" r="r" b="b"/>
              <a:pathLst>
                <a:path w="164" h="214">
                  <a:moveTo>
                    <a:pt x="164" y="82"/>
                  </a:moveTo>
                  <a:cubicBezTo>
                    <a:pt x="164" y="36"/>
                    <a:pt x="127" y="0"/>
                    <a:pt x="82" y="0"/>
                  </a:cubicBezTo>
                  <a:cubicBezTo>
                    <a:pt x="37" y="0"/>
                    <a:pt x="0" y="36"/>
                    <a:pt x="0" y="82"/>
                  </a:cubicBezTo>
                  <a:cubicBezTo>
                    <a:pt x="0" y="110"/>
                    <a:pt x="14" y="134"/>
                    <a:pt x="35" y="149"/>
                  </a:cubicBezTo>
                  <a:cubicBezTo>
                    <a:pt x="39" y="152"/>
                    <a:pt x="41" y="155"/>
                    <a:pt x="41" y="159"/>
                  </a:cubicBezTo>
                  <a:cubicBezTo>
                    <a:pt x="41" y="192"/>
                    <a:pt x="41" y="192"/>
                    <a:pt x="41" y="192"/>
                  </a:cubicBezTo>
                  <a:cubicBezTo>
                    <a:pt x="41" y="204"/>
                    <a:pt x="51" y="214"/>
                    <a:pt x="63" y="214"/>
                  </a:cubicBezTo>
                  <a:cubicBezTo>
                    <a:pt x="101" y="214"/>
                    <a:pt x="101" y="214"/>
                    <a:pt x="101" y="214"/>
                  </a:cubicBezTo>
                  <a:cubicBezTo>
                    <a:pt x="113" y="214"/>
                    <a:pt x="123" y="204"/>
                    <a:pt x="123" y="192"/>
                  </a:cubicBezTo>
                  <a:cubicBezTo>
                    <a:pt x="123" y="159"/>
                    <a:pt x="123" y="159"/>
                    <a:pt x="123" y="159"/>
                  </a:cubicBezTo>
                  <a:cubicBezTo>
                    <a:pt x="123" y="155"/>
                    <a:pt x="125" y="152"/>
                    <a:pt x="129" y="149"/>
                  </a:cubicBezTo>
                  <a:cubicBezTo>
                    <a:pt x="150" y="134"/>
                    <a:pt x="164" y="110"/>
                    <a:pt x="164" y="82"/>
                  </a:cubicBezTo>
                  <a:close/>
                </a:path>
              </a:pathLst>
            </a:custGeom>
            <a:solidFill>
              <a:srgbClr val="FF6D3A"/>
            </a:solidFill>
            <a:ln w="9525">
              <a:noFill/>
              <a:round/>
            </a:ln>
          </p:spPr>
          <p:txBody>
            <a:bodyPr anchor="ctr"/>
            <a:lstStyle/>
            <a:p>
              <a:pPr algn="ctr"/>
              <a:endParaRPr sz="2200" b="1"/>
            </a:p>
          </p:txBody>
        </p:sp>
        <p:sp>
          <p:nvSpPr>
            <p:cNvPr id="30" name="ís1îdê"/>
            <p:cNvSpPr/>
            <p:nvPr/>
          </p:nvSpPr>
          <p:spPr bwMode="auto">
            <a:xfrm>
              <a:off x="5921017" y="3405911"/>
              <a:ext cx="373740" cy="373741"/>
            </a:xfrm>
            <a:prstGeom prst="ellipse">
              <a:avLst/>
            </a:prstGeom>
            <a:solidFill>
              <a:srgbClr val="0EB3BF"/>
            </a:solidFill>
            <a:ln w="9525">
              <a:noFill/>
              <a:round/>
            </a:ln>
          </p:spPr>
          <p:txBody>
            <a:bodyPr anchor="ctr"/>
            <a:lstStyle/>
            <a:p>
              <a:pPr algn="ctr"/>
              <a:endParaRPr sz="2200" b="1"/>
            </a:p>
          </p:txBody>
        </p:sp>
        <p:sp>
          <p:nvSpPr>
            <p:cNvPr id="31" name="íṣliḑè"/>
            <p:cNvSpPr/>
            <p:nvPr/>
          </p:nvSpPr>
          <p:spPr bwMode="auto">
            <a:xfrm>
              <a:off x="5928625" y="2503417"/>
              <a:ext cx="31383" cy="794080"/>
            </a:xfrm>
            <a:prstGeom prst="rect">
              <a:avLst/>
            </a:prstGeom>
            <a:solidFill>
              <a:srgbClr val="FFFFFF"/>
            </a:solidFill>
            <a:ln w="9525">
              <a:noFill/>
              <a:miter lim="800000"/>
            </a:ln>
          </p:spPr>
          <p:txBody>
            <a:bodyPr anchor="ctr"/>
            <a:lstStyle/>
            <a:p>
              <a:pPr algn="ctr"/>
              <a:endParaRPr sz="2200" b="1"/>
            </a:p>
          </p:txBody>
        </p:sp>
        <p:sp>
          <p:nvSpPr>
            <p:cNvPr id="32" name="íś1íďé"/>
            <p:cNvSpPr/>
            <p:nvPr/>
          </p:nvSpPr>
          <p:spPr bwMode="auto">
            <a:xfrm>
              <a:off x="6270983" y="2518633"/>
              <a:ext cx="31383" cy="778865"/>
            </a:xfrm>
            <a:prstGeom prst="rect">
              <a:avLst/>
            </a:prstGeom>
            <a:solidFill>
              <a:srgbClr val="FFFFFF"/>
            </a:solidFill>
            <a:ln w="9525">
              <a:noFill/>
              <a:miter lim="800000"/>
            </a:ln>
          </p:spPr>
          <p:txBody>
            <a:bodyPr anchor="ctr"/>
            <a:lstStyle/>
            <a:p>
              <a:pPr algn="ctr"/>
              <a:endParaRPr sz="2200" b="1"/>
            </a:p>
          </p:txBody>
        </p:sp>
        <p:sp>
          <p:nvSpPr>
            <p:cNvPr id="33" name="işļide"/>
            <p:cNvSpPr/>
            <p:nvPr/>
          </p:nvSpPr>
          <p:spPr bwMode="auto">
            <a:xfrm>
              <a:off x="5796437" y="3250898"/>
              <a:ext cx="638117" cy="396565"/>
            </a:xfrm>
            <a:custGeom>
              <a:avLst/>
              <a:gdLst/>
              <a:ahLst/>
              <a:cxnLst>
                <a:cxn ang="0">
                  <a:pos x="0" y="0"/>
                </a:cxn>
                <a:cxn ang="0">
                  <a:pos x="0" y="36"/>
                </a:cxn>
                <a:cxn ang="0">
                  <a:pos x="16" y="51"/>
                </a:cxn>
                <a:cxn ang="0">
                  <a:pos x="66" y="51"/>
                </a:cxn>
                <a:cxn ang="0">
                  <a:pos x="82" y="36"/>
                </a:cxn>
                <a:cxn ang="0">
                  <a:pos x="82" y="0"/>
                </a:cxn>
                <a:cxn ang="0">
                  <a:pos x="0" y="0"/>
                </a:cxn>
              </a:cxnLst>
              <a:rect l="0" t="0" r="r" b="b"/>
              <a:pathLst>
                <a:path w="82" h="51">
                  <a:moveTo>
                    <a:pt x="0" y="0"/>
                  </a:moveTo>
                  <a:cubicBezTo>
                    <a:pt x="0" y="36"/>
                    <a:pt x="0" y="36"/>
                    <a:pt x="0" y="36"/>
                  </a:cubicBezTo>
                  <a:cubicBezTo>
                    <a:pt x="0" y="44"/>
                    <a:pt x="7" y="51"/>
                    <a:pt x="16" y="51"/>
                  </a:cubicBezTo>
                  <a:cubicBezTo>
                    <a:pt x="66" y="51"/>
                    <a:pt x="66" y="51"/>
                    <a:pt x="66" y="51"/>
                  </a:cubicBezTo>
                  <a:cubicBezTo>
                    <a:pt x="75" y="51"/>
                    <a:pt x="82" y="44"/>
                    <a:pt x="82" y="36"/>
                  </a:cubicBezTo>
                  <a:cubicBezTo>
                    <a:pt x="82" y="0"/>
                    <a:pt x="82" y="0"/>
                    <a:pt x="82" y="0"/>
                  </a:cubicBezTo>
                  <a:lnTo>
                    <a:pt x="0" y="0"/>
                  </a:lnTo>
                  <a:close/>
                </a:path>
              </a:pathLst>
            </a:custGeom>
            <a:solidFill>
              <a:srgbClr val="17C5CC"/>
            </a:solidFill>
            <a:ln w="9525">
              <a:noFill/>
              <a:round/>
            </a:ln>
          </p:spPr>
          <p:txBody>
            <a:bodyPr anchor="ctr"/>
            <a:lstStyle/>
            <a:p>
              <a:pPr algn="ctr"/>
              <a:endParaRPr sz="2200" b="1"/>
            </a:p>
          </p:txBody>
        </p:sp>
        <p:sp>
          <p:nvSpPr>
            <p:cNvPr id="34" name="îŝľïḋe"/>
            <p:cNvSpPr/>
            <p:nvPr/>
          </p:nvSpPr>
          <p:spPr bwMode="auto">
            <a:xfrm>
              <a:off x="5773613" y="3227124"/>
              <a:ext cx="692324" cy="62766"/>
            </a:xfrm>
            <a:custGeom>
              <a:avLst/>
              <a:gdLst/>
              <a:ahLst/>
              <a:cxnLst>
                <a:cxn ang="0">
                  <a:pos x="89" y="4"/>
                </a:cxn>
                <a:cxn ang="0">
                  <a:pos x="83" y="8"/>
                </a:cxn>
                <a:cxn ang="0">
                  <a:pos x="5" y="8"/>
                </a:cxn>
                <a:cxn ang="0">
                  <a:pos x="0" y="4"/>
                </a:cxn>
                <a:cxn ang="0">
                  <a:pos x="5" y="0"/>
                </a:cxn>
                <a:cxn ang="0">
                  <a:pos x="83" y="0"/>
                </a:cxn>
                <a:cxn ang="0">
                  <a:pos x="89" y="4"/>
                </a:cxn>
              </a:cxnLst>
              <a:rect l="0" t="0" r="r" b="b"/>
              <a:pathLst>
                <a:path w="89" h="8">
                  <a:moveTo>
                    <a:pt x="89" y="4"/>
                  </a:moveTo>
                  <a:cubicBezTo>
                    <a:pt x="89" y="6"/>
                    <a:pt x="86" y="8"/>
                    <a:pt x="83" y="8"/>
                  </a:cubicBezTo>
                  <a:cubicBezTo>
                    <a:pt x="5" y="8"/>
                    <a:pt x="5" y="8"/>
                    <a:pt x="5" y="8"/>
                  </a:cubicBezTo>
                  <a:cubicBezTo>
                    <a:pt x="2" y="8"/>
                    <a:pt x="0" y="6"/>
                    <a:pt x="0" y="4"/>
                  </a:cubicBezTo>
                  <a:cubicBezTo>
                    <a:pt x="0" y="2"/>
                    <a:pt x="2" y="0"/>
                    <a:pt x="5" y="0"/>
                  </a:cubicBezTo>
                  <a:cubicBezTo>
                    <a:pt x="83" y="0"/>
                    <a:pt x="83" y="0"/>
                    <a:pt x="83" y="0"/>
                  </a:cubicBezTo>
                  <a:cubicBezTo>
                    <a:pt x="86" y="0"/>
                    <a:pt x="89" y="2"/>
                    <a:pt x="89" y="4"/>
                  </a:cubicBezTo>
                  <a:close/>
                </a:path>
              </a:pathLst>
            </a:custGeom>
            <a:solidFill>
              <a:srgbClr val="0EB3BF"/>
            </a:solidFill>
            <a:ln w="9525">
              <a:noFill/>
              <a:round/>
            </a:ln>
          </p:spPr>
          <p:txBody>
            <a:bodyPr anchor="ctr"/>
            <a:lstStyle/>
            <a:p>
              <a:pPr algn="ctr"/>
              <a:endParaRPr sz="2200" b="1"/>
            </a:p>
          </p:txBody>
        </p:sp>
        <p:sp>
          <p:nvSpPr>
            <p:cNvPr id="35" name="iSļîḑé"/>
            <p:cNvSpPr/>
            <p:nvPr/>
          </p:nvSpPr>
          <p:spPr bwMode="auto">
            <a:xfrm>
              <a:off x="5773613" y="3359312"/>
              <a:ext cx="692324" cy="70374"/>
            </a:xfrm>
            <a:custGeom>
              <a:avLst/>
              <a:gdLst/>
              <a:ahLst/>
              <a:cxnLst>
                <a:cxn ang="0">
                  <a:pos x="89" y="4"/>
                </a:cxn>
                <a:cxn ang="0">
                  <a:pos x="83" y="9"/>
                </a:cxn>
                <a:cxn ang="0">
                  <a:pos x="5" y="9"/>
                </a:cxn>
                <a:cxn ang="0">
                  <a:pos x="0" y="4"/>
                </a:cxn>
                <a:cxn ang="0">
                  <a:pos x="5" y="0"/>
                </a:cxn>
                <a:cxn ang="0">
                  <a:pos x="83" y="0"/>
                </a:cxn>
                <a:cxn ang="0">
                  <a:pos x="89" y="4"/>
                </a:cxn>
              </a:cxnLst>
              <a:rect l="0" t="0" r="r" b="b"/>
              <a:pathLst>
                <a:path w="89" h="9">
                  <a:moveTo>
                    <a:pt x="89" y="4"/>
                  </a:moveTo>
                  <a:cubicBezTo>
                    <a:pt x="89" y="7"/>
                    <a:pt x="86" y="9"/>
                    <a:pt x="83" y="9"/>
                  </a:cubicBezTo>
                  <a:cubicBezTo>
                    <a:pt x="5" y="9"/>
                    <a:pt x="5" y="9"/>
                    <a:pt x="5" y="9"/>
                  </a:cubicBezTo>
                  <a:cubicBezTo>
                    <a:pt x="2" y="9"/>
                    <a:pt x="0" y="7"/>
                    <a:pt x="0" y="4"/>
                  </a:cubicBezTo>
                  <a:cubicBezTo>
                    <a:pt x="0" y="2"/>
                    <a:pt x="2" y="0"/>
                    <a:pt x="5" y="0"/>
                  </a:cubicBezTo>
                  <a:cubicBezTo>
                    <a:pt x="83" y="0"/>
                    <a:pt x="83" y="0"/>
                    <a:pt x="83" y="0"/>
                  </a:cubicBezTo>
                  <a:cubicBezTo>
                    <a:pt x="86" y="0"/>
                    <a:pt x="89" y="2"/>
                    <a:pt x="89" y="4"/>
                  </a:cubicBezTo>
                  <a:close/>
                </a:path>
              </a:pathLst>
            </a:custGeom>
            <a:solidFill>
              <a:srgbClr val="0EB3BF"/>
            </a:solidFill>
            <a:ln w="9525">
              <a:noFill/>
              <a:round/>
            </a:ln>
          </p:spPr>
          <p:txBody>
            <a:bodyPr anchor="ctr"/>
            <a:lstStyle/>
            <a:p>
              <a:pPr algn="ctr"/>
              <a:endParaRPr sz="2200" b="1"/>
            </a:p>
          </p:txBody>
        </p:sp>
        <p:sp>
          <p:nvSpPr>
            <p:cNvPr id="36" name="íSľïḋê"/>
            <p:cNvSpPr/>
            <p:nvPr/>
          </p:nvSpPr>
          <p:spPr bwMode="auto">
            <a:xfrm>
              <a:off x="5773613" y="3492451"/>
              <a:ext cx="692324" cy="69423"/>
            </a:xfrm>
            <a:custGeom>
              <a:avLst/>
              <a:gdLst/>
              <a:ahLst/>
              <a:cxnLst>
                <a:cxn ang="0">
                  <a:pos x="89" y="5"/>
                </a:cxn>
                <a:cxn ang="0">
                  <a:pos x="83" y="9"/>
                </a:cxn>
                <a:cxn ang="0">
                  <a:pos x="5" y="9"/>
                </a:cxn>
                <a:cxn ang="0">
                  <a:pos x="0" y="5"/>
                </a:cxn>
                <a:cxn ang="0">
                  <a:pos x="5" y="0"/>
                </a:cxn>
                <a:cxn ang="0">
                  <a:pos x="83" y="0"/>
                </a:cxn>
                <a:cxn ang="0">
                  <a:pos x="89" y="5"/>
                </a:cxn>
              </a:cxnLst>
              <a:rect l="0" t="0" r="r" b="b"/>
              <a:pathLst>
                <a:path w="89" h="9">
                  <a:moveTo>
                    <a:pt x="89" y="5"/>
                  </a:moveTo>
                  <a:cubicBezTo>
                    <a:pt x="89" y="7"/>
                    <a:pt x="86" y="9"/>
                    <a:pt x="83" y="9"/>
                  </a:cubicBezTo>
                  <a:cubicBezTo>
                    <a:pt x="5" y="9"/>
                    <a:pt x="5" y="9"/>
                    <a:pt x="5" y="9"/>
                  </a:cubicBezTo>
                  <a:cubicBezTo>
                    <a:pt x="2" y="9"/>
                    <a:pt x="0" y="7"/>
                    <a:pt x="0" y="5"/>
                  </a:cubicBezTo>
                  <a:cubicBezTo>
                    <a:pt x="0" y="2"/>
                    <a:pt x="2" y="0"/>
                    <a:pt x="5" y="0"/>
                  </a:cubicBezTo>
                  <a:cubicBezTo>
                    <a:pt x="83" y="0"/>
                    <a:pt x="83" y="0"/>
                    <a:pt x="83" y="0"/>
                  </a:cubicBezTo>
                  <a:cubicBezTo>
                    <a:pt x="86" y="0"/>
                    <a:pt x="89" y="2"/>
                    <a:pt x="89" y="5"/>
                  </a:cubicBezTo>
                  <a:close/>
                </a:path>
              </a:pathLst>
            </a:custGeom>
            <a:solidFill>
              <a:srgbClr val="0EB3BF"/>
            </a:solidFill>
            <a:ln w="9525">
              <a:noFill/>
              <a:round/>
            </a:ln>
          </p:spPr>
          <p:txBody>
            <a:bodyPr anchor="ctr"/>
            <a:lstStyle/>
            <a:p>
              <a:pPr algn="ctr"/>
              <a:endParaRPr sz="2200" b="1"/>
            </a:p>
          </p:txBody>
        </p:sp>
        <p:sp>
          <p:nvSpPr>
            <p:cNvPr id="37" name="iśḻíḋê"/>
            <p:cNvSpPr/>
            <p:nvPr/>
          </p:nvSpPr>
          <p:spPr bwMode="auto">
            <a:xfrm>
              <a:off x="6621900" y="1530550"/>
              <a:ext cx="373740" cy="427947"/>
            </a:xfrm>
            <a:custGeom>
              <a:avLst/>
              <a:gdLst/>
              <a:ahLst/>
              <a:cxnLst>
                <a:cxn ang="0">
                  <a:pos x="14" y="51"/>
                </a:cxn>
                <a:cxn ang="0">
                  <a:pos x="4" y="52"/>
                </a:cxn>
                <a:cxn ang="0">
                  <a:pos x="3" y="42"/>
                </a:cxn>
                <a:cxn ang="0">
                  <a:pos x="34" y="4"/>
                </a:cxn>
                <a:cxn ang="0">
                  <a:pos x="45" y="3"/>
                </a:cxn>
                <a:cxn ang="0">
                  <a:pos x="46" y="13"/>
                </a:cxn>
                <a:cxn ang="0">
                  <a:pos x="14" y="51"/>
                </a:cxn>
              </a:cxnLst>
              <a:rect l="0" t="0" r="r" b="b"/>
              <a:pathLst>
                <a:path w="48" h="55">
                  <a:moveTo>
                    <a:pt x="14" y="51"/>
                  </a:moveTo>
                  <a:cubicBezTo>
                    <a:pt x="11" y="54"/>
                    <a:pt x="7" y="55"/>
                    <a:pt x="4" y="52"/>
                  </a:cubicBezTo>
                  <a:cubicBezTo>
                    <a:pt x="1" y="50"/>
                    <a:pt x="0" y="45"/>
                    <a:pt x="3" y="42"/>
                  </a:cubicBezTo>
                  <a:cubicBezTo>
                    <a:pt x="34" y="4"/>
                    <a:pt x="34" y="4"/>
                    <a:pt x="34" y="4"/>
                  </a:cubicBezTo>
                  <a:cubicBezTo>
                    <a:pt x="37" y="1"/>
                    <a:pt x="42" y="0"/>
                    <a:pt x="45" y="3"/>
                  </a:cubicBezTo>
                  <a:cubicBezTo>
                    <a:pt x="48" y="6"/>
                    <a:pt x="48" y="10"/>
                    <a:pt x="46" y="13"/>
                  </a:cubicBezTo>
                  <a:lnTo>
                    <a:pt x="14" y="51"/>
                  </a:lnTo>
                  <a:close/>
                </a:path>
              </a:pathLst>
            </a:custGeom>
            <a:solidFill>
              <a:srgbClr val="FF6D3A"/>
            </a:solidFill>
            <a:ln w="9525">
              <a:noFill/>
              <a:round/>
            </a:ln>
          </p:spPr>
          <p:txBody>
            <a:bodyPr anchor="ctr"/>
            <a:lstStyle/>
            <a:p>
              <a:pPr algn="ctr"/>
              <a:endParaRPr sz="2200" b="1"/>
            </a:p>
          </p:txBody>
        </p:sp>
        <p:sp>
          <p:nvSpPr>
            <p:cNvPr id="38" name="íṩļîḋé"/>
            <p:cNvSpPr/>
            <p:nvPr/>
          </p:nvSpPr>
          <p:spPr bwMode="auto">
            <a:xfrm>
              <a:off x="6940483" y="2308463"/>
              <a:ext cx="498321" cy="194954"/>
            </a:xfrm>
            <a:custGeom>
              <a:avLst/>
              <a:gdLst/>
              <a:ahLst/>
              <a:cxnLst>
                <a:cxn ang="0">
                  <a:pos x="9" y="24"/>
                </a:cxn>
                <a:cxn ang="0">
                  <a:pos x="1" y="18"/>
                </a:cxn>
                <a:cxn ang="0">
                  <a:pos x="7" y="9"/>
                </a:cxn>
                <a:cxn ang="0">
                  <a:pos x="55" y="1"/>
                </a:cxn>
                <a:cxn ang="0">
                  <a:pos x="64" y="7"/>
                </a:cxn>
                <a:cxn ang="0">
                  <a:pos x="58" y="15"/>
                </a:cxn>
                <a:cxn ang="0">
                  <a:pos x="9" y="24"/>
                </a:cxn>
              </a:cxnLst>
              <a:rect l="0" t="0" r="r" b="b"/>
              <a:pathLst>
                <a:path w="64" h="25">
                  <a:moveTo>
                    <a:pt x="9" y="24"/>
                  </a:moveTo>
                  <a:cubicBezTo>
                    <a:pt x="5" y="25"/>
                    <a:pt x="1" y="22"/>
                    <a:pt x="1" y="18"/>
                  </a:cubicBezTo>
                  <a:cubicBezTo>
                    <a:pt x="0" y="14"/>
                    <a:pt x="3" y="10"/>
                    <a:pt x="7" y="9"/>
                  </a:cubicBezTo>
                  <a:cubicBezTo>
                    <a:pt x="55" y="1"/>
                    <a:pt x="55" y="1"/>
                    <a:pt x="55" y="1"/>
                  </a:cubicBezTo>
                  <a:cubicBezTo>
                    <a:pt x="59" y="0"/>
                    <a:pt x="63" y="3"/>
                    <a:pt x="64" y="7"/>
                  </a:cubicBezTo>
                  <a:cubicBezTo>
                    <a:pt x="64" y="11"/>
                    <a:pt x="62" y="15"/>
                    <a:pt x="58" y="15"/>
                  </a:cubicBezTo>
                  <a:lnTo>
                    <a:pt x="9" y="24"/>
                  </a:lnTo>
                  <a:close/>
                </a:path>
              </a:pathLst>
            </a:custGeom>
            <a:solidFill>
              <a:srgbClr val="FF6D3A"/>
            </a:solidFill>
            <a:ln w="9525">
              <a:noFill/>
              <a:round/>
            </a:ln>
          </p:spPr>
          <p:txBody>
            <a:bodyPr anchor="ctr"/>
            <a:lstStyle/>
            <a:p>
              <a:pPr algn="ctr"/>
              <a:endParaRPr sz="2200" b="1"/>
            </a:p>
          </p:txBody>
        </p:sp>
        <p:sp>
          <p:nvSpPr>
            <p:cNvPr id="39" name="ïs1idè"/>
            <p:cNvSpPr/>
            <p:nvPr/>
          </p:nvSpPr>
          <p:spPr bwMode="auto">
            <a:xfrm>
              <a:off x="4745588" y="2308463"/>
              <a:ext cx="505929" cy="194954"/>
            </a:xfrm>
            <a:custGeom>
              <a:avLst/>
              <a:gdLst/>
              <a:ahLst/>
              <a:cxnLst>
                <a:cxn ang="0">
                  <a:pos x="58" y="9"/>
                </a:cxn>
                <a:cxn ang="0">
                  <a:pos x="64" y="18"/>
                </a:cxn>
                <a:cxn ang="0">
                  <a:pos x="55" y="24"/>
                </a:cxn>
                <a:cxn ang="0">
                  <a:pos x="7" y="15"/>
                </a:cxn>
                <a:cxn ang="0">
                  <a:pos x="1" y="7"/>
                </a:cxn>
                <a:cxn ang="0">
                  <a:pos x="10" y="1"/>
                </a:cxn>
                <a:cxn ang="0">
                  <a:pos x="58" y="9"/>
                </a:cxn>
              </a:cxnLst>
              <a:rect l="0" t="0" r="r" b="b"/>
              <a:pathLst>
                <a:path w="65" h="25">
                  <a:moveTo>
                    <a:pt x="58" y="9"/>
                  </a:moveTo>
                  <a:cubicBezTo>
                    <a:pt x="62" y="10"/>
                    <a:pt x="65" y="14"/>
                    <a:pt x="64" y="18"/>
                  </a:cubicBezTo>
                  <a:cubicBezTo>
                    <a:pt x="63" y="22"/>
                    <a:pt x="60" y="25"/>
                    <a:pt x="55" y="24"/>
                  </a:cubicBezTo>
                  <a:cubicBezTo>
                    <a:pt x="7" y="15"/>
                    <a:pt x="7" y="15"/>
                    <a:pt x="7" y="15"/>
                  </a:cubicBezTo>
                  <a:cubicBezTo>
                    <a:pt x="3" y="15"/>
                    <a:pt x="0" y="11"/>
                    <a:pt x="1" y="7"/>
                  </a:cubicBezTo>
                  <a:cubicBezTo>
                    <a:pt x="2" y="3"/>
                    <a:pt x="6" y="0"/>
                    <a:pt x="10" y="1"/>
                  </a:cubicBezTo>
                  <a:lnTo>
                    <a:pt x="58" y="9"/>
                  </a:lnTo>
                  <a:close/>
                </a:path>
              </a:pathLst>
            </a:custGeom>
            <a:solidFill>
              <a:srgbClr val="FF6D3A"/>
            </a:solidFill>
            <a:ln w="9525">
              <a:noFill/>
              <a:round/>
            </a:ln>
          </p:spPr>
          <p:txBody>
            <a:bodyPr anchor="ctr"/>
            <a:lstStyle/>
            <a:p>
              <a:pPr algn="ctr"/>
              <a:endParaRPr sz="2200" b="1"/>
            </a:p>
          </p:txBody>
        </p:sp>
        <p:sp>
          <p:nvSpPr>
            <p:cNvPr id="40" name="íṥlíďé"/>
            <p:cNvSpPr/>
            <p:nvPr/>
          </p:nvSpPr>
          <p:spPr bwMode="auto">
            <a:xfrm>
              <a:off x="5189703" y="1530550"/>
              <a:ext cx="372790" cy="427947"/>
            </a:xfrm>
            <a:custGeom>
              <a:avLst/>
              <a:gdLst/>
              <a:ahLst/>
              <a:cxnLst>
                <a:cxn ang="0">
                  <a:pos x="46" y="42"/>
                </a:cxn>
                <a:cxn ang="0">
                  <a:pos x="45" y="52"/>
                </a:cxn>
                <a:cxn ang="0">
                  <a:pos x="35" y="51"/>
                </a:cxn>
                <a:cxn ang="0">
                  <a:pos x="3" y="13"/>
                </a:cxn>
                <a:cxn ang="0">
                  <a:pos x="4" y="3"/>
                </a:cxn>
                <a:cxn ang="0">
                  <a:pos x="14" y="4"/>
                </a:cxn>
                <a:cxn ang="0">
                  <a:pos x="46" y="42"/>
                </a:cxn>
              </a:cxnLst>
              <a:rect l="0" t="0" r="r" b="b"/>
              <a:pathLst>
                <a:path w="48" h="55">
                  <a:moveTo>
                    <a:pt x="46" y="42"/>
                  </a:moveTo>
                  <a:cubicBezTo>
                    <a:pt x="48" y="45"/>
                    <a:pt x="48" y="50"/>
                    <a:pt x="45" y="52"/>
                  </a:cubicBezTo>
                  <a:cubicBezTo>
                    <a:pt x="42" y="55"/>
                    <a:pt x="37" y="54"/>
                    <a:pt x="35" y="51"/>
                  </a:cubicBezTo>
                  <a:cubicBezTo>
                    <a:pt x="3" y="13"/>
                    <a:pt x="3" y="13"/>
                    <a:pt x="3" y="13"/>
                  </a:cubicBezTo>
                  <a:cubicBezTo>
                    <a:pt x="0" y="10"/>
                    <a:pt x="1" y="6"/>
                    <a:pt x="4" y="3"/>
                  </a:cubicBezTo>
                  <a:cubicBezTo>
                    <a:pt x="7" y="0"/>
                    <a:pt x="12" y="1"/>
                    <a:pt x="14" y="4"/>
                  </a:cubicBezTo>
                  <a:lnTo>
                    <a:pt x="46" y="42"/>
                  </a:lnTo>
                  <a:close/>
                </a:path>
              </a:pathLst>
            </a:custGeom>
            <a:solidFill>
              <a:srgbClr val="FF6D3A"/>
            </a:solidFill>
            <a:ln w="9525">
              <a:noFill/>
              <a:round/>
            </a:ln>
          </p:spPr>
          <p:txBody>
            <a:bodyPr anchor="ctr"/>
            <a:lstStyle/>
            <a:p>
              <a:pPr algn="ctr"/>
              <a:endParaRPr sz="2200" b="1"/>
            </a:p>
          </p:txBody>
        </p:sp>
        <p:sp>
          <p:nvSpPr>
            <p:cNvPr id="41" name="ïṧḷîdê"/>
            <p:cNvSpPr/>
            <p:nvPr/>
          </p:nvSpPr>
          <p:spPr bwMode="auto">
            <a:xfrm>
              <a:off x="6037990" y="1233840"/>
              <a:ext cx="116972" cy="498321"/>
            </a:xfrm>
            <a:custGeom>
              <a:avLst/>
              <a:gdLst/>
              <a:ahLst/>
              <a:cxnLst>
                <a:cxn ang="0">
                  <a:pos x="15" y="57"/>
                </a:cxn>
                <a:cxn ang="0">
                  <a:pos x="7" y="64"/>
                </a:cxn>
                <a:cxn ang="0">
                  <a:pos x="0" y="57"/>
                </a:cxn>
                <a:cxn ang="0">
                  <a:pos x="0" y="8"/>
                </a:cxn>
                <a:cxn ang="0">
                  <a:pos x="7" y="0"/>
                </a:cxn>
                <a:cxn ang="0">
                  <a:pos x="15" y="8"/>
                </a:cxn>
                <a:cxn ang="0">
                  <a:pos x="15" y="57"/>
                </a:cxn>
              </a:cxnLst>
              <a:rect l="0" t="0" r="r" b="b"/>
              <a:pathLst>
                <a:path w="15" h="64">
                  <a:moveTo>
                    <a:pt x="15" y="57"/>
                  </a:moveTo>
                  <a:cubicBezTo>
                    <a:pt x="15" y="61"/>
                    <a:pt x="11" y="64"/>
                    <a:pt x="7" y="64"/>
                  </a:cubicBezTo>
                  <a:cubicBezTo>
                    <a:pt x="3" y="64"/>
                    <a:pt x="0" y="61"/>
                    <a:pt x="0" y="57"/>
                  </a:cubicBezTo>
                  <a:cubicBezTo>
                    <a:pt x="0" y="8"/>
                    <a:pt x="0" y="8"/>
                    <a:pt x="0" y="8"/>
                  </a:cubicBezTo>
                  <a:cubicBezTo>
                    <a:pt x="0" y="3"/>
                    <a:pt x="3" y="0"/>
                    <a:pt x="7" y="0"/>
                  </a:cubicBezTo>
                  <a:cubicBezTo>
                    <a:pt x="11" y="0"/>
                    <a:pt x="15" y="3"/>
                    <a:pt x="15" y="8"/>
                  </a:cubicBezTo>
                  <a:lnTo>
                    <a:pt x="15" y="57"/>
                  </a:lnTo>
                  <a:close/>
                </a:path>
              </a:pathLst>
            </a:custGeom>
            <a:solidFill>
              <a:srgbClr val="FF6D3A"/>
            </a:solidFill>
            <a:ln w="9525">
              <a:noFill/>
              <a:round/>
            </a:ln>
          </p:spPr>
          <p:txBody>
            <a:bodyPr anchor="ctr"/>
            <a:lstStyle/>
            <a:p>
              <a:pPr algn="ctr"/>
              <a:endParaRPr sz="2200" b="1"/>
            </a:p>
          </p:txBody>
        </p:sp>
        <p:sp>
          <p:nvSpPr>
            <p:cNvPr id="42" name="iSḷïdé"/>
            <p:cNvSpPr/>
            <p:nvPr/>
          </p:nvSpPr>
          <p:spPr bwMode="auto">
            <a:xfrm>
              <a:off x="5928625" y="2300855"/>
              <a:ext cx="373740" cy="381349"/>
            </a:xfrm>
            <a:custGeom>
              <a:avLst/>
              <a:gdLst/>
              <a:ahLst/>
              <a:cxnLst>
                <a:cxn ang="0">
                  <a:pos x="172" y="401"/>
                </a:cxn>
                <a:cxn ang="0">
                  <a:pos x="172" y="106"/>
                </a:cxn>
                <a:cxn ang="0">
                  <a:pos x="107" y="237"/>
                </a:cxn>
                <a:cxn ang="0">
                  <a:pos x="0" y="237"/>
                </a:cxn>
                <a:cxn ang="0">
                  <a:pos x="0" y="205"/>
                </a:cxn>
                <a:cxn ang="0">
                  <a:pos x="98" y="205"/>
                </a:cxn>
                <a:cxn ang="0">
                  <a:pos x="197" y="0"/>
                </a:cxn>
                <a:cxn ang="0">
                  <a:pos x="197" y="319"/>
                </a:cxn>
                <a:cxn ang="0">
                  <a:pos x="262" y="221"/>
                </a:cxn>
                <a:cxn ang="0">
                  <a:pos x="393" y="221"/>
                </a:cxn>
                <a:cxn ang="0">
                  <a:pos x="393" y="246"/>
                </a:cxn>
                <a:cxn ang="0">
                  <a:pos x="279" y="246"/>
                </a:cxn>
                <a:cxn ang="0">
                  <a:pos x="172" y="401"/>
                </a:cxn>
              </a:cxnLst>
              <a:rect l="0" t="0" r="r" b="b"/>
              <a:pathLst>
                <a:path w="393" h="401">
                  <a:moveTo>
                    <a:pt x="172" y="401"/>
                  </a:moveTo>
                  <a:lnTo>
                    <a:pt x="172" y="106"/>
                  </a:lnTo>
                  <a:lnTo>
                    <a:pt x="107" y="237"/>
                  </a:lnTo>
                  <a:lnTo>
                    <a:pt x="0" y="237"/>
                  </a:lnTo>
                  <a:lnTo>
                    <a:pt x="0" y="205"/>
                  </a:lnTo>
                  <a:lnTo>
                    <a:pt x="98" y="205"/>
                  </a:lnTo>
                  <a:lnTo>
                    <a:pt x="197" y="0"/>
                  </a:lnTo>
                  <a:lnTo>
                    <a:pt x="197" y="319"/>
                  </a:lnTo>
                  <a:lnTo>
                    <a:pt x="262" y="221"/>
                  </a:lnTo>
                  <a:lnTo>
                    <a:pt x="393" y="221"/>
                  </a:lnTo>
                  <a:lnTo>
                    <a:pt x="393" y="246"/>
                  </a:lnTo>
                  <a:lnTo>
                    <a:pt x="279" y="246"/>
                  </a:lnTo>
                  <a:lnTo>
                    <a:pt x="172" y="401"/>
                  </a:lnTo>
                  <a:close/>
                </a:path>
              </a:pathLst>
            </a:custGeom>
            <a:solidFill>
              <a:srgbClr val="FFFFFF"/>
            </a:solidFill>
            <a:ln w="9525">
              <a:noFill/>
              <a:round/>
            </a:ln>
          </p:spPr>
          <p:txBody>
            <a:bodyPr anchor="ctr"/>
            <a:lstStyle/>
            <a:p>
              <a:pPr algn="ctr"/>
              <a:endParaRPr sz="2200" b="1"/>
            </a:p>
          </p:txBody>
        </p:sp>
        <p:sp>
          <p:nvSpPr>
            <p:cNvPr id="43" name="iśľîḋê"/>
            <p:cNvSpPr/>
            <p:nvPr/>
          </p:nvSpPr>
          <p:spPr bwMode="auto">
            <a:xfrm>
              <a:off x="7384597" y="3585648"/>
              <a:ext cx="1393206" cy="2490654"/>
            </a:xfrm>
            <a:custGeom>
              <a:avLst/>
              <a:gdLst/>
              <a:ahLst/>
              <a:cxnLst>
                <a:cxn ang="0">
                  <a:pos x="44" y="77"/>
                </a:cxn>
                <a:cxn ang="0">
                  <a:pos x="54" y="64"/>
                </a:cxn>
                <a:cxn ang="0">
                  <a:pos x="56" y="37"/>
                </a:cxn>
                <a:cxn ang="0">
                  <a:pos x="87" y="20"/>
                </a:cxn>
                <a:cxn ang="0">
                  <a:pos x="112" y="0"/>
                </a:cxn>
                <a:cxn ang="0">
                  <a:pos x="117" y="66"/>
                </a:cxn>
                <a:cxn ang="0">
                  <a:pos x="127" y="77"/>
                </a:cxn>
                <a:cxn ang="0">
                  <a:pos x="179" y="85"/>
                </a:cxn>
                <a:cxn ang="0">
                  <a:pos x="172" y="320"/>
                </a:cxn>
                <a:cxn ang="0">
                  <a:pos x="18" y="320"/>
                </a:cxn>
                <a:cxn ang="0">
                  <a:pos x="0" y="84"/>
                </a:cxn>
                <a:cxn ang="0">
                  <a:pos x="44" y="77"/>
                </a:cxn>
              </a:cxnLst>
              <a:rect l="0" t="0" r="r" b="b"/>
              <a:pathLst>
                <a:path w="179" h="320">
                  <a:moveTo>
                    <a:pt x="44" y="77"/>
                  </a:moveTo>
                  <a:cubicBezTo>
                    <a:pt x="50" y="76"/>
                    <a:pt x="54" y="70"/>
                    <a:pt x="54" y="64"/>
                  </a:cubicBezTo>
                  <a:cubicBezTo>
                    <a:pt x="56" y="37"/>
                    <a:pt x="56" y="37"/>
                    <a:pt x="56" y="37"/>
                  </a:cubicBezTo>
                  <a:cubicBezTo>
                    <a:pt x="87" y="20"/>
                    <a:pt x="87" y="20"/>
                    <a:pt x="87" y="20"/>
                  </a:cubicBezTo>
                  <a:cubicBezTo>
                    <a:pt x="112" y="0"/>
                    <a:pt x="112" y="0"/>
                    <a:pt x="112" y="0"/>
                  </a:cubicBezTo>
                  <a:cubicBezTo>
                    <a:pt x="117" y="66"/>
                    <a:pt x="117" y="66"/>
                    <a:pt x="117" y="66"/>
                  </a:cubicBezTo>
                  <a:cubicBezTo>
                    <a:pt x="118" y="71"/>
                    <a:pt x="122" y="76"/>
                    <a:pt x="127" y="77"/>
                  </a:cubicBezTo>
                  <a:cubicBezTo>
                    <a:pt x="179" y="85"/>
                    <a:pt x="179" y="85"/>
                    <a:pt x="179" y="85"/>
                  </a:cubicBezTo>
                  <a:cubicBezTo>
                    <a:pt x="172" y="320"/>
                    <a:pt x="172" y="320"/>
                    <a:pt x="172" y="320"/>
                  </a:cubicBezTo>
                  <a:cubicBezTo>
                    <a:pt x="18" y="320"/>
                    <a:pt x="18" y="320"/>
                    <a:pt x="18" y="320"/>
                  </a:cubicBezTo>
                  <a:cubicBezTo>
                    <a:pt x="0" y="84"/>
                    <a:pt x="0" y="84"/>
                    <a:pt x="0" y="84"/>
                  </a:cubicBezTo>
                  <a:lnTo>
                    <a:pt x="44" y="77"/>
                  </a:lnTo>
                  <a:close/>
                </a:path>
              </a:pathLst>
            </a:custGeom>
            <a:solidFill>
              <a:srgbClr val="FFE1CC"/>
            </a:solidFill>
            <a:ln w="9525">
              <a:noFill/>
              <a:round/>
            </a:ln>
          </p:spPr>
          <p:txBody>
            <a:bodyPr anchor="ctr"/>
            <a:lstStyle/>
            <a:p>
              <a:pPr algn="ctr"/>
              <a:endParaRPr sz="2200" b="1"/>
            </a:p>
          </p:txBody>
        </p:sp>
        <p:sp>
          <p:nvSpPr>
            <p:cNvPr id="44" name="íṥḷiḑè"/>
            <p:cNvSpPr/>
            <p:nvPr/>
          </p:nvSpPr>
          <p:spPr bwMode="auto">
            <a:xfrm>
              <a:off x="3406588" y="3585648"/>
              <a:ext cx="1400814" cy="2506821"/>
            </a:xfrm>
            <a:custGeom>
              <a:avLst/>
              <a:gdLst/>
              <a:ahLst/>
              <a:cxnLst>
                <a:cxn ang="0">
                  <a:pos x="135" y="77"/>
                </a:cxn>
                <a:cxn ang="0">
                  <a:pos x="125" y="64"/>
                </a:cxn>
                <a:cxn ang="0">
                  <a:pos x="123" y="0"/>
                </a:cxn>
                <a:cxn ang="0">
                  <a:pos x="91" y="0"/>
                </a:cxn>
                <a:cxn ang="0">
                  <a:pos x="63" y="0"/>
                </a:cxn>
                <a:cxn ang="0">
                  <a:pos x="62" y="66"/>
                </a:cxn>
                <a:cxn ang="0">
                  <a:pos x="52" y="77"/>
                </a:cxn>
                <a:cxn ang="0">
                  <a:pos x="0" y="85"/>
                </a:cxn>
                <a:cxn ang="0">
                  <a:pos x="7" y="321"/>
                </a:cxn>
                <a:cxn ang="0">
                  <a:pos x="161" y="322"/>
                </a:cxn>
                <a:cxn ang="0">
                  <a:pos x="180" y="84"/>
                </a:cxn>
                <a:cxn ang="0">
                  <a:pos x="135" y="77"/>
                </a:cxn>
              </a:cxnLst>
              <a:rect l="0" t="0" r="r" b="b"/>
              <a:pathLst>
                <a:path w="180" h="322">
                  <a:moveTo>
                    <a:pt x="135" y="77"/>
                  </a:moveTo>
                  <a:cubicBezTo>
                    <a:pt x="130" y="76"/>
                    <a:pt x="125" y="70"/>
                    <a:pt x="125" y="64"/>
                  </a:cubicBezTo>
                  <a:cubicBezTo>
                    <a:pt x="123" y="0"/>
                    <a:pt x="123" y="0"/>
                    <a:pt x="123" y="0"/>
                  </a:cubicBezTo>
                  <a:cubicBezTo>
                    <a:pt x="91" y="0"/>
                    <a:pt x="91" y="0"/>
                    <a:pt x="91" y="0"/>
                  </a:cubicBezTo>
                  <a:cubicBezTo>
                    <a:pt x="63" y="0"/>
                    <a:pt x="63" y="0"/>
                    <a:pt x="63" y="0"/>
                  </a:cubicBezTo>
                  <a:cubicBezTo>
                    <a:pt x="62" y="66"/>
                    <a:pt x="62" y="66"/>
                    <a:pt x="62" y="66"/>
                  </a:cubicBezTo>
                  <a:cubicBezTo>
                    <a:pt x="62" y="71"/>
                    <a:pt x="58" y="76"/>
                    <a:pt x="52" y="77"/>
                  </a:cubicBezTo>
                  <a:cubicBezTo>
                    <a:pt x="0" y="85"/>
                    <a:pt x="0" y="85"/>
                    <a:pt x="0" y="85"/>
                  </a:cubicBezTo>
                  <a:cubicBezTo>
                    <a:pt x="7" y="321"/>
                    <a:pt x="7" y="321"/>
                    <a:pt x="7" y="321"/>
                  </a:cubicBezTo>
                  <a:cubicBezTo>
                    <a:pt x="161" y="322"/>
                    <a:pt x="161" y="322"/>
                    <a:pt x="161" y="322"/>
                  </a:cubicBezTo>
                  <a:cubicBezTo>
                    <a:pt x="180" y="84"/>
                    <a:pt x="180" y="84"/>
                    <a:pt x="180" y="84"/>
                  </a:cubicBezTo>
                  <a:lnTo>
                    <a:pt x="135" y="77"/>
                  </a:lnTo>
                  <a:close/>
                </a:path>
              </a:pathLst>
            </a:custGeom>
            <a:solidFill>
              <a:srgbClr val="FFE1CC"/>
            </a:solidFill>
            <a:ln w="9525">
              <a:noFill/>
              <a:round/>
            </a:ln>
          </p:spPr>
          <p:txBody>
            <a:bodyPr anchor="ctr"/>
            <a:lstStyle/>
            <a:p>
              <a:pPr algn="ctr"/>
              <a:endParaRPr sz="2200" b="1"/>
            </a:p>
          </p:txBody>
        </p:sp>
        <p:sp>
          <p:nvSpPr>
            <p:cNvPr id="45" name="í$1iḍé"/>
            <p:cNvSpPr/>
            <p:nvPr/>
          </p:nvSpPr>
          <p:spPr bwMode="auto">
            <a:xfrm>
              <a:off x="5975224" y="5539942"/>
              <a:ext cx="459330" cy="248210"/>
            </a:xfrm>
            <a:custGeom>
              <a:avLst/>
              <a:gdLst/>
              <a:ahLst/>
              <a:cxnLst>
                <a:cxn ang="0">
                  <a:pos x="50" y="28"/>
                </a:cxn>
                <a:cxn ang="0">
                  <a:pos x="29" y="21"/>
                </a:cxn>
                <a:cxn ang="0">
                  <a:pos x="7" y="26"/>
                </a:cxn>
                <a:cxn ang="0">
                  <a:pos x="1" y="18"/>
                </a:cxn>
                <a:cxn ang="0">
                  <a:pos x="28" y="7"/>
                </a:cxn>
                <a:cxn ang="0">
                  <a:pos x="55" y="12"/>
                </a:cxn>
                <a:cxn ang="0">
                  <a:pos x="50" y="28"/>
                </a:cxn>
              </a:cxnLst>
              <a:rect l="0" t="0" r="r" b="b"/>
              <a:pathLst>
                <a:path w="59" h="32">
                  <a:moveTo>
                    <a:pt x="50" y="28"/>
                  </a:moveTo>
                  <a:cubicBezTo>
                    <a:pt x="43" y="32"/>
                    <a:pt x="33" y="27"/>
                    <a:pt x="29" y="21"/>
                  </a:cubicBezTo>
                  <a:cubicBezTo>
                    <a:pt x="27" y="19"/>
                    <a:pt x="14" y="26"/>
                    <a:pt x="7" y="26"/>
                  </a:cubicBezTo>
                  <a:cubicBezTo>
                    <a:pt x="0" y="26"/>
                    <a:pt x="0" y="19"/>
                    <a:pt x="1" y="18"/>
                  </a:cubicBezTo>
                  <a:cubicBezTo>
                    <a:pt x="1" y="16"/>
                    <a:pt x="23" y="9"/>
                    <a:pt x="28" y="7"/>
                  </a:cubicBezTo>
                  <a:cubicBezTo>
                    <a:pt x="46" y="0"/>
                    <a:pt x="51" y="6"/>
                    <a:pt x="55" y="12"/>
                  </a:cubicBezTo>
                  <a:cubicBezTo>
                    <a:pt x="59" y="18"/>
                    <a:pt x="56" y="23"/>
                    <a:pt x="50" y="28"/>
                  </a:cubicBezTo>
                  <a:close/>
                </a:path>
              </a:pathLst>
            </a:custGeom>
            <a:solidFill>
              <a:srgbClr val="FFE1CC"/>
            </a:solidFill>
            <a:ln w="9525">
              <a:noFill/>
              <a:round/>
            </a:ln>
          </p:spPr>
          <p:txBody>
            <a:bodyPr anchor="ctr"/>
            <a:lstStyle/>
            <a:p>
              <a:pPr algn="ctr"/>
              <a:endParaRPr sz="2200" b="1"/>
            </a:p>
          </p:txBody>
        </p:sp>
        <p:sp>
          <p:nvSpPr>
            <p:cNvPr id="46" name="îšľíḍè"/>
            <p:cNvSpPr/>
            <p:nvPr/>
          </p:nvSpPr>
          <p:spPr bwMode="auto">
            <a:xfrm>
              <a:off x="5679465" y="5577981"/>
              <a:ext cx="576302" cy="537312"/>
            </a:xfrm>
            <a:custGeom>
              <a:avLst/>
              <a:gdLst/>
              <a:ahLst/>
              <a:cxnLst>
                <a:cxn ang="0">
                  <a:pos x="5" y="22"/>
                </a:cxn>
                <a:cxn ang="0">
                  <a:pos x="21" y="0"/>
                </a:cxn>
                <a:cxn ang="0">
                  <a:pos x="39" y="5"/>
                </a:cxn>
                <a:cxn ang="0">
                  <a:pos x="70" y="37"/>
                </a:cxn>
                <a:cxn ang="0">
                  <a:pos x="65" y="55"/>
                </a:cxn>
                <a:cxn ang="0">
                  <a:pos x="64" y="56"/>
                </a:cxn>
                <a:cxn ang="0">
                  <a:pos x="50" y="65"/>
                </a:cxn>
                <a:cxn ang="0">
                  <a:pos x="14" y="44"/>
                </a:cxn>
                <a:cxn ang="0">
                  <a:pos x="5" y="22"/>
                </a:cxn>
              </a:cxnLst>
              <a:rect l="0" t="0" r="r" b="b"/>
              <a:pathLst>
                <a:path w="74" h="69">
                  <a:moveTo>
                    <a:pt x="5" y="22"/>
                  </a:moveTo>
                  <a:cubicBezTo>
                    <a:pt x="21" y="0"/>
                    <a:pt x="21" y="0"/>
                    <a:pt x="21" y="0"/>
                  </a:cubicBezTo>
                  <a:cubicBezTo>
                    <a:pt x="39" y="5"/>
                    <a:pt x="39" y="5"/>
                    <a:pt x="39" y="5"/>
                  </a:cubicBezTo>
                  <a:cubicBezTo>
                    <a:pt x="70" y="37"/>
                    <a:pt x="70" y="37"/>
                    <a:pt x="70" y="37"/>
                  </a:cubicBezTo>
                  <a:cubicBezTo>
                    <a:pt x="70" y="37"/>
                    <a:pt x="74" y="42"/>
                    <a:pt x="65" y="55"/>
                  </a:cubicBezTo>
                  <a:cubicBezTo>
                    <a:pt x="59" y="64"/>
                    <a:pt x="64" y="56"/>
                    <a:pt x="64" y="56"/>
                  </a:cubicBezTo>
                  <a:cubicBezTo>
                    <a:pt x="56" y="69"/>
                    <a:pt x="50" y="65"/>
                    <a:pt x="50" y="65"/>
                  </a:cubicBezTo>
                  <a:cubicBezTo>
                    <a:pt x="14" y="44"/>
                    <a:pt x="14" y="44"/>
                    <a:pt x="14" y="44"/>
                  </a:cubicBezTo>
                  <a:cubicBezTo>
                    <a:pt x="6" y="39"/>
                    <a:pt x="0" y="30"/>
                    <a:pt x="5" y="22"/>
                  </a:cubicBezTo>
                  <a:close/>
                </a:path>
              </a:pathLst>
            </a:custGeom>
            <a:solidFill>
              <a:srgbClr val="EACDB5"/>
            </a:solidFill>
            <a:ln w="9525">
              <a:noFill/>
              <a:round/>
            </a:ln>
          </p:spPr>
          <p:txBody>
            <a:bodyPr anchor="ctr"/>
            <a:lstStyle/>
            <a:p>
              <a:pPr algn="ctr"/>
              <a:endParaRPr sz="2200" b="1"/>
            </a:p>
          </p:txBody>
        </p:sp>
        <p:sp>
          <p:nvSpPr>
            <p:cNvPr id="47" name="išľîḑe"/>
            <p:cNvSpPr/>
            <p:nvPr/>
          </p:nvSpPr>
          <p:spPr bwMode="auto">
            <a:xfrm>
              <a:off x="5889635" y="5609364"/>
              <a:ext cx="639068" cy="537312"/>
            </a:xfrm>
            <a:custGeom>
              <a:avLst/>
              <a:gdLst/>
              <a:ahLst/>
              <a:cxnLst>
                <a:cxn ang="0">
                  <a:pos x="77" y="18"/>
                </a:cxn>
                <a:cxn ang="0">
                  <a:pos x="65" y="1"/>
                </a:cxn>
                <a:cxn ang="0">
                  <a:pos x="38" y="8"/>
                </a:cxn>
                <a:cxn ang="0">
                  <a:pos x="35" y="10"/>
                </a:cxn>
                <a:cxn ang="0">
                  <a:pos x="13" y="33"/>
                </a:cxn>
                <a:cxn ang="0">
                  <a:pos x="9" y="56"/>
                </a:cxn>
                <a:cxn ang="0">
                  <a:pos x="10" y="57"/>
                </a:cxn>
                <a:cxn ang="0">
                  <a:pos x="32" y="61"/>
                </a:cxn>
                <a:cxn ang="0">
                  <a:pos x="69" y="40"/>
                </a:cxn>
                <a:cxn ang="0">
                  <a:pos x="77" y="18"/>
                </a:cxn>
              </a:cxnLst>
              <a:rect l="0" t="0" r="r" b="b"/>
              <a:pathLst>
                <a:path w="82" h="69">
                  <a:moveTo>
                    <a:pt x="77" y="18"/>
                  </a:moveTo>
                  <a:cubicBezTo>
                    <a:pt x="65" y="1"/>
                    <a:pt x="65" y="1"/>
                    <a:pt x="65" y="1"/>
                  </a:cubicBezTo>
                  <a:cubicBezTo>
                    <a:pt x="65" y="1"/>
                    <a:pt x="49" y="0"/>
                    <a:pt x="38" y="8"/>
                  </a:cubicBezTo>
                  <a:cubicBezTo>
                    <a:pt x="36" y="10"/>
                    <a:pt x="35" y="10"/>
                    <a:pt x="35" y="10"/>
                  </a:cubicBezTo>
                  <a:cubicBezTo>
                    <a:pt x="13" y="33"/>
                    <a:pt x="13" y="33"/>
                    <a:pt x="13" y="33"/>
                  </a:cubicBezTo>
                  <a:cubicBezTo>
                    <a:pt x="13" y="33"/>
                    <a:pt x="0" y="42"/>
                    <a:pt x="9" y="56"/>
                  </a:cubicBezTo>
                  <a:cubicBezTo>
                    <a:pt x="16" y="65"/>
                    <a:pt x="10" y="57"/>
                    <a:pt x="10" y="57"/>
                  </a:cubicBezTo>
                  <a:cubicBezTo>
                    <a:pt x="18" y="69"/>
                    <a:pt x="32" y="61"/>
                    <a:pt x="32" y="61"/>
                  </a:cubicBezTo>
                  <a:cubicBezTo>
                    <a:pt x="69" y="40"/>
                    <a:pt x="69" y="40"/>
                    <a:pt x="69" y="40"/>
                  </a:cubicBezTo>
                  <a:cubicBezTo>
                    <a:pt x="76" y="35"/>
                    <a:pt x="82" y="26"/>
                    <a:pt x="77" y="18"/>
                  </a:cubicBezTo>
                  <a:close/>
                </a:path>
              </a:pathLst>
            </a:custGeom>
            <a:solidFill>
              <a:srgbClr val="FFE1CC"/>
            </a:solidFill>
            <a:ln w="9525">
              <a:noFill/>
              <a:round/>
            </a:ln>
          </p:spPr>
          <p:txBody>
            <a:bodyPr anchor="ctr"/>
            <a:lstStyle/>
            <a:p>
              <a:pPr algn="ctr"/>
              <a:endParaRPr sz="2200" b="1"/>
            </a:p>
          </p:txBody>
        </p:sp>
        <p:sp>
          <p:nvSpPr>
            <p:cNvPr id="48" name="ï$1ídé"/>
            <p:cNvSpPr/>
            <p:nvPr/>
          </p:nvSpPr>
          <p:spPr bwMode="auto">
            <a:xfrm>
              <a:off x="6053206" y="5843309"/>
              <a:ext cx="295759" cy="241553"/>
            </a:xfrm>
            <a:custGeom>
              <a:avLst/>
              <a:gdLst/>
              <a:ahLst/>
              <a:cxnLst>
                <a:cxn ang="0">
                  <a:pos x="10" y="31"/>
                </a:cxn>
                <a:cxn ang="0">
                  <a:pos x="38" y="15"/>
                </a:cxn>
                <a:cxn ang="0">
                  <a:pos x="10" y="10"/>
                </a:cxn>
                <a:cxn ang="0">
                  <a:pos x="10" y="31"/>
                </a:cxn>
              </a:cxnLst>
              <a:rect l="0" t="0" r="r" b="b"/>
              <a:pathLst>
                <a:path w="38" h="31">
                  <a:moveTo>
                    <a:pt x="10" y="31"/>
                  </a:moveTo>
                  <a:cubicBezTo>
                    <a:pt x="38" y="15"/>
                    <a:pt x="38" y="15"/>
                    <a:pt x="38" y="15"/>
                  </a:cubicBezTo>
                  <a:cubicBezTo>
                    <a:pt x="38" y="15"/>
                    <a:pt x="27" y="0"/>
                    <a:pt x="10" y="10"/>
                  </a:cubicBezTo>
                  <a:cubicBezTo>
                    <a:pt x="0" y="17"/>
                    <a:pt x="7" y="27"/>
                    <a:pt x="10" y="31"/>
                  </a:cubicBezTo>
                  <a:close/>
                </a:path>
              </a:pathLst>
            </a:custGeom>
            <a:solidFill>
              <a:srgbClr val="EACDB5"/>
            </a:solidFill>
            <a:ln w="9525">
              <a:noFill/>
              <a:round/>
            </a:ln>
          </p:spPr>
          <p:txBody>
            <a:bodyPr anchor="ctr"/>
            <a:lstStyle/>
            <a:p>
              <a:pPr algn="ctr"/>
              <a:endParaRPr sz="2200" b="1"/>
            </a:p>
          </p:txBody>
        </p:sp>
        <p:sp>
          <p:nvSpPr>
            <p:cNvPr id="49" name="ïšlíḓè"/>
            <p:cNvSpPr/>
            <p:nvPr/>
          </p:nvSpPr>
          <p:spPr bwMode="auto">
            <a:xfrm>
              <a:off x="5843036" y="5577981"/>
              <a:ext cx="459330" cy="265328"/>
            </a:xfrm>
            <a:custGeom>
              <a:avLst/>
              <a:gdLst/>
              <a:ahLst/>
              <a:cxnLst>
                <a:cxn ang="0">
                  <a:pos x="10" y="30"/>
                </a:cxn>
                <a:cxn ang="0">
                  <a:pos x="31" y="21"/>
                </a:cxn>
                <a:cxn ang="0">
                  <a:pos x="52" y="25"/>
                </a:cxn>
                <a:cxn ang="0">
                  <a:pos x="58" y="16"/>
                </a:cxn>
                <a:cxn ang="0">
                  <a:pos x="30" y="8"/>
                </a:cxn>
                <a:cxn ang="0">
                  <a:pos x="6" y="2"/>
                </a:cxn>
                <a:cxn ang="0">
                  <a:pos x="4" y="14"/>
                </a:cxn>
                <a:cxn ang="0">
                  <a:pos x="10" y="30"/>
                </a:cxn>
              </a:cxnLst>
              <a:rect l="0" t="0" r="r" b="b"/>
              <a:pathLst>
                <a:path w="59" h="34">
                  <a:moveTo>
                    <a:pt x="10" y="30"/>
                  </a:moveTo>
                  <a:cubicBezTo>
                    <a:pt x="17" y="34"/>
                    <a:pt x="27" y="27"/>
                    <a:pt x="31" y="21"/>
                  </a:cubicBezTo>
                  <a:cubicBezTo>
                    <a:pt x="32" y="19"/>
                    <a:pt x="45" y="26"/>
                    <a:pt x="52" y="25"/>
                  </a:cubicBezTo>
                  <a:cubicBezTo>
                    <a:pt x="59" y="25"/>
                    <a:pt x="59" y="18"/>
                    <a:pt x="58" y="16"/>
                  </a:cubicBezTo>
                  <a:cubicBezTo>
                    <a:pt x="57" y="15"/>
                    <a:pt x="35" y="9"/>
                    <a:pt x="30" y="8"/>
                  </a:cubicBezTo>
                  <a:cubicBezTo>
                    <a:pt x="23" y="6"/>
                    <a:pt x="16" y="4"/>
                    <a:pt x="6" y="2"/>
                  </a:cubicBezTo>
                  <a:cubicBezTo>
                    <a:pt x="0" y="0"/>
                    <a:pt x="6" y="11"/>
                    <a:pt x="4" y="14"/>
                  </a:cubicBezTo>
                  <a:cubicBezTo>
                    <a:pt x="0" y="21"/>
                    <a:pt x="3" y="26"/>
                    <a:pt x="10" y="30"/>
                  </a:cubicBezTo>
                  <a:close/>
                </a:path>
              </a:pathLst>
            </a:custGeom>
            <a:solidFill>
              <a:srgbClr val="EACDB5"/>
            </a:solidFill>
            <a:ln w="9525">
              <a:noFill/>
              <a:round/>
            </a:ln>
          </p:spPr>
          <p:txBody>
            <a:bodyPr anchor="ctr"/>
            <a:lstStyle/>
            <a:p>
              <a:pPr algn="ctr"/>
              <a:endParaRPr sz="2200" b="1"/>
            </a:p>
          </p:txBody>
        </p:sp>
        <p:sp>
          <p:nvSpPr>
            <p:cNvPr id="50" name="îṧliḋê"/>
            <p:cNvSpPr/>
            <p:nvPr/>
          </p:nvSpPr>
          <p:spPr bwMode="auto">
            <a:xfrm>
              <a:off x="3648141" y="4130568"/>
              <a:ext cx="855895" cy="1673750"/>
            </a:xfrm>
            <a:custGeom>
              <a:avLst/>
              <a:gdLst/>
              <a:ahLst/>
              <a:cxnLst>
                <a:cxn ang="0">
                  <a:pos x="110" y="3"/>
                </a:cxn>
                <a:cxn ang="0">
                  <a:pos x="96" y="0"/>
                </a:cxn>
                <a:cxn ang="0">
                  <a:pos x="63" y="32"/>
                </a:cxn>
                <a:cxn ang="0">
                  <a:pos x="0" y="6"/>
                </a:cxn>
                <a:cxn ang="0">
                  <a:pos x="26" y="97"/>
                </a:cxn>
                <a:cxn ang="0">
                  <a:pos x="60" y="215"/>
                </a:cxn>
                <a:cxn ang="0">
                  <a:pos x="110" y="3"/>
                </a:cxn>
              </a:cxnLst>
              <a:rect l="0" t="0" r="r" b="b"/>
              <a:pathLst>
                <a:path w="110" h="215">
                  <a:moveTo>
                    <a:pt x="110" y="3"/>
                  </a:moveTo>
                  <a:cubicBezTo>
                    <a:pt x="96" y="0"/>
                    <a:pt x="96" y="0"/>
                    <a:pt x="96" y="0"/>
                  </a:cubicBezTo>
                  <a:cubicBezTo>
                    <a:pt x="93" y="0"/>
                    <a:pt x="63" y="32"/>
                    <a:pt x="63" y="32"/>
                  </a:cubicBezTo>
                  <a:cubicBezTo>
                    <a:pt x="0" y="6"/>
                    <a:pt x="0" y="6"/>
                    <a:pt x="0" y="6"/>
                  </a:cubicBezTo>
                  <a:cubicBezTo>
                    <a:pt x="26" y="97"/>
                    <a:pt x="26" y="97"/>
                    <a:pt x="26" y="97"/>
                  </a:cubicBezTo>
                  <a:cubicBezTo>
                    <a:pt x="60" y="215"/>
                    <a:pt x="60" y="215"/>
                    <a:pt x="60" y="215"/>
                  </a:cubicBezTo>
                  <a:lnTo>
                    <a:pt x="110" y="3"/>
                  </a:lnTo>
                  <a:close/>
                </a:path>
              </a:pathLst>
            </a:custGeom>
            <a:solidFill>
              <a:srgbClr val="0EB3BF"/>
            </a:solidFill>
            <a:ln w="9525">
              <a:noFill/>
              <a:round/>
            </a:ln>
          </p:spPr>
          <p:txBody>
            <a:bodyPr anchor="ctr"/>
            <a:lstStyle/>
            <a:p>
              <a:pPr algn="ctr"/>
              <a:endParaRPr sz="2200" b="1"/>
            </a:p>
          </p:txBody>
        </p:sp>
        <p:sp>
          <p:nvSpPr>
            <p:cNvPr id="51" name="ïšļiḋe"/>
            <p:cNvSpPr/>
            <p:nvPr/>
          </p:nvSpPr>
          <p:spPr bwMode="auto">
            <a:xfrm>
              <a:off x="4044706" y="4324571"/>
              <a:ext cx="194954" cy="1090791"/>
            </a:xfrm>
            <a:custGeom>
              <a:avLst/>
              <a:gdLst/>
              <a:ahLst/>
              <a:cxnLst>
                <a:cxn ang="0">
                  <a:pos x="7" y="36"/>
                </a:cxn>
                <a:cxn ang="0">
                  <a:pos x="2" y="105"/>
                </a:cxn>
                <a:cxn ang="0">
                  <a:pos x="13" y="140"/>
                </a:cxn>
                <a:cxn ang="0">
                  <a:pos x="22" y="103"/>
                </a:cxn>
                <a:cxn ang="0">
                  <a:pos x="18" y="36"/>
                </a:cxn>
                <a:cxn ang="0">
                  <a:pos x="19" y="30"/>
                </a:cxn>
                <a:cxn ang="0">
                  <a:pos x="25" y="17"/>
                </a:cxn>
                <a:cxn ang="0">
                  <a:pos x="12" y="0"/>
                </a:cxn>
                <a:cxn ang="0">
                  <a:pos x="0" y="17"/>
                </a:cxn>
                <a:cxn ang="0">
                  <a:pos x="6" y="30"/>
                </a:cxn>
                <a:cxn ang="0">
                  <a:pos x="7" y="36"/>
                </a:cxn>
              </a:cxnLst>
              <a:rect l="0" t="0" r="r" b="b"/>
              <a:pathLst>
                <a:path w="25" h="140">
                  <a:moveTo>
                    <a:pt x="7" y="36"/>
                  </a:moveTo>
                  <a:cubicBezTo>
                    <a:pt x="2" y="105"/>
                    <a:pt x="2" y="105"/>
                    <a:pt x="2" y="105"/>
                  </a:cubicBezTo>
                  <a:cubicBezTo>
                    <a:pt x="13" y="140"/>
                    <a:pt x="13" y="140"/>
                    <a:pt x="13" y="140"/>
                  </a:cubicBezTo>
                  <a:cubicBezTo>
                    <a:pt x="22" y="103"/>
                    <a:pt x="22" y="103"/>
                    <a:pt x="22" y="103"/>
                  </a:cubicBezTo>
                  <a:cubicBezTo>
                    <a:pt x="18" y="36"/>
                    <a:pt x="18" y="36"/>
                    <a:pt x="18" y="36"/>
                  </a:cubicBezTo>
                  <a:cubicBezTo>
                    <a:pt x="18" y="34"/>
                    <a:pt x="18" y="31"/>
                    <a:pt x="19" y="30"/>
                  </a:cubicBezTo>
                  <a:cubicBezTo>
                    <a:pt x="25" y="17"/>
                    <a:pt x="25" y="17"/>
                    <a:pt x="25" y="17"/>
                  </a:cubicBezTo>
                  <a:cubicBezTo>
                    <a:pt x="12" y="0"/>
                    <a:pt x="12" y="0"/>
                    <a:pt x="12" y="0"/>
                  </a:cubicBezTo>
                  <a:cubicBezTo>
                    <a:pt x="0" y="17"/>
                    <a:pt x="0" y="17"/>
                    <a:pt x="0" y="17"/>
                  </a:cubicBezTo>
                  <a:cubicBezTo>
                    <a:pt x="6" y="30"/>
                    <a:pt x="6" y="30"/>
                    <a:pt x="6" y="30"/>
                  </a:cubicBezTo>
                  <a:cubicBezTo>
                    <a:pt x="7" y="32"/>
                    <a:pt x="7" y="34"/>
                    <a:pt x="7" y="36"/>
                  </a:cubicBezTo>
                  <a:close/>
                </a:path>
              </a:pathLst>
            </a:custGeom>
            <a:solidFill>
              <a:srgbClr val="FF6D3A"/>
            </a:solidFill>
            <a:ln w="9525">
              <a:noFill/>
              <a:round/>
            </a:ln>
          </p:spPr>
          <p:txBody>
            <a:bodyPr anchor="ctr"/>
            <a:lstStyle/>
            <a:p>
              <a:pPr algn="ctr"/>
              <a:endParaRPr sz="2200" b="1"/>
            </a:p>
          </p:txBody>
        </p:sp>
        <p:sp>
          <p:nvSpPr>
            <p:cNvPr id="52" name="iṣḷiḑè"/>
            <p:cNvSpPr/>
            <p:nvPr/>
          </p:nvSpPr>
          <p:spPr bwMode="auto">
            <a:xfrm>
              <a:off x="3764162" y="4028812"/>
              <a:ext cx="373740" cy="544920"/>
            </a:xfrm>
            <a:custGeom>
              <a:avLst/>
              <a:gdLst/>
              <a:ahLst/>
              <a:cxnLst>
                <a:cxn ang="0">
                  <a:pos x="14" y="4"/>
                </a:cxn>
                <a:cxn ang="0">
                  <a:pos x="9" y="4"/>
                </a:cxn>
                <a:cxn ang="0">
                  <a:pos x="0" y="19"/>
                </a:cxn>
                <a:cxn ang="0">
                  <a:pos x="28" y="67"/>
                </a:cxn>
                <a:cxn ang="0">
                  <a:pos x="33" y="66"/>
                </a:cxn>
                <a:cxn ang="0">
                  <a:pos x="48" y="38"/>
                </a:cxn>
                <a:cxn ang="0">
                  <a:pos x="14" y="4"/>
                </a:cxn>
              </a:cxnLst>
              <a:rect l="0" t="0" r="r" b="b"/>
              <a:pathLst>
                <a:path w="48" h="70">
                  <a:moveTo>
                    <a:pt x="14" y="4"/>
                  </a:moveTo>
                  <a:cubicBezTo>
                    <a:pt x="12" y="1"/>
                    <a:pt x="11" y="0"/>
                    <a:pt x="9" y="4"/>
                  </a:cubicBezTo>
                  <a:cubicBezTo>
                    <a:pt x="0" y="19"/>
                    <a:pt x="0" y="19"/>
                    <a:pt x="0" y="19"/>
                  </a:cubicBezTo>
                  <a:cubicBezTo>
                    <a:pt x="28" y="67"/>
                    <a:pt x="28" y="67"/>
                    <a:pt x="28" y="67"/>
                  </a:cubicBezTo>
                  <a:cubicBezTo>
                    <a:pt x="30" y="70"/>
                    <a:pt x="31" y="70"/>
                    <a:pt x="33" y="66"/>
                  </a:cubicBezTo>
                  <a:cubicBezTo>
                    <a:pt x="48" y="38"/>
                    <a:pt x="48" y="38"/>
                    <a:pt x="48" y="38"/>
                  </a:cubicBezTo>
                  <a:lnTo>
                    <a:pt x="14" y="4"/>
                  </a:lnTo>
                  <a:close/>
                </a:path>
              </a:pathLst>
            </a:custGeom>
            <a:solidFill>
              <a:srgbClr val="16D7DB"/>
            </a:solidFill>
            <a:ln w="9525">
              <a:noFill/>
              <a:round/>
            </a:ln>
          </p:spPr>
          <p:txBody>
            <a:bodyPr anchor="ctr"/>
            <a:lstStyle/>
            <a:p>
              <a:pPr algn="ctr"/>
              <a:endParaRPr sz="2200" b="1"/>
            </a:p>
          </p:txBody>
        </p:sp>
        <p:sp>
          <p:nvSpPr>
            <p:cNvPr id="53" name="íṧḻîḋè"/>
            <p:cNvSpPr/>
            <p:nvPr/>
          </p:nvSpPr>
          <p:spPr bwMode="auto">
            <a:xfrm>
              <a:off x="4137903" y="4037371"/>
              <a:ext cx="366132" cy="536361"/>
            </a:xfrm>
            <a:custGeom>
              <a:avLst/>
              <a:gdLst/>
              <a:ahLst/>
              <a:cxnLst>
                <a:cxn ang="0">
                  <a:pos x="33" y="3"/>
                </a:cxn>
                <a:cxn ang="0">
                  <a:pos x="38" y="3"/>
                </a:cxn>
                <a:cxn ang="0">
                  <a:pos x="47" y="18"/>
                </a:cxn>
                <a:cxn ang="0">
                  <a:pos x="19" y="66"/>
                </a:cxn>
                <a:cxn ang="0">
                  <a:pos x="14" y="66"/>
                </a:cxn>
                <a:cxn ang="0">
                  <a:pos x="0" y="37"/>
                </a:cxn>
                <a:cxn ang="0">
                  <a:pos x="33" y="3"/>
                </a:cxn>
              </a:cxnLst>
              <a:rect l="0" t="0" r="r" b="b"/>
              <a:pathLst>
                <a:path w="47" h="69">
                  <a:moveTo>
                    <a:pt x="33" y="3"/>
                  </a:moveTo>
                  <a:cubicBezTo>
                    <a:pt x="35" y="0"/>
                    <a:pt x="36" y="0"/>
                    <a:pt x="38" y="3"/>
                  </a:cubicBezTo>
                  <a:cubicBezTo>
                    <a:pt x="47" y="18"/>
                    <a:pt x="47" y="18"/>
                    <a:pt x="47" y="18"/>
                  </a:cubicBezTo>
                  <a:cubicBezTo>
                    <a:pt x="19" y="66"/>
                    <a:pt x="19" y="66"/>
                    <a:pt x="19" y="66"/>
                  </a:cubicBezTo>
                  <a:cubicBezTo>
                    <a:pt x="17" y="69"/>
                    <a:pt x="15" y="69"/>
                    <a:pt x="14" y="66"/>
                  </a:cubicBezTo>
                  <a:cubicBezTo>
                    <a:pt x="0" y="37"/>
                    <a:pt x="0" y="37"/>
                    <a:pt x="0" y="37"/>
                  </a:cubicBezTo>
                  <a:lnTo>
                    <a:pt x="33" y="3"/>
                  </a:lnTo>
                  <a:close/>
                </a:path>
              </a:pathLst>
            </a:custGeom>
            <a:solidFill>
              <a:srgbClr val="16D7DB"/>
            </a:solidFill>
            <a:ln w="9525">
              <a:noFill/>
              <a:round/>
            </a:ln>
          </p:spPr>
          <p:txBody>
            <a:bodyPr anchor="ctr"/>
            <a:lstStyle/>
            <a:p>
              <a:pPr algn="ctr"/>
              <a:endParaRPr sz="2200" b="1"/>
            </a:p>
          </p:txBody>
        </p:sp>
        <p:sp>
          <p:nvSpPr>
            <p:cNvPr id="54" name="íšlíḋé"/>
            <p:cNvSpPr/>
            <p:nvPr/>
          </p:nvSpPr>
          <p:spPr bwMode="auto">
            <a:xfrm>
              <a:off x="7680356" y="4130568"/>
              <a:ext cx="864453" cy="1813546"/>
            </a:xfrm>
            <a:custGeom>
              <a:avLst/>
              <a:gdLst/>
              <a:ahLst/>
              <a:cxnLst>
                <a:cxn ang="0">
                  <a:pos x="0" y="3"/>
                </a:cxn>
                <a:cxn ang="0">
                  <a:pos x="15" y="0"/>
                </a:cxn>
                <a:cxn ang="0">
                  <a:pos x="47" y="32"/>
                </a:cxn>
                <a:cxn ang="0">
                  <a:pos x="111" y="6"/>
                </a:cxn>
                <a:cxn ang="0">
                  <a:pos x="85" y="97"/>
                </a:cxn>
                <a:cxn ang="0">
                  <a:pos x="47" y="233"/>
                </a:cxn>
                <a:cxn ang="0">
                  <a:pos x="0" y="3"/>
                </a:cxn>
              </a:cxnLst>
              <a:rect l="0" t="0" r="r" b="b"/>
              <a:pathLst>
                <a:path w="111" h="233">
                  <a:moveTo>
                    <a:pt x="0" y="3"/>
                  </a:moveTo>
                  <a:cubicBezTo>
                    <a:pt x="15" y="0"/>
                    <a:pt x="15" y="0"/>
                    <a:pt x="15" y="0"/>
                  </a:cubicBezTo>
                  <a:cubicBezTo>
                    <a:pt x="17" y="0"/>
                    <a:pt x="47" y="32"/>
                    <a:pt x="47" y="32"/>
                  </a:cubicBezTo>
                  <a:cubicBezTo>
                    <a:pt x="111" y="6"/>
                    <a:pt x="111" y="6"/>
                    <a:pt x="111" y="6"/>
                  </a:cubicBezTo>
                  <a:cubicBezTo>
                    <a:pt x="85" y="97"/>
                    <a:pt x="85" y="97"/>
                    <a:pt x="85" y="97"/>
                  </a:cubicBezTo>
                  <a:cubicBezTo>
                    <a:pt x="47" y="233"/>
                    <a:pt x="47" y="233"/>
                    <a:pt x="47" y="233"/>
                  </a:cubicBezTo>
                  <a:lnTo>
                    <a:pt x="0" y="3"/>
                  </a:lnTo>
                  <a:close/>
                </a:path>
              </a:pathLst>
            </a:custGeom>
            <a:solidFill>
              <a:srgbClr val="EA6036"/>
            </a:solidFill>
            <a:ln w="9525">
              <a:noFill/>
              <a:round/>
            </a:ln>
          </p:spPr>
          <p:txBody>
            <a:bodyPr anchor="ctr"/>
            <a:lstStyle/>
            <a:p>
              <a:pPr algn="ctr"/>
              <a:endParaRPr sz="2200" b="1"/>
            </a:p>
          </p:txBody>
        </p:sp>
        <p:sp>
          <p:nvSpPr>
            <p:cNvPr id="55" name="ís1iḓé"/>
            <p:cNvSpPr/>
            <p:nvPr/>
          </p:nvSpPr>
          <p:spPr bwMode="auto">
            <a:xfrm>
              <a:off x="7953292" y="4324571"/>
              <a:ext cx="194003" cy="1090791"/>
            </a:xfrm>
            <a:custGeom>
              <a:avLst/>
              <a:gdLst/>
              <a:ahLst/>
              <a:cxnLst>
                <a:cxn ang="0">
                  <a:pos x="18" y="36"/>
                </a:cxn>
                <a:cxn ang="0">
                  <a:pos x="23" y="105"/>
                </a:cxn>
                <a:cxn ang="0">
                  <a:pos x="12" y="140"/>
                </a:cxn>
                <a:cxn ang="0">
                  <a:pos x="2" y="103"/>
                </a:cxn>
                <a:cxn ang="0">
                  <a:pos x="7" y="36"/>
                </a:cxn>
                <a:cxn ang="0">
                  <a:pos x="6" y="30"/>
                </a:cxn>
                <a:cxn ang="0">
                  <a:pos x="0" y="17"/>
                </a:cxn>
                <a:cxn ang="0">
                  <a:pos x="13" y="0"/>
                </a:cxn>
                <a:cxn ang="0">
                  <a:pos x="25" y="17"/>
                </a:cxn>
                <a:cxn ang="0">
                  <a:pos x="19" y="30"/>
                </a:cxn>
                <a:cxn ang="0">
                  <a:pos x="18" y="36"/>
                </a:cxn>
              </a:cxnLst>
              <a:rect l="0" t="0" r="r" b="b"/>
              <a:pathLst>
                <a:path w="25" h="140">
                  <a:moveTo>
                    <a:pt x="18" y="36"/>
                  </a:moveTo>
                  <a:cubicBezTo>
                    <a:pt x="23" y="105"/>
                    <a:pt x="23" y="105"/>
                    <a:pt x="23" y="105"/>
                  </a:cubicBezTo>
                  <a:cubicBezTo>
                    <a:pt x="12" y="140"/>
                    <a:pt x="12" y="140"/>
                    <a:pt x="12" y="140"/>
                  </a:cubicBezTo>
                  <a:cubicBezTo>
                    <a:pt x="2" y="103"/>
                    <a:pt x="2" y="103"/>
                    <a:pt x="2" y="103"/>
                  </a:cubicBezTo>
                  <a:cubicBezTo>
                    <a:pt x="7" y="36"/>
                    <a:pt x="7" y="36"/>
                    <a:pt x="7" y="36"/>
                  </a:cubicBezTo>
                  <a:cubicBezTo>
                    <a:pt x="7" y="34"/>
                    <a:pt x="7" y="31"/>
                    <a:pt x="6" y="30"/>
                  </a:cubicBezTo>
                  <a:cubicBezTo>
                    <a:pt x="0" y="17"/>
                    <a:pt x="0" y="17"/>
                    <a:pt x="0" y="17"/>
                  </a:cubicBezTo>
                  <a:cubicBezTo>
                    <a:pt x="13" y="0"/>
                    <a:pt x="13" y="0"/>
                    <a:pt x="13" y="0"/>
                  </a:cubicBezTo>
                  <a:cubicBezTo>
                    <a:pt x="25" y="17"/>
                    <a:pt x="25" y="17"/>
                    <a:pt x="25" y="17"/>
                  </a:cubicBezTo>
                  <a:cubicBezTo>
                    <a:pt x="19" y="30"/>
                    <a:pt x="19" y="30"/>
                    <a:pt x="19" y="30"/>
                  </a:cubicBezTo>
                  <a:cubicBezTo>
                    <a:pt x="18" y="32"/>
                    <a:pt x="18" y="34"/>
                    <a:pt x="18" y="36"/>
                  </a:cubicBezTo>
                  <a:close/>
                </a:path>
              </a:pathLst>
            </a:custGeom>
            <a:solidFill>
              <a:srgbClr val="17C5CC"/>
            </a:solidFill>
            <a:ln w="9525">
              <a:noFill/>
              <a:round/>
            </a:ln>
          </p:spPr>
          <p:txBody>
            <a:bodyPr anchor="ctr"/>
            <a:lstStyle/>
            <a:p>
              <a:pPr algn="ctr"/>
              <a:endParaRPr sz="2200" b="1"/>
            </a:p>
          </p:txBody>
        </p:sp>
        <p:sp>
          <p:nvSpPr>
            <p:cNvPr id="56" name="išļîďé"/>
            <p:cNvSpPr/>
            <p:nvPr/>
          </p:nvSpPr>
          <p:spPr bwMode="auto">
            <a:xfrm>
              <a:off x="8046489" y="4028812"/>
              <a:ext cx="381348" cy="544920"/>
            </a:xfrm>
            <a:custGeom>
              <a:avLst/>
              <a:gdLst/>
              <a:ahLst/>
              <a:cxnLst>
                <a:cxn ang="0">
                  <a:pos x="34" y="4"/>
                </a:cxn>
                <a:cxn ang="0">
                  <a:pos x="40" y="4"/>
                </a:cxn>
                <a:cxn ang="0">
                  <a:pos x="49" y="19"/>
                </a:cxn>
                <a:cxn ang="0">
                  <a:pos x="21" y="67"/>
                </a:cxn>
                <a:cxn ang="0">
                  <a:pos x="15" y="66"/>
                </a:cxn>
                <a:cxn ang="0">
                  <a:pos x="0" y="38"/>
                </a:cxn>
                <a:cxn ang="0">
                  <a:pos x="34" y="4"/>
                </a:cxn>
              </a:cxnLst>
              <a:rect l="0" t="0" r="r" b="b"/>
              <a:pathLst>
                <a:path w="49" h="70">
                  <a:moveTo>
                    <a:pt x="34" y="4"/>
                  </a:moveTo>
                  <a:cubicBezTo>
                    <a:pt x="37" y="1"/>
                    <a:pt x="38" y="0"/>
                    <a:pt x="40" y="4"/>
                  </a:cubicBezTo>
                  <a:cubicBezTo>
                    <a:pt x="49" y="19"/>
                    <a:pt x="49" y="19"/>
                    <a:pt x="49" y="19"/>
                  </a:cubicBezTo>
                  <a:cubicBezTo>
                    <a:pt x="21" y="67"/>
                    <a:pt x="21" y="67"/>
                    <a:pt x="21" y="67"/>
                  </a:cubicBezTo>
                  <a:cubicBezTo>
                    <a:pt x="19" y="70"/>
                    <a:pt x="17" y="70"/>
                    <a:pt x="15" y="66"/>
                  </a:cubicBezTo>
                  <a:cubicBezTo>
                    <a:pt x="0" y="38"/>
                    <a:pt x="0" y="38"/>
                    <a:pt x="0" y="38"/>
                  </a:cubicBezTo>
                  <a:lnTo>
                    <a:pt x="34" y="4"/>
                  </a:lnTo>
                  <a:close/>
                </a:path>
              </a:pathLst>
            </a:custGeom>
            <a:solidFill>
              <a:srgbClr val="FF6D3A"/>
            </a:solidFill>
            <a:ln w="9525">
              <a:noFill/>
              <a:round/>
            </a:ln>
          </p:spPr>
          <p:txBody>
            <a:bodyPr anchor="ctr"/>
            <a:lstStyle/>
            <a:p>
              <a:pPr algn="ctr"/>
              <a:endParaRPr sz="2200" b="1"/>
            </a:p>
          </p:txBody>
        </p:sp>
        <p:sp>
          <p:nvSpPr>
            <p:cNvPr id="57" name="íŝ1ïḋè"/>
            <p:cNvSpPr/>
            <p:nvPr/>
          </p:nvSpPr>
          <p:spPr bwMode="auto">
            <a:xfrm>
              <a:off x="7680356" y="4037371"/>
              <a:ext cx="373740" cy="536361"/>
            </a:xfrm>
            <a:custGeom>
              <a:avLst/>
              <a:gdLst/>
              <a:ahLst/>
              <a:cxnLst>
                <a:cxn ang="0">
                  <a:pos x="15" y="3"/>
                </a:cxn>
                <a:cxn ang="0">
                  <a:pos x="10" y="3"/>
                </a:cxn>
                <a:cxn ang="0">
                  <a:pos x="0" y="18"/>
                </a:cxn>
                <a:cxn ang="0">
                  <a:pos x="29" y="66"/>
                </a:cxn>
                <a:cxn ang="0">
                  <a:pos x="34" y="66"/>
                </a:cxn>
                <a:cxn ang="0">
                  <a:pos x="48" y="37"/>
                </a:cxn>
                <a:cxn ang="0">
                  <a:pos x="15" y="3"/>
                </a:cxn>
              </a:cxnLst>
              <a:rect l="0" t="0" r="r" b="b"/>
              <a:pathLst>
                <a:path w="48" h="69">
                  <a:moveTo>
                    <a:pt x="15" y="3"/>
                  </a:moveTo>
                  <a:cubicBezTo>
                    <a:pt x="12" y="0"/>
                    <a:pt x="11" y="0"/>
                    <a:pt x="10" y="3"/>
                  </a:cubicBezTo>
                  <a:cubicBezTo>
                    <a:pt x="0" y="18"/>
                    <a:pt x="0" y="18"/>
                    <a:pt x="0" y="18"/>
                  </a:cubicBezTo>
                  <a:cubicBezTo>
                    <a:pt x="29" y="66"/>
                    <a:pt x="29" y="66"/>
                    <a:pt x="29" y="66"/>
                  </a:cubicBezTo>
                  <a:cubicBezTo>
                    <a:pt x="31" y="69"/>
                    <a:pt x="32" y="69"/>
                    <a:pt x="34" y="66"/>
                  </a:cubicBezTo>
                  <a:cubicBezTo>
                    <a:pt x="48" y="37"/>
                    <a:pt x="48" y="37"/>
                    <a:pt x="48" y="37"/>
                  </a:cubicBezTo>
                  <a:lnTo>
                    <a:pt x="15" y="3"/>
                  </a:lnTo>
                  <a:close/>
                </a:path>
              </a:pathLst>
            </a:custGeom>
            <a:solidFill>
              <a:srgbClr val="FF6D3A"/>
            </a:solidFill>
            <a:ln w="9525">
              <a:noFill/>
              <a:round/>
            </a:ln>
          </p:spPr>
          <p:txBody>
            <a:bodyPr anchor="ctr"/>
            <a:lstStyle/>
            <a:p>
              <a:pPr algn="ctr"/>
              <a:endParaRPr sz="2200" b="1"/>
            </a:p>
          </p:txBody>
        </p:sp>
        <p:sp>
          <p:nvSpPr>
            <p:cNvPr id="58" name="ïṧľïde"/>
            <p:cNvSpPr/>
            <p:nvPr/>
          </p:nvSpPr>
          <p:spPr bwMode="auto">
            <a:xfrm>
              <a:off x="8046489" y="4153392"/>
              <a:ext cx="1315225" cy="1978068"/>
            </a:xfrm>
            <a:custGeom>
              <a:avLst/>
              <a:gdLst/>
              <a:ahLst/>
              <a:cxnLst>
                <a:cxn ang="0">
                  <a:pos x="107" y="254"/>
                </a:cxn>
                <a:cxn ang="0">
                  <a:pos x="107" y="121"/>
                </a:cxn>
                <a:cxn ang="0">
                  <a:pos x="109" y="122"/>
                </a:cxn>
                <a:cxn ang="0">
                  <a:pos x="121" y="254"/>
                </a:cxn>
                <a:cxn ang="0">
                  <a:pos x="169" y="254"/>
                </a:cxn>
                <a:cxn ang="0">
                  <a:pos x="161" y="48"/>
                </a:cxn>
                <a:cxn ang="0">
                  <a:pos x="125" y="7"/>
                </a:cxn>
                <a:cxn ang="0">
                  <a:pos x="56" y="0"/>
                </a:cxn>
                <a:cxn ang="0">
                  <a:pos x="0" y="154"/>
                </a:cxn>
                <a:cxn ang="0">
                  <a:pos x="0" y="254"/>
                </a:cxn>
                <a:cxn ang="0">
                  <a:pos x="107" y="254"/>
                </a:cxn>
              </a:cxnLst>
              <a:rect l="0" t="0" r="r" b="b"/>
              <a:pathLst>
                <a:path w="169" h="254">
                  <a:moveTo>
                    <a:pt x="107" y="254"/>
                  </a:moveTo>
                  <a:cubicBezTo>
                    <a:pt x="107" y="121"/>
                    <a:pt x="107" y="121"/>
                    <a:pt x="107" y="121"/>
                  </a:cubicBezTo>
                  <a:cubicBezTo>
                    <a:pt x="107" y="120"/>
                    <a:pt x="109" y="121"/>
                    <a:pt x="109" y="122"/>
                  </a:cubicBezTo>
                  <a:cubicBezTo>
                    <a:pt x="121" y="254"/>
                    <a:pt x="121" y="254"/>
                    <a:pt x="121" y="254"/>
                  </a:cubicBezTo>
                  <a:cubicBezTo>
                    <a:pt x="169" y="254"/>
                    <a:pt x="169" y="254"/>
                    <a:pt x="169" y="254"/>
                  </a:cubicBezTo>
                  <a:cubicBezTo>
                    <a:pt x="161" y="48"/>
                    <a:pt x="161" y="48"/>
                    <a:pt x="161" y="48"/>
                  </a:cubicBezTo>
                  <a:cubicBezTo>
                    <a:pt x="161" y="24"/>
                    <a:pt x="147" y="12"/>
                    <a:pt x="125" y="7"/>
                  </a:cubicBezTo>
                  <a:cubicBezTo>
                    <a:pt x="56" y="0"/>
                    <a:pt x="56" y="0"/>
                    <a:pt x="56" y="0"/>
                  </a:cubicBezTo>
                  <a:cubicBezTo>
                    <a:pt x="0" y="154"/>
                    <a:pt x="0" y="154"/>
                    <a:pt x="0" y="154"/>
                  </a:cubicBezTo>
                  <a:cubicBezTo>
                    <a:pt x="0" y="254"/>
                    <a:pt x="0" y="254"/>
                    <a:pt x="0" y="254"/>
                  </a:cubicBezTo>
                  <a:lnTo>
                    <a:pt x="107" y="254"/>
                  </a:lnTo>
                  <a:close/>
                </a:path>
              </a:pathLst>
            </a:custGeom>
            <a:solidFill>
              <a:srgbClr val="395B77"/>
            </a:solidFill>
            <a:ln w="9525">
              <a:noFill/>
              <a:round/>
            </a:ln>
          </p:spPr>
          <p:txBody>
            <a:bodyPr anchor="ctr"/>
            <a:lstStyle/>
            <a:p>
              <a:pPr algn="ctr"/>
              <a:endParaRPr sz="2200" b="1"/>
            </a:p>
          </p:txBody>
        </p:sp>
        <p:sp>
          <p:nvSpPr>
            <p:cNvPr id="59" name="íSľïďè"/>
            <p:cNvSpPr/>
            <p:nvPr/>
          </p:nvSpPr>
          <p:spPr bwMode="auto">
            <a:xfrm>
              <a:off x="6302366" y="4161951"/>
              <a:ext cx="1744123" cy="1969509"/>
            </a:xfrm>
            <a:custGeom>
              <a:avLst/>
              <a:gdLst/>
              <a:ahLst/>
              <a:cxnLst>
                <a:cxn ang="0">
                  <a:pos x="22" y="217"/>
                </a:cxn>
                <a:cxn ang="0">
                  <a:pos x="29" y="218"/>
                </a:cxn>
                <a:cxn ang="0">
                  <a:pos x="127" y="186"/>
                </a:cxn>
                <a:cxn ang="0">
                  <a:pos x="139" y="121"/>
                </a:cxn>
                <a:cxn ang="0">
                  <a:pos x="141" y="120"/>
                </a:cxn>
                <a:cxn ang="0">
                  <a:pos x="141" y="253"/>
                </a:cxn>
                <a:cxn ang="0">
                  <a:pos x="224" y="253"/>
                </a:cxn>
                <a:cxn ang="0">
                  <a:pos x="224" y="153"/>
                </a:cxn>
                <a:cxn ang="0">
                  <a:pos x="167" y="0"/>
                </a:cxn>
                <a:cxn ang="0">
                  <a:pos x="124" y="6"/>
                </a:cxn>
                <a:cxn ang="0">
                  <a:pos x="88" y="47"/>
                </a:cxn>
                <a:cxn ang="0">
                  <a:pos x="82" y="145"/>
                </a:cxn>
                <a:cxn ang="0">
                  <a:pos x="3" y="177"/>
                </a:cxn>
                <a:cxn ang="0">
                  <a:pos x="1" y="183"/>
                </a:cxn>
                <a:cxn ang="0">
                  <a:pos x="22" y="217"/>
                </a:cxn>
              </a:cxnLst>
              <a:rect l="0" t="0" r="r" b="b"/>
              <a:pathLst>
                <a:path w="224" h="253">
                  <a:moveTo>
                    <a:pt x="22" y="217"/>
                  </a:moveTo>
                  <a:cubicBezTo>
                    <a:pt x="24" y="219"/>
                    <a:pt x="27" y="220"/>
                    <a:pt x="29" y="218"/>
                  </a:cubicBezTo>
                  <a:cubicBezTo>
                    <a:pt x="127" y="186"/>
                    <a:pt x="127" y="186"/>
                    <a:pt x="127" y="186"/>
                  </a:cubicBezTo>
                  <a:cubicBezTo>
                    <a:pt x="139" y="121"/>
                    <a:pt x="139" y="121"/>
                    <a:pt x="139" y="121"/>
                  </a:cubicBezTo>
                  <a:cubicBezTo>
                    <a:pt x="139" y="120"/>
                    <a:pt x="141" y="119"/>
                    <a:pt x="141" y="120"/>
                  </a:cubicBezTo>
                  <a:cubicBezTo>
                    <a:pt x="141" y="253"/>
                    <a:pt x="141" y="253"/>
                    <a:pt x="141" y="253"/>
                  </a:cubicBezTo>
                  <a:cubicBezTo>
                    <a:pt x="224" y="253"/>
                    <a:pt x="224" y="253"/>
                    <a:pt x="224" y="253"/>
                  </a:cubicBezTo>
                  <a:cubicBezTo>
                    <a:pt x="224" y="153"/>
                    <a:pt x="224" y="153"/>
                    <a:pt x="224" y="153"/>
                  </a:cubicBezTo>
                  <a:cubicBezTo>
                    <a:pt x="167" y="0"/>
                    <a:pt x="167" y="0"/>
                    <a:pt x="167" y="0"/>
                  </a:cubicBezTo>
                  <a:cubicBezTo>
                    <a:pt x="124" y="6"/>
                    <a:pt x="124" y="6"/>
                    <a:pt x="124" y="6"/>
                  </a:cubicBezTo>
                  <a:cubicBezTo>
                    <a:pt x="102" y="11"/>
                    <a:pt x="88" y="23"/>
                    <a:pt x="88" y="47"/>
                  </a:cubicBezTo>
                  <a:cubicBezTo>
                    <a:pt x="82" y="145"/>
                    <a:pt x="82" y="145"/>
                    <a:pt x="82" y="145"/>
                  </a:cubicBezTo>
                  <a:cubicBezTo>
                    <a:pt x="3" y="177"/>
                    <a:pt x="3" y="177"/>
                    <a:pt x="3" y="177"/>
                  </a:cubicBezTo>
                  <a:cubicBezTo>
                    <a:pt x="0" y="178"/>
                    <a:pt x="0" y="181"/>
                    <a:pt x="1" y="183"/>
                  </a:cubicBezTo>
                  <a:lnTo>
                    <a:pt x="22" y="217"/>
                  </a:lnTo>
                  <a:close/>
                </a:path>
              </a:pathLst>
            </a:custGeom>
            <a:solidFill>
              <a:srgbClr val="253F59"/>
            </a:solidFill>
            <a:ln w="9525">
              <a:noFill/>
              <a:round/>
            </a:ln>
          </p:spPr>
          <p:txBody>
            <a:bodyPr anchor="ctr"/>
            <a:lstStyle/>
            <a:p>
              <a:pPr algn="ctr"/>
              <a:endParaRPr sz="2200" b="1"/>
            </a:p>
          </p:txBody>
        </p:sp>
        <p:sp>
          <p:nvSpPr>
            <p:cNvPr id="60" name="îṩļiḑe"/>
            <p:cNvSpPr/>
            <p:nvPr/>
          </p:nvSpPr>
          <p:spPr bwMode="auto">
            <a:xfrm>
              <a:off x="4137903" y="4161951"/>
              <a:ext cx="1751731" cy="1969509"/>
            </a:xfrm>
            <a:custGeom>
              <a:avLst/>
              <a:gdLst/>
              <a:ahLst/>
              <a:cxnLst>
                <a:cxn ang="0">
                  <a:pos x="83" y="253"/>
                </a:cxn>
                <a:cxn ang="0">
                  <a:pos x="83" y="120"/>
                </a:cxn>
                <a:cxn ang="0">
                  <a:pos x="85" y="121"/>
                </a:cxn>
                <a:cxn ang="0">
                  <a:pos x="96" y="183"/>
                </a:cxn>
                <a:cxn ang="0">
                  <a:pos x="196" y="218"/>
                </a:cxn>
                <a:cxn ang="0">
                  <a:pos x="202" y="217"/>
                </a:cxn>
                <a:cxn ang="0">
                  <a:pos x="224" y="183"/>
                </a:cxn>
                <a:cxn ang="0">
                  <a:pos x="222" y="177"/>
                </a:cxn>
                <a:cxn ang="0">
                  <a:pos x="140" y="144"/>
                </a:cxn>
                <a:cxn ang="0">
                  <a:pos x="136" y="47"/>
                </a:cxn>
                <a:cxn ang="0">
                  <a:pos x="100" y="6"/>
                </a:cxn>
                <a:cxn ang="0">
                  <a:pos x="57" y="0"/>
                </a:cxn>
                <a:cxn ang="0">
                  <a:pos x="0" y="153"/>
                </a:cxn>
                <a:cxn ang="0">
                  <a:pos x="0" y="253"/>
                </a:cxn>
                <a:cxn ang="0">
                  <a:pos x="83" y="253"/>
                </a:cxn>
              </a:cxnLst>
              <a:rect l="0" t="0" r="r" b="b"/>
              <a:pathLst>
                <a:path w="225" h="253">
                  <a:moveTo>
                    <a:pt x="83" y="253"/>
                  </a:moveTo>
                  <a:cubicBezTo>
                    <a:pt x="83" y="120"/>
                    <a:pt x="83" y="120"/>
                    <a:pt x="83" y="120"/>
                  </a:cubicBezTo>
                  <a:cubicBezTo>
                    <a:pt x="83" y="119"/>
                    <a:pt x="85" y="120"/>
                    <a:pt x="85" y="121"/>
                  </a:cubicBezTo>
                  <a:cubicBezTo>
                    <a:pt x="96" y="183"/>
                    <a:pt x="96" y="183"/>
                    <a:pt x="96" y="183"/>
                  </a:cubicBezTo>
                  <a:cubicBezTo>
                    <a:pt x="196" y="218"/>
                    <a:pt x="196" y="218"/>
                    <a:pt x="196" y="218"/>
                  </a:cubicBezTo>
                  <a:cubicBezTo>
                    <a:pt x="198" y="220"/>
                    <a:pt x="201" y="219"/>
                    <a:pt x="202" y="217"/>
                  </a:cubicBezTo>
                  <a:cubicBezTo>
                    <a:pt x="224" y="183"/>
                    <a:pt x="224" y="183"/>
                    <a:pt x="224" y="183"/>
                  </a:cubicBezTo>
                  <a:cubicBezTo>
                    <a:pt x="225" y="181"/>
                    <a:pt x="224" y="178"/>
                    <a:pt x="222" y="177"/>
                  </a:cubicBezTo>
                  <a:cubicBezTo>
                    <a:pt x="140" y="144"/>
                    <a:pt x="140" y="144"/>
                    <a:pt x="140" y="144"/>
                  </a:cubicBezTo>
                  <a:cubicBezTo>
                    <a:pt x="136" y="47"/>
                    <a:pt x="136" y="47"/>
                    <a:pt x="136" y="47"/>
                  </a:cubicBezTo>
                  <a:cubicBezTo>
                    <a:pt x="136" y="23"/>
                    <a:pt x="123" y="11"/>
                    <a:pt x="100" y="6"/>
                  </a:cubicBezTo>
                  <a:cubicBezTo>
                    <a:pt x="57" y="0"/>
                    <a:pt x="57" y="0"/>
                    <a:pt x="57" y="0"/>
                  </a:cubicBezTo>
                  <a:cubicBezTo>
                    <a:pt x="0" y="153"/>
                    <a:pt x="0" y="153"/>
                    <a:pt x="0" y="153"/>
                  </a:cubicBezTo>
                  <a:cubicBezTo>
                    <a:pt x="0" y="253"/>
                    <a:pt x="0" y="253"/>
                    <a:pt x="0" y="253"/>
                  </a:cubicBezTo>
                  <a:lnTo>
                    <a:pt x="83" y="253"/>
                  </a:lnTo>
                  <a:close/>
                </a:path>
              </a:pathLst>
            </a:custGeom>
            <a:solidFill>
              <a:srgbClr val="253F59"/>
            </a:solidFill>
            <a:ln w="9525">
              <a:noFill/>
              <a:round/>
            </a:ln>
          </p:spPr>
          <p:txBody>
            <a:bodyPr anchor="ctr"/>
            <a:lstStyle/>
            <a:p>
              <a:pPr algn="ctr"/>
              <a:endParaRPr sz="2200" b="1"/>
            </a:p>
          </p:txBody>
        </p:sp>
        <p:sp>
          <p:nvSpPr>
            <p:cNvPr id="61" name="iSḻiďé"/>
            <p:cNvSpPr/>
            <p:nvPr/>
          </p:nvSpPr>
          <p:spPr bwMode="auto">
            <a:xfrm>
              <a:off x="2830286" y="4153392"/>
              <a:ext cx="1307617" cy="1978068"/>
            </a:xfrm>
            <a:custGeom>
              <a:avLst/>
              <a:gdLst/>
              <a:ahLst/>
              <a:cxnLst>
                <a:cxn ang="0">
                  <a:pos x="48" y="254"/>
                </a:cxn>
                <a:cxn ang="0">
                  <a:pos x="59" y="122"/>
                </a:cxn>
                <a:cxn ang="0">
                  <a:pos x="61" y="121"/>
                </a:cxn>
                <a:cxn ang="0">
                  <a:pos x="61" y="254"/>
                </a:cxn>
                <a:cxn ang="0">
                  <a:pos x="168" y="254"/>
                </a:cxn>
                <a:cxn ang="0">
                  <a:pos x="168" y="154"/>
                </a:cxn>
                <a:cxn ang="0">
                  <a:pos x="113" y="0"/>
                </a:cxn>
                <a:cxn ang="0">
                  <a:pos x="44" y="7"/>
                </a:cxn>
                <a:cxn ang="0">
                  <a:pos x="8" y="48"/>
                </a:cxn>
                <a:cxn ang="0">
                  <a:pos x="0" y="254"/>
                </a:cxn>
                <a:cxn ang="0">
                  <a:pos x="48" y="254"/>
                </a:cxn>
              </a:cxnLst>
              <a:rect l="0" t="0" r="r" b="b"/>
              <a:pathLst>
                <a:path w="168" h="254">
                  <a:moveTo>
                    <a:pt x="48" y="254"/>
                  </a:moveTo>
                  <a:cubicBezTo>
                    <a:pt x="59" y="122"/>
                    <a:pt x="59" y="122"/>
                    <a:pt x="59" y="122"/>
                  </a:cubicBezTo>
                  <a:cubicBezTo>
                    <a:pt x="59" y="121"/>
                    <a:pt x="61" y="120"/>
                    <a:pt x="61" y="121"/>
                  </a:cubicBezTo>
                  <a:cubicBezTo>
                    <a:pt x="61" y="254"/>
                    <a:pt x="61" y="254"/>
                    <a:pt x="61" y="254"/>
                  </a:cubicBezTo>
                  <a:cubicBezTo>
                    <a:pt x="168" y="254"/>
                    <a:pt x="168" y="254"/>
                    <a:pt x="168" y="254"/>
                  </a:cubicBezTo>
                  <a:cubicBezTo>
                    <a:pt x="168" y="154"/>
                    <a:pt x="168" y="154"/>
                    <a:pt x="168" y="154"/>
                  </a:cubicBezTo>
                  <a:cubicBezTo>
                    <a:pt x="113" y="0"/>
                    <a:pt x="113" y="0"/>
                    <a:pt x="113" y="0"/>
                  </a:cubicBezTo>
                  <a:cubicBezTo>
                    <a:pt x="44" y="7"/>
                    <a:pt x="44" y="7"/>
                    <a:pt x="44" y="7"/>
                  </a:cubicBezTo>
                  <a:cubicBezTo>
                    <a:pt x="21" y="12"/>
                    <a:pt x="8" y="24"/>
                    <a:pt x="8" y="48"/>
                  </a:cubicBezTo>
                  <a:cubicBezTo>
                    <a:pt x="0" y="254"/>
                    <a:pt x="0" y="254"/>
                    <a:pt x="0" y="254"/>
                  </a:cubicBezTo>
                  <a:lnTo>
                    <a:pt x="48" y="254"/>
                  </a:lnTo>
                  <a:close/>
                </a:path>
              </a:pathLst>
            </a:custGeom>
            <a:solidFill>
              <a:srgbClr val="395B77"/>
            </a:solidFill>
            <a:ln w="9525">
              <a:noFill/>
              <a:round/>
            </a:ln>
          </p:spPr>
          <p:txBody>
            <a:bodyPr anchor="ctr"/>
            <a:lstStyle/>
            <a:p>
              <a:pPr algn="ctr"/>
              <a:endParaRPr sz="2200" b="1"/>
            </a:p>
          </p:txBody>
        </p:sp>
        <p:sp>
          <p:nvSpPr>
            <p:cNvPr id="62" name="îşḷiḋé"/>
            <p:cNvSpPr/>
            <p:nvPr/>
          </p:nvSpPr>
          <p:spPr bwMode="auto">
            <a:xfrm>
              <a:off x="3616758" y="4138176"/>
              <a:ext cx="521145" cy="1206812"/>
            </a:xfrm>
            <a:custGeom>
              <a:avLst/>
              <a:gdLst/>
              <a:ahLst/>
              <a:cxnLst>
                <a:cxn ang="0">
                  <a:pos x="19" y="0"/>
                </a:cxn>
                <a:cxn ang="0">
                  <a:pos x="4" y="2"/>
                </a:cxn>
                <a:cxn ang="0">
                  <a:pos x="2" y="4"/>
                </a:cxn>
                <a:cxn ang="0">
                  <a:pos x="1" y="5"/>
                </a:cxn>
                <a:cxn ang="0">
                  <a:pos x="0" y="38"/>
                </a:cxn>
                <a:cxn ang="0">
                  <a:pos x="6" y="45"/>
                </a:cxn>
                <a:cxn ang="0">
                  <a:pos x="24" y="45"/>
                </a:cxn>
                <a:cxn ang="0">
                  <a:pos x="7" y="65"/>
                </a:cxn>
                <a:cxn ang="0">
                  <a:pos x="8" y="77"/>
                </a:cxn>
                <a:cxn ang="0">
                  <a:pos x="67" y="155"/>
                </a:cxn>
                <a:cxn ang="0">
                  <a:pos x="19" y="0"/>
                </a:cxn>
              </a:cxnLst>
              <a:rect l="0" t="0" r="r" b="b"/>
              <a:pathLst>
                <a:path w="67" h="155">
                  <a:moveTo>
                    <a:pt x="19" y="0"/>
                  </a:moveTo>
                  <a:cubicBezTo>
                    <a:pt x="4" y="2"/>
                    <a:pt x="4" y="2"/>
                    <a:pt x="4" y="2"/>
                  </a:cubicBezTo>
                  <a:cubicBezTo>
                    <a:pt x="4" y="2"/>
                    <a:pt x="2" y="2"/>
                    <a:pt x="2" y="4"/>
                  </a:cubicBezTo>
                  <a:cubicBezTo>
                    <a:pt x="2" y="4"/>
                    <a:pt x="1" y="5"/>
                    <a:pt x="1" y="5"/>
                  </a:cubicBezTo>
                  <a:cubicBezTo>
                    <a:pt x="0" y="38"/>
                    <a:pt x="0" y="38"/>
                    <a:pt x="0" y="38"/>
                  </a:cubicBezTo>
                  <a:cubicBezTo>
                    <a:pt x="0" y="44"/>
                    <a:pt x="1" y="45"/>
                    <a:pt x="6" y="45"/>
                  </a:cubicBezTo>
                  <a:cubicBezTo>
                    <a:pt x="24" y="45"/>
                    <a:pt x="24" y="45"/>
                    <a:pt x="24" y="45"/>
                  </a:cubicBezTo>
                  <a:cubicBezTo>
                    <a:pt x="7" y="65"/>
                    <a:pt x="7" y="65"/>
                    <a:pt x="7" y="65"/>
                  </a:cubicBezTo>
                  <a:cubicBezTo>
                    <a:pt x="2" y="71"/>
                    <a:pt x="5" y="73"/>
                    <a:pt x="8" y="77"/>
                  </a:cubicBezTo>
                  <a:cubicBezTo>
                    <a:pt x="67" y="155"/>
                    <a:pt x="67" y="155"/>
                    <a:pt x="67" y="155"/>
                  </a:cubicBezTo>
                  <a:lnTo>
                    <a:pt x="19" y="0"/>
                  </a:lnTo>
                  <a:close/>
                </a:path>
              </a:pathLst>
            </a:custGeom>
            <a:solidFill>
              <a:srgbClr val="689ABC"/>
            </a:solidFill>
            <a:ln w="9525">
              <a:noFill/>
              <a:round/>
            </a:ln>
          </p:spPr>
          <p:txBody>
            <a:bodyPr anchor="ctr"/>
            <a:lstStyle/>
            <a:p>
              <a:pPr algn="ctr"/>
              <a:endParaRPr sz="2200" b="1"/>
            </a:p>
          </p:txBody>
        </p:sp>
        <p:sp>
          <p:nvSpPr>
            <p:cNvPr id="63" name="íṩļîḋé"/>
            <p:cNvSpPr/>
            <p:nvPr/>
          </p:nvSpPr>
          <p:spPr bwMode="auto">
            <a:xfrm>
              <a:off x="4137903" y="4130568"/>
              <a:ext cx="514488" cy="1214420"/>
            </a:xfrm>
            <a:custGeom>
              <a:avLst/>
              <a:gdLst/>
              <a:ahLst/>
              <a:cxnLst>
                <a:cxn ang="0">
                  <a:pos x="46" y="0"/>
                </a:cxn>
                <a:cxn ang="0">
                  <a:pos x="63" y="3"/>
                </a:cxn>
                <a:cxn ang="0">
                  <a:pos x="64" y="4"/>
                </a:cxn>
                <a:cxn ang="0">
                  <a:pos x="65" y="6"/>
                </a:cxn>
                <a:cxn ang="0">
                  <a:pos x="66" y="39"/>
                </a:cxn>
                <a:cxn ang="0">
                  <a:pos x="60" y="46"/>
                </a:cxn>
                <a:cxn ang="0">
                  <a:pos x="42" y="46"/>
                </a:cxn>
                <a:cxn ang="0">
                  <a:pos x="59" y="66"/>
                </a:cxn>
                <a:cxn ang="0">
                  <a:pos x="58" y="78"/>
                </a:cxn>
                <a:cxn ang="0">
                  <a:pos x="0" y="156"/>
                </a:cxn>
                <a:cxn ang="0">
                  <a:pos x="46" y="0"/>
                </a:cxn>
              </a:cxnLst>
              <a:rect l="0" t="0" r="r" b="b"/>
              <a:pathLst>
                <a:path w="66" h="156">
                  <a:moveTo>
                    <a:pt x="46" y="0"/>
                  </a:moveTo>
                  <a:cubicBezTo>
                    <a:pt x="63" y="3"/>
                    <a:pt x="63" y="3"/>
                    <a:pt x="63" y="3"/>
                  </a:cubicBezTo>
                  <a:cubicBezTo>
                    <a:pt x="63" y="3"/>
                    <a:pt x="64" y="4"/>
                    <a:pt x="64" y="4"/>
                  </a:cubicBezTo>
                  <a:cubicBezTo>
                    <a:pt x="64" y="4"/>
                    <a:pt x="65" y="6"/>
                    <a:pt x="65" y="6"/>
                  </a:cubicBezTo>
                  <a:cubicBezTo>
                    <a:pt x="66" y="39"/>
                    <a:pt x="66" y="39"/>
                    <a:pt x="66" y="39"/>
                  </a:cubicBezTo>
                  <a:cubicBezTo>
                    <a:pt x="66" y="45"/>
                    <a:pt x="65" y="46"/>
                    <a:pt x="60" y="46"/>
                  </a:cubicBezTo>
                  <a:cubicBezTo>
                    <a:pt x="42" y="46"/>
                    <a:pt x="42" y="46"/>
                    <a:pt x="42" y="46"/>
                  </a:cubicBezTo>
                  <a:cubicBezTo>
                    <a:pt x="59" y="66"/>
                    <a:pt x="59" y="66"/>
                    <a:pt x="59" y="66"/>
                  </a:cubicBezTo>
                  <a:cubicBezTo>
                    <a:pt x="64" y="72"/>
                    <a:pt x="61" y="74"/>
                    <a:pt x="58" y="78"/>
                  </a:cubicBezTo>
                  <a:cubicBezTo>
                    <a:pt x="0" y="156"/>
                    <a:pt x="0" y="156"/>
                    <a:pt x="0" y="156"/>
                  </a:cubicBezTo>
                  <a:lnTo>
                    <a:pt x="46" y="0"/>
                  </a:lnTo>
                  <a:close/>
                </a:path>
              </a:pathLst>
            </a:custGeom>
            <a:solidFill>
              <a:srgbClr val="689ABC"/>
            </a:solidFill>
            <a:ln w="9525">
              <a:noFill/>
              <a:round/>
            </a:ln>
          </p:spPr>
          <p:txBody>
            <a:bodyPr anchor="ctr"/>
            <a:lstStyle/>
            <a:p>
              <a:pPr algn="ctr"/>
              <a:endParaRPr sz="2200" b="1"/>
            </a:p>
          </p:txBody>
        </p:sp>
        <p:sp>
          <p:nvSpPr>
            <p:cNvPr id="64" name="iṣ1ïḓé"/>
            <p:cNvSpPr/>
            <p:nvPr/>
          </p:nvSpPr>
          <p:spPr bwMode="auto">
            <a:xfrm>
              <a:off x="8046489" y="4138176"/>
              <a:ext cx="521145" cy="1206812"/>
            </a:xfrm>
            <a:custGeom>
              <a:avLst/>
              <a:gdLst/>
              <a:ahLst/>
              <a:cxnLst>
                <a:cxn ang="0">
                  <a:pos x="48" y="0"/>
                </a:cxn>
                <a:cxn ang="0">
                  <a:pos x="64" y="2"/>
                </a:cxn>
                <a:cxn ang="0">
                  <a:pos x="66" y="4"/>
                </a:cxn>
                <a:cxn ang="0">
                  <a:pos x="66" y="5"/>
                </a:cxn>
                <a:cxn ang="0">
                  <a:pos x="67" y="38"/>
                </a:cxn>
                <a:cxn ang="0">
                  <a:pos x="61" y="45"/>
                </a:cxn>
                <a:cxn ang="0">
                  <a:pos x="44" y="45"/>
                </a:cxn>
                <a:cxn ang="0">
                  <a:pos x="60" y="65"/>
                </a:cxn>
                <a:cxn ang="0">
                  <a:pos x="59" y="77"/>
                </a:cxn>
                <a:cxn ang="0">
                  <a:pos x="0" y="155"/>
                </a:cxn>
                <a:cxn ang="0">
                  <a:pos x="48" y="0"/>
                </a:cxn>
              </a:cxnLst>
              <a:rect l="0" t="0" r="r" b="b"/>
              <a:pathLst>
                <a:path w="67" h="155">
                  <a:moveTo>
                    <a:pt x="48" y="0"/>
                  </a:moveTo>
                  <a:cubicBezTo>
                    <a:pt x="64" y="2"/>
                    <a:pt x="64" y="2"/>
                    <a:pt x="64" y="2"/>
                  </a:cubicBezTo>
                  <a:cubicBezTo>
                    <a:pt x="64" y="2"/>
                    <a:pt x="65" y="2"/>
                    <a:pt x="66" y="4"/>
                  </a:cubicBezTo>
                  <a:cubicBezTo>
                    <a:pt x="66" y="4"/>
                    <a:pt x="66" y="5"/>
                    <a:pt x="66" y="5"/>
                  </a:cubicBezTo>
                  <a:cubicBezTo>
                    <a:pt x="67" y="38"/>
                    <a:pt x="67" y="38"/>
                    <a:pt x="67" y="38"/>
                  </a:cubicBezTo>
                  <a:cubicBezTo>
                    <a:pt x="67" y="44"/>
                    <a:pt x="67" y="45"/>
                    <a:pt x="61" y="45"/>
                  </a:cubicBezTo>
                  <a:cubicBezTo>
                    <a:pt x="44" y="45"/>
                    <a:pt x="44" y="45"/>
                    <a:pt x="44" y="45"/>
                  </a:cubicBezTo>
                  <a:cubicBezTo>
                    <a:pt x="60" y="65"/>
                    <a:pt x="60" y="65"/>
                    <a:pt x="60" y="65"/>
                  </a:cubicBezTo>
                  <a:cubicBezTo>
                    <a:pt x="65" y="71"/>
                    <a:pt x="62" y="73"/>
                    <a:pt x="59" y="77"/>
                  </a:cubicBezTo>
                  <a:cubicBezTo>
                    <a:pt x="0" y="155"/>
                    <a:pt x="0" y="155"/>
                    <a:pt x="0" y="155"/>
                  </a:cubicBezTo>
                  <a:lnTo>
                    <a:pt x="48" y="0"/>
                  </a:lnTo>
                  <a:close/>
                </a:path>
              </a:pathLst>
            </a:custGeom>
            <a:solidFill>
              <a:srgbClr val="689ABC"/>
            </a:solidFill>
            <a:ln w="9525">
              <a:noFill/>
              <a:round/>
            </a:ln>
          </p:spPr>
          <p:txBody>
            <a:bodyPr anchor="ctr"/>
            <a:lstStyle/>
            <a:p>
              <a:pPr algn="ctr"/>
              <a:endParaRPr sz="2200" b="1"/>
            </a:p>
          </p:txBody>
        </p:sp>
        <p:sp>
          <p:nvSpPr>
            <p:cNvPr id="65" name="íṡḻíḓè"/>
            <p:cNvSpPr/>
            <p:nvPr/>
          </p:nvSpPr>
          <p:spPr bwMode="auto">
            <a:xfrm>
              <a:off x="7540560" y="4130568"/>
              <a:ext cx="505929" cy="1214420"/>
            </a:xfrm>
            <a:custGeom>
              <a:avLst/>
              <a:gdLst/>
              <a:ahLst/>
              <a:cxnLst>
                <a:cxn ang="0">
                  <a:pos x="19" y="0"/>
                </a:cxn>
                <a:cxn ang="0">
                  <a:pos x="3" y="3"/>
                </a:cxn>
                <a:cxn ang="0">
                  <a:pos x="1" y="4"/>
                </a:cxn>
                <a:cxn ang="0">
                  <a:pos x="1" y="6"/>
                </a:cxn>
                <a:cxn ang="0">
                  <a:pos x="0" y="39"/>
                </a:cxn>
                <a:cxn ang="0">
                  <a:pos x="6" y="46"/>
                </a:cxn>
                <a:cxn ang="0">
                  <a:pos x="23" y="46"/>
                </a:cxn>
                <a:cxn ang="0">
                  <a:pos x="7" y="66"/>
                </a:cxn>
                <a:cxn ang="0">
                  <a:pos x="8" y="78"/>
                </a:cxn>
                <a:cxn ang="0">
                  <a:pos x="65" y="156"/>
                </a:cxn>
                <a:cxn ang="0">
                  <a:pos x="19" y="0"/>
                </a:cxn>
              </a:cxnLst>
              <a:rect l="0" t="0" r="r" b="b"/>
              <a:pathLst>
                <a:path w="65" h="156">
                  <a:moveTo>
                    <a:pt x="19" y="0"/>
                  </a:moveTo>
                  <a:cubicBezTo>
                    <a:pt x="3" y="3"/>
                    <a:pt x="3" y="3"/>
                    <a:pt x="3" y="3"/>
                  </a:cubicBezTo>
                  <a:cubicBezTo>
                    <a:pt x="3" y="3"/>
                    <a:pt x="2" y="4"/>
                    <a:pt x="1" y="4"/>
                  </a:cubicBezTo>
                  <a:cubicBezTo>
                    <a:pt x="1" y="4"/>
                    <a:pt x="1" y="6"/>
                    <a:pt x="1" y="6"/>
                  </a:cubicBezTo>
                  <a:cubicBezTo>
                    <a:pt x="0" y="39"/>
                    <a:pt x="0" y="39"/>
                    <a:pt x="0" y="39"/>
                  </a:cubicBezTo>
                  <a:cubicBezTo>
                    <a:pt x="0" y="45"/>
                    <a:pt x="1" y="46"/>
                    <a:pt x="6" y="46"/>
                  </a:cubicBezTo>
                  <a:cubicBezTo>
                    <a:pt x="23" y="46"/>
                    <a:pt x="23" y="46"/>
                    <a:pt x="23" y="46"/>
                  </a:cubicBezTo>
                  <a:cubicBezTo>
                    <a:pt x="7" y="66"/>
                    <a:pt x="7" y="66"/>
                    <a:pt x="7" y="66"/>
                  </a:cubicBezTo>
                  <a:cubicBezTo>
                    <a:pt x="2" y="72"/>
                    <a:pt x="5" y="74"/>
                    <a:pt x="8" y="78"/>
                  </a:cubicBezTo>
                  <a:cubicBezTo>
                    <a:pt x="65" y="156"/>
                    <a:pt x="65" y="156"/>
                    <a:pt x="65" y="156"/>
                  </a:cubicBezTo>
                  <a:lnTo>
                    <a:pt x="19" y="0"/>
                  </a:lnTo>
                  <a:close/>
                </a:path>
              </a:pathLst>
            </a:custGeom>
            <a:solidFill>
              <a:srgbClr val="689ABC"/>
            </a:solidFill>
            <a:ln w="9525">
              <a:noFill/>
              <a:round/>
            </a:ln>
          </p:spPr>
          <p:txBody>
            <a:bodyPr anchor="ctr"/>
            <a:lstStyle/>
            <a:p>
              <a:pPr algn="ctr"/>
              <a:endParaRPr sz="2200" b="1"/>
            </a:p>
          </p:txBody>
        </p:sp>
        <p:sp>
          <p:nvSpPr>
            <p:cNvPr id="66" name="iṡ1ïḓe"/>
            <p:cNvSpPr/>
            <p:nvPr/>
          </p:nvSpPr>
          <p:spPr bwMode="auto">
            <a:xfrm>
              <a:off x="4185453" y="5539942"/>
              <a:ext cx="77030" cy="69423"/>
            </a:xfrm>
            <a:prstGeom prst="ellipse">
              <a:avLst/>
            </a:prstGeom>
            <a:solidFill>
              <a:srgbClr val="395B77"/>
            </a:solidFill>
            <a:ln w="9525">
              <a:noFill/>
              <a:round/>
            </a:ln>
          </p:spPr>
          <p:txBody>
            <a:bodyPr anchor="ctr"/>
            <a:lstStyle/>
            <a:p>
              <a:pPr algn="ctr"/>
              <a:endParaRPr sz="2200" b="1"/>
            </a:p>
          </p:txBody>
        </p:sp>
        <p:sp>
          <p:nvSpPr>
            <p:cNvPr id="67" name="îşḻîde"/>
            <p:cNvSpPr/>
            <p:nvPr/>
          </p:nvSpPr>
          <p:spPr bwMode="auto">
            <a:xfrm>
              <a:off x="4185453" y="5843309"/>
              <a:ext cx="77030" cy="77982"/>
            </a:xfrm>
            <a:prstGeom prst="ellipse">
              <a:avLst/>
            </a:prstGeom>
            <a:solidFill>
              <a:srgbClr val="395B77"/>
            </a:solidFill>
            <a:ln w="9525">
              <a:noFill/>
              <a:round/>
            </a:ln>
          </p:spPr>
          <p:txBody>
            <a:bodyPr anchor="ctr"/>
            <a:lstStyle/>
            <a:p>
              <a:pPr algn="ctr"/>
              <a:endParaRPr sz="2200" b="1"/>
            </a:p>
          </p:txBody>
        </p:sp>
        <p:sp>
          <p:nvSpPr>
            <p:cNvPr id="68" name="isḷïḍè"/>
            <p:cNvSpPr/>
            <p:nvPr/>
          </p:nvSpPr>
          <p:spPr bwMode="auto">
            <a:xfrm>
              <a:off x="7929517" y="5539942"/>
              <a:ext cx="70374" cy="69423"/>
            </a:xfrm>
            <a:prstGeom prst="ellipse">
              <a:avLst/>
            </a:prstGeom>
            <a:solidFill>
              <a:srgbClr val="395B77"/>
            </a:solidFill>
            <a:ln w="9525">
              <a:noFill/>
              <a:round/>
            </a:ln>
          </p:spPr>
          <p:txBody>
            <a:bodyPr anchor="ctr"/>
            <a:lstStyle/>
            <a:p>
              <a:pPr algn="ctr"/>
              <a:endParaRPr sz="2200" b="1"/>
            </a:p>
          </p:txBody>
        </p:sp>
        <p:sp>
          <p:nvSpPr>
            <p:cNvPr id="69" name="îS1iďê"/>
            <p:cNvSpPr/>
            <p:nvPr/>
          </p:nvSpPr>
          <p:spPr bwMode="auto">
            <a:xfrm>
              <a:off x="7929517" y="5843309"/>
              <a:ext cx="70374" cy="77982"/>
            </a:xfrm>
            <a:prstGeom prst="ellipse">
              <a:avLst/>
            </a:prstGeom>
            <a:solidFill>
              <a:srgbClr val="395B77"/>
            </a:solidFill>
            <a:ln w="9525">
              <a:noFill/>
              <a:round/>
            </a:ln>
          </p:spPr>
          <p:txBody>
            <a:bodyPr anchor="ctr"/>
            <a:lstStyle/>
            <a:p>
              <a:pPr algn="ctr"/>
              <a:endParaRPr sz="2200" b="1"/>
            </a:p>
          </p:txBody>
        </p:sp>
        <p:sp>
          <p:nvSpPr>
            <p:cNvPr id="70" name="isliḓè"/>
            <p:cNvSpPr/>
            <p:nvPr/>
          </p:nvSpPr>
          <p:spPr bwMode="auto">
            <a:xfrm>
              <a:off x="7812545" y="3585648"/>
              <a:ext cx="444114" cy="420339"/>
            </a:xfrm>
            <a:custGeom>
              <a:avLst/>
              <a:gdLst/>
              <a:ahLst/>
              <a:cxnLst>
                <a:cxn ang="0">
                  <a:pos x="37" y="38"/>
                </a:cxn>
                <a:cxn ang="0">
                  <a:pos x="57" y="2"/>
                </a:cxn>
                <a:cxn ang="0">
                  <a:pos x="57" y="0"/>
                </a:cxn>
                <a:cxn ang="0">
                  <a:pos x="32" y="20"/>
                </a:cxn>
                <a:cxn ang="0">
                  <a:pos x="1" y="37"/>
                </a:cxn>
                <a:cxn ang="0">
                  <a:pos x="0" y="54"/>
                </a:cxn>
                <a:cxn ang="0">
                  <a:pos x="37" y="38"/>
                </a:cxn>
              </a:cxnLst>
              <a:rect l="0" t="0" r="r" b="b"/>
              <a:pathLst>
                <a:path w="57" h="54">
                  <a:moveTo>
                    <a:pt x="37" y="38"/>
                  </a:moveTo>
                  <a:cubicBezTo>
                    <a:pt x="48" y="30"/>
                    <a:pt x="54" y="16"/>
                    <a:pt x="57" y="2"/>
                  </a:cubicBezTo>
                  <a:cubicBezTo>
                    <a:pt x="57" y="0"/>
                    <a:pt x="57" y="0"/>
                    <a:pt x="57" y="0"/>
                  </a:cubicBezTo>
                  <a:cubicBezTo>
                    <a:pt x="32" y="20"/>
                    <a:pt x="32" y="20"/>
                    <a:pt x="32" y="20"/>
                  </a:cubicBezTo>
                  <a:cubicBezTo>
                    <a:pt x="1" y="37"/>
                    <a:pt x="1" y="37"/>
                    <a:pt x="1" y="37"/>
                  </a:cubicBezTo>
                  <a:cubicBezTo>
                    <a:pt x="0" y="54"/>
                    <a:pt x="0" y="54"/>
                    <a:pt x="0" y="54"/>
                  </a:cubicBezTo>
                  <a:cubicBezTo>
                    <a:pt x="15" y="51"/>
                    <a:pt x="29" y="44"/>
                    <a:pt x="37" y="38"/>
                  </a:cubicBezTo>
                  <a:close/>
                </a:path>
              </a:pathLst>
            </a:custGeom>
            <a:solidFill>
              <a:srgbClr val="EACDB5"/>
            </a:solidFill>
            <a:ln w="9525">
              <a:noFill/>
              <a:round/>
            </a:ln>
          </p:spPr>
          <p:txBody>
            <a:bodyPr anchor="ctr"/>
            <a:lstStyle/>
            <a:p>
              <a:pPr algn="ctr"/>
              <a:endParaRPr sz="2200" b="1"/>
            </a:p>
          </p:txBody>
        </p:sp>
        <p:sp>
          <p:nvSpPr>
            <p:cNvPr id="71" name="îṩ1ídê"/>
            <p:cNvSpPr/>
            <p:nvPr/>
          </p:nvSpPr>
          <p:spPr bwMode="auto">
            <a:xfrm>
              <a:off x="7423588" y="2830559"/>
              <a:ext cx="887277" cy="1144046"/>
            </a:xfrm>
            <a:custGeom>
              <a:avLst/>
              <a:gdLst/>
              <a:ahLst/>
              <a:cxnLst>
                <a:cxn ang="0">
                  <a:pos x="42" y="0"/>
                </a:cxn>
                <a:cxn ang="0">
                  <a:pos x="0" y="2"/>
                </a:cxn>
                <a:cxn ang="0">
                  <a:pos x="10" y="111"/>
                </a:cxn>
                <a:cxn ang="0">
                  <a:pos x="34" y="147"/>
                </a:cxn>
                <a:cxn ang="0">
                  <a:pos x="87" y="129"/>
                </a:cxn>
                <a:cxn ang="0">
                  <a:pos x="112" y="61"/>
                </a:cxn>
                <a:cxn ang="0">
                  <a:pos x="114" y="4"/>
                </a:cxn>
                <a:cxn ang="0">
                  <a:pos x="42" y="0"/>
                </a:cxn>
              </a:cxnLst>
              <a:rect l="0" t="0" r="r" b="b"/>
              <a:pathLst>
                <a:path w="114" h="147">
                  <a:moveTo>
                    <a:pt x="42" y="0"/>
                  </a:moveTo>
                  <a:cubicBezTo>
                    <a:pt x="0" y="2"/>
                    <a:pt x="0" y="2"/>
                    <a:pt x="0" y="2"/>
                  </a:cubicBezTo>
                  <a:cubicBezTo>
                    <a:pt x="10" y="111"/>
                    <a:pt x="10" y="111"/>
                    <a:pt x="10" y="111"/>
                  </a:cubicBezTo>
                  <a:cubicBezTo>
                    <a:pt x="12" y="143"/>
                    <a:pt x="25" y="147"/>
                    <a:pt x="34" y="147"/>
                  </a:cubicBezTo>
                  <a:cubicBezTo>
                    <a:pt x="54" y="147"/>
                    <a:pt x="77" y="137"/>
                    <a:pt x="87" y="129"/>
                  </a:cubicBezTo>
                  <a:cubicBezTo>
                    <a:pt x="111" y="111"/>
                    <a:pt x="112" y="64"/>
                    <a:pt x="112" y="61"/>
                  </a:cubicBezTo>
                  <a:cubicBezTo>
                    <a:pt x="114" y="4"/>
                    <a:pt x="114" y="4"/>
                    <a:pt x="114" y="4"/>
                  </a:cubicBezTo>
                  <a:lnTo>
                    <a:pt x="42" y="0"/>
                  </a:lnTo>
                  <a:close/>
                </a:path>
              </a:pathLst>
            </a:custGeom>
            <a:solidFill>
              <a:srgbClr val="FFE1CC"/>
            </a:solidFill>
            <a:ln w="9525">
              <a:noFill/>
              <a:round/>
            </a:ln>
          </p:spPr>
          <p:txBody>
            <a:bodyPr anchor="ctr"/>
            <a:lstStyle/>
            <a:p>
              <a:pPr algn="ctr"/>
              <a:endParaRPr sz="2200" b="1"/>
            </a:p>
          </p:txBody>
        </p:sp>
        <p:sp>
          <p:nvSpPr>
            <p:cNvPr id="72" name="íṩļídè"/>
            <p:cNvSpPr/>
            <p:nvPr/>
          </p:nvSpPr>
          <p:spPr bwMode="auto">
            <a:xfrm>
              <a:off x="7337998" y="2518633"/>
              <a:ext cx="1261018" cy="1191596"/>
            </a:xfrm>
            <a:custGeom>
              <a:avLst/>
              <a:gdLst/>
              <a:ahLst/>
              <a:cxnLst>
                <a:cxn ang="0">
                  <a:pos x="14" y="19"/>
                </a:cxn>
                <a:cxn ang="0">
                  <a:pos x="16" y="49"/>
                </a:cxn>
                <a:cxn ang="0">
                  <a:pos x="47" y="61"/>
                </a:cxn>
                <a:cxn ang="0">
                  <a:pos x="57" y="77"/>
                </a:cxn>
                <a:cxn ang="0">
                  <a:pos x="57" y="109"/>
                </a:cxn>
                <a:cxn ang="0">
                  <a:pos x="65" y="114"/>
                </a:cxn>
                <a:cxn ang="0">
                  <a:pos x="73" y="102"/>
                </a:cxn>
                <a:cxn ang="0">
                  <a:pos x="82" y="100"/>
                </a:cxn>
                <a:cxn ang="0">
                  <a:pos x="90" y="100"/>
                </a:cxn>
                <a:cxn ang="0">
                  <a:pos x="98" y="104"/>
                </a:cxn>
                <a:cxn ang="0">
                  <a:pos x="106" y="134"/>
                </a:cxn>
                <a:cxn ang="0">
                  <a:pos x="123" y="153"/>
                </a:cxn>
                <a:cxn ang="0">
                  <a:pos x="127" y="153"/>
                </a:cxn>
                <a:cxn ang="0">
                  <a:pos x="150" y="97"/>
                </a:cxn>
                <a:cxn ang="0">
                  <a:pos x="73" y="12"/>
                </a:cxn>
                <a:cxn ang="0">
                  <a:pos x="14" y="19"/>
                </a:cxn>
              </a:cxnLst>
              <a:rect l="0" t="0" r="r" b="b"/>
              <a:pathLst>
                <a:path w="162" h="153">
                  <a:moveTo>
                    <a:pt x="14" y="19"/>
                  </a:moveTo>
                  <a:cubicBezTo>
                    <a:pt x="0" y="20"/>
                    <a:pt x="0" y="42"/>
                    <a:pt x="16" y="49"/>
                  </a:cubicBezTo>
                  <a:cubicBezTo>
                    <a:pt x="24" y="52"/>
                    <a:pt x="47" y="61"/>
                    <a:pt x="47" y="61"/>
                  </a:cubicBezTo>
                  <a:cubicBezTo>
                    <a:pt x="57" y="64"/>
                    <a:pt x="57" y="72"/>
                    <a:pt x="57" y="77"/>
                  </a:cubicBezTo>
                  <a:cubicBezTo>
                    <a:pt x="57" y="109"/>
                    <a:pt x="57" y="109"/>
                    <a:pt x="57" y="109"/>
                  </a:cubicBezTo>
                  <a:cubicBezTo>
                    <a:pt x="57" y="113"/>
                    <a:pt x="59" y="117"/>
                    <a:pt x="65" y="114"/>
                  </a:cubicBezTo>
                  <a:cubicBezTo>
                    <a:pt x="69" y="113"/>
                    <a:pt x="72" y="107"/>
                    <a:pt x="73" y="102"/>
                  </a:cubicBezTo>
                  <a:cubicBezTo>
                    <a:pt x="73" y="102"/>
                    <a:pt x="77" y="100"/>
                    <a:pt x="82" y="100"/>
                  </a:cubicBezTo>
                  <a:cubicBezTo>
                    <a:pt x="90" y="100"/>
                    <a:pt x="90" y="100"/>
                    <a:pt x="90" y="100"/>
                  </a:cubicBezTo>
                  <a:cubicBezTo>
                    <a:pt x="95" y="100"/>
                    <a:pt x="96" y="98"/>
                    <a:pt x="98" y="104"/>
                  </a:cubicBezTo>
                  <a:cubicBezTo>
                    <a:pt x="106" y="134"/>
                    <a:pt x="106" y="134"/>
                    <a:pt x="106" y="134"/>
                  </a:cubicBezTo>
                  <a:cubicBezTo>
                    <a:pt x="110" y="148"/>
                    <a:pt x="118" y="153"/>
                    <a:pt x="123" y="153"/>
                  </a:cubicBezTo>
                  <a:cubicBezTo>
                    <a:pt x="127" y="153"/>
                    <a:pt x="127" y="153"/>
                    <a:pt x="127" y="153"/>
                  </a:cubicBezTo>
                  <a:cubicBezTo>
                    <a:pt x="135" y="135"/>
                    <a:pt x="146" y="107"/>
                    <a:pt x="150" y="97"/>
                  </a:cubicBezTo>
                  <a:cubicBezTo>
                    <a:pt x="162" y="65"/>
                    <a:pt x="148" y="0"/>
                    <a:pt x="73" y="12"/>
                  </a:cubicBezTo>
                  <a:lnTo>
                    <a:pt x="14" y="19"/>
                  </a:lnTo>
                  <a:close/>
                </a:path>
              </a:pathLst>
            </a:custGeom>
            <a:solidFill>
              <a:srgbClr val="253F59"/>
            </a:solidFill>
            <a:ln w="9525">
              <a:noFill/>
              <a:round/>
            </a:ln>
          </p:spPr>
          <p:txBody>
            <a:bodyPr anchor="ctr"/>
            <a:lstStyle/>
            <a:p>
              <a:pPr algn="ctr"/>
              <a:endParaRPr sz="2200" b="1"/>
            </a:p>
          </p:txBody>
        </p:sp>
        <p:sp>
          <p:nvSpPr>
            <p:cNvPr id="73" name="îṩļïḓé"/>
            <p:cNvSpPr/>
            <p:nvPr/>
          </p:nvSpPr>
          <p:spPr bwMode="auto">
            <a:xfrm>
              <a:off x="7898134" y="3250898"/>
              <a:ext cx="218729" cy="373741"/>
            </a:xfrm>
            <a:custGeom>
              <a:avLst/>
              <a:gdLst/>
              <a:ahLst/>
              <a:cxnLst>
                <a:cxn ang="0">
                  <a:pos x="14" y="0"/>
                </a:cxn>
                <a:cxn ang="0">
                  <a:pos x="0" y="13"/>
                </a:cxn>
                <a:cxn ang="0">
                  <a:pos x="0" y="39"/>
                </a:cxn>
                <a:cxn ang="0">
                  <a:pos x="5" y="46"/>
                </a:cxn>
                <a:cxn ang="0">
                  <a:pos x="19" y="34"/>
                </a:cxn>
                <a:cxn ang="0">
                  <a:pos x="24" y="22"/>
                </a:cxn>
                <a:cxn ang="0">
                  <a:pos x="14" y="0"/>
                </a:cxn>
              </a:cxnLst>
              <a:rect l="0" t="0" r="r" b="b"/>
              <a:pathLst>
                <a:path w="28" h="48">
                  <a:moveTo>
                    <a:pt x="14" y="0"/>
                  </a:moveTo>
                  <a:cubicBezTo>
                    <a:pt x="1" y="0"/>
                    <a:pt x="0" y="13"/>
                    <a:pt x="0" y="13"/>
                  </a:cubicBezTo>
                  <a:cubicBezTo>
                    <a:pt x="0" y="39"/>
                    <a:pt x="0" y="39"/>
                    <a:pt x="0" y="39"/>
                  </a:cubicBezTo>
                  <a:cubicBezTo>
                    <a:pt x="0" y="39"/>
                    <a:pt x="0" y="45"/>
                    <a:pt x="5" y="46"/>
                  </a:cubicBezTo>
                  <a:cubicBezTo>
                    <a:pt x="13" y="48"/>
                    <a:pt x="16" y="41"/>
                    <a:pt x="19" y="34"/>
                  </a:cubicBezTo>
                  <a:cubicBezTo>
                    <a:pt x="20" y="33"/>
                    <a:pt x="24" y="23"/>
                    <a:pt x="24" y="22"/>
                  </a:cubicBezTo>
                  <a:cubicBezTo>
                    <a:pt x="28" y="13"/>
                    <a:pt x="27" y="0"/>
                    <a:pt x="14" y="0"/>
                  </a:cubicBezTo>
                  <a:close/>
                </a:path>
              </a:pathLst>
            </a:custGeom>
            <a:solidFill>
              <a:srgbClr val="FFE8D9"/>
            </a:solidFill>
            <a:ln w="9525">
              <a:noFill/>
              <a:round/>
            </a:ln>
          </p:spPr>
          <p:txBody>
            <a:bodyPr anchor="ctr"/>
            <a:lstStyle/>
            <a:p>
              <a:pPr algn="ctr"/>
              <a:endParaRPr sz="2200" b="1"/>
            </a:p>
          </p:txBody>
        </p:sp>
        <p:sp>
          <p:nvSpPr>
            <p:cNvPr id="74" name="ïṡḻîḑê"/>
            <p:cNvSpPr/>
            <p:nvPr/>
          </p:nvSpPr>
          <p:spPr bwMode="auto">
            <a:xfrm>
              <a:off x="3936293" y="3585648"/>
              <a:ext cx="443163" cy="420339"/>
            </a:xfrm>
            <a:custGeom>
              <a:avLst/>
              <a:gdLst/>
              <a:ahLst/>
              <a:cxnLst>
                <a:cxn ang="0">
                  <a:pos x="20" y="38"/>
                </a:cxn>
                <a:cxn ang="0">
                  <a:pos x="0" y="2"/>
                </a:cxn>
                <a:cxn ang="0">
                  <a:pos x="0" y="0"/>
                </a:cxn>
                <a:cxn ang="0">
                  <a:pos x="25" y="20"/>
                </a:cxn>
                <a:cxn ang="0">
                  <a:pos x="56" y="37"/>
                </a:cxn>
                <a:cxn ang="0">
                  <a:pos x="57" y="54"/>
                </a:cxn>
                <a:cxn ang="0">
                  <a:pos x="20" y="38"/>
                </a:cxn>
              </a:cxnLst>
              <a:rect l="0" t="0" r="r" b="b"/>
              <a:pathLst>
                <a:path w="57" h="54">
                  <a:moveTo>
                    <a:pt x="20" y="38"/>
                  </a:moveTo>
                  <a:cubicBezTo>
                    <a:pt x="9" y="30"/>
                    <a:pt x="3" y="16"/>
                    <a:pt x="0" y="2"/>
                  </a:cubicBezTo>
                  <a:cubicBezTo>
                    <a:pt x="0" y="0"/>
                    <a:pt x="0" y="0"/>
                    <a:pt x="0" y="0"/>
                  </a:cubicBezTo>
                  <a:cubicBezTo>
                    <a:pt x="25" y="20"/>
                    <a:pt x="25" y="20"/>
                    <a:pt x="25" y="20"/>
                  </a:cubicBezTo>
                  <a:cubicBezTo>
                    <a:pt x="56" y="37"/>
                    <a:pt x="56" y="37"/>
                    <a:pt x="56" y="37"/>
                  </a:cubicBezTo>
                  <a:cubicBezTo>
                    <a:pt x="57" y="54"/>
                    <a:pt x="57" y="54"/>
                    <a:pt x="57" y="54"/>
                  </a:cubicBezTo>
                  <a:cubicBezTo>
                    <a:pt x="42" y="51"/>
                    <a:pt x="28" y="44"/>
                    <a:pt x="20" y="38"/>
                  </a:cubicBezTo>
                  <a:close/>
                </a:path>
              </a:pathLst>
            </a:custGeom>
            <a:solidFill>
              <a:srgbClr val="EACDB5"/>
            </a:solidFill>
            <a:ln w="9525">
              <a:noFill/>
              <a:round/>
            </a:ln>
          </p:spPr>
          <p:txBody>
            <a:bodyPr anchor="ctr"/>
            <a:lstStyle/>
            <a:p>
              <a:pPr algn="ctr"/>
              <a:endParaRPr sz="2200" b="1"/>
            </a:p>
          </p:txBody>
        </p:sp>
        <p:sp>
          <p:nvSpPr>
            <p:cNvPr id="75" name="íSľiďé"/>
            <p:cNvSpPr/>
            <p:nvPr/>
          </p:nvSpPr>
          <p:spPr bwMode="auto">
            <a:xfrm>
              <a:off x="3881135" y="2830559"/>
              <a:ext cx="887277" cy="1144046"/>
            </a:xfrm>
            <a:custGeom>
              <a:avLst/>
              <a:gdLst/>
              <a:ahLst/>
              <a:cxnLst>
                <a:cxn ang="0">
                  <a:pos x="72" y="0"/>
                </a:cxn>
                <a:cxn ang="0">
                  <a:pos x="114" y="2"/>
                </a:cxn>
                <a:cxn ang="0">
                  <a:pos x="104" y="111"/>
                </a:cxn>
                <a:cxn ang="0">
                  <a:pos x="80" y="147"/>
                </a:cxn>
                <a:cxn ang="0">
                  <a:pos x="27" y="129"/>
                </a:cxn>
                <a:cxn ang="0">
                  <a:pos x="2" y="61"/>
                </a:cxn>
                <a:cxn ang="0">
                  <a:pos x="0" y="4"/>
                </a:cxn>
                <a:cxn ang="0">
                  <a:pos x="72" y="0"/>
                </a:cxn>
              </a:cxnLst>
              <a:rect l="0" t="0" r="r" b="b"/>
              <a:pathLst>
                <a:path w="114" h="147">
                  <a:moveTo>
                    <a:pt x="72" y="0"/>
                  </a:moveTo>
                  <a:cubicBezTo>
                    <a:pt x="114" y="2"/>
                    <a:pt x="114" y="2"/>
                    <a:pt x="114" y="2"/>
                  </a:cubicBezTo>
                  <a:cubicBezTo>
                    <a:pt x="104" y="111"/>
                    <a:pt x="104" y="111"/>
                    <a:pt x="104" y="111"/>
                  </a:cubicBezTo>
                  <a:cubicBezTo>
                    <a:pt x="102" y="143"/>
                    <a:pt x="89" y="147"/>
                    <a:pt x="80" y="147"/>
                  </a:cubicBezTo>
                  <a:cubicBezTo>
                    <a:pt x="60" y="147"/>
                    <a:pt x="37" y="137"/>
                    <a:pt x="27" y="129"/>
                  </a:cubicBezTo>
                  <a:cubicBezTo>
                    <a:pt x="3" y="111"/>
                    <a:pt x="2" y="64"/>
                    <a:pt x="2" y="61"/>
                  </a:cubicBezTo>
                  <a:cubicBezTo>
                    <a:pt x="0" y="4"/>
                    <a:pt x="0" y="4"/>
                    <a:pt x="0" y="4"/>
                  </a:cubicBezTo>
                  <a:lnTo>
                    <a:pt x="72" y="0"/>
                  </a:lnTo>
                  <a:close/>
                </a:path>
              </a:pathLst>
            </a:custGeom>
            <a:solidFill>
              <a:srgbClr val="FFE1CC"/>
            </a:solidFill>
            <a:ln w="9525">
              <a:noFill/>
              <a:round/>
            </a:ln>
          </p:spPr>
          <p:txBody>
            <a:bodyPr anchor="ctr"/>
            <a:lstStyle/>
            <a:p>
              <a:pPr algn="ctr"/>
              <a:endParaRPr sz="2200" b="1"/>
            </a:p>
          </p:txBody>
        </p:sp>
        <p:sp>
          <p:nvSpPr>
            <p:cNvPr id="76" name="ïṩlídé"/>
            <p:cNvSpPr/>
            <p:nvPr/>
          </p:nvSpPr>
          <p:spPr bwMode="auto">
            <a:xfrm>
              <a:off x="3592983" y="2518633"/>
              <a:ext cx="1261969" cy="1191596"/>
            </a:xfrm>
            <a:custGeom>
              <a:avLst/>
              <a:gdLst/>
              <a:ahLst/>
              <a:cxnLst>
                <a:cxn ang="0">
                  <a:pos x="148" y="19"/>
                </a:cxn>
                <a:cxn ang="0">
                  <a:pos x="146" y="49"/>
                </a:cxn>
                <a:cxn ang="0">
                  <a:pos x="116" y="61"/>
                </a:cxn>
                <a:cxn ang="0">
                  <a:pos x="105" y="77"/>
                </a:cxn>
                <a:cxn ang="0">
                  <a:pos x="105" y="109"/>
                </a:cxn>
                <a:cxn ang="0">
                  <a:pos x="97" y="114"/>
                </a:cxn>
                <a:cxn ang="0">
                  <a:pos x="89" y="102"/>
                </a:cxn>
                <a:cxn ang="0">
                  <a:pos x="80" y="100"/>
                </a:cxn>
                <a:cxn ang="0">
                  <a:pos x="72" y="100"/>
                </a:cxn>
                <a:cxn ang="0">
                  <a:pos x="64" y="104"/>
                </a:cxn>
                <a:cxn ang="0">
                  <a:pos x="56" y="134"/>
                </a:cxn>
                <a:cxn ang="0">
                  <a:pos x="39" y="153"/>
                </a:cxn>
                <a:cxn ang="0">
                  <a:pos x="35" y="153"/>
                </a:cxn>
                <a:cxn ang="0">
                  <a:pos x="12" y="97"/>
                </a:cxn>
                <a:cxn ang="0">
                  <a:pos x="89" y="12"/>
                </a:cxn>
                <a:cxn ang="0">
                  <a:pos x="148" y="19"/>
                </a:cxn>
              </a:cxnLst>
              <a:rect l="0" t="0" r="r" b="b"/>
              <a:pathLst>
                <a:path w="162" h="153">
                  <a:moveTo>
                    <a:pt x="148" y="19"/>
                  </a:moveTo>
                  <a:cubicBezTo>
                    <a:pt x="162" y="20"/>
                    <a:pt x="162" y="42"/>
                    <a:pt x="146" y="49"/>
                  </a:cubicBezTo>
                  <a:cubicBezTo>
                    <a:pt x="138" y="52"/>
                    <a:pt x="116" y="61"/>
                    <a:pt x="116" y="61"/>
                  </a:cubicBezTo>
                  <a:cubicBezTo>
                    <a:pt x="105" y="64"/>
                    <a:pt x="105" y="72"/>
                    <a:pt x="105" y="77"/>
                  </a:cubicBezTo>
                  <a:cubicBezTo>
                    <a:pt x="105" y="109"/>
                    <a:pt x="105" y="109"/>
                    <a:pt x="105" y="109"/>
                  </a:cubicBezTo>
                  <a:cubicBezTo>
                    <a:pt x="105" y="113"/>
                    <a:pt x="103" y="117"/>
                    <a:pt x="97" y="114"/>
                  </a:cubicBezTo>
                  <a:cubicBezTo>
                    <a:pt x="93" y="113"/>
                    <a:pt x="90" y="107"/>
                    <a:pt x="89" y="102"/>
                  </a:cubicBezTo>
                  <a:cubicBezTo>
                    <a:pt x="89" y="102"/>
                    <a:pt x="86" y="100"/>
                    <a:pt x="80" y="100"/>
                  </a:cubicBezTo>
                  <a:cubicBezTo>
                    <a:pt x="72" y="100"/>
                    <a:pt x="72" y="100"/>
                    <a:pt x="72" y="100"/>
                  </a:cubicBezTo>
                  <a:cubicBezTo>
                    <a:pt x="67" y="100"/>
                    <a:pt x="66" y="98"/>
                    <a:pt x="64" y="104"/>
                  </a:cubicBezTo>
                  <a:cubicBezTo>
                    <a:pt x="56" y="134"/>
                    <a:pt x="56" y="134"/>
                    <a:pt x="56" y="134"/>
                  </a:cubicBezTo>
                  <a:cubicBezTo>
                    <a:pt x="52" y="148"/>
                    <a:pt x="44" y="153"/>
                    <a:pt x="39" y="153"/>
                  </a:cubicBezTo>
                  <a:cubicBezTo>
                    <a:pt x="35" y="153"/>
                    <a:pt x="35" y="153"/>
                    <a:pt x="35" y="153"/>
                  </a:cubicBezTo>
                  <a:cubicBezTo>
                    <a:pt x="27" y="135"/>
                    <a:pt x="16" y="107"/>
                    <a:pt x="12" y="97"/>
                  </a:cubicBezTo>
                  <a:cubicBezTo>
                    <a:pt x="0" y="65"/>
                    <a:pt x="14" y="0"/>
                    <a:pt x="89" y="12"/>
                  </a:cubicBezTo>
                  <a:lnTo>
                    <a:pt x="148" y="19"/>
                  </a:lnTo>
                  <a:close/>
                </a:path>
              </a:pathLst>
            </a:custGeom>
            <a:solidFill>
              <a:srgbClr val="253F59"/>
            </a:solidFill>
            <a:ln w="9525">
              <a:noFill/>
              <a:round/>
            </a:ln>
          </p:spPr>
          <p:txBody>
            <a:bodyPr anchor="ctr"/>
            <a:lstStyle/>
            <a:p>
              <a:pPr algn="ctr"/>
              <a:endParaRPr sz="2200" b="1"/>
            </a:p>
          </p:txBody>
        </p:sp>
        <p:sp>
          <p:nvSpPr>
            <p:cNvPr id="77" name="iṧḻïḍê"/>
            <p:cNvSpPr/>
            <p:nvPr/>
          </p:nvSpPr>
          <p:spPr bwMode="auto">
            <a:xfrm>
              <a:off x="4076088" y="3250898"/>
              <a:ext cx="217777" cy="373741"/>
            </a:xfrm>
            <a:custGeom>
              <a:avLst/>
              <a:gdLst/>
              <a:ahLst/>
              <a:cxnLst>
                <a:cxn ang="0">
                  <a:pos x="14" y="0"/>
                </a:cxn>
                <a:cxn ang="0">
                  <a:pos x="28" y="13"/>
                </a:cxn>
                <a:cxn ang="0">
                  <a:pos x="28" y="39"/>
                </a:cxn>
                <a:cxn ang="0">
                  <a:pos x="23" y="46"/>
                </a:cxn>
                <a:cxn ang="0">
                  <a:pos x="9" y="34"/>
                </a:cxn>
                <a:cxn ang="0">
                  <a:pos x="4" y="22"/>
                </a:cxn>
                <a:cxn ang="0">
                  <a:pos x="14" y="0"/>
                </a:cxn>
              </a:cxnLst>
              <a:rect l="0" t="0" r="r" b="b"/>
              <a:pathLst>
                <a:path w="28" h="48">
                  <a:moveTo>
                    <a:pt x="14" y="0"/>
                  </a:moveTo>
                  <a:cubicBezTo>
                    <a:pt x="27" y="0"/>
                    <a:pt x="28" y="13"/>
                    <a:pt x="28" y="13"/>
                  </a:cubicBezTo>
                  <a:cubicBezTo>
                    <a:pt x="28" y="39"/>
                    <a:pt x="28" y="39"/>
                    <a:pt x="28" y="39"/>
                  </a:cubicBezTo>
                  <a:cubicBezTo>
                    <a:pt x="28" y="39"/>
                    <a:pt x="28" y="45"/>
                    <a:pt x="23" y="46"/>
                  </a:cubicBezTo>
                  <a:cubicBezTo>
                    <a:pt x="15" y="48"/>
                    <a:pt x="12" y="41"/>
                    <a:pt x="9" y="34"/>
                  </a:cubicBezTo>
                  <a:cubicBezTo>
                    <a:pt x="9" y="33"/>
                    <a:pt x="4" y="23"/>
                    <a:pt x="4" y="22"/>
                  </a:cubicBezTo>
                  <a:cubicBezTo>
                    <a:pt x="0" y="13"/>
                    <a:pt x="1" y="0"/>
                    <a:pt x="14" y="0"/>
                  </a:cubicBezTo>
                  <a:close/>
                </a:path>
              </a:pathLst>
            </a:custGeom>
            <a:solidFill>
              <a:srgbClr val="FFE8D9"/>
            </a:solidFill>
            <a:ln w="9525">
              <a:noFill/>
              <a:round/>
            </a:ln>
          </p:spPr>
          <p:txBody>
            <a:bodyPr anchor="ctr"/>
            <a:lstStyle/>
            <a:p>
              <a:pPr algn="ctr"/>
              <a:endParaRPr sz="2200" b="1"/>
            </a:p>
          </p:txBody>
        </p:sp>
      </p:grpSp>
      <p:sp>
        <p:nvSpPr>
          <p:cNvPr id="2" name="矩形 66"/>
          <p:cNvSpPr>
            <a:spLocks noChangeArrowheads="1"/>
          </p:cNvSpPr>
          <p:nvPr/>
        </p:nvSpPr>
        <p:spPr bwMode="auto">
          <a:xfrm>
            <a:off x="1887347" y="4721630"/>
            <a:ext cx="9613900" cy="110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0">
            <a:spAutoFit/>
          </a:bodyPr>
          <a:lstStyle/>
          <a:p>
            <a:pPr lvl="0" indent="0">
              <a:lnSpc>
                <a:spcPct val="150000"/>
              </a:lnSpc>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用户和开发者可以通过对话图在用户如何利用系统执行任务上达成共同的视觉界面</a:t>
            </a:r>
            <a:endParaRPr lang="zh-CN" altLang="en-US" sz="2200" b="1" dirty="0">
              <a:latin typeface="宋体" panose="02010600030101010101" pitchFamily="2" charset="-122"/>
              <a:ea typeface="宋体" panose="02010600030101010101" pitchFamily="2" charset="-122"/>
              <a:cs typeface="宋体" panose="02010600030101010101" pitchFamily="2" charset="-122"/>
              <a:sym typeface="+mn-ea"/>
            </a:endParaRPr>
          </a:p>
        </p:txBody>
      </p:sp>
      <p:grpSp>
        <p:nvGrpSpPr>
          <p:cNvPr id="4" name="Group 21"/>
          <p:cNvGrpSpPr/>
          <p:nvPr/>
        </p:nvGrpSpPr>
        <p:grpSpPr>
          <a:xfrm>
            <a:off x="698499" y="2107688"/>
            <a:ext cx="774032" cy="736375"/>
            <a:chOff x="1731021" y="1638788"/>
            <a:chExt cx="736375" cy="736375"/>
          </a:xfrm>
          <a:solidFill>
            <a:schemeClr val="accent1"/>
          </a:solidFill>
        </p:grpSpPr>
        <p:sp>
          <p:nvSpPr>
            <p:cNvPr id="5" name="Oval 22"/>
            <p:cNvSpPr/>
            <p:nvPr/>
          </p:nvSpPr>
          <p:spPr>
            <a:xfrm>
              <a:off x="1731021" y="1638788"/>
              <a:ext cx="736375" cy="736375"/>
            </a:xfrm>
            <a:prstGeom prst="ellipse">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微软雅黑" panose="020B0503020204020204" pitchFamily="34" charset="-122"/>
                <a:ea typeface="微软雅黑" panose="020B0503020204020204" pitchFamily="34" charset="-122"/>
              </a:endParaRPr>
            </a:p>
          </p:txBody>
        </p:sp>
        <p:sp>
          <p:nvSpPr>
            <p:cNvPr id="3" name="TextBox 23"/>
            <p:cNvSpPr txBox="1"/>
            <p:nvPr/>
          </p:nvSpPr>
          <p:spPr>
            <a:xfrm>
              <a:off x="1835353" y="1774998"/>
              <a:ext cx="527709" cy="461665"/>
            </a:xfrm>
            <a:prstGeom prst="rect">
              <a:avLst/>
            </a:prstGeom>
            <a:grpFill/>
            <a:ln>
              <a:noFill/>
            </a:ln>
          </p:spPr>
          <p:txBody>
            <a:bodyPr wrap="none">
              <a:normAutofit fontScale="97500" lnSpcReduction="10000"/>
            </a:bodyPr>
            <a:lstStyle/>
            <a:p>
              <a:pPr algn="ctr"/>
              <a:r>
                <a:rPr lang="en-GB" sz="2400" b="1" dirty="0">
                  <a:solidFill>
                    <a:schemeClr val="bg1"/>
                  </a:solidFill>
                  <a:latin typeface="微软雅黑" panose="020B0503020204020204" pitchFamily="34" charset="-122"/>
                  <a:ea typeface="微软雅黑" panose="020B0503020204020204" pitchFamily="34" charset="-122"/>
                </a:rPr>
                <a:t>0</a:t>
              </a:r>
              <a:r>
                <a:rPr lang="en-US" altLang="en-GB" sz="2400" b="1" dirty="0">
                  <a:solidFill>
                    <a:schemeClr val="bg1"/>
                  </a:solidFill>
                  <a:latin typeface="微软雅黑" panose="020B0503020204020204" pitchFamily="34" charset="-122"/>
                  <a:ea typeface="微软雅黑" panose="020B0503020204020204" pitchFamily="34" charset="-122"/>
                </a:rPr>
                <a:t>1</a:t>
              </a:r>
              <a:endParaRPr lang="en-US" altLang="en-GB" sz="2400" b="1" dirty="0">
                <a:solidFill>
                  <a:schemeClr val="bg1"/>
                </a:solidFill>
                <a:latin typeface="微软雅黑" panose="020B0503020204020204" pitchFamily="34" charset="-122"/>
                <a:ea typeface="微软雅黑" panose="020B0503020204020204" pitchFamily="34" charset="-122"/>
              </a:endParaRPr>
            </a:p>
          </p:txBody>
        </p:sp>
      </p:grpSp>
      <p:grpSp>
        <p:nvGrpSpPr>
          <p:cNvPr id="7" name="Group 21"/>
          <p:cNvGrpSpPr/>
          <p:nvPr/>
        </p:nvGrpSpPr>
        <p:grpSpPr>
          <a:xfrm>
            <a:off x="699834" y="4954975"/>
            <a:ext cx="774032" cy="736375"/>
            <a:chOff x="1731021" y="1638788"/>
            <a:chExt cx="736375" cy="736375"/>
          </a:xfrm>
          <a:solidFill>
            <a:schemeClr val="accent1"/>
          </a:solidFill>
        </p:grpSpPr>
        <p:sp>
          <p:nvSpPr>
            <p:cNvPr id="8" name="Oval 22"/>
            <p:cNvSpPr/>
            <p:nvPr/>
          </p:nvSpPr>
          <p:spPr>
            <a:xfrm>
              <a:off x="1731021" y="1638788"/>
              <a:ext cx="736375" cy="736375"/>
            </a:xfrm>
            <a:prstGeom prst="ellipse">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微软雅黑" panose="020B0503020204020204" pitchFamily="34" charset="-122"/>
                <a:ea typeface="微软雅黑" panose="020B0503020204020204" pitchFamily="34" charset="-122"/>
              </a:endParaRPr>
            </a:p>
          </p:txBody>
        </p:sp>
        <p:sp>
          <p:nvSpPr>
            <p:cNvPr id="9" name="TextBox 23"/>
            <p:cNvSpPr txBox="1"/>
            <p:nvPr/>
          </p:nvSpPr>
          <p:spPr>
            <a:xfrm>
              <a:off x="1835353" y="1774998"/>
              <a:ext cx="527709" cy="461665"/>
            </a:xfrm>
            <a:prstGeom prst="rect">
              <a:avLst/>
            </a:prstGeom>
            <a:grpFill/>
            <a:ln>
              <a:noFill/>
            </a:ln>
          </p:spPr>
          <p:txBody>
            <a:bodyPr wrap="none">
              <a:normAutofit fontScale="97500" lnSpcReduction="10000"/>
            </a:bodyPr>
            <a:lstStyle/>
            <a:p>
              <a:pPr algn="ctr"/>
              <a:r>
                <a:rPr lang="en-GB" sz="2400" b="1" dirty="0">
                  <a:solidFill>
                    <a:schemeClr val="bg1"/>
                  </a:solidFill>
                  <a:latin typeface="微软雅黑" panose="020B0503020204020204" pitchFamily="34" charset="-122"/>
                  <a:ea typeface="微软雅黑" panose="020B0503020204020204" pitchFamily="34" charset="-122"/>
                </a:rPr>
                <a:t>0</a:t>
              </a:r>
              <a:r>
                <a:rPr lang="en-US" altLang="en-GB" sz="2400" b="1" dirty="0">
                  <a:solidFill>
                    <a:schemeClr val="bg1"/>
                  </a:solidFill>
                  <a:latin typeface="微软雅黑" panose="020B0503020204020204" pitchFamily="34" charset="-122"/>
                  <a:ea typeface="微软雅黑" panose="020B0503020204020204" pitchFamily="34" charset="-122"/>
                </a:rPr>
                <a:t>3</a:t>
              </a:r>
              <a:endParaRPr lang="en-US" altLang="en-GB" sz="2400" b="1" dirty="0">
                <a:solidFill>
                  <a:schemeClr val="bg1"/>
                </a:solidFill>
                <a:latin typeface="微软雅黑" panose="020B0503020204020204" pitchFamily="34" charset="-122"/>
                <a:ea typeface="微软雅黑" panose="020B0503020204020204" pitchFamily="34" charset="-122"/>
              </a:endParaRPr>
            </a:p>
          </p:txBody>
        </p:sp>
      </p:grpSp>
      <p:grpSp>
        <p:nvGrpSpPr>
          <p:cNvPr id="10" name="Group 21"/>
          <p:cNvGrpSpPr/>
          <p:nvPr/>
        </p:nvGrpSpPr>
        <p:grpSpPr>
          <a:xfrm>
            <a:off x="699166" y="3432880"/>
            <a:ext cx="774032" cy="736375"/>
            <a:chOff x="1731021" y="1638788"/>
            <a:chExt cx="736375" cy="736375"/>
          </a:xfrm>
          <a:solidFill>
            <a:schemeClr val="accent1"/>
          </a:solidFill>
        </p:grpSpPr>
        <p:sp>
          <p:nvSpPr>
            <p:cNvPr id="11" name="Oval 22"/>
            <p:cNvSpPr/>
            <p:nvPr/>
          </p:nvSpPr>
          <p:spPr>
            <a:xfrm>
              <a:off x="1731021" y="1638788"/>
              <a:ext cx="736375" cy="736375"/>
            </a:xfrm>
            <a:prstGeom prst="ellipse">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微软雅黑" panose="020B0503020204020204" pitchFamily="34" charset="-122"/>
                <a:ea typeface="微软雅黑" panose="020B0503020204020204" pitchFamily="34" charset="-122"/>
              </a:endParaRPr>
            </a:p>
          </p:txBody>
        </p:sp>
        <p:sp>
          <p:nvSpPr>
            <p:cNvPr id="6" name="TextBox 23"/>
            <p:cNvSpPr txBox="1"/>
            <p:nvPr/>
          </p:nvSpPr>
          <p:spPr>
            <a:xfrm>
              <a:off x="1835353" y="1774998"/>
              <a:ext cx="527709" cy="461665"/>
            </a:xfrm>
            <a:prstGeom prst="rect">
              <a:avLst/>
            </a:prstGeom>
            <a:grpFill/>
            <a:ln>
              <a:noFill/>
            </a:ln>
          </p:spPr>
          <p:txBody>
            <a:bodyPr wrap="none">
              <a:normAutofit fontScale="97500" lnSpcReduction="10000"/>
            </a:bodyPr>
            <a:lstStyle/>
            <a:p>
              <a:pPr algn="ctr"/>
              <a:r>
                <a:rPr lang="en-GB" sz="2400" b="1" dirty="0">
                  <a:solidFill>
                    <a:schemeClr val="bg1"/>
                  </a:solidFill>
                  <a:latin typeface="微软雅黑" panose="020B0503020204020204" pitchFamily="34" charset="-122"/>
                  <a:ea typeface="微软雅黑" panose="020B0503020204020204" pitchFamily="34" charset="-122"/>
                </a:rPr>
                <a:t>0</a:t>
              </a:r>
              <a:r>
                <a:rPr lang="en-US" altLang="en-GB" sz="2400" b="1" dirty="0">
                  <a:solidFill>
                    <a:schemeClr val="bg1"/>
                  </a:solidFill>
                  <a:latin typeface="微软雅黑" panose="020B0503020204020204" pitchFamily="34" charset="-122"/>
                  <a:ea typeface="微软雅黑" panose="020B0503020204020204" pitchFamily="34" charset="-122"/>
                </a:rPr>
                <a:t>2</a:t>
              </a:r>
              <a:endParaRPr lang="en-US" altLang="en-GB" sz="2400" b="1" dirty="0">
                <a:solidFill>
                  <a:schemeClr val="bg1"/>
                </a:solidFill>
                <a:latin typeface="微软雅黑" panose="020B0503020204020204" pitchFamily="34" charset="-122"/>
                <a:ea typeface="微软雅黑" panose="020B0503020204020204" pitchFamily="34" charset="-122"/>
              </a:endParaRPr>
            </a:p>
          </p:txBody>
        </p:sp>
      </p:grpSp>
      <p:sp>
        <p:nvSpPr>
          <p:cNvPr id="13" name="文本框 12"/>
          <p:cNvSpPr txBox="1"/>
          <p:nvPr/>
        </p:nvSpPr>
        <p:spPr>
          <a:xfrm>
            <a:off x="1887347" y="1968553"/>
            <a:ext cx="9609328" cy="1106805"/>
          </a:xfrm>
          <a:prstGeom prst="rect">
            <a:avLst/>
          </a:prstGeom>
          <a:noFill/>
        </p:spPr>
        <p:txBody>
          <a:bodyPr wrap="square" rtlCol="0" anchor="t">
            <a:spAutoFit/>
          </a:bodyPr>
          <a:lstStyle/>
          <a:p>
            <a:pPr lvl="0" indent="0">
              <a:lnSpc>
                <a:spcPct val="150000"/>
              </a:lnSpc>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对话图代表了一个高层抽象的用户界面体系结构：对话图描绘了系统中的对话元素和它们之间的导航连接，</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但它没有揭示具体的屏幕设计</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sp>
        <p:nvSpPr>
          <p:cNvPr id="15" name="文本框 14"/>
          <p:cNvSpPr txBox="1"/>
          <p:nvPr/>
        </p:nvSpPr>
        <p:spPr>
          <a:xfrm>
            <a:off x="1817370" y="3402965"/>
            <a:ext cx="7491730" cy="768350"/>
          </a:xfrm>
          <a:prstGeom prst="rect">
            <a:avLst/>
          </a:prstGeom>
          <a:noFill/>
        </p:spPr>
        <p:txBody>
          <a:bodyPr wrap="square" rtlCol="0" anchor="t">
            <a:spAutoFit/>
          </a:bodyPr>
          <a:lstStyle/>
          <a:p>
            <a:pPr lvl="0" indent="0">
              <a:lnSpc>
                <a:spcPct val="200000"/>
              </a:lnSpc>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对话图可以使你在对需求的理解上探索假设的用户界面概念</a:t>
            </a:r>
            <a:endParaRPr lang="zh-CN" altLang="en-US" sz="2200" b="1" dirty="0">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14" name="图片 13"/>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grpSp>
        <p:nvGrpSpPr>
          <p:cNvPr id="78" name="组合 7"/>
          <p:cNvGrpSpPr/>
          <p:nvPr/>
        </p:nvGrpSpPr>
        <p:grpSpPr>
          <a:xfrm>
            <a:off x="108557" y="337632"/>
            <a:ext cx="4632960" cy="491490"/>
            <a:chOff x="198764" y="258545"/>
            <a:chExt cx="6175849" cy="655851"/>
          </a:xfrm>
        </p:grpSpPr>
        <p:grpSp>
          <p:nvGrpSpPr>
            <p:cNvPr id="79" name="组合 5"/>
            <p:cNvGrpSpPr/>
            <p:nvPr/>
          </p:nvGrpSpPr>
          <p:grpSpPr>
            <a:xfrm>
              <a:off x="198764" y="258545"/>
              <a:ext cx="700083" cy="563491"/>
              <a:chOff x="5075564" y="2933562"/>
              <a:chExt cx="2860947" cy="2302753"/>
            </a:xfrm>
          </p:grpSpPr>
          <p:sp>
            <p:nvSpPr>
              <p:cNvPr id="80" name="等腰三角形 79"/>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81" name="等腰三角形 80"/>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2" name="文本框 6"/>
            <p:cNvSpPr txBox="1"/>
            <p:nvPr/>
          </p:nvSpPr>
          <p:spPr>
            <a:xfrm>
              <a:off x="988521" y="300065"/>
              <a:ext cx="538609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需</a:t>
              </a:r>
              <a:r>
                <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求的图形化分析</a:t>
              </a:r>
              <a:endPar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84"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sym typeface="宋体" panose="02010600030101010101" pitchFamily="2" charset="-122"/>
              </a:rPr>
              <a:t>）对话图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83" name="文本框 82"/>
          <p:cNvSpPr txBox="1"/>
          <p:nvPr/>
        </p:nvSpPr>
        <p:spPr>
          <a:xfrm>
            <a:off x="689600" y="1539113"/>
            <a:ext cx="6096000" cy="429895"/>
          </a:xfrm>
          <a:prstGeom prst="rect">
            <a:avLst/>
          </a:prstGeom>
          <a:noFill/>
        </p:spPr>
        <p:txBody>
          <a:bodyPr wrap="square">
            <a:spAutoFit/>
          </a:bodyPr>
          <a:lstStyle/>
          <a:p>
            <a:pPr lvl="0" fontAlgn="base">
              <a:spcBef>
                <a:spcPct val="0"/>
              </a:spcBef>
              <a:spcAft>
                <a:spcPct val="0"/>
              </a:spcAft>
              <a:defRPr/>
            </a:pPr>
            <a:r>
              <a:rPr lang="zh-CN" altLang="en-US" sz="2200" b="1" kern="0" dirty="0">
                <a:solidFill>
                  <a:srgbClr val="FF0000"/>
                </a:solidFill>
                <a:latin typeface="宋体" panose="02010600030101010101" pitchFamily="2" charset="-122"/>
                <a:sym typeface="宋体" panose="02010600030101010101" pitchFamily="2" charset="-122"/>
              </a:rPr>
              <a:t>对话图的特点</a:t>
            </a:r>
            <a:r>
              <a:rPr lang="zh-CN" altLang="en-US" sz="2000" b="1" kern="0" dirty="0">
                <a:solidFill>
                  <a:srgbClr val="FF0000"/>
                </a:solidFill>
                <a:latin typeface="宋体" panose="02010600030101010101" pitchFamily="2" charset="-122"/>
                <a:sym typeface="宋体" panose="02010600030101010101" pitchFamily="2" charset="-122"/>
              </a:rPr>
              <a:t>：</a:t>
            </a:r>
            <a:endParaRPr lang="zh-CN" altLang="en-US" sz="2000" b="1" kern="0" dirty="0">
              <a:solidFill>
                <a:srgbClr val="FF0000"/>
              </a:solidFill>
              <a:latin typeface="宋体" panose="02010600030101010101" pitchFamily="2" charset="-122"/>
              <a:ea typeface="宋体" panose="02010600030101010101" pitchFamily="2" charset="-122"/>
              <a:sym typeface="宋体" panose="02010600030101010101" pitchFamily="2" charset="-122"/>
            </a:endParaRPr>
          </a:p>
        </p:txBody>
      </p:sp>
      <p:sp>
        <p:nvSpPr>
          <p:cNvPr id="12" name="日期占位符 11"/>
          <p:cNvSpPr>
            <a:spLocks noGrp="1"/>
          </p:cNvSpPr>
          <p:nvPr>
            <p:ph type="dt" sz="half" idx="10"/>
          </p:nvPr>
        </p:nvSpPr>
        <p:spPr/>
        <p:txBody>
          <a:bodyPr/>
          <a:lstStyle/>
          <a:p>
            <a:pPr>
              <a:defRPr/>
            </a:pPr>
            <a:fld id="{806E0C26-00C8-4007-B0B1-732FE2042B83}" type="datetime1">
              <a:rPr lang="zh-CN" altLang="en-US" smtClean="0">
                <a:solidFill>
                  <a:prstClr val="black">
                    <a:tint val="75000"/>
                  </a:prstClr>
                </a:solidFill>
              </a:rPr>
            </a:fld>
            <a:endParaRPr lang="zh-CN" altLang="en-US" dirty="0">
              <a:solidFill>
                <a:prstClr val="black">
                  <a:tint val="75000"/>
                </a:prstClr>
              </a:solidFill>
            </a:endParaRPr>
          </a:p>
        </p:txBody>
      </p:sp>
      <p:sp>
        <p:nvSpPr>
          <p:cNvPr id="16" name="灯片编号占位符 1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ustDataLst>
      <p:tags r:id="rId2"/>
    </p:custData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par>
                                <p:cTn id="10" presetID="2" presetClass="entr" presetSubtype="8" fill="hold" nodeType="withEffect">
                                  <p:stCondLst>
                                    <p:cond delay="0"/>
                                  </p:stCondLst>
                                  <p:childTnLst>
                                    <p:set>
                                      <p:cBhvr>
                                        <p:cTn id="11" dur="1" fill="hold">
                                          <p:stCondLst>
                                            <p:cond delay="0"/>
                                          </p:stCondLst>
                                        </p:cTn>
                                        <p:tgtEl>
                                          <p:spTgt spid="78"/>
                                        </p:tgtEl>
                                        <p:attrNameLst>
                                          <p:attrName>style.visibility</p:attrName>
                                        </p:attrNameLst>
                                      </p:cBhvr>
                                      <p:to>
                                        <p:strVal val="visible"/>
                                      </p:to>
                                    </p:set>
                                    <p:anim calcmode="lin" valueType="num">
                                      <p:cBhvr additive="base">
                                        <p:cTn id="12" dur="500" fill="hold"/>
                                        <p:tgtEl>
                                          <p:spTgt spid="78"/>
                                        </p:tgtEl>
                                        <p:attrNameLst>
                                          <p:attrName>ppt_x</p:attrName>
                                        </p:attrNameLst>
                                      </p:cBhvr>
                                      <p:tavLst>
                                        <p:tav tm="0">
                                          <p:val>
                                            <p:strVal val="0-#ppt_w/2"/>
                                          </p:val>
                                        </p:tav>
                                        <p:tav tm="100000">
                                          <p:val>
                                            <p:strVal val="#ppt_x"/>
                                          </p:val>
                                        </p:tav>
                                      </p:tavLst>
                                    </p:anim>
                                    <p:anim calcmode="lin" valueType="num">
                                      <p:cBhvr additive="base">
                                        <p:cTn id="13" dur="500" fill="hold"/>
                                        <p:tgtEl>
                                          <p:spTgt spid="78"/>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84"/>
                                        </p:tgtEl>
                                        <p:attrNameLst>
                                          <p:attrName>style.visibility</p:attrName>
                                        </p:attrNameLst>
                                      </p:cBhvr>
                                      <p:to>
                                        <p:strVal val="visible"/>
                                      </p:to>
                                    </p:set>
                                    <p:anim calcmode="lin" valueType="num">
                                      <p:cBhvr additive="base">
                                        <p:cTn id="16" dur="500"/>
                                        <p:tgtEl>
                                          <p:spTgt spid="84"/>
                                        </p:tgtEl>
                                        <p:attrNameLst>
                                          <p:attrName>ppt_x</p:attrName>
                                        </p:attrNameLst>
                                      </p:cBhvr>
                                      <p:tavLst>
                                        <p:tav tm="0">
                                          <p:val>
                                            <p:strVal val="#ppt_x+#ppt_w*1.125000"/>
                                          </p:val>
                                        </p:tav>
                                        <p:tav tm="100000">
                                          <p:val>
                                            <p:strVal val="#ppt_x"/>
                                          </p:val>
                                        </p:tav>
                                      </p:tavLst>
                                    </p:anim>
                                    <p:animEffect transition="in" filter="wipe(left)">
                                      <p:cBhvr>
                                        <p:cTn id="17" dur="500"/>
                                        <p:tgtEl>
                                          <p:spTgt spid="8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p:bldP spid="15" grpId="0"/>
      <p:bldP spid="84" grpId="0"/>
      <p:bldP spid="8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6"/>
          <p:cNvSpPr>
            <a:spLocks noChangeArrowheads="1"/>
          </p:cNvSpPr>
          <p:nvPr>
            <p:custDataLst>
              <p:tags r:id="rId1"/>
            </p:custDataLst>
          </p:nvPr>
        </p:nvSpPr>
        <p:spPr bwMode="auto">
          <a:xfrm>
            <a:off x="1879600" y="4814570"/>
            <a:ext cx="9613193" cy="1614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indent="0">
              <a:lnSpc>
                <a:spcPct val="150000"/>
              </a:lnSpc>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就像在普通的状态转换图中一样，在对话图中，对话元素作为一个状态</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矩形框</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，每一个允许的导航选择作为转换</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箭头</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。触发用户界面导航的条件用文本标签写在转换箭头上。</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grpSp>
        <p:nvGrpSpPr>
          <p:cNvPr id="4" name="Group 21"/>
          <p:cNvGrpSpPr/>
          <p:nvPr>
            <p:custDataLst>
              <p:tags r:id="rId2"/>
            </p:custDataLst>
          </p:nvPr>
        </p:nvGrpSpPr>
        <p:grpSpPr>
          <a:xfrm>
            <a:off x="698500" y="2116926"/>
            <a:ext cx="736375" cy="736375"/>
            <a:chOff x="1731021" y="1638788"/>
            <a:chExt cx="736375" cy="736375"/>
          </a:xfrm>
          <a:solidFill>
            <a:schemeClr val="accent1"/>
          </a:solidFill>
        </p:grpSpPr>
        <p:sp>
          <p:nvSpPr>
            <p:cNvPr id="5" name="Oval 22"/>
            <p:cNvSpPr/>
            <p:nvPr>
              <p:custDataLst>
                <p:tags r:id="rId3"/>
              </p:custDataLst>
            </p:nvPr>
          </p:nvSpPr>
          <p:spPr>
            <a:xfrm>
              <a:off x="1731021" y="1638788"/>
              <a:ext cx="736375" cy="736375"/>
            </a:xfrm>
            <a:prstGeom prst="ellipse">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微软雅黑" panose="020B0503020204020204" pitchFamily="34" charset="-122"/>
                <a:ea typeface="微软雅黑" panose="020B0503020204020204" pitchFamily="34" charset="-122"/>
              </a:endParaRPr>
            </a:p>
          </p:txBody>
        </p:sp>
        <p:sp>
          <p:nvSpPr>
            <p:cNvPr id="3" name="TextBox 23"/>
            <p:cNvSpPr txBox="1"/>
            <p:nvPr>
              <p:custDataLst>
                <p:tags r:id="rId4"/>
              </p:custDataLst>
            </p:nvPr>
          </p:nvSpPr>
          <p:spPr>
            <a:xfrm>
              <a:off x="1835353" y="1774998"/>
              <a:ext cx="527709" cy="461665"/>
            </a:xfrm>
            <a:prstGeom prst="rect">
              <a:avLst/>
            </a:prstGeom>
            <a:grpFill/>
            <a:ln>
              <a:noFill/>
            </a:ln>
          </p:spPr>
          <p:txBody>
            <a:bodyPr wrap="none">
              <a:normAutofit fontScale="97500"/>
            </a:bodyPr>
            <a:lstStyle/>
            <a:p>
              <a:pPr algn="ctr"/>
              <a:r>
                <a:rPr lang="en-GB" sz="2400" b="1" dirty="0">
                  <a:solidFill>
                    <a:schemeClr val="bg1"/>
                  </a:solidFill>
                  <a:latin typeface="微软雅黑" panose="020B0503020204020204" pitchFamily="34" charset="-122"/>
                  <a:ea typeface="微软雅黑" panose="020B0503020204020204" pitchFamily="34" charset="-122"/>
                </a:rPr>
                <a:t>0</a:t>
              </a:r>
              <a:r>
                <a:rPr lang="en-US" altLang="en-GB" sz="2400" b="1" dirty="0">
                  <a:solidFill>
                    <a:schemeClr val="bg1"/>
                  </a:solidFill>
                  <a:latin typeface="微软雅黑" panose="020B0503020204020204" pitchFamily="34" charset="-122"/>
                  <a:ea typeface="微软雅黑" panose="020B0503020204020204" pitchFamily="34" charset="-122"/>
                </a:rPr>
                <a:t>4</a:t>
              </a:r>
              <a:endParaRPr lang="en-US" altLang="en-GB" sz="2400" b="1" dirty="0">
                <a:solidFill>
                  <a:schemeClr val="bg1"/>
                </a:solidFill>
                <a:latin typeface="微软雅黑" panose="020B0503020204020204" pitchFamily="34" charset="-122"/>
                <a:ea typeface="微软雅黑" panose="020B0503020204020204" pitchFamily="34" charset="-122"/>
              </a:endParaRPr>
            </a:p>
          </p:txBody>
        </p:sp>
      </p:grpSp>
      <p:grpSp>
        <p:nvGrpSpPr>
          <p:cNvPr id="7" name="Group 21"/>
          <p:cNvGrpSpPr/>
          <p:nvPr>
            <p:custDataLst>
              <p:tags r:id="rId5"/>
            </p:custDataLst>
          </p:nvPr>
        </p:nvGrpSpPr>
        <p:grpSpPr>
          <a:xfrm>
            <a:off x="698500" y="4955610"/>
            <a:ext cx="736375" cy="736375"/>
            <a:chOff x="1731021" y="1638788"/>
            <a:chExt cx="736375" cy="736375"/>
          </a:xfrm>
          <a:solidFill>
            <a:schemeClr val="accent1"/>
          </a:solidFill>
        </p:grpSpPr>
        <p:sp>
          <p:nvSpPr>
            <p:cNvPr id="8" name="Oval 22"/>
            <p:cNvSpPr/>
            <p:nvPr>
              <p:custDataLst>
                <p:tags r:id="rId6"/>
              </p:custDataLst>
            </p:nvPr>
          </p:nvSpPr>
          <p:spPr>
            <a:xfrm>
              <a:off x="1731021" y="1638788"/>
              <a:ext cx="736375" cy="736375"/>
            </a:xfrm>
            <a:prstGeom prst="ellipse">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微软雅黑" panose="020B0503020204020204" pitchFamily="34" charset="-122"/>
                <a:ea typeface="微软雅黑" panose="020B0503020204020204" pitchFamily="34" charset="-122"/>
              </a:endParaRPr>
            </a:p>
          </p:txBody>
        </p:sp>
        <p:sp>
          <p:nvSpPr>
            <p:cNvPr id="9" name="TextBox 23"/>
            <p:cNvSpPr txBox="1"/>
            <p:nvPr>
              <p:custDataLst>
                <p:tags r:id="rId7"/>
              </p:custDataLst>
            </p:nvPr>
          </p:nvSpPr>
          <p:spPr>
            <a:xfrm>
              <a:off x="1835353" y="1774998"/>
              <a:ext cx="527709" cy="461665"/>
            </a:xfrm>
            <a:prstGeom prst="rect">
              <a:avLst/>
            </a:prstGeom>
            <a:grpFill/>
            <a:ln>
              <a:noFill/>
            </a:ln>
          </p:spPr>
          <p:txBody>
            <a:bodyPr wrap="none">
              <a:normAutofit fontScale="97500"/>
            </a:bodyPr>
            <a:lstStyle/>
            <a:p>
              <a:pPr algn="ctr"/>
              <a:r>
                <a:rPr lang="en-GB" sz="2400" b="1" dirty="0">
                  <a:solidFill>
                    <a:schemeClr val="bg1"/>
                  </a:solidFill>
                  <a:latin typeface="微软雅黑" panose="020B0503020204020204" pitchFamily="34" charset="-122"/>
                  <a:ea typeface="微软雅黑" panose="020B0503020204020204" pitchFamily="34" charset="-122"/>
                </a:rPr>
                <a:t>0</a:t>
              </a:r>
              <a:r>
                <a:rPr lang="en-US" altLang="en-GB" sz="2400" b="1" dirty="0">
                  <a:solidFill>
                    <a:schemeClr val="bg1"/>
                  </a:solidFill>
                  <a:latin typeface="微软雅黑" panose="020B0503020204020204" pitchFamily="34" charset="-122"/>
                  <a:ea typeface="微软雅黑" panose="020B0503020204020204" pitchFamily="34" charset="-122"/>
                </a:rPr>
                <a:t>6</a:t>
              </a:r>
              <a:endParaRPr lang="en-US" altLang="en-GB" sz="2400" b="1" dirty="0">
                <a:solidFill>
                  <a:schemeClr val="bg1"/>
                </a:solidFill>
                <a:latin typeface="微软雅黑" panose="020B0503020204020204" pitchFamily="34" charset="-122"/>
                <a:ea typeface="微软雅黑" panose="020B0503020204020204" pitchFamily="34" charset="-122"/>
              </a:endParaRPr>
            </a:p>
          </p:txBody>
        </p:sp>
      </p:grpSp>
      <p:grpSp>
        <p:nvGrpSpPr>
          <p:cNvPr id="10" name="Group 21"/>
          <p:cNvGrpSpPr/>
          <p:nvPr>
            <p:custDataLst>
              <p:tags r:id="rId8"/>
            </p:custDataLst>
          </p:nvPr>
        </p:nvGrpSpPr>
        <p:grpSpPr>
          <a:xfrm>
            <a:off x="698500" y="3539560"/>
            <a:ext cx="736375" cy="736375"/>
            <a:chOff x="1731021" y="1638788"/>
            <a:chExt cx="736375" cy="736375"/>
          </a:xfrm>
          <a:solidFill>
            <a:schemeClr val="accent1"/>
          </a:solidFill>
        </p:grpSpPr>
        <p:sp>
          <p:nvSpPr>
            <p:cNvPr id="11" name="Oval 22"/>
            <p:cNvSpPr/>
            <p:nvPr>
              <p:custDataLst>
                <p:tags r:id="rId9"/>
              </p:custDataLst>
            </p:nvPr>
          </p:nvSpPr>
          <p:spPr>
            <a:xfrm>
              <a:off x="1731021" y="1638788"/>
              <a:ext cx="736375" cy="736375"/>
            </a:xfrm>
            <a:prstGeom prst="ellipse">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微软雅黑" panose="020B0503020204020204" pitchFamily="34" charset="-122"/>
                <a:ea typeface="微软雅黑" panose="020B0503020204020204" pitchFamily="34" charset="-122"/>
              </a:endParaRPr>
            </a:p>
          </p:txBody>
        </p:sp>
        <p:sp>
          <p:nvSpPr>
            <p:cNvPr id="6" name="TextBox 23"/>
            <p:cNvSpPr txBox="1"/>
            <p:nvPr>
              <p:custDataLst>
                <p:tags r:id="rId10"/>
              </p:custDataLst>
            </p:nvPr>
          </p:nvSpPr>
          <p:spPr>
            <a:xfrm>
              <a:off x="1835353" y="1774998"/>
              <a:ext cx="527709" cy="461665"/>
            </a:xfrm>
            <a:prstGeom prst="rect">
              <a:avLst/>
            </a:prstGeom>
            <a:grpFill/>
            <a:ln>
              <a:noFill/>
            </a:ln>
          </p:spPr>
          <p:txBody>
            <a:bodyPr wrap="none">
              <a:normAutofit fontScale="97500"/>
            </a:bodyPr>
            <a:lstStyle/>
            <a:p>
              <a:pPr algn="ctr"/>
              <a:r>
                <a:rPr lang="en-GB" sz="2400" b="1" dirty="0">
                  <a:solidFill>
                    <a:schemeClr val="bg1"/>
                  </a:solidFill>
                  <a:latin typeface="微软雅黑" panose="020B0503020204020204" pitchFamily="34" charset="-122"/>
                  <a:ea typeface="微软雅黑" panose="020B0503020204020204" pitchFamily="34" charset="-122"/>
                </a:rPr>
                <a:t>0</a:t>
              </a:r>
              <a:r>
                <a:rPr lang="en-US" altLang="en-GB" sz="2400" b="1" dirty="0">
                  <a:solidFill>
                    <a:schemeClr val="bg1"/>
                  </a:solidFill>
                  <a:latin typeface="微软雅黑" panose="020B0503020204020204" pitchFamily="34" charset="-122"/>
                  <a:ea typeface="微软雅黑" panose="020B0503020204020204" pitchFamily="34" charset="-122"/>
                </a:rPr>
                <a:t>5</a:t>
              </a:r>
              <a:endParaRPr lang="en-US" altLang="en-GB" sz="2400" b="1" dirty="0">
                <a:solidFill>
                  <a:schemeClr val="bg1"/>
                </a:solidFill>
                <a:latin typeface="微软雅黑" panose="020B0503020204020204" pitchFamily="34" charset="-122"/>
                <a:ea typeface="微软雅黑" panose="020B0503020204020204" pitchFamily="34" charset="-122"/>
              </a:endParaRPr>
            </a:p>
          </p:txBody>
        </p:sp>
      </p:grpSp>
      <p:sp>
        <p:nvSpPr>
          <p:cNvPr id="13" name="文本框 12"/>
          <p:cNvSpPr txBox="1"/>
          <p:nvPr>
            <p:custDataLst>
              <p:tags r:id="rId11"/>
            </p:custDataLst>
          </p:nvPr>
        </p:nvSpPr>
        <p:spPr>
          <a:xfrm>
            <a:off x="1879600" y="1977791"/>
            <a:ext cx="9613193" cy="1614805"/>
          </a:xfrm>
          <a:prstGeom prst="rect">
            <a:avLst/>
          </a:prstGeom>
          <a:noFill/>
        </p:spPr>
        <p:txBody>
          <a:bodyPr wrap="square" rtlCol="0" anchor="t">
            <a:spAutoFit/>
          </a:bodyPr>
          <a:lstStyle/>
          <a:p>
            <a:pPr lvl="0" indent="0">
              <a:lnSpc>
                <a:spcPct val="150000"/>
              </a:lnSpc>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对话图抓住了用户与系统交互作用和任务流的本质。用户可以通过跟踪对话图寻找遗漏、错误或多余的转换，从而发现与此</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有关的遗漏、错误或多余的需求。</a:t>
            </a:r>
            <a:endPar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5" name="文本框 14"/>
          <p:cNvSpPr txBox="1"/>
          <p:nvPr>
            <p:custDataLst>
              <p:tags r:id="rId12"/>
            </p:custDataLst>
          </p:nvPr>
        </p:nvSpPr>
        <p:spPr>
          <a:xfrm>
            <a:off x="1879599" y="3324860"/>
            <a:ext cx="9613900" cy="1614805"/>
          </a:xfrm>
          <a:prstGeom prst="rect">
            <a:avLst/>
          </a:prstGeom>
          <a:noFill/>
        </p:spPr>
        <p:txBody>
          <a:bodyPr wrap="square" rtlCol="0" anchor="t">
            <a:spAutoFit/>
          </a:bodyPr>
          <a:lstStyle/>
          <a:p>
            <a:pPr lvl="0" indent="0">
              <a:lnSpc>
                <a:spcPct val="150000"/>
              </a:lnSpc>
              <a:buFont typeface="Wingdings" panose="05000000000000000000" pitchFamily="2" charset="2"/>
              <a:buNone/>
            </a:pPr>
            <a:r>
              <a:rPr lang="zh-CN" altLang="en-US" sz="2200" b="1" dirty="0">
                <a:latin typeface="宋体" panose="02010600030101010101" pitchFamily="2" charset="-122"/>
                <a:ea typeface="宋体" panose="02010600030101010101" pitchFamily="2" charset="-122"/>
                <a:sym typeface="+mn-ea"/>
              </a:rPr>
              <a:t>设计者可以把在需求分析过程中形成的对话图用作详细用户界面设计时的指南，最终形成一个执行的对话图，该对话图记录了产品的真正用户界面的体系结构。</a:t>
            </a:r>
            <a:endParaRPr lang="zh-CN" altLang="en-US" sz="2200" b="1" dirty="0">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12" name="图片 11"/>
          <p:cNvPicPr>
            <a:picLocks noChangeAspect="1"/>
          </p:cNvPicPr>
          <p:nvPr/>
        </p:nvPicPr>
        <p:blipFill rotWithShape="1">
          <a:blip r:embed="rId13"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grpSp>
        <p:nvGrpSpPr>
          <p:cNvPr id="14" name="组合 7"/>
          <p:cNvGrpSpPr/>
          <p:nvPr/>
        </p:nvGrpSpPr>
        <p:grpSpPr>
          <a:xfrm>
            <a:off x="108557" y="337632"/>
            <a:ext cx="4632960" cy="491490"/>
            <a:chOff x="198764" y="258545"/>
            <a:chExt cx="6175849" cy="655851"/>
          </a:xfrm>
        </p:grpSpPr>
        <p:grpSp>
          <p:nvGrpSpPr>
            <p:cNvPr id="17" name="组合 5"/>
            <p:cNvGrpSpPr/>
            <p:nvPr/>
          </p:nvGrpSpPr>
          <p:grpSpPr>
            <a:xfrm>
              <a:off x="198764" y="258545"/>
              <a:ext cx="700083" cy="563491"/>
              <a:chOff x="5075564" y="2933562"/>
              <a:chExt cx="2860947" cy="2302753"/>
            </a:xfrm>
          </p:grpSpPr>
          <p:sp>
            <p:nvSpPr>
              <p:cNvPr id="18" name="等腰三角形 1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9" name="等腰三角形 1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20" name="文本框 6"/>
            <p:cNvSpPr txBox="1"/>
            <p:nvPr/>
          </p:nvSpPr>
          <p:spPr>
            <a:xfrm>
              <a:off x="988521" y="300065"/>
              <a:ext cx="538609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需</a:t>
              </a:r>
              <a:r>
                <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求的图形化分析</a:t>
              </a:r>
              <a:endPar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2"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sym typeface="宋体" panose="02010600030101010101" pitchFamily="2" charset="-122"/>
              </a:rPr>
              <a:t>）对话图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1" name="文本框 20"/>
          <p:cNvSpPr txBox="1"/>
          <p:nvPr/>
        </p:nvSpPr>
        <p:spPr>
          <a:xfrm>
            <a:off x="689600" y="1539113"/>
            <a:ext cx="6096000" cy="429895"/>
          </a:xfrm>
          <a:prstGeom prst="rect">
            <a:avLst/>
          </a:prstGeom>
          <a:noFill/>
        </p:spPr>
        <p:txBody>
          <a:bodyPr wrap="square">
            <a:spAutoFit/>
          </a:bodyPr>
          <a:lstStyle/>
          <a:p>
            <a:pPr lvl="0" fontAlgn="base">
              <a:spcBef>
                <a:spcPct val="0"/>
              </a:spcBef>
              <a:spcAft>
                <a:spcPct val="0"/>
              </a:spcAft>
              <a:defRPr/>
            </a:pPr>
            <a:r>
              <a:rPr lang="zh-CN" altLang="en-US" sz="2200" b="1" kern="0" dirty="0">
                <a:solidFill>
                  <a:srgbClr val="FF0000"/>
                </a:solidFill>
                <a:latin typeface="宋体" panose="02010600030101010101" pitchFamily="2" charset="-122"/>
                <a:sym typeface="宋体" panose="02010600030101010101" pitchFamily="2" charset="-122"/>
              </a:rPr>
              <a:t>对话图的特点：</a:t>
            </a:r>
            <a:endParaRPr lang="zh-CN" altLang="en-US" sz="2200" b="1" kern="0" dirty="0">
              <a:solidFill>
                <a:srgbClr val="FF0000"/>
              </a:solidFill>
              <a:latin typeface="宋体" panose="02010600030101010101" pitchFamily="2" charset="-122"/>
              <a:ea typeface="宋体" panose="02010600030101010101" pitchFamily="2" charset="-122"/>
              <a:sym typeface="宋体" panose="02010600030101010101" pitchFamily="2" charset="-122"/>
            </a:endParaRPr>
          </a:p>
        </p:txBody>
      </p:sp>
      <p:sp>
        <p:nvSpPr>
          <p:cNvPr id="16" name="日期占位符 15"/>
          <p:cNvSpPr>
            <a:spLocks noGrp="1"/>
          </p:cNvSpPr>
          <p:nvPr>
            <p:ph type="dt" sz="half" idx="10"/>
          </p:nvPr>
        </p:nvSpPr>
        <p:spPr/>
        <p:txBody>
          <a:bodyPr/>
          <a:lstStyle/>
          <a:p>
            <a:pPr>
              <a:defRPr/>
            </a:pPr>
            <a:fld id="{4C69CA37-A750-4A6C-A233-7F34CEE56CC5}" type="datetime1">
              <a:rPr lang="zh-CN" altLang="en-US" smtClean="0">
                <a:solidFill>
                  <a:prstClr val="black">
                    <a:tint val="75000"/>
                  </a:prstClr>
                </a:solidFill>
              </a:rPr>
            </a:fld>
            <a:endParaRPr lang="zh-CN" altLang="en-US" dirty="0">
              <a:solidFill>
                <a:prstClr val="black">
                  <a:tint val="75000"/>
                </a:prstClr>
              </a:solidFill>
            </a:endParaRPr>
          </a:p>
        </p:txBody>
      </p:sp>
      <p:sp>
        <p:nvSpPr>
          <p:cNvPr id="23" name="灯片编号占位符 22"/>
          <p:cNvSpPr>
            <a:spLocks noGrp="1"/>
          </p:cNvSpPr>
          <p:nvPr>
            <p:ph type="sldNum" sz="quarter" idx="12"/>
          </p:nvPr>
        </p:nvSpPr>
        <p:spPr>
          <a:xfrm>
            <a:off x="9027160" y="2714626"/>
            <a:ext cx="2743200" cy="365125"/>
          </a:xfrm>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par>
                                <p:cTn id="10" presetID="2" presetClass="entr" presetSubtype="8"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500" fill="hold"/>
                                        <p:tgtEl>
                                          <p:spTgt spid="14"/>
                                        </p:tgtEl>
                                        <p:attrNameLst>
                                          <p:attrName>ppt_x</p:attrName>
                                        </p:attrNameLst>
                                      </p:cBhvr>
                                      <p:tavLst>
                                        <p:tav tm="0">
                                          <p:val>
                                            <p:strVal val="0-#ppt_w/2"/>
                                          </p:val>
                                        </p:tav>
                                        <p:tav tm="100000">
                                          <p:val>
                                            <p:strVal val="#ppt_x"/>
                                          </p:val>
                                        </p:tav>
                                      </p:tavLst>
                                    </p:anim>
                                    <p:anim calcmode="lin" valueType="num">
                                      <p:cBhvr additive="base">
                                        <p:cTn id="13" dur="500" fill="hold"/>
                                        <p:tgtEl>
                                          <p:spTgt spid="14"/>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p:tgtEl>
                                          <p:spTgt spid="22"/>
                                        </p:tgtEl>
                                        <p:attrNameLst>
                                          <p:attrName>ppt_x</p:attrName>
                                        </p:attrNameLst>
                                      </p:cBhvr>
                                      <p:tavLst>
                                        <p:tav tm="0">
                                          <p:val>
                                            <p:strVal val="#ppt_x+#ppt_w*1.125000"/>
                                          </p:val>
                                        </p:tav>
                                        <p:tav tm="100000">
                                          <p:val>
                                            <p:strVal val="#ppt_x"/>
                                          </p:val>
                                        </p:tav>
                                      </p:tavLst>
                                    </p:anim>
                                    <p:animEffect transition="in" filter="wipe(lef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p:bldP spid="15" grpId="0"/>
      <p:bldP spid="22" grpId="0"/>
      <p:bldP spid="2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3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146412" y="4545903"/>
            <a:ext cx="1980000" cy="1704458"/>
            <a:chOff x="3171372" y="1119692"/>
            <a:chExt cx="5849257" cy="5035259"/>
          </a:xfrm>
        </p:grpSpPr>
        <p:sp>
          <p:nvSpPr>
            <p:cNvPr id="23" name="ïṣlîḍê"/>
            <p:cNvSpPr/>
            <p:nvPr/>
          </p:nvSpPr>
          <p:spPr bwMode="auto">
            <a:xfrm>
              <a:off x="7268944" y="3137974"/>
              <a:ext cx="1505145" cy="1539410"/>
            </a:xfrm>
            <a:custGeom>
              <a:avLst/>
              <a:gdLst/>
              <a:ahLst/>
              <a:cxnLst>
                <a:cxn ang="0">
                  <a:pos x="197" y="139"/>
                </a:cxn>
                <a:cxn ang="0">
                  <a:pos x="204" y="94"/>
                </a:cxn>
                <a:cxn ang="0">
                  <a:pos x="117" y="0"/>
                </a:cxn>
                <a:cxn ang="0">
                  <a:pos x="111" y="0"/>
                </a:cxn>
                <a:cxn ang="0">
                  <a:pos x="109" y="0"/>
                </a:cxn>
                <a:cxn ang="0">
                  <a:pos x="103" y="0"/>
                </a:cxn>
                <a:cxn ang="0">
                  <a:pos x="16" y="94"/>
                </a:cxn>
                <a:cxn ang="0">
                  <a:pos x="23" y="139"/>
                </a:cxn>
                <a:cxn ang="0">
                  <a:pos x="0" y="186"/>
                </a:cxn>
                <a:cxn ang="0">
                  <a:pos x="36" y="212"/>
                </a:cxn>
                <a:cxn ang="0">
                  <a:pos x="109" y="225"/>
                </a:cxn>
                <a:cxn ang="0">
                  <a:pos x="110" y="225"/>
                </a:cxn>
                <a:cxn ang="0">
                  <a:pos x="110" y="225"/>
                </a:cxn>
                <a:cxn ang="0">
                  <a:pos x="112" y="225"/>
                </a:cxn>
                <a:cxn ang="0">
                  <a:pos x="185" y="212"/>
                </a:cxn>
                <a:cxn ang="0">
                  <a:pos x="220" y="186"/>
                </a:cxn>
                <a:cxn ang="0">
                  <a:pos x="197" y="139"/>
                </a:cxn>
              </a:cxnLst>
              <a:rect l="0" t="0" r="r" b="b"/>
              <a:pathLst>
                <a:path w="220" h="225">
                  <a:moveTo>
                    <a:pt x="197" y="139"/>
                  </a:moveTo>
                  <a:cubicBezTo>
                    <a:pt x="198" y="129"/>
                    <a:pt x="202" y="106"/>
                    <a:pt x="204" y="94"/>
                  </a:cubicBezTo>
                  <a:cubicBezTo>
                    <a:pt x="213" y="44"/>
                    <a:pt x="173" y="0"/>
                    <a:pt x="117" y="0"/>
                  </a:cubicBezTo>
                  <a:cubicBezTo>
                    <a:pt x="115" y="0"/>
                    <a:pt x="113" y="0"/>
                    <a:pt x="111" y="0"/>
                  </a:cubicBezTo>
                  <a:cubicBezTo>
                    <a:pt x="111" y="0"/>
                    <a:pt x="110" y="0"/>
                    <a:pt x="109" y="0"/>
                  </a:cubicBezTo>
                  <a:cubicBezTo>
                    <a:pt x="107" y="0"/>
                    <a:pt x="105" y="0"/>
                    <a:pt x="103" y="0"/>
                  </a:cubicBezTo>
                  <a:cubicBezTo>
                    <a:pt x="47" y="0"/>
                    <a:pt x="8" y="44"/>
                    <a:pt x="16" y="94"/>
                  </a:cubicBezTo>
                  <a:cubicBezTo>
                    <a:pt x="18" y="106"/>
                    <a:pt x="23" y="129"/>
                    <a:pt x="23" y="139"/>
                  </a:cubicBezTo>
                  <a:cubicBezTo>
                    <a:pt x="25" y="173"/>
                    <a:pt x="0" y="186"/>
                    <a:pt x="0" y="186"/>
                  </a:cubicBezTo>
                  <a:cubicBezTo>
                    <a:pt x="0" y="186"/>
                    <a:pt x="11" y="201"/>
                    <a:pt x="36" y="212"/>
                  </a:cubicBezTo>
                  <a:cubicBezTo>
                    <a:pt x="65" y="225"/>
                    <a:pt x="109" y="225"/>
                    <a:pt x="109" y="225"/>
                  </a:cubicBezTo>
                  <a:cubicBezTo>
                    <a:pt x="110" y="225"/>
                    <a:pt x="110" y="225"/>
                    <a:pt x="110" y="225"/>
                  </a:cubicBezTo>
                  <a:cubicBezTo>
                    <a:pt x="110" y="225"/>
                    <a:pt x="110" y="225"/>
                    <a:pt x="110" y="225"/>
                  </a:cubicBezTo>
                  <a:cubicBezTo>
                    <a:pt x="112" y="225"/>
                    <a:pt x="112" y="225"/>
                    <a:pt x="112" y="225"/>
                  </a:cubicBezTo>
                  <a:cubicBezTo>
                    <a:pt x="112" y="225"/>
                    <a:pt x="155" y="225"/>
                    <a:pt x="185" y="212"/>
                  </a:cubicBezTo>
                  <a:cubicBezTo>
                    <a:pt x="209" y="201"/>
                    <a:pt x="220" y="186"/>
                    <a:pt x="220" y="186"/>
                  </a:cubicBezTo>
                  <a:cubicBezTo>
                    <a:pt x="220" y="186"/>
                    <a:pt x="196" y="173"/>
                    <a:pt x="197" y="139"/>
                  </a:cubicBezTo>
                  <a:close/>
                </a:path>
              </a:pathLst>
            </a:custGeom>
            <a:solidFill>
              <a:srgbClr val="253F59"/>
            </a:solidFill>
            <a:ln w="9525">
              <a:noFill/>
              <a:round/>
            </a:ln>
          </p:spPr>
          <p:txBody>
            <a:bodyPr anchor="ctr"/>
            <a:lstStyle/>
            <a:p>
              <a:pPr algn="ctr"/>
            </a:p>
          </p:txBody>
        </p:sp>
        <p:sp>
          <p:nvSpPr>
            <p:cNvPr id="24" name="îṥļîďé"/>
            <p:cNvSpPr/>
            <p:nvPr/>
          </p:nvSpPr>
          <p:spPr bwMode="auto">
            <a:xfrm>
              <a:off x="7029926" y="4485167"/>
              <a:ext cx="1990703" cy="1348029"/>
            </a:xfrm>
            <a:custGeom>
              <a:avLst/>
              <a:gdLst/>
              <a:ahLst/>
              <a:cxnLst>
                <a:cxn ang="0">
                  <a:pos x="45" y="197"/>
                </a:cxn>
                <a:cxn ang="0">
                  <a:pos x="49" y="171"/>
                </a:cxn>
                <a:cxn ang="0">
                  <a:pos x="49" y="171"/>
                </a:cxn>
                <a:cxn ang="0">
                  <a:pos x="49" y="171"/>
                </a:cxn>
                <a:cxn ang="0">
                  <a:pos x="54" y="197"/>
                </a:cxn>
                <a:cxn ang="0">
                  <a:pos x="237" y="197"/>
                </a:cxn>
                <a:cxn ang="0">
                  <a:pos x="242" y="171"/>
                </a:cxn>
                <a:cxn ang="0">
                  <a:pos x="242" y="171"/>
                </a:cxn>
                <a:cxn ang="0">
                  <a:pos x="242" y="171"/>
                </a:cxn>
                <a:cxn ang="0">
                  <a:pos x="246" y="197"/>
                </a:cxn>
                <a:cxn ang="0">
                  <a:pos x="291" y="197"/>
                </a:cxn>
                <a:cxn ang="0">
                  <a:pos x="283" y="98"/>
                </a:cxn>
                <a:cxn ang="0">
                  <a:pos x="242" y="59"/>
                </a:cxn>
                <a:cxn ang="0">
                  <a:pos x="206" y="51"/>
                </a:cxn>
                <a:cxn ang="0">
                  <a:pos x="206" y="51"/>
                </a:cxn>
                <a:cxn ang="0">
                  <a:pos x="199" y="50"/>
                </a:cxn>
                <a:cxn ang="0">
                  <a:pos x="181" y="29"/>
                </a:cxn>
                <a:cxn ang="0">
                  <a:pos x="180" y="11"/>
                </a:cxn>
                <a:cxn ang="0">
                  <a:pos x="180" y="0"/>
                </a:cxn>
                <a:cxn ang="0">
                  <a:pos x="148" y="0"/>
                </a:cxn>
                <a:cxn ang="0">
                  <a:pos x="145" y="0"/>
                </a:cxn>
                <a:cxn ang="0">
                  <a:pos x="143" y="0"/>
                </a:cxn>
                <a:cxn ang="0">
                  <a:pos x="111" y="0"/>
                </a:cxn>
                <a:cxn ang="0">
                  <a:pos x="110" y="11"/>
                </a:cxn>
                <a:cxn ang="0">
                  <a:pos x="110" y="29"/>
                </a:cxn>
                <a:cxn ang="0">
                  <a:pos x="92" y="50"/>
                </a:cxn>
                <a:cxn ang="0">
                  <a:pos x="85" y="51"/>
                </a:cxn>
                <a:cxn ang="0">
                  <a:pos x="85" y="51"/>
                </a:cxn>
                <a:cxn ang="0">
                  <a:pos x="48" y="59"/>
                </a:cxn>
                <a:cxn ang="0">
                  <a:pos x="8" y="98"/>
                </a:cxn>
                <a:cxn ang="0">
                  <a:pos x="0" y="197"/>
                </a:cxn>
                <a:cxn ang="0">
                  <a:pos x="45" y="197"/>
                </a:cxn>
              </a:cxnLst>
              <a:rect l="0" t="0" r="r" b="b"/>
              <a:pathLst>
                <a:path w="291" h="197">
                  <a:moveTo>
                    <a:pt x="45" y="197"/>
                  </a:moveTo>
                  <a:cubicBezTo>
                    <a:pt x="49" y="171"/>
                    <a:pt x="49" y="171"/>
                    <a:pt x="49" y="171"/>
                  </a:cubicBezTo>
                  <a:cubicBezTo>
                    <a:pt x="49" y="171"/>
                    <a:pt x="49" y="171"/>
                    <a:pt x="49" y="171"/>
                  </a:cubicBezTo>
                  <a:cubicBezTo>
                    <a:pt x="49" y="171"/>
                    <a:pt x="49" y="171"/>
                    <a:pt x="49" y="171"/>
                  </a:cubicBezTo>
                  <a:cubicBezTo>
                    <a:pt x="54" y="197"/>
                    <a:pt x="54" y="197"/>
                    <a:pt x="54" y="197"/>
                  </a:cubicBezTo>
                  <a:cubicBezTo>
                    <a:pt x="237" y="197"/>
                    <a:pt x="237" y="197"/>
                    <a:pt x="237" y="197"/>
                  </a:cubicBezTo>
                  <a:cubicBezTo>
                    <a:pt x="242" y="171"/>
                    <a:pt x="242" y="171"/>
                    <a:pt x="242" y="171"/>
                  </a:cubicBezTo>
                  <a:cubicBezTo>
                    <a:pt x="242" y="171"/>
                    <a:pt x="242" y="171"/>
                    <a:pt x="242" y="171"/>
                  </a:cubicBezTo>
                  <a:cubicBezTo>
                    <a:pt x="242" y="171"/>
                    <a:pt x="242" y="171"/>
                    <a:pt x="242" y="171"/>
                  </a:cubicBezTo>
                  <a:cubicBezTo>
                    <a:pt x="246" y="197"/>
                    <a:pt x="246" y="197"/>
                    <a:pt x="246" y="197"/>
                  </a:cubicBezTo>
                  <a:cubicBezTo>
                    <a:pt x="291" y="197"/>
                    <a:pt x="291" y="197"/>
                    <a:pt x="291" y="197"/>
                  </a:cubicBezTo>
                  <a:cubicBezTo>
                    <a:pt x="283" y="98"/>
                    <a:pt x="283" y="98"/>
                    <a:pt x="283" y="98"/>
                  </a:cubicBezTo>
                  <a:cubicBezTo>
                    <a:pt x="279" y="79"/>
                    <a:pt x="267" y="62"/>
                    <a:pt x="242" y="59"/>
                  </a:cubicBezTo>
                  <a:cubicBezTo>
                    <a:pt x="206" y="51"/>
                    <a:pt x="206" y="51"/>
                    <a:pt x="206" y="51"/>
                  </a:cubicBezTo>
                  <a:cubicBezTo>
                    <a:pt x="206" y="51"/>
                    <a:pt x="206" y="51"/>
                    <a:pt x="206" y="51"/>
                  </a:cubicBezTo>
                  <a:cubicBezTo>
                    <a:pt x="199" y="50"/>
                    <a:pt x="199" y="50"/>
                    <a:pt x="199" y="50"/>
                  </a:cubicBezTo>
                  <a:cubicBezTo>
                    <a:pt x="189" y="48"/>
                    <a:pt x="182" y="39"/>
                    <a:pt x="181" y="29"/>
                  </a:cubicBezTo>
                  <a:cubicBezTo>
                    <a:pt x="180" y="11"/>
                    <a:pt x="180" y="11"/>
                    <a:pt x="180" y="11"/>
                  </a:cubicBezTo>
                  <a:cubicBezTo>
                    <a:pt x="180" y="0"/>
                    <a:pt x="180" y="0"/>
                    <a:pt x="180" y="0"/>
                  </a:cubicBezTo>
                  <a:cubicBezTo>
                    <a:pt x="148" y="0"/>
                    <a:pt x="148" y="0"/>
                    <a:pt x="148" y="0"/>
                  </a:cubicBezTo>
                  <a:cubicBezTo>
                    <a:pt x="145" y="0"/>
                    <a:pt x="145" y="0"/>
                    <a:pt x="145" y="0"/>
                  </a:cubicBezTo>
                  <a:cubicBezTo>
                    <a:pt x="143" y="0"/>
                    <a:pt x="143" y="0"/>
                    <a:pt x="143" y="0"/>
                  </a:cubicBezTo>
                  <a:cubicBezTo>
                    <a:pt x="111" y="0"/>
                    <a:pt x="111" y="0"/>
                    <a:pt x="111" y="0"/>
                  </a:cubicBezTo>
                  <a:cubicBezTo>
                    <a:pt x="110" y="11"/>
                    <a:pt x="110" y="11"/>
                    <a:pt x="110" y="11"/>
                  </a:cubicBezTo>
                  <a:cubicBezTo>
                    <a:pt x="110" y="29"/>
                    <a:pt x="110" y="29"/>
                    <a:pt x="110" y="29"/>
                  </a:cubicBezTo>
                  <a:cubicBezTo>
                    <a:pt x="109" y="39"/>
                    <a:pt x="102" y="48"/>
                    <a:pt x="92" y="50"/>
                  </a:cubicBezTo>
                  <a:cubicBezTo>
                    <a:pt x="85" y="51"/>
                    <a:pt x="85" y="51"/>
                    <a:pt x="85" y="51"/>
                  </a:cubicBezTo>
                  <a:cubicBezTo>
                    <a:pt x="85" y="51"/>
                    <a:pt x="85" y="51"/>
                    <a:pt x="85" y="51"/>
                  </a:cubicBezTo>
                  <a:cubicBezTo>
                    <a:pt x="48" y="59"/>
                    <a:pt x="48" y="59"/>
                    <a:pt x="48" y="59"/>
                  </a:cubicBezTo>
                  <a:cubicBezTo>
                    <a:pt x="24" y="62"/>
                    <a:pt x="12" y="79"/>
                    <a:pt x="8" y="98"/>
                  </a:cubicBezTo>
                  <a:cubicBezTo>
                    <a:pt x="0" y="197"/>
                    <a:pt x="0" y="197"/>
                    <a:pt x="0" y="197"/>
                  </a:cubicBezTo>
                  <a:lnTo>
                    <a:pt x="45" y="197"/>
                  </a:lnTo>
                  <a:close/>
                </a:path>
              </a:pathLst>
            </a:custGeom>
            <a:solidFill>
              <a:srgbClr val="FFE1CC"/>
            </a:solidFill>
            <a:ln w="9525">
              <a:noFill/>
              <a:round/>
            </a:ln>
          </p:spPr>
          <p:txBody>
            <a:bodyPr anchor="ctr"/>
            <a:lstStyle/>
            <a:p>
              <a:pPr algn="ctr"/>
            </a:p>
          </p:txBody>
        </p:sp>
        <p:sp>
          <p:nvSpPr>
            <p:cNvPr id="30" name="ïśḷídê"/>
            <p:cNvSpPr/>
            <p:nvPr/>
          </p:nvSpPr>
          <p:spPr bwMode="auto">
            <a:xfrm>
              <a:off x="7350845" y="5135363"/>
              <a:ext cx="1348028" cy="697833"/>
            </a:xfrm>
            <a:custGeom>
              <a:avLst/>
              <a:gdLst/>
              <a:ahLst/>
              <a:cxnLst>
                <a:cxn ang="0">
                  <a:pos x="2" y="76"/>
                </a:cxn>
                <a:cxn ang="0">
                  <a:pos x="2" y="76"/>
                </a:cxn>
                <a:cxn ang="0">
                  <a:pos x="2" y="76"/>
                </a:cxn>
                <a:cxn ang="0">
                  <a:pos x="3" y="80"/>
                </a:cxn>
                <a:cxn ang="0">
                  <a:pos x="5" y="91"/>
                </a:cxn>
                <a:cxn ang="0">
                  <a:pos x="7" y="102"/>
                </a:cxn>
                <a:cxn ang="0">
                  <a:pos x="190" y="102"/>
                </a:cxn>
                <a:cxn ang="0">
                  <a:pos x="192" y="91"/>
                </a:cxn>
                <a:cxn ang="0">
                  <a:pos x="194" y="80"/>
                </a:cxn>
                <a:cxn ang="0">
                  <a:pos x="195" y="76"/>
                </a:cxn>
                <a:cxn ang="0">
                  <a:pos x="195" y="76"/>
                </a:cxn>
                <a:cxn ang="0">
                  <a:pos x="195" y="76"/>
                </a:cxn>
                <a:cxn ang="0">
                  <a:pos x="195" y="75"/>
                </a:cxn>
                <a:cxn ang="0">
                  <a:pos x="173" y="0"/>
                </a:cxn>
                <a:cxn ang="0">
                  <a:pos x="99" y="37"/>
                </a:cxn>
                <a:cxn ang="0">
                  <a:pos x="98" y="37"/>
                </a:cxn>
                <a:cxn ang="0">
                  <a:pos x="24" y="0"/>
                </a:cxn>
                <a:cxn ang="0">
                  <a:pos x="2" y="75"/>
                </a:cxn>
                <a:cxn ang="0">
                  <a:pos x="2" y="76"/>
                </a:cxn>
              </a:cxnLst>
              <a:rect l="0" t="0" r="r" b="b"/>
              <a:pathLst>
                <a:path w="197" h="102">
                  <a:moveTo>
                    <a:pt x="2" y="76"/>
                  </a:moveTo>
                  <a:cubicBezTo>
                    <a:pt x="2" y="76"/>
                    <a:pt x="2" y="76"/>
                    <a:pt x="2" y="76"/>
                  </a:cubicBezTo>
                  <a:cubicBezTo>
                    <a:pt x="2" y="76"/>
                    <a:pt x="2" y="76"/>
                    <a:pt x="2" y="76"/>
                  </a:cubicBezTo>
                  <a:cubicBezTo>
                    <a:pt x="3" y="80"/>
                    <a:pt x="3" y="80"/>
                    <a:pt x="3" y="80"/>
                  </a:cubicBezTo>
                  <a:cubicBezTo>
                    <a:pt x="3" y="84"/>
                    <a:pt x="4" y="88"/>
                    <a:pt x="5" y="91"/>
                  </a:cubicBezTo>
                  <a:cubicBezTo>
                    <a:pt x="7" y="102"/>
                    <a:pt x="7" y="102"/>
                    <a:pt x="7" y="102"/>
                  </a:cubicBezTo>
                  <a:cubicBezTo>
                    <a:pt x="190" y="102"/>
                    <a:pt x="190" y="102"/>
                    <a:pt x="190" y="102"/>
                  </a:cubicBezTo>
                  <a:cubicBezTo>
                    <a:pt x="192" y="91"/>
                    <a:pt x="192" y="91"/>
                    <a:pt x="192" y="91"/>
                  </a:cubicBezTo>
                  <a:cubicBezTo>
                    <a:pt x="193" y="88"/>
                    <a:pt x="193" y="84"/>
                    <a:pt x="194" y="80"/>
                  </a:cubicBezTo>
                  <a:cubicBezTo>
                    <a:pt x="195" y="76"/>
                    <a:pt x="195" y="76"/>
                    <a:pt x="195" y="76"/>
                  </a:cubicBezTo>
                  <a:cubicBezTo>
                    <a:pt x="195" y="76"/>
                    <a:pt x="195" y="76"/>
                    <a:pt x="195" y="76"/>
                  </a:cubicBezTo>
                  <a:cubicBezTo>
                    <a:pt x="195" y="76"/>
                    <a:pt x="195" y="76"/>
                    <a:pt x="195" y="76"/>
                  </a:cubicBezTo>
                  <a:cubicBezTo>
                    <a:pt x="195" y="75"/>
                    <a:pt x="195" y="75"/>
                    <a:pt x="195" y="75"/>
                  </a:cubicBezTo>
                  <a:cubicBezTo>
                    <a:pt x="197" y="60"/>
                    <a:pt x="173" y="0"/>
                    <a:pt x="173" y="0"/>
                  </a:cubicBezTo>
                  <a:cubicBezTo>
                    <a:pt x="170" y="0"/>
                    <a:pt x="134" y="37"/>
                    <a:pt x="99" y="37"/>
                  </a:cubicBezTo>
                  <a:cubicBezTo>
                    <a:pt x="98" y="37"/>
                    <a:pt x="98" y="37"/>
                    <a:pt x="98" y="37"/>
                  </a:cubicBezTo>
                  <a:cubicBezTo>
                    <a:pt x="59" y="37"/>
                    <a:pt x="27" y="0"/>
                    <a:pt x="24" y="0"/>
                  </a:cubicBezTo>
                  <a:cubicBezTo>
                    <a:pt x="24" y="0"/>
                    <a:pt x="0" y="60"/>
                    <a:pt x="2" y="75"/>
                  </a:cubicBezTo>
                  <a:lnTo>
                    <a:pt x="2" y="76"/>
                  </a:lnTo>
                  <a:close/>
                </a:path>
              </a:pathLst>
            </a:custGeom>
            <a:solidFill>
              <a:srgbClr val="FF6D3A"/>
            </a:solidFill>
            <a:ln w="9525">
              <a:noFill/>
              <a:round/>
            </a:ln>
          </p:spPr>
          <p:txBody>
            <a:bodyPr anchor="ctr"/>
            <a:lstStyle/>
            <a:p>
              <a:pPr algn="ctr"/>
            </a:p>
          </p:txBody>
        </p:sp>
        <p:sp>
          <p:nvSpPr>
            <p:cNvPr id="31" name="îSľíďe"/>
            <p:cNvSpPr/>
            <p:nvPr/>
          </p:nvSpPr>
          <p:spPr bwMode="auto">
            <a:xfrm>
              <a:off x="8041992" y="4793550"/>
              <a:ext cx="978637" cy="1039645"/>
            </a:xfrm>
            <a:custGeom>
              <a:avLst/>
              <a:gdLst/>
              <a:ahLst/>
              <a:cxnLst>
                <a:cxn ang="0">
                  <a:pos x="143" y="152"/>
                </a:cxn>
                <a:cxn ang="0">
                  <a:pos x="135" y="53"/>
                </a:cxn>
                <a:cxn ang="0">
                  <a:pos x="94" y="14"/>
                </a:cxn>
                <a:cxn ang="0">
                  <a:pos x="58" y="6"/>
                </a:cxn>
                <a:cxn ang="0">
                  <a:pos x="58" y="6"/>
                </a:cxn>
                <a:cxn ang="0">
                  <a:pos x="51" y="5"/>
                </a:cxn>
                <a:cxn ang="0">
                  <a:pos x="42" y="0"/>
                </a:cxn>
                <a:cxn ang="0">
                  <a:pos x="0" y="152"/>
                </a:cxn>
                <a:cxn ang="0">
                  <a:pos x="143" y="152"/>
                </a:cxn>
              </a:cxnLst>
              <a:rect l="0" t="0" r="r" b="b"/>
              <a:pathLst>
                <a:path w="143" h="152">
                  <a:moveTo>
                    <a:pt x="143" y="152"/>
                  </a:moveTo>
                  <a:cubicBezTo>
                    <a:pt x="135" y="53"/>
                    <a:pt x="135" y="53"/>
                    <a:pt x="135" y="53"/>
                  </a:cubicBezTo>
                  <a:cubicBezTo>
                    <a:pt x="131" y="34"/>
                    <a:pt x="119" y="17"/>
                    <a:pt x="94" y="14"/>
                  </a:cubicBezTo>
                  <a:cubicBezTo>
                    <a:pt x="58" y="6"/>
                    <a:pt x="58" y="6"/>
                    <a:pt x="58" y="6"/>
                  </a:cubicBezTo>
                  <a:cubicBezTo>
                    <a:pt x="58" y="6"/>
                    <a:pt x="58" y="6"/>
                    <a:pt x="58" y="6"/>
                  </a:cubicBezTo>
                  <a:cubicBezTo>
                    <a:pt x="51" y="5"/>
                    <a:pt x="51" y="5"/>
                    <a:pt x="51" y="5"/>
                  </a:cubicBezTo>
                  <a:cubicBezTo>
                    <a:pt x="48" y="4"/>
                    <a:pt x="44" y="2"/>
                    <a:pt x="42" y="0"/>
                  </a:cubicBezTo>
                  <a:cubicBezTo>
                    <a:pt x="0" y="152"/>
                    <a:pt x="0" y="152"/>
                    <a:pt x="0" y="152"/>
                  </a:cubicBezTo>
                  <a:lnTo>
                    <a:pt x="143" y="152"/>
                  </a:lnTo>
                  <a:close/>
                </a:path>
              </a:pathLst>
            </a:custGeom>
            <a:solidFill>
              <a:srgbClr val="17C5CC"/>
            </a:solidFill>
            <a:ln w="9525">
              <a:noFill/>
              <a:round/>
            </a:ln>
          </p:spPr>
          <p:txBody>
            <a:bodyPr anchor="ctr"/>
            <a:lstStyle/>
            <a:p>
              <a:pPr algn="ctr"/>
            </a:p>
          </p:txBody>
        </p:sp>
        <p:sp>
          <p:nvSpPr>
            <p:cNvPr id="32" name="ïṥ1iḑè"/>
            <p:cNvSpPr/>
            <p:nvPr/>
          </p:nvSpPr>
          <p:spPr bwMode="auto">
            <a:xfrm>
              <a:off x="7029926" y="4793550"/>
              <a:ext cx="951058" cy="1039645"/>
            </a:xfrm>
            <a:custGeom>
              <a:avLst/>
              <a:gdLst/>
              <a:ahLst/>
              <a:cxnLst>
                <a:cxn ang="0">
                  <a:pos x="139" y="152"/>
                </a:cxn>
                <a:cxn ang="0">
                  <a:pos x="101" y="0"/>
                </a:cxn>
                <a:cxn ang="0">
                  <a:pos x="92" y="5"/>
                </a:cxn>
                <a:cxn ang="0">
                  <a:pos x="85" y="6"/>
                </a:cxn>
                <a:cxn ang="0">
                  <a:pos x="85" y="6"/>
                </a:cxn>
                <a:cxn ang="0">
                  <a:pos x="48" y="14"/>
                </a:cxn>
                <a:cxn ang="0">
                  <a:pos x="8" y="53"/>
                </a:cxn>
                <a:cxn ang="0">
                  <a:pos x="0" y="152"/>
                </a:cxn>
                <a:cxn ang="0">
                  <a:pos x="139" y="152"/>
                </a:cxn>
              </a:cxnLst>
              <a:rect l="0" t="0" r="r" b="b"/>
              <a:pathLst>
                <a:path w="139" h="152">
                  <a:moveTo>
                    <a:pt x="139" y="152"/>
                  </a:moveTo>
                  <a:cubicBezTo>
                    <a:pt x="101" y="0"/>
                    <a:pt x="101" y="0"/>
                    <a:pt x="101" y="0"/>
                  </a:cubicBezTo>
                  <a:cubicBezTo>
                    <a:pt x="98" y="2"/>
                    <a:pt x="95" y="4"/>
                    <a:pt x="92" y="5"/>
                  </a:cubicBezTo>
                  <a:cubicBezTo>
                    <a:pt x="85" y="6"/>
                    <a:pt x="85" y="6"/>
                    <a:pt x="85" y="6"/>
                  </a:cubicBezTo>
                  <a:cubicBezTo>
                    <a:pt x="85" y="6"/>
                    <a:pt x="85" y="6"/>
                    <a:pt x="85" y="6"/>
                  </a:cubicBezTo>
                  <a:cubicBezTo>
                    <a:pt x="48" y="14"/>
                    <a:pt x="48" y="14"/>
                    <a:pt x="48" y="14"/>
                  </a:cubicBezTo>
                  <a:cubicBezTo>
                    <a:pt x="24" y="17"/>
                    <a:pt x="12" y="34"/>
                    <a:pt x="8" y="53"/>
                  </a:cubicBezTo>
                  <a:cubicBezTo>
                    <a:pt x="0" y="152"/>
                    <a:pt x="0" y="152"/>
                    <a:pt x="0" y="152"/>
                  </a:cubicBezTo>
                  <a:lnTo>
                    <a:pt x="139" y="152"/>
                  </a:lnTo>
                  <a:close/>
                </a:path>
              </a:pathLst>
            </a:custGeom>
            <a:solidFill>
              <a:srgbClr val="17C5CC"/>
            </a:solidFill>
            <a:ln w="9525">
              <a:noFill/>
              <a:round/>
            </a:ln>
          </p:spPr>
          <p:txBody>
            <a:bodyPr anchor="ctr"/>
            <a:lstStyle/>
            <a:p>
              <a:pPr algn="ctr"/>
            </a:p>
          </p:txBody>
        </p:sp>
        <p:sp>
          <p:nvSpPr>
            <p:cNvPr id="33" name="îśḻíḓè"/>
            <p:cNvSpPr/>
            <p:nvPr/>
          </p:nvSpPr>
          <p:spPr bwMode="auto">
            <a:xfrm>
              <a:off x="7782081" y="4485167"/>
              <a:ext cx="478872" cy="198903"/>
            </a:xfrm>
            <a:custGeom>
              <a:avLst/>
              <a:gdLst/>
              <a:ahLst/>
              <a:cxnLst>
                <a:cxn ang="0">
                  <a:pos x="70" y="13"/>
                </a:cxn>
                <a:cxn ang="0">
                  <a:pos x="70" y="11"/>
                </a:cxn>
                <a:cxn ang="0">
                  <a:pos x="70" y="0"/>
                </a:cxn>
                <a:cxn ang="0">
                  <a:pos x="38" y="0"/>
                </a:cxn>
                <a:cxn ang="0">
                  <a:pos x="35" y="0"/>
                </a:cxn>
                <a:cxn ang="0">
                  <a:pos x="33" y="0"/>
                </a:cxn>
                <a:cxn ang="0">
                  <a:pos x="1" y="0"/>
                </a:cxn>
                <a:cxn ang="0">
                  <a:pos x="0" y="11"/>
                </a:cxn>
                <a:cxn ang="0">
                  <a:pos x="0" y="14"/>
                </a:cxn>
                <a:cxn ang="0">
                  <a:pos x="35" y="29"/>
                </a:cxn>
                <a:cxn ang="0">
                  <a:pos x="70" y="13"/>
                </a:cxn>
              </a:cxnLst>
              <a:rect l="0" t="0" r="r" b="b"/>
              <a:pathLst>
                <a:path w="70" h="29">
                  <a:moveTo>
                    <a:pt x="70" y="13"/>
                  </a:moveTo>
                  <a:cubicBezTo>
                    <a:pt x="70" y="11"/>
                    <a:pt x="70" y="11"/>
                    <a:pt x="70" y="11"/>
                  </a:cubicBezTo>
                  <a:cubicBezTo>
                    <a:pt x="70" y="0"/>
                    <a:pt x="70" y="0"/>
                    <a:pt x="70" y="0"/>
                  </a:cubicBezTo>
                  <a:cubicBezTo>
                    <a:pt x="38" y="0"/>
                    <a:pt x="38" y="0"/>
                    <a:pt x="38" y="0"/>
                  </a:cubicBezTo>
                  <a:cubicBezTo>
                    <a:pt x="35" y="0"/>
                    <a:pt x="35" y="0"/>
                    <a:pt x="35" y="0"/>
                  </a:cubicBezTo>
                  <a:cubicBezTo>
                    <a:pt x="33" y="0"/>
                    <a:pt x="33" y="0"/>
                    <a:pt x="33" y="0"/>
                  </a:cubicBezTo>
                  <a:cubicBezTo>
                    <a:pt x="1" y="0"/>
                    <a:pt x="1" y="0"/>
                    <a:pt x="1" y="0"/>
                  </a:cubicBezTo>
                  <a:cubicBezTo>
                    <a:pt x="0" y="11"/>
                    <a:pt x="0" y="11"/>
                    <a:pt x="0" y="11"/>
                  </a:cubicBezTo>
                  <a:cubicBezTo>
                    <a:pt x="0" y="14"/>
                    <a:pt x="0" y="14"/>
                    <a:pt x="0" y="14"/>
                  </a:cubicBezTo>
                  <a:cubicBezTo>
                    <a:pt x="8" y="21"/>
                    <a:pt x="20" y="29"/>
                    <a:pt x="35" y="29"/>
                  </a:cubicBezTo>
                  <a:cubicBezTo>
                    <a:pt x="51" y="29"/>
                    <a:pt x="62" y="22"/>
                    <a:pt x="70" y="13"/>
                  </a:cubicBezTo>
                  <a:close/>
                </a:path>
              </a:pathLst>
            </a:custGeom>
            <a:solidFill>
              <a:srgbClr val="EACEBB"/>
            </a:solidFill>
            <a:ln w="9525">
              <a:noFill/>
              <a:round/>
            </a:ln>
          </p:spPr>
          <p:txBody>
            <a:bodyPr anchor="ctr"/>
            <a:lstStyle/>
            <a:p>
              <a:pPr algn="ctr"/>
            </a:p>
          </p:txBody>
        </p:sp>
        <p:sp>
          <p:nvSpPr>
            <p:cNvPr id="34" name="iṥľíďê"/>
            <p:cNvSpPr/>
            <p:nvPr/>
          </p:nvSpPr>
          <p:spPr bwMode="auto">
            <a:xfrm>
              <a:off x="7645021" y="3486473"/>
              <a:ext cx="759676" cy="1122382"/>
            </a:xfrm>
            <a:custGeom>
              <a:avLst/>
              <a:gdLst/>
              <a:ahLst/>
              <a:cxnLst>
                <a:cxn ang="0">
                  <a:pos x="55" y="0"/>
                </a:cxn>
                <a:cxn ang="0">
                  <a:pos x="0" y="0"/>
                </a:cxn>
                <a:cxn ang="0">
                  <a:pos x="0" y="102"/>
                </a:cxn>
                <a:cxn ang="0">
                  <a:pos x="7" y="130"/>
                </a:cxn>
                <a:cxn ang="0">
                  <a:pos x="55" y="164"/>
                </a:cxn>
                <a:cxn ang="0">
                  <a:pos x="106" y="126"/>
                </a:cxn>
                <a:cxn ang="0">
                  <a:pos x="111" y="102"/>
                </a:cxn>
                <a:cxn ang="0">
                  <a:pos x="111" y="0"/>
                </a:cxn>
                <a:cxn ang="0">
                  <a:pos x="55" y="0"/>
                </a:cxn>
              </a:cxnLst>
              <a:rect l="0" t="0" r="r" b="b"/>
              <a:pathLst>
                <a:path w="111" h="164">
                  <a:moveTo>
                    <a:pt x="55" y="0"/>
                  </a:moveTo>
                  <a:cubicBezTo>
                    <a:pt x="0" y="0"/>
                    <a:pt x="0" y="0"/>
                    <a:pt x="0" y="0"/>
                  </a:cubicBezTo>
                  <a:cubicBezTo>
                    <a:pt x="0" y="102"/>
                    <a:pt x="0" y="102"/>
                    <a:pt x="0" y="102"/>
                  </a:cubicBezTo>
                  <a:cubicBezTo>
                    <a:pt x="0" y="107"/>
                    <a:pt x="3" y="124"/>
                    <a:pt x="7" y="130"/>
                  </a:cubicBezTo>
                  <a:cubicBezTo>
                    <a:pt x="7" y="130"/>
                    <a:pt x="22" y="164"/>
                    <a:pt x="55" y="164"/>
                  </a:cubicBezTo>
                  <a:cubicBezTo>
                    <a:pt x="91" y="164"/>
                    <a:pt x="106" y="126"/>
                    <a:pt x="106" y="126"/>
                  </a:cubicBezTo>
                  <a:cubicBezTo>
                    <a:pt x="108" y="120"/>
                    <a:pt x="111" y="105"/>
                    <a:pt x="111" y="102"/>
                  </a:cubicBezTo>
                  <a:cubicBezTo>
                    <a:pt x="111" y="0"/>
                    <a:pt x="111" y="0"/>
                    <a:pt x="111" y="0"/>
                  </a:cubicBezTo>
                  <a:lnTo>
                    <a:pt x="55" y="0"/>
                  </a:lnTo>
                  <a:close/>
                </a:path>
              </a:pathLst>
            </a:custGeom>
            <a:solidFill>
              <a:srgbClr val="FFE1CC"/>
            </a:solidFill>
            <a:ln w="9525">
              <a:noFill/>
              <a:round/>
            </a:ln>
          </p:spPr>
          <p:txBody>
            <a:bodyPr anchor="ctr"/>
            <a:lstStyle/>
            <a:p>
              <a:pPr algn="ctr"/>
            </a:p>
          </p:txBody>
        </p:sp>
        <p:sp>
          <p:nvSpPr>
            <p:cNvPr id="35" name="îṩ1ïďé"/>
            <p:cNvSpPr/>
            <p:nvPr/>
          </p:nvSpPr>
          <p:spPr bwMode="auto">
            <a:xfrm>
              <a:off x="8041992" y="4765972"/>
              <a:ext cx="472186" cy="1067224"/>
            </a:xfrm>
            <a:custGeom>
              <a:avLst/>
              <a:gdLst/>
              <a:ahLst/>
              <a:cxnLst>
                <a:cxn ang="0">
                  <a:pos x="14" y="156"/>
                </a:cxn>
                <a:cxn ang="0">
                  <a:pos x="56" y="97"/>
                </a:cxn>
                <a:cxn ang="0">
                  <a:pos x="59" y="78"/>
                </a:cxn>
                <a:cxn ang="0">
                  <a:pos x="41" y="55"/>
                </a:cxn>
                <a:cxn ang="0">
                  <a:pos x="62" y="55"/>
                </a:cxn>
                <a:cxn ang="0">
                  <a:pos x="69" y="47"/>
                </a:cxn>
                <a:cxn ang="0">
                  <a:pos x="65" y="10"/>
                </a:cxn>
                <a:cxn ang="0">
                  <a:pos x="65" y="8"/>
                </a:cxn>
                <a:cxn ang="0">
                  <a:pos x="62" y="6"/>
                </a:cxn>
                <a:cxn ang="0">
                  <a:pos x="45" y="1"/>
                </a:cxn>
                <a:cxn ang="0">
                  <a:pos x="40" y="4"/>
                </a:cxn>
                <a:cxn ang="0">
                  <a:pos x="0" y="156"/>
                </a:cxn>
                <a:cxn ang="0">
                  <a:pos x="14" y="156"/>
                </a:cxn>
              </a:cxnLst>
              <a:rect l="0" t="0" r="r" b="b"/>
              <a:pathLst>
                <a:path w="69" h="156">
                  <a:moveTo>
                    <a:pt x="14" y="156"/>
                  </a:moveTo>
                  <a:cubicBezTo>
                    <a:pt x="56" y="97"/>
                    <a:pt x="56" y="97"/>
                    <a:pt x="56" y="97"/>
                  </a:cubicBezTo>
                  <a:cubicBezTo>
                    <a:pt x="60" y="93"/>
                    <a:pt x="64" y="84"/>
                    <a:pt x="59" y="78"/>
                  </a:cubicBezTo>
                  <a:cubicBezTo>
                    <a:pt x="41" y="55"/>
                    <a:pt x="41" y="55"/>
                    <a:pt x="41" y="55"/>
                  </a:cubicBezTo>
                  <a:cubicBezTo>
                    <a:pt x="62" y="55"/>
                    <a:pt x="62" y="55"/>
                    <a:pt x="62" y="55"/>
                  </a:cubicBezTo>
                  <a:cubicBezTo>
                    <a:pt x="68" y="55"/>
                    <a:pt x="69" y="54"/>
                    <a:pt x="69" y="47"/>
                  </a:cubicBezTo>
                  <a:cubicBezTo>
                    <a:pt x="65" y="10"/>
                    <a:pt x="65" y="10"/>
                    <a:pt x="65" y="10"/>
                  </a:cubicBezTo>
                  <a:cubicBezTo>
                    <a:pt x="65" y="10"/>
                    <a:pt x="65" y="8"/>
                    <a:pt x="65" y="8"/>
                  </a:cubicBezTo>
                  <a:cubicBezTo>
                    <a:pt x="65" y="7"/>
                    <a:pt x="62" y="6"/>
                    <a:pt x="62" y="6"/>
                  </a:cubicBezTo>
                  <a:cubicBezTo>
                    <a:pt x="45" y="1"/>
                    <a:pt x="45" y="1"/>
                    <a:pt x="45" y="1"/>
                  </a:cubicBezTo>
                  <a:cubicBezTo>
                    <a:pt x="43" y="0"/>
                    <a:pt x="41" y="0"/>
                    <a:pt x="40" y="4"/>
                  </a:cubicBezTo>
                  <a:cubicBezTo>
                    <a:pt x="0" y="156"/>
                    <a:pt x="0" y="156"/>
                    <a:pt x="0" y="156"/>
                  </a:cubicBezTo>
                  <a:lnTo>
                    <a:pt x="14" y="156"/>
                  </a:lnTo>
                  <a:close/>
                </a:path>
              </a:pathLst>
            </a:custGeom>
            <a:solidFill>
              <a:srgbClr val="253F59"/>
            </a:solidFill>
            <a:ln w="9525">
              <a:noFill/>
              <a:round/>
            </a:ln>
          </p:spPr>
          <p:txBody>
            <a:bodyPr anchor="ctr"/>
            <a:lstStyle/>
            <a:p>
              <a:pPr algn="ctr"/>
            </a:p>
          </p:txBody>
        </p:sp>
        <p:sp>
          <p:nvSpPr>
            <p:cNvPr id="36" name="išľiḑe"/>
            <p:cNvSpPr/>
            <p:nvPr/>
          </p:nvSpPr>
          <p:spPr bwMode="auto">
            <a:xfrm>
              <a:off x="7515484" y="4780179"/>
              <a:ext cx="465500" cy="1053017"/>
            </a:xfrm>
            <a:custGeom>
              <a:avLst/>
              <a:gdLst/>
              <a:ahLst/>
              <a:cxnLst>
                <a:cxn ang="0">
                  <a:pos x="8" y="55"/>
                </a:cxn>
                <a:cxn ang="0">
                  <a:pos x="29" y="55"/>
                </a:cxn>
                <a:cxn ang="0">
                  <a:pos x="11" y="78"/>
                </a:cxn>
                <a:cxn ang="0">
                  <a:pos x="13" y="97"/>
                </a:cxn>
                <a:cxn ang="0">
                  <a:pos x="56" y="154"/>
                </a:cxn>
                <a:cxn ang="0">
                  <a:pos x="68" y="154"/>
                </a:cxn>
                <a:cxn ang="0">
                  <a:pos x="30" y="4"/>
                </a:cxn>
                <a:cxn ang="0">
                  <a:pos x="25" y="1"/>
                </a:cxn>
                <a:cxn ang="0">
                  <a:pos x="8" y="6"/>
                </a:cxn>
                <a:cxn ang="0">
                  <a:pos x="5" y="8"/>
                </a:cxn>
                <a:cxn ang="0">
                  <a:pos x="4" y="10"/>
                </a:cxn>
                <a:cxn ang="0">
                  <a:pos x="1" y="47"/>
                </a:cxn>
                <a:cxn ang="0">
                  <a:pos x="8" y="55"/>
                </a:cxn>
              </a:cxnLst>
              <a:rect l="0" t="0" r="r" b="b"/>
              <a:pathLst>
                <a:path w="68" h="154">
                  <a:moveTo>
                    <a:pt x="8" y="55"/>
                  </a:moveTo>
                  <a:cubicBezTo>
                    <a:pt x="29" y="55"/>
                    <a:pt x="29" y="55"/>
                    <a:pt x="29" y="55"/>
                  </a:cubicBezTo>
                  <a:cubicBezTo>
                    <a:pt x="11" y="78"/>
                    <a:pt x="11" y="78"/>
                    <a:pt x="11" y="78"/>
                  </a:cubicBezTo>
                  <a:cubicBezTo>
                    <a:pt x="6" y="84"/>
                    <a:pt x="10" y="93"/>
                    <a:pt x="13" y="97"/>
                  </a:cubicBezTo>
                  <a:cubicBezTo>
                    <a:pt x="56" y="154"/>
                    <a:pt x="56" y="154"/>
                    <a:pt x="56" y="154"/>
                  </a:cubicBezTo>
                  <a:cubicBezTo>
                    <a:pt x="68" y="154"/>
                    <a:pt x="68" y="154"/>
                    <a:pt x="68" y="154"/>
                  </a:cubicBezTo>
                  <a:cubicBezTo>
                    <a:pt x="30" y="4"/>
                    <a:pt x="30" y="4"/>
                    <a:pt x="30" y="4"/>
                  </a:cubicBezTo>
                  <a:cubicBezTo>
                    <a:pt x="29" y="0"/>
                    <a:pt x="27" y="0"/>
                    <a:pt x="25" y="1"/>
                  </a:cubicBezTo>
                  <a:cubicBezTo>
                    <a:pt x="8" y="6"/>
                    <a:pt x="8" y="6"/>
                    <a:pt x="8" y="6"/>
                  </a:cubicBezTo>
                  <a:cubicBezTo>
                    <a:pt x="8" y="6"/>
                    <a:pt x="5" y="6"/>
                    <a:pt x="5" y="8"/>
                  </a:cubicBezTo>
                  <a:cubicBezTo>
                    <a:pt x="5" y="8"/>
                    <a:pt x="4" y="10"/>
                    <a:pt x="4" y="10"/>
                  </a:cubicBezTo>
                  <a:cubicBezTo>
                    <a:pt x="1" y="47"/>
                    <a:pt x="1" y="47"/>
                    <a:pt x="1" y="47"/>
                  </a:cubicBezTo>
                  <a:cubicBezTo>
                    <a:pt x="0" y="54"/>
                    <a:pt x="2" y="55"/>
                    <a:pt x="8" y="55"/>
                  </a:cubicBezTo>
                  <a:close/>
                </a:path>
              </a:pathLst>
            </a:custGeom>
            <a:solidFill>
              <a:srgbClr val="253F59"/>
            </a:solidFill>
            <a:ln w="9525">
              <a:noFill/>
              <a:round/>
            </a:ln>
          </p:spPr>
          <p:txBody>
            <a:bodyPr anchor="ctr"/>
            <a:lstStyle/>
            <a:p>
              <a:pPr algn="ctr"/>
            </a:p>
          </p:txBody>
        </p:sp>
        <p:sp>
          <p:nvSpPr>
            <p:cNvPr id="37" name="îṩḷiḓê"/>
            <p:cNvSpPr/>
            <p:nvPr/>
          </p:nvSpPr>
          <p:spPr bwMode="auto">
            <a:xfrm>
              <a:off x="7569806" y="3479787"/>
              <a:ext cx="924315" cy="437921"/>
            </a:xfrm>
            <a:custGeom>
              <a:avLst/>
              <a:gdLst/>
              <a:ahLst/>
              <a:cxnLst>
                <a:cxn ang="0">
                  <a:pos x="0" y="0"/>
                </a:cxn>
                <a:cxn ang="0">
                  <a:pos x="0" y="64"/>
                </a:cxn>
                <a:cxn ang="0">
                  <a:pos x="38" y="48"/>
                </a:cxn>
                <a:cxn ang="0">
                  <a:pos x="66" y="15"/>
                </a:cxn>
                <a:cxn ang="0">
                  <a:pos x="57" y="55"/>
                </a:cxn>
                <a:cxn ang="0">
                  <a:pos x="90" y="32"/>
                </a:cxn>
                <a:cxn ang="0">
                  <a:pos x="93" y="16"/>
                </a:cxn>
                <a:cxn ang="0">
                  <a:pos x="122" y="55"/>
                </a:cxn>
                <a:cxn ang="0">
                  <a:pos x="135" y="0"/>
                </a:cxn>
                <a:cxn ang="0">
                  <a:pos x="0" y="0"/>
                </a:cxn>
              </a:cxnLst>
              <a:rect l="0" t="0" r="r" b="b"/>
              <a:pathLst>
                <a:path w="135" h="64">
                  <a:moveTo>
                    <a:pt x="0" y="0"/>
                  </a:moveTo>
                  <a:cubicBezTo>
                    <a:pt x="0" y="64"/>
                    <a:pt x="0" y="64"/>
                    <a:pt x="0" y="64"/>
                  </a:cubicBezTo>
                  <a:cubicBezTo>
                    <a:pt x="0" y="64"/>
                    <a:pt x="26" y="56"/>
                    <a:pt x="38" y="48"/>
                  </a:cubicBezTo>
                  <a:cubicBezTo>
                    <a:pt x="60" y="33"/>
                    <a:pt x="66" y="15"/>
                    <a:pt x="66" y="15"/>
                  </a:cubicBezTo>
                  <a:cubicBezTo>
                    <a:pt x="66" y="15"/>
                    <a:pt x="67" y="45"/>
                    <a:pt x="57" y="55"/>
                  </a:cubicBezTo>
                  <a:cubicBezTo>
                    <a:pt x="57" y="55"/>
                    <a:pt x="81" y="56"/>
                    <a:pt x="90" y="32"/>
                  </a:cubicBezTo>
                  <a:cubicBezTo>
                    <a:pt x="94" y="20"/>
                    <a:pt x="93" y="16"/>
                    <a:pt x="93" y="16"/>
                  </a:cubicBezTo>
                  <a:cubicBezTo>
                    <a:pt x="93" y="16"/>
                    <a:pt x="118" y="12"/>
                    <a:pt x="122" y="55"/>
                  </a:cubicBezTo>
                  <a:cubicBezTo>
                    <a:pt x="135" y="0"/>
                    <a:pt x="135" y="0"/>
                    <a:pt x="135" y="0"/>
                  </a:cubicBezTo>
                  <a:lnTo>
                    <a:pt x="0" y="0"/>
                  </a:lnTo>
                  <a:close/>
                </a:path>
              </a:pathLst>
            </a:custGeom>
            <a:solidFill>
              <a:srgbClr val="253F59"/>
            </a:solidFill>
            <a:ln w="9525">
              <a:noFill/>
              <a:round/>
            </a:ln>
          </p:spPr>
          <p:txBody>
            <a:bodyPr anchor="ctr"/>
            <a:lstStyle/>
            <a:p>
              <a:pPr algn="ctr"/>
            </a:p>
          </p:txBody>
        </p:sp>
        <p:sp>
          <p:nvSpPr>
            <p:cNvPr id="38" name="îṩḻiďé"/>
            <p:cNvSpPr/>
            <p:nvPr/>
          </p:nvSpPr>
          <p:spPr bwMode="auto">
            <a:xfrm>
              <a:off x="3198115" y="4054767"/>
              <a:ext cx="2990233" cy="2093498"/>
            </a:xfrm>
            <a:custGeom>
              <a:avLst/>
              <a:gdLst/>
              <a:ahLst/>
              <a:cxnLst>
                <a:cxn ang="0">
                  <a:pos x="65" y="306"/>
                </a:cxn>
                <a:cxn ang="0">
                  <a:pos x="75" y="220"/>
                </a:cxn>
                <a:cxn ang="0">
                  <a:pos x="80" y="216"/>
                </a:cxn>
                <a:cxn ang="0">
                  <a:pos x="84" y="220"/>
                </a:cxn>
                <a:cxn ang="0">
                  <a:pos x="84" y="306"/>
                </a:cxn>
                <a:cxn ang="0">
                  <a:pos x="353" y="306"/>
                </a:cxn>
                <a:cxn ang="0">
                  <a:pos x="353" y="220"/>
                </a:cxn>
                <a:cxn ang="0">
                  <a:pos x="357" y="216"/>
                </a:cxn>
                <a:cxn ang="0">
                  <a:pos x="364" y="222"/>
                </a:cxn>
                <a:cxn ang="0">
                  <a:pos x="373" y="306"/>
                </a:cxn>
                <a:cxn ang="0">
                  <a:pos x="437" y="306"/>
                </a:cxn>
                <a:cxn ang="0">
                  <a:pos x="428" y="124"/>
                </a:cxn>
                <a:cxn ang="0">
                  <a:pos x="376" y="74"/>
                </a:cxn>
                <a:cxn ang="0">
                  <a:pos x="281" y="60"/>
                </a:cxn>
                <a:cxn ang="0">
                  <a:pos x="266" y="41"/>
                </a:cxn>
                <a:cxn ang="0">
                  <a:pos x="264" y="0"/>
                </a:cxn>
                <a:cxn ang="0">
                  <a:pos x="215" y="0"/>
                </a:cxn>
                <a:cxn ang="0">
                  <a:pos x="172" y="0"/>
                </a:cxn>
                <a:cxn ang="0">
                  <a:pos x="170" y="43"/>
                </a:cxn>
                <a:cxn ang="0">
                  <a:pos x="155" y="60"/>
                </a:cxn>
                <a:cxn ang="0">
                  <a:pos x="61" y="74"/>
                </a:cxn>
                <a:cxn ang="0">
                  <a:pos x="9" y="124"/>
                </a:cxn>
                <a:cxn ang="0">
                  <a:pos x="0" y="306"/>
                </a:cxn>
                <a:cxn ang="0">
                  <a:pos x="65" y="306"/>
                </a:cxn>
              </a:cxnLst>
              <a:rect l="0" t="0" r="r" b="b"/>
              <a:pathLst>
                <a:path w="437" h="306">
                  <a:moveTo>
                    <a:pt x="65" y="306"/>
                  </a:moveTo>
                  <a:cubicBezTo>
                    <a:pt x="75" y="220"/>
                    <a:pt x="75" y="220"/>
                    <a:pt x="75" y="220"/>
                  </a:cubicBezTo>
                  <a:cubicBezTo>
                    <a:pt x="75" y="217"/>
                    <a:pt x="77" y="216"/>
                    <a:pt x="80" y="216"/>
                  </a:cubicBezTo>
                  <a:cubicBezTo>
                    <a:pt x="82" y="216"/>
                    <a:pt x="84" y="218"/>
                    <a:pt x="84" y="220"/>
                  </a:cubicBezTo>
                  <a:cubicBezTo>
                    <a:pt x="84" y="306"/>
                    <a:pt x="84" y="306"/>
                    <a:pt x="84" y="306"/>
                  </a:cubicBezTo>
                  <a:cubicBezTo>
                    <a:pt x="353" y="306"/>
                    <a:pt x="353" y="306"/>
                    <a:pt x="353" y="306"/>
                  </a:cubicBezTo>
                  <a:cubicBezTo>
                    <a:pt x="353" y="220"/>
                    <a:pt x="353" y="220"/>
                    <a:pt x="353" y="220"/>
                  </a:cubicBezTo>
                  <a:cubicBezTo>
                    <a:pt x="353" y="218"/>
                    <a:pt x="355" y="216"/>
                    <a:pt x="357" y="216"/>
                  </a:cubicBezTo>
                  <a:cubicBezTo>
                    <a:pt x="360" y="216"/>
                    <a:pt x="364" y="216"/>
                    <a:pt x="364" y="222"/>
                  </a:cubicBezTo>
                  <a:cubicBezTo>
                    <a:pt x="373" y="306"/>
                    <a:pt x="373" y="306"/>
                    <a:pt x="373" y="306"/>
                  </a:cubicBezTo>
                  <a:cubicBezTo>
                    <a:pt x="437" y="306"/>
                    <a:pt x="437" y="306"/>
                    <a:pt x="437" y="306"/>
                  </a:cubicBezTo>
                  <a:cubicBezTo>
                    <a:pt x="428" y="124"/>
                    <a:pt x="428" y="124"/>
                    <a:pt x="428" y="124"/>
                  </a:cubicBezTo>
                  <a:cubicBezTo>
                    <a:pt x="423" y="99"/>
                    <a:pt x="402" y="79"/>
                    <a:pt x="376" y="74"/>
                  </a:cubicBezTo>
                  <a:cubicBezTo>
                    <a:pt x="281" y="60"/>
                    <a:pt x="281" y="60"/>
                    <a:pt x="281" y="60"/>
                  </a:cubicBezTo>
                  <a:cubicBezTo>
                    <a:pt x="272" y="59"/>
                    <a:pt x="266" y="50"/>
                    <a:pt x="266" y="41"/>
                  </a:cubicBezTo>
                  <a:cubicBezTo>
                    <a:pt x="264" y="0"/>
                    <a:pt x="264" y="0"/>
                    <a:pt x="264" y="0"/>
                  </a:cubicBezTo>
                  <a:cubicBezTo>
                    <a:pt x="215" y="0"/>
                    <a:pt x="215" y="0"/>
                    <a:pt x="215" y="0"/>
                  </a:cubicBezTo>
                  <a:cubicBezTo>
                    <a:pt x="172" y="0"/>
                    <a:pt x="172" y="0"/>
                    <a:pt x="172" y="0"/>
                  </a:cubicBezTo>
                  <a:cubicBezTo>
                    <a:pt x="170" y="43"/>
                    <a:pt x="170" y="43"/>
                    <a:pt x="170" y="43"/>
                  </a:cubicBezTo>
                  <a:cubicBezTo>
                    <a:pt x="170" y="51"/>
                    <a:pt x="164" y="58"/>
                    <a:pt x="155" y="60"/>
                  </a:cubicBezTo>
                  <a:cubicBezTo>
                    <a:pt x="61" y="74"/>
                    <a:pt x="61" y="74"/>
                    <a:pt x="61" y="74"/>
                  </a:cubicBezTo>
                  <a:cubicBezTo>
                    <a:pt x="35" y="79"/>
                    <a:pt x="14" y="99"/>
                    <a:pt x="9" y="124"/>
                  </a:cubicBezTo>
                  <a:cubicBezTo>
                    <a:pt x="0" y="306"/>
                    <a:pt x="0" y="306"/>
                    <a:pt x="0" y="306"/>
                  </a:cubicBezTo>
                  <a:lnTo>
                    <a:pt x="65" y="306"/>
                  </a:lnTo>
                  <a:close/>
                </a:path>
              </a:pathLst>
            </a:custGeom>
            <a:solidFill>
              <a:srgbClr val="FFE1CC"/>
            </a:solidFill>
            <a:ln w="9525">
              <a:noFill/>
              <a:round/>
            </a:ln>
          </p:spPr>
          <p:txBody>
            <a:bodyPr anchor="ctr"/>
            <a:lstStyle/>
            <a:p>
              <a:pPr algn="ctr"/>
            </a:p>
          </p:txBody>
        </p:sp>
        <p:sp>
          <p:nvSpPr>
            <p:cNvPr id="39" name="ïŝļíḋé"/>
            <p:cNvSpPr/>
            <p:nvPr/>
          </p:nvSpPr>
          <p:spPr bwMode="auto">
            <a:xfrm>
              <a:off x="4122430" y="4348943"/>
              <a:ext cx="1142439" cy="1799322"/>
            </a:xfrm>
            <a:custGeom>
              <a:avLst/>
              <a:gdLst/>
              <a:ahLst/>
              <a:cxnLst>
                <a:cxn ang="0">
                  <a:pos x="135" y="263"/>
                </a:cxn>
                <a:cxn ang="0">
                  <a:pos x="167" y="19"/>
                </a:cxn>
                <a:cxn ang="0">
                  <a:pos x="149" y="17"/>
                </a:cxn>
                <a:cxn ang="0">
                  <a:pos x="134" y="0"/>
                </a:cxn>
                <a:cxn ang="0">
                  <a:pos x="84" y="49"/>
                </a:cxn>
                <a:cxn ang="0">
                  <a:pos x="34" y="0"/>
                </a:cxn>
                <a:cxn ang="0">
                  <a:pos x="18" y="17"/>
                </a:cxn>
                <a:cxn ang="0">
                  <a:pos x="0" y="19"/>
                </a:cxn>
                <a:cxn ang="0">
                  <a:pos x="43" y="263"/>
                </a:cxn>
                <a:cxn ang="0">
                  <a:pos x="135" y="263"/>
                </a:cxn>
              </a:cxnLst>
              <a:rect l="0" t="0" r="r" b="b"/>
              <a:pathLst>
                <a:path w="167" h="263">
                  <a:moveTo>
                    <a:pt x="135" y="263"/>
                  </a:moveTo>
                  <a:cubicBezTo>
                    <a:pt x="167" y="19"/>
                    <a:pt x="167" y="19"/>
                    <a:pt x="167" y="19"/>
                  </a:cubicBezTo>
                  <a:cubicBezTo>
                    <a:pt x="149" y="17"/>
                    <a:pt x="149" y="17"/>
                    <a:pt x="149" y="17"/>
                  </a:cubicBezTo>
                  <a:cubicBezTo>
                    <a:pt x="140" y="15"/>
                    <a:pt x="134" y="8"/>
                    <a:pt x="134" y="0"/>
                  </a:cubicBezTo>
                  <a:cubicBezTo>
                    <a:pt x="84" y="49"/>
                    <a:pt x="84" y="49"/>
                    <a:pt x="84" y="49"/>
                  </a:cubicBezTo>
                  <a:cubicBezTo>
                    <a:pt x="34" y="0"/>
                    <a:pt x="34" y="0"/>
                    <a:pt x="34" y="0"/>
                  </a:cubicBezTo>
                  <a:cubicBezTo>
                    <a:pt x="33" y="8"/>
                    <a:pt x="27" y="15"/>
                    <a:pt x="18" y="17"/>
                  </a:cubicBezTo>
                  <a:cubicBezTo>
                    <a:pt x="0" y="19"/>
                    <a:pt x="0" y="19"/>
                    <a:pt x="0" y="19"/>
                  </a:cubicBezTo>
                  <a:cubicBezTo>
                    <a:pt x="43" y="263"/>
                    <a:pt x="43" y="263"/>
                    <a:pt x="43" y="263"/>
                  </a:cubicBezTo>
                  <a:lnTo>
                    <a:pt x="135" y="263"/>
                  </a:lnTo>
                  <a:close/>
                </a:path>
              </a:pathLst>
            </a:custGeom>
            <a:solidFill>
              <a:srgbClr val="DBDBDB"/>
            </a:solidFill>
            <a:ln w="9525">
              <a:noFill/>
              <a:round/>
            </a:ln>
          </p:spPr>
          <p:txBody>
            <a:bodyPr anchor="ctr"/>
            <a:lstStyle/>
            <a:p>
              <a:pPr algn="ctr"/>
            </a:p>
          </p:txBody>
        </p:sp>
        <p:sp>
          <p:nvSpPr>
            <p:cNvPr id="40" name="íś1îḓè"/>
            <p:cNvSpPr/>
            <p:nvPr/>
          </p:nvSpPr>
          <p:spPr bwMode="auto">
            <a:xfrm>
              <a:off x="4368134" y="4054767"/>
              <a:ext cx="643510" cy="294176"/>
            </a:xfrm>
            <a:custGeom>
              <a:avLst/>
              <a:gdLst/>
              <a:ahLst/>
              <a:cxnLst>
                <a:cxn ang="0">
                  <a:pos x="88" y="33"/>
                </a:cxn>
                <a:cxn ang="0">
                  <a:pos x="94" y="27"/>
                </a:cxn>
                <a:cxn ang="0">
                  <a:pos x="93" y="0"/>
                </a:cxn>
                <a:cxn ang="0">
                  <a:pos x="44" y="0"/>
                </a:cxn>
                <a:cxn ang="0">
                  <a:pos x="1" y="0"/>
                </a:cxn>
                <a:cxn ang="0">
                  <a:pos x="0" y="25"/>
                </a:cxn>
                <a:cxn ang="0">
                  <a:pos x="7" y="33"/>
                </a:cxn>
                <a:cxn ang="0">
                  <a:pos x="32" y="43"/>
                </a:cxn>
                <a:cxn ang="0">
                  <a:pos x="48" y="43"/>
                </a:cxn>
                <a:cxn ang="0">
                  <a:pos x="48" y="43"/>
                </a:cxn>
                <a:cxn ang="0">
                  <a:pos x="64" y="43"/>
                </a:cxn>
                <a:cxn ang="0">
                  <a:pos x="88" y="33"/>
                </a:cxn>
              </a:cxnLst>
              <a:rect l="0" t="0" r="r" b="b"/>
              <a:pathLst>
                <a:path w="94" h="43">
                  <a:moveTo>
                    <a:pt x="88" y="33"/>
                  </a:moveTo>
                  <a:cubicBezTo>
                    <a:pt x="94" y="27"/>
                    <a:pt x="94" y="27"/>
                    <a:pt x="94" y="27"/>
                  </a:cubicBezTo>
                  <a:cubicBezTo>
                    <a:pt x="93" y="0"/>
                    <a:pt x="93" y="0"/>
                    <a:pt x="93" y="0"/>
                  </a:cubicBezTo>
                  <a:cubicBezTo>
                    <a:pt x="44" y="0"/>
                    <a:pt x="44" y="0"/>
                    <a:pt x="44" y="0"/>
                  </a:cubicBezTo>
                  <a:cubicBezTo>
                    <a:pt x="1" y="0"/>
                    <a:pt x="1" y="0"/>
                    <a:pt x="1" y="0"/>
                  </a:cubicBezTo>
                  <a:cubicBezTo>
                    <a:pt x="0" y="25"/>
                    <a:pt x="0" y="25"/>
                    <a:pt x="0" y="25"/>
                  </a:cubicBezTo>
                  <a:cubicBezTo>
                    <a:pt x="7" y="33"/>
                    <a:pt x="7" y="33"/>
                    <a:pt x="7" y="33"/>
                  </a:cubicBezTo>
                  <a:cubicBezTo>
                    <a:pt x="14" y="39"/>
                    <a:pt x="23" y="43"/>
                    <a:pt x="32" y="43"/>
                  </a:cubicBezTo>
                  <a:cubicBezTo>
                    <a:pt x="48" y="43"/>
                    <a:pt x="48" y="43"/>
                    <a:pt x="48" y="43"/>
                  </a:cubicBezTo>
                  <a:cubicBezTo>
                    <a:pt x="48" y="43"/>
                    <a:pt x="48" y="43"/>
                    <a:pt x="48" y="43"/>
                  </a:cubicBezTo>
                  <a:cubicBezTo>
                    <a:pt x="64" y="43"/>
                    <a:pt x="64" y="43"/>
                    <a:pt x="64" y="43"/>
                  </a:cubicBezTo>
                  <a:cubicBezTo>
                    <a:pt x="73" y="43"/>
                    <a:pt x="82" y="39"/>
                    <a:pt x="88" y="33"/>
                  </a:cubicBezTo>
                  <a:close/>
                </a:path>
              </a:pathLst>
            </a:custGeom>
            <a:solidFill>
              <a:srgbClr val="EACEBB"/>
            </a:solidFill>
            <a:ln w="9525">
              <a:noFill/>
              <a:round/>
            </a:ln>
          </p:spPr>
          <p:txBody>
            <a:bodyPr anchor="ctr"/>
            <a:lstStyle/>
            <a:p>
              <a:pPr algn="ctr"/>
            </a:p>
          </p:txBody>
        </p:sp>
        <p:sp>
          <p:nvSpPr>
            <p:cNvPr id="41" name="işļíḓé"/>
            <p:cNvSpPr/>
            <p:nvPr/>
          </p:nvSpPr>
          <p:spPr bwMode="auto">
            <a:xfrm>
              <a:off x="5147867" y="3356935"/>
              <a:ext cx="185532" cy="457979"/>
            </a:xfrm>
            <a:custGeom>
              <a:avLst/>
              <a:gdLst/>
              <a:ahLst/>
              <a:cxnLst>
                <a:cxn ang="0">
                  <a:pos x="4" y="0"/>
                </a:cxn>
                <a:cxn ang="0">
                  <a:pos x="10" y="0"/>
                </a:cxn>
                <a:cxn ang="0">
                  <a:pos x="24" y="22"/>
                </a:cxn>
                <a:cxn ang="0">
                  <a:pos x="19" y="48"/>
                </a:cxn>
                <a:cxn ang="0">
                  <a:pos x="0" y="61"/>
                </a:cxn>
                <a:cxn ang="0">
                  <a:pos x="4" y="0"/>
                </a:cxn>
              </a:cxnLst>
              <a:rect l="0" t="0" r="r" b="b"/>
              <a:pathLst>
                <a:path w="27" h="67">
                  <a:moveTo>
                    <a:pt x="4" y="0"/>
                  </a:moveTo>
                  <a:cubicBezTo>
                    <a:pt x="10" y="0"/>
                    <a:pt x="10" y="0"/>
                    <a:pt x="10" y="0"/>
                  </a:cubicBezTo>
                  <a:cubicBezTo>
                    <a:pt x="18" y="2"/>
                    <a:pt x="27" y="10"/>
                    <a:pt x="24" y="22"/>
                  </a:cubicBezTo>
                  <a:cubicBezTo>
                    <a:pt x="23" y="33"/>
                    <a:pt x="22" y="34"/>
                    <a:pt x="19" y="48"/>
                  </a:cubicBezTo>
                  <a:cubicBezTo>
                    <a:pt x="16" y="67"/>
                    <a:pt x="0" y="61"/>
                    <a:pt x="0" y="61"/>
                  </a:cubicBezTo>
                  <a:lnTo>
                    <a:pt x="4" y="0"/>
                  </a:lnTo>
                  <a:close/>
                </a:path>
              </a:pathLst>
            </a:custGeom>
            <a:solidFill>
              <a:srgbClr val="EACEBB"/>
            </a:solidFill>
            <a:ln w="9525">
              <a:noFill/>
              <a:round/>
            </a:ln>
          </p:spPr>
          <p:txBody>
            <a:bodyPr anchor="ctr"/>
            <a:lstStyle/>
            <a:p>
              <a:pPr algn="ctr"/>
            </a:p>
          </p:txBody>
        </p:sp>
        <p:sp>
          <p:nvSpPr>
            <p:cNvPr id="42" name="ïṩḷîḓè"/>
            <p:cNvSpPr/>
            <p:nvPr/>
          </p:nvSpPr>
          <p:spPr bwMode="auto">
            <a:xfrm>
              <a:off x="4067272" y="3356935"/>
              <a:ext cx="178010" cy="457979"/>
            </a:xfrm>
            <a:custGeom>
              <a:avLst/>
              <a:gdLst/>
              <a:ahLst/>
              <a:cxnLst>
                <a:cxn ang="0">
                  <a:pos x="22" y="0"/>
                </a:cxn>
                <a:cxn ang="0">
                  <a:pos x="17" y="0"/>
                </a:cxn>
                <a:cxn ang="0">
                  <a:pos x="2" y="22"/>
                </a:cxn>
                <a:cxn ang="0">
                  <a:pos x="7" y="48"/>
                </a:cxn>
                <a:cxn ang="0">
                  <a:pos x="26" y="61"/>
                </a:cxn>
                <a:cxn ang="0">
                  <a:pos x="22" y="0"/>
                </a:cxn>
              </a:cxnLst>
              <a:rect l="0" t="0" r="r" b="b"/>
              <a:pathLst>
                <a:path w="26" h="67">
                  <a:moveTo>
                    <a:pt x="22" y="0"/>
                  </a:moveTo>
                  <a:cubicBezTo>
                    <a:pt x="17" y="0"/>
                    <a:pt x="17" y="0"/>
                    <a:pt x="17" y="0"/>
                  </a:cubicBezTo>
                  <a:cubicBezTo>
                    <a:pt x="9" y="2"/>
                    <a:pt x="0" y="10"/>
                    <a:pt x="2" y="22"/>
                  </a:cubicBezTo>
                  <a:cubicBezTo>
                    <a:pt x="4" y="33"/>
                    <a:pt x="5" y="34"/>
                    <a:pt x="7" y="48"/>
                  </a:cubicBezTo>
                  <a:cubicBezTo>
                    <a:pt x="10" y="67"/>
                    <a:pt x="26" y="61"/>
                    <a:pt x="26" y="61"/>
                  </a:cubicBezTo>
                  <a:lnTo>
                    <a:pt x="22" y="0"/>
                  </a:lnTo>
                  <a:close/>
                </a:path>
              </a:pathLst>
            </a:custGeom>
            <a:solidFill>
              <a:srgbClr val="EACEBB"/>
            </a:solidFill>
            <a:ln w="9525">
              <a:noFill/>
              <a:round/>
            </a:ln>
          </p:spPr>
          <p:txBody>
            <a:bodyPr anchor="ctr"/>
            <a:lstStyle/>
            <a:p>
              <a:pPr algn="ctr"/>
            </a:p>
          </p:txBody>
        </p:sp>
        <p:sp>
          <p:nvSpPr>
            <p:cNvPr id="43" name="î$ḷíḓè"/>
            <p:cNvSpPr/>
            <p:nvPr/>
          </p:nvSpPr>
          <p:spPr bwMode="auto">
            <a:xfrm>
              <a:off x="4197645" y="2904806"/>
              <a:ext cx="998694" cy="1348029"/>
            </a:xfrm>
            <a:custGeom>
              <a:avLst/>
              <a:gdLst/>
              <a:ahLst/>
              <a:cxnLst>
                <a:cxn ang="0">
                  <a:pos x="73" y="0"/>
                </a:cxn>
                <a:cxn ang="0">
                  <a:pos x="73" y="0"/>
                </a:cxn>
                <a:cxn ang="0">
                  <a:pos x="0" y="0"/>
                </a:cxn>
                <a:cxn ang="0">
                  <a:pos x="0" y="138"/>
                </a:cxn>
                <a:cxn ang="0">
                  <a:pos x="10" y="163"/>
                </a:cxn>
                <a:cxn ang="0">
                  <a:pos x="32" y="187"/>
                </a:cxn>
                <a:cxn ang="0">
                  <a:pos x="57" y="197"/>
                </a:cxn>
                <a:cxn ang="0">
                  <a:pos x="73" y="197"/>
                </a:cxn>
                <a:cxn ang="0">
                  <a:pos x="73" y="197"/>
                </a:cxn>
                <a:cxn ang="0">
                  <a:pos x="89" y="197"/>
                </a:cxn>
                <a:cxn ang="0">
                  <a:pos x="113" y="187"/>
                </a:cxn>
                <a:cxn ang="0">
                  <a:pos x="136" y="163"/>
                </a:cxn>
                <a:cxn ang="0">
                  <a:pos x="146" y="138"/>
                </a:cxn>
                <a:cxn ang="0">
                  <a:pos x="146" y="0"/>
                </a:cxn>
                <a:cxn ang="0">
                  <a:pos x="73" y="0"/>
                </a:cxn>
              </a:cxnLst>
              <a:rect l="0" t="0" r="r" b="b"/>
              <a:pathLst>
                <a:path w="146" h="197">
                  <a:moveTo>
                    <a:pt x="73" y="0"/>
                  </a:moveTo>
                  <a:cubicBezTo>
                    <a:pt x="73" y="0"/>
                    <a:pt x="73" y="0"/>
                    <a:pt x="73" y="0"/>
                  </a:cubicBezTo>
                  <a:cubicBezTo>
                    <a:pt x="0" y="0"/>
                    <a:pt x="0" y="0"/>
                    <a:pt x="0" y="0"/>
                  </a:cubicBezTo>
                  <a:cubicBezTo>
                    <a:pt x="0" y="138"/>
                    <a:pt x="0" y="138"/>
                    <a:pt x="0" y="138"/>
                  </a:cubicBezTo>
                  <a:cubicBezTo>
                    <a:pt x="0" y="148"/>
                    <a:pt x="4" y="157"/>
                    <a:pt x="10" y="163"/>
                  </a:cubicBezTo>
                  <a:cubicBezTo>
                    <a:pt x="32" y="187"/>
                    <a:pt x="32" y="187"/>
                    <a:pt x="32" y="187"/>
                  </a:cubicBezTo>
                  <a:cubicBezTo>
                    <a:pt x="39" y="193"/>
                    <a:pt x="48" y="197"/>
                    <a:pt x="57" y="197"/>
                  </a:cubicBezTo>
                  <a:cubicBezTo>
                    <a:pt x="73" y="197"/>
                    <a:pt x="73" y="197"/>
                    <a:pt x="73" y="197"/>
                  </a:cubicBezTo>
                  <a:cubicBezTo>
                    <a:pt x="73" y="197"/>
                    <a:pt x="73" y="197"/>
                    <a:pt x="73" y="197"/>
                  </a:cubicBezTo>
                  <a:cubicBezTo>
                    <a:pt x="89" y="197"/>
                    <a:pt x="89" y="197"/>
                    <a:pt x="89" y="197"/>
                  </a:cubicBezTo>
                  <a:cubicBezTo>
                    <a:pt x="98" y="197"/>
                    <a:pt x="107" y="193"/>
                    <a:pt x="113" y="187"/>
                  </a:cubicBezTo>
                  <a:cubicBezTo>
                    <a:pt x="136" y="163"/>
                    <a:pt x="136" y="163"/>
                    <a:pt x="136" y="163"/>
                  </a:cubicBezTo>
                  <a:cubicBezTo>
                    <a:pt x="142" y="157"/>
                    <a:pt x="146" y="148"/>
                    <a:pt x="146" y="138"/>
                  </a:cubicBezTo>
                  <a:cubicBezTo>
                    <a:pt x="146" y="0"/>
                    <a:pt x="146" y="0"/>
                    <a:pt x="146" y="0"/>
                  </a:cubicBezTo>
                  <a:lnTo>
                    <a:pt x="73" y="0"/>
                  </a:lnTo>
                  <a:close/>
                </a:path>
              </a:pathLst>
            </a:custGeom>
            <a:solidFill>
              <a:srgbClr val="FFE1CC"/>
            </a:solidFill>
            <a:ln w="9525">
              <a:noFill/>
              <a:round/>
            </a:ln>
          </p:spPr>
          <p:txBody>
            <a:bodyPr anchor="ctr"/>
            <a:lstStyle/>
            <a:p>
              <a:pPr algn="ctr"/>
            </a:p>
          </p:txBody>
        </p:sp>
        <p:sp>
          <p:nvSpPr>
            <p:cNvPr id="44" name="ïṩļíde"/>
            <p:cNvSpPr/>
            <p:nvPr/>
          </p:nvSpPr>
          <p:spPr bwMode="auto">
            <a:xfrm>
              <a:off x="3998742" y="2508671"/>
              <a:ext cx="1348028" cy="992009"/>
            </a:xfrm>
            <a:custGeom>
              <a:avLst/>
              <a:gdLst/>
              <a:ahLst/>
              <a:cxnLst>
                <a:cxn ang="0">
                  <a:pos x="29" y="142"/>
                </a:cxn>
                <a:cxn ang="0">
                  <a:pos x="29" y="94"/>
                </a:cxn>
                <a:cxn ang="0">
                  <a:pos x="59" y="60"/>
                </a:cxn>
                <a:cxn ang="0">
                  <a:pos x="94" y="60"/>
                </a:cxn>
                <a:cxn ang="0">
                  <a:pos x="104" y="81"/>
                </a:cxn>
                <a:cxn ang="0">
                  <a:pos x="159" y="60"/>
                </a:cxn>
                <a:cxn ang="0">
                  <a:pos x="175" y="74"/>
                </a:cxn>
                <a:cxn ang="0">
                  <a:pos x="175" y="142"/>
                </a:cxn>
                <a:cxn ang="0">
                  <a:pos x="190" y="121"/>
                </a:cxn>
                <a:cxn ang="0">
                  <a:pos x="196" y="26"/>
                </a:cxn>
                <a:cxn ang="0">
                  <a:pos x="175" y="1"/>
                </a:cxn>
                <a:cxn ang="0">
                  <a:pos x="134" y="1"/>
                </a:cxn>
                <a:cxn ang="0">
                  <a:pos x="79" y="1"/>
                </a:cxn>
                <a:cxn ang="0">
                  <a:pos x="8" y="71"/>
                </a:cxn>
                <a:cxn ang="0">
                  <a:pos x="17" y="125"/>
                </a:cxn>
                <a:cxn ang="0">
                  <a:pos x="29" y="142"/>
                </a:cxn>
              </a:cxnLst>
              <a:rect l="0" t="0" r="r" b="b"/>
              <a:pathLst>
                <a:path w="197" h="145">
                  <a:moveTo>
                    <a:pt x="29" y="142"/>
                  </a:moveTo>
                  <a:cubicBezTo>
                    <a:pt x="29" y="94"/>
                    <a:pt x="29" y="94"/>
                    <a:pt x="29" y="94"/>
                  </a:cubicBezTo>
                  <a:cubicBezTo>
                    <a:pt x="29" y="77"/>
                    <a:pt x="40" y="60"/>
                    <a:pt x="59" y="60"/>
                  </a:cubicBezTo>
                  <a:cubicBezTo>
                    <a:pt x="94" y="60"/>
                    <a:pt x="94" y="60"/>
                    <a:pt x="94" y="60"/>
                  </a:cubicBezTo>
                  <a:cubicBezTo>
                    <a:pt x="103" y="64"/>
                    <a:pt x="94" y="84"/>
                    <a:pt x="104" y="81"/>
                  </a:cubicBezTo>
                  <a:cubicBezTo>
                    <a:pt x="159" y="60"/>
                    <a:pt x="159" y="60"/>
                    <a:pt x="159" y="60"/>
                  </a:cubicBezTo>
                  <a:cubicBezTo>
                    <a:pt x="169" y="57"/>
                    <a:pt x="175" y="66"/>
                    <a:pt x="175" y="74"/>
                  </a:cubicBezTo>
                  <a:cubicBezTo>
                    <a:pt x="175" y="142"/>
                    <a:pt x="175" y="142"/>
                    <a:pt x="175" y="142"/>
                  </a:cubicBezTo>
                  <a:cubicBezTo>
                    <a:pt x="175" y="144"/>
                    <a:pt x="186" y="137"/>
                    <a:pt x="190" y="121"/>
                  </a:cubicBezTo>
                  <a:cubicBezTo>
                    <a:pt x="196" y="26"/>
                    <a:pt x="196" y="26"/>
                    <a:pt x="196" y="26"/>
                  </a:cubicBezTo>
                  <a:cubicBezTo>
                    <a:pt x="197" y="14"/>
                    <a:pt x="193" y="1"/>
                    <a:pt x="175" y="1"/>
                  </a:cubicBezTo>
                  <a:cubicBezTo>
                    <a:pt x="134" y="1"/>
                    <a:pt x="134" y="1"/>
                    <a:pt x="134" y="1"/>
                  </a:cubicBezTo>
                  <a:cubicBezTo>
                    <a:pt x="79" y="1"/>
                    <a:pt x="79" y="1"/>
                    <a:pt x="79" y="1"/>
                  </a:cubicBezTo>
                  <a:cubicBezTo>
                    <a:pt x="34" y="0"/>
                    <a:pt x="0" y="22"/>
                    <a:pt x="8" y="71"/>
                  </a:cubicBezTo>
                  <a:cubicBezTo>
                    <a:pt x="17" y="125"/>
                    <a:pt x="17" y="125"/>
                    <a:pt x="17" y="125"/>
                  </a:cubicBezTo>
                  <a:cubicBezTo>
                    <a:pt x="18" y="137"/>
                    <a:pt x="29" y="145"/>
                    <a:pt x="29" y="142"/>
                  </a:cubicBezTo>
                  <a:close/>
                </a:path>
              </a:pathLst>
            </a:custGeom>
            <a:solidFill>
              <a:srgbClr val="253F59"/>
            </a:solidFill>
            <a:ln w="9525">
              <a:noFill/>
              <a:round/>
            </a:ln>
          </p:spPr>
          <p:txBody>
            <a:bodyPr anchor="ctr"/>
            <a:lstStyle/>
            <a:p>
              <a:pPr algn="ctr"/>
            </a:p>
          </p:txBody>
        </p:sp>
        <p:sp>
          <p:nvSpPr>
            <p:cNvPr id="45" name="išḷïḑe"/>
            <p:cNvSpPr/>
            <p:nvPr/>
          </p:nvSpPr>
          <p:spPr bwMode="auto">
            <a:xfrm>
              <a:off x="4567037" y="4684070"/>
              <a:ext cx="253225" cy="1464195"/>
            </a:xfrm>
            <a:custGeom>
              <a:avLst/>
              <a:gdLst/>
              <a:ahLst/>
              <a:cxnLst>
                <a:cxn ang="0">
                  <a:pos x="11" y="60"/>
                </a:cxn>
                <a:cxn ang="0">
                  <a:pos x="3" y="214"/>
                </a:cxn>
                <a:cxn ang="0">
                  <a:pos x="35" y="214"/>
                </a:cxn>
                <a:cxn ang="0">
                  <a:pos x="27" y="60"/>
                </a:cxn>
                <a:cxn ang="0">
                  <a:pos x="28" y="51"/>
                </a:cxn>
                <a:cxn ang="0">
                  <a:pos x="37" y="33"/>
                </a:cxn>
                <a:cxn ang="0">
                  <a:pos x="19" y="1"/>
                </a:cxn>
                <a:cxn ang="0">
                  <a:pos x="19" y="0"/>
                </a:cxn>
                <a:cxn ang="0">
                  <a:pos x="19" y="0"/>
                </a:cxn>
                <a:cxn ang="0">
                  <a:pos x="18" y="0"/>
                </a:cxn>
                <a:cxn ang="0">
                  <a:pos x="18" y="1"/>
                </a:cxn>
                <a:cxn ang="0">
                  <a:pos x="0" y="33"/>
                </a:cxn>
                <a:cxn ang="0">
                  <a:pos x="9" y="51"/>
                </a:cxn>
                <a:cxn ang="0">
                  <a:pos x="11" y="60"/>
                </a:cxn>
              </a:cxnLst>
              <a:rect l="0" t="0" r="r" b="b"/>
              <a:pathLst>
                <a:path w="37" h="214">
                  <a:moveTo>
                    <a:pt x="11" y="60"/>
                  </a:moveTo>
                  <a:cubicBezTo>
                    <a:pt x="3" y="214"/>
                    <a:pt x="3" y="214"/>
                    <a:pt x="3" y="214"/>
                  </a:cubicBezTo>
                  <a:cubicBezTo>
                    <a:pt x="35" y="214"/>
                    <a:pt x="35" y="214"/>
                    <a:pt x="35" y="214"/>
                  </a:cubicBezTo>
                  <a:cubicBezTo>
                    <a:pt x="27" y="60"/>
                    <a:pt x="27" y="60"/>
                    <a:pt x="27" y="60"/>
                  </a:cubicBezTo>
                  <a:cubicBezTo>
                    <a:pt x="27" y="57"/>
                    <a:pt x="27" y="53"/>
                    <a:pt x="28" y="51"/>
                  </a:cubicBezTo>
                  <a:cubicBezTo>
                    <a:pt x="37" y="33"/>
                    <a:pt x="37" y="33"/>
                    <a:pt x="37" y="33"/>
                  </a:cubicBezTo>
                  <a:cubicBezTo>
                    <a:pt x="19" y="1"/>
                    <a:pt x="19" y="1"/>
                    <a:pt x="19" y="1"/>
                  </a:cubicBezTo>
                  <a:cubicBezTo>
                    <a:pt x="19" y="0"/>
                    <a:pt x="19" y="0"/>
                    <a:pt x="19" y="0"/>
                  </a:cubicBezTo>
                  <a:cubicBezTo>
                    <a:pt x="19" y="0"/>
                    <a:pt x="19" y="0"/>
                    <a:pt x="19" y="0"/>
                  </a:cubicBezTo>
                  <a:cubicBezTo>
                    <a:pt x="18" y="0"/>
                    <a:pt x="18" y="0"/>
                    <a:pt x="18" y="0"/>
                  </a:cubicBezTo>
                  <a:cubicBezTo>
                    <a:pt x="18" y="1"/>
                    <a:pt x="18" y="1"/>
                    <a:pt x="18" y="1"/>
                  </a:cubicBezTo>
                  <a:cubicBezTo>
                    <a:pt x="0" y="33"/>
                    <a:pt x="0" y="33"/>
                    <a:pt x="0" y="33"/>
                  </a:cubicBezTo>
                  <a:cubicBezTo>
                    <a:pt x="9" y="51"/>
                    <a:pt x="9" y="51"/>
                    <a:pt x="9" y="51"/>
                  </a:cubicBezTo>
                  <a:cubicBezTo>
                    <a:pt x="11" y="54"/>
                    <a:pt x="11" y="57"/>
                    <a:pt x="11" y="60"/>
                  </a:cubicBezTo>
                  <a:close/>
                </a:path>
              </a:pathLst>
            </a:custGeom>
            <a:solidFill>
              <a:srgbClr val="D8562E"/>
            </a:solidFill>
            <a:ln w="9525">
              <a:noFill/>
              <a:round/>
            </a:ln>
          </p:spPr>
          <p:txBody>
            <a:bodyPr anchor="ctr"/>
            <a:lstStyle/>
            <a:p>
              <a:pPr algn="ctr"/>
            </a:p>
          </p:txBody>
        </p:sp>
        <p:sp>
          <p:nvSpPr>
            <p:cNvPr id="46" name="iSļíďê"/>
            <p:cNvSpPr/>
            <p:nvPr/>
          </p:nvSpPr>
          <p:spPr bwMode="auto">
            <a:xfrm>
              <a:off x="4751733" y="4492689"/>
              <a:ext cx="1477566" cy="1655577"/>
            </a:xfrm>
            <a:custGeom>
              <a:avLst/>
              <a:gdLst/>
              <a:ahLst/>
              <a:cxnLst>
                <a:cxn ang="0">
                  <a:pos x="133" y="242"/>
                </a:cxn>
                <a:cxn ang="0">
                  <a:pos x="133" y="177"/>
                </a:cxn>
                <a:cxn ang="0">
                  <a:pos x="137" y="178"/>
                </a:cxn>
                <a:cxn ang="0">
                  <a:pos x="141" y="242"/>
                </a:cxn>
                <a:cxn ang="0">
                  <a:pos x="216" y="242"/>
                </a:cxn>
                <a:cxn ang="0">
                  <a:pos x="212" y="69"/>
                </a:cxn>
                <a:cxn ang="0">
                  <a:pos x="159" y="9"/>
                </a:cxn>
                <a:cxn ang="0">
                  <a:pos x="77" y="0"/>
                </a:cxn>
                <a:cxn ang="0">
                  <a:pos x="0" y="221"/>
                </a:cxn>
                <a:cxn ang="0">
                  <a:pos x="0" y="242"/>
                </a:cxn>
                <a:cxn ang="0">
                  <a:pos x="133" y="242"/>
                </a:cxn>
              </a:cxnLst>
              <a:rect l="0" t="0" r="r" b="b"/>
              <a:pathLst>
                <a:path w="216" h="242">
                  <a:moveTo>
                    <a:pt x="133" y="242"/>
                  </a:moveTo>
                  <a:cubicBezTo>
                    <a:pt x="133" y="177"/>
                    <a:pt x="133" y="177"/>
                    <a:pt x="133" y="177"/>
                  </a:cubicBezTo>
                  <a:cubicBezTo>
                    <a:pt x="133" y="175"/>
                    <a:pt x="136" y="176"/>
                    <a:pt x="137" y="178"/>
                  </a:cubicBezTo>
                  <a:cubicBezTo>
                    <a:pt x="141" y="242"/>
                    <a:pt x="141" y="242"/>
                    <a:pt x="141" y="242"/>
                  </a:cubicBezTo>
                  <a:cubicBezTo>
                    <a:pt x="216" y="242"/>
                    <a:pt x="216" y="242"/>
                    <a:pt x="216" y="242"/>
                  </a:cubicBezTo>
                  <a:cubicBezTo>
                    <a:pt x="212" y="69"/>
                    <a:pt x="212" y="69"/>
                    <a:pt x="212" y="69"/>
                  </a:cubicBezTo>
                  <a:cubicBezTo>
                    <a:pt x="212" y="34"/>
                    <a:pt x="192" y="16"/>
                    <a:pt x="159" y="9"/>
                  </a:cubicBezTo>
                  <a:cubicBezTo>
                    <a:pt x="77" y="0"/>
                    <a:pt x="77" y="0"/>
                    <a:pt x="77" y="0"/>
                  </a:cubicBezTo>
                  <a:cubicBezTo>
                    <a:pt x="0" y="221"/>
                    <a:pt x="0" y="221"/>
                    <a:pt x="0" y="221"/>
                  </a:cubicBezTo>
                  <a:cubicBezTo>
                    <a:pt x="0" y="242"/>
                    <a:pt x="0" y="242"/>
                    <a:pt x="0" y="242"/>
                  </a:cubicBezTo>
                  <a:lnTo>
                    <a:pt x="133" y="242"/>
                  </a:lnTo>
                  <a:close/>
                </a:path>
              </a:pathLst>
            </a:custGeom>
            <a:solidFill>
              <a:srgbClr val="0EB3BF"/>
            </a:solidFill>
            <a:ln w="9525">
              <a:noFill/>
              <a:round/>
            </a:ln>
          </p:spPr>
          <p:txBody>
            <a:bodyPr anchor="ctr"/>
            <a:lstStyle/>
            <a:p>
              <a:pPr algn="ctr"/>
            </a:p>
          </p:txBody>
        </p:sp>
        <p:sp>
          <p:nvSpPr>
            <p:cNvPr id="47" name="í$ḷíḍè"/>
            <p:cNvSpPr/>
            <p:nvPr/>
          </p:nvSpPr>
          <p:spPr bwMode="auto">
            <a:xfrm>
              <a:off x="4751733" y="4451738"/>
              <a:ext cx="608410" cy="1552782"/>
            </a:xfrm>
            <a:custGeom>
              <a:avLst/>
              <a:gdLst/>
              <a:ahLst/>
              <a:cxnLst>
                <a:cxn ang="0">
                  <a:pos x="61" y="0"/>
                </a:cxn>
                <a:cxn ang="0">
                  <a:pos x="84" y="4"/>
                </a:cxn>
                <a:cxn ang="0">
                  <a:pos x="87" y="5"/>
                </a:cxn>
                <a:cxn ang="0">
                  <a:pos x="87" y="8"/>
                </a:cxn>
                <a:cxn ang="0">
                  <a:pos x="89" y="57"/>
                </a:cxn>
                <a:cxn ang="0">
                  <a:pos x="80" y="67"/>
                </a:cxn>
                <a:cxn ang="0">
                  <a:pos x="55" y="67"/>
                </a:cxn>
                <a:cxn ang="0">
                  <a:pos x="78" y="97"/>
                </a:cxn>
                <a:cxn ang="0">
                  <a:pos x="77" y="115"/>
                </a:cxn>
                <a:cxn ang="0">
                  <a:pos x="0" y="227"/>
                </a:cxn>
                <a:cxn ang="0">
                  <a:pos x="61" y="0"/>
                </a:cxn>
              </a:cxnLst>
              <a:rect l="0" t="0" r="r" b="b"/>
              <a:pathLst>
                <a:path w="89" h="227">
                  <a:moveTo>
                    <a:pt x="61" y="0"/>
                  </a:moveTo>
                  <a:cubicBezTo>
                    <a:pt x="84" y="4"/>
                    <a:pt x="84" y="4"/>
                    <a:pt x="84" y="4"/>
                  </a:cubicBezTo>
                  <a:cubicBezTo>
                    <a:pt x="84" y="4"/>
                    <a:pt x="86" y="5"/>
                    <a:pt x="87" y="5"/>
                  </a:cubicBezTo>
                  <a:cubicBezTo>
                    <a:pt x="87" y="6"/>
                    <a:pt x="87" y="8"/>
                    <a:pt x="87" y="8"/>
                  </a:cubicBezTo>
                  <a:cubicBezTo>
                    <a:pt x="89" y="57"/>
                    <a:pt x="89" y="57"/>
                    <a:pt x="89" y="57"/>
                  </a:cubicBezTo>
                  <a:cubicBezTo>
                    <a:pt x="89" y="66"/>
                    <a:pt x="88" y="67"/>
                    <a:pt x="80" y="67"/>
                  </a:cubicBezTo>
                  <a:cubicBezTo>
                    <a:pt x="55" y="67"/>
                    <a:pt x="55" y="67"/>
                    <a:pt x="55" y="67"/>
                  </a:cubicBezTo>
                  <a:cubicBezTo>
                    <a:pt x="78" y="97"/>
                    <a:pt x="78" y="97"/>
                    <a:pt x="78" y="97"/>
                  </a:cubicBezTo>
                  <a:cubicBezTo>
                    <a:pt x="86" y="105"/>
                    <a:pt x="82" y="109"/>
                    <a:pt x="77" y="115"/>
                  </a:cubicBezTo>
                  <a:cubicBezTo>
                    <a:pt x="0" y="227"/>
                    <a:pt x="0" y="227"/>
                    <a:pt x="0" y="227"/>
                  </a:cubicBezTo>
                  <a:lnTo>
                    <a:pt x="61" y="0"/>
                  </a:lnTo>
                  <a:close/>
                </a:path>
              </a:pathLst>
            </a:custGeom>
            <a:solidFill>
              <a:srgbClr val="1ECFD3"/>
            </a:solidFill>
            <a:ln w="9525">
              <a:noFill/>
              <a:round/>
            </a:ln>
          </p:spPr>
          <p:txBody>
            <a:bodyPr anchor="ctr"/>
            <a:lstStyle/>
            <a:p>
              <a:pPr algn="ctr"/>
            </a:p>
          </p:txBody>
        </p:sp>
        <p:sp>
          <p:nvSpPr>
            <p:cNvPr id="48" name="ï$ḻiḓe"/>
            <p:cNvSpPr/>
            <p:nvPr/>
          </p:nvSpPr>
          <p:spPr bwMode="auto">
            <a:xfrm>
              <a:off x="3171372" y="4485167"/>
              <a:ext cx="1470881" cy="1669784"/>
            </a:xfrm>
            <a:custGeom>
              <a:avLst/>
              <a:gdLst/>
              <a:ahLst/>
              <a:cxnLst>
                <a:cxn ang="0">
                  <a:pos x="81" y="179"/>
                </a:cxn>
                <a:cxn ang="0">
                  <a:pos x="84" y="178"/>
                </a:cxn>
                <a:cxn ang="0">
                  <a:pos x="84" y="244"/>
                </a:cxn>
                <a:cxn ang="0">
                  <a:pos x="215" y="244"/>
                </a:cxn>
                <a:cxn ang="0">
                  <a:pos x="215" y="222"/>
                </a:cxn>
                <a:cxn ang="0">
                  <a:pos x="204" y="186"/>
                </a:cxn>
                <a:cxn ang="0">
                  <a:pos x="140" y="0"/>
                </a:cxn>
                <a:cxn ang="0">
                  <a:pos x="59" y="10"/>
                </a:cxn>
                <a:cxn ang="0">
                  <a:pos x="6" y="70"/>
                </a:cxn>
                <a:cxn ang="0">
                  <a:pos x="0" y="243"/>
                </a:cxn>
                <a:cxn ang="0">
                  <a:pos x="76" y="243"/>
                </a:cxn>
                <a:cxn ang="0">
                  <a:pos x="81" y="179"/>
                </a:cxn>
              </a:cxnLst>
              <a:rect l="0" t="0" r="r" b="b"/>
              <a:pathLst>
                <a:path w="215" h="244">
                  <a:moveTo>
                    <a:pt x="81" y="179"/>
                  </a:moveTo>
                  <a:cubicBezTo>
                    <a:pt x="81" y="177"/>
                    <a:pt x="84" y="176"/>
                    <a:pt x="84" y="178"/>
                  </a:cubicBezTo>
                  <a:cubicBezTo>
                    <a:pt x="84" y="244"/>
                    <a:pt x="84" y="244"/>
                    <a:pt x="84" y="244"/>
                  </a:cubicBezTo>
                  <a:cubicBezTo>
                    <a:pt x="215" y="244"/>
                    <a:pt x="215" y="244"/>
                    <a:pt x="215" y="244"/>
                  </a:cubicBezTo>
                  <a:cubicBezTo>
                    <a:pt x="215" y="222"/>
                    <a:pt x="215" y="222"/>
                    <a:pt x="215" y="222"/>
                  </a:cubicBezTo>
                  <a:cubicBezTo>
                    <a:pt x="215" y="222"/>
                    <a:pt x="207" y="196"/>
                    <a:pt x="204" y="186"/>
                  </a:cubicBezTo>
                  <a:cubicBezTo>
                    <a:pt x="140" y="0"/>
                    <a:pt x="140" y="0"/>
                    <a:pt x="140" y="0"/>
                  </a:cubicBezTo>
                  <a:cubicBezTo>
                    <a:pt x="59" y="10"/>
                    <a:pt x="59" y="10"/>
                    <a:pt x="59" y="10"/>
                  </a:cubicBezTo>
                  <a:cubicBezTo>
                    <a:pt x="26" y="17"/>
                    <a:pt x="6" y="35"/>
                    <a:pt x="6" y="70"/>
                  </a:cubicBezTo>
                  <a:cubicBezTo>
                    <a:pt x="0" y="243"/>
                    <a:pt x="0" y="243"/>
                    <a:pt x="0" y="243"/>
                  </a:cubicBezTo>
                  <a:cubicBezTo>
                    <a:pt x="76" y="243"/>
                    <a:pt x="76" y="243"/>
                    <a:pt x="76" y="243"/>
                  </a:cubicBezTo>
                  <a:lnTo>
                    <a:pt x="81" y="179"/>
                  </a:lnTo>
                  <a:close/>
                </a:path>
              </a:pathLst>
            </a:custGeom>
            <a:solidFill>
              <a:srgbClr val="0EB3BF"/>
            </a:solidFill>
            <a:ln w="9525">
              <a:noFill/>
              <a:round/>
            </a:ln>
          </p:spPr>
          <p:txBody>
            <a:bodyPr anchor="ctr"/>
            <a:lstStyle/>
            <a:p>
              <a:pPr algn="ctr"/>
            </a:p>
          </p:txBody>
        </p:sp>
        <p:sp>
          <p:nvSpPr>
            <p:cNvPr id="49" name="ïşļîḓè"/>
            <p:cNvSpPr/>
            <p:nvPr/>
          </p:nvSpPr>
          <p:spPr bwMode="auto">
            <a:xfrm>
              <a:off x="4026321" y="4458424"/>
              <a:ext cx="615931" cy="1546096"/>
            </a:xfrm>
            <a:custGeom>
              <a:avLst/>
              <a:gdLst/>
              <a:ahLst/>
              <a:cxnLst>
                <a:cxn ang="0">
                  <a:pos x="28" y="0"/>
                </a:cxn>
                <a:cxn ang="0">
                  <a:pos x="5" y="3"/>
                </a:cxn>
                <a:cxn ang="0">
                  <a:pos x="2" y="5"/>
                </a:cxn>
                <a:cxn ang="0">
                  <a:pos x="1" y="8"/>
                </a:cxn>
                <a:cxn ang="0">
                  <a:pos x="0" y="56"/>
                </a:cxn>
                <a:cxn ang="0">
                  <a:pos x="8" y="66"/>
                </a:cxn>
                <a:cxn ang="0">
                  <a:pos x="34" y="66"/>
                </a:cxn>
                <a:cxn ang="0">
                  <a:pos x="10" y="96"/>
                </a:cxn>
                <a:cxn ang="0">
                  <a:pos x="11" y="114"/>
                </a:cxn>
                <a:cxn ang="0">
                  <a:pos x="90" y="226"/>
                </a:cxn>
                <a:cxn ang="0">
                  <a:pos x="28" y="0"/>
                </a:cxn>
              </a:cxnLst>
              <a:rect l="0" t="0" r="r" b="b"/>
              <a:pathLst>
                <a:path w="90" h="226">
                  <a:moveTo>
                    <a:pt x="28" y="0"/>
                  </a:moveTo>
                  <a:cubicBezTo>
                    <a:pt x="5" y="3"/>
                    <a:pt x="5" y="3"/>
                    <a:pt x="5" y="3"/>
                  </a:cubicBezTo>
                  <a:cubicBezTo>
                    <a:pt x="5" y="3"/>
                    <a:pt x="3" y="4"/>
                    <a:pt x="2" y="5"/>
                  </a:cubicBezTo>
                  <a:cubicBezTo>
                    <a:pt x="2" y="6"/>
                    <a:pt x="1" y="8"/>
                    <a:pt x="1" y="8"/>
                  </a:cubicBezTo>
                  <a:cubicBezTo>
                    <a:pt x="0" y="56"/>
                    <a:pt x="0" y="56"/>
                    <a:pt x="0" y="56"/>
                  </a:cubicBezTo>
                  <a:cubicBezTo>
                    <a:pt x="0" y="65"/>
                    <a:pt x="1" y="66"/>
                    <a:pt x="8" y="66"/>
                  </a:cubicBezTo>
                  <a:cubicBezTo>
                    <a:pt x="34" y="66"/>
                    <a:pt x="34" y="66"/>
                    <a:pt x="34" y="66"/>
                  </a:cubicBezTo>
                  <a:cubicBezTo>
                    <a:pt x="10" y="96"/>
                    <a:pt x="10" y="96"/>
                    <a:pt x="10" y="96"/>
                  </a:cubicBezTo>
                  <a:cubicBezTo>
                    <a:pt x="3" y="104"/>
                    <a:pt x="7" y="108"/>
                    <a:pt x="11" y="114"/>
                  </a:cubicBezTo>
                  <a:cubicBezTo>
                    <a:pt x="90" y="226"/>
                    <a:pt x="90" y="226"/>
                    <a:pt x="90" y="226"/>
                  </a:cubicBezTo>
                  <a:lnTo>
                    <a:pt x="28" y="0"/>
                  </a:lnTo>
                  <a:close/>
                </a:path>
              </a:pathLst>
            </a:custGeom>
            <a:solidFill>
              <a:srgbClr val="1ECFD3"/>
            </a:solidFill>
            <a:ln w="9525">
              <a:noFill/>
              <a:round/>
            </a:ln>
          </p:spPr>
          <p:txBody>
            <a:bodyPr anchor="ctr"/>
            <a:lstStyle/>
            <a:p>
              <a:pPr algn="ctr"/>
            </a:p>
          </p:txBody>
        </p:sp>
        <p:sp>
          <p:nvSpPr>
            <p:cNvPr id="50" name="ïṧḻíḍê"/>
            <p:cNvSpPr/>
            <p:nvPr/>
          </p:nvSpPr>
          <p:spPr bwMode="auto">
            <a:xfrm>
              <a:off x="5538152" y="1174015"/>
              <a:ext cx="1730792" cy="1566989"/>
            </a:xfrm>
            <a:custGeom>
              <a:avLst/>
              <a:gdLst/>
              <a:ahLst/>
              <a:cxnLst>
                <a:cxn ang="0">
                  <a:pos x="253" y="96"/>
                </a:cxn>
                <a:cxn ang="0">
                  <a:pos x="105" y="190"/>
                </a:cxn>
                <a:cxn ang="0">
                  <a:pos x="36" y="221"/>
                </a:cxn>
                <a:cxn ang="0">
                  <a:pos x="40" y="166"/>
                </a:cxn>
                <a:cxn ang="0">
                  <a:pos x="0" y="96"/>
                </a:cxn>
                <a:cxn ang="0">
                  <a:pos x="127" y="0"/>
                </a:cxn>
                <a:cxn ang="0">
                  <a:pos x="253" y="96"/>
                </a:cxn>
              </a:cxnLst>
              <a:rect l="0" t="0" r="r" b="b"/>
              <a:pathLst>
                <a:path w="253" h="229">
                  <a:moveTo>
                    <a:pt x="253" y="96"/>
                  </a:moveTo>
                  <a:cubicBezTo>
                    <a:pt x="253" y="150"/>
                    <a:pt x="207" y="194"/>
                    <a:pt x="105" y="190"/>
                  </a:cubicBezTo>
                  <a:cubicBezTo>
                    <a:pt x="83" y="189"/>
                    <a:pt x="54" y="229"/>
                    <a:pt x="36" y="221"/>
                  </a:cubicBezTo>
                  <a:cubicBezTo>
                    <a:pt x="27" y="217"/>
                    <a:pt x="47" y="172"/>
                    <a:pt x="40" y="166"/>
                  </a:cubicBezTo>
                  <a:cubicBezTo>
                    <a:pt x="15" y="149"/>
                    <a:pt x="0" y="124"/>
                    <a:pt x="0" y="96"/>
                  </a:cubicBezTo>
                  <a:cubicBezTo>
                    <a:pt x="0" y="43"/>
                    <a:pt x="57" y="0"/>
                    <a:pt x="127" y="0"/>
                  </a:cubicBezTo>
                  <a:cubicBezTo>
                    <a:pt x="196" y="0"/>
                    <a:pt x="253" y="43"/>
                    <a:pt x="253" y="96"/>
                  </a:cubicBezTo>
                  <a:close/>
                </a:path>
              </a:pathLst>
            </a:custGeom>
            <a:solidFill>
              <a:srgbClr val="F5F5F5"/>
            </a:solidFill>
            <a:ln w="9525">
              <a:noFill/>
              <a:round/>
            </a:ln>
          </p:spPr>
          <p:txBody>
            <a:bodyPr anchor="ctr"/>
            <a:lstStyle/>
            <a:p>
              <a:pPr algn="ctr"/>
            </a:p>
          </p:txBody>
        </p:sp>
        <p:sp>
          <p:nvSpPr>
            <p:cNvPr id="51" name="ïşḷîḑé"/>
            <p:cNvSpPr/>
            <p:nvPr/>
          </p:nvSpPr>
          <p:spPr bwMode="auto">
            <a:xfrm>
              <a:off x="5462937" y="1119692"/>
              <a:ext cx="2230557" cy="1977331"/>
            </a:xfrm>
            <a:custGeom>
              <a:avLst/>
              <a:gdLst/>
              <a:ahLst/>
              <a:cxnLst>
                <a:cxn ang="0">
                  <a:pos x="326" y="176"/>
                </a:cxn>
                <a:cxn ang="0">
                  <a:pos x="277" y="105"/>
                </a:cxn>
                <a:cxn ang="0">
                  <a:pos x="277" y="105"/>
                </a:cxn>
                <a:cxn ang="0">
                  <a:pos x="139" y="0"/>
                </a:cxn>
                <a:cxn ang="0">
                  <a:pos x="0" y="105"/>
                </a:cxn>
                <a:cxn ang="0">
                  <a:pos x="38" y="178"/>
                </a:cxn>
                <a:cxn ang="0">
                  <a:pos x="31" y="235"/>
                </a:cxn>
                <a:cxn ang="0">
                  <a:pos x="36" y="245"/>
                </a:cxn>
                <a:cxn ang="0">
                  <a:pos x="41" y="246"/>
                </a:cxn>
                <a:cxn ang="0">
                  <a:pos x="46" y="245"/>
                </a:cxn>
                <a:cxn ang="0">
                  <a:pos x="106" y="208"/>
                </a:cxn>
                <a:cxn ang="0">
                  <a:pos x="113" y="208"/>
                </a:cxn>
                <a:cxn ang="0">
                  <a:pos x="239" y="258"/>
                </a:cxn>
                <a:cxn ang="0">
                  <a:pos x="286" y="287"/>
                </a:cxn>
                <a:cxn ang="0">
                  <a:pos x="291" y="289"/>
                </a:cxn>
                <a:cxn ang="0">
                  <a:pos x="297" y="287"/>
                </a:cxn>
                <a:cxn ang="0">
                  <a:pos x="301" y="278"/>
                </a:cxn>
                <a:cxn ang="0">
                  <a:pos x="296" y="233"/>
                </a:cxn>
                <a:cxn ang="0">
                  <a:pos x="326" y="176"/>
                </a:cxn>
                <a:cxn ang="0">
                  <a:pos x="107" y="188"/>
                </a:cxn>
                <a:cxn ang="0">
                  <a:pos x="100" y="189"/>
                </a:cxn>
                <a:cxn ang="0">
                  <a:pos x="53" y="218"/>
                </a:cxn>
                <a:cxn ang="0">
                  <a:pos x="58" y="174"/>
                </a:cxn>
                <a:cxn ang="0">
                  <a:pos x="54" y="165"/>
                </a:cxn>
                <a:cxn ang="0">
                  <a:pos x="20" y="105"/>
                </a:cxn>
                <a:cxn ang="0">
                  <a:pos x="139" y="19"/>
                </a:cxn>
                <a:cxn ang="0">
                  <a:pos x="257" y="105"/>
                </a:cxn>
                <a:cxn ang="0">
                  <a:pos x="139" y="191"/>
                </a:cxn>
                <a:cxn ang="0">
                  <a:pos x="107" y="188"/>
                </a:cxn>
                <a:cxn ang="0">
                  <a:pos x="280" y="221"/>
                </a:cxn>
                <a:cxn ang="0">
                  <a:pos x="276" y="230"/>
                </a:cxn>
                <a:cxn ang="0">
                  <a:pos x="280" y="260"/>
                </a:cxn>
                <a:cxn ang="0">
                  <a:pos x="246" y="240"/>
                </a:cxn>
                <a:cxn ang="0">
                  <a:pos x="241" y="238"/>
                </a:cxn>
                <a:cxn ang="0">
                  <a:pos x="239" y="238"/>
                </a:cxn>
                <a:cxn ang="0">
                  <a:pos x="138" y="211"/>
                </a:cxn>
                <a:cxn ang="0">
                  <a:pos x="139" y="211"/>
                </a:cxn>
                <a:cxn ang="0">
                  <a:pos x="274" y="126"/>
                </a:cxn>
                <a:cxn ang="0">
                  <a:pos x="306" y="176"/>
                </a:cxn>
                <a:cxn ang="0">
                  <a:pos x="280" y="221"/>
                </a:cxn>
              </a:cxnLst>
              <a:rect l="0" t="0" r="r" b="b"/>
              <a:pathLst>
                <a:path w="326" h="289">
                  <a:moveTo>
                    <a:pt x="326" y="176"/>
                  </a:moveTo>
                  <a:cubicBezTo>
                    <a:pt x="326" y="147"/>
                    <a:pt x="308" y="121"/>
                    <a:pt x="277" y="105"/>
                  </a:cubicBezTo>
                  <a:cubicBezTo>
                    <a:pt x="277" y="105"/>
                    <a:pt x="277" y="105"/>
                    <a:pt x="277" y="105"/>
                  </a:cubicBezTo>
                  <a:cubicBezTo>
                    <a:pt x="277" y="47"/>
                    <a:pt x="215" y="0"/>
                    <a:pt x="139" y="0"/>
                  </a:cubicBezTo>
                  <a:cubicBezTo>
                    <a:pt x="62" y="0"/>
                    <a:pt x="0" y="47"/>
                    <a:pt x="0" y="105"/>
                  </a:cubicBezTo>
                  <a:cubicBezTo>
                    <a:pt x="0" y="133"/>
                    <a:pt x="13" y="158"/>
                    <a:pt x="38" y="178"/>
                  </a:cubicBezTo>
                  <a:cubicBezTo>
                    <a:pt x="31" y="235"/>
                    <a:pt x="31" y="235"/>
                    <a:pt x="31" y="235"/>
                  </a:cubicBezTo>
                  <a:cubicBezTo>
                    <a:pt x="31" y="239"/>
                    <a:pt x="33" y="243"/>
                    <a:pt x="36" y="245"/>
                  </a:cubicBezTo>
                  <a:cubicBezTo>
                    <a:pt x="37" y="246"/>
                    <a:pt x="39" y="246"/>
                    <a:pt x="41" y="246"/>
                  </a:cubicBezTo>
                  <a:cubicBezTo>
                    <a:pt x="43" y="246"/>
                    <a:pt x="44" y="246"/>
                    <a:pt x="46" y="245"/>
                  </a:cubicBezTo>
                  <a:cubicBezTo>
                    <a:pt x="106" y="208"/>
                    <a:pt x="106" y="208"/>
                    <a:pt x="106" y="208"/>
                  </a:cubicBezTo>
                  <a:cubicBezTo>
                    <a:pt x="109" y="208"/>
                    <a:pt x="111" y="208"/>
                    <a:pt x="113" y="208"/>
                  </a:cubicBezTo>
                  <a:cubicBezTo>
                    <a:pt x="133" y="245"/>
                    <a:pt x="186" y="268"/>
                    <a:pt x="239" y="258"/>
                  </a:cubicBezTo>
                  <a:cubicBezTo>
                    <a:pt x="286" y="287"/>
                    <a:pt x="286" y="287"/>
                    <a:pt x="286" y="287"/>
                  </a:cubicBezTo>
                  <a:cubicBezTo>
                    <a:pt x="288" y="288"/>
                    <a:pt x="290" y="289"/>
                    <a:pt x="291" y="289"/>
                  </a:cubicBezTo>
                  <a:cubicBezTo>
                    <a:pt x="293" y="289"/>
                    <a:pt x="295" y="288"/>
                    <a:pt x="297" y="287"/>
                  </a:cubicBezTo>
                  <a:cubicBezTo>
                    <a:pt x="300" y="285"/>
                    <a:pt x="302" y="281"/>
                    <a:pt x="301" y="278"/>
                  </a:cubicBezTo>
                  <a:cubicBezTo>
                    <a:pt x="296" y="233"/>
                    <a:pt x="296" y="233"/>
                    <a:pt x="296" y="233"/>
                  </a:cubicBezTo>
                  <a:cubicBezTo>
                    <a:pt x="315" y="218"/>
                    <a:pt x="326" y="197"/>
                    <a:pt x="326" y="176"/>
                  </a:cubicBezTo>
                  <a:close/>
                  <a:moveTo>
                    <a:pt x="107" y="188"/>
                  </a:moveTo>
                  <a:cubicBezTo>
                    <a:pt x="104" y="187"/>
                    <a:pt x="102" y="188"/>
                    <a:pt x="100" y="189"/>
                  </a:cubicBezTo>
                  <a:cubicBezTo>
                    <a:pt x="53" y="218"/>
                    <a:pt x="53" y="218"/>
                    <a:pt x="53" y="218"/>
                  </a:cubicBezTo>
                  <a:cubicBezTo>
                    <a:pt x="58" y="174"/>
                    <a:pt x="58" y="174"/>
                    <a:pt x="58" y="174"/>
                  </a:cubicBezTo>
                  <a:cubicBezTo>
                    <a:pt x="58" y="171"/>
                    <a:pt x="57" y="167"/>
                    <a:pt x="54" y="165"/>
                  </a:cubicBezTo>
                  <a:cubicBezTo>
                    <a:pt x="32" y="149"/>
                    <a:pt x="20" y="128"/>
                    <a:pt x="20" y="105"/>
                  </a:cubicBezTo>
                  <a:cubicBezTo>
                    <a:pt x="20" y="58"/>
                    <a:pt x="73" y="19"/>
                    <a:pt x="139" y="19"/>
                  </a:cubicBezTo>
                  <a:cubicBezTo>
                    <a:pt x="204" y="19"/>
                    <a:pt x="257" y="58"/>
                    <a:pt x="257" y="105"/>
                  </a:cubicBezTo>
                  <a:cubicBezTo>
                    <a:pt x="257" y="153"/>
                    <a:pt x="204" y="191"/>
                    <a:pt x="139" y="191"/>
                  </a:cubicBezTo>
                  <a:cubicBezTo>
                    <a:pt x="128" y="191"/>
                    <a:pt x="117" y="190"/>
                    <a:pt x="107" y="188"/>
                  </a:cubicBezTo>
                  <a:close/>
                  <a:moveTo>
                    <a:pt x="280" y="221"/>
                  </a:moveTo>
                  <a:cubicBezTo>
                    <a:pt x="277" y="223"/>
                    <a:pt x="276" y="227"/>
                    <a:pt x="276" y="230"/>
                  </a:cubicBezTo>
                  <a:cubicBezTo>
                    <a:pt x="280" y="260"/>
                    <a:pt x="280" y="260"/>
                    <a:pt x="280" y="260"/>
                  </a:cubicBezTo>
                  <a:cubicBezTo>
                    <a:pt x="246" y="240"/>
                    <a:pt x="246" y="240"/>
                    <a:pt x="246" y="240"/>
                  </a:cubicBezTo>
                  <a:cubicBezTo>
                    <a:pt x="245" y="239"/>
                    <a:pt x="243" y="238"/>
                    <a:pt x="241" y="238"/>
                  </a:cubicBezTo>
                  <a:cubicBezTo>
                    <a:pt x="241" y="238"/>
                    <a:pt x="240" y="238"/>
                    <a:pt x="239" y="238"/>
                  </a:cubicBezTo>
                  <a:cubicBezTo>
                    <a:pt x="199" y="247"/>
                    <a:pt x="158" y="234"/>
                    <a:pt x="138" y="211"/>
                  </a:cubicBezTo>
                  <a:cubicBezTo>
                    <a:pt x="139" y="211"/>
                    <a:pt x="139" y="211"/>
                    <a:pt x="139" y="211"/>
                  </a:cubicBezTo>
                  <a:cubicBezTo>
                    <a:pt x="205" y="211"/>
                    <a:pt x="261" y="174"/>
                    <a:pt x="274" y="126"/>
                  </a:cubicBezTo>
                  <a:cubicBezTo>
                    <a:pt x="294" y="139"/>
                    <a:pt x="306" y="156"/>
                    <a:pt x="306" y="176"/>
                  </a:cubicBezTo>
                  <a:cubicBezTo>
                    <a:pt x="306" y="193"/>
                    <a:pt x="297" y="209"/>
                    <a:pt x="280" y="221"/>
                  </a:cubicBezTo>
                  <a:close/>
                </a:path>
              </a:pathLst>
            </a:custGeom>
            <a:solidFill>
              <a:srgbClr val="0EB3BF"/>
            </a:solidFill>
            <a:ln w="9525">
              <a:noFill/>
              <a:round/>
            </a:ln>
          </p:spPr>
          <p:txBody>
            <a:bodyPr anchor="ctr"/>
            <a:lstStyle/>
            <a:p>
              <a:pPr algn="ctr"/>
            </a:p>
          </p:txBody>
        </p:sp>
        <p:sp>
          <p:nvSpPr>
            <p:cNvPr id="52" name="îslïdé"/>
            <p:cNvSpPr/>
            <p:nvPr/>
          </p:nvSpPr>
          <p:spPr bwMode="auto">
            <a:xfrm>
              <a:off x="5804749" y="1742309"/>
              <a:ext cx="259911" cy="259912"/>
            </a:xfrm>
            <a:prstGeom prst="ellipse">
              <a:avLst/>
            </a:prstGeom>
            <a:solidFill>
              <a:srgbClr val="D8562E"/>
            </a:solidFill>
            <a:ln w="9525">
              <a:noFill/>
              <a:round/>
            </a:ln>
          </p:spPr>
          <p:txBody>
            <a:bodyPr anchor="ctr"/>
            <a:lstStyle/>
            <a:p>
              <a:pPr algn="ctr"/>
            </a:p>
          </p:txBody>
        </p:sp>
        <p:sp>
          <p:nvSpPr>
            <p:cNvPr id="53" name="îṥ1iḍê"/>
            <p:cNvSpPr/>
            <p:nvPr/>
          </p:nvSpPr>
          <p:spPr bwMode="auto">
            <a:xfrm>
              <a:off x="6249356" y="1742309"/>
              <a:ext cx="260747" cy="259912"/>
            </a:xfrm>
            <a:prstGeom prst="ellipse">
              <a:avLst/>
            </a:prstGeom>
            <a:solidFill>
              <a:srgbClr val="D8562E"/>
            </a:solidFill>
            <a:ln w="9525">
              <a:noFill/>
              <a:round/>
            </a:ln>
          </p:spPr>
          <p:txBody>
            <a:bodyPr anchor="ctr"/>
            <a:lstStyle/>
            <a:p>
              <a:pPr algn="ctr"/>
            </a:p>
          </p:txBody>
        </p:sp>
        <p:sp>
          <p:nvSpPr>
            <p:cNvPr id="54" name="íš1îďé"/>
            <p:cNvSpPr/>
            <p:nvPr/>
          </p:nvSpPr>
          <p:spPr bwMode="auto">
            <a:xfrm>
              <a:off x="6694799" y="1742309"/>
              <a:ext cx="259911" cy="259912"/>
            </a:xfrm>
            <a:prstGeom prst="ellipse">
              <a:avLst/>
            </a:prstGeom>
            <a:solidFill>
              <a:srgbClr val="D8562E"/>
            </a:solidFill>
            <a:ln w="9525">
              <a:noFill/>
              <a:round/>
            </a:ln>
          </p:spPr>
          <p:txBody>
            <a:bodyPr anchor="ctr"/>
            <a:lstStyle/>
            <a:p>
              <a:pPr algn="ctr"/>
            </a:p>
          </p:txBody>
        </p:sp>
        <p:sp>
          <p:nvSpPr>
            <p:cNvPr id="55" name="îṡlíḑe"/>
            <p:cNvSpPr/>
            <p:nvPr/>
          </p:nvSpPr>
          <p:spPr bwMode="auto">
            <a:xfrm>
              <a:off x="4217703" y="4267042"/>
              <a:ext cx="478872" cy="724576"/>
            </a:xfrm>
            <a:custGeom>
              <a:avLst/>
              <a:gdLst/>
              <a:ahLst/>
              <a:cxnLst>
                <a:cxn ang="0">
                  <a:pos x="22" y="6"/>
                </a:cxn>
                <a:cxn ang="0">
                  <a:pos x="14" y="5"/>
                </a:cxn>
                <a:cxn ang="0">
                  <a:pos x="0" y="28"/>
                </a:cxn>
                <a:cxn ang="0">
                  <a:pos x="43" y="101"/>
                </a:cxn>
                <a:cxn ang="0">
                  <a:pos x="51" y="100"/>
                </a:cxn>
                <a:cxn ang="0">
                  <a:pos x="70" y="61"/>
                </a:cxn>
                <a:cxn ang="0">
                  <a:pos x="22" y="6"/>
                </a:cxn>
              </a:cxnLst>
              <a:rect l="0" t="0" r="r" b="b"/>
              <a:pathLst>
                <a:path w="70" h="106">
                  <a:moveTo>
                    <a:pt x="22" y="6"/>
                  </a:moveTo>
                  <a:cubicBezTo>
                    <a:pt x="18" y="1"/>
                    <a:pt x="16" y="0"/>
                    <a:pt x="14" y="5"/>
                  </a:cubicBezTo>
                  <a:cubicBezTo>
                    <a:pt x="0" y="28"/>
                    <a:pt x="0" y="28"/>
                    <a:pt x="0" y="28"/>
                  </a:cubicBezTo>
                  <a:cubicBezTo>
                    <a:pt x="43" y="101"/>
                    <a:pt x="43" y="101"/>
                    <a:pt x="43" y="101"/>
                  </a:cubicBezTo>
                  <a:cubicBezTo>
                    <a:pt x="46" y="106"/>
                    <a:pt x="48" y="105"/>
                    <a:pt x="51" y="100"/>
                  </a:cubicBezTo>
                  <a:cubicBezTo>
                    <a:pt x="70" y="61"/>
                    <a:pt x="70" y="61"/>
                    <a:pt x="70" y="61"/>
                  </a:cubicBezTo>
                  <a:lnTo>
                    <a:pt x="22" y="6"/>
                  </a:lnTo>
                  <a:close/>
                </a:path>
              </a:pathLst>
            </a:custGeom>
            <a:solidFill>
              <a:srgbClr val="FFFFFF"/>
            </a:solidFill>
            <a:ln w="9525">
              <a:noFill/>
              <a:round/>
            </a:ln>
          </p:spPr>
          <p:txBody>
            <a:bodyPr anchor="ctr"/>
            <a:lstStyle/>
            <a:p>
              <a:pPr algn="ctr"/>
            </a:p>
          </p:txBody>
        </p:sp>
        <p:sp>
          <p:nvSpPr>
            <p:cNvPr id="56" name="ïşḻïḍè"/>
            <p:cNvSpPr/>
            <p:nvPr/>
          </p:nvSpPr>
          <p:spPr bwMode="auto">
            <a:xfrm>
              <a:off x="4689889" y="4267042"/>
              <a:ext cx="478872" cy="724576"/>
            </a:xfrm>
            <a:custGeom>
              <a:avLst/>
              <a:gdLst/>
              <a:ahLst/>
              <a:cxnLst>
                <a:cxn ang="0">
                  <a:pos x="48" y="6"/>
                </a:cxn>
                <a:cxn ang="0">
                  <a:pos x="56" y="5"/>
                </a:cxn>
                <a:cxn ang="0">
                  <a:pos x="70" y="28"/>
                </a:cxn>
                <a:cxn ang="0">
                  <a:pos x="27" y="101"/>
                </a:cxn>
                <a:cxn ang="0">
                  <a:pos x="19" y="100"/>
                </a:cxn>
                <a:cxn ang="0">
                  <a:pos x="0" y="61"/>
                </a:cxn>
                <a:cxn ang="0">
                  <a:pos x="48" y="6"/>
                </a:cxn>
              </a:cxnLst>
              <a:rect l="0" t="0" r="r" b="b"/>
              <a:pathLst>
                <a:path w="70" h="106">
                  <a:moveTo>
                    <a:pt x="48" y="6"/>
                  </a:moveTo>
                  <a:cubicBezTo>
                    <a:pt x="52" y="1"/>
                    <a:pt x="54" y="0"/>
                    <a:pt x="56" y="5"/>
                  </a:cubicBezTo>
                  <a:cubicBezTo>
                    <a:pt x="70" y="28"/>
                    <a:pt x="70" y="28"/>
                    <a:pt x="70" y="28"/>
                  </a:cubicBezTo>
                  <a:cubicBezTo>
                    <a:pt x="27" y="101"/>
                    <a:pt x="27" y="101"/>
                    <a:pt x="27" y="101"/>
                  </a:cubicBezTo>
                  <a:cubicBezTo>
                    <a:pt x="24" y="106"/>
                    <a:pt x="22" y="105"/>
                    <a:pt x="19" y="100"/>
                  </a:cubicBezTo>
                  <a:cubicBezTo>
                    <a:pt x="0" y="61"/>
                    <a:pt x="0" y="61"/>
                    <a:pt x="0" y="61"/>
                  </a:cubicBezTo>
                  <a:lnTo>
                    <a:pt x="48" y="6"/>
                  </a:lnTo>
                  <a:close/>
                </a:path>
              </a:pathLst>
            </a:custGeom>
            <a:solidFill>
              <a:srgbClr val="FFFFFF"/>
            </a:solidFill>
            <a:ln w="9525">
              <a:noFill/>
              <a:round/>
            </a:ln>
          </p:spPr>
          <p:txBody>
            <a:bodyPr anchor="ctr"/>
            <a:lstStyle/>
            <a:p>
              <a:pPr algn="ctr"/>
            </a:p>
          </p:txBody>
        </p:sp>
      </p:grpSp>
      <p:grpSp>
        <p:nvGrpSpPr>
          <p:cNvPr id="95" name="Group 1"/>
          <p:cNvGrpSpPr/>
          <p:nvPr/>
        </p:nvGrpSpPr>
        <p:grpSpPr>
          <a:xfrm>
            <a:off x="1396944" y="1895255"/>
            <a:ext cx="3958986" cy="3873346"/>
            <a:chOff x="-949635" y="0"/>
            <a:chExt cx="7009631" cy="6858000"/>
          </a:xfrm>
        </p:grpSpPr>
        <p:sp>
          <p:nvSpPr>
            <p:cNvPr id="96" name="Diamond 3"/>
            <p:cNvSpPr/>
            <p:nvPr/>
          </p:nvSpPr>
          <p:spPr bwMode="auto">
            <a:xfrm>
              <a:off x="-949635" y="0"/>
              <a:ext cx="7009631" cy="6858000"/>
            </a:xfrm>
            <a:prstGeom prst="diamond">
              <a:avLst/>
            </a:prstGeom>
            <a:solidFill>
              <a:schemeClr val="tx2">
                <a:lumMod val="20000"/>
                <a:lumOff val="80000"/>
                <a:alpha val="35000"/>
              </a:schemeClr>
            </a:solidFill>
            <a:ln w="19050">
              <a:noFill/>
              <a:round/>
            </a:ln>
          </p:spPr>
          <p:txBody>
            <a:bodyPr anchor="ctr"/>
            <a:lstStyle/>
            <a:p>
              <a:pPr algn="ctr"/>
              <a:endParaRPr>
                <a:latin typeface="微软雅黑" panose="020B0503020204020204" pitchFamily="34" charset="-122"/>
                <a:ea typeface="微软雅黑" panose="020B0503020204020204" pitchFamily="34" charset="-122"/>
              </a:endParaRPr>
            </a:p>
          </p:txBody>
        </p:sp>
        <p:sp>
          <p:nvSpPr>
            <p:cNvPr id="97" name="Diamond 4"/>
            <p:cNvSpPr/>
            <p:nvPr/>
          </p:nvSpPr>
          <p:spPr bwMode="auto">
            <a:xfrm>
              <a:off x="-176517" y="653134"/>
              <a:ext cx="5647878" cy="5525706"/>
            </a:xfrm>
            <a:prstGeom prst="diamond">
              <a:avLst/>
            </a:prstGeom>
            <a:solidFill>
              <a:schemeClr val="tx2">
                <a:lumMod val="20000"/>
                <a:lumOff val="80000"/>
              </a:schemeClr>
            </a:solidFill>
            <a:ln w="19050">
              <a:noFill/>
              <a:round/>
            </a:ln>
          </p:spPr>
          <p:txBody>
            <a:bodyPr anchor="ctr"/>
            <a:lstStyle/>
            <a:p>
              <a:pPr algn="ctr"/>
              <a:endParaRPr>
                <a:latin typeface="微软雅黑" panose="020B0503020204020204" pitchFamily="34" charset="-122"/>
                <a:ea typeface="微软雅黑" panose="020B0503020204020204" pitchFamily="34" charset="-122"/>
              </a:endParaRPr>
            </a:p>
          </p:txBody>
        </p:sp>
      </p:grpSp>
      <p:sp>
        <p:nvSpPr>
          <p:cNvPr id="101" name="Diamond 11"/>
          <p:cNvSpPr/>
          <p:nvPr/>
        </p:nvSpPr>
        <p:spPr bwMode="auto">
          <a:xfrm>
            <a:off x="2806736" y="1481733"/>
            <a:ext cx="986397" cy="986397"/>
          </a:xfrm>
          <a:prstGeom prst="diamond">
            <a:avLst/>
          </a:prstGeom>
          <a:solidFill>
            <a:srgbClr val="4472C4"/>
          </a:solidFill>
          <a:ln w="19050">
            <a:noFill/>
            <a:round/>
          </a:ln>
        </p:spPr>
        <p:txBody>
          <a:bodyPr vert="horz" wrap="none" lIns="91440" tIns="45720" rIns="91440" bIns="45720" anchor="ctr" anchorCtr="1" compatLnSpc="1">
            <a:norm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01</a:t>
            </a:r>
            <a:endParaRPr lang="en-US" altLang="zh-CN" sz="2400" b="1" dirty="0">
              <a:solidFill>
                <a:schemeClr val="bg1"/>
              </a:solidFill>
              <a:latin typeface="微软雅黑" panose="020B0503020204020204" pitchFamily="34" charset="-122"/>
              <a:ea typeface="微软雅黑" panose="020B0503020204020204" pitchFamily="34" charset="-122"/>
            </a:endParaRPr>
          </a:p>
        </p:txBody>
      </p:sp>
      <p:sp>
        <p:nvSpPr>
          <p:cNvPr id="102" name="Diamond 12"/>
          <p:cNvSpPr/>
          <p:nvPr/>
        </p:nvSpPr>
        <p:spPr bwMode="auto">
          <a:xfrm>
            <a:off x="3910587" y="2563011"/>
            <a:ext cx="986397" cy="986397"/>
          </a:xfrm>
          <a:prstGeom prst="diamond">
            <a:avLst/>
          </a:prstGeom>
          <a:solidFill>
            <a:schemeClr val="accent3"/>
          </a:solidFill>
          <a:ln w="19050">
            <a:noFill/>
            <a:round/>
          </a:ln>
        </p:spPr>
        <p:txBody>
          <a:bodyPr vert="horz" wrap="none" lIns="91440" tIns="45720" rIns="91440" bIns="45720" anchor="ctr" anchorCtr="1" compatLnSpc="1">
            <a:norm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02</a:t>
            </a:r>
            <a:endParaRPr lang="en-US" altLang="zh-CN" sz="2400" b="1" dirty="0">
              <a:solidFill>
                <a:schemeClr val="bg1"/>
              </a:solidFill>
              <a:latin typeface="微软雅黑" panose="020B0503020204020204" pitchFamily="34" charset="-122"/>
              <a:ea typeface="微软雅黑" panose="020B0503020204020204" pitchFamily="34" charset="-122"/>
            </a:endParaRPr>
          </a:p>
        </p:txBody>
      </p:sp>
      <p:sp>
        <p:nvSpPr>
          <p:cNvPr id="103" name="Diamond 13"/>
          <p:cNvSpPr/>
          <p:nvPr/>
        </p:nvSpPr>
        <p:spPr bwMode="auto">
          <a:xfrm>
            <a:off x="3910587" y="4089692"/>
            <a:ext cx="986397" cy="986397"/>
          </a:xfrm>
          <a:prstGeom prst="diamond">
            <a:avLst/>
          </a:prstGeom>
          <a:solidFill>
            <a:srgbClr val="4472C4"/>
          </a:solidFill>
          <a:ln w="19050">
            <a:noFill/>
            <a:round/>
          </a:ln>
        </p:spPr>
        <p:txBody>
          <a:bodyPr vert="horz" wrap="none" lIns="91440" tIns="45720" rIns="91440" bIns="45720" anchor="ctr" anchorCtr="1" compatLnSpc="1">
            <a:normAutofit/>
          </a:bodyPr>
          <a:lstStyle/>
          <a:p>
            <a:pPr algn="ctr"/>
            <a:r>
              <a:rPr lang="en-US" altLang="zh-CN" sz="2400" b="1">
                <a:solidFill>
                  <a:schemeClr val="bg1"/>
                </a:solidFill>
                <a:latin typeface="微软雅黑" panose="020B0503020204020204" pitchFamily="34" charset="-122"/>
                <a:ea typeface="微软雅黑" panose="020B0503020204020204" pitchFamily="34" charset="-122"/>
              </a:rPr>
              <a:t>03</a:t>
            </a:r>
            <a:endParaRPr lang="en-US" altLang="zh-CN" sz="2400" b="1">
              <a:solidFill>
                <a:schemeClr val="bg1"/>
              </a:solidFill>
              <a:latin typeface="微软雅黑" panose="020B0503020204020204" pitchFamily="34" charset="-122"/>
              <a:ea typeface="微软雅黑" panose="020B0503020204020204" pitchFamily="34" charset="-122"/>
            </a:endParaRPr>
          </a:p>
        </p:txBody>
      </p:sp>
      <p:sp>
        <p:nvSpPr>
          <p:cNvPr id="104" name="Diamond 14"/>
          <p:cNvSpPr/>
          <p:nvPr/>
        </p:nvSpPr>
        <p:spPr bwMode="auto">
          <a:xfrm>
            <a:off x="2806736" y="5237408"/>
            <a:ext cx="986397" cy="986397"/>
          </a:xfrm>
          <a:prstGeom prst="diamond">
            <a:avLst/>
          </a:prstGeom>
          <a:solidFill>
            <a:srgbClr val="A5A5A5"/>
          </a:solidFill>
          <a:ln w="19050">
            <a:noFill/>
            <a:round/>
          </a:ln>
        </p:spPr>
        <p:txBody>
          <a:bodyPr vert="horz" wrap="none" lIns="91440" tIns="45720" rIns="91440" bIns="45720" anchor="ctr" anchorCtr="1" compatLnSpc="1">
            <a:normAutofit/>
          </a:bodyPr>
          <a:lstStyle/>
          <a:p>
            <a:pPr algn="ctr"/>
            <a:r>
              <a:rPr lang="en-US" altLang="zh-CN" sz="2400" b="1">
                <a:solidFill>
                  <a:schemeClr val="bg1"/>
                </a:solidFill>
                <a:latin typeface="微软雅黑" panose="020B0503020204020204" pitchFamily="34" charset="-122"/>
                <a:ea typeface="微软雅黑" panose="020B0503020204020204" pitchFamily="34" charset="-122"/>
              </a:rPr>
              <a:t>04</a:t>
            </a:r>
            <a:endParaRPr lang="en-US" altLang="zh-CN" sz="2400" b="1">
              <a:solidFill>
                <a:schemeClr val="bg1"/>
              </a:solidFill>
              <a:latin typeface="微软雅黑" panose="020B0503020204020204" pitchFamily="34" charset="-122"/>
              <a:ea typeface="微软雅黑" panose="020B0503020204020204" pitchFamily="34" charset="-122"/>
            </a:endParaRPr>
          </a:p>
        </p:txBody>
      </p:sp>
      <p:sp>
        <p:nvSpPr>
          <p:cNvPr id="117" name="文本框 116"/>
          <p:cNvSpPr txBox="1"/>
          <p:nvPr/>
        </p:nvSpPr>
        <p:spPr>
          <a:xfrm>
            <a:off x="4183380" y="1621155"/>
            <a:ext cx="7417493" cy="768350"/>
          </a:xfrm>
          <a:prstGeom prst="rect">
            <a:avLst/>
          </a:prstGeom>
          <a:noFill/>
        </p:spPr>
        <p:txBody>
          <a:bodyPr wrap="square">
            <a:spAutoFit/>
          </a:bodyPr>
          <a:lstStyle/>
          <a:p>
            <a:pPr algn="just">
              <a:lnSpc>
                <a:spcPct val="100000"/>
              </a:lnSpc>
            </a:pPr>
            <a:r>
              <a:rPr lang="zh-CN" altLang="en-US" sz="2200" b="1" dirty="0">
                <a:latin typeface="宋体" panose="02010600030101010101" pitchFamily="2" charset="-122"/>
                <a:ea typeface="宋体" panose="02010600030101010101" pitchFamily="2" charset="-122"/>
                <a:sym typeface="+mn-ea"/>
              </a:rPr>
              <a:t>一个用户动作，例如按下一个功能键或点击一个超链接或对话框的按钮</a:t>
            </a:r>
            <a:endParaRPr lang="zh-CN" altLang="en-US" sz="2200" b="1" dirty="0">
              <a:solidFill>
                <a:schemeClr val="tx1">
                  <a:lumMod val="95000"/>
                  <a:lumOff val="5000"/>
                </a:schemeClr>
              </a:solidFill>
              <a:latin typeface="宋体" panose="02010600030101010101" pitchFamily="2" charset="-122"/>
              <a:ea typeface="宋体" panose="02010600030101010101" pitchFamily="2" charset="-122"/>
              <a:sym typeface="+mn-ea"/>
            </a:endParaRPr>
          </a:p>
        </p:txBody>
      </p:sp>
      <p:sp>
        <p:nvSpPr>
          <p:cNvPr id="118" name="文本框 117"/>
          <p:cNvSpPr txBox="1"/>
          <p:nvPr/>
        </p:nvSpPr>
        <p:spPr>
          <a:xfrm>
            <a:off x="5023485" y="2646045"/>
            <a:ext cx="6359525" cy="1445260"/>
          </a:xfrm>
          <a:prstGeom prst="rect">
            <a:avLst/>
          </a:prstGeom>
          <a:noFill/>
        </p:spPr>
        <p:txBody>
          <a:bodyPr wrap="square">
            <a:spAutoFit/>
          </a:bodyPr>
          <a:lstStyle/>
          <a:p>
            <a:pPr lvl="0" indent="0">
              <a:lnSpc>
                <a:spcPct val="200000"/>
              </a:lnSpc>
              <a:buFont typeface="Wingdings" panose="05000000000000000000" pitchFamily="2" charset="2"/>
              <a:buNone/>
            </a:pPr>
            <a:r>
              <a:rPr lang="zh-CN" altLang="en-US" sz="2200" b="1" dirty="0">
                <a:latin typeface="宋体" panose="02010600030101010101" pitchFamily="2" charset="-122"/>
                <a:ea typeface="宋体" panose="02010600030101010101" pitchFamily="2" charset="-122"/>
                <a:sym typeface="+mn-ea"/>
              </a:rPr>
              <a:t>一个数据值，例如一个无效的用户输入触发显示一个错误信息</a:t>
            </a:r>
            <a:endParaRPr lang="zh-CN" altLang="en-US" sz="2200" b="1" dirty="0">
              <a:solidFill>
                <a:schemeClr val="tx1">
                  <a:lumMod val="95000"/>
                  <a:lumOff val="5000"/>
                </a:schemeClr>
              </a:solidFill>
              <a:latin typeface="宋体" panose="02010600030101010101" pitchFamily="2" charset="-122"/>
              <a:ea typeface="宋体" panose="02010600030101010101" pitchFamily="2" charset="-122"/>
              <a:sym typeface="+mn-ea"/>
            </a:endParaRPr>
          </a:p>
        </p:txBody>
      </p:sp>
      <p:sp>
        <p:nvSpPr>
          <p:cNvPr id="119" name="文本框 118"/>
          <p:cNvSpPr txBox="1"/>
          <p:nvPr/>
        </p:nvSpPr>
        <p:spPr>
          <a:xfrm>
            <a:off x="5023636" y="4398852"/>
            <a:ext cx="6115050" cy="429895"/>
          </a:xfrm>
          <a:prstGeom prst="rect">
            <a:avLst/>
          </a:prstGeom>
          <a:noFill/>
        </p:spPr>
        <p:txBody>
          <a:bodyPr wrap="square">
            <a:spAutoFit/>
          </a:bodyPr>
          <a:lstStyle/>
          <a:p>
            <a:pPr algn="just"/>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一个系统条件，例如检测到打印机无纸 </a:t>
            </a:r>
            <a:endParaRPr lang="zh-CN" altLang="en-US" sz="2200" b="1" dirty="0">
              <a:solidFill>
                <a:schemeClr val="tx1">
                  <a:lumMod val="95000"/>
                  <a:lumOff val="5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20" name="文本框 119"/>
          <p:cNvSpPr txBox="1"/>
          <p:nvPr/>
        </p:nvSpPr>
        <p:spPr>
          <a:xfrm>
            <a:off x="4013200" y="5631180"/>
            <a:ext cx="6929120" cy="768350"/>
          </a:xfrm>
          <a:prstGeom prst="rect">
            <a:avLst/>
          </a:prstGeom>
          <a:noFill/>
        </p:spPr>
        <p:txBody>
          <a:bodyPr wrap="square">
            <a:spAutoFit/>
          </a:bodyPr>
          <a:lstStyle/>
          <a:p>
            <a:pPr algn="just"/>
            <a:r>
              <a:rPr lang="zh-CN" altLang="en-US" sz="2200" b="1" dirty="0">
                <a:latin typeface="宋体" panose="02010600030101010101" pitchFamily="2" charset="-122"/>
                <a:ea typeface="宋体" panose="02010600030101010101" pitchFamily="2" charset="-122"/>
                <a:sym typeface="+mn-ea"/>
              </a:rPr>
              <a:t>这些情况的一些组合，例如输入一个菜单项数字并按下回车键</a:t>
            </a:r>
            <a:endParaRPr lang="zh-CN" altLang="en-US" sz="2200" b="1" dirty="0">
              <a:solidFill>
                <a:schemeClr val="tx1">
                  <a:lumMod val="95000"/>
                  <a:lumOff val="5000"/>
                </a:schemeClr>
              </a:solidFill>
              <a:latin typeface="宋体" panose="02010600030101010101" pitchFamily="2" charset="-122"/>
              <a:ea typeface="宋体" panose="02010600030101010101" pitchFamily="2" charset="-122"/>
              <a:sym typeface="+mn-ea"/>
            </a:endParaRPr>
          </a:p>
        </p:txBody>
      </p:sp>
      <p:grpSp>
        <p:nvGrpSpPr>
          <p:cNvPr id="98" name="Group 2"/>
          <p:cNvGrpSpPr/>
          <p:nvPr/>
        </p:nvGrpSpPr>
        <p:grpSpPr>
          <a:xfrm>
            <a:off x="1320606" y="2646100"/>
            <a:ext cx="2371656" cy="2371655"/>
            <a:chOff x="990600" y="2044717"/>
            <a:chExt cx="2768566" cy="2768566"/>
          </a:xfrm>
        </p:grpSpPr>
        <p:sp>
          <p:nvSpPr>
            <p:cNvPr id="99" name="Diamond 5"/>
            <p:cNvSpPr/>
            <p:nvPr/>
          </p:nvSpPr>
          <p:spPr bwMode="auto">
            <a:xfrm>
              <a:off x="990600" y="2044717"/>
              <a:ext cx="2768566" cy="2768566"/>
            </a:xfrm>
            <a:prstGeom prst="diamond">
              <a:avLst/>
            </a:prstGeom>
            <a:solidFill>
              <a:schemeClr val="accent1"/>
            </a:solidFill>
            <a:ln w="50800">
              <a:noFill/>
              <a:round/>
            </a:ln>
          </p:spPr>
          <p:txBody>
            <a:bodyPr anchor="ctr"/>
            <a:lstStyle/>
            <a:p>
              <a:pPr algn="ctr"/>
              <a:endParaRPr>
                <a:latin typeface="微软雅黑" panose="020B0503020204020204" pitchFamily="34" charset="-122"/>
                <a:ea typeface="微软雅黑" panose="020B0503020204020204" pitchFamily="34" charset="-122"/>
              </a:endParaRPr>
            </a:p>
          </p:txBody>
        </p:sp>
        <p:sp>
          <p:nvSpPr>
            <p:cNvPr id="100" name="TextBox 7"/>
            <p:cNvSpPr txBox="1"/>
            <p:nvPr/>
          </p:nvSpPr>
          <p:spPr>
            <a:xfrm>
              <a:off x="1500980" y="3117614"/>
              <a:ext cx="1800200" cy="677107"/>
            </a:xfrm>
            <a:prstGeom prst="rect">
              <a:avLst/>
            </a:prstGeom>
            <a:noFill/>
          </p:spPr>
          <p:txBody>
            <a:bodyPr wrap="square" lIns="0" tIns="0" rIns="0" bIns="0">
              <a:normAutofit fontScale="90000"/>
            </a:bodyPr>
            <a:lstStyle/>
            <a:p>
              <a:pPr algn="ctr"/>
              <a:r>
                <a:rPr lang="zh-CN" altLang="en-US" sz="3200" b="1" dirty="0">
                  <a:solidFill>
                    <a:schemeClr val="bg1"/>
                  </a:solidFill>
                  <a:latin typeface="微软雅黑" panose="020B0503020204020204" pitchFamily="34" charset="-122"/>
                  <a:ea typeface="微软雅黑" panose="020B0503020204020204" pitchFamily="34" charset="-122"/>
                </a:rPr>
                <a:t>触发条件</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grpSp>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grpSp>
        <p:nvGrpSpPr>
          <p:cNvPr id="3" name="组合 7"/>
          <p:cNvGrpSpPr/>
          <p:nvPr/>
        </p:nvGrpSpPr>
        <p:grpSpPr>
          <a:xfrm>
            <a:off x="108557" y="337632"/>
            <a:ext cx="4632960" cy="491490"/>
            <a:chOff x="198764" y="258545"/>
            <a:chExt cx="6175849" cy="655851"/>
          </a:xfrm>
        </p:grpSpPr>
        <p:grpSp>
          <p:nvGrpSpPr>
            <p:cNvPr id="4" name="组合 5"/>
            <p:cNvGrpSpPr/>
            <p:nvPr/>
          </p:nvGrpSpPr>
          <p:grpSpPr>
            <a:xfrm>
              <a:off x="198764" y="258545"/>
              <a:ext cx="700083" cy="563491"/>
              <a:chOff x="5075564" y="2933562"/>
              <a:chExt cx="2860947" cy="2302753"/>
            </a:xfrm>
          </p:grpSpPr>
          <p:sp>
            <p:nvSpPr>
              <p:cNvPr id="5" name="等腰三角形 4"/>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6" name="等腰三角形 5"/>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7" name="文本框 6"/>
            <p:cNvSpPr txBox="1"/>
            <p:nvPr/>
          </p:nvSpPr>
          <p:spPr>
            <a:xfrm>
              <a:off x="988521" y="300065"/>
              <a:ext cx="538609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需</a:t>
              </a:r>
              <a:r>
                <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求的图形化分析</a:t>
              </a:r>
              <a:endPar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57"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sym typeface="宋体" panose="02010600030101010101" pitchFamily="2" charset="-122"/>
              </a:rPr>
              <a:t>）对话图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8" name="日期占位符 7"/>
          <p:cNvSpPr>
            <a:spLocks noGrp="1"/>
          </p:cNvSpPr>
          <p:nvPr>
            <p:ph type="dt" sz="half" idx="10"/>
          </p:nvPr>
        </p:nvSpPr>
        <p:spPr/>
        <p:txBody>
          <a:bodyPr/>
          <a:lstStyle/>
          <a:p>
            <a:pPr>
              <a:defRPr/>
            </a:pPr>
            <a:fld id="{00614FB3-39BD-41EC-80F3-BFA824053048}" type="datetime1">
              <a:rPr lang="zh-CN" altLang="en-US" smtClean="0">
                <a:solidFill>
                  <a:prstClr val="black">
                    <a:tint val="75000"/>
                  </a:prstClr>
                </a:solidFill>
              </a:rPr>
            </a:fld>
            <a:endParaRPr lang="zh-CN" altLang="en-US" dirty="0">
              <a:solidFill>
                <a:prstClr val="black">
                  <a:tint val="75000"/>
                </a:prstClr>
              </a:solidFill>
            </a:endParaRPr>
          </a:p>
        </p:txBody>
      </p:sp>
      <p:sp>
        <p:nvSpPr>
          <p:cNvPr id="9" name="灯片编号占位符 8"/>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2" presetClass="entr" presetSubtype="8"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0-#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57"/>
                                        </p:tgtEl>
                                        <p:attrNameLst>
                                          <p:attrName>style.visibility</p:attrName>
                                        </p:attrNameLst>
                                      </p:cBhvr>
                                      <p:to>
                                        <p:strVal val="visible"/>
                                      </p:to>
                                    </p:set>
                                    <p:anim calcmode="lin" valueType="num">
                                      <p:cBhvr additive="base">
                                        <p:cTn id="16" dur="500"/>
                                        <p:tgtEl>
                                          <p:spTgt spid="57"/>
                                        </p:tgtEl>
                                        <p:attrNameLst>
                                          <p:attrName>ppt_x</p:attrName>
                                        </p:attrNameLst>
                                      </p:cBhvr>
                                      <p:tavLst>
                                        <p:tav tm="0">
                                          <p:val>
                                            <p:strVal val="#ppt_x+#ppt_w*1.125000"/>
                                          </p:val>
                                        </p:tav>
                                        <p:tav tm="100000">
                                          <p:val>
                                            <p:strVal val="#ppt_x"/>
                                          </p:val>
                                        </p:tav>
                                      </p:tavLst>
                                    </p:anim>
                                    <p:animEffect transition="in" filter="wipe(left)">
                                      <p:cBhvr>
                                        <p:cTn id="17" dur="500"/>
                                        <p:tgtEl>
                                          <p:spTgt spid="5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98"/>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9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17"/>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0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18"/>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02"/>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19"/>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03"/>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20"/>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03" grpId="0" animBg="1"/>
      <p:bldP spid="104" grpId="0" animBg="1"/>
      <p:bldP spid="117" grpId="0"/>
      <p:bldP spid="118" grpId="0"/>
      <p:bldP spid="119" grpId="0"/>
      <p:bldP spid="120" grpId="0"/>
      <p:bldP spid="5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66"/>
          <p:cNvSpPr>
            <a:spLocks noChangeArrowheads="1"/>
          </p:cNvSpPr>
          <p:nvPr/>
        </p:nvSpPr>
        <p:spPr bwMode="auto">
          <a:xfrm>
            <a:off x="772388" y="2036650"/>
            <a:ext cx="10795000" cy="2122805"/>
          </a:xfrm>
          <a:prstGeom prst="rect">
            <a:avLst/>
          </a:prstGeom>
          <a:noFill/>
          <a:ln w="19050">
            <a:solidFill>
              <a:srgbClr val="0000FF"/>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p>
            <a:pPr lvl="0" indent="0">
              <a:lnSpc>
                <a:spcPct val="150000"/>
              </a:lnSpc>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宋体" panose="02010600030101010101" pitchFamily="2" charset="-122"/>
              </a:rPr>
              <a:t>用例描述：</a:t>
            </a:r>
            <a:endParaRPr lang="en-US" altLang="zh-CN" sz="2200" b="1" dirty="0">
              <a:latin typeface="宋体" panose="02010600030101010101" pitchFamily="2" charset="-122"/>
              <a:ea typeface="宋体" panose="02010600030101010101" pitchFamily="2" charset="-122"/>
              <a:cs typeface="宋体" panose="02010600030101010101" pitchFamily="2" charset="-122"/>
            </a:endParaRPr>
          </a:p>
          <a:p>
            <a:pPr lvl="0" indent="0">
              <a:lnSpc>
                <a:spcPct val="150000"/>
              </a:lnSpc>
              <a:buFont typeface="Wingdings" panose="05000000000000000000" pitchFamily="2" charset="2"/>
              <a:buNone/>
            </a:pPr>
            <a:r>
              <a:rPr lang="en-US" altLang="zh-CN" sz="2200" b="1" dirty="0">
                <a:latin typeface="宋体" panose="02010600030101010101" pitchFamily="2" charset="-122"/>
                <a:ea typeface="宋体" panose="02010600030101010101" pitchFamily="2" charset="-122"/>
                <a:cs typeface="宋体" panose="02010600030101010101" pitchFamily="2" charset="-122"/>
              </a:rPr>
              <a:t>1</a:t>
            </a:r>
            <a:r>
              <a:rPr lang="zh-CN" altLang="en-US" sz="2200" b="1" dirty="0">
                <a:latin typeface="宋体" panose="02010600030101010101" pitchFamily="2" charset="-122"/>
                <a:ea typeface="宋体" panose="02010600030101010101" pitchFamily="2" charset="-122"/>
                <a:cs typeface="宋体" panose="02010600030101010101" pitchFamily="2" charset="-122"/>
              </a:rPr>
              <a:t>）正常过程请求一种化学制品，并向外部供应商订货来满足该请求</a:t>
            </a:r>
            <a:endParaRPr lang="en-US" altLang="zh-CN" sz="2200" b="1" dirty="0">
              <a:latin typeface="宋体" panose="02010600030101010101" pitchFamily="2" charset="-122"/>
              <a:ea typeface="宋体" panose="02010600030101010101" pitchFamily="2" charset="-122"/>
              <a:cs typeface="宋体" panose="02010600030101010101" pitchFamily="2" charset="-122"/>
            </a:endParaRPr>
          </a:p>
          <a:p>
            <a:pPr lvl="0" indent="0">
              <a:lnSpc>
                <a:spcPct val="150000"/>
              </a:lnSpc>
              <a:buFont typeface="Wingdings" panose="05000000000000000000" pitchFamily="2" charset="2"/>
              <a:buNone/>
            </a:pPr>
            <a:r>
              <a:rPr lang="en-US" altLang="zh-CN" sz="2200" b="1" dirty="0">
                <a:latin typeface="宋体" panose="02010600030101010101" pitchFamily="2" charset="-122"/>
                <a:ea typeface="宋体" panose="02010600030101010101" pitchFamily="2" charset="-122"/>
                <a:cs typeface="宋体" panose="02010600030101010101" pitchFamily="2" charset="-122"/>
              </a:rPr>
              <a:t>2</a:t>
            </a:r>
            <a:r>
              <a:rPr lang="zh-CN" altLang="en-US" sz="2200" b="1" dirty="0">
                <a:latin typeface="宋体" panose="02010600030101010101" pitchFamily="2" charset="-122"/>
                <a:ea typeface="宋体" panose="02010600030101010101" pitchFamily="2" charset="-122"/>
                <a:cs typeface="宋体" panose="02010600030101010101" pitchFamily="2" charset="-122"/>
              </a:rPr>
              <a:t>）可选过程将供给来自化学制品仓库存货清单的化学制品容器</a:t>
            </a:r>
            <a:endParaRPr lang="en-US" altLang="zh-CN" sz="2200" b="1" dirty="0">
              <a:latin typeface="宋体" panose="02010600030101010101" pitchFamily="2" charset="-122"/>
              <a:ea typeface="宋体" panose="02010600030101010101" pitchFamily="2" charset="-122"/>
              <a:cs typeface="宋体" panose="02010600030101010101" pitchFamily="2" charset="-122"/>
            </a:endParaRPr>
          </a:p>
          <a:p>
            <a:pPr lvl="0" indent="0">
              <a:lnSpc>
                <a:spcPct val="150000"/>
              </a:lnSpc>
              <a:buFont typeface="Wingdings" panose="05000000000000000000" pitchFamily="2" charset="2"/>
              <a:buNone/>
            </a:pPr>
            <a:r>
              <a:rPr lang="en-US" altLang="zh-CN" sz="2200" b="1" dirty="0">
                <a:latin typeface="宋体" panose="02010600030101010101" pitchFamily="2" charset="-122"/>
                <a:ea typeface="宋体" panose="02010600030101010101" pitchFamily="2" charset="-122"/>
                <a:cs typeface="宋体" panose="02010600030101010101" pitchFamily="2" charset="-122"/>
              </a:rPr>
              <a:t>3</a:t>
            </a:r>
            <a:r>
              <a:rPr lang="zh-CN" altLang="en-US" sz="2200" b="1" dirty="0">
                <a:latin typeface="宋体" panose="02010600030101010101" pitchFamily="2" charset="-122"/>
                <a:ea typeface="宋体" panose="02010600030101010101" pitchFamily="2" charset="-122"/>
                <a:cs typeface="宋体" panose="02010600030101010101" pitchFamily="2" charset="-122"/>
              </a:rPr>
              <a:t>）提出请求的用户在进行选择之前，需要浏览仓库中可用的化学制品的历史</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grpSp>
        <p:nvGrpSpPr>
          <p:cNvPr id="40" name="组合 30722"/>
          <p:cNvGrpSpPr/>
          <p:nvPr/>
        </p:nvGrpSpPr>
        <p:grpSpPr>
          <a:xfrm>
            <a:off x="2275942" y="4089693"/>
            <a:ext cx="7557301" cy="2191909"/>
            <a:chOff x="288" y="614"/>
            <a:chExt cx="5636" cy="2507"/>
          </a:xfrm>
        </p:grpSpPr>
        <p:pic>
          <p:nvPicPr>
            <p:cNvPr id="41" name="图片 30723" descr="j0195384"/>
            <p:cNvPicPr>
              <a:picLocks noChangeAspect="1"/>
            </p:cNvPicPr>
            <p:nvPr/>
          </p:nvPicPr>
          <p:blipFill>
            <a:blip r:embed="rId1"/>
            <a:stretch>
              <a:fillRect/>
            </a:stretch>
          </p:blipFill>
          <p:spPr>
            <a:xfrm>
              <a:off x="288" y="1296"/>
              <a:ext cx="1131" cy="1155"/>
            </a:xfrm>
            <a:prstGeom prst="rect">
              <a:avLst/>
            </a:prstGeom>
            <a:noFill/>
            <a:ln w="9525">
              <a:noFill/>
            </a:ln>
          </p:spPr>
        </p:pic>
        <p:sp>
          <p:nvSpPr>
            <p:cNvPr id="43" name="椭圆 30724"/>
            <p:cNvSpPr/>
            <p:nvPr/>
          </p:nvSpPr>
          <p:spPr>
            <a:xfrm>
              <a:off x="1872" y="1488"/>
              <a:ext cx="1344" cy="864"/>
            </a:xfrm>
            <a:prstGeom prst="ellipse">
              <a:avLst/>
            </a:prstGeom>
            <a:solidFill>
              <a:schemeClr val="accent1">
                <a:lumMod val="40000"/>
                <a:lumOff val="60000"/>
              </a:schemeClr>
            </a:solidFill>
            <a:ln w="9525" cap="flat" cmpd="sng">
              <a:solidFill>
                <a:srgbClr val="000000"/>
              </a:solidFill>
              <a:prstDash val="solid"/>
              <a:round/>
              <a:headEnd type="none" w="med" len="med"/>
              <a:tailEnd type="none" w="med" len="med"/>
            </a:ln>
          </p:spPr>
          <p:txBody>
            <a:bodyPr wrap="none" anchor="ct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0" cap="none" spc="0" normalizeH="0" baseline="0" noProof="0" dirty="0">
                  <a:ln>
                    <a:noFill/>
                  </a:ln>
                  <a:solidFill>
                    <a:srgbClr val="000000"/>
                  </a:solidFill>
                  <a:effectLst/>
                  <a:uLnTx/>
                  <a:uFillTx/>
                  <a:latin typeface="Arial" panose="020B0604020202020204" pitchFamily="34" charset="0"/>
                </a:rPr>
                <a:t>请求一种</a:t>
              </a:r>
              <a:endParaRPr kumimoji="0" lang="zh-CN" altLang="en-US" sz="2200" b="1" i="0" u="none" strike="noStrike" kern="0" cap="none" spc="0" normalizeH="0" baseline="0" noProof="0" dirty="0">
                <a:ln>
                  <a:noFill/>
                </a:ln>
                <a:solidFill>
                  <a:srgbClr val="000000"/>
                </a:solidFill>
                <a:effectLst/>
                <a:uLnTx/>
                <a:uFillTx/>
                <a:latin typeface="Arial" panose="020B0604020202020204" pitchFamily="34" charset="0"/>
              </a:endParaRPr>
            </a:p>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0" cap="none" spc="0" normalizeH="0" baseline="0" noProof="0" dirty="0">
                  <a:ln>
                    <a:noFill/>
                  </a:ln>
                  <a:solidFill>
                    <a:srgbClr val="000000"/>
                  </a:solidFill>
                  <a:effectLst/>
                  <a:uLnTx/>
                  <a:uFillTx/>
                  <a:latin typeface="Arial" panose="020B0604020202020204" pitchFamily="34" charset="0"/>
                </a:rPr>
                <a:t>化学制品</a:t>
              </a:r>
              <a:endParaRPr kumimoji="0" lang="zh-CN" altLang="en-US" sz="2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57" name="椭圆 30725"/>
            <p:cNvSpPr/>
            <p:nvPr/>
          </p:nvSpPr>
          <p:spPr>
            <a:xfrm>
              <a:off x="3826" y="614"/>
              <a:ext cx="2098" cy="931"/>
            </a:xfrm>
            <a:prstGeom prst="ellipse">
              <a:avLst/>
            </a:prstGeom>
            <a:solidFill>
              <a:schemeClr val="accent1">
                <a:lumMod val="40000"/>
                <a:lumOff val="60000"/>
              </a:schemeClr>
            </a:solidFill>
            <a:ln w="9525" cap="flat" cmpd="sng">
              <a:solidFill>
                <a:srgbClr val="000000"/>
              </a:solidFill>
              <a:prstDash val="solid"/>
              <a:round/>
              <a:headEnd type="none" w="med" len="med"/>
              <a:tailEnd type="none" w="med" len="med"/>
            </a:ln>
          </p:spPr>
          <p:txBody>
            <a:bodyPr wrap="none" anchor="ct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0" cap="none" spc="0" normalizeH="0" baseline="0" noProof="0" dirty="0">
                  <a:ln>
                    <a:noFill/>
                  </a:ln>
                  <a:solidFill>
                    <a:srgbClr val="000000"/>
                  </a:solidFill>
                  <a:effectLst/>
                  <a:uLnTx/>
                  <a:uFillTx/>
                  <a:latin typeface="Arial" panose="020B0604020202020204" pitchFamily="34" charset="0"/>
                </a:rPr>
                <a:t>查看仓库中可用</a:t>
              </a:r>
              <a:endParaRPr kumimoji="0" lang="zh-CN" altLang="en-US" sz="2200" b="1" i="0" u="none" strike="noStrike" kern="0" cap="none" spc="0" normalizeH="0" baseline="0" noProof="0" dirty="0">
                <a:ln>
                  <a:noFill/>
                </a:ln>
                <a:solidFill>
                  <a:srgbClr val="000000"/>
                </a:solidFill>
                <a:effectLst/>
                <a:uLnTx/>
                <a:uFillTx/>
                <a:latin typeface="Arial" panose="020B0604020202020204" pitchFamily="34" charset="0"/>
              </a:endParaRPr>
            </a:p>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0" cap="none" spc="0" normalizeH="0" baseline="0" noProof="0" dirty="0">
                  <a:ln>
                    <a:noFill/>
                  </a:ln>
                  <a:solidFill>
                    <a:srgbClr val="000000"/>
                  </a:solidFill>
                  <a:effectLst/>
                  <a:uLnTx/>
                  <a:uFillTx/>
                  <a:latin typeface="Arial" panose="020B0604020202020204" pitchFamily="34" charset="0"/>
                </a:rPr>
                <a:t>的化学制品容器</a:t>
              </a:r>
              <a:endParaRPr kumimoji="0" lang="zh-CN" altLang="en-US" sz="2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58" name="椭圆 30726"/>
            <p:cNvSpPr/>
            <p:nvPr/>
          </p:nvSpPr>
          <p:spPr>
            <a:xfrm>
              <a:off x="3888" y="2256"/>
              <a:ext cx="1344" cy="864"/>
            </a:xfrm>
            <a:prstGeom prst="ellipse">
              <a:avLst/>
            </a:prstGeom>
            <a:solidFill>
              <a:schemeClr val="accent1">
                <a:lumMod val="40000"/>
                <a:lumOff val="60000"/>
              </a:schemeClr>
            </a:solidFill>
            <a:ln w="9525" cap="flat" cmpd="sng">
              <a:solidFill>
                <a:srgbClr val="000000"/>
              </a:solidFill>
              <a:prstDash val="solid"/>
              <a:round/>
              <a:headEnd type="none" w="med" len="med"/>
              <a:tailEnd type="none" w="med" len="med"/>
            </a:ln>
          </p:spPr>
          <p:txBody>
            <a:bodyPr wrap="none" anchor="ct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0" cap="none" spc="0" normalizeH="0" baseline="0" noProof="0" dirty="0">
                  <a:ln>
                    <a:noFill/>
                  </a:ln>
                  <a:solidFill>
                    <a:srgbClr val="000000"/>
                  </a:solidFill>
                  <a:effectLst/>
                  <a:uLnTx/>
                  <a:uFillTx/>
                  <a:latin typeface="Arial" panose="020B0604020202020204" pitchFamily="34" charset="0"/>
                </a:rPr>
                <a:t>输入货物编号</a:t>
              </a:r>
              <a:endParaRPr kumimoji="0" lang="zh-CN" altLang="en-US" sz="2200" b="0"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59" name="文本框 30727"/>
            <p:cNvSpPr txBox="1"/>
            <p:nvPr/>
          </p:nvSpPr>
          <p:spPr>
            <a:xfrm>
              <a:off x="576" y="2628"/>
              <a:ext cx="773" cy="493"/>
            </a:xfrm>
            <a:prstGeom prst="rect">
              <a:avLst/>
            </a:prstGeom>
            <a:no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0" cap="none" spc="0" normalizeH="0" baseline="0" noProof="0" dirty="0">
                  <a:ln>
                    <a:noFill/>
                  </a:ln>
                  <a:solidFill>
                    <a:srgbClr val="000000"/>
                  </a:solidFill>
                  <a:effectLst/>
                  <a:uLnTx/>
                  <a:uFillTx/>
                  <a:latin typeface="Arial" panose="020B0604020202020204" pitchFamily="34" charset="0"/>
                </a:rPr>
                <a:t>请求者</a:t>
              </a:r>
              <a:endParaRPr kumimoji="0" lang="zh-CN" altLang="en-US" sz="2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60" name="直接连接符 30728"/>
            <p:cNvSpPr/>
            <p:nvPr/>
          </p:nvSpPr>
          <p:spPr>
            <a:xfrm flipH="1">
              <a:off x="3168" y="1248"/>
              <a:ext cx="720" cy="528"/>
            </a:xfrm>
            <a:prstGeom prst="line">
              <a:avLst/>
            </a:prstGeom>
            <a:ln w="38100" cap="flat" cmpd="sng">
              <a:solidFill>
                <a:srgbClr val="000000"/>
              </a:solidFill>
              <a:prstDash val="solid"/>
              <a:round/>
              <a:headEnd type="none" w="med" len="med"/>
              <a:tailEnd type="triangle" w="lg" len="lg"/>
            </a:ln>
          </p:spPr>
        </p:sp>
        <p:sp>
          <p:nvSpPr>
            <p:cNvPr id="61" name="直接连接符 30729"/>
            <p:cNvSpPr/>
            <p:nvPr/>
          </p:nvSpPr>
          <p:spPr>
            <a:xfrm>
              <a:off x="3168" y="2112"/>
              <a:ext cx="816" cy="384"/>
            </a:xfrm>
            <a:prstGeom prst="line">
              <a:avLst/>
            </a:prstGeom>
            <a:ln w="38100" cap="flat" cmpd="sng">
              <a:solidFill>
                <a:srgbClr val="000000"/>
              </a:solidFill>
              <a:prstDash val="solid"/>
              <a:round/>
              <a:headEnd type="none" w="med" len="med"/>
              <a:tailEnd type="triangle" w="lg" len="lg"/>
            </a:ln>
          </p:spPr>
        </p:sp>
        <p:sp>
          <p:nvSpPr>
            <p:cNvPr id="62" name="文本框 30730"/>
            <p:cNvSpPr txBox="1"/>
            <p:nvPr/>
          </p:nvSpPr>
          <p:spPr>
            <a:xfrm>
              <a:off x="3380" y="1460"/>
              <a:ext cx="1310" cy="493"/>
            </a:xfrm>
            <a:prstGeom prst="rect">
              <a:avLst/>
            </a:prstGeom>
            <a:no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rPr>
                <a:t>&lt;&lt;extend&gt;&gt;</a:t>
              </a:r>
              <a:endPar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63" name="文本框 30731"/>
            <p:cNvSpPr txBox="1"/>
            <p:nvPr/>
          </p:nvSpPr>
          <p:spPr>
            <a:xfrm>
              <a:off x="3284" y="1947"/>
              <a:ext cx="1369" cy="493"/>
            </a:xfrm>
            <a:prstGeom prst="rect">
              <a:avLst/>
            </a:prstGeom>
            <a:no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rPr>
                <a:t>&lt;&lt;include&gt;&gt;</a:t>
              </a:r>
              <a:endPar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64" name="直接连接符 30732"/>
            <p:cNvSpPr/>
            <p:nvPr/>
          </p:nvSpPr>
          <p:spPr>
            <a:xfrm flipH="1">
              <a:off x="1392" y="1872"/>
              <a:ext cx="480" cy="0"/>
            </a:xfrm>
            <a:prstGeom prst="line">
              <a:avLst/>
            </a:prstGeom>
            <a:ln w="38100" cap="flat" cmpd="sng">
              <a:solidFill>
                <a:srgbClr val="000000"/>
              </a:solidFill>
              <a:prstDash val="solid"/>
              <a:round/>
              <a:headEnd type="none" w="med" len="med"/>
              <a:tailEnd type="none" w="med" len="med"/>
            </a:ln>
          </p:spPr>
        </p:sp>
      </p:grpSp>
      <p:pic>
        <p:nvPicPr>
          <p:cNvPr id="2" name="图片 1"/>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grpSp>
        <p:nvGrpSpPr>
          <p:cNvPr id="3" name="组合 7"/>
          <p:cNvGrpSpPr/>
          <p:nvPr/>
        </p:nvGrpSpPr>
        <p:grpSpPr>
          <a:xfrm>
            <a:off x="108557" y="337632"/>
            <a:ext cx="4632960" cy="491490"/>
            <a:chOff x="198764" y="258545"/>
            <a:chExt cx="6175849" cy="655851"/>
          </a:xfrm>
        </p:grpSpPr>
        <p:grpSp>
          <p:nvGrpSpPr>
            <p:cNvPr id="4" name="组合 5"/>
            <p:cNvGrpSpPr/>
            <p:nvPr/>
          </p:nvGrpSpPr>
          <p:grpSpPr>
            <a:xfrm>
              <a:off x="198764" y="258545"/>
              <a:ext cx="700083" cy="563491"/>
              <a:chOff x="5075564" y="2933562"/>
              <a:chExt cx="2860947" cy="2302753"/>
            </a:xfrm>
          </p:grpSpPr>
          <p:sp>
            <p:nvSpPr>
              <p:cNvPr id="5" name="等腰三角形 4"/>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6" name="等腰三角形 5"/>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7" name="文本框 6"/>
            <p:cNvSpPr txBox="1"/>
            <p:nvPr/>
          </p:nvSpPr>
          <p:spPr>
            <a:xfrm>
              <a:off x="988521" y="300065"/>
              <a:ext cx="538609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需</a:t>
              </a:r>
              <a:r>
                <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求的图形化分析</a:t>
              </a:r>
              <a:endPar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2"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sym typeface="宋体" panose="02010600030101010101" pitchFamily="2" charset="-122"/>
              </a:rPr>
              <a:t>）对话图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3" name="文本框 22"/>
          <p:cNvSpPr txBox="1"/>
          <p:nvPr/>
        </p:nvSpPr>
        <p:spPr>
          <a:xfrm>
            <a:off x="772388" y="1601586"/>
            <a:ext cx="8276721" cy="429895"/>
          </a:xfrm>
          <a:prstGeom prst="rect">
            <a:avLst/>
          </a:prstGeom>
          <a:noFill/>
        </p:spPr>
        <p:txBody>
          <a:bodyPr wrap="square">
            <a:spAutoFit/>
          </a:bodyPr>
          <a:lstStyle/>
          <a:p>
            <a:r>
              <a:rPr lang="zh-CN" altLang="en-US" sz="2200" b="1" kern="0" dirty="0">
                <a:solidFill>
                  <a:srgbClr val="FF0000"/>
                </a:solidFill>
                <a:latin typeface="+mn-ea"/>
                <a:sym typeface="宋体" panose="02010600030101010101" pitchFamily="2" charset="-122"/>
              </a:rPr>
              <a:t>“化学制品跟踪系统”的“请求一种化学制品”用例：</a:t>
            </a:r>
            <a:endParaRPr lang="zh-CN" altLang="en-US" sz="2200" b="1" dirty="0">
              <a:solidFill>
                <a:srgbClr val="FF0000"/>
              </a:solidFill>
            </a:endParaRPr>
          </a:p>
        </p:txBody>
      </p:sp>
      <p:sp>
        <p:nvSpPr>
          <p:cNvPr id="8" name="日期占位符 7"/>
          <p:cNvSpPr>
            <a:spLocks noGrp="1"/>
          </p:cNvSpPr>
          <p:nvPr>
            <p:ph type="dt" sz="half" idx="10"/>
          </p:nvPr>
        </p:nvSpPr>
        <p:spPr/>
        <p:txBody>
          <a:bodyPr/>
          <a:lstStyle/>
          <a:p>
            <a:pPr>
              <a:defRPr/>
            </a:pPr>
            <a:fld id="{B1D448BF-EA8A-41EC-B118-3ED432D29222}" type="datetime1">
              <a:rPr lang="zh-CN" altLang="en-US" smtClean="0">
                <a:solidFill>
                  <a:prstClr val="black">
                    <a:tint val="75000"/>
                  </a:prstClr>
                </a:solidFill>
              </a:rPr>
            </a:fld>
            <a:endParaRPr lang="zh-CN" altLang="en-US" dirty="0">
              <a:solidFill>
                <a:prstClr val="black">
                  <a:tint val="75000"/>
                </a:prstClr>
              </a:solidFill>
            </a:endParaRPr>
          </a:p>
        </p:txBody>
      </p:sp>
      <p:sp>
        <p:nvSpPr>
          <p:cNvPr id="9" name="灯片编号占位符 8"/>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2" presetClass="entr" presetSubtype="8"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0-#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p:tgtEl>
                                          <p:spTgt spid="22"/>
                                        </p:tgtEl>
                                        <p:attrNameLst>
                                          <p:attrName>ppt_x</p:attrName>
                                        </p:attrNameLst>
                                      </p:cBhvr>
                                      <p:tavLst>
                                        <p:tav tm="0">
                                          <p:val>
                                            <p:strVal val="#ppt_x+#ppt_w*1.125000"/>
                                          </p:val>
                                        </p:tav>
                                        <p:tav tm="100000">
                                          <p:val>
                                            <p:strVal val="#ppt_x"/>
                                          </p:val>
                                        </p:tav>
                                      </p:tavLst>
                                    </p:anim>
                                    <p:animEffect transition="in" filter="wipe(lef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ldLvl="0" animBg="1"/>
      <p:bldP spid="22" grpId="0"/>
      <p:bldP spid="2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92506" y="1586062"/>
            <a:ext cx="8814403" cy="4633474"/>
            <a:chOff x="2854728" y="891151"/>
            <a:chExt cx="8534400" cy="6019800"/>
          </a:xfrm>
        </p:grpSpPr>
        <p:sp>
          <p:nvSpPr>
            <p:cNvPr id="84" name="矩形 31746"/>
            <p:cNvSpPr/>
            <p:nvPr/>
          </p:nvSpPr>
          <p:spPr>
            <a:xfrm>
              <a:off x="6055128" y="1881751"/>
              <a:ext cx="1066800" cy="533400"/>
            </a:xfrm>
            <a:prstGeom prst="rect">
              <a:avLst/>
            </a:prstGeom>
            <a:solidFill>
              <a:schemeClr val="accent1">
                <a:lumMod val="40000"/>
                <a:lumOff val="60000"/>
              </a:schemeClr>
            </a:solidFill>
            <a:ln w="952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1500" b="1" kern="0" dirty="0">
                  <a:solidFill>
                    <a:srgbClr val="000000"/>
                  </a:solidFill>
                  <a:latin typeface="Arial" panose="020B0604020202020204" pitchFamily="34" charset="0"/>
                </a:rPr>
                <a:t>当前</a:t>
              </a:r>
              <a:endParaRPr lang="zh-CN" altLang="en-US" sz="1500" b="1" kern="0" dirty="0">
                <a:solidFill>
                  <a:srgbClr val="000000"/>
                </a:solidFill>
                <a:latin typeface="Arial" panose="020B0604020202020204" pitchFamily="34" charset="0"/>
              </a:endParaRPr>
            </a:p>
            <a:p>
              <a:pPr algn="ctr" fontAlgn="base">
                <a:spcBef>
                  <a:spcPct val="0"/>
                </a:spcBef>
                <a:spcAft>
                  <a:spcPct val="0"/>
                </a:spcAft>
              </a:pPr>
              <a:r>
                <a:rPr lang="zh-CN" altLang="en-US" sz="1500" b="1" kern="0" dirty="0">
                  <a:solidFill>
                    <a:srgbClr val="000000"/>
                  </a:solidFill>
                  <a:latin typeface="Arial" panose="020B0604020202020204" pitchFamily="34" charset="0"/>
                </a:rPr>
                <a:t>请求列</a:t>
              </a:r>
              <a:endParaRPr lang="zh-CN" altLang="en-US" sz="1500" b="1" kern="0" dirty="0">
                <a:solidFill>
                  <a:srgbClr val="000000"/>
                </a:solidFill>
                <a:latin typeface="Arial" panose="020B0604020202020204" pitchFamily="34" charset="0"/>
              </a:endParaRPr>
            </a:p>
          </p:txBody>
        </p:sp>
        <p:sp>
          <p:nvSpPr>
            <p:cNvPr id="85" name="矩形 31747"/>
            <p:cNvSpPr/>
            <p:nvPr/>
          </p:nvSpPr>
          <p:spPr>
            <a:xfrm>
              <a:off x="6055128" y="3481951"/>
              <a:ext cx="1066800" cy="533400"/>
            </a:xfrm>
            <a:prstGeom prst="rect">
              <a:avLst/>
            </a:prstGeom>
            <a:solidFill>
              <a:schemeClr val="accent1">
                <a:lumMod val="40000"/>
                <a:lumOff val="60000"/>
              </a:schemeClr>
            </a:solidFill>
            <a:ln w="952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1500" b="1" kern="0" dirty="0">
                  <a:solidFill>
                    <a:srgbClr val="000000"/>
                  </a:solidFill>
                  <a:latin typeface="Arial" panose="020B0604020202020204" pitchFamily="34" charset="0"/>
                </a:rPr>
                <a:t>输入要请求</a:t>
              </a:r>
              <a:endParaRPr lang="zh-CN" altLang="en-US" sz="1500" b="1" kern="0" dirty="0">
                <a:solidFill>
                  <a:srgbClr val="000000"/>
                </a:solidFill>
                <a:latin typeface="Arial" panose="020B0604020202020204" pitchFamily="34" charset="0"/>
              </a:endParaRPr>
            </a:p>
            <a:p>
              <a:pPr algn="ctr" fontAlgn="base">
                <a:spcBef>
                  <a:spcPct val="0"/>
                </a:spcBef>
                <a:spcAft>
                  <a:spcPct val="0"/>
                </a:spcAft>
              </a:pPr>
              <a:r>
                <a:rPr lang="zh-CN" altLang="en-US" sz="1500" b="1" kern="0" dirty="0">
                  <a:solidFill>
                    <a:srgbClr val="000000"/>
                  </a:solidFill>
                  <a:latin typeface="Arial" panose="020B0604020202020204" pitchFamily="34" charset="0"/>
                </a:rPr>
                <a:t>制品的</a:t>
              </a:r>
              <a:r>
                <a:rPr lang="en-US" altLang="zh-CN" sz="1500" b="1" kern="0" dirty="0">
                  <a:solidFill>
                    <a:srgbClr val="000000"/>
                  </a:solidFill>
                  <a:latin typeface="Arial" panose="020B0604020202020204" pitchFamily="34" charset="0"/>
                </a:rPr>
                <a:t>ID</a:t>
              </a:r>
              <a:endParaRPr lang="en-US" altLang="zh-CN" sz="1500" b="1" kern="0" dirty="0">
                <a:solidFill>
                  <a:srgbClr val="000000"/>
                </a:solidFill>
                <a:latin typeface="Arial" panose="020B0604020202020204" pitchFamily="34" charset="0"/>
              </a:endParaRPr>
            </a:p>
          </p:txBody>
        </p:sp>
        <p:sp>
          <p:nvSpPr>
            <p:cNvPr id="86" name="矩形 31748"/>
            <p:cNvSpPr/>
            <p:nvPr/>
          </p:nvSpPr>
          <p:spPr>
            <a:xfrm>
              <a:off x="6055128" y="4929751"/>
              <a:ext cx="1066800" cy="533400"/>
            </a:xfrm>
            <a:prstGeom prst="rect">
              <a:avLst/>
            </a:prstGeom>
            <a:solidFill>
              <a:schemeClr val="accent1">
                <a:lumMod val="40000"/>
                <a:lumOff val="60000"/>
              </a:schemeClr>
            </a:solidFill>
            <a:ln w="952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1500" b="1" kern="0" dirty="0">
                  <a:solidFill>
                    <a:srgbClr val="000000"/>
                  </a:solidFill>
                  <a:latin typeface="Arial" panose="020B0604020202020204" pitchFamily="34" charset="0"/>
                </a:rPr>
                <a:t>仓库中容</a:t>
              </a:r>
              <a:endParaRPr lang="zh-CN" altLang="en-US" sz="1500" b="1" kern="0" dirty="0">
                <a:solidFill>
                  <a:srgbClr val="000000"/>
                </a:solidFill>
                <a:latin typeface="Arial" panose="020B0604020202020204" pitchFamily="34" charset="0"/>
              </a:endParaRPr>
            </a:p>
            <a:p>
              <a:pPr algn="ctr" fontAlgn="base">
                <a:spcBef>
                  <a:spcPct val="0"/>
                </a:spcBef>
                <a:spcAft>
                  <a:spcPct val="0"/>
                </a:spcAft>
              </a:pPr>
              <a:r>
                <a:rPr lang="zh-CN" altLang="en-US" sz="1500" b="1" kern="0" dirty="0">
                  <a:solidFill>
                    <a:srgbClr val="000000"/>
                  </a:solidFill>
                  <a:latin typeface="Arial" panose="020B0604020202020204" pitchFamily="34" charset="0"/>
                </a:rPr>
                <a:t>器的列表</a:t>
              </a:r>
              <a:endParaRPr lang="zh-CN" altLang="en-US" sz="1500" b="1" kern="0" dirty="0">
                <a:solidFill>
                  <a:srgbClr val="000000"/>
                </a:solidFill>
                <a:latin typeface="Arial" panose="020B0604020202020204" pitchFamily="34" charset="0"/>
              </a:endParaRPr>
            </a:p>
          </p:txBody>
        </p:sp>
        <p:sp>
          <p:nvSpPr>
            <p:cNvPr id="87" name="矩形 31749"/>
            <p:cNvSpPr/>
            <p:nvPr/>
          </p:nvSpPr>
          <p:spPr>
            <a:xfrm>
              <a:off x="6055128" y="6377551"/>
              <a:ext cx="1066800" cy="533400"/>
            </a:xfrm>
            <a:prstGeom prst="rect">
              <a:avLst/>
            </a:prstGeom>
            <a:solidFill>
              <a:schemeClr val="accent1">
                <a:lumMod val="40000"/>
                <a:lumOff val="60000"/>
              </a:schemeClr>
            </a:solidFill>
            <a:ln w="952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1500" b="1" kern="0" dirty="0">
                  <a:solidFill>
                    <a:srgbClr val="000000"/>
                  </a:solidFill>
                  <a:latin typeface="Arial" panose="020B0604020202020204" pitchFamily="34" charset="0"/>
                </a:rPr>
                <a:t>容器历史</a:t>
              </a:r>
              <a:endParaRPr lang="zh-CN" altLang="en-US" sz="1500" b="1" kern="0" dirty="0">
                <a:solidFill>
                  <a:srgbClr val="000000"/>
                </a:solidFill>
                <a:latin typeface="Arial" panose="020B0604020202020204" pitchFamily="34" charset="0"/>
              </a:endParaRPr>
            </a:p>
          </p:txBody>
        </p:sp>
        <p:sp>
          <p:nvSpPr>
            <p:cNvPr id="88" name="矩形 31750"/>
            <p:cNvSpPr/>
            <p:nvPr/>
          </p:nvSpPr>
          <p:spPr>
            <a:xfrm>
              <a:off x="3388128" y="3481951"/>
              <a:ext cx="1066800" cy="533400"/>
            </a:xfrm>
            <a:prstGeom prst="rect">
              <a:avLst/>
            </a:prstGeom>
            <a:solidFill>
              <a:schemeClr val="accent1">
                <a:lumMod val="40000"/>
                <a:lumOff val="60000"/>
              </a:schemeClr>
            </a:solidFill>
            <a:ln w="9525" cap="flat" cmpd="sng">
              <a:solidFill>
                <a:srgbClr val="000000"/>
              </a:solidFill>
              <a:prstDash val="solid"/>
              <a:miter/>
              <a:headEnd type="none" w="med" len="med"/>
              <a:tailEnd type="none" w="med" len="med"/>
            </a:ln>
          </p:spPr>
          <p:txBody>
            <a:bodyPr wrap="none" anchor="ct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500" b="1" i="0" u="none" strike="noStrike" kern="0" cap="none" spc="0" normalizeH="0" baseline="0" noProof="0" dirty="0">
                  <a:ln>
                    <a:noFill/>
                  </a:ln>
                  <a:solidFill>
                    <a:srgbClr val="000000"/>
                  </a:solidFill>
                  <a:effectLst/>
                  <a:uLnTx/>
                  <a:uFillTx/>
                  <a:latin typeface="Arial" panose="020B0604020202020204" pitchFamily="34" charset="0"/>
                </a:rPr>
                <a:t>显示错</a:t>
              </a:r>
              <a:endParaRPr kumimoji="0" lang="zh-CN" altLang="en-US" sz="1500" b="1" i="0" u="none" strike="noStrike" kern="0" cap="none" spc="0" normalizeH="0" baseline="0" noProof="0" dirty="0">
                <a:ln>
                  <a:noFill/>
                </a:ln>
                <a:solidFill>
                  <a:srgbClr val="000000"/>
                </a:solidFill>
                <a:effectLst/>
                <a:uLnTx/>
                <a:uFillTx/>
                <a:latin typeface="Arial" panose="020B0604020202020204" pitchFamily="34" charset="0"/>
              </a:endParaRPr>
            </a:p>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500" b="1" i="0" u="none" strike="noStrike" kern="0" cap="none" spc="0" normalizeH="0" baseline="0" noProof="0" dirty="0">
                  <a:ln>
                    <a:noFill/>
                  </a:ln>
                  <a:solidFill>
                    <a:srgbClr val="000000"/>
                  </a:solidFill>
                  <a:effectLst/>
                  <a:uLnTx/>
                  <a:uFillTx/>
                  <a:latin typeface="Arial" panose="020B0604020202020204" pitchFamily="34" charset="0"/>
                </a:rPr>
                <a:t>误信息</a:t>
              </a:r>
              <a:endParaRPr kumimoji="0" lang="zh-CN" altLang="en-US" sz="15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89" name="矩形 31751"/>
            <p:cNvSpPr/>
            <p:nvPr/>
          </p:nvSpPr>
          <p:spPr>
            <a:xfrm>
              <a:off x="8722128" y="3481951"/>
              <a:ext cx="1219200" cy="609599"/>
            </a:xfrm>
            <a:prstGeom prst="rect">
              <a:avLst/>
            </a:prstGeom>
            <a:solidFill>
              <a:schemeClr val="accent1">
                <a:lumMod val="40000"/>
                <a:lumOff val="60000"/>
              </a:schemeClr>
            </a:solidFill>
            <a:ln w="952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1500" b="1" kern="0" dirty="0">
                  <a:solidFill>
                    <a:srgbClr val="000000"/>
                  </a:solidFill>
                  <a:latin typeface="Arial" panose="020B0604020202020204" pitchFamily="34" charset="0"/>
                </a:rPr>
                <a:t>所需化学制品</a:t>
              </a:r>
              <a:endParaRPr lang="zh-CN" altLang="en-US" sz="1500" b="1" kern="0" dirty="0">
                <a:solidFill>
                  <a:srgbClr val="000000"/>
                </a:solidFill>
                <a:latin typeface="Arial" panose="020B0604020202020204" pitchFamily="34" charset="0"/>
              </a:endParaRPr>
            </a:p>
            <a:p>
              <a:pPr algn="ctr" fontAlgn="base">
                <a:spcBef>
                  <a:spcPct val="0"/>
                </a:spcBef>
                <a:spcAft>
                  <a:spcPct val="0"/>
                </a:spcAft>
              </a:pPr>
              <a:r>
                <a:rPr lang="zh-CN" altLang="en-US" sz="1500" b="1" kern="0" dirty="0">
                  <a:solidFill>
                    <a:srgbClr val="000000"/>
                  </a:solidFill>
                  <a:latin typeface="Arial" panose="020B0604020202020204" pitchFamily="34" charset="0"/>
                </a:rPr>
                <a:t>的供应商列表</a:t>
              </a:r>
              <a:endParaRPr lang="zh-CN" altLang="en-US" sz="1500" b="1" kern="0" dirty="0">
                <a:solidFill>
                  <a:srgbClr val="000000"/>
                </a:solidFill>
                <a:latin typeface="Arial" panose="020B0604020202020204" pitchFamily="34" charset="0"/>
              </a:endParaRPr>
            </a:p>
          </p:txBody>
        </p:sp>
        <p:sp>
          <p:nvSpPr>
            <p:cNvPr id="90" name="矩形 31752"/>
            <p:cNvSpPr/>
            <p:nvPr/>
          </p:nvSpPr>
          <p:spPr>
            <a:xfrm>
              <a:off x="8722128" y="1119751"/>
              <a:ext cx="1066800" cy="533400"/>
            </a:xfrm>
            <a:prstGeom prst="rect">
              <a:avLst/>
            </a:prstGeom>
            <a:solidFill>
              <a:schemeClr val="accent1">
                <a:lumMod val="40000"/>
                <a:lumOff val="60000"/>
              </a:schemeClr>
            </a:solidFill>
            <a:ln w="952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1500" b="1" kern="0" dirty="0">
                  <a:solidFill>
                    <a:srgbClr val="000000"/>
                  </a:solidFill>
                  <a:latin typeface="Arial" panose="020B0604020202020204" pitchFamily="34" charset="0"/>
                </a:rPr>
                <a:t>确认请</a:t>
              </a:r>
              <a:endParaRPr lang="zh-CN" altLang="en-US" sz="1500" b="1" kern="0" dirty="0">
                <a:solidFill>
                  <a:srgbClr val="000000"/>
                </a:solidFill>
                <a:latin typeface="Arial" panose="020B0604020202020204" pitchFamily="34" charset="0"/>
              </a:endParaRPr>
            </a:p>
            <a:p>
              <a:pPr algn="ctr" fontAlgn="base">
                <a:spcBef>
                  <a:spcPct val="0"/>
                </a:spcBef>
                <a:spcAft>
                  <a:spcPct val="0"/>
                </a:spcAft>
              </a:pPr>
              <a:r>
                <a:rPr lang="zh-CN" altLang="en-US" sz="1500" b="1" kern="0" dirty="0">
                  <a:solidFill>
                    <a:srgbClr val="000000"/>
                  </a:solidFill>
                  <a:latin typeface="Arial" panose="020B0604020202020204" pitchFamily="34" charset="0"/>
                </a:rPr>
                <a:t>求被接受</a:t>
              </a:r>
              <a:endParaRPr lang="zh-CN" altLang="en-US" sz="1500" b="1" kern="0" dirty="0">
                <a:solidFill>
                  <a:srgbClr val="000000"/>
                </a:solidFill>
                <a:latin typeface="Arial" panose="020B0604020202020204" pitchFamily="34" charset="0"/>
              </a:endParaRPr>
            </a:p>
          </p:txBody>
        </p:sp>
        <p:sp>
          <p:nvSpPr>
            <p:cNvPr id="91" name="直接连接符 31753"/>
            <p:cNvSpPr/>
            <p:nvPr/>
          </p:nvSpPr>
          <p:spPr>
            <a:xfrm>
              <a:off x="6359928" y="891151"/>
              <a:ext cx="0" cy="990600"/>
            </a:xfrm>
            <a:prstGeom prst="line">
              <a:avLst/>
            </a:prstGeom>
            <a:ln w="38100" cap="flat" cmpd="sng">
              <a:solidFill>
                <a:srgbClr val="000000"/>
              </a:solidFill>
              <a:prstDash val="solid"/>
              <a:round/>
              <a:headEnd type="none" w="med" len="med"/>
              <a:tailEnd type="triangle" w="lg" len="lg"/>
            </a:ln>
          </p:spPr>
        </p:sp>
        <p:sp>
          <p:nvSpPr>
            <p:cNvPr id="92" name="直接连接符 31754"/>
            <p:cNvSpPr/>
            <p:nvPr/>
          </p:nvSpPr>
          <p:spPr>
            <a:xfrm>
              <a:off x="6588528" y="2415151"/>
              <a:ext cx="0" cy="1066800"/>
            </a:xfrm>
            <a:prstGeom prst="line">
              <a:avLst/>
            </a:prstGeom>
            <a:ln w="38100" cap="flat" cmpd="sng">
              <a:solidFill>
                <a:srgbClr val="000000"/>
              </a:solidFill>
              <a:prstDash val="solid"/>
              <a:round/>
              <a:headEnd type="none" w="med" len="med"/>
              <a:tailEnd type="triangle" w="lg" len="lg"/>
            </a:ln>
          </p:spPr>
        </p:sp>
        <p:sp>
          <p:nvSpPr>
            <p:cNvPr id="93" name="直接连接符 31755"/>
            <p:cNvSpPr/>
            <p:nvPr/>
          </p:nvSpPr>
          <p:spPr>
            <a:xfrm flipH="1">
              <a:off x="6283728" y="4015351"/>
              <a:ext cx="0" cy="914400"/>
            </a:xfrm>
            <a:prstGeom prst="line">
              <a:avLst/>
            </a:prstGeom>
            <a:ln w="38100" cap="flat" cmpd="sng">
              <a:solidFill>
                <a:srgbClr val="000000"/>
              </a:solidFill>
              <a:prstDash val="solid"/>
              <a:round/>
              <a:headEnd type="none" w="med" len="med"/>
              <a:tailEnd type="triangle" w="lg" len="lg"/>
            </a:ln>
          </p:spPr>
        </p:sp>
        <p:sp>
          <p:nvSpPr>
            <p:cNvPr id="94" name="直接连接符 31756"/>
            <p:cNvSpPr/>
            <p:nvPr/>
          </p:nvSpPr>
          <p:spPr>
            <a:xfrm flipH="1">
              <a:off x="6283728" y="5463151"/>
              <a:ext cx="0" cy="914400"/>
            </a:xfrm>
            <a:prstGeom prst="line">
              <a:avLst/>
            </a:prstGeom>
            <a:ln w="38100" cap="flat" cmpd="sng">
              <a:solidFill>
                <a:srgbClr val="000000"/>
              </a:solidFill>
              <a:prstDash val="solid"/>
              <a:round/>
              <a:headEnd type="none" w="med" len="med"/>
              <a:tailEnd type="triangle" w="lg" len="lg"/>
            </a:ln>
          </p:spPr>
        </p:sp>
        <p:sp>
          <p:nvSpPr>
            <p:cNvPr id="95" name="直接连接符 31757"/>
            <p:cNvSpPr/>
            <p:nvPr/>
          </p:nvSpPr>
          <p:spPr>
            <a:xfrm flipH="1" flipV="1">
              <a:off x="6893328" y="4015351"/>
              <a:ext cx="0" cy="914400"/>
            </a:xfrm>
            <a:prstGeom prst="line">
              <a:avLst/>
            </a:prstGeom>
            <a:ln w="38100" cap="flat" cmpd="sng">
              <a:solidFill>
                <a:srgbClr val="000000"/>
              </a:solidFill>
              <a:prstDash val="solid"/>
              <a:round/>
              <a:headEnd type="none" w="med" len="med"/>
              <a:tailEnd type="triangle" w="lg" len="lg"/>
            </a:ln>
          </p:spPr>
        </p:sp>
        <p:sp>
          <p:nvSpPr>
            <p:cNvPr id="96" name="直接连接符 31758"/>
            <p:cNvSpPr/>
            <p:nvPr/>
          </p:nvSpPr>
          <p:spPr>
            <a:xfrm flipH="1" flipV="1">
              <a:off x="6893328" y="5463151"/>
              <a:ext cx="0" cy="914400"/>
            </a:xfrm>
            <a:prstGeom prst="line">
              <a:avLst/>
            </a:prstGeom>
            <a:ln w="38100" cap="flat" cmpd="sng">
              <a:solidFill>
                <a:srgbClr val="000000"/>
              </a:solidFill>
              <a:prstDash val="solid"/>
              <a:round/>
              <a:headEnd type="none" w="med" len="med"/>
              <a:tailEnd type="triangle" w="lg" len="lg"/>
            </a:ln>
          </p:spPr>
        </p:sp>
        <p:sp>
          <p:nvSpPr>
            <p:cNvPr id="97" name="直接连接符 31759"/>
            <p:cNvSpPr/>
            <p:nvPr/>
          </p:nvSpPr>
          <p:spPr>
            <a:xfrm flipH="1" flipV="1">
              <a:off x="6969528" y="2415151"/>
              <a:ext cx="0" cy="1066800"/>
            </a:xfrm>
            <a:prstGeom prst="line">
              <a:avLst/>
            </a:prstGeom>
            <a:ln w="38100" cap="flat" cmpd="sng">
              <a:solidFill>
                <a:srgbClr val="000000"/>
              </a:solidFill>
              <a:prstDash val="solid"/>
              <a:round/>
              <a:headEnd type="none" w="med" len="med"/>
              <a:tailEnd type="triangle" w="lg" len="lg"/>
            </a:ln>
          </p:spPr>
        </p:sp>
        <p:sp>
          <p:nvSpPr>
            <p:cNvPr id="98" name="直接连接符 31760"/>
            <p:cNvSpPr/>
            <p:nvPr/>
          </p:nvSpPr>
          <p:spPr>
            <a:xfrm flipH="1" flipV="1">
              <a:off x="6893328" y="891151"/>
              <a:ext cx="0" cy="990600"/>
            </a:xfrm>
            <a:prstGeom prst="line">
              <a:avLst/>
            </a:prstGeom>
            <a:ln w="38100" cap="flat" cmpd="sng">
              <a:solidFill>
                <a:srgbClr val="000000"/>
              </a:solidFill>
              <a:prstDash val="solid"/>
              <a:round/>
              <a:headEnd type="none" w="med" len="med"/>
              <a:tailEnd type="triangle" w="lg" len="lg"/>
            </a:ln>
          </p:spPr>
        </p:sp>
        <p:sp>
          <p:nvSpPr>
            <p:cNvPr id="99" name="文本框 31761"/>
            <p:cNvSpPr txBox="1"/>
            <p:nvPr/>
          </p:nvSpPr>
          <p:spPr>
            <a:xfrm>
              <a:off x="6588529" y="1157424"/>
              <a:ext cx="1066800" cy="359877"/>
            </a:xfrm>
            <a:prstGeom prst="rect">
              <a:avLst/>
            </a:prstGeom>
            <a:solidFill>
              <a:srgbClr val="FFFFFF"/>
            </a:solidFill>
            <a:ln w="9525">
              <a:noFill/>
            </a:ln>
          </p:spPr>
          <p:txBody>
            <a:bodyPr wrap="squar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取消整个请求</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00" name="文本框 31762"/>
            <p:cNvSpPr txBox="1"/>
            <p:nvPr/>
          </p:nvSpPr>
          <p:spPr>
            <a:xfrm>
              <a:off x="5445527" y="1173854"/>
              <a:ext cx="1066801" cy="359877"/>
            </a:xfrm>
            <a:prstGeom prst="rect">
              <a:avLst/>
            </a:prstGeom>
            <a:solidFill>
              <a:srgbClr val="FFFFFF"/>
            </a:solidFill>
            <a:ln w="9525">
              <a:noFill/>
            </a:ln>
          </p:spPr>
          <p:txBody>
            <a:bodyPr wrap="squar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要求一个请求</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01" name="文本框 31763"/>
            <p:cNvSpPr txBox="1"/>
            <p:nvPr/>
          </p:nvSpPr>
          <p:spPr>
            <a:xfrm>
              <a:off x="6877453" y="2659626"/>
              <a:ext cx="1253490" cy="599794"/>
            </a:xfrm>
            <a:prstGeom prst="rect">
              <a:avLst/>
            </a:prstGeom>
            <a:solidFill>
              <a:srgbClr val="FFFFFF"/>
            </a:solidFill>
            <a:ln w="9525">
              <a:noFill/>
            </a:ln>
          </p:spPr>
          <p:txBody>
            <a:bodyPr wrap="squar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取消新加入</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的化学制品</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02" name="直接连接符 31764"/>
            <p:cNvSpPr/>
            <p:nvPr/>
          </p:nvSpPr>
          <p:spPr>
            <a:xfrm flipH="1">
              <a:off x="4454928" y="3558151"/>
              <a:ext cx="1600200" cy="0"/>
            </a:xfrm>
            <a:prstGeom prst="line">
              <a:avLst/>
            </a:prstGeom>
            <a:ln w="38100" cap="flat" cmpd="sng">
              <a:solidFill>
                <a:srgbClr val="000000"/>
              </a:solidFill>
              <a:prstDash val="solid"/>
              <a:round/>
              <a:headEnd type="none" w="med" len="med"/>
              <a:tailEnd type="triangle" w="lg" len="lg"/>
            </a:ln>
          </p:spPr>
        </p:sp>
        <p:sp>
          <p:nvSpPr>
            <p:cNvPr id="103" name="直接连接符 31765"/>
            <p:cNvSpPr/>
            <p:nvPr/>
          </p:nvSpPr>
          <p:spPr>
            <a:xfrm flipH="1">
              <a:off x="7121928" y="3939151"/>
              <a:ext cx="1600200" cy="0"/>
            </a:xfrm>
            <a:prstGeom prst="line">
              <a:avLst/>
            </a:prstGeom>
            <a:ln w="38100" cap="flat" cmpd="sng">
              <a:solidFill>
                <a:srgbClr val="000000"/>
              </a:solidFill>
              <a:prstDash val="solid"/>
              <a:round/>
              <a:headEnd type="none" w="med" len="med"/>
              <a:tailEnd type="triangle" w="lg" len="lg"/>
            </a:ln>
          </p:spPr>
        </p:sp>
        <p:sp>
          <p:nvSpPr>
            <p:cNvPr id="104" name="直接连接符 31766"/>
            <p:cNvSpPr/>
            <p:nvPr/>
          </p:nvSpPr>
          <p:spPr>
            <a:xfrm>
              <a:off x="7121928" y="3558151"/>
              <a:ext cx="1600200" cy="0"/>
            </a:xfrm>
            <a:prstGeom prst="line">
              <a:avLst/>
            </a:prstGeom>
            <a:ln w="38100" cap="flat" cmpd="sng">
              <a:solidFill>
                <a:srgbClr val="000000"/>
              </a:solidFill>
              <a:prstDash val="solid"/>
              <a:round/>
              <a:headEnd type="none" w="med" len="med"/>
              <a:tailEnd type="triangle" w="lg" len="lg"/>
            </a:ln>
          </p:spPr>
        </p:sp>
        <p:sp>
          <p:nvSpPr>
            <p:cNvPr id="105" name="文本框 31767"/>
            <p:cNvSpPr txBox="1"/>
            <p:nvPr/>
          </p:nvSpPr>
          <p:spPr>
            <a:xfrm>
              <a:off x="6725053" y="5844151"/>
              <a:ext cx="476800" cy="359877"/>
            </a:xfrm>
            <a:prstGeom prst="rect">
              <a:avLst/>
            </a:prstGeom>
            <a:solidFill>
              <a:srgbClr val="FFFFFF"/>
            </a:solid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流向</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06" name="文本框 31768"/>
            <p:cNvSpPr txBox="1"/>
            <p:nvPr/>
          </p:nvSpPr>
          <p:spPr>
            <a:xfrm>
              <a:off x="5167043" y="5712872"/>
              <a:ext cx="1411051" cy="359877"/>
            </a:xfrm>
            <a:prstGeom prst="rect">
              <a:avLst/>
            </a:prstGeom>
            <a:solidFill>
              <a:srgbClr val="FFFFFF"/>
            </a:solidFill>
            <a:ln w="9525">
              <a:noFill/>
            </a:ln>
          </p:spPr>
          <p:txBody>
            <a:bodyPr wrap="squar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请求查看容器历史</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07" name="文本框 31769"/>
            <p:cNvSpPr txBox="1"/>
            <p:nvPr/>
          </p:nvSpPr>
          <p:spPr>
            <a:xfrm>
              <a:off x="5597928" y="4107426"/>
              <a:ext cx="923798" cy="599794"/>
            </a:xfrm>
            <a:prstGeom prst="rect">
              <a:avLst/>
            </a:prstGeom>
            <a:solidFill>
              <a:srgbClr val="FFFFFF"/>
            </a:solid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请求仓库中</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的化学制品</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08" name="文本框 31770"/>
            <p:cNvSpPr txBox="1"/>
            <p:nvPr/>
          </p:nvSpPr>
          <p:spPr>
            <a:xfrm>
              <a:off x="6607578" y="4264030"/>
              <a:ext cx="923798" cy="599794"/>
            </a:xfrm>
            <a:prstGeom prst="rect">
              <a:avLst/>
            </a:prstGeom>
            <a:solidFill>
              <a:srgbClr val="FFFFFF"/>
            </a:solid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请求一不同</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的化学制品</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09" name="文本框 31771"/>
            <p:cNvSpPr txBox="1"/>
            <p:nvPr/>
          </p:nvSpPr>
          <p:spPr>
            <a:xfrm>
              <a:off x="4835928" y="2954901"/>
              <a:ext cx="774799" cy="599794"/>
            </a:xfrm>
            <a:prstGeom prst="rect">
              <a:avLst/>
            </a:prstGeom>
            <a:solidFill>
              <a:srgbClr val="FFFFFF"/>
            </a:solid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无效化学</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制品编号</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10" name="文本框 31772"/>
            <p:cNvSpPr txBox="1"/>
            <p:nvPr/>
          </p:nvSpPr>
          <p:spPr>
            <a:xfrm>
              <a:off x="5743978" y="2697636"/>
              <a:ext cx="923798" cy="599794"/>
            </a:xfrm>
            <a:prstGeom prst="rect">
              <a:avLst/>
            </a:prstGeom>
            <a:solidFill>
              <a:srgbClr val="FFFFFF"/>
            </a:solid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请求另一种</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 化学制品</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11" name="直接连接符 31773"/>
            <p:cNvSpPr/>
            <p:nvPr/>
          </p:nvSpPr>
          <p:spPr>
            <a:xfrm>
              <a:off x="4454928" y="3862951"/>
              <a:ext cx="1600200" cy="0"/>
            </a:xfrm>
            <a:prstGeom prst="line">
              <a:avLst/>
            </a:prstGeom>
            <a:ln w="38100" cap="flat" cmpd="sng">
              <a:solidFill>
                <a:srgbClr val="000000"/>
              </a:solidFill>
              <a:prstDash val="solid"/>
              <a:round/>
              <a:headEnd type="none" w="med" len="med"/>
              <a:tailEnd type="triangle" w="lg" len="lg"/>
            </a:ln>
          </p:spPr>
        </p:sp>
        <p:sp>
          <p:nvSpPr>
            <p:cNvPr id="112" name="直接连接符 31774"/>
            <p:cNvSpPr/>
            <p:nvPr/>
          </p:nvSpPr>
          <p:spPr>
            <a:xfrm>
              <a:off x="3083328" y="2186551"/>
              <a:ext cx="2971800" cy="0"/>
            </a:xfrm>
            <a:prstGeom prst="line">
              <a:avLst/>
            </a:prstGeom>
            <a:ln w="38100" cap="flat" cmpd="sng">
              <a:solidFill>
                <a:srgbClr val="000000"/>
              </a:solidFill>
              <a:prstDash val="solid"/>
              <a:round/>
              <a:headEnd type="none" w="med" len="med"/>
              <a:tailEnd type="triangle" w="lg" len="lg"/>
            </a:ln>
          </p:spPr>
        </p:sp>
        <p:sp>
          <p:nvSpPr>
            <p:cNvPr id="113" name="文本框 31775"/>
            <p:cNvSpPr txBox="1"/>
            <p:nvPr/>
          </p:nvSpPr>
          <p:spPr>
            <a:xfrm>
              <a:off x="4994678" y="3710551"/>
              <a:ext cx="402299" cy="359877"/>
            </a:xfrm>
            <a:prstGeom prst="rect">
              <a:avLst/>
            </a:prstGeom>
            <a:solidFill>
              <a:srgbClr val="FFFFFF"/>
            </a:solid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200" b="1" i="0" u="none" strike="noStrike" kern="0" cap="none" spc="0" normalizeH="0" baseline="0" noProof="0" dirty="0">
                  <a:ln>
                    <a:noFill/>
                  </a:ln>
                  <a:solidFill>
                    <a:srgbClr val="000000"/>
                  </a:solidFill>
                  <a:effectLst/>
                  <a:uLnTx/>
                  <a:uFillTx/>
                  <a:latin typeface="Arial" panose="020B0604020202020204" pitchFamily="34" charset="0"/>
                </a:rPr>
                <a:t>OK</a:t>
              </a:r>
              <a:endParaRPr kumimoji="0" lang="en-US" altLang="zh-CN" sz="1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14" name="文本框 31776"/>
            <p:cNvSpPr txBox="1"/>
            <p:nvPr/>
          </p:nvSpPr>
          <p:spPr>
            <a:xfrm>
              <a:off x="7425204" y="3177151"/>
              <a:ext cx="923798" cy="599794"/>
            </a:xfrm>
            <a:prstGeom prst="rect">
              <a:avLst/>
            </a:prstGeom>
            <a:solidFill>
              <a:srgbClr val="FFFFFF"/>
            </a:solidFill>
            <a:ln w="9525">
              <a:noFill/>
            </a:ln>
          </p:spPr>
          <p:txBody>
            <a:bodyPr wrap="none" anchor="t">
              <a:spAutoFit/>
            </a:body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从供应商请</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求化学制品</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15" name="文本框 31777"/>
            <p:cNvSpPr txBox="1"/>
            <p:nvPr/>
          </p:nvSpPr>
          <p:spPr>
            <a:xfrm>
              <a:off x="7571254" y="3802626"/>
              <a:ext cx="923798" cy="599794"/>
            </a:xfrm>
            <a:prstGeom prst="rect">
              <a:avLst/>
            </a:prstGeom>
            <a:solidFill>
              <a:srgbClr val="FFFFFF"/>
            </a:solidFill>
            <a:ln w="9525">
              <a:noFill/>
            </a:ln>
          </p:spPr>
          <p:txBody>
            <a:bodyPr wrap="none" anchor="t">
              <a:spAutoFit/>
            </a:body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请求一不同</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的化学制品</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16" name="直接连接符 31778"/>
            <p:cNvSpPr/>
            <p:nvPr/>
          </p:nvSpPr>
          <p:spPr>
            <a:xfrm flipH="1">
              <a:off x="3124200" y="5005951"/>
              <a:ext cx="2971800" cy="0"/>
            </a:xfrm>
            <a:prstGeom prst="line">
              <a:avLst/>
            </a:prstGeom>
            <a:ln w="38100" cap="flat" cmpd="sng">
              <a:solidFill>
                <a:srgbClr val="000000"/>
              </a:solidFill>
              <a:prstDash val="solid"/>
              <a:round/>
              <a:headEnd type="none" w="med" len="med"/>
              <a:tailEnd type="none" w="med" len="med"/>
            </a:ln>
          </p:spPr>
        </p:sp>
        <p:sp>
          <p:nvSpPr>
            <p:cNvPr id="117" name="直接连接符 31779"/>
            <p:cNvSpPr/>
            <p:nvPr/>
          </p:nvSpPr>
          <p:spPr>
            <a:xfrm flipV="1">
              <a:off x="3083328" y="2186551"/>
              <a:ext cx="0" cy="2819400"/>
            </a:xfrm>
            <a:prstGeom prst="line">
              <a:avLst/>
            </a:prstGeom>
            <a:ln w="38100" cap="flat" cmpd="sng">
              <a:solidFill>
                <a:srgbClr val="000000"/>
              </a:solidFill>
              <a:prstDash val="solid"/>
              <a:round/>
              <a:headEnd type="none" w="med" len="med"/>
              <a:tailEnd type="none" w="med" len="med"/>
            </a:ln>
          </p:spPr>
        </p:sp>
        <p:sp>
          <p:nvSpPr>
            <p:cNvPr id="118" name="直接连接符 31780"/>
            <p:cNvSpPr/>
            <p:nvPr/>
          </p:nvSpPr>
          <p:spPr>
            <a:xfrm flipV="1">
              <a:off x="2854728" y="1957951"/>
              <a:ext cx="0" cy="3352800"/>
            </a:xfrm>
            <a:prstGeom prst="line">
              <a:avLst/>
            </a:prstGeom>
            <a:ln w="38100" cap="flat" cmpd="sng">
              <a:solidFill>
                <a:srgbClr val="000000"/>
              </a:solidFill>
              <a:prstDash val="solid"/>
              <a:round/>
              <a:headEnd type="none" w="med" len="med"/>
              <a:tailEnd type="none" w="med" len="med"/>
            </a:ln>
          </p:spPr>
        </p:sp>
        <p:sp>
          <p:nvSpPr>
            <p:cNvPr id="119" name="直接连接符 31781"/>
            <p:cNvSpPr/>
            <p:nvPr/>
          </p:nvSpPr>
          <p:spPr>
            <a:xfrm flipH="1">
              <a:off x="2854728" y="5310751"/>
              <a:ext cx="3200400" cy="0"/>
            </a:xfrm>
            <a:prstGeom prst="line">
              <a:avLst/>
            </a:prstGeom>
            <a:ln w="38100" cap="flat" cmpd="sng">
              <a:solidFill>
                <a:srgbClr val="000000"/>
              </a:solidFill>
              <a:prstDash val="solid"/>
              <a:round/>
              <a:headEnd type="none" w="med" len="med"/>
              <a:tailEnd type="none" w="med" len="med"/>
            </a:ln>
          </p:spPr>
        </p:sp>
        <p:sp>
          <p:nvSpPr>
            <p:cNvPr id="120" name="直接连接符 31782"/>
            <p:cNvSpPr/>
            <p:nvPr/>
          </p:nvSpPr>
          <p:spPr>
            <a:xfrm>
              <a:off x="2854728" y="1957951"/>
              <a:ext cx="3200400" cy="0"/>
            </a:xfrm>
            <a:prstGeom prst="line">
              <a:avLst/>
            </a:prstGeom>
            <a:ln w="38100" cap="flat" cmpd="sng">
              <a:solidFill>
                <a:srgbClr val="000000"/>
              </a:solidFill>
              <a:prstDash val="solid"/>
              <a:round/>
              <a:headEnd type="none" w="med" len="med"/>
              <a:tailEnd type="triangle" w="lg" len="lg"/>
            </a:ln>
          </p:spPr>
        </p:sp>
        <p:sp>
          <p:nvSpPr>
            <p:cNvPr id="121" name="文本框 31783"/>
            <p:cNvSpPr txBox="1"/>
            <p:nvPr/>
          </p:nvSpPr>
          <p:spPr>
            <a:xfrm>
              <a:off x="3540528" y="4624951"/>
              <a:ext cx="1370798" cy="359877"/>
            </a:xfrm>
            <a:prstGeom prst="rect">
              <a:avLst/>
            </a:prstGeom>
            <a:solidFill>
              <a:srgbClr val="FFFFFF"/>
            </a:solid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选择容器加到列表</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22" name="文本框 31784"/>
            <p:cNvSpPr txBox="1"/>
            <p:nvPr/>
          </p:nvSpPr>
          <p:spPr>
            <a:xfrm>
              <a:off x="3388128" y="5386952"/>
              <a:ext cx="1668798" cy="359877"/>
            </a:xfrm>
            <a:prstGeom prst="rect">
              <a:avLst/>
            </a:prstGeom>
            <a:solidFill>
              <a:srgbClr val="FFFFFF"/>
            </a:solid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取消新加入的化学制品</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23" name="直接连接符 31785"/>
            <p:cNvSpPr/>
            <p:nvPr/>
          </p:nvSpPr>
          <p:spPr>
            <a:xfrm flipH="1">
              <a:off x="4835928" y="2338951"/>
              <a:ext cx="1219200" cy="0"/>
            </a:xfrm>
            <a:prstGeom prst="line">
              <a:avLst/>
            </a:prstGeom>
            <a:ln w="38100" cap="flat" cmpd="sng">
              <a:solidFill>
                <a:srgbClr val="000000"/>
              </a:solidFill>
              <a:prstDash val="solid"/>
              <a:round/>
              <a:headEnd type="none" w="med" len="med"/>
              <a:tailEnd type="none" w="med" len="med"/>
            </a:ln>
          </p:spPr>
        </p:sp>
        <p:sp>
          <p:nvSpPr>
            <p:cNvPr id="124" name="直接连接符 31786"/>
            <p:cNvSpPr/>
            <p:nvPr/>
          </p:nvSpPr>
          <p:spPr>
            <a:xfrm>
              <a:off x="4835928" y="2338951"/>
              <a:ext cx="0" cy="381000"/>
            </a:xfrm>
            <a:prstGeom prst="line">
              <a:avLst/>
            </a:prstGeom>
            <a:ln w="38100" cap="flat" cmpd="sng">
              <a:solidFill>
                <a:srgbClr val="000000"/>
              </a:solidFill>
              <a:prstDash val="solid"/>
              <a:round/>
              <a:headEnd type="none" w="med" len="med"/>
              <a:tailEnd type="none" w="med" len="med"/>
            </a:ln>
          </p:spPr>
        </p:sp>
        <p:sp>
          <p:nvSpPr>
            <p:cNvPr id="125" name="直接连接符 31787"/>
            <p:cNvSpPr/>
            <p:nvPr/>
          </p:nvSpPr>
          <p:spPr>
            <a:xfrm flipH="1">
              <a:off x="4835928" y="2719951"/>
              <a:ext cx="1371600" cy="0"/>
            </a:xfrm>
            <a:prstGeom prst="line">
              <a:avLst/>
            </a:prstGeom>
            <a:ln w="38100" cap="flat" cmpd="sng">
              <a:solidFill>
                <a:srgbClr val="000000"/>
              </a:solidFill>
              <a:prstDash val="solid"/>
              <a:round/>
              <a:headEnd type="none" w="med" len="med"/>
              <a:tailEnd type="none" w="med" len="med"/>
            </a:ln>
          </p:spPr>
        </p:sp>
        <p:sp>
          <p:nvSpPr>
            <p:cNvPr id="126" name="直接连接符 31788"/>
            <p:cNvSpPr/>
            <p:nvPr/>
          </p:nvSpPr>
          <p:spPr>
            <a:xfrm flipV="1">
              <a:off x="6207528" y="2415151"/>
              <a:ext cx="0" cy="304800"/>
            </a:xfrm>
            <a:prstGeom prst="line">
              <a:avLst/>
            </a:prstGeom>
            <a:ln w="38100" cap="flat" cmpd="sng">
              <a:solidFill>
                <a:srgbClr val="000000"/>
              </a:solidFill>
              <a:prstDash val="solid"/>
              <a:round/>
              <a:headEnd type="none" w="med" len="med"/>
              <a:tailEnd type="triangle" w="med" len="med"/>
            </a:ln>
          </p:spPr>
        </p:sp>
        <p:sp>
          <p:nvSpPr>
            <p:cNvPr id="127" name="文本框 31789"/>
            <p:cNvSpPr txBox="1"/>
            <p:nvPr/>
          </p:nvSpPr>
          <p:spPr>
            <a:xfrm>
              <a:off x="3898857" y="2345404"/>
              <a:ext cx="923798" cy="599794"/>
            </a:xfrm>
            <a:prstGeom prst="rect">
              <a:avLst/>
            </a:prstGeom>
            <a:solidFill>
              <a:srgbClr val="FFFFFF"/>
            </a:solid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从列表中删</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除化学制品</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28" name="直接连接符 31790"/>
            <p:cNvSpPr/>
            <p:nvPr/>
          </p:nvSpPr>
          <p:spPr>
            <a:xfrm>
              <a:off x="9788928" y="1348351"/>
              <a:ext cx="1600200" cy="0"/>
            </a:xfrm>
            <a:prstGeom prst="line">
              <a:avLst/>
            </a:prstGeom>
            <a:ln w="38100" cap="flat" cmpd="sng">
              <a:solidFill>
                <a:srgbClr val="000000"/>
              </a:solidFill>
              <a:prstDash val="solid"/>
              <a:round/>
              <a:headEnd type="none" w="med" len="med"/>
              <a:tailEnd type="triangle" w="lg" len="lg"/>
            </a:ln>
          </p:spPr>
        </p:sp>
        <p:sp>
          <p:nvSpPr>
            <p:cNvPr id="129" name="文本框 31791"/>
            <p:cNvSpPr txBox="1"/>
            <p:nvPr/>
          </p:nvSpPr>
          <p:spPr>
            <a:xfrm>
              <a:off x="9941328" y="1424551"/>
              <a:ext cx="923799" cy="599794"/>
            </a:xfrm>
            <a:prstGeom prst="rect">
              <a:avLst/>
            </a:prstGeom>
            <a:solidFill>
              <a:srgbClr val="FFFFFF"/>
            </a:solidFill>
            <a:ln w="9525">
              <a:noFill/>
            </a:ln>
          </p:spPr>
          <p:txBody>
            <a:bodyPr wrap="square" anchor="t">
              <a:spAutoFit/>
            </a:body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200" b="1" i="0" u="none" strike="noStrike" kern="0" cap="none" spc="0" normalizeH="0" baseline="0" noProof="0" dirty="0">
                  <a:ln>
                    <a:noFill/>
                  </a:ln>
                  <a:solidFill>
                    <a:srgbClr val="000000"/>
                  </a:solidFill>
                  <a:effectLst/>
                  <a:uLnTx/>
                  <a:uFillTx/>
                  <a:latin typeface="Arial" panose="020B0604020202020204" pitchFamily="34" charset="0"/>
                </a:rPr>
                <a:t>OK,</a:t>
              </a: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退出请</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求功能</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30" name="直接连接符 31792"/>
            <p:cNvSpPr/>
            <p:nvPr/>
          </p:nvSpPr>
          <p:spPr>
            <a:xfrm>
              <a:off x="7121928" y="1957951"/>
              <a:ext cx="2133600" cy="0"/>
            </a:xfrm>
            <a:prstGeom prst="line">
              <a:avLst/>
            </a:prstGeom>
            <a:ln w="38100" cap="flat" cmpd="sng">
              <a:solidFill>
                <a:srgbClr val="000000"/>
              </a:solidFill>
              <a:prstDash val="solid"/>
              <a:round/>
              <a:headEnd type="none" w="med" len="med"/>
              <a:tailEnd type="none" w="lg" len="lg"/>
            </a:ln>
          </p:spPr>
        </p:sp>
        <p:sp>
          <p:nvSpPr>
            <p:cNvPr id="131" name="直接连接符 31793"/>
            <p:cNvSpPr/>
            <p:nvPr/>
          </p:nvSpPr>
          <p:spPr>
            <a:xfrm flipV="1">
              <a:off x="9255528" y="1653151"/>
              <a:ext cx="0" cy="304800"/>
            </a:xfrm>
            <a:prstGeom prst="line">
              <a:avLst/>
            </a:prstGeom>
            <a:ln w="38100" cap="flat" cmpd="sng">
              <a:solidFill>
                <a:srgbClr val="000000"/>
              </a:solidFill>
              <a:prstDash val="solid"/>
              <a:round/>
              <a:headEnd type="none" w="med" len="med"/>
              <a:tailEnd type="triangle" w="lg" len="lg"/>
            </a:ln>
          </p:spPr>
        </p:sp>
        <p:sp>
          <p:nvSpPr>
            <p:cNvPr id="132" name="直接连接符 31794"/>
            <p:cNvSpPr/>
            <p:nvPr/>
          </p:nvSpPr>
          <p:spPr>
            <a:xfrm flipV="1">
              <a:off x="9560328" y="2110351"/>
              <a:ext cx="0" cy="1371600"/>
            </a:xfrm>
            <a:prstGeom prst="line">
              <a:avLst/>
            </a:prstGeom>
            <a:ln w="38100" cap="flat" cmpd="sng">
              <a:solidFill>
                <a:srgbClr val="000000"/>
              </a:solidFill>
              <a:prstDash val="solid"/>
              <a:round/>
              <a:headEnd type="none" w="med" len="med"/>
              <a:tailEnd type="none" w="med" len="med"/>
            </a:ln>
          </p:spPr>
        </p:sp>
        <p:sp>
          <p:nvSpPr>
            <p:cNvPr id="133" name="直接连接符 31795"/>
            <p:cNvSpPr/>
            <p:nvPr/>
          </p:nvSpPr>
          <p:spPr>
            <a:xfrm flipV="1">
              <a:off x="9103128" y="2338951"/>
              <a:ext cx="0" cy="1143000"/>
            </a:xfrm>
            <a:prstGeom prst="line">
              <a:avLst/>
            </a:prstGeom>
            <a:ln w="38100" cap="flat" cmpd="sng">
              <a:solidFill>
                <a:srgbClr val="000000"/>
              </a:solidFill>
              <a:prstDash val="solid"/>
              <a:round/>
              <a:headEnd type="none" w="med" len="med"/>
              <a:tailEnd type="none" w="med" len="med"/>
            </a:ln>
          </p:spPr>
        </p:sp>
        <p:sp>
          <p:nvSpPr>
            <p:cNvPr id="134" name="直接连接符 31796"/>
            <p:cNvSpPr/>
            <p:nvPr/>
          </p:nvSpPr>
          <p:spPr>
            <a:xfrm flipH="1">
              <a:off x="7121928" y="2338951"/>
              <a:ext cx="1981200" cy="0"/>
            </a:xfrm>
            <a:prstGeom prst="line">
              <a:avLst/>
            </a:prstGeom>
            <a:ln w="38100" cap="flat" cmpd="sng">
              <a:solidFill>
                <a:srgbClr val="000000"/>
              </a:solidFill>
              <a:prstDash val="solid"/>
              <a:round/>
              <a:headEnd type="none" w="med" len="med"/>
              <a:tailEnd type="triangle" w="lg" len="lg"/>
            </a:ln>
          </p:spPr>
        </p:sp>
        <p:sp>
          <p:nvSpPr>
            <p:cNvPr id="135" name="直接连接符 31797"/>
            <p:cNvSpPr/>
            <p:nvPr/>
          </p:nvSpPr>
          <p:spPr>
            <a:xfrm flipH="1">
              <a:off x="7121928" y="2110351"/>
              <a:ext cx="2438400" cy="0"/>
            </a:xfrm>
            <a:prstGeom prst="line">
              <a:avLst/>
            </a:prstGeom>
            <a:ln w="38100" cap="flat" cmpd="sng">
              <a:solidFill>
                <a:srgbClr val="000000"/>
              </a:solidFill>
              <a:prstDash val="solid"/>
              <a:round/>
              <a:headEnd type="none" w="med" len="med"/>
              <a:tailEnd type="triangle" w="lg" len="lg"/>
            </a:ln>
          </p:spPr>
        </p:sp>
        <p:sp>
          <p:nvSpPr>
            <p:cNvPr id="136" name="文本框 31798"/>
            <p:cNvSpPr txBox="1"/>
            <p:nvPr/>
          </p:nvSpPr>
          <p:spPr>
            <a:xfrm>
              <a:off x="7121928" y="1538052"/>
              <a:ext cx="1600195" cy="359877"/>
            </a:xfrm>
            <a:prstGeom prst="rect">
              <a:avLst/>
            </a:prstGeom>
            <a:solidFill>
              <a:srgbClr val="FFFFFF"/>
            </a:solidFill>
            <a:ln w="9525">
              <a:noFill/>
            </a:ln>
          </p:spPr>
          <p:txBody>
            <a:bodyPr wrap="squar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提交数量</a:t>
              </a:r>
              <a:r>
                <a:rPr kumimoji="0" lang="en-US" altLang="zh-CN" sz="1200" b="1" i="0" u="none" strike="noStrike" kern="0" cap="none" spc="0" normalizeH="0" baseline="0" noProof="0" dirty="0">
                  <a:ln>
                    <a:noFill/>
                  </a:ln>
                  <a:solidFill>
                    <a:srgbClr val="000000"/>
                  </a:solidFill>
                  <a:effectLst/>
                  <a:uLnTx/>
                  <a:uFillTx/>
                  <a:latin typeface="Arial" panose="020B0604020202020204" pitchFamily="34" charset="0"/>
                </a:rPr>
                <a:t>&gt;0</a:t>
              </a: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的请求</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37" name="文本框 31799"/>
            <p:cNvSpPr txBox="1"/>
            <p:nvPr/>
          </p:nvSpPr>
          <p:spPr>
            <a:xfrm>
              <a:off x="8264928" y="2583427"/>
              <a:ext cx="923798" cy="599794"/>
            </a:xfrm>
            <a:prstGeom prst="rect">
              <a:avLst/>
            </a:prstGeom>
            <a:solidFill>
              <a:srgbClr val="FFFFFF"/>
            </a:solidFill>
            <a:ln w="9525">
              <a:noFill/>
            </a:ln>
          </p:spPr>
          <p:txBody>
            <a:bodyPr wrap="none" anchor="t">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取消新加入</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的化学制品</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38" name="文本框 31800"/>
            <p:cNvSpPr txBox="1"/>
            <p:nvPr/>
          </p:nvSpPr>
          <p:spPr>
            <a:xfrm>
              <a:off x="9501019" y="2598068"/>
              <a:ext cx="923798" cy="599794"/>
            </a:xfrm>
            <a:prstGeom prst="rect">
              <a:avLst/>
            </a:prstGeom>
            <a:solidFill>
              <a:srgbClr val="FFFFFF"/>
            </a:solidFill>
            <a:ln w="9525">
              <a:noFill/>
            </a:ln>
          </p:spPr>
          <p:txBody>
            <a:bodyPr wrap="none" anchor="t">
              <a:spAutoFit/>
            </a:body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选择供应商</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rPr>
                <a:t>加到列表</a:t>
              </a:r>
              <a:endPar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ndParaRPr>
            </a:p>
          </p:txBody>
        </p:sp>
      </p:grpSp>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grpSp>
        <p:nvGrpSpPr>
          <p:cNvPr id="49" name="组合 7"/>
          <p:cNvGrpSpPr/>
          <p:nvPr/>
        </p:nvGrpSpPr>
        <p:grpSpPr>
          <a:xfrm>
            <a:off x="108557" y="337632"/>
            <a:ext cx="4632960" cy="491490"/>
            <a:chOff x="198764" y="258545"/>
            <a:chExt cx="6175849" cy="655851"/>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521" y="300065"/>
              <a:ext cx="538609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需</a:t>
              </a:r>
              <a:r>
                <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求的图形化分析</a:t>
              </a:r>
              <a:endPar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65"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sym typeface="宋体" panose="02010600030101010101" pitchFamily="2" charset="-122"/>
              </a:rPr>
              <a:t>）对话图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68" name="矩形 67"/>
          <p:cNvSpPr/>
          <p:nvPr/>
        </p:nvSpPr>
        <p:spPr>
          <a:xfrm>
            <a:off x="1634836" y="1576888"/>
            <a:ext cx="9772073" cy="4740785"/>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1209487" y="1762017"/>
            <a:ext cx="850697" cy="4401205"/>
          </a:xfrm>
          <a:prstGeom prst="rect">
            <a:avLst/>
          </a:prstGeom>
          <a:solidFill>
            <a:schemeClr val="bg1"/>
          </a:solidFill>
        </p:spPr>
        <p:txBody>
          <a:bodyPr wrap="square">
            <a:spAutoFit/>
          </a:bodyPr>
          <a:lstStyle/>
          <a:p>
            <a:r>
              <a:rPr lang="zh-CN" altLang="en-US" sz="2000" b="1" kern="0" dirty="0">
                <a:solidFill>
                  <a:srgbClr val="FF0000"/>
                </a:solidFill>
                <a:latin typeface="+mn-ea"/>
                <a:sym typeface="宋体" panose="02010600030101010101" pitchFamily="2" charset="-122"/>
              </a:rPr>
              <a:t>“化学制品跟踪系统”的“请求一种化学制品” 用例的对话图</a:t>
            </a:r>
            <a:endParaRPr lang="zh-CN" altLang="en-US" sz="2000" b="1" dirty="0">
              <a:solidFill>
                <a:srgbClr val="FF0000"/>
              </a:solidFill>
            </a:endParaRPr>
          </a:p>
        </p:txBody>
      </p:sp>
      <p:sp>
        <p:nvSpPr>
          <p:cNvPr id="4" name="日期占位符 3"/>
          <p:cNvSpPr>
            <a:spLocks noGrp="1"/>
          </p:cNvSpPr>
          <p:nvPr>
            <p:ph type="dt" sz="half" idx="10"/>
          </p:nvPr>
        </p:nvSpPr>
        <p:spPr/>
        <p:txBody>
          <a:bodyPr/>
          <a:lstStyle/>
          <a:p>
            <a:pPr>
              <a:defRPr/>
            </a:pPr>
            <a:fld id="{1D77C592-90B8-4FF0-93A0-EE106C377621}" type="datetime1">
              <a:rPr lang="zh-CN" altLang="en-US" smtClean="0">
                <a:solidFill>
                  <a:prstClr val="black">
                    <a:tint val="75000"/>
                  </a:prstClr>
                </a:solidFill>
              </a:rPr>
            </a:fld>
            <a:endParaRPr lang="zh-CN" altLang="en-US" dirty="0">
              <a:solidFill>
                <a:prstClr val="black">
                  <a:tint val="75000"/>
                </a:prstClr>
              </a:solidFill>
            </a:endParaRPr>
          </a:p>
        </p:txBody>
      </p:sp>
      <p:sp>
        <p:nvSpPr>
          <p:cNvPr id="5" name="灯片编号占位符 4"/>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2" presetClass="entr" presetSubtype="8" fill="hold" nodeType="withEffect">
                                  <p:stCondLst>
                                    <p:cond delay="0"/>
                                  </p:stCondLst>
                                  <p:childTnLst>
                                    <p:set>
                                      <p:cBhvr>
                                        <p:cTn id="11" dur="1" fill="hold">
                                          <p:stCondLst>
                                            <p:cond delay="0"/>
                                          </p:stCondLst>
                                        </p:cTn>
                                        <p:tgtEl>
                                          <p:spTgt spid="49"/>
                                        </p:tgtEl>
                                        <p:attrNameLst>
                                          <p:attrName>style.visibility</p:attrName>
                                        </p:attrNameLst>
                                      </p:cBhvr>
                                      <p:to>
                                        <p:strVal val="visible"/>
                                      </p:to>
                                    </p:set>
                                    <p:anim calcmode="lin" valueType="num">
                                      <p:cBhvr additive="base">
                                        <p:cTn id="12" dur="500" fill="hold"/>
                                        <p:tgtEl>
                                          <p:spTgt spid="49"/>
                                        </p:tgtEl>
                                        <p:attrNameLst>
                                          <p:attrName>ppt_x</p:attrName>
                                        </p:attrNameLst>
                                      </p:cBhvr>
                                      <p:tavLst>
                                        <p:tav tm="0">
                                          <p:val>
                                            <p:strVal val="0-#ppt_w/2"/>
                                          </p:val>
                                        </p:tav>
                                        <p:tav tm="100000">
                                          <p:val>
                                            <p:strVal val="#ppt_x"/>
                                          </p:val>
                                        </p:tav>
                                      </p:tavLst>
                                    </p:anim>
                                    <p:anim calcmode="lin" valueType="num">
                                      <p:cBhvr additive="base">
                                        <p:cTn id="13" dur="500" fill="hold"/>
                                        <p:tgtEl>
                                          <p:spTgt spid="49"/>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65"/>
                                        </p:tgtEl>
                                        <p:attrNameLst>
                                          <p:attrName>style.visibility</p:attrName>
                                        </p:attrNameLst>
                                      </p:cBhvr>
                                      <p:to>
                                        <p:strVal val="visible"/>
                                      </p:to>
                                    </p:set>
                                    <p:anim calcmode="lin" valueType="num">
                                      <p:cBhvr additive="base">
                                        <p:cTn id="16" dur="500"/>
                                        <p:tgtEl>
                                          <p:spTgt spid="65"/>
                                        </p:tgtEl>
                                        <p:attrNameLst>
                                          <p:attrName>ppt_x</p:attrName>
                                        </p:attrNameLst>
                                      </p:cBhvr>
                                      <p:tavLst>
                                        <p:tav tm="0">
                                          <p:val>
                                            <p:strVal val="#ppt_x+#ppt_w*1.125000"/>
                                          </p:val>
                                        </p:tav>
                                        <p:tav tm="100000">
                                          <p:val>
                                            <p:strVal val="#ppt_x"/>
                                          </p:val>
                                        </p:tav>
                                      </p:tavLst>
                                    </p:anim>
                                    <p:animEffect transition="in" filter="wipe(left)">
                                      <p:cBhvr>
                                        <p:cTn id="17" dur="500"/>
                                        <p:tgtEl>
                                          <p:spTgt spid="65"/>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6"/>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6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8" grpId="0" animBg="1"/>
      <p:bldP spid="6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66"/>
          <p:cNvSpPr>
            <a:spLocks noChangeArrowheads="1"/>
          </p:cNvSpPr>
          <p:nvPr/>
        </p:nvSpPr>
        <p:spPr bwMode="auto">
          <a:xfrm>
            <a:off x="772388" y="1974842"/>
            <a:ext cx="10930084" cy="768350"/>
          </a:xfrm>
          <a:prstGeom prst="rect">
            <a:avLst/>
          </a:prstGeom>
          <a:noFill/>
          <a:ln w="15875">
            <a:solidFill>
              <a:schemeClr val="accent6"/>
            </a:solidFill>
            <a:prstDash val="dash"/>
            <a:miter lim="800000"/>
          </a:ln>
          <a:extLst>
            <a:ext uri="{909E8E84-426E-40DD-AFC4-6F175D3DCCD1}">
              <a14:hiddenFill xmlns:a14="http://schemas.microsoft.com/office/drawing/2010/main">
                <a:solidFill>
                  <a:srgbClr val="FFFFFF"/>
                </a:solidFill>
              </a14:hiddenFill>
            </a:ext>
          </a:extLst>
        </p:spPr>
        <p:txBody>
          <a:bodyPr wrap="square">
            <a:spAutoFit/>
          </a:bodyPr>
          <a:lstStyle/>
          <a:p>
            <a:pPr lvl="0" indent="0">
              <a:buFont typeface="Wingdings" panose="05000000000000000000" pitchFamily="2" charset="2"/>
              <a:buNone/>
            </a:pPr>
            <a:r>
              <a:rPr lang="en-US" altLang="zh-CN" sz="2200" b="1" dirty="0">
                <a:latin typeface="宋体" panose="02010600030101010101" pitchFamily="2" charset="-122"/>
                <a:ea typeface="宋体" panose="02010600030101010101" pitchFamily="2" charset="-122"/>
                <a:cs typeface="宋体" panose="02010600030101010101" pitchFamily="2" charset="-122"/>
              </a:rPr>
              <a:t>1</a:t>
            </a:r>
            <a:r>
              <a:rPr lang="zh-CN" altLang="en-US" sz="2200" b="1" dirty="0">
                <a:latin typeface="宋体" panose="02010600030101010101" pitchFamily="2" charset="-122"/>
                <a:ea typeface="宋体" panose="02010600030101010101" pitchFamily="2" charset="-122"/>
                <a:cs typeface="宋体" panose="02010600030101010101" pitchFamily="2" charset="-122"/>
              </a:rPr>
              <a:t>）在需求分析阶段，对话图代表了用户和系统在概念级上可能的交互通信作用</a:t>
            </a:r>
            <a:r>
              <a:rPr lang="zh-CN" altLang="en-US" sz="2200" b="1" dirty="0">
                <a:latin typeface="宋体" panose="02010600030101010101" pitchFamily="2" charset="-122"/>
                <a:ea typeface="宋体" panose="02010600030101010101" pitchFamily="2" charset="-122"/>
                <a:cs typeface="宋体" panose="02010600030101010101" pitchFamily="2" charset="-122"/>
              </a:rPr>
              <a:t>，但真正的实现可能是有所不同的</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grpSp>
        <p:nvGrpSpPr>
          <p:cNvPr id="8" name="组合 7"/>
          <p:cNvGrpSpPr/>
          <p:nvPr/>
        </p:nvGrpSpPr>
        <p:grpSpPr>
          <a:xfrm>
            <a:off x="1524524" y="4295309"/>
            <a:ext cx="367929" cy="367929"/>
            <a:chOff x="0" y="0"/>
            <a:chExt cx="767929" cy="767929"/>
          </a:xfrm>
        </p:grpSpPr>
        <p:sp>
          <p:nvSpPr>
            <p:cNvPr id="9" name="任意多边形: 形状 8"/>
            <p:cNvSpPr/>
            <p:nvPr/>
          </p:nvSpPr>
          <p:spPr>
            <a:xfrm>
              <a:off x="0" y="0"/>
              <a:ext cx="767929" cy="76792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anchor="ctr"/>
            <a:lstStyle/>
            <a:p>
              <a:pPr algn="ctr"/>
              <a:endParaRPr sz="2000" b="1"/>
            </a:p>
          </p:txBody>
        </p:sp>
        <p:sp>
          <p:nvSpPr>
            <p:cNvPr id="10" name="任意多边形: 形状 9"/>
            <p:cNvSpPr/>
            <p:nvPr/>
          </p:nvSpPr>
          <p:spPr>
            <a:xfrm>
              <a:off x="234638" y="227334"/>
              <a:ext cx="298653" cy="313261"/>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endParaRPr sz="2000" b="1"/>
            </a:p>
          </p:txBody>
        </p:sp>
      </p:grpSp>
      <p:sp>
        <p:nvSpPr>
          <p:cNvPr id="13" name="矩形 12"/>
          <p:cNvSpPr/>
          <p:nvPr/>
        </p:nvSpPr>
        <p:spPr>
          <a:xfrm>
            <a:off x="2066172" y="4255770"/>
            <a:ext cx="2506980" cy="447040"/>
          </a:xfrm>
          <a:prstGeom prst="rect">
            <a:avLst/>
          </a:prstGeom>
        </p:spPr>
        <p:txBody>
          <a:bodyPr wrap="square" lIns="144000" tIns="0" rIns="144000" bIns="0" anchor="t">
            <a:noAutofit/>
          </a:bodyPr>
          <a:lstStyle/>
          <a:p>
            <a:pPr lvl="0" indent="0">
              <a:lnSpc>
                <a:spcPct val="150000"/>
              </a:lnSpc>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取消整个请求</a:t>
            </a:r>
            <a:endParaRPr lang="zh-CN" altLang="en-US" sz="2200" b="1" dirty="0">
              <a:solidFill>
                <a:srgbClr val="000000"/>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9" name="矩形 18"/>
          <p:cNvSpPr/>
          <p:nvPr/>
        </p:nvSpPr>
        <p:spPr>
          <a:xfrm>
            <a:off x="2067080" y="4813753"/>
            <a:ext cx="6654225" cy="447057"/>
          </a:xfrm>
          <a:prstGeom prst="rect">
            <a:avLst/>
          </a:prstGeom>
        </p:spPr>
        <p:txBody>
          <a:bodyPr wrap="square" lIns="144000" tIns="0" rIns="144000" bIns="0" anchor="t">
            <a:noAutofit/>
          </a:bodyPr>
          <a:lstStyle/>
          <a:p>
            <a:pPr algn="just">
              <a:lnSpc>
                <a:spcPct val="120000"/>
              </a:lnSpc>
            </a:pP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如果请求包含了至少一种化学制品，则提交该请求</a:t>
            </a:r>
            <a:endParaRPr lang="zh-CN" altLang="en-US" sz="2200" b="1" dirty="0">
              <a:latin typeface="宋体" panose="02010600030101010101" pitchFamily="2" charset="-122"/>
              <a:ea typeface="宋体" panose="02010600030101010101" pitchFamily="2" charset="-122"/>
              <a:cs typeface="宋体" panose="02010600030101010101" pitchFamily="2" charset="-122"/>
              <a:sym typeface="+mn-ea"/>
            </a:endParaRPr>
          </a:p>
        </p:txBody>
      </p:sp>
      <p:grpSp>
        <p:nvGrpSpPr>
          <p:cNvPr id="20" name="组合 19"/>
          <p:cNvGrpSpPr/>
          <p:nvPr/>
        </p:nvGrpSpPr>
        <p:grpSpPr>
          <a:xfrm>
            <a:off x="1524523" y="4812041"/>
            <a:ext cx="367929" cy="367929"/>
            <a:chOff x="0" y="0"/>
            <a:chExt cx="767929" cy="767929"/>
          </a:xfrm>
        </p:grpSpPr>
        <p:sp>
          <p:nvSpPr>
            <p:cNvPr id="21" name="任意多边形: 形状 20"/>
            <p:cNvSpPr/>
            <p:nvPr/>
          </p:nvSpPr>
          <p:spPr>
            <a:xfrm>
              <a:off x="0" y="0"/>
              <a:ext cx="767929" cy="76792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solidFill>
            <a:ln w="12700" cap="flat">
              <a:noFill/>
              <a:miter lim="400000"/>
            </a:ln>
            <a:effectLst/>
          </p:spPr>
          <p:txBody>
            <a:bodyPr anchor="ctr"/>
            <a:lstStyle/>
            <a:p>
              <a:pPr algn="ctr"/>
              <a:endParaRPr sz="2000" b="1"/>
            </a:p>
          </p:txBody>
        </p:sp>
        <p:sp>
          <p:nvSpPr>
            <p:cNvPr id="22" name="任意多边形: 形状 21"/>
            <p:cNvSpPr/>
            <p:nvPr/>
          </p:nvSpPr>
          <p:spPr>
            <a:xfrm>
              <a:off x="234638" y="227334"/>
              <a:ext cx="298653" cy="313261"/>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endParaRPr sz="2000" b="1"/>
            </a:p>
          </p:txBody>
        </p:sp>
      </p:grpSp>
      <p:sp>
        <p:nvSpPr>
          <p:cNvPr id="25" name="矩形 24"/>
          <p:cNvSpPr/>
          <p:nvPr/>
        </p:nvSpPr>
        <p:spPr>
          <a:xfrm>
            <a:off x="2066443" y="5264779"/>
            <a:ext cx="6359626" cy="447057"/>
          </a:xfrm>
          <a:prstGeom prst="rect">
            <a:avLst/>
          </a:prstGeom>
        </p:spPr>
        <p:txBody>
          <a:bodyPr wrap="square" lIns="144000" tIns="0" rIns="144000" bIns="0" anchor="t">
            <a:noAutofit/>
          </a:bodyPr>
          <a:lstStyle/>
          <a:p>
            <a:pPr algn="just">
              <a:lnSpc>
                <a:spcPct val="120000"/>
              </a:lnSpc>
            </a:pP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在请求列表中加入一个新的化学制品</a:t>
            </a:r>
            <a:endParaRPr lang="zh-CN" altLang="en-US" sz="2200" b="1" dirty="0">
              <a:solidFill>
                <a:srgbClr val="000000"/>
              </a:solidFill>
              <a:latin typeface="宋体" panose="02010600030101010101" pitchFamily="2" charset="-122"/>
              <a:ea typeface="宋体" panose="02010600030101010101" pitchFamily="2" charset="-122"/>
              <a:cs typeface="宋体" panose="02010600030101010101" pitchFamily="2" charset="-122"/>
              <a:sym typeface="+mn-ea"/>
            </a:endParaRPr>
          </a:p>
        </p:txBody>
      </p:sp>
      <p:grpSp>
        <p:nvGrpSpPr>
          <p:cNvPr id="33" name="组合 32"/>
          <p:cNvGrpSpPr/>
          <p:nvPr/>
        </p:nvGrpSpPr>
        <p:grpSpPr>
          <a:xfrm>
            <a:off x="1524524" y="5802614"/>
            <a:ext cx="367929" cy="367929"/>
            <a:chOff x="2125352" y="4414322"/>
            <a:chExt cx="367929" cy="367929"/>
          </a:xfrm>
        </p:grpSpPr>
        <p:sp>
          <p:nvSpPr>
            <p:cNvPr id="27" name="任意多边形: 形状 26"/>
            <p:cNvSpPr/>
            <p:nvPr/>
          </p:nvSpPr>
          <p:spPr>
            <a:xfrm>
              <a:off x="2125352" y="4414322"/>
              <a:ext cx="367929" cy="36792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1">
                <a:lumMod val="65000"/>
              </a:schemeClr>
            </a:solidFill>
            <a:ln w="12700" cap="flat">
              <a:noFill/>
              <a:miter lim="400000"/>
            </a:ln>
            <a:effectLst/>
          </p:spPr>
          <p:txBody>
            <a:bodyPr anchor="ctr"/>
            <a:lstStyle/>
            <a:p>
              <a:pPr algn="ctr"/>
              <a:endParaRPr sz="2000" b="1"/>
            </a:p>
          </p:txBody>
        </p:sp>
        <p:sp>
          <p:nvSpPr>
            <p:cNvPr id="28" name="任意多边形: 形状 27"/>
            <p:cNvSpPr/>
            <p:nvPr/>
          </p:nvSpPr>
          <p:spPr>
            <a:xfrm>
              <a:off x="2237771" y="4523242"/>
              <a:ext cx="143090" cy="150089"/>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endParaRPr sz="2000" b="1"/>
            </a:p>
          </p:txBody>
        </p:sp>
      </p:grpSp>
      <p:sp>
        <p:nvSpPr>
          <p:cNvPr id="31" name="矩形 30"/>
          <p:cNvSpPr/>
          <p:nvPr/>
        </p:nvSpPr>
        <p:spPr>
          <a:xfrm>
            <a:off x="2066442" y="5765772"/>
            <a:ext cx="6359626" cy="447057"/>
          </a:xfrm>
          <a:prstGeom prst="rect">
            <a:avLst/>
          </a:prstGeom>
        </p:spPr>
        <p:txBody>
          <a:bodyPr wrap="square" lIns="144000" tIns="0" rIns="144000" bIns="0" anchor="t">
            <a:noAutofit/>
          </a:bodyPr>
          <a:lstStyle/>
          <a:p>
            <a:pPr algn="just">
              <a:lnSpc>
                <a:spcPct val="120000"/>
              </a:lnSpc>
            </a:pP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从列表中删除一种化学制品</a:t>
            </a:r>
            <a:endParaRPr lang="zh-CN" altLang="en-US" sz="2200" b="1" dirty="0">
              <a:solidFill>
                <a:srgbClr val="000000"/>
              </a:solidFill>
              <a:latin typeface="宋体" panose="02010600030101010101" pitchFamily="2" charset="-122"/>
              <a:ea typeface="宋体" panose="02010600030101010101" pitchFamily="2" charset="-122"/>
              <a:cs typeface="宋体" panose="02010600030101010101" pitchFamily="2" charset="-122"/>
              <a:sym typeface="+mn-ea"/>
            </a:endParaRPr>
          </a:p>
        </p:txBody>
      </p:sp>
      <p:grpSp>
        <p:nvGrpSpPr>
          <p:cNvPr id="34" name="组合 33"/>
          <p:cNvGrpSpPr/>
          <p:nvPr/>
        </p:nvGrpSpPr>
        <p:grpSpPr>
          <a:xfrm>
            <a:off x="1514367" y="5302605"/>
            <a:ext cx="367929" cy="367929"/>
            <a:chOff x="0" y="0"/>
            <a:chExt cx="767929" cy="767929"/>
          </a:xfrm>
        </p:grpSpPr>
        <p:sp>
          <p:nvSpPr>
            <p:cNvPr id="2" name="任意多边形: 形状 34"/>
            <p:cNvSpPr/>
            <p:nvPr/>
          </p:nvSpPr>
          <p:spPr>
            <a:xfrm>
              <a:off x="0" y="0"/>
              <a:ext cx="767929" cy="76792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anchor="ctr"/>
            <a:lstStyle/>
            <a:p>
              <a:pPr algn="ctr"/>
              <a:endParaRPr sz="2000" b="1"/>
            </a:p>
          </p:txBody>
        </p:sp>
        <p:sp>
          <p:nvSpPr>
            <p:cNvPr id="36" name="任意多边形: 形状 35"/>
            <p:cNvSpPr/>
            <p:nvPr/>
          </p:nvSpPr>
          <p:spPr>
            <a:xfrm>
              <a:off x="234638" y="227334"/>
              <a:ext cx="298653" cy="313261"/>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endParaRPr sz="2000" b="1"/>
            </a:p>
          </p:txBody>
        </p:sp>
      </p:grpSp>
      <p:pic>
        <p:nvPicPr>
          <p:cNvPr id="3" name="图片 2"/>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grpSp>
        <p:nvGrpSpPr>
          <p:cNvPr id="4" name="组合 7"/>
          <p:cNvGrpSpPr/>
          <p:nvPr/>
        </p:nvGrpSpPr>
        <p:grpSpPr>
          <a:xfrm>
            <a:off x="108557" y="337632"/>
            <a:ext cx="4632960" cy="491490"/>
            <a:chOff x="198764" y="258545"/>
            <a:chExt cx="6175849" cy="655851"/>
          </a:xfrm>
        </p:grpSpPr>
        <p:grpSp>
          <p:nvGrpSpPr>
            <p:cNvPr id="5" name="组合 5"/>
            <p:cNvGrpSpPr/>
            <p:nvPr/>
          </p:nvGrpSpPr>
          <p:grpSpPr>
            <a:xfrm>
              <a:off x="198764" y="258545"/>
              <a:ext cx="700083" cy="563491"/>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1" name="文本框 6"/>
            <p:cNvSpPr txBox="1"/>
            <p:nvPr/>
          </p:nvSpPr>
          <p:spPr>
            <a:xfrm>
              <a:off x="988521" y="300065"/>
              <a:ext cx="538609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需</a:t>
              </a:r>
              <a:r>
                <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求的图形化分析</a:t>
              </a:r>
              <a:endPar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6"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sym typeface="宋体" panose="02010600030101010101" pitchFamily="2" charset="-122"/>
              </a:rPr>
              <a:t>）对话图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9" name="文本框 28"/>
          <p:cNvSpPr txBox="1"/>
          <p:nvPr/>
        </p:nvSpPr>
        <p:spPr>
          <a:xfrm>
            <a:off x="772388" y="1601586"/>
            <a:ext cx="6893793" cy="398780"/>
          </a:xfrm>
          <a:prstGeom prst="rect">
            <a:avLst/>
          </a:prstGeom>
          <a:noFill/>
        </p:spPr>
        <p:txBody>
          <a:bodyPr wrap="square">
            <a:spAutoFit/>
          </a:bodyPr>
          <a:lstStyle/>
          <a:p>
            <a:r>
              <a:rPr lang="zh-CN" altLang="en-US" sz="2000" b="1" kern="0" dirty="0">
                <a:solidFill>
                  <a:srgbClr val="FF0000"/>
                </a:solidFill>
                <a:latin typeface="+mn-ea"/>
                <a:sym typeface="宋体" panose="02010600030101010101" pitchFamily="2" charset="-122"/>
              </a:rPr>
              <a:t>注意事项：</a:t>
            </a:r>
            <a:endParaRPr lang="zh-CN" altLang="en-US" sz="2000" b="1" kern="0" dirty="0">
              <a:solidFill>
                <a:srgbClr val="FF0000"/>
              </a:solidFill>
              <a:latin typeface="+mn-ea"/>
              <a:sym typeface="宋体" panose="02010600030101010101" pitchFamily="2" charset="-122"/>
            </a:endParaRPr>
          </a:p>
        </p:txBody>
      </p:sp>
      <p:sp>
        <p:nvSpPr>
          <p:cNvPr id="32" name="文本框 31"/>
          <p:cNvSpPr txBox="1"/>
          <p:nvPr/>
        </p:nvSpPr>
        <p:spPr>
          <a:xfrm>
            <a:off x="772387" y="2783877"/>
            <a:ext cx="10930085" cy="706755"/>
          </a:xfrm>
          <a:prstGeom prst="rect">
            <a:avLst/>
          </a:prstGeom>
          <a:noFill/>
          <a:ln w="15875">
            <a:solidFill>
              <a:srgbClr val="0000FF"/>
            </a:solidFill>
            <a:prstDash val="dash"/>
          </a:ln>
        </p:spPr>
        <p:txBody>
          <a:bodyPr wrap="square">
            <a:spAutoFit/>
          </a:bodyPr>
          <a:lstStyle/>
          <a:p>
            <a:r>
              <a:rPr lang="en-US" altLang="zh-CN" sz="2000" b="1" dirty="0">
                <a:latin typeface="宋体" panose="02010600030101010101" pitchFamily="2" charset="-122"/>
                <a:ea typeface="宋体" panose="02010600030101010101" pitchFamily="2" charset="-122"/>
                <a:cs typeface="宋体" panose="02010600030101010101" pitchFamily="2" charset="-122"/>
              </a:rPr>
              <a:t>2</a:t>
            </a:r>
            <a:r>
              <a:rPr lang="zh-CN" altLang="en-US" sz="2000" b="1" dirty="0">
                <a:latin typeface="宋体" panose="02010600030101010101" pitchFamily="2" charset="-122"/>
                <a:ea typeface="宋体" panose="02010600030101010101" pitchFamily="2" charset="-122"/>
                <a:cs typeface="宋体" panose="02010600030101010101" pitchFamily="2" charset="-122"/>
              </a:rPr>
              <a:t>）在“化学制品跟踪系统”中，用户从菜单中选择“请求一种化学制品”启动使用实例，这个用例的主工作区间在这一请求中的一个化学制品列表中，并在一个称为当前请求列表中显示出来</a:t>
            </a:r>
            <a:endParaRPr lang="zh-CN" altLang="en-US" sz="2000" b="1" dirty="0"/>
          </a:p>
        </p:txBody>
      </p:sp>
      <p:sp>
        <p:nvSpPr>
          <p:cNvPr id="35" name="文本框 34"/>
          <p:cNvSpPr txBox="1"/>
          <p:nvPr/>
        </p:nvSpPr>
        <p:spPr>
          <a:xfrm>
            <a:off x="772388" y="3559627"/>
            <a:ext cx="10930084" cy="429895"/>
          </a:xfrm>
          <a:prstGeom prst="rect">
            <a:avLst/>
          </a:prstGeom>
          <a:noFill/>
          <a:ln w="15875">
            <a:solidFill>
              <a:srgbClr val="FF0000"/>
            </a:solidFill>
            <a:prstDash val="dash"/>
          </a:ln>
        </p:spPr>
        <p:txBody>
          <a:bodyPr wrap="square">
            <a:spAutoFit/>
          </a:bodyPr>
          <a:lstStyle/>
          <a:p>
            <a:r>
              <a:rPr lang="en-US" altLang="zh-CN" sz="2200" b="1" dirty="0">
                <a:latin typeface="宋体" panose="02010600030101010101" pitchFamily="2" charset="-122"/>
                <a:ea typeface="宋体" panose="02010600030101010101" pitchFamily="2" charset="-122"/>
                <a:cs typeface="宋体" panose="02010600030101010101" pitchFamily="2" charset="-122"/>
              </a:rPr>
              <a:t>3</a:t>
            </a:r>
            <a:r>
              <a:rPr lang="zh-CN" altLang="en-US" sz="2200" b="1" dirty="0">
                <a:latin typeface="宋体" panose="02010600030101010101" pitchFamily="2" charset="-122"/>
                <a:ea typeface="宋体" panose="02010600030101010101" pitchFamily="2" charset="-122"/>
                <a:cs typeface="宋体" panose="02010600030101010101" pitchFamily="2" charset="-122"/>
              </a:rPr>
              <a:t>）从矩形框出来的箭头显示了所有导航选择，用户可从那些联系中获得可用的功能： </a:t>
            </a:r>
            <a:endParaRPr lang="zh-CN" altLang="en-US" sz="2200" b="1" dirty="0"/>
          </a:p>
        </p:txBody>
      </p:sp>
      <p:sp>
        <p:nvSpPr>
          <p:cNvPr id="15" name="对话气泡: 矩形 14"/>
          <p:cNvSpPr/>
          <p:nvPr/>
        </p:nvSpPr>
        <p:spPr>
          <a:xfrm rot="10800000">
            <a:off x="1089890" y="4128655"/>
            <a:ext cx="7702789" cy="2084174"/>
          </a:xfrm>
          <a:prstGeom prst="wedgeRectCallout">
            <a:avLst>
              <a:gd name="adj1" fmla="val -32704"/>
              <a:gd name="adj2" fmla="val 57948"/>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2" name="日期占位符 11"/>
          <p:cNvSpPr>
            <a:spLocks noGrp="1"/>
          </p:cNvSpPr>
          <p:nvPr>
            <p:ph type="dt" sz="half" idx="10"/>
          </p:nvPr>
        </p:nvSpPr>
        <p:spPr/>
        <p:txBody>
          <a:bodyPr/>
          <a:lstStyle/>
          <a:p>
            <a:pPr>
              <a:defRPr/>
            </a:pPr>
            <a:fld id="{E73167DA-E112-4A05-8EDE-8F93724DCBA0}" type="datetime1">
              <a:rPr lang="zh-CN" altLang="en-US" smtClean="0">
                <a:solidFill>
                  <a:prstClr val="black">
                    <a:tint val="75000"/>
                  </a:prstClr>
                </a:solidFill>
              </a:rPr>
            </a:fld>
            <a:endParaRPr lang="zh-CN" altLang="en-US" dirty="0">
              <a:solidFill>
                <a:prstClr val="black">
                  <a:tint val="75000"/>
                </a:prstClr>
              </a:solidFill>
            </a:endParaRPr>
          </a:p>
        </p:txBody>
      </p:sp>
      <p:sp>
        <p:nvSpPr>
          <p:cNvPr id="14" name="灯片编号占位符 1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2" presetClass="entr" presetSubtype="8"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 calcmode="lin" valueType="num">
                                      <p:cBhvr additive="base">
                                        <p:cTn id="16" dur="500"/>
                                        <p:tgtEl>
                                          <p:spTgt spid="26"/>
                                        </p:tgtEl>
                                        <p:attrNameLst>
                                          <p:attrName>ppt_x</p:attrName>
                                        </p:attrNameLst>
                                      </p:cBhvr>
                                      <p:tavLst>
                                        <p:tav tm="0">
                                          <p:val>
                                            <p:strVal val="#ppt_x+#ppt_w*1.125000"/>
                                          </p:val>
                                        </p:tav>
                                        <p:tav tm="100000">
                                          <p:val>
                                            <p:strVal val="#ppt_x"/>
                                          </p:val>
                                        </p:tav>
                                      </p:tavLst>
                                    </p:anim>
                                    <p:animEffect transition="in" filter="wipe(left)">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3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2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25"/>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34"/>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33"/>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ldLvl="0" animBg="1"/>
      <p:bldP spid="13" grpId="0"/>
      <p:bldP spid="19" grpId="0"/>
      <p:bldP spid="25" grpId="0"/>
      <p:bldP spid="31" grpId="0"/>
      <p:bldP spid="26" grpId="0"/>
      <p:bldP spid="29" grpId="0"/>
      <p:bldP spid="32" grpId="0" bldLvl="0" animBg="1"/>
      <p:bldP spid="35" grpId="0" bldLvl="0" animBg="1"/>
      <p:bldP spid="1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66"/>
          <p:cNvSpPr>
            <a:spLocks noChangeArrowheads="1"/>
          </p:cNvSpPr>
          <p:nvPr/>
        </p:nvSpPr>
        <p:spPr bwMode="auto">
          <a:xfrm>
            <a:off x="698500" y="1448227"/>
            <a:ext cx="10795000" cy="598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0">
            <a:spAutoFit/>
          </a:bodyPr>
          <a:lstStyle/>
          <a:p>
            <a:pPr lvl="0" indent="0">
              <a:lnSpc>
                <a:spcPct val="150000"/>
              </a:lnSpc>
              <a:buFont typeface="Wingdings" panose="05000000000000000000" pitchFamily="2" charset="2"/>
              <a:buNone/>
            </a:pP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rPr>
              <a:t>对话图反映的“请求一种化学制品”用例其余部分的元素：</a:t>
            </a:r>
            <a:endPar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endParaRPr>
          </a:p>
        </p:txBody>
      </p:sp>
      <p:sp>
        <p:nvSpPr>
          <p:cNvPr id="35" name="Freeform: Shape 6"/>
          <p:cNvSpPr/>
          <p:nvPr/>
        </p:nvSpPr>
        <p:spPr>
          <a:xfrm>
            <a:off x="1582106" y="2291200"/>
            <a:ext cx="2263299" cy="3428992"/>
          </a:xfrm>
          <a:custGeom>
            <a:avLst/>
            <a:gdLst>
              <a:gd name="connsiteX0" fmla="*/ 0 w 1972131"/>
              <a:gd name="connsiteY0" fmla="*/ 0 h 3176587"/>
              <a:gd name="connsiteX1" fmla="*/ 1972131 w 1972131"/>
              <a:gd name="connsiteY1" fmla="*/ 0 h 3176587"/>
              <a:gd name="connsiteX2" fmla="*/ 1972131 w 1972131"/>
              <a:gd name="connsiteY2" fmla="*/ 3176587 h 3176587"/>
              <a:gd name="connsiteX3" fmla="*/ 0 w 1972131"/>
              <a:gd name="connsiteY3" fmla="*/ 3176587 h 3176587"/>
              <a:gd name="connsiteX4" fmla="*/ 0 w 1972131"/>
              <a:gd name="connsiteY4" fmla="*/ 0 h 3176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2131" h="3176587">
                <a:moveTo>
                  <a:pt x="0" y="0"/>
                </a:moveTo>
                <a:lnTo>
                  <a:pt x="1972131" y="0"/>
                </a:lnTo>
                <a:lnTo>
                  <a:pt x="1972131" y="3176587"/>
                </a:lnTo>
                <a:lnTo>
                  <a:pt x="0" y="3176587"/>
                </a:lnTo>
                <a:lnTo>
                  <a:pt x="0" y="0"/>
                </a:lnTo>
                <a:close/>
              </a:path>
            </a:pathLst>
          </a:custGeom>
          <a:noFill/>
          <a:ln>
            <a:noFill/>
          </a:ln>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anchor="ctr"/>
          <a:lstStyle/>
          <a:p>
            <a:pPr algn="ctr"/>
            <a:endParaRPr b="1"/>
          </a:p>
        </p:txBody>
      </p:sp>
      <p:sp>
        <p:nvSpPr>
          <p:cNvPr id="36" name="Freeform: Shape 9"/>
          <p:cNvSpPr/>
          <p:nvPr/>
        </p:nvSpPr>
        <p:spPr>
          <a:xfrm>
            <a:off x="2917443" y="2291200"/>
            <a:ext cx="2263299" cy="3428992"/>
          </a:xfrm>
          <a:custGeom>
            <a:avLst/>
            <a:gdLst>
              <a:gd name="connsiteX0" fmla="*/ 0 w 1972131"/>
              <a:gd name="connsiteY0" fmla="*/ 0 h 3176587"/>
              <a:gd name="connsiteX1" fmla="*/ 1972131 w 1972131"/>
              <a:gd name="connsiteY1" fmla="*/ 0 h 3176587"/>
              <a:gd name="connsiteX2" fmla="*/ 1972131 w 1972131"/>
              <a:gd name="connsiteY2" fmla="*/ 3176587 h 3176587"/>
              <a:gd name="connsiteX3" fmla="*/ 0 w 1972131"/>
              <a:gd name="connsiteY3" fmla="*/ 3176587 h 3176587"/>
              <a:gd name="connsiteX4" fmla="*/ 0 w 1972131"/>
              <a:gd name="connsiteY4" fmla="*/ 0 h 3176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2131" h="3176587">
                <a:moveTo>
                  <a:pt x="0" y="0"/>
                </a:moveTo>
                <a:lnTo>
                  <a:pt x="1972131" y="0"/>
                </a:lnTo>
                <a:lnTo>
                  <a:pt x="1972131" y="3176587"/>
                </a:lnTo>
                <a:lnTo>
                  <a:pt x="0" y="3176587"/>
                </a:lnTo>
                <a:lnTo>
                  <a:pt x="0" y="0"/>
                </a:lnTo>
                <a:close/>
              </a:path>
            </a:pathLst>
          </a:custGeom>
          <a:noFill/>
          <a:ln>
            <a:noFill/>
          </a:ln>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anchor="ctr"/>
          <a:lstStyle/>
          <a:p>
            <a:pPr algn="ctr"/>
            <a:endParaRPr b="1"/>
          </a:p>
        </p:txBody>
      </p:sp>
      <p:sp>
        <p:nvSpPr>
          <p:cNvPr id="54" name="Rectangle: Rounded Corners 4"/>
          <p:cNvSpPr/>
          <p:nvPr/>
        </p:nvSpPr>
        <p:spPr>
          <a:xfrm>
            <a:off x="698500" y="2137289"/>
            <a:ext cx="10795000" cy="646742"/>
          </a:xfrm>
          <a:prstGeom prst="roundRect">
            <a:avLst/>
          </a:prstGeom>
          <a:gradFill>
            <a:gsLst>
              <a:gs pos="0">
                <a:schemeClr val="accent6">
                  <a:lumMod val="20000"/>
                  <a:lumOff val="80000"/>
                </a:schemeClr>
              </a:gs>
              <a:gs pos="100000">
                <a:schemeClr val="accent1">
                  <a:lumMod val="60000"/>
                  <a:lumOff val="40000"/>
                </a:schemeClr>
              </a:gs>
            </a:gsLst>
            <a:lin ang="1350000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solidFill>
                <a:schemeClr val="tx1"/>
              </a:solidFill>
            </a:endParaRPr>
          </a:p>
        </p:txBody>
      </p:sp>
      <p:sp>
        <p:nvSpPr>
          <p:cNvPr id="55" name="Rectangle: Rounded Corners 4"/>
          <p:cNvSpPr/>
          <p:nvPr/>
        </p:nvSpPr>
        <p:spPr>
          <a:xfrm>
            <a:off x="698500" y="2989702"/>
            <a:ext cx="10795000" cy="642187"/>
          </a:xfrm>
          <a:prstGeom prst="roundRect">
            <a:avLst/>
          </a:prstGeom>
          <a:solidFill>
            <a:schemeClr val="accent5">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solidFill>
                <a:schemeClr val="tx1"/>
              </a:solidFill>
            </a:endParaRPr>
          </a:p>
        </p:txBody>
      </p:sp>
      <p:grpSp>
        <p:nvGrpSpPr>
          <p:cNvPr id="57" name="组合 56"/>
          <p:cNvGrpSpPr/>
          <p:nvPr/>
        </p:nvGrpSpPr>
        <p:grpSpPr>
          <a:xfrm>
            <a:off x="1051044" y="2276861"/>
            <a:ext cx="8169027" cy="793949"/>
            <a:chOff x="937750" y="5035428"/>
            <a:chExt cx="2793074" cy="793949"/>
          </a:xfrm>
        </p:grpSpPr>
        <p:sp>
          <p:nvSpPr>
            <p:cNvPr id="58" name="矩形 57"/>
            <p:cNvSpPr/>
            <p:nvPr/>
          </p:nvSpPr>
          <p:spPr>
            <a:xfrm>
              <a:off x="937750" y="5369002"/>
              <a:ext cx="2793074" cy="460375"/>
            </a:xfrm>
            <a:prstGeom prst="rect">
              <a:avLst/>
            </a:prstGeom>
          </p:spPr>
          <p:txBody>
            <a:bodyPr wrap="square">
              <a:spAutoFit/>
              <a:scene3d>
                <a:camera prst="orthographicFront"/>
                <a:lightRig rig="threePt" dir="t"/>
              </a:scene3d>
              <a:sp3d contourW="12700"/>
            </a:bodyPr>
            <a:lstStyle/>
            <a:p>
              <a:pPr algn="just">
                <a:lnSpc>
                  <a:spcPct val="120000"/>
                </a:lnSpc>
              </a:pPr>
              <a:endParaRPr lang="zh-CN" altLang="en-US" sz="2000" b="1" dirty="0"/>
            </a:p>
          </p:txBody>
        </p:sp>
        <p:sp>
          <p:nvSpPr>
            <p:cNvPr id="59" name="矩形 58"/>
            <p:cNvSpPr/>
            <p:nvPr/>
          </p:nvSpPr>
          <p:spPr>
            <a:xfrm>
              <a:off x="937750" y="5035428"/>
              <a:ext cx="2241974" cy="497205"/>
            </a:xfrm>
            <a:prstGeom prst="rect">
              <a:avLst/>
            </a:prstGeom>
          </p:spPr>
          <p:txBody>
            <a:bodyPr wrap="square">
              <a:spAutoFit/>
              <a:scene3d>
                <a:camera prst="orthographicFront"/>
                <a:lightRig rig="threePt" dir="t"/>
              </a:scene3d>
              <a:sp3d contourW="12700"/>
            </a:bodyPr>
            <a:lstStyle/>
            <a:p>
              <a:pPr algn="just">
                <a:lnSpc>
                  <a:spcPct val="120000"/>
                </a:lnSpc>
              </a:pPr>
              <a:r>
                <a:rPr lang="en-US" altLang="zh-CN" sz="2200" b="1" dirty="0">
                  <a:latin typeface="宋体" panose="02010600030101010101" pitchFamily="2" charset="-122"/>
                  <a:ea typeface="宋体" panose="02010600030101010101" pitchFamily="2" charset="-122"/>
                  <a:sym typeface="+mn-ea"/>
                </a:rPr>
                <a:t>1</a:t>
              </a:r>
              <a:r>
                <a:rPr lang="zh-CN" altLang="en-US" sz="2200" b="1" dirty="0">
                  <a:latin typeface="宋体" panose="02010600030101010101" pitchFamily="2" charset="-122"/>
                  <a:ea typeface="宋体" panose="02010600030101010101" pitchFamily="2" charset="-122"/>
                  <a:sym typeface="+mn-ea"/>
                </a:rPr>
                <a:t>）向供应商请购化学制品的一条流路径</a:t>
              </a:r>
              <a:endParaRPr lang="zh-CN" altLang="en-US" sz="2200" b="1" dirty="0">
                <a:latin typeface="宋体" panose="02010600030101010101" pitchFamily="2" charset="-122"/>
                <a:ea typeface="宋体" panose="02010600030101010101" pitchFamily="2" charset="-122"/>
                <a:sym typeface="+mn-ea"/>
              </a:endParaRPr>
            </a:p>
          </p:txBody>
        </p:sp>
      </p:grpSp>
      <p:grpSp>
        <p:nvGrpSpPr>
          <p:cNvPr id="63" name="组合 62"/>
          <p:cNvGrpSpPr/>
          <p:nvPr/>
        </p:nvGrpSpPr>
        <p:grpSpPr>
          <a:xfrm>
            <a:off x="1050925" y="3119123"/>
            <a:ext cx="8131175" cy="550632"/>
            <a:chOff x="937750" y="5289251"/>
            <a:chExt cx="2761132" cy="486540"/>
          </a:xfrm>
        </p:grpSpPr>
        <p:sp>
          <p:nvSpPr>
            <p:cNvPr id="64" name="矩形 63"/>
            <p:cNvSpPr/>
            <p:nvPr/>
          </p:nvSpPr>
          <p:spPr>
            <a:xfrm>
              <a:off x="937750" y="5369002"/>
              <a:ext cx="2761132" cy="406789"/>
            </a:xfrm>
            <a:prstGeom prst="rect">
              <a:avLst/>
            </a:prstGeom>
          </p:spPr>
          <p:txBody>
            <a:bodyPr wrap="square">
              <a:spAutoFit/>
              <a:scene3d>
                <a:camera prst="orthographicFront"/>
                <a:lightRig rig="threePt" dir="t"/>
              </a:scene3d>
              <a:sp3d contourW="12700"/>
            </a:bodyPr>
            <a:lstStyle/>
            <a:p>
              <a:pPr algn="just">
                <a:lnSpc>
                  <a:spcPct val="120000"/>
                </a:lnSpc>
              </a:pPr>
              <a:endParaRPr lang="en-US" altLang="zh-CN" sz="2000" b="1" dirty="0"/>
            </a:p>
          </p:txBody>
        </p:sp>
        <p:sp>
          <p:nvSpPr>
            <p:cNvPr id="65" name="矩形 64"/>
            <p:cNvSpPr/>
            <p:nvPr/>
          </p:nvSpPr>
          <p:spPr>
            <a:xfrm>
              <a:off x="937750" y="5289251"/>
              <a:ext cx="2241974" cy="439332"/>
            </a:xfrm>
            <a:prstGeom prst="rect">
              <a:avLst/>
            </a:prstGeom>
          </p:spPr>
          <p:txBody>
            <a:bodyPr wrap="square">
              <a:spAutoFit/>
              <a:scene3d>
                <a:camera prst="orthographicFront"/>
                <a:lightRig rig="threePt" dir="t"/>
              </a:scene3d>
              <a:sp3d contourW="12700"/>
            </a:bodyPr>
            <a:lstStyle/>
            <a:p>
              <a:pPr algn="just">
                <a:lnSpc>
                  <a:spcPct val="120000"/>
                </a:lnSpc>
              </a:pPr>
              <a:r>
                <a:rPr lang="en-US" altLang="zh-CN" sz="2200" b="1" dirty="0">
                  <a:latin typeface="宋体" panose="02010600030101010101" pitchFamily="2" charset="-122"/>
                  <a:ea typeface="宋体" panose="02010600030101010101" pitchFamily="2" charset="-122"/>
                  <a:sym typeface="+mn-ea"/>
                </a:rPr>
                <a:t>2</a:t>
              </a:r>
              <a:r>
                <a:rPr lang="zh-CN" altLang="en-US" sz="2200" b="1" dirty="0">
                  <a:latin typeface="宋体" panose="02010600030101010101" pitchFamily="2" charset="-122"/>
                  <a:ea typeface="宋体" panose="02010600030101010101" pitchFamily="2" charset="-122"/>
                  <a:sym typeface="+mn-ea"/>
                </a:rPr>
                <a:t>）来自化学制品仓库的执行请求的另一条路径。</a:t>
              </a:r>
              <a:endParaRPr lang="zh-CN" altLang="en-US" sz="2200" b="1" dirty="0">
                <a:latin typeface="宋体" panose="02010600030101010101" pitchFamily="2" charset="-122"/>
                <a:ea typeface="宋体" panose="02010600030101010101" pitchFamily="2" charset="-122"/>
              </a:endParaRPr>
            </a:p>
          </p:txBody>
        </p:sp>
      </p:grpSp>
      <p:sp>
        <p:nvSpPr>
          <p:cNvPr id="69" name="Rectangle: Rounded Corners 4"/>
          <p:cNvSpPr/>
          <p:nvPr/>
        </p:nvSpPr>
        <p:spPr>
          <a:xfrm>
            <a:off x="698500" y="3861735"/>
            <a:ext cx="10795000" cy="646742"/>
          </a:xfrm>
          <a:prstGeom prst="roundRect">
            <a:avLst/>
          </a:prstGeom>
          <a:gradFill>
            <a:gsLst>
              <a:gs pos="0">
                <a:schemeClr val="accent2">
                  <a:lumMod val="20000"/>
                  <a:lumOff val="80000"/>
                </a:schemeClr>
              </a:gs>
              <a:gs pos="100000">
                <a:schemeClr val="accent1">
                  <a:lumMod val="60000"/>
                  <a:lumOff val="40000"/>
                </a:schemeClr>
              </a:gs>
            </a:gsLst>
            <a:lin ang="1350000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solidFill>
                <a:schemeClr val="tx1"/>
              </a:solidFill>
            </a:endParaRPr>
          </a:p>
        </p:txBody>
      </p:sp>
      <p:sp>
        <p:nvSpPr>
          <p:cNvPr id="71" name="Rectangle: Rounded Corners 4"/>
          <p:cNvSpPr/>
          <p:nvPr/>
        </p:nvSpPr>
        <p:spPr>
          <a:xfrm>
            <a:off x="698500" y="4693127"/>
            <a:ext cx="10795000" cy="642187"/>
          </a:xfrm>
          <a:prstGeom prst="roundRect">
            <a:avLst/>
          </a:prstGeom>
          <a:solidFill>
            <a:schemeClr val="accent4">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solidFill>
                <a:schemeClr val="tx1"/>
              </a:solidFill>
            </a:endParaRPr>
          </a:p>
        </p:txBody>
      </p:sp>
      <p:grpSp>
        <p:nvGrpSpPr>
          <p:cNvPr id="72" name="组合 71"/>
          <p:cNvGrpSpPr/>
          <p:nvPr/>
        </p:nvGrpSpPr>
        <p:grpSpPr>
          <a:xfrm>
            <a:off x="1050925" y="4807427"/>
            <a:ext cx="8131175" cy="677632"/>
            <a:chOff x="937750" y="5177033"/>
            <a:chExt cx="2761132" cy="598758"/>
          </a:xfrm>
        </p:grpSpPr>
        <p:sp>
          <p:nvSpPr>
            <p:cNvPr id="73" name="矩形 72"/>
            <p:cNvSpPr/>
            <p:nvPr/>
          </p:nvSpPr>
          <p:spPr>
            <a:xfrm>
              <a:off x="937750" y="5369002"/>
              <a:ext cx="2761132" cy="406789"/>
            </a:xfrm>
            <a:prstGeom prst="rect">
              <a:avLst/>
            </a:prstGeom>
          </p:spPr>
          <p:txBody>
            <a:bodyPr wrap="square">
              <a:spAutoFit/>
              <a:scene3d>
                <a:camera prst="orthographicFront"/>
                <a:lightRig rig="threePt" dir="t"/>
              </a:scene3d>
              <a:sp3d contourW="12700"/>
            </a:bodyPr>
            <a:lstStyle/>
            <a:p>
              <a:pPr algn="just">
                <a:lnSpc>
                  <a:spcPct val="120000"/>
                </a:lnSpc>
              </a:pPr>
              <a:endParaRPr lang="en-US" altLang="zh-CN" sz="2000" b="1" dirty="0"/>
            </a:p>
          </p:txBody>
        </p:sp>
        <p:sp>
          <p:nvSpPr>
            <p:cNvPr id="74" name="矩形 73"/>
            <p:cNvSpPr/>
            <p:nvPr/>
          </p:nvSpPr>
          <p:spPr>
            <a:xfrm>
              <a:off x="937750" y="5177033"/>
              <a:ext cx="2619305" cy="439332"/>
            </a:xfrm>
            <a:prstGeom prst="rect">
              <a:avLst/>
            </a:prstGeom>
          </p:spPr>
          <p:txBody>
            <a:bodyPr wrap="square">
              <a:spAutoFit/>
              <a:scene3d>
                <a:camera prst="orthographicFront"/>
                <a:lightRig rig="threePt" dir="t"/>
              </a:scene3d>
              <a:sp3d contourW="12700"/>
            </a:bodyPr>
            <a:lstStyle/>
            <a:p>
              <a:pPr algn="just">
                <a:lnSpc>
                  <a:spcPct val="120000"/>
                </a:lnSpc>
              </a:pPr>
              <a:r>
                <a:rPr lang="en-US" altLang="zh-CN" sz="2200" b="1" dirty="0">
                  <a:latin typeface="宋体" panose="02010600030101010101" pitchFamily="2" charset="-122"/>
                  <a:ea typeface="宋体" panose="02010600030101010101" pitchFamily="2" charset="-122"/>
                  <a:sym typeface="+mn-ea"/>
                </a:rPr>
                <a:t>4</a:t>
              </a:r>
              <a:r>
                <a:rPr lang="zh-CN" altLang="en-US" sz="2200" b="1" dirty="0">
                  <a:latin typeface="宋体" panose="02010600030101010101" pitchFamily="2" charset="-122"/>
                  <a:ea typeface="宋体" panose="02010600030101010101" pitchFamily="2" charset="-122"/>
                  <a:sym typeface="+mn-ea"/>
                </a:rPr>
                <a:t>）对处理无效化学制品标识号输入的一条错误信息显示。</a:t>
              </a:r>
              <a:endParaRPr lang="zh-CN" altLang="en-US" sz="2200" b="1" dirty="0">
                <a:latin typeface="宋体" panose="02010600030101010101" pitchFamily="2" charset="-122"/>
                <a:ea typeface="宋体" panose="02010600030101010101" pitchFamily="2" charset="-122"/>
              </a:endParaRPr>
            </a:p>
          </p:txBody>
        </p:sp>
      </p:grpSp>
      <p:sp>
        <p:nvSpPr>
          <p:cNvPr id="75" name="矩形 74"/>
          <p:cNvSpPr/>
          <p:nvPr/>
        </p:nvSpPr>
        <p:spPr>
          <a:xfrm>
            <a:off x="1050924" y="4022002"/>
            <a:ext cx="7713513" cy="497205"/>
          </a:xfrm>
          <a:prstGeom prst="rect">
            <a:avLst/>
          </a:prstGeom>
        </p:spPr>
        <p:txBody>
          <a:bodyPr wrap="square">
            <a:spAutoFit/>
            <a:scene3d>
              <a:camera prst="orthographicFront"/>
              <a:lightRig rig="threePt" dir="t"/>
            </a:scene3d>
            <a:sp3d contourW="12700"/>
          </a:bodyPr>
          <a:lstStyle/>
          <a:p>
            <a:pPr algn="just">
              <a:lnSpc>
                <a:spcPct val="120000"/>
              </a:lnSpc>
            </a:pPr>
            <a:r>
              <a:rPr lang="en-US" altLang="zh-CN" sz="2200" b="1" dirty="0">
                <a:latin typeface="宋体" panose="02010600030101010101" pitchFamily="2" charset="-122"/>
                <a:ea typeface="宋体" panose="02010600030101010101" pitchFamily="2" charset="-122"/>
                <a:sym typeface="+mn-ea"/>
              </a:rPr>
              <a:t>3</a:t>
            </a:r>
            <a:r>
              <a:rPr lang="zh-CN" altLang="en-US" sz="2200" b="1" dirty="0">
                <a:latin typeface="宋体" panose="02010600030101010101" pitchFamily="2" charset="-122"/>
                <a:ea typeface="宋体" panose="02010600030101010101" pitchFamily="2" charset="-122"/>
                <a:sym typeface="+mn-ea"/>
              </a:rPr>
              <a:t>）查看特定化学仓库容器的历史记录的一条可选路径。</a:t>
            </a:r>
            <a:endParaRPr lang="zh-CN" altLang="en-US" sz="2200" b="1" dirty="0">
              <a:latin typeface="宋体" panose="02010600030101010101" pitchFamily="2" charset="-122"/>
              <a:ea typeface="宋体" panose="02010600030101010101" pitchFamily="2" charset="-122"/>
            </a:endParaRPr>
          </a:p>
        </p:txBody>
      </p:sp>
      <p:pic>
        <p:nvPicPr>
          <p:cNvPr id="76" name="图片 75"/>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grpSp>
        <p:nvGrpSpPr>
          <p:cNvPr id="77" name="组合 7"/>
          <p:cNvGrpSpPr/>
          <p:nvPr/>
        </p:nvGrpSpPr>
        <p:grpSpPr>
          <a:xfrm>
            <a:off x="108557" y="337632"/>
            <a:ext cx="4632960" cy="491490"/>
            <a:chOff x="198764" y="258545"/>
            <a:chExt cx="6175849" cy="655851"/>
          </a:xfrm>
        </p:grpSpPr>
        <p:grpSp>
          <p:nvGrpSpPr>
            <p:cNvPr id="78" name="组合 5"/>
            <p:cNvGrpSpPr/>
            <p:nvPr/>
          </p:nvGrpSpPr>
          <p:grpSpPr>
            <a:xfrm>
              <a:off x="198764" y="258545"/>
              <a:ext cx="700083" cy="563491"/>
              <a:chOff x="5075564" y="2933562"/>
              <a:chExt cx="2860947" cy="2302753"/>
            </a:xfrm>
          </p:grpSpPr>
          <p:sp>
            <p:nvSpPr>
              <p:cNvPr id="79" name="等腰三角形 7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80" name="等腰三角形 79"/>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1" name="文本框 6"/>
            <p:cNvSpPr txBox="1"/>
            <p:nvPr/>
          </p:nvSpPr>
          <p:spPr>
            <a:xfrm>
              <a:off x="988521" y="300065"/>
              <a:ext cx="538609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需</a:t>
              </a:r>
              <a:r>
                <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求的图形化分析</a:t>
              </a:r>
              <a:endPar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6"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sym typeface="宋体" panose="02010600030101010101" pitchFamily="2" charset="-122"/>
              </a:rPr>
              <a:t>）对话图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 name="日期占位符 1"/>
          <p:cNvSpPr>
            <a:spLocks noGrp="1"/>
          </p:cNvSpPr>
          <p:nvPr>
            <p:ph type="dt" sz="half" idx="10"/>
          </p:nvPr>
        </p:nvSpPr>
        <p:spPr/>
        <p:txBody>
          <a:bodyPr/>
          <a:lstStyle/>
          <a:p>
            <a:pPr>
              <a:defRPr/>
            </a:pPr>
            <a:fld id="{D1D153E2-838C-48E7-A25C-DDB570E7B60B}"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p:tgtEl>
                                          <p:spTgt spid="26"/>
                                        </p:tgtEl>
                                        <p:attrNameLst>
                                          <p:attrName>ppt_x</p:attrName>
                                        </p:attrNameLst>
                                      </p:cBhvr>
                                      <p:tavLst>
                                        <p:tav tm="0">
                                          <p:val>
                                            <p:strVal val="#ppt_x+#ppt_w*1.125000"/>
                                          </p:val>
                                        </p:tav>
                                        <p:tav tm="100000">
                                          <p:val>
                                            <p:strVal val="#ppt_x"/>
                                          </p:val>
                                        </p:tav>
                                      </p:tavLst>
                                    </p:anim>
                                    <p:animEffect transition="in" filter="wipe(left)">
                                      <p:cBhvr>
                                        <p:cTn id="8" dur="500"/>
                                        <p:tgtEl>
                                          <p:spTgt spid="26"/>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4" grpId="0" animBg="1"/>
      <p:bldP spid="55" grpId="0" animBg="1"/>
      <p:bldP spid="69" grpId="0" animBg="1"/>
      <p:bldP spid="71" grpId="0" animBg="1"/>
      <p:bldP spid="75" grpId="0"/>
      <p:bldP spid="2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Shape 3"/>
          <p:cNvSpPr/>
          <p:nvPr/>
        </p:nvSpPr>
        <p:spPr>
          <a:xfrm>
            <a:off x="1135768" y="2081531"/>
            <a:ext cx="2263299" cy="3428992"/>
          </a:xfrm>
          <a:custGeom>
            <a:avLst/>
            <a:gdLst>
              <a:gd name="connsiteX0" fmla="*/ 0 w 1972131"/>
              <a:gd name="connsiteY0" fmla="*/ 0 h 3176587"/>
              <a:gd name="connsiteX1" fmla="*/ 1972131 w 1972131"/>
              <a:gd name="connsiteY1" fmla="*/ 0 h 3176587"/>
              <a:gd name="connsiteX2" fmla="*/ 1972131 w 1972131"/>
              <a:gd name="connsiteY2" fmla="*/ 3176587 h 3176587"/>
              <a:gd name="connsiteX3" fmla="*/ 0 w 1972131"/>
              <a:gd name="connsiteY3" fmla="*/ 3176587 h 3176587"/>
              <a:gd name="connsiteX4" fmla="*/ 0 w 1972131"/>
              <a:gd name="connsiteY4" fmla="*/ 0 h 3176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2131" h="3176587">
                <a:moveTo>
                  <a:pt x="0" y="0"/>
                </a:moveTo>
                <a:lnTo>
                  <a:pt x="1972131" y="0"/>
                </a:lnTo>
                <a:lnTo>
                  <a:pt x="1972131" y="3176587"/>
                </a:lnTo>
                <a:lnTo>
                  <a:pt x="0" y="3176587"/>
                </a:lnTo>
                <a:lnTo>
                  <a:pt x="0" y="0"/>
                </a:lnTo>
                <a:close/>
              </a:path>
            </a:pathLst>
          </a:custGeom>
          <a:noFill/>
          <a:ln>
            <a:noFill/>
          </a:ln>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anchor="ctr"/>
          <a:lstStyle/>
          <a:p>
            <a:pPr algn="ctr"/>
          </a:p>
        </p:txBody>
      </p:sp>
      <p:sp>
        <p:nvSpPr>
          <p:cNvPr id="3" name="Freeform: Shape 6"/>
          <p:cNvSpPr/>
          <p:nvPr/>
        </p:nvSpPr>
        <p:spPr>
          <a:xfrm>
            <a:off x="2471106" y="2081531"/>
            <a:ext cx="2263299" cy="3428992"/>
          </a:xfrm>
          <a:custGeom>
            <a:avLst/>
            <a:gdLst>
              <a:gd name="connsiteX0" fmla="*/ 0 w 1972131"/>
              <a:gd name="connsiteY0" fmla="*/ 0 h 3176587"/>
              <a:gd name="connsiteX1" fmla="*/ 1972131 w 1972131"/>
              <a:gd name="connsiteY1" fmla="*/ 0 h 3176587"/>
              <a:gd name="connsiteX2" fmla="*/ 1972131 w 1972131"/>
              <a:gd name="connsiteY2" fmla="*/ 3176587 h 3176587"/>
              <a:gd name="connsiteX3" fmla="*/ 0 w 1972131"/>
              <a:gd name="connsiteY3" fmla="*/ 3176587 h 3176587"/>
              <a:gd name="connsiteX4" fmla="*/ 0 w 1972131"/>
              <a:gd name="connsiteY4" fmla="*/ 0 h 3176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2131" h="3176587">
                <a:moveTo>
                  <a:pt x="0" y="0"/>
                </a:moveTo>
                <a:lnTo>
                  <a:pt x="1972131" y="0"/>
                </a:lnTo>
                <a:lnTo>
                  <a:pt x="1972131" y="3176587"/>
                </a:lnTo>
                <a:lnTo>
                  <a:pt x="0" y="3176587"/>
                </a:lnTo>
                <a:lnTo>
                  <a:pt x="0" y="0"/>
                </a:lnTo>
                <a:close/>
              </a:path>
            </a:pathLst>
          </a:custGeom>
          <a:noFill/>
          <a:ln>
            <a:noFill/>
          </a:ln>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anchor="ctr"/>
          <a:lstStyle/>
          <a:p>
            <a:pPr algn="ctr"/>
          </a:p>
        </p:txBody>
      </p:sp>
      <p:grpSp>
        <p:nvGrpSpPr>
          <p:cNvPr id="5" name="组合 4"/>
          <p:cNvGrpSpPr/>
          <p:nvPr/>
        </p:nvGrpSpPr>
        <p:grpSpPr>
          <a:xfrm>
            <a:off x="698500" y="2081530"/>
            <a:ext cx="2988309" cy="4359910"/>
            <a:chOff x="1223177" y="3514117"/>
            <a:chExt cx="1268985" cy="1548227"/>
          </a:xfrm>
          <a:solidFill>
            <a:schemeClr val="accent5">
              <a:lumMod val="20000"/>
              <a:lumOff val="80000"/>
            </a:schemeClr>
          </a:solidFill>
        </p:grpSpPr>
        <p:sp>
          <p:nvSpPr>
            <p:cNvPr id="6" name="Rectangle: Rounded Corners 17"/>
            <p:cNvSpPr/>
            <p:nvPr/>
          </p:nvSpPr>
          <p:spPr>
            <a:xfrm>
              <a:off x="1223177" y="3514125"/>
              <a:ext cx="1254424" cy="1548219"/>
            </a:xfrm>
            <a:prstGeom prst="roundRect">
              <a:avLst>
                <a:gd name="adj" fmla="val 462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lvl="0" algn="ctr"/>
              <a:endParaRPr lang="zh-CN" altLang="en-US" sz="1400" dirty="0"/>
            </a:p>
          </p:txBody>
        </p:sp>
        <p:grpSp>
          <p:nvGrpSpPr>
            <p:cNvPr id="7" name="Group 15"/>
            <p:cNvGrpSpPr/>
            <p:nvPr/>
          </p:nvGrpSpPr>
          <p:grpSpPr>
            <a:xfrm>
              <a:off x="1223177" y="3514117"/>
              <a:ext cx="1268985" cy="1222456"/>
              <a:chOff x="4886324" y="2414406"/>
              <a:chExt cx="7390479" cy="1074368"/>
            </a:xfrm>
            <a:grpFill/>
          </p:grpSpPr>
          <p:sp>
            <p:nvSpPr>
              <p:cNvPr id="8" name="Rectangle 20"/>
              <p:cNvSpPr/>
              <p:nvPr/>
            </p:nvSpPr>
            <p:spPr>
              <a:xfrm>
                <a:off x="4886324" y="2414406"/>
                <a:ext cx="7305675" cy="206858"/>
              </a:xfrm>
              <a:prstGeom prst="roundRect">
                <a:avLst/>
              </a:prstGeom>
              <a:solidFill>
                <a:schemeClr val="accent5"/>
              </a:solidFill>
            </p:spPr>
            <p:txBody>
              <a:bodyPr wrap="none" anchor="ctr" anchorCtr="0">
                <a:normAutofit/>
              </a:bodyPr>
              <a:lstStyle/>
              <a:p>
                <a:pPr algn="ctr"/>
                <a:r>
                  <a:rPr lang="zh-CN" altLang="en-US" sz="2200" b="1" dirty="0">
                    <a:solidFill>
                      <a:schemeClr val="bg1"/>
                    </a:solidFill>
                    <a:latin typeface="宋体" panose="02010600030101010101" pitchFamily="2" charset="-122"/>
                    <a:ea typeface="宋体" panose="02010600030101010101" pitchFamily="2" charset="-122"/>
                    <a:sym typeface="+mn-ea"/>
                  </a:rPr>
                  <a:t>允许用户退出操作</a:t>
                </a:r>
                <a:endParaRPr lang="zh-CN" altLang="en-US" sz="2200" b="1" dirty="0">
                  <a:solidFill>
                    <a:schemeClr val="bg1"/>
                  </a:solidFill>
                  <a:latin typeface="宋体" panose="02010600030101010101" pitchFamily="2" charset="-122"/>
                  <a:ea typeface="宋体" panose="02010600030101010101" pitchFamily="2" charset="-122"/>
                  <a:sym typeface="+mn-ea"/>
                </a:endParaRPr>
              </a:p>
            </p:txBody>
          </p:sp>
          <p:sp>
            <p:nvSpPr>
              <p:cNvPr id="9" name="Rectangle 22"/>
              <p:cNvSpPr/>
              <p:nvPr/>
            </p:nvSpPr>
            <p:spPr>
              <a:xfrm>
                <a:off x="4971128" y="2611659"/>
                <a:ext cx="7305675" cy="877115"/>
              </a:xfrm>
              <a:prstGeom prst="rect">
                <a:avLst/>
              </a:prstGeom>
              <a:grpFill/>
            </p:spPr>
            <p:txBody>
              <a:bodyPr wrap="square" anchor="t" anchorCtr="0">
                <a:noAutofit/>
              </a:bodyPr>
              <a:lstStyle/>
              <a:p>
                <a:pPr lvl="0" indent="0">
                  <a:lnSpc>
                    <a:spcPct val="110000"/>
                  </a:lnSpc>
                  <a:buFont typeface="Wingdings" panose="05000000000000000000" pitchFamily="2" charset="2"/>
                  <a:buNone/>
                </a:pPr>
                <a:r>
                  <a:rPr lang="zh-CN" altLang="en-US" sz="2200" b="1" dirty="0">
                    <a:latin typeface="宋体" panose="02010600030101010101" pitchFamily="2" charset="-122"/>
                    <a:ea typeface="宋体" panose="02010600030101010101" pitchFamily="2" charset="-122"/>
                    <a:sym typeface="+mn-ea"/>
                  </a:rPr>
                  <a:t>对话图中的一些转换</a:t>
                </a:r>
                <a:r>
                  <a:rPr lang="zh-CN" altLang="en-US" sz="2200" b="1" dirty="0">
                    <a:solidFill>
                      <a:srgbClr val="0000FF"/>
                    </a:solidFill>
                    <a:latin typeface="宋体" panose="02010600030101010101" pitchFamily="2" charset="-122"/>
                    <a:ea typeface="宋体" panose="02010600030101010101" pitchFamily="2" charset="-122"/>
                    <a:sym typeface="+mn-ea"/>
                  </a:rPr>
                  <a:t>允许用户退出操作</a:t>
                </a:r>
                <a:r>
                  <a:rPr lang="zh-CN" altLang="en-US" sz="2200" b="1" dirty="0">
                    <a:latin typeface="宋体" panose="02010600030101010101" pitchFamily="2" charset="-122"/>
                    <a:ea typeface="宋体" panose="02010600030101010101" pitchFamily="2" charset="-122"/>
                    <a:sym typeface="+mn-ea"/>
                  </a:rPr>
                  <a:t>，对于</a:t>
                </a:r>
                <a:r>
                  <a:rPr lang="zh-CN" altLang="en-US" sz="2200" b="1" dirty="0">
                    <a:solidFill>
                      <a:srgbClr val="0000FF"/>
                    </a:solidFill>
                    <a:latin typeface="宋体" panose="02010600030101010101" pitchFamily="2" charset="-122"/>
                    <a:ea typeface="宋体" panose="02010600030101010101" pitchFamily="2" charset="-122"/>
                    <a:sym typeface="+mn-ea"/>
                  </a:rPr>
                  <a:t>查看是否忽略</a:t>
                </a:r>
                <a:r>
                  <a:rPr lang="zh-CN" altLang="en-US" sz="2200" b="1" dirty="0">
                    <a:latin typeface="宋体" panose="02010600030101010101" pitchFamily="2" charset="-122"/>
                    <a:ea typeface="宋体" panose="02010600030101010101" pitchFamily="2" charset="-122"/>
                    <a:sym typeface="+mn-ea"/>
                  </a:rPr>
                  <a:t>任何可用性需求对话图</a:t>
                </a:r>
                <a:r>
                  <a:rPr lang="zh-CN" altLang="en-US" sz="2200" b="1" dirty="0">
                    <a:solidFill>
                      <a:srgbClr val="0000FF"/>
                    </a:solidFill>
                    <a:latin typeface="宋体" panose="02010600030101010101" pitchFamily="2" charset="-122"/>
                    <a:ea typeface="宋体" panose="02010600030101010101" pitchFamily="2" charset="-122"/>
                    <a:sym typeface="+mn-ea"/>
                  </a:rPr>
                  <a:t>是一种很好的方法</a:t>
                </a:r>
                <a:endParaRPr lang="en-US" altLang="zh-CN" sz="2200" b="1" dirty="0">
                  <a:solidFill>
                    <a:srgbClr val="0000FF"/>
                  </a:solidFill>
                  <a:latin typeface="宋体" panose="02010600030101010101" pitchFamily="2" charset="-122"/>
                  <a:ea typeface="宋体" panose="02010600030101010101" pitchFamily="2" charset="-122"/>
                  <a:sym typeface="+mn-ea"/>
                </a:endParaRPr>
              </a:p>
              <a:p>
                <a:pPr lvl="0" indent="0">
                  <a:lnSpc>
                    <a:spcPct val="110000"/>
                  </a:lnSpc>
                  <a:buFont typeface="Wingdings" panose="05000000000000000000" pitchFamily="2" charset="2"/>
                  <a:buNone/>
                </a:pPr>
                <a:r>
                  <a:rPr lang="zh-CN" altLang="en-US" sz="2200" b="1" dirty="0">
                    <a:solidFill>
                      <a:srgbClr val="FF0000"/>
                    </a:solidFill>
                    <a:latin typeface="宋体" panose="02010600030101010101" pitchFamily="2" charset="-122"/>
                    <a:ea typeface="宋体" panose="02010600030101010101" pitchFamily="2" charset="-122"/>
                    <a:sym typeface="+mn-ea"/>
                  </a:rPr>
                  <a:t>例如：</a:t>
                </a:r>
                <a:r>
                  <a:rPr lang="zh-CN" altLang="en-US" sz="2200" b="1" dirty="0">
                    <a:latin typeface="宋体" panose="02010600030101010101" pitchFamily="2" charset="-122"/>
                    <a:ea typeface="宋体" panose="02010600030101010101" pitchFamily="2" charset="-122"/>
                    <a:sym typeface="+mn-ea"/>
                  </a:rPr>
                  <a:t>向导中遗漏了一个退格键，此时就会强迫用户完成一个不需要的动作</a:t>
                </a:r>
                <a:endParaRPr lang="zh-CN" altLang="en-US" sz="2200" b="1" dirty="0"/>
              </a:p>
            </p:txBody>
          </p:sp>
        </p:grpSp>
      </p:grpSp>
      <p:grpSp>
        <p:nvGrpSpPr>
          <p:cNvPr id="10" name="组合 9"/>
          <p:cNvGrpSpPr/>
          <p:nvPr/>
        </p:nvGrpSpPr>
        <p:grpSpPr>
          <a:xfrm>
            <a:off x="4584699" y="2081530"/>
            <a:ext cx="3282592" cy="4359275"/>
            <a:chOff x="2562912" y="3514113"/>
            <a:chExt cx="1300053" cy="1548229"/>
          </a:xfrm>
          <a:solidFill>
            <a:schemeClr val="accent6">
              <a:lumMod val="20000"/>
              <a:lumOff val="80000"/>
            </a:schemeClr>
          </a:solidFill>
        </p:grpSpPr>
        <p:sp>
          <p:nvSpPr>
            <p:cNvPr id="11" name="Rectangle: Rounded Corners 18"/>
            <p:cNvSpPr/>
            <p:nvPr/>
          </p:nvSpPr>
          <p:spPr>
            <a:xfrm>
              <a:off x="2576493" y="3514123"/>
              <a:ext cx="1254424" cy="1548219"/>
            </a:xfrm>
            <a:prstGeom prst="roundRect">
              <a:avLst>
                <a:gd name="adj" fmla="val 462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lvl="0" algn="ctr"/>
              <a:endParaRPr lang="zh-CN" altLang="en-US"/>
            </a:p>
          </p:txBody>
        </p:sp>
        <p:grpSp>
          <p:nvGrpSpPr>
            <p:cNvPr id="12" name="Group 23"/>
            <p:cNvGrpSpPr/>
            <p:nvPr/>
          </p:nvGrpSpPr>
          <p:grpSpPr>
            <a:xfrm>
              <a:off x="2562912" y="3514113"/>
              <a:ext cx="1300053" cy="1232847"/>
              <a:chOff x="4807233" y="2414406"/>
              <a:chExt cx="7571418" cy="1083501"/>
            </a:xfrm>
            <a:grpFill/>
          </p:grpSpPr>
          <p:sp>
            <p:nvSpPr>
              <p:cNvPr id="13" name="Rectangle 24"/>
              <p:cNvSpPr/>
              <p:nvPr/>
            </p:nvSpPr>
            <p:spPr>
              <a:xfrm>
                <a:off x="4886324" y="2414406"/>
                <a:ext cx="7305675" cy="206849"/>
              </a:xfrm>
              <a:prstGeom prst="roundRect">
                <a:avLst/>
              </a:prstGeom>
              <a:solidFill>
                <a:schemeClr val="accent6"/>
              </a:solidFill>
            </p:spPr>
            <p:txBody>
              <a:bodyPr wrap="none" anchor="ctr" anchorCtr="0">
                <a:normAutofit/>
              </a:bodyPr>
              <a:lstStyle/>
              <a:p>
                <a:pPr algn="ctr">
                  <a:lnSpc>
                    <a:spcPct val="120000"/>
                  </a:lnSpc>
                </a:pPr>
                <a:r>
                  <a:rPr lang="zh-CN" altLang="en-US" sz="2200" b="1" dirty="0">
                    <a:solidFill>
                      <a:schemeClr val="bg1"/>
                    </a:solidFill>
                  </a:rPr>
                  <a:t>帮助</a:t>
                </a:r>
                <a:r>
                  <a:rPr lang="zh-CN" altLang="en-US" sz="2200" b="1" dirty="0">
                    <a:solidFill>
                      <a:schemeClr val="bg1"/>
                    </a:solidFill>
                    <a:latin typeface="宋体" panose="02010600030101010101" pitchFamily="2" charset="-122"/>
                    <a:ea typeface="宋体" panose="02010600030101010101" pitchFamily="2" charset="-122"/>
                    <a:sym typeface="+mn-ea"/>
                  </a:rPr>
                  <a:t>发现遗漏需求</a:t>
                </a:r>
                <a:endParaRPr lang="zh-CN" altLang="en-US" sz="2200" b="1" dirty="0">
                  <a:solidFill>
                    <a:schemeClr val="bg1"/>
                  </a:solidFill>
                  <a:latin typeface="宋体" panose="02010600030101010101" pitchFamily="2" charset="-122"/>
                  <a:ea typeface="宋体" panose="02010600030101010101" pitchFamily="2" charset="-122"/>
                  <a:sym typeface="+mn-ea"/>
                </a:endParaRPr>
              </a:p>
            </p:txBody>
          </p:sp>
          <p:sp>
            <p:nvSpPr>
              <p:cNvPr id="14" name="Rectangle 25"/>
              <p:cNvSpPr/>
              <p:nvPr/>
            </p:nvSpPr>
            <p:spPr>
              <a:xfrm>
                <a:off x="4807233" y="2620792"/>
                <a:ext cx="7571418" cy="877115"/>
              </a:xfrm>
              <a:prstGeom prst="rect">
                <a:avLst/>
              </a:prstGeom>
              <a:grpFill/>
            </p:spPr>
            <p:txBody>
              <a:bodyPr wrap="square" anchor="t" anchorCtr="0">
                <a:noAutofit/>
              </a:bodyPr>
              <a:lstStyle/>
              <a:p>
                <a:pPr lvl="0" indent="0">
                  <a:lnSpc>
                    <a:spcPct val="110000"/>
                  </a:lnSpc>
                  <a:buFont typeface="Wingdings" panose="05000000000000000000" pitchFamily="2" charset="2"/>
                  <a:buNone/>
                </a:pPr>
                <a:r>
                  <a:rPr lang="zh-CN" altLang="en-US" sz="2200" b="1" dirty="0">
                    <a:latin typeface="宋体" panose="02010600030101010101" pitchFamily="2" charset="-122"/>
                    <a:ea typeface="宋体" panose="02010600030101010101" pitchFamily="2" charset="-122"/>
                    <a:sym typeface="+mn-ea"/>
                  </a:rPr>
                  <a:t>当用户检查这个对话图时，他可能发现一个遗漏需求</a:t>
                </a:r>
                <a:endParaRPr lang="en-US" altLang="zh-CN" sz="2200" b="1" dirty="0">
                  <a:latin typeface="宋体" panose="02010600030101010101" pitchFamily="2" charset="-122"/>
                  <a:ea typeface="宋体" panose="02010600030101010101" pitchFamily="2" charset="-122"/>
                  <a:sym typeface="+mn-ea"/>
                </a:endParaRPr>
              </a:p>
              <a:p>
                <a:pPr lvl="0" indent="0">
                  <a:lnSpc>
                    <a:spcPct val="110000"/>
                  </a:lnSpc>
                  <a:buFont typeface="Wingdings" panose="05000000000000000000" pitchFamily="2" charset="2"/>
                  <a:buNone/>
                </a:pPr>
                <a:r>
                  <a:rPr lang="zh-CN" altLang="en-US" sz="2200" b="1" dirty="0">
                    <a:solidFill>
                      <a:srgbClr val="FF0000"/>
                    </a:solidFill>
                    <a:latin typeface="宋体" panose="02010600030101010101" pitchFamily="2" charset="-122"/>
                    <a:ea typeface="宋体" panose="02010600030101010101" pitchFamily="2" charset="-122"/>
                    <a:sym typeface="+mn-ea"/>
                  </a:rPr>
                  <a:t>例如：</a:t>
                </a:r>
                <a:r>
                  <a:rPr lang="zh-CN" altLang="en-US" sz="2200" b="1" dirty="0">
                    <a:latin typeface="宋体" panose="02010600030101010101" pitchFamily="2" charset="-122"/>
                    <a:ea typeface="宋体" panose="02010600030101010101" pitchFamily="2" charset="-122"/>
                    <a:sym typeface="+mn-ea"/>
                  </a:rPr>
                  <a:t>客户可能认为</a:t>
                </a:r>
                <a:r>
                  <a:rPr lang="zh-CN" altLang="en-US" sz="2200" b="1" dirty="0">
                    <a:solidFill>
                      <a:srgbClr val="0000FF"/>
                    </a:solidFill>
                    <a:latin typeface="宋体" panose="02010600030101010101" pitchFamily="2" charset="-122"/>
                    <a:ea typeface="宋体" panose="02010600030101010101" pitchFamily="2" charset="-122"/>
                    <a:sym typeface="+mn-ea"/>
                  </a:rPr>
                  <a:t>确认取消整个请求</a:t>
                </a:r>
                <a:r>
                  <a:rPr lang="zh-CN" altLang="en-US" sz="2200" b="1" dirty="0">
                    <a:latin typeface="宋体" panose="02010600030101010101" pitchFamily="2" charset="-122"/>
                    <a:ea typeface="宋体" panose="02010600030101010101" pitchFamily="2" charset="-122"/>
                    <a:sym typeface="+mn-ea"/>
                  </a:rPr>
                  <a:t>的操作</a:t>
                </a:r>
                <a:r>
                  <a:rPr lang="zh-CN" altLang="en-US" sz="2200" b="1" dirty="0">
                    <a:solidFill>
                      <a:srgbClr val="0000FF"/>
                    </a:solidFill>
                    <a:latin typeface="宋体" panose="02010600030101010101" pitchFamily="2" charset="-122"/>
                    <a:ea typeface="宋体" panose="02010600030101010101" pitchFamily="2" charset="-122"/>
                    <a:sym typeface="+mn-ea"/>
                  </a:rPr>
                  <a:t>是个好主意</a:t>
                </a:r>
                <a:r>
                  <a:rPr lang="zh-CN" altLang="en-US" sz="2200" b="1" dirty="0">
                    <a:latin typeface="宋体" panose="02010600030101010101" pitchFamily="2" charset="-122"/>
                    <a:ea typeface="宋体" panose="02010600030101010101" pitchFamily="2" charset="-122"/>
                    <a:sym typeface="+mn-ea"/>
                  </a:rPr>
                  <a:t>，因它可预防不小心丢失数据。在分析阶段，增加这一功能只需极少代价，但在已发布的产品中增加这一功能则代价甚大</a:t>
                </a:r>
                <a:endParaRPr lang="zh-CN" altLang="en-US" sz="2200" b="1" dirty="0"/>
              </a:p>
            </p:txBody>
          </p:sp>
        </p:grpSp>
      </p:grpSp>
      <p:grpSp>
        <p:nvGrpSpPr>
          <p:cNvPr id="15" name="组合 14"/>
          <p:cNvGrpSpPr/>
          <p:nvPr/>
        </p:nvGrpSpPr>
        <p:grpSpPr>
          <a:xfrm>
            <a:off x="8542655" y="2072640"/>
            <a:ext cx="3111500" cy="4283709"/>
            <a:chOff x="4023999" y="3514100"/>
            <a:chExt cx="1254425" cy="1664185"/>
          </a:xfrm>
          <a:solidFill>
            <a:schemeClr val="accent2">
              <a:lumMod val="20000"/>
              <a:lumOff val="80000"/>
            </a:schemeClr>
          </a:solidFill>
        </p:grpSpPr>
        <p:sp>
          <p:nvSpPr>
            <p:cNvPr id="17" name="Rectangle: Rounded Corners 19"/>
            <p:cNvSpPr/>
            <p:nvPr/>
          </p:nvSpPr>
          <p:spPr>
            <a:xfrm>
              <a:off x="4023999" y="3514100"/>
              <a:ext cx="1254425" cy="1664185"/>
            </a:xfrm>
            <a:prstGeom prst="roundRect">
              <a:avLst>
                <a:gd name="adj" fmla="val 462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lvl="0" algn="ctr"/>
              <a:endParaRPr lang="zh-CN" altLang="en-US"/>
            </a:p>
          </p:txBody>
        </p:sp>
        <p:grpSp>
          <p:nvGrpSpPr>
            <p:cNvPr id="18" name="Group 26"/>
            <p:cNvGrpSpPr/>
            <p:nvPr/>
          </p:nvGrpSpPr>
          <p:grpSpPr>
            <a:xfrm>
              <a:off x="4023999" y="3514100"/>
              <a:ext cx="1254425" cy="1305177"/>
              <a:chOff x="5436020" y="2414393"/>
              <a:chExt cx="7305675" cy="1147070"/>
            </a:xfrm>
            <a:grpFill/>
          </p:grpSpPr>
          <p:sp>
            <p:nvSpPr>
              <p:cNvPr id="19" name="Rectangle 27"/>
              <p:cNvSpPr/>
              <p:nvPr/>
            </p:nvSpPr>
            <p:spPr>
              <a:xfrm>
                <a:off x="5436020" y="2414393"/>
                <a:ext cx="7305673" cy="206850"/>
              </a:xfrm>
              <a:prstGeom prst="roundRect">
                <a:avLst/>
              </a:prstGeom>
              <a:solidFill>
                <a:schemeClr val="accent2"/>
              </a:solidFill>
            </p:spPr>
            <p:txBody>
              <a:bodyPr wrap="none" anchor="ctr" anchorCtr="0">
                <a:normAutofit/>
              </a:bodyPr>
              <a:lstStyle/>
              <a:p>
                <a:pPr algn="ctr">
                  <a:lnSpc>
                    <a:spcPct val="120000"/>
                  </a:lnSpc>
                </a:pPr>
                <a:r>
                  <a:rPr lang="zh-CN" altLang="en-US" sz="2200" b="1" dirty="0">
                    <a:solidFill>
                      <a:schemeClr val="bg1"/>
                    </a:solidFill>
                    <a:latin typeface="宋体" panose="02010600030101010101" pitchFamily="2" charset="-122"/>
                    <a:ea typeface="宋体" panose="02010600030101010101" pitchFamily="2" charset="-122"/>
                    <a:sym typeface="+mn-ea"/>
                  </a:rPr>
                  <a:t>使系统预期功能达成共识</a:t>
                </a:r>
                <a:endParaRPr lang="zh-CN" altLang="en-US" sz="2200" b="1" dirty="0">
                  <a:solidFill>
                    <a:schemeClr val="bg1"/>
                  </a:solidFill>
                  <a:latin typeface="宋体" panose="02010600030101010101" pitchFamily="2" charset="-122"/>
                  <a:ea typeface="宋体" panose="02010600030101010101" pitchFamily="2" charset="-122"/>
                  <a:sym typeface="+mn-ea"/>
                </a:endParaRPr>
              </a:p>
            </p:txBody>
          </p:sp>
          <p:sp>
            <p:nvSpPr>
              <p:cNvPr id="20" name="Rectangle 28"/>
              <p:cNvSpPr/>
              <p:nvPr/>
            </p:nvSpPr>
            <p:spPr>
              <a:xfrm>
                <a:off x="5436020" y="2684348"/>
                <a:ext cx="7305675" cy="877115"/>
              </a:xfrm>
              <a:prstGeom prst="rect">
                <a:avLst/>
              </a:prstGeom>
              <a:grpFill/>
            </p:spPr>
            <p:txBody>
              <a:bodyPr wrap="square" anchor="t" anchorCtr="0">
                <a:noAutofit/>
              </a:bodyPr>
              <a:lstStyle/>
              <a:p>
                <a:pPr lvl="0" indent="0">
                  <a:lnSpc>
                    <a:spcPct val="110000"/>
                  </a:lnSpc>
                  <a:buFont typeface="Wingdings" panose="05000000000000000000" pitchFamily="2" charset="2"/>
                  <a:buNone/>
                </a:pPr>
                <a:r>
                  <a:rPr lang="zh-CN" altLang="en-US" sz="2200" b="1" dirty="0">
                    <a:latin typeface="宋体" panose="02010600030101010101" pitchFamily="2" charset="-122"/>
                    <a:ea typeface="宋体" panose="02010600030101010101" pitchFamily="2" charset="-122"/>
                    <a:sym typeface="+mn-ea"/>
                  </a:rPr>
                  <a:t>对话图</a:t>
                </a:r>
                <a:r>
                  <a:rPr lang="zh-CN" altLang="en-US" sz="2200" b="1" dirty="0">
                    <a:solidFill>
                      <a:srgbClr val="0000FF"/>
                    </a:solidFill>
                    <a:latin typeface="宋体" panose="02010600030101010101" pitchFamily="2" charset="-122"/>
                    <a:ea typeface="宋体" panose="02010600030101010101" pitchFamily="2" charset="-122"/>
                    <a:sym typeface="+mn-ea"/>
                  </a:rPr>
                  <a:t>仅表示</a:t>
                </a:r>
                <a:r>
                  <a:rPr lang="zh-CN" altLang="en-US" sz="2200" b="1" dirty="0">
                    <a:latin typeface="宋体" panose="02010600030101010101" pitchFamily="2" charset="-122"/>
                    <a:ea typeface="宋体" panose="02010600030101010101" pitchFamily="2" charset="-122"/>
                    <a:sym typeface="+mn-ea"/>
                  </a:rPr>
                  <a:t>在用户和系统交互中包含的</a:t>
                </a:r>
                <a:r>
                  <a:rPr lang="zh-CN" altLang="en-US" sz="2200" b="1" dirty="0">
                    <a:solidFill>
                      <a:srgbClr val="0000FF"/>
                    </a:solidFill>
                    <a:latin typeface="宋体" panose="02010600030101010101" pitchFamily="2" charset="-122"/>
                    <a:ea typeface="宋体" panose="02010600030101010101" pitchFamily="2" charset="-122"/>
                    <a:sym typeface="+mn-ea"/>
                  </a:rPr>
                  <a:t>可能元素的概念视图</a:t>
                </a:r>
                <a:endParaRPr lang="en-US" altLang="zh-CN" sz="2200" b="1" dirty="0">
                  <a:solidFill>
                    <a:srgbClr val="0000FF"/>
                  </a:solidFill>
                  <a:latin typeface="宋体" panose="02010600030101010101" pitchFamily="2" charset="-122"/>
                  <a:ea typeface="宋体" panose="02010600030101010101" pitchFamily="2" charset="-122"/>
                  <a:sym typeface="+mn-ea"/>
                </a:endParaRPr>
              </a:p>
              <a:p>
                <a:pPr lvl="0" indent="0">
                  <a:lnSpc>
                    <a:spcPct val="110000"/>
                  </a:lnSpc>
                  <a:buFont typeface="Wingdings" panose="05000000000000000000" pitchFamily="2" charset="2"/>
                  <a:buNone/>
                </a:pPr>
                <a:r>
                  <a:rPr lang="zh-CN" altLang="en-US" sz="2200" b="1" dirty="0">
                    <a:latin typeface="宋体" panose="02010600030101010101" pitchFamily="2" charset="-122"/>
                    <a:ea typeface="宋体" panose="02010600030101010101" pitchFamily="2" charset="-122"/>
                    <a:sym typeface="+mn-ea"/>
                  </a:rPr>
                  <a:t>所以：</a:t>
                </a:r>
                <a:r>
                  <a:rPr lang="zh-CN" altLang="en-US" sz="2200" b="1" dirty="0">
                    <a:solidFill>
                      <a:srgbClr val="0000FF"/>
                    </a:solidFill>
                    <a:latin typeface="宋体" panose="02010600030101010101" pitchFamily="2" charset="-122"/>
                    <a:ea typeface="宋体" panose="02010600030101010101" pitchFamily="2" charset="-122"/>
                    <a:sym typeface="+mn-ea"/>
                  </a:rPr>
                  <a:t>不要试图在需求阶段去刻画</a:t>
                </a:r>
                <a:r>
                  <a:rPr lang="zh-CN" altLang="en-US" sz="2200" b="1" dirty="0">
                    <a:latin typeface="宋体" panose="02010600030101010101" pitchFamily="2" charset="-122"/>
                    <a:ea typeface="宋体" panose="02010600030101010101" pitchFamily="2" charset="-122"/>
                    <a:sym typeface="+mn-ea"/>
                  </a:rPr>
                  <a:t>所有用户界面的</a:t>
                </a:r>
                <a:r>
                  <a:rPr lang="zh-CN" altLang="en-US" sz="2200" b="1" dirty="0">
                    <a:solidFill>
                      <a:srgbClr val="0000FF"/>
                    </a:solidFill>
                    <a:latin typeface="宋体" panose="02010600030101010101" pitchFamily="2" charset="-122"/>
                    <a:ea typeface="宋体" panose="02010600030101010101" pitchFamily="2" charset="-122"/>
                    <a:sym typeface="+mn-ea"/>
                  </a:rPr>
                  <a:t>设计细节</a:t>
                </a:r>
                <a:r>
                  <a:rPr lang="zh-CN" altLang="en-US" sz="2200" b="1" dirty="0">
                    <a:latin typeface="宋体" panose="02010600030101010101" pitchFamily="2" charset="-122"/>
                    <a:ea typeface="宋体" panose="02010600030101010101" pitchFamily="2" charset="-122"/>
                    <a:sym typeface="+mn-ea"/>
                  </a:rPr>
                  <a:t>，而是利用这些模型使项目的风险承担者</a:t>
                </a:r>
                <a:r>
                  <a:rPr lang="zh-CN" altLang="en-US" sz="2200" b="1" dirty="0">
                    <a:solidFill>
                      <a:srgbClr val="FF0000"/>
                    </a:solidFill>
                    <a:latin typeface="宋体" panose="02010600030101010101" pitchFamily="2" charset="-122"/>
                    <a:ea typeface="宋体" panose="02010600030101010101" pitchFamily="2" charset="-122"/>
                    <a:sym typeface="+mn-ea"/>
                  </a:rPr>
                  <a:t>在系统预期的功能上达成共识</a:t>
                </a:r>
                <a:endParaRPr lang="zh-CN" altLang="en-US" sz="2200" b="1" dirty="0">
                  <a:solidFill>
                    <a:srgbClr val="FF0000"/>
                  </a:solidFill>
                  <a:latin typeface="微软雅黑" panose="020B0503020204020204" pitchFamily="34" charset="-122"/>
                  <a:ea typeface="微软雅黑" panose="020B0503020204020204" pitchFamily="34" charset="-122"/>
                </a:endParaRPr>
              </a:p>
              <a:p>
                <a:pPr lvl="0">
                  <a:lnSpc>
                    <a:spcPct val="110000"/>
                  </a:lnSpc>
                </a:pPr>
                <a:endParaRPr lang="en-US" altLang="zh-CN" sz="2200" b="1" dirty="0">
                  <a:latin typeface="微软雅黑" panose="020B0503020204020204" pitchFamily="34" charset="-122"/>
                  <a:ea typeface="微软雅黑" panose="020B0503020204020204" pitchFamily="34" charset="-122"/>
                </a:endParaRPr>
              </a:p>
              <a:p>
                <a:pPr>
                  <a:lnSpc>
                    <a:spcPct val="110000"/>
                  </a:lnSpc>
                </a:pPr>
                <a:endParaRPr lang="zh-CN" altLang="en-US" b="1" dirty="0"/>
              </a:p>
            </p:txBody>
          </p:sp>
        </p:grpSp>
      </p:grpSp>
      <p:pic>
        <p:nvPicPr>
          <p:cNvPr id="21" name="图片 20"/>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grpSp>
        <p:nvGrpSpPr>
          <p:cNvPr id="22" name="组合 7"/>
          <p:cNvGrpSpPr/>
          <p:nvPr/>
        </p:nvGrpSpPr>
        <p:grpSpPr>
          <a:xfrm>
            <a:off x="108557" y="337632"/>
            <a:ext cx="4632960" cy="491490"/>
            <a:chOff x="198764" y="258545"/>
            <a:chExt cx="6175849" cy="655851"/>
          </a:xfrm>
        </p:grpSpPr>
        <p:grpSp>
          <p:nvGrpSpPr>
            <p:cNvPr id="23" name="组合 5"/>
            <p:cNvGrpSpPr/>
            <p:nvPr/>
          </p:nvGrpSpPr>
          <p:grpSpPr>
            <a:xfrm>
              <a:off x="198764" y="258545"/>
              <a:ext cx="700083" cy="563491"/>
              <a:chOff x="5075564" y="2933562"/>
              <a:chExt cx="2860947" cy="2302753"/>
            </a:xfrm>
          </p:grpSpPr>
          <p:sp>
            <p:nvSpPr>
              <p:cNvPr id="24" name="等腰三角形 23"/>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25" name="等腰三角形 24"/>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26" name="文本框 6"/>
            <p:cNvSpPr txBox="1"/>
            <p:nvPr/>
          </p:nvSpPr>
          <p:spPr>
            <a:xfrm>
              <a:off x="988521" y="300065"/>
              <a:ext cx="538609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需</a:t>
              </a:r>
              <a:r>
                <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求的图形化分析</a:t>
              </a:r>
              <a:endPar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8"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sym typeface="宋体" panose="02010600030101010101" pitchFamily="2" charset="-122"/>
              </a:rPr>
              <a:t>）对话图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7" name="矩形 66"/>
          <p:cNvSpPr>
            <a:spLocks noChangeArrowheads="1"/>
          </p:cNvSpPr>
          <p:nvPr/>
        </p:nvSpPr>
        <p:spPr bwMode="auto">
          <a:xfrm>
            <a:off x="698500" y="1448227"/>
            <a:ext cx="10795000" cy="598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0">
            <a:spAutoFit/>
          </a:bodyPr>
          <a:lstStyle/>
          <a:p>
            <a:pPr lvl="0" indent="0">
              <a:lnSpc>
                <a:spcPct val="150000"/>
              </a:lnSpc>
              <a:buFont typeface="Wingdings" panose="05000000000000000000" pitchFamily="2" charset="2"/>
              <a:buNone/>
            </a:pP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rPr>
              <a:t>对话图的特点</a:t>
            </a:r>
            <a:r>
              <a:rPr lang="zh-CN" altLang="en-US" sz="2000" b="1" dirty="0">
                <a:solidFill>
                  <a:srgbClr val="FF0000"/>
                </a:solidFill>
                <a:latin typeface="宋体" panose="02010600030101010101" pitchFamily="2" charset="-122"/>
                <a:ea typeface="宋体" panose="02010600030101010101" pitchFamily="2" charset="-122"/>
                <a:cs typeface="宋体" panose="02010600030101010101" pitchFamily="2" charset="-122"/>
              </a:rPr>
              <a:t>：</a:t>
            </a:r>
            <a:endParaRPr lang="zh-CN" altLang="en-US" sz="2000" b="1" dirty="0">
              <a:solidFill>
                <a:srgbClr val="FF0000"/>
              </a:solidFill>
              <a:latin typeface="宋体" panose="02010600030101010101" pitchFamily="2" charset="-122"/>
              <a:ea typeface="宋体" panose="02010600030101010101" pitchFamily="2" charset="-122"/>
              <a:cs typeface="宋体" panose="02010600030101010101" pitchFamily="2" charset="-122"/>
            </a:endParaRPr>
          </a:p>
        </p:txBody>
      </p:sp>
      <p:sp>
        <p:nvSpPr>
          <p:cNvPr id="4" name="日期占位符 3"/>
          <p:cNvSpPr>
            <a:spLocks noGrp="1"/>
          </p:cNvSpPr>
          <p:nvPr>
            <p:ph type="dt" sz="half" idx="10"/>
          </p:nvPr>
        </p:nvSpPr>
        <p:spPr/>
        <p:txBody>
          <a:bodyPr/>
          <a:lstStyle/>
          <a:p>
            <a:pPr>
              <a:defRPr/>
            </a:pPr>
            <a:fld id="{DE26AA31-6254-42CC-976A-7F8C95D7EF2A}" type="datetime1">
              <a:rPr lang="zh-CN" altLang="en-US" smtClean="0">
                <a:solidFill>
                  <a:prstClr val="black">
                    <a:tint val="75000"/>
                  </a:prstClr>
                </a:solidFill>
              </a:rPr>
            </a:fld>
            <a:endParaRPr lang="zh-CN" altLang="en-US" dirty="0">
              <a:solidFill>
                <a:prstClr val="black">
                  <a:tint val="75000"/>
                </a:prstClr>
              </a:solidFill>
            </a:endParaRPr>
          </a:p>
        </p:txBody>
      </p:sp>
      <p:sp>
        <p:nvSpPr>
          <p:cNvPr id="16" name="灯片编号占位符 1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p:tgtEl>
                                          <p:spTgt spid="28"/>
                                        </p:tgtEl>
                                        <p:attrNameLst>
                                          <p:attrName>ppt_x</p:attrName>
                                        </p:attrNameLst>
                                      </p:cBhvr>
                                      <p:tavLst>
                                        <p:tav tm="0">
                                          <p:val>
                                            <p:strVal val="#ppt_x+#ppt_w*1.125000"/>
                                          </p:val>
                                        </p:tav>
                                        <p:tav tm="100000">
                                          <p:val>
                                            <p:strVal val="#ppt_x"/>
                                          </p:val>
                                        </p:tav>
                                      </p:tavLst>
                                    </p:anim>
                                    <p:animEffect transition="in" filter="wipe(left)">
                                      <p:cBhvr>
                                        <p:cTn id="8" dur="500"/>
                                        <p:tgtEl>
                                          <p:spTgt spid="28"/>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nodePh="1">
                                  <p:stCondLst>
                                    <p:cond delay="0"/>
                                  </p:stCondLst>
                                  <p:endCondLst>
                                    <p:cond evt="begin" delay="0">
                                      <p:tn val="15"/>
                                    </p:cond>
                                  </p:end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8" grpId="0"/>
      <p:bldP spid="2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66"/>
          <p:cNvSpPr>
            <a:spLocks noChangeArrowheads="1"/>
          </p:cNvSpPr>
          <p:nvPr/>
        </p:nvSpPr>
        <p:spPr bwMode="auto">
          <a:xfrm>
            <a:off x="660400" y="4706620"/>
            <a:ext cx="6688455" cy="1614805"/>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p>
            <a:pPr lvl="0">
              <a:lnSpc>
                <a:spcPct val="150000"/>
              </a:lnSpc>
            </a:pPr>
            <a:r>
              <a:rPr lang="en-US" altLang="zh-CN" sz="2200" b="1" dirty="0">
                <a:solidFill>
                  <a:srgbClr val="FF0000"/>
                </a:solidFill>
                <a:latin typeface="宋体" panose="02010600030101010101" pitchFamily="2" charset="-122"/>
                <a:cs typeface="宋体" panose="02010600030101010101" pitchFamily="2" charset="-122"/>
              </a:rPr>
              <a:t>3</a:t>
            </a:r>
            <a:r>
              <a:rPr lang="zh-CN" altLang="en-US" sz="2200" b="1" dirty="0">
                <a:solidFill>
                  <a:srgbClr val="FF0000"/>
                </a:solidFill>
                <a:latin typeface="宋体" panose="02010600030101010101" pitchFamily="2" charset="-122"/>
                <a:cs typeface="宋体" panose="02010600030101010101" pitchFamily="2" charset="-122"/>
              </a:rPr>
              <a:t>）类之间的交互以及它们所交换的信息：</a:t>
            </a:r>
            <a:r>
              <a:rPr lang="zh-CN" altLang="en-US" sz="2200" b="1" dirty="0">
                <a:latin typeface="宋体" panose="02010600030101010101" pitchFamily="2" charset="-122"/>
                <a:cs typeface="宋体" panose="02010600030101010101" pitchFamily="2" charset="-122"/>
              </a:rPr>
              <a:t>可用使用“统一建模语言”</a:t>
            </a:r>
            <a:r>
              <a:rPr lang="en-US" altLang="zh-CN" sz="2200" b="1" dirty="0">
                <a:solidFill>
                  <a:srgbClr val="FF0000"/>
                </a:solidFill>
                <a:latin typeface="宋体" panose="02010600030101010101" pitchFamily="2" charset="-122"/>
                <a:ea typeface="宋体" panose="02010600030101010101" pitchFamily="2" charset="-122"/>
                <a:cs typeface="宋体" panose="02010600030101010101" pitchFamily="2" charset="-122"/>
              </a:rPr>
              <a:t>(UML)</a:t>
            </a:r>
            <a:r>
              <a:rPr lang="zh-CN" altLang="en-US" sz="2200" b="1" dirty="0">
                <a:latin typeface="宋体" panose="02010600030101010101" pitchFamily="2" charset="-122"/>
                <a:ea typeface="宋体" panose="02010600030101010101" pitchFamily="2" charset="-122"/>
                <a:cs typeface="宋体" panose="02010600030101010101" pitchFamily="2" charset="-122"/>
              </a:rPr>
              <a:t>的</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rPr>
              <a:t>顺序图</a:t>
            </a:r>
            <a:r>
              <a:rPr lang="en-US" altLang="zh-CN" sz="2200" b="1" dirty="0">
                <a:latin typeface="宋体" panose="02010600030101010101" pitchFamily="2" charset="-122"/>
                <a:ea typeface="宋体" panose="02010600030101010101" pitchFamily="2" charset="-122"/>
                <a:cs typeface="宋体" panose="02010600030101010101" pitchFamily="2" charset="-122"/>
              </a:rPr>
              <a:t>(sequence diagram)  </a:t>
            </a:r>
            <a:r>
              <a:rPr lang="zh-CN" altLang="en-US" sz="2200" b="1" dirty="0">
                <a:latin typeface="宋体" panose="02010600030101010101" pitchFamily="2" charset="-122"/>
                <a:ea typeface="宋体" panose="02010600030101010101" pitchFamily="2" charset="-122"/>
                <a:cs typeface="宋体" panose="02010600030101010101" pitchFamily="2" charset="-122"/>
              </a:rPr>
              <a:t>和</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rPr>
              <a:t>协作图</a:t>
            </a:r>
            <a:r>
              <a:rPr lang="en-US" altLang="zh-CN" sz="2200" b="1" dirty="0">
                <a:latin typeface="宋体" panose="02010600030101010101" pitchFamily="2" charset="-122"/>
                <a:ea typeface="宋体" panose="02010600030101010101" pitchFamily="2" charset="-122"/>
                <a:cs typeface="宋体" panose="02010600030101010101" pitchFamily="2" charset="-122"/>
              </a:rPr>
              <a:t>(collaboration diagram)</a:t>
            </a:r>
            <a:r>
              <a:rPr lang="zh-CN" altLang="en-US" sz="2200" b="1" dirty="0">
                <a:latin typeface="宋体" panose="02010600030101010101" pitchFamily="2" charset="-122"/>
                <a:ea typeface="宋体" panose="02010600030101010101" pitchFamily="2" charset="-122"/>
                <a:cs typeface="宋体" panose="02010600030101010101" pitchFamily="2" charset="-122"/>
              </a:rPr>
              <a:t> 表示</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sp>
        <p:nvSpPr>
          <p:cNvPr id="2" name="矩形 66"/>
          <p:cNvSpPr>
            <a:spLocks noChangeArrowheads="1"/>
          </p:cNvSpPr>
          <p:nvPr/>
        </p:nvSpPr>
        <p:spPr bwMode="auto">
          <a:xfrm>
            <a:off x="4645025" y="2194560"/>
            <a:ext cx="6786245" cy="1614805"/>
          </a:xfrm>
          <a:prstGeom prst="rect">
            <a:avLst/>
          </a:prstGeom>
          <a:noFill/>
          <a:ln w="19050">
            <a:solidFill>
              <a:srgbClr val="0000FF"/>
            </a:solidFill>
            <a:miter lim="800000"/>
          </a:ln>
          <a:extLst>
            <a:ext uri="{909E8E84-426E-40DD-AFC4-6F175D3DCCD1}">
              <a14:hiddenFill xmlns:a14="http://schemas.microsoft.com/office/drawing/2010/main">
                <a:blipFill>
                  <a:blip r:embed="rId1"/>
                  <a:stretch>
                    <a:fillRect/>
                  </a:stretch>
                </a:blipFill>
              </a14:hiddenFill>
            </a:ext>
          </a:extLst>
        </p:spPr>
        <p:txBody>
          <a:bodyPr wrap="square">
            <a:spAutoFit/>
          </a:bodyPr>
          <a:lstStyle/>
          <a:p>
            <a:pPr lvl="0" indent="0">
              <a:lnSpc>
                <a:spcPct val="150000"/>
              </a:lnSpc>
              <a:buFont typeface="Wingdings" panose="05000000000000000000" pitchFamily="2" charset="2"/>
              <a:buNone/>
            </a:pPr>
            <a:r>
              <a:rPr lang="en-US" altLang="zh-CN" sz="2200" b="1" dirty="0">
                <a:solidFill>
                  <a:srgbClr val="FF0000"/>
                </a:solidFill>
                <a:latin typeface="宋体" panose="02010600030101010101" pitchFamily="2" charset="-122"/>
                <a:ea typeface="宋体" panose="02010600030101010101" pitchFamily="2" charset="-122"/>
                <a:cs typeface="宋体" panose="02010600030101010101" pitchFamily="2" charset="-122"/>
              </a:rPr>
              <a:t>1</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rPr>
              <a:t>）类：</a:t>
            </a:r>
            <a:r>
              <a:rPr lang="zh-CN" altLang="en-US" sz="2200" b="1" dirty="0">
                <a:latin typeface="宋体" panose="02010600030101010101" pitchFamily="2" charset="-122"/>
                <a:ea typeface="宋体" panose="02010600030101010101" pitchFamily="2" charset="-122"/>
                <a:cs typeface="宋体" panose="02010600030101010101" pitchFamily="2" charset="-122"/>
              </a:rPr>
              <a:t>描述包含了属性</a:t>
            </a:r>
            <a:r>
              <a:rPr lang="en-US" altLang="zh-CN" sz="2200" b="1" dirty="0">
                <a:latin typeface="宋体" panose="02010600030101010101" pitchFamily="2" charset="-122"/>
                <a:ea typeface="宋体" panose="02010600030101010101" pitchFamily="2" charset="-122"/>
                <a:cs typeface="宋体" panose="02010600030101010101" pitchFamily="2" charset="-122"/>
              </a:rPr>
              <a:t>(</a:t>
            </a:r>
            <a:r>
              <a:rPr lang="zh-CN" altLang="en-US" sz="2200" b="1" dirty="0">
                <a:latin typeface="宋体" panose="02010600030101010101" pitchFamily="2" charset="-122"/>
                <a:ea typeface="宋体" panose="02010600030101010101" pitchFamily="2" charset="-122"/>
                <a:cs typeface="宋体" panose="02010600030101010101" pitchFamily="2" charset="-122"/>
              </a:rPr>
              <a:t>数据</a:t>
            </a:r>
            <a:r>
              <a:rPr lang="en-US" altLang="zh-CN" sz="2200" b="1" dirty="0">
                <a:latin typeface="宋体" panose="02010600030101010101" pitchFamily="2" charset="-122"/>
                <a:ea typeface="宋体" panose="02010600030101010101" pitchFamily="2" charset="-122"/>
                <a:cs typeface="宋体" panose="02010600030101010101" pitchFamily="2" charset="-122"/>
              </a:rPr>
              <a:t>)</a:t>
            </a:r>
            <a:r>
              <a:rPr lang="zh-CN" altLang="en-US" sz="2200" b="1" dirty="0">
                <a:latin typeface="宋体" panose="02010600030101010101" pitchFamily="2" charset="-122"/>
                <a:ea typeface="宋体" panose="02010600030101010101" pitchFamily="2" charset="-122"/>
                <a:cs typeface="宋体" panose="02010600030101010101" pitchFamily="2" charset="-122"/>
              </a:rPr>
              <a:t>和在属性上执行的操作</a:t>
            </a:r>
            <a:endParaRPr lang="en-US" altLang="zh-CN" sz="2200" b="1" dirty="0">
              <a:latin typeface="宋体" panose="02010600030101010101" pitchFamily="2" charset="-122"/>
              <a:ea typeface="宋体" panose="02010600030101010101" pitchFamily="2" charset="-122"/>
              <a:cs typeface="宋体" panose="02010600030101010101" pitchFamily="2" charset="-122"/>
            </a:endParaRPr>
          </a:p>
          <a:p>
            <a:pPr lvl="0" indent="0">
              <a:lnSpc>
                <a:spcPct val="150000"/>
              </a:lnSpc>
              <a:buFont typeface="Wingdings" panose="05000000000000000000" pitchFamily="2" charset="2"/>
              <a:buNone/>
            </a:pPr>
            <a:r>
              <a:rPr lang="en-US" altLang="zh-CN" sz="2200" b="1" dirty="0">
                <a:solidFill>
                  <a:srgbClr val="FF0000"/>
                </a:solidFill>
                <a:latin typeface="宋体" panose="02010600030101010101" pitchFamily="2" charset="-122"/>
                <a:ea typeface="宋体" panose="02010600030101010101" pitchFamily="2" charset="-122"/>
                <a:cs typeface="宋体" panose="02010600030101010101" pitchFamily="2" charset="-122"/>
              </a:rPr>
              <a:t>2</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rPr>
              <a:t>）类图</a:t>
            </a:r>
            <a:r>
              <a:rPr lang="en-US" altLang="zh-CN" sz="2200" b="1" dirty="0">
                <a:solidFill>
                  <a:srgbClr val="FF0000"/>
                </a:solidFill>
                <a:latin typeface="宋体" panose="02010600030101010101" pitchFamily="2" charset="-122"/>
                <a:ea typeface="宋体" panose="02010600030101010101" pitchFamily="2" charset="-122"/>
                <a:cs typeface="宋体" panose="02010600030101010101" pitchFamily="2" charset="-122"/>
              </a:rPr>
              <a:t>(class diagram)</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zh-CN" altLang="en-US" sz="2200" b="1" dirty="0">
                <a:latin typeface="宋体" panose="02010600030101010101" pitchFamily="2" charset="-122"/>
                <a:ea typeface="宋体" panose="02010600030101010101" pitchFamily="2" charset="-122"/>
                <a:cs typeface="宋体" panose="02010600030101010101" pitchFamily="2" charset="-122"/>
              </a:rPr>
              <a:t>是用图形方式叙述面向对象分析所确定的类以及它们之间的关系</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grpSp>
        <p:nvGrpSpPr>
          <p:cNvPr id="3" name="组合 2"/>
          <p:cNvGrpSpPr/>
          <p:nvPr/>
        </p:nvGrpSpPr>
        <p:grpSpPr>
          <a:xfrm>
            <a:off x="698500" y="2238219"/>
            <a:ext cx="3790059" cy="1505668"/>
            <a:chOff x="1343311" y="2228059"/>
            <a:chExt cx="3790059" cy="1505668"/>
          </a:xfrm>
        </p:grpSpPr>
        <p:grpSp>
          <p:nvGrpSpPr>
            <p:cNvPr id="4" name="Group 38"/>
            <p:cNvGrpSpPr/>
            <p:nvPr/>
          </p:nvGrpSpPr>
          <p:grpSpPr>
            <a:xfrm>
              <a:off x="1343311" y="2228059"/>
              <a:ext cx="3790059" cy="1505668"/>
              <a:chOff x="914399" y="1841591"/>
              <a:chExt cx="4132096" cy="1641549"/>
            </a:xfrm>
            <a:effectLst/>
          </p:grpSpPr>
          <p:sp>
            <p:nvSpPr>
              <p:cNvPr id="7" name="Arrow: Right 39"/>
              <p:cNvSpPr/>
              <p:nvPr/>
            </p:nvSpPr>
            <p:spPr>
              <a:xfrm rot="10800000">
                <a:off x="914399" y="1841591"/>
                <a:ext cx="3705726" cy="164154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8" name="Oval 40"/>
              <p:cNvSpPr/>
              <p:nvPr/>
            </p:nvSpPr>
            <p:spPr>
              <a:xfrm>
                <a:off x="4228107" y="2250566"/>
                <a:ext cx="818388" cy="818388"/>
              </a:xfrm>
              <a:prstGeom prst="ellipse">
                <a:avLst/>
              </a:prstGeom>
              <a:solidFill>
                <a:schemeClr val="accent1"/>
              </a:solidFill>
              <a:ln w="41275">
                <a:noFill/>
              </a:ln>
              <a:effectLst/>
            </p:spPr>
            <p:style>
              <a:lnRef idx="1">
                <a:schemeClr val="accent1"/>
              </a:lnRef>
              <a:fillRef idx="3">
                <a:schemeClr val="accent1"/>
              </a:fillRef>
              <a:effectRef idx="2">
                <a:schemeClr val="accent1"/>
              </a:effectRef>
              <a:fontRef idx="minor">
                <a:schemeClr val="lt1"/>
              </a:fontRef>
            </p:style>
            <p:txBody>
              <a:bodyPr wrap="none" anchor="ctr">
                <a:normAutofit/>
              </a:bodyPr>
              <a:lstStyle/>
              <a:p>
                <a:r>
                  <a:rPr lang="en-US" sz="2400" dirty="0">
                    <a:solidFill>
                      <a:srgbClr val="FFFFFF"/>
                    </a:solidFill>
                  </a:rPr>
                  <a:t>01</a:t>
                </a:r>
                <a:endParaRPr lang="en-US" sz="2400" dirty="0">
                  <a:solidFill>
                    <a:srgbClr val="FFFFFF"/>
                  </a:solidFill>
                </a:endParaRPr>
              </a:p>
            </p:txBody>
          </p:sp>
        </p:grpSp>
        <p:grpSp>
          <p:nvGrpSpPr>
            <p:cNvPr id="5" name="Group 45"/>
            <p:cNvGrpSpPr/>
            <p:nvPr/>
          </p:nvGrpSpPr>
          <p:grpSpPr bwMode="auto">
            <a:xfrm>
              <a:off x="1814006" y="2750912"/>
              <a:ext cx="414276" cy="414277"/>
              <a:chOff x="0" y="0"/>
              <a:chExt cx="575" cy="575"/>
            </a:xfrm>
            <a:solidFill>
              <a:srgbClr val="FFFFFF"/>
            </a:solidFill>
            <a:effectLst/>
          </p:grpSpPr>
          <p:sp>
            <p:nvSpPr>
              <p:cNvPr id="6" name="Freeform: Shape 46"/>
              <p:cNvSpPr/>
              <p:nvPr/>
            </p:nvSpPr>
            <p:spPr bwMode="auto">
              <a:xfrm>
                <a:off x="360" y="0"/>
                <a:ext cx="215" cy="21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w 21600"/>
                  <a:gd name="T35" fmla="*/ 0 h 21600"/>
                  <a:gd name="T36" fmla="*/ 0 w 21600"/>
                  <a:gd name="T37" fmla="*/ 0 h 21600"/>
                  <a:gd name="T38" fmla="*/ 0 w 21600"/>
                  <a:gd name="T39" fmla="*/ 0 h 21600"/>
                  <a:gd name="T40" fmla="*/ 0 w 21600"/>
                  <a:gd name="T41" fmla="*/ 0 h 21600"/>
                  <a:gd name="T42" fmla="*/ 0 w 21600"/>
                  <a:gd name="T43" fmla="*/ 0 h 21600"/>
                  <a:gd name="T44" fmla="*/ 0 w 21600"/>
                  <a:gd name="T45" fmla="*/ 0 h 21600"/>
                  <a:gd name="T46" fmla="*/ 0 w 21600"/>
                  <a:gd name="T47" fmla="*/ 0 h 21600"/>
                  <a:gd name="T48" fmla="*/ 0 w 21600"/>
                  <a:gd name="T49" fmla="*/ 0 h 21600"/>
                  <a:gd name="T50" fmla="*/ 0 w 21600"/>
                  <a:gd name="T51" fmla="*/ 0 h 21600"/>
                  <a:gd name="T52" fmla="*/ 0 w 21600"/>
                  <a:gd name="T53" fmla="*/ 0 h 21600"/>
                  <a:gd name="T54" fmla="*/ 0 w 21600"/>
                  <a:gd name="T55" fmla="*/ 0 h 21600"/>
                  <a:gd name="T56" fmla="*/ 0 w 21600"/>
                  <a:gd name="T57" fmla="*/ 0 h 21600"/>
                  <a:gd name="T58" fmla="*/ 0 w 21600"/>
                  <a:gd name="T59" fmla="*/ 0 h 21600"/>
                  <a:gd name="T60" fmla="*/ 0 w 21600"/>
                  <a:gd name="T61" fmla="*/ 0 h 21600"/>
                  <a:gd name="T62" fmla="*/ 0 w 21600"/>
                  <a:gd name="T63" fmla="*/ 0 h 21600"/>
                  <a:gd name="T64" fmla="*/ 0 w 21600"/>
                  <a:gd name="T65" fmla="*/ 0 h 21600"/>
                  <a:gd name="T66" fmla="*/ 0 w 21600"/>
                  <a:gd name="T67" fmla="*/ 0 h 21600"/>
                  <a:gd name="T68" fmla="*/ 0 w 21600"/>
                  <a:gd name="T69" fmla="*/ 0 h 21600"/>
                  <a:gd name="T70" fmla="*/ 0 w 21600"/>
                  <a:gd name="T71" fmla="*/ 0 h 21600"/>
                  <a:gd name="T72" fmla="*/ 0 w 21600"/>
                  <a:gd name="T73" fmla="*/ 0 h 21600"/>
                  <a:gd name="T74" fmla="*/ 0 w 21600"/>
                  <a:gd name="T75" fmla="*/ 0 h 21600"/>
                  <a:gd name="T76" fmla="*/ 0 w 21600"/>
                  <a:gd name="T77" fmla="*/ 0 h 21600"/>
                  <a:gd name="T78" fmla="*/ 0 w 21600"/>
                  <a:gd name="T79" fmla="*/ 0 h 21600"/>
                  <a:gd name="T80" fmla="*/ 0 w 21600"/>
                  <a:gd name="T81" fmla="*/ 0 h 21600"/>
                  <a:gd name="T82" fmla="*/ 0 w 21600"/>
                  <a:gd name="T83" fmla="*/ 0 h 21600"/>
                  <a:gd name="T84" fmla="*/ 0 w 21600"/>
                  <a:gd name="T85" fmla="*/ 0 h 21600"/>
                  <a:gd name="T86" fmla="*/ 0 w 21600"/>
                  <a:gd name="T87" fmla="*/ 0 h 21600"/>
                  <a:gd name="T88" fmla="*/ 0 w 21600"/>
                  <a:gd name="T89" fmla="*/ 0 h 21600"/>
                  <a:gd name="T90" fmla="*/ 0 w 21600"/>
                  <a:gd name="T91" fmla="*/ 0 h 21600"/>
                  <a:gd name="T92" fmla="*/ 0 w 21600"/>
                  <a:gd name="T93" fmla="*/ 0 h 21600"/>
                  <a:gd name="T94" fmla="*/ 0 w 21600"/>
                  <a:gd name="T95" fmla="*/ 0 h 21600"/>
                  <a:gd name="T96" fmla="*/ 0 w 21600"/>
                  <a:gd name="T97" fmla="*/ 0 h 21600"/>
                  <a:gd name="T98" fmla="*/ 0 w 21600"/>
                  <a:gd name="T99" fmla="*/ 0 h 21600"/>
                  <a:gd name="T100" fmla="*/ 0 w 21600"/>
                  <a:gd name="T101" fmla="*/ 0 h 21600"/>
                  <a:gd name="T102" fmla="*/ 0 w 21600"/>
                  <a:gd name="T103" fmla="*/ 0 h 21600"/>
                  <a:gd name="T104" fmla="*/ 0 w 21600"/>
                  <a:gd name="T105" fmla="*/ 0 h 21600"/>
                  <a:gd name="T106" fmla="*/ 0 w 21600"/>
                  <a:gd name="T107" fmla="*/ 0 h 21600"/>
                  <a:gd name="T108" fmla="*/ 0 w 21600"/>
                  <a:gd name="T109" fmla="*/ 0 h 2160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1600" h="21600">
                    <a:moveTo>
                      <a:pt x="21031" y="8861"/>
                    </a:moveTo>
                    <a:lnTo>
                      <a:pt x="17805" y="8267"/>
                    </a:lnTo>
                    <a:cubicBezTo>
                      <a:pt x="17492" y="8210"/>
                      <a:pt x="17382" y="7947"/>
                      <a:pt x="17559" y="7682"/>
                    </a:cubicBezTo>
                    <a:lnTo>
                      <a:pt x="19409" y="4939"/>
                    </a:lnTo>
                    <a:cubicBezTo>
                      <a:pt x="19588" y="4676"/>
                      <a:pt x="19549" y="4276"/>
                      <a:pt x="19324" y="4051"/>
                    </a:cubicBezTo>
                    <a:lnTo>
                      <a:pt x="17549" y="2276"/>
                    </a:lnTo>
                    <a:cubicBezTo>
                      <a:pt x="17324" y="2052"/>
                      <a:pt x="16924" y="2013"/>
                      <a:pt x="16661" y="2191"/>
                    </a:cubicBezTo>
                    <a:lnTo>
                      <a:pt x="13918" y="4042"/>
                    </a:lnTo>
                    <a:cubicBezTo>
                      <a:pt x="13654" y="4220"/>
                      <a:pt x="13391" y="4109"/>
                      <a:pt x="13333" y="3796"/>
                    </a:cubicBezTo>
                    <a:lnTo>
                      <a:pt x="12739" y="569"/>
                    </a:lnTo>
                    <a:cubicBezTo>
                      <a:pt x="12681" y="255"/>
                      <a:pt x="12374" y="0"/>
                      <a:pt x="12056" y="0"/>
                    </a:cubicBezTo>
                    <a:lnTo>
                      <a:pt x="9545" y="0"/>
                    </a:lnTo>
                    <a:cubicBezTo>
                      <a:pt x="9227" y="0"/>
                      <a:pt x="8919" y="255"/>
                      <a:pt x="8861" y="569"/>
                    </a:cubicBezTo>
                    <a:lnTo>
                      <a:pt x="8267" y="3796"/>
                    </a:lnTo>
                    <a:cubicBezTo>
                      <a:pt x="8210" y="4109"/>
                      <a:pt x="7947" y="4219"/>
                      <a:pt x="7682" y="4041"/>
                    </a:cubicBezTo>
                    <a:lnTo>
                      <a:pt x="4939" y="2191"/>
                    </a:lnTo>
                    <a:cubicBezTo>
                      <a:pt x="4676" y="2013"/>
                      <a:pt x="4276" y="2052"/>
                      <a:pt x="4051" y="2276"/>
                    </a:cubicBezTo>
                    <a:lnTo>
                      <a:pt x="2276" y="4051"/>
                    </a:lnTo>
                    <a:cubicBezTo>
                      <a:pt x="2051" y="4277"/>
                      <a:pt x="2012" y="4677"/>
                      <a:pt x="2191" y="4939"/>
                    </a:cubicBezTo>
                    <a:lnTo>
                      <a:pt x="4041" y="7682"/>
                    </a:lnTo>
                    <a:cubicBezTo>
                      <a:pt x="4220" y="7946"/>
                      <a:pt x="4108" y="8209"/>
                      <a:pt x="3796" y="8267"/>
                    </a:cubicBezTo>
                    <a:lnTo>
                      <a:pt x="569" y="8861"/>
                    </a:lnTo>
                    <a:cubicBezTo>
                      <a:pt x="255" y="8919"/>
                      <a:pt x="0" y="9226"/>
                      <a:pt x="0" y="9545"/>
                    </a:cubicBezTo>
                    <a:lnTo>
                      <a:pt x="0" y="12055"/>
                    </a:lnTo>
                    <a:cubicBezTo>
                      <a:pt x="0" y="12373"/>
                      <a:pt x="255" y="12681"/>
                      <a:pt x="569" y="12739"/>
                    </a:cubicBezTo>
                    <a:lnTo>
                      <a:pt x="3796" y="13333"/>
                    </a:lnTo>
                    <a:cubicBezTo>
                      <a:pt x="4110" y="13390"/>
                      <a:pt x="4219" y="13653"/>
                      <a:pt x="4042" y="13917"/>
                    </a:cubicBezTo>
                    <a:lnTo>
                      <a:pt x="2191" y="16661"/>
                    </a:lnTo>
                    <a:cubicBezTo>
                      <a:pt x="2012" y="16925"/>
                      <a:pt x="2051" y="17324"/>
                      <a:pt x="2276" y="17549"/>
                    </a:cubicBezTo>
                    <a:lnTo>
                      <a:pt x="4051" y="19324"/>
                    </a:lnTo>
                    <a:cubicBezTo>
                      <a:pt x="4276" y="19549"/>
                      <a:pt x="4676" y="19589"/>
                      <a:pt x="4939" y="19410"/>
                    </a:cubicBezTo>
                    <a:lnTo>
                      <a:pt x="7682" y="17559"/>
                    </a:lnTo>
                    <a:cubicBezTo>
                      <a:pt x="7946" y="17381"/>
                      <a:pt x="8209" y="17492"/>
                      <a:pt x="8267" y="17804"/>
                    </a:cubicBezTo>
                    <a:lnTo>
                      <a:pt x="8861" y="21031"/>
                    </a:lnTo>
                    <a:cubicBezTo>
                      <a:pt x="8919" y="21345"/>
                      <a:pt x="9226" y="21600"/>
                      <a:pt x="9545" y="21600"/>
                    </a:cubicBezTo>
                    <a:lnTo>
                      <a:pt x="12056" y="21600"/>
                    </a:lnTo>
                    <a:cubicBezTo>
                      <a:pt x="12374" y="21600"/>
                      <a:pt x="12681" y="21345"/>
                      <a:pt x="12739" y="21031"/>
                    </a:cubicBezTo>
                    <a:lnTo>
                      <a:pt x="13333" y="17804"/>
                    </a:lnTo>
                    <a:cubicBezTo>
                      <a:pt x="13390" y="17492"/>
                      <a:pt x="13653" y="17382"/>
                      <a:pt x="13918" y="17559"/>
                    </a:cubicBezTo>
                    <a:lnTo>
                      <a:pt x="16661" y="19410"/>
                    </a:lnTo>
                    <a:cubicBezTo>
                      <a:pt x="16924" y="19589"/>
                      <a:pt x="17324" y="19549"/>
                      <a:pt x="17549" y="19324"/>
                    </a:cubicBezTo>
                    <a:lnTo>
                      <a:pt x="19324" y="17551"/>
                    </a:lnTo>
                    <a:cubicBezTo>
                      <a:pt x="19549" y="17324"/>
                      <a:pt x="19588" y="16925"/>
                      <a:pt x="19409" y="16661"/>
                    </a:cubicBezTo>
                    <a:lnTo>
                      <a:pt x="17559" y="13917"/>
                    </a:lnTo>
                    <a:cubicBezTo>
                      <a:pt x="17380" y="13654"/>
                      <a:pt x="17491" y="13391"/>
                      <a:pt x="17804" y="13333"/>
                    </a:cubicBezTo>
                    <a:lnTo>
                      <a:pt x="21031" y="12739"/>
                    </a:lnTo>
                    <a:cubicBezTo>
                      <a:pt x="21344" y="12681"/>
                      <a:pt x="21600" y="12374"/>
                      <a:pt x="21600" y="12055"/>
                    </a:cubicBezTo>
                    <a:lnTo>
                      <a:pt x="21600" y="9545"/>
                    </a:lnTo>
                    <a:cubicBezTo>
                      <a:pt x="21600" y="9227"/>
                      <a:pt x="21344" y="8919"/>
                      <a:pt x="21031" y="8861"/>
                    </a:cubicBezTo>
                    <a:close/>
                    <a:moveTo>
                      <a:pt x="10826" y="14160"/>
                    </a:moveTo>
                    <a:cubicBezTo>
                      <a:pt x="8974" y="14160"/>
                      <a:pt x="7473" y="12659"/>
                      <a:pt x="7473" y="10807"/>
                    </a:cubicBezTo>
                    <a:cubicBezTo>
                      <a:pt x="7473" y="8956"/>
                      <a:pt x="8974" y="7456"/>
                      <a:pt x="10826" y="7456"/>
                    </a:cubicBezTo>
                    <a:cubicBezTo>
                      <a:pt x="12677" y="7456"/>
                      <a:pt x="14178" y="8956"/>
                      <a:pt x="14178" y="10807"/>
                    </a:cubicBezTo>
                    <a:cubicBezTo>
                      <a:pt x="14178" y="12659"/>
                      <a:pt x="12677" y="14160"/>
                      <a:pt x="10826" y="14160"/>
                    </a:cubicBezTo>
                    <a:close/>
                    <a:moveTo>
                      <a:pt x="10826" y="14160"/>
                    </a:moveTo>
                  </a:path>
                </a:pathLst>
              </a:custGeom>
              <a:grpFill/>
              <a:ln>
                <a:noFill/>
              </a:ln>
            </p:spPr>
            <p:txBody>
              <a:bodyPr anchor="ctr"/>
              <a:lstStyle/>
              <a:p>
                <a:pPr algn="ctr"/>
              </a:p>
            </p:txBody>
          </p:sp>
          <p:sp>
            <p:nvSpPr>
              <p:cNvPr id="9" name="Freeform: Shape 47"/>
              <p:cNvSpPr/>
              <p:nvPr/>
            </p:nvSpPr>
            <p:spPr bwMode="auto">
              <a:xfrm>
                <a:off x="0" y="143"/>
                <a:ext cx="431" cy="43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w 21600"/>
                  <a:gd name="T35" fmla="*/ 0 h 21600"/>
                  <a:gd name="T36" fmla="*/ 0 w 21600"/>
                  <a:gd name="T37" fmla="*/ 0 h 21600"/>
                  <a:gd name="T38" fmla="*/ 0 w 21600"/>
                  <a:gd name="T39" fmla="*/ 0 h 21600"/>
                  <a:gd name="T40" fmla="*/ 0 w 21600"/>
                  <a:gd name="T41" fmla="*/ 0 h 21600"/>
                  <a:gd name="T42" fmla="*/ 0 w 21600"/>
                  <a:gd name="T43" fmla="*/ 0 h 21600"/>
                  <a:gd name="T44" fmla="*/ 0 w 21600"/>
                  <a:gd name="T45" fmla="*/ 0 h 21600"/>
                  <a:gd name="T46" fmla="*/ 0 w 21600"/>
                  <a:gd name="T47" fmla="*/ 0 h 21600"/>
                  <a:gd name="T48" fmla="*/ 0 w 21600"/>
                  <a:gd name="T49" fmla="*/ 0 h 21600"/>
                  <a:gd name="T50" fmla="*/ 0 w 21600"/>
                  <a:gd name="T51" fmla="*/ 0 h 21600"/>
                  <a:gd name="T52" fmla="*/ 0 w 21600"/>
                  <a:gd name="T53" fmla="*/ 0 h 21600"/>
                  <a:gd name="T54" fmla="*/ 0 w 21600"/>
                  <a:gd name="T55" fmla="*/ 0 h 21600"/>
                  <a:gd name="T56" fmla="*/ 0 w 21600"/>
                  <a:gd name="T57" fmla="*/ 0 h 21600"/>
                  <a:gd name="T58" fmla="*/ 0 w 21600"/>
                  <a:gd name="T59" fmla="*/ 0 h 21600"/>
                  <a:gd name="T60" fmla="*/ 0 w 21600"/>
                  <a:gd name="T61" fmla="*/ 0 h 21600"/>
                  <a:gd name="T62" fmla="*/ 0 w 21600"/>
                  <a:gd name="T63" fmla="*/ 0 h 21600"/>
                  <a:gd name="T64" fmla="*/ 0 w 21600"/>
                  <a:gd name="T65" fmla="*/ 0 h 21600"/>
                  <a:gd name="T66" fmla="*/ 0 w 21600"/>
                  <a:gd name="T67" fmla="*/ 0 h 21600"/>
                  <a:gd name="T68" fmla="*/ 0 w 21600"/>
                  <a:gd name="T69" fmla="*/ 0 h 21600"/>
                  <a:gd name="T70" fmla="*/ 0 w 21600"/>
                  <a:gd name="T71" fmla="*/ 0 h 21600"/>
                  <a:gd name="T72" fmla="*/ 0 w 21600"/>
                  <a:gd name="T73" fmla="*/ 0 h 21600"/>
                  <a:gd name="T74" fmla="*/ 0 w 21600"/>
                  <a:gd name="T75" fmla="*/ 0 h 21600"/>
                  <a:gd name="T76" fmla="*/ 0 w 21600"/>
                  <a:gd name="T77" fmla="*/ 0 h 21600"/>
                  <a:gd name="T78" fmla="*/ 0 w 21600"/>
                  <a:gd name="T79" fmla="*/ 0 h 21600"/>
                  <a:gd name="T80" fmla="*/ 0 w 21600"/>
                  <a:gd name="T81" fmla="*/ 0 h 21600"/>
                  <a:gd name="T82" fmla="*/ 0 w 21600"/>
                  <a:gd name="T83" fmla="*/ 0 h 21600"/>
                  <a:gd name="T84" fmla="*/ 0 w 21600"/>
                  <a:gd name="T85" fmla="*/ 0 h 21600"/>
                  <a:gd name="T86" fmla="*/ 0 w 21600"/>
                  <a:gd name="T87" fmla="*/ 0 h 21600"/>
                  <a:gd name="T88" fmla="*/ 0 w 21600"/>
                  <a:gd name="T89" fmla="*/ 0 h 21600"/>
                  <a:gd name="T90" fmla="*/ 0 w 21600"/>
                  <a:gd name="T91" fmla="*/ 0 h 21600"/>
                  <a:gd name="T92" fmla="*/ 0 w 21600"/>
                  <a:gd name="T93" fmla="*/ 0 h 21600"/>
                  <a:gd name="T94" fmla="*/ 0 w 21600"/>
                  <a:gd name="T95" fmla="*/ 0 h 21600"/>
                  <a:gd name="T96" fmla="*/ 0 w 21600"/>
                  <a:gd name="T97" fmla="*/ 0 h 21600"/>
                  <a:gd name="T98" fmla="*/ 0 w 21600"/>
                  <a:gd name="T99" fmla="*/ 0 h 21600"/>
                  <a:gd name="T100" fmla="*/ 0 w 21600"/>
                  <a:gd name="T101" fmla="*/ 0 h 21600"/>
                  <a:gd name="T102" fmla="*/ 0 w 21600"/>
                  <a:gd name="T103" fmla="*/ 0 h 21600"/>
                  <a:gd name="T104" fmla="*/ 0 w 21600"/>
                  <a:gd name="T105" fmla="*/ 0 h 21600"/>
                  <a:gd name="T106" fmla="*/ 0 w 21600"/>
                  <a:gd name="T107" fmla="*/ 0 h 21600"/>
                  <a:gd name="T108" fmla="*/ 0 w 21600"/>
                  <a:gd name="T109" fmla="*/ 0 h 2160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1600" h="21600">
                    <a:moveTo>
                      <a:pt x="21032" y="8862"/>
                    </a:moveTo>
                    <a:lnTo>
                      <a:pt x="17805" y="8267"/>
                    </a:lnTo>
                    <a:cubicBezTo>
                      <a:pt x="17492" y="8210"/>
                      <a:pt x="17382" y="7947"/>
                      <a:pt x="17560" y="7684"/>
                    </a:cubicBezTo>
                    <a:lnTo>
                      <a:pt x="19410" y="4940"/>
                    </a:lnTo>
                    <a:cubicBezTo>
                      <a:pt x="19588" y="4676"/>
                      <a:pt x="19550" y="4276"/>
                      <a:pt x="19324" y="4051"/>
                    </a:cubicBezTo>
                    <a:lnTo>
                      <a:pt x="17549" y="2276"/>
                    </a:lnTo>
                    <a:cubicBezTo>
                      <a:pt x="17324" y="2051"/>
                      <a:pt x="16924" y="2013"/>
                      <a:pt x="16661" y="2191"/>
                    </a:cubicBezTo>
                    <a:lnTo>
                      <a:pt x="13917" y="4041"/>
                    </a:lnTo>
                    <a:cubicBezTo>
                      <a:pt x="13653" y="4219"/>
                      <a:pt x="13390" y="4108"/>
                      <a:pt x="13332" y="3796"/>
                    </a:cubicBezTo>
                    <a:lnTo>
                      <a:pt x="12739" y="569"/>
                    </a:lnTo>
                    <a:cubicBezTo>
                      <a:pt x="12681" y="256"/>
                      <a:pt x="12374" y="0"/>
                      <a:pt x="12055" y="0"/>
                    </a:cubicBezTo>
                    <a:lnTo>
                      <a:pt x="9545" y="0"/>
                    </a:lnTo>
                    <a:cubicBezTo>
                      <a:pt x="9226" y="0"/>
                      <a:pt x="8919" y="256"/>
                      <a:pt x="8861" y="569"/>
                    </a:cubicBezTo>
                    <a:lnTo>
                      <a:pt x="8268" y="3796"/>
                    </a:lnTo>
                    <a:cubicBezTo>
                      <a:pt x="8210" y="4108"/>
                      <a:pt x="7947" y="4219"/>
                      <a:pt x="7683" y="4041"/>
                    </a:cubicBezTo>
                    <a:lnTo>
                      <a:pt x="4940" y="2191"/>
                    </a:lnTo>
                    <a:cubicBezTo>
                      <a:pt x="4676" y="2013"/>
                      <a:pt x="4276" y="2051"/>
                      <a:pt x="4051" y="2276"/>
                    </a:cubicBezTo>
                    <a:lnTo>
                      <a:pt x="2276" y="4051"/>
                    </a:lnTo>
                    <a:cubicBezTo>
                      <a:pt x="2051" y="4276"/>
                      <a:pt x="2012" y="4677"/>
                      <a:pt x="2190" y="4940"/>
                    </a:cubicBezTo>
                    <a:lnTo>
                      <a:pt x="4040" y="7684"/>
                    </a:lnTo>
                    <a:cubicBezTo>
                      <a:pt x="4218" y="7947"/>
                      <a:pt x="4108" y="8210"/>
                      <a:pt x="3795" y="8267"/>
                    </a:cubicBezTo>
                    <a:lnTo>
                      <a:pt x="568" y="8862"/>
                    </a:lnTo>
                    <a:cubicBezTo>
                      <a:pt x="256" y="8920"/>
                      <a:pt x="0" y="9227"/>
                      <a:pt x="0" y="9545"/>
                    </a:cubicBezTo>
                    <a:lnTo>
                      <a:pt x="0" y="12055"/>
                    </a:lnTo>
                    <a:cubicBezTo>
                      <a:pt x="0" y="12374"/>
                      <a:pt x="256" y="12681"/>
                      <a:pt x="568" y="12738"/>
                    </a:cubicBezTo>
                    <a:lnTo>
                      <a:pt x="3796" y="13333"/>
                    </a:lnTo>
                    <a:cubicBezTo>
                      <a:pt x="4108" y="13391"/>
                      <a:pt x="4219" y="13654"/>
                      <a:pt x="4041" y="13917"/>
                    </a:cubicBezTo>
                    <a:lnTo>
                      <a:pt x="2190" y="16661"/>
                    </a:lnTo>
                    <a:cubicBezTo>
                      <a:pt x="2012" y="16924"/>
                      <a:pt x="2050" y="17324"/>
                      <a:pt x="2276" y="17549"/>
                    </a:cubicBezTo>
                    <a:lnTo>
                      <a:pt x="4051" y="19324"/>
                    </a:lnTo>
                    <a:cubicBezTo>
                      <a:pt x="4276" y="19549"/>
                      <a:pt x="4676" y="19588"/>
                      <a:pt x="4940" y="19410"/>
                    </a:cubicBezTo>
                    <a:lnTo>
                      <a:pt x="7683" y="17560"/>
                    </a:lnTo>
                    <a:cubicBezTo>
                      <a:pt x="7947" y="17382"/>
                      <a:pt x="8210" y="17493"/>
                      <a:pt x="8268" y="17805"/>
                    </a:cubicBezTo>
                    <a:lnTo>
                      <a:pt x="8861" y="21031"/>
                    </a:lnTo>
                    <a:cubicBezTo>
                      <a:pt x="8919" y="21344"/>
                      <a:pt x="9226" y="21600"/>
                      <a:pt x="9545" y="21600"/>
                    </a:cubicBezTo>
                    <a:lnTo>
                      <a:pt x="12055" y="21600"/>
                    </a:lnTo>
                    <a:cubicBezTo>
                      <a:pt x="12374" y="21600"/>
                      <a:pt x="12681" y="21344"/>
                      <a:pt x="12739" y="21031"/>
                    </a:cubicBezTo>
                    <a:lnTo>
                      <a:pt x="13332" y="17805"/>
                    </a:lnTo>
                    <a:cubicBezTo>
                      <a:pt x="13390" y="17492"/>
                      <a:pt x="13653" y="17381"/>
                      <a:pt x="13917" y="17560"/>
                    </a:cubicBezTo>
                    <a:lnTo>
                      <a:pt x="16661" y="19410"/>
                    </a:lnTo>
                    <a:cubicBezTo>
                      <a:pt x="16924" y="19588"/>
                      <a:pt x="17324" y="19550"/>
                      <a:pt x="17549" y="19324"/>
                    </a:cubicBezTo>
                    <a:lnTo>
                      <a:pt x="19324" y="17550"/>
                    </a:lnTo>
                    <a:cubicBezTo>
                      <a:pt x="19549" y="17324"/>
                      <a:pt x="19588" y="16924"/>
                      <a:pt x="19410" y="16661"/>
                    </a:cubicBezTo>
                    <a:lnTo>
                      <a:pt x="17559" y="13917"/>
                    </a:lnTo>
                    <a:cubicBezTo>
                      <a:pt x="17381" y="13654"/>
                      <a:pt x="17492" y="13391"/>
                      <a:pt x="17804" y="13333"/>
                    </a:cubicBezTo>
                    <a:lnTo>
                      <a:pt x="21032" y="12738"/>
                    </a:lnTo>
                    <a:cubicBezTo>
                      <a:pt x="21344" y="12681"/>
                      <a:pt x="21600" y="12374"/>
                      <a:pt x="21600" y="12055"/>
                    </a:cubicBezTo>
                    <a:lnTo>
                      <a:pt x="21600" y="9545"/>
                    </a:lnTo>
                    <a:cubicBezTo>
                      <a:pt x="21600" y="9227"/>
                      <a:pt x="21344" y="8920"/>
                      <a:pt x="21032" y="8862"/>
                    </a:cubicBezTo>
                    <a:close/>
                    <a:moveTo>
                      <a:pt x="10799" y="14712"/>
                    </a:moveTo>
                    <a:cubicBezTo>
                      <a:pt x="8643" y="14712"/>
                      <a:pt x="6896" y="12964"/>
                      <a:pt x="6896" y="10809"/>
                    </a:cubicBezTo>
                    <a:cubicBezTo>
                      <a:pt x="6896" y="8654"/>
                      <a:pt x="8643" y="6907"/>
                      <a:pt x="10799" y="6907"/>
                    </a:cubicBezTo>
                    <a:cubicBezTo>
                      <a:pt x="12954" y="6907"/>
                      <a:pt x="14701" y="8654"/>
                      <a:pt x="14701" y="10809"/>
                    </a:cubicBezTo>
                    <a:cubicBezTo>
                      <a:pt x="14701" y="12964"/>
                      <a:pt x="12954" y="14712"/>
                      <a:pt x="10799" y="14712"/>
                    </a:cubicBezTo>
                    <a:close/>
                    <a:moveTo>
                      <a:pt x="10799" y="14712"/>
                    </a:moveTo>
                  </a:path>
                </a:pathLst>
              </a:custGeom>
              <a:grpFill/>
              <a:ln>
                <a:noFill/>
              </a:ln>
            </p:spPr>
            <p:txBody>
              <a:bodyPr anchor="ctr"/>
              <a:lstStyle/>
              <a:p>
                <a:pPr algn="ctr"/>
              </a:p>
            </p:txBody>
          </p:sp>
        </p:grpSp>
      </p:grpSp>
      <p:grpSp>
        <p:nvGrpSpPr>
          <p:cNvPr id="10" name="Group 41"/>
          <p:cNvGrpSpPr/>
          <p:nvPr/>
        </p:nvGrpSpPr>
        <p:grpSpPr>
          <a:xfrm>
            <a:off x="7372375" y="4657168"/>
            <a:ext cx="4121125" cy="1505668"/>
            <a:chOff x="6784559" y="3825303"/>
            <a:chExt cx="4493041" cy="1641549"/>
          </a:xfrm>
          <a:solidFill>
            <a:schemeClr val="bg1">
              <a:lumMod val="65000"/>
            </a:schemeClr>
          </a:solidFill>
          <a:effectLst/>
        </p:grpSpPr>
        <p:sp>
          <p:nvSpPr>
            <p:cNvPr id="14" name="Arrow: Right 42"/>
            <p:cNvSpPr/>
            <p:nvPr/>
          </p:nvSpPr>
          <p:spPr>
            <a:xfrm>
              <a:off x="7154779" y="3825303"/>
              <a:ext cx="4122821" cy="1641549"/>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15" name="Oval 43"/>
            <p:cNvSpPr/>
            <p:nvPr/>
          </p:nvSpPr>
          <p:spPr>
            <a:xfrm>
              <a:off x="6784559" y="4236883"/>
              <a:ext cx="818388" cy="818388"/>
            </a:xfrm>
            <a:prstGeom prst="ellipse">
              <a:avLst/>
            </a:prstGeom>
            <a:grpFill/>
            <a:ln w="41275">
              <a:noFill/>
            </a:ln>
            <a:effectLst/>
          </p:spPr>
          <p:style>
            <a:lnRef idx="1">
              <a:schemeClr val="accent1"/>
            </a:lnRef>
            <a:fillRef idx="3">
              <a:schemeClr val="accent1"/>
            </a:fillRef>
            <a:effectRef idx="2">
              <a:schemeClr val="accent1"/>
            </a:effectRef>
            <a:fontRef idx="minor">
              <a:schemeClr val="lt1"/>
            </a:fontRef>
          </p:style>
          <p:txBody>
            <a:bodyPr wrap="none" anchor="ctr">
              <a:normAutofit/>
            </a:bodyPr>
            <a:lstStyle/>
            <a:p>
              <a:pPr algn="ctr"/>
              <a:r>
                <a:rPr lang="en-US" sz="2400">
                  <a:solidFill>
                    <a:srgbClr val="FFFFFF"/>
                  </a:solidFill>
                </a:rPr>
                <a:t>02</a:t>
              </a:r>
              <a:endParaRPr lang="en-US" sz="2400">
                <a:solidFill>
                  <a:srgbClr val="FFFFFF"/>
                </a:solidFill>
              </a:endParaRPr>
            </a:p>
          </p:txBody>
        </p:sp>
      </p:grpSp>
      <p:grpSp>
        <p:nvGrpSpPr>
          <p:cNvPr id="11" name="Group 48"/>
          <p:cNvGrpSpPr/>
          <p:nvPr/>
        </p:nvGrpSpPr>
        <p:grpSpPr bwMode="auto">
          <a:xfrm>
            <a:off x="10853879" y="5202226"/>
            <a:ext cx="334828" cy="414277"/>
            <a:chOff x="0" y="0"/>
            <a:chExt cx="464" cy="573"/>
          </a:xfrm>
          <a:solidFill>
            <a:srgbClr val="FFFFFF"/>
          </a:solidFill>
          <a:effectLst/>
        </p:grpSpPr>
        <p:sp>
          <p:nvSpPr>
            <p:cNvPr id="12" name="Freeform: Shape 49"/>
            <p:cNvSpPr/>
            <p:nvPr/>
          </p:nvSpPr>
          <p:spPr bwMode="auto">
            <a:xfrm>
              <a:off x="88" y="24"/>
              <a:ext cx="376" cy="322"/>
            </a:xfrm>
            <a:custGeom>
              <a:avLst/>
              <a:gdLst>
                <a:gd name="T0" fmla="*/ 0 w 21115"/>
                <a:gd name="T1" fmla="*/ 0 h 18556"/>
                <a:gd name="T2" fmla="*/ 0 w 21115"/>
                <a:gd name="T3" fmla="*/ 0 h 18556"/>
                <a:gd name="T4" fmla="*/ 0 w 21115"/>
                <a:gd name="T5" fmla="*/ 0 h 18556"/>
                <a:gd name="T6" fmla="*/ 0 w 21115"/>
                <a:gd name="T7" fmla="*/ 0 h 18556"/>
                <a:gd name="T8" fmla="*/ 0 w 21115"/>
                <a:gd name="T9" fmla="*/ 0 h 18556"/>
                <a:gd name="T10" fmla="*/ 0 w 21115"/>
                <a:gd name="T11" fmla="*/ 0 h 18556"/>
                <a:gd name="T12" fmla="*/ 0 w 21115"/>
                <a:gd name="T13" fmla="*/ 0 h 18556"/>
                <a:gd name="T14" fmla="*/ 0 w 21115"/>
                <a:gd name="T15" fmla="*/ 0 h 18556"/>
                <a:gd name="T16" fmla="*/ 0 w 21115"/>
                <a:gd name="T17" fmla="*/ 0 h 18556"/>
                <a:gd name="T18" fmla="*/ 0 w 21115"/>
                <a:gd name="T19" fmla="*/ 0 h 18556"/>
                <a:gd name="T20" fmla="*/ 0 w 21115"/>
                <a:gd name="T21" fmla="*/ 0 h 1855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115" h="18556">
                  <a:moveTo>
                    <a:pt x="20779" y="3635"/>
                  </a:moveTo>
                  <a:cubicBezTo>
                    <a:pt x="20779" y="3635"/>
                    <a:pt x="16054" y="3835"/>
                    <a:pt x="13538" y="4151"/>
                  </a:cubicBezTo>
                  <a:cubicBezTo>
                    <a:pt x="12114" y="4330"/>
                    <a:pt x="13006" y="1476"/>
                    <a:pt x="13006" y="911"/>
                  </a:cubicBezTo>
                  <a:cubicBezTo>
                    <a:pt x="13006" y="-1684"/>
                    <a:pt x="0" y="2094"/>
                    <a:pt x="0" y="2094"/>
                  </a:cubicBezTo>
                  <a:lnTo>
                    <a:pt x="0" y="17384"/>
                  </a:lnTo>
                  <a:cubicBezTo>
                    <a:pt x="0" y="17384"/>
                    <a:pt x="988" y="17824"/>
                    <a:pt x="2373" y="17286"/>
                  </a:cubicBezTo>
                  <a:cubicBezTo>
                    <a:pt x="5889" y="15919"/>
                    <a:pt x="11968" y="13959"/>
                    <a:pt x="10988" y="17189"/>
                  </a:cubicBezTo>
                  <a:cubicBezTo>
                    <a:pt x="10160" y="19916"/>
                    <a:pt x="20491" y="17722"/>
                    <a:pt x="20491" y="17722"/>
                  </a:cubicBezTo>
                  <a:cubicBezTo>
                    <a:pt x="20491" y="17722"/>
                    <a:pt x="19749" y="12037"/>
                    <a:pt x="20675" y="8735"/>
                  </a:cubicBezTo>
                  <a:cubicBezTo>
                    <a:pt x="21600" y="5433"/>
                    <a:pt x="20779" y="3635"/>
                    <a:pt x="20779" y="3635"/>
                  </a:cubicBezTo>
                  <a:close/>
                  <a:moveTo>
                    <a:pt x="20779" y="3635"/>
                  </a:moveTo>
                </a:path>
              </a:pathLst>
            </a:custGeom>
            <a:grpFill/>
            <a:ln>
              <a:noFill/>
            </a:ln>
          </p:spPr>
          <p:txBody>
            <a:bodyPr anchor="ctr"/>
            <a:lstStyle/>
            <a:p>
              <a:pPr algn="ctr"/>
            </a:p>
          </p:txBody>
        </p:sp>
        <p:sp>
          <p:nvSpPr>
            <p:cNvPr id="13" name="Freeform: Shape 50"/>
            <p:cNvSpPr/>
            <p:nvPr/>
          </p:nvSpPr>
          <p:spPr bwMode="auto">
            <a:xfrm>
              <a:off x="0" y="0"/>
              <a:ext cx="56" cy="57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65"/>
                  </a:moveTo>
                  <a:cubicBezTo>
                    <a:pt x="21600" y="477"/>
                    <a:pt x="16763" y="0"/>
                    <a:pt x="10802" y="0"/>
                  </a:cubicBezTo>
                  <a:cubicBezTo>
                    <a:pt x="4834" y="0"/>
                    <a:pt x="0" y="477"/>
                    <a:pt x="0" y="1065"/>
                  </a:cubicBezTo>
                  <a:lnTo>
                    <a:pt x="0" y="21600"/>
                  </a:lnTo>
                  <a:lnTo>
                    <a:pt x="21600" y="21600"/>
                  </a:lnTo>
                  <a:lnTo>
                    <a:pt x="21600" y="1065"/>
                  </a:lnTo>
                  <a:close/>
                  <a:moveTo>
                    <a:pt x="21600" y="1065"/>
                  </a:moveTo>
                </a:path>
              </a:pathLst>
            </a:custGeom>
            <a:grpFill/>
            <a:ln>
              <a:noFill/>
            </a:ln>
          </p:spPr>
          <p:txBody>
            <a:bodyPr anchor="ctr"/>
            <a:lstStyle/>
            <a:p>
              <a:pPr algn="ctr"/>
            </a:p>
          </p:txBody>
        </p:sp>
      </p:grpSp>
      <p:pic>
        <p:nvPicPr>
          <p:cNvPr id="132" name="图片 131"/>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grpSp>
        <p:nvGrpSpPr>
          <p:cNvPr id="133" name="组合 7"/>
          <p:cNvGrpSpPr/>
          <p:nvPr/>
        </p:nvGrpSpPr>
        <p:grpSpPr>
          <a:xfrm>
            <a:off x="108557" y="337632"/>
            <a:ext cx="4632960" cy="491490"/>
            <a:chOff x="198764" y="258545"/>
            <a:chExt cx="6175849" cy="655851"/>
          </a:xfrm>
        </p:grpSpPr>
        <p:grpSp>
          <p:nvGrpSpPr>
            <p:cNvPr id="134" name="组合 5"/>
            <p:cNvGrpSpPr/>
            <p:nvPr/>
          </p:nvGrpSpPr>
          <p:grpSpPr>
            <a:xfrm>
              <a:off x="198764" y="258545"/>
              <a:ext cx="700083" cy="563491"/>
              <a:chOff x="5075564" y="2933562"/>
              <a:chExt cx="2860947" cy="2302753"/>
            </a:xfrm>
          </p:grpSpPr>
          <p:sp>
            <p:nvSpPr>
              <p:cNvPr id="135" name="等腰三角形 134"/>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36" name="等腰三角形 135"/>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37" name="文本框 6"/>
            <p:cNvSpPr txBox="1"/>
            <p:nvPr/>
          </p:nvSpPr>
          <p:spPr>
            <a:xfrm>
              <a:off x="988521" y="300065"/>
              <a:ext cx="538609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需</a:t>
              </a:r>
              <a:r>
                <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求的图形化分析</a:t>
              </a:r>
              <a:endPar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5"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7</a:t>
            </a:r>
            <a:r>
              <a:rPr lang="zh-CN" altLang="en-US" sz="2400" b="1" kern="0" dirty="0">
                <a:latin typeface="宋体" panose="02010600030101010101" pitchFamily="2" charset="-122"/>
                <a:sym typeface="宋体" panose="02010600030101010101" pitchFamily="2" charset="-122"/>
              </a:rPr>
              <a:t>）类图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4" name="矩形 66"/>
          <p:cNvSpPr>
            <a:spLocks noChangeArrowheads="1"/>
          </p:cNvSpPr>
          <p:nvPr/>
        </p:nvSpPr>
        <p:spPr bwMode="auto">
          <a:xfrm>
            <a:off x="698500" y="1448227"/>
            <a:ext cx="10795000" cy="598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0">
            <a:spAutoFit/>
          </a:bodyPr>
          <a:lstStyle/>
          <a:p>
            <a:pPr lvl="0" indent="0">
              <a:lnSpc>
                <a:spcPct val="150000"/>
              </a:lnSpc>
              <a:buFont typeface="Wingdings" panose="05000000000000000000" pitchFamily="2" charset="2"/>
              <a:buNone/>
            </a:pP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rPr>
              <a:t>类图的描述：</a:t>
            </a:r>
            <a:endPar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endParaRPr>
          </a:p>
        </p:txBody>
      </p:sp>
      <p:sp>
        <p:nvSpPr>
          <p:cNvPr id="16" name="日期占位符 15"/>
          <p:cNvSpPr>
            <a:spLocks noGrp="1"/>
          </p:cNvSpPr>
          <p:nvPr>
            <p:ph type="dt" sz="half" idx="10"/>
          </p:nvPr>
        </p:nvSpPr>
        <p:spPr/>
        <p:txBody>
          <a:bodyPr/>
          <a:lstStyle/>
          <a:p>
            <a:pPr>
              <a:defRPr/>
            </a:pPr>
            <a:fld id="{E428F474-5472-4370-BC10-8AD559D81631}" type="datetime1">
              <a:rPr lang="zh-CN" altLang="en-US" smtClean="0">
                <a:solidFill>
                  <a:prstClr val="black">
                    <a:tint val="75000"/>
                  </a:prstClr>
                </a:solidFill>
              </a:rPr>
            </a:fld>
            <a:endParaRPr lang="zh-CN" altLang="en-US" dirty="0">
              <a:solidFill>
                <a:prstClr val="black">
                  <a:tint val="75000"/>
                </a:prstClr>
              </a:solidFill>
            </a:endParaRPr>
          </a:p>
        </p:txBody>
      </p:sp>
      <p:sp>
        <p:nvSpPr>
          <p:cNvPr id="17" name="灯片编号占位符 16"/>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32"/>
                                        </p:tgtEl>
                                        <p:attrNameLst>
                                          <p:attrName>style.visibility</p:attrName>
                                        </p:attrNameLst>
                                      </p:cBhvr>
                                      <p:to>
                                        <p:strVal val="visible"/>
                                      </p:to>
                                    </p:set>
                                    <p:anim calcmode="lin" valueType="num">
                                      <p:cBhvr>
                                        <p:cTn id="7" dur="500" fill="hold"/>
                                        <p:tgtEl>
                                          <p:spTgt spid="132"/>
                                        </p:tgtEl>
                                        <p:attrNameLst>
                                          <p:attrName>ppt_w</p:attrName>
                                        </p:attrNameLst>
                                      </p:cBhvr>
                                      <p:tavLst>
                                        <p:tav tm="0">
                                          <p:val>
                                            <p:fltVal val="0"/>
                                          </p:val>
                                        </p:tav>
                                        <p:tav tm="100000">
                                          <p:val>
                                            <p:strVal val="#ppt_w"/>
                                          </p:val>
                                        </p:tav>
                                      </p:tavLst>
                                    </p:anim>
                                    <p:anim calcmode="lin" valueType="num">
                                      <p:cBhvr>
                                        <p:cTn id="8" dur="500" fill="hold"/>
                                        <p:tgtEl>
                                          <p:spTgt spid="132"/>
                                        </p:tgtEl>
                                        <p:attrNameLst>
                                          <p:attrName>ppt_h</p:attrName>
                                        </p:attrNameLst>
                                      </p:cBhvr>
                                      <p:tavLst>
                                        <p:tav tm="0">
                                          <p:val>
                                            <p:fltVal val="0"/>
                                          </p:val>
                                        </p:tav>
                                        <p:tav tm="100000">
                                          <p:val>
                                            <p:strVal val="#ppt_h"/>
                                          </p:val>
                                        </p:tav>
                                      </p:tavLst>
                                    </p:anim>
                                    <p:animEffect transition="in" filter="fade">
                                      <p:cBhvr>
                                        <p:cTn id="9" dur="500"/>
                                        <p:tgtEl>
                                          <p:spTgt spid="132"/>
                                        </p:tgtEl>
                                      </p:cBhvr>
                                    </p:animEffect>
                                  </p:childTnLst>
                                </p:cTn>
                              </p:par>
                              <p:par>
                                <p:cTn id="10" presetID="2" presetClass="entr" presetSubtype="8" fill="hold" nodeType="withEffect">
                                  <p:stCondLst>
                                    <p:cond delay="0"/>
                                  </p:stCondLst>
                                  <p:childTnLst>
                                    <p:set>
                                      <p:cBhvr>
                                        <p:cTn id="11" dur="1" fill="hold">
                                          <p:stCondLst>
                                            <p:cond delay="0"/>
                                          </p:stCondLst>
                                        </p:cTn>
                                        <p:tgtEl>
                                          <p:spTgt spid="133"/>
                                        </p:tgtEl>
                                        <p:attrNameLst>
                                          <p:attrName>style.visibility</p:attrName>
                                        </p:attrNameLst>
                                      </p:cBhvr>
                                      <p:to>
                                        <p:strVal val="visible"/>
                                      </p:to>
                                    </p:set>
                                    <p:anim calcmode="lin" valueType="num">
                                      <p:cBhvr additive="base">
                                        <p:cTn id="12" dur="500" fill="hold"/>
                                        <p:tgtEl>
                                          <p:spTgt spid="133"/>
                                        </p:tgtEl>
                                        <p:attrNameLst>
                                          <p:attrName>ppt_x</p:attrName>
                                        </p:attrNameLst>
                                      </p:cBhvr>
                                      <p:tavLst>
                                        <p:tav tm="0">
                                          <p:val>
                                            <p:strVal val="0-#ppt_w/2"/>
                                          </p:val>
                                        </p:tav>
                                        <p:tav tm="100000">
                                          <p:val>
                                            <p:strVal val="#ppt_x"/>
                                          </p:val>
                                        </p:tav>
                                      </p:tavLst>
                                    </p:anim>
                                    <p:anim calcmode="lin" valueType="num">
                                      <p:cBhvr additive="base">
                                        <p:cTn id="13" dur="500" fill="hold"/>
                                        <p:tgtEl>
                                          <p:spTgt spid="133"/>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 calcmode="lin" valueType="num">
                                      <p:cBhvr additive="base">
                                        <p:cTn id="16" dur="500"/>
                                        <p:tgtEl>
                                          <p:spTgt spid="25"/>
                                        </p:tgtEl>
                                        <p:attrNameLst>
                                          <p:attrName>ppt_x</p:attrName>
                                        </p:attrNameLst>
                                      </p:cBhvr>
                                      <p:tavLst>
                                        <p:tav tm="0">
                                          <p:val>
                                            <p:strVal val="#ppt_x+#ppt_w*1.125000"/>
                                          </p:val>
                                        </p:tav>
                                        <p:tav tm="100000">
                                          <p:val>
                                            <p:strVal val="#ppt_x"/>
                                          </p:val>
                                        </p:tav>
                                      </p:tavLst>
                                    </p:anim>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2"/>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ldLvl="0" animBg="1"/>
      <p:bldP spid="2" grpId="0" bldLvl="0" animBg="1"/>
      <p:bldP spid="25" grpId="0"/>
      <p:bldP spid="2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组合 38914"/>
          <p:cNvGrpSpPr/>
          <p:nvPr/>
        </p:nvGrpSpPr>
        <p:grpSpPr>
          <a:xfrm>
            <a:off x="1274395" y="1926215"/>
            <a:ext cx="9361497" cy="4392613"/>
            <a:chOff x="-262" y="697"/>
            <a:chExt cx="5897" cy="2767"/>
          </a:xfrm>
        </p:grpSpPr>
        <p:sp>
          <p:nvSpPr>
            <p:cNvPr id="69" name="矩形 38915"/>
            <p:cNvSpPr/>
            <p:nvPr/>
          </p:nvSpPr>
          <p:spPr>
            <a:xfrm>
              <a:off x="2016" y="1561"/>
              <a:ext cx="1680" cy="528"/>
            </a:xfrm>
            <a:prstGeom prst="rect">
              <a:avLst/>
            </a:prstGeom>
            <a:solidFill>
              <a:srgbClr val="CCFFFF"/>
            </a:solidFill>
            <a:ln w="38100" cap="flat" cmpd="sng">
              <a:solidFill>
                <a:srgbClr val="000000"/>
              </a:solidFill>
              <a:prstDash val="solid"/>
              <a:miter/>
              <a:headEnd type="none" w="med" len="med"/>
              <a:tailEnd type="none" w="med" len="med"/>
            </a:ln>
          </p:spPr>
          <p:txBody>
            <a:bodyPr wrap="none" anchor="ct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rPr>
                <a:t>requestChemical()</a:t>
              </a:r>
              <a:endPar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rPr>
                <a:t>queryVerdorCatalog()</a:t>
              </a:r>
              <a:endPar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err="1">
                  <a:ln>
                    <a:noFill/>
                  </a:ln>
                  <a:solidFill>
                    <a:srgbClr val="000000"/>
                  </a:solidFill>
                  <a:effectLst/>
                  <a:uLnTx/>
                  <a:uFillTx/>
                  <a:latin typeface="Times New Roman" panose="02020603050405020304" pitchFamily="18" charset="0"/>
                </a:rPr>
                <a:t>receiveChemicalContainer</a:t>
              </a:r>
              <a:r>
                <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rPr>
                <a:t>()</a:t>
              </a:r>
              <a:endPar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endParaRPr>
            </a:p>
          </p:txBody>
        </p:sp>
        <p:sp>
          <p:nvSpPr>
            <p:cNvPr id="70" name="矩形 38916"/>
            <p:cNvSpPr/>
            <p:nvPr/>
          </p:nvSpPr>
          <p:spPr>
            <a:xfrm>
              <a:off x="2016" y="985"/>
              <a:ext cx="1680" cy="576"/>
            </a:xfrm>
            <a:prstGeom prst="rect">
              <a:avLst/>
            </a:prstGeom>
            <a:solidFill>
              <a:srgbClr val="FFFF99"/>
            </a:solidFill>
            <a:ln w="38100" cap="flat" cmpd="sng">
              <a:solidFill>
                <a:srgbClr val="000000"/>
              </a:solidFill>
              <a:prstDash val="solid"/>
              <a:miter/>
              <a:headEnd type="none" w="med" len="med"/>
              <a:tailEnd type="none" w="med" len="med"/>
            </a:ln>
          </p:spPr>
          <p:txBody>
            <a:bodyPr wrap="none" anchor="ct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rPr>
                <a:t>name</a:t>
              </a:r>
              <a:endPar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rPr>
                <a:t>employeeNumber</a:t>
              </a:r>
              <a:endPar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rPr>
                <a:t>department</a:t>
              </a:r>
              <a:endPar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rPr>
                <a:t>roomNumber</a:t>
              </a:r>
              <a:endPar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endParaRPr>
            </a:p>
          </p:txBody>
        </p:sp>
        <p:sp>
          <p:nvSpPr>
            <p:cNvPr id="71" name="矩形 38917"/>
            <p:cNvSpPr/>
            <p:nvPr/>
          </p:nvSpPr>
          <p:spPr>
            <a:xfrm>
              <a:off x="2016" y="697"/>
              <a:ext cx="1680" cy="288"/>
            </a:xfrm>
            <a:prstGeom prst="rect">
              <a:avLst/>
            </a:prstGeom>
            <a:solidFill>
              <a:srgbClr val="FFCC00"/>
            </a:solidFill>
            <a:ln w="38100" cap="flat" cmpd="sng">
              <a:solidFill>
                <a:srgbClr val="000000"/>
              </a:solidFill>
              <a:prstDash val="solid"/>
              <a:miter/>
              <a:headEnd type="none" w="med" len="med"/>
              <a:tailEnd type="none" w="med" len="med"/>
            </a:ln>
          </p:spPr>
          <p:txBody>
            <a:bodyPr wrap="none" anchor="ct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rPr>
                <a:t>请求者</a:t>
              </a:r>
              <a:endPar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ndParaRPr>
            </a:p>
          </p:txBody>
        </p:sp>
        <p:sp>
          <p:nvSpPr>
            <p:cNvPr id="72" name="矩形 38918"/>
            <p:cNvSpPr/>
            <p:nvPr/>
          </p:nvSpPr>
          <p:spPr>
            <a:xfrm>
              <a:off x="3955" y="2304"/>
              <a:ext cx="1680" cy="336"/>
            </a:xfrm>
            <a:prstGeom prst="rect">
              <a:avLst/>
            </a:prstGeom>
            <a:solidFill>
              <a:srgbClr val="CCFFFF"/>
            </a:solidFill>
            <a:ln w="38100" cap="flat" cmpd="sng">
              <a:solidFill>
                <a:srgbClr val="000000"/>
              </a:solidFill>
              <a:prstDash val="solid"/>
              <a:miter/>
              <a:headEnd type="none" w="med" len="med"/>
              <a:tailEnd type="none" w="med" len="med"/>
            </a:ln>
          </p:spPr>
          <p:txBody>
            <a:bodyPr wrap="none" anchor="ct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rPr>
                <a:t> </a:t>
              </a:r>
              <a:endPar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rPr>
                <a:t>displayInformation()</a:t>
              </a:r>
              <a:endPar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500" b="0" i="0" u="none" strike="noStrike" kern="0" cap="none" spc="0" normalizeH="0" baseline="0" noProof="0" dirty="0">
                <a:ln>
                  <a:noFill/>
                </a:ln>
                <a:solidFill>
                  <a:srgbClr val="000000"/>
                </a:solidFill>
                <a:effectLst/>
                <a:uLnTx/>
                <a:uFillTx/>
                <a:latin typeface="Times New Roman" panose="02020603050405020304" pitchFamily="18" charset="0"/>
              </a:endParaRPr>
            </a:p>
          </p:txBody>
        </p:sp>
        <p:sp>
          <p:nvSpPr>
            <p:cNvPr id="73" name="矩形 38919"/>
            <p:cNvSpPr/>
            <p:nvPr/>
          </p:nvSpPr>
          <p:spPr>
            <a:xfrm>
              <a:off x="3955" y="1728"/>
              <a:ext cx="1680" cy="576"/>
            </a:xfrm>
            <a:prstGeom prst="rect">
              <a:avLst/>
            </a:prstGeom>
            <a:solidFill>
              <a:srgbClr val="FFFF99"/>
            </a:solidFill>
            <a:ln w="38100" cap="flat" cmpd="sng">
              <a:solidFill>
                <a:srgbClr val="000000"/>
              </a:solidFill>
              <a:prstDash val="solid"/>
              <a:miter/>
              <a:headEnd type="none" w="med" len="med"/>
              <a:tailEnd type="none" w="med" len="med"/>
            </a:ln>
          </p:spPr>
          <p:txBody>
            <a:bodyPr wrap="none" anchor="ct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rPr>
                <a:t>vendorName</a:t>
              </a:r>
              <a:endPar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rPr>
                <a:t>chemicalID</a:t>
              </a:r>
              <a:endPar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rPr>
                <a:t>catalogNumber</a:t>
              </a:r>
              <a:endPar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rPr>
                <a:t>containerSizesAvailable</a:t>
              </a:r>
              <a:endPar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endParaRPr>
            </a:p>
          </p:txBody>
        </p:sp>
        <p:sp>
          <p:nvSpPr>
            <p:cNvPr id="74" name="矩形 38920"/>
            <p:cNvSpPr/>
            <p:nvPr/>
          </p:nvSpPr>
          <p:spPr>
            <a:xfrm>
              <a:off x="3955" y="1440"/>
              <a:ext cx="1680" cy="288"/>
            </a:xfrm>
            <a:prstGeom prst="rect">
              <a:avLst/>
            </a:prstGeom>
            <a:solidFill>
              <a:srgbClr val="FFCC00"/>
            </a:solidFill>
            <a:ln w="38100" cap="flat" cmpd="sng">
              <a:solidFill>
                <a:srgbClr val="000000"/>
              </a:solidFill>
              <a:prstDash val="solid"/>
              <a:miter/>
              <a:headEnd type="none" w="med" len="med"/>
              <a:tailEnd type="none" w="med" len="med"/>
            </a:ln>
          </p:spPr>
          <p:txBody>
            <a:bodyPr wrap="none" anchor="ct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rPr>
                <a:t>供应商目录</a:t>
              </a:r>
              <a:endPar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ndParaRPr>
            </a:p>
          </p:txBody>
        </p:sp>
        <p:sp>
          <p:nvSpPr>
            <p:cNvPr id="75" name="矩形 38921"/>
            <p:cNvSpPr/>
            <p:nvPr/>
          </p:nvSpPr>
          <p:spPr>
            <a:xfrm>
              <a:off x="-262" y="2304"/>
              <a:ext cx="1680" cy="672"/>
            </a:xfrm>
            <a:prstGeom prst="rect">
              <a:avLst/>
            </a:prstGeom>
            <a:solidFill>
              <a:srgbClr val="CCFFFF"/>
            </a:solidFill>
            <a:ln w="38100" cap="flat" cmpd="sng">
              <a:solidFill>
                <a:srgbClr val="000000"/>
              </a:solidFill>
              <a:prstDash val="solid"/>
              <a:miter/>
              <a:headEnd type="none" w="med" len="med"/>
              <a:tailEnd type="none" w="med" len="med"/>
            </a:ln>
          </p:spPr>
          <p:txBody>
            <a:bodyPr wrap="none" anchor="ct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rPr>
                <a:t>submit()</a:t>
              </a:r>
              <a:endPar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rPr>
                <a:t>cancel()</a:t>
              </a:r>
              <a:endPar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rPr>
                <a:t>Postpone()</a:t>
              </a:r>
              <a:endPar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rPr>
                <a:t>retrieve()</a:t>
              </a:r>
              <a:endPar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endParaRPr>
            </a:p>
          </p:txBody>
        </p:sp>
        <p:sp>
          <p:nvSpPr>
            <p:cNvPr id="76" name="矩形 38922"/>
            <p:cNvSpPr/>
            <p:nvPr/>
          </p:nvSpPr>
          <p:spPr>
            <a:xfrm>
              <a:off x="-262" y="1680"/>
              <a:ext cx="1680" cy="634"/>
            </a:xfrm>
            <a:prstGeom prst="rect">
              <a:avLst/>
            </a:prstGeom>
            <a:solidFill>
              <a:srgbClr val="FFFF99"/>
            </a:solidFill>
            <a:ln w="38100" cap="flat" cmpd="sng">
              <a:solidFill>
                <a:srgbClr val="000000"/>
              </a:solidFill>
              <a:prstDash val="solid"/>
              <a:miter/>
              <a:headEnd type="none" w="med" len="med"/>
              <a:tailEnd type="none" w="med" len="med"/>
            </a:ln>
          </p:spPr>
          <p:txBody>
            <a:bodyPr wrap="none" anchor="ct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rPr>
                <a:t>requestNumber</a:t>
              </a:r>
              <a:endPar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rPr>
                <a:t>requesterName</a:t>
              </a:r>
              <a:endPar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rPr>
                <a:t>chargeNumber</a:t>
              </a:r>
              <a:endPar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rPr>
                <a:t>fulfillmentLocation</a:t>
              </a:r>
              <a:endPar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endParaRPr>
            </a:p>
          </p:txBody>
        </p:sp>
        <p:sp>
          <p:nvSpPr>
            <p:cNvPr id="77" name="矩形 38923"/>
            <p:cNvSpPr/>
            <p:nvPr/>
          </p:nvSpPr>
          <p:spPr>
            <a:xfrm>
              <a:off x="-262" y="1392"/>
              <a:ext cx="1680" cy="317"/>
            </a:xfrm>
            <a:prstGeom prst="rect">
              <a:avLst/>
            </a:prstGeom>
            <a:solidFill>
              <a:srgbClr val="FFCC00"/>
            </a:solidFill>
            <a:ln w="38100" cap="flat" cmpd="sng">
              <a:solidFill>
                <a:srgbClr val="000000"/>
              </a:solidFill>
              <a:prstDash val="solid"/>
              <a:miter/>
              <a:headEnd type="none" w="med" len="med"/>
              <a:tailEnd type="none" w="med" len="med"/>
            </a:ln>
          </p:spPr>
          <p:txBody>
            <a:bodyPr wrap="none" anchor="ct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rPr>
                <a:t>化学制品请求</a:t>
              </a:r>
              <a:endPar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ndParaRPr>
            </a:p>
          </p:txBody>
        </p:sp>
        <p:sp>
          <p:nvSpPr>
            <p:cNvPr id="78" name="矩形 38924"/>
            <p:cNvSpPr/>
            <p:nvPr/>
          </p:nvSpPr>
          <p:spPr>
            <a:xfrm>
              <a:off x="2016" y="3128"/>
              <a:ext cx="1680" cy="336"/>
            </a:xfrm>
            <a:prstGeom prst="rect">
              <a:avLst/>
            </a:prstGeom>
            <a:solidFill>
              <a:srgbClr val="CCFFFF"/>
            </a:solidFill>
            <a:ln w="38100" cap="flat" cmpd="sng">
              <a:solidFill>
                <a:srgbClr val="000000"/>
              </a:solidFill>
              <a:prstDash val="solid"/>
              <a:miter/>
              <a:headEnd type="none" w="med" len="med"/>
              <a:tailEnd type="none" w="med" len="med"/>
            </a:ln>
          </p:spPr>
          <p:txBody>
            <a:bodyPr wrap="none" anchor="ct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rPr>
                <a:t>add()</a:t>
              </a:r>
              <a:endPar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rPr>
                <a:t>delete()</a:t>
              </a:r>
              <a:endPar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endParaRPr>
            </a:p>
          </p:txBody>
        </p:sp>
        <p:sp>
          <p:nvSpPr>
            <p:cNvPr id="79" name="矩形 38925"/>
            <p:cNvSpPr/>
            <p:nvPr/>
          </p:nvSpPr>
          <p:spPr>
            <a:xfrm>
              <a:off x="2016" y="2552"/>
              <a:ext cx="1680" cy="576"/>
            </a:xfrm>
            <a:prstGeom prst="rect">
              <a:avLst/>
            </a:prstGeom>
            <a:solidFill>
              <a:srgbClr val="FFFF99"/>
            </a:solidFill>
            <a:ln w="38100" cap="flat" cmpd="sng">
              <a:solidFill>
                <a:srgbClr val="000000"/>
              </a:solidFill>
              <a:prstDash val="solid"/>
              <a:miter/>
              <a:headEnd type="none" w="med" len="med"/>
              <a:tailEnd type="none" w="med" len="med"/>
            </a:ln>
          </p:spPr>
          <p:txBody>
            <a:bodyPr wrap="none" anchor="ct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a:ln>
                    <a:noFill/>
                  </a:ln>
                  <a:solidFill>
                    <a:srgbClr val="000000"/>
                  </a:solidFill>
                  <a:effectLst/>
                  <a:uLnTx/>
                  <a:uFillTx/>
                  <a:latin typeface="Arial" panose="020B0604020202020204" pitchFamily="34" charset="0"/>
                </a:rPr>
                <a:t>chemicalID</a:t>
              </a:r>
              <a:endParaRPr kumimoji="0" lang="en-US" altLang="zh-CN" sz="1500" b="1" i="0" u="none" strike="noStrike" kern="0" cap="none" spc="0" normalizeH="0" baseline="0" noProof="0" dirty="0">
                <a:ln>
                  <a:noFill/>
                </a:ln>
                <a:solidFill>
                  <a:srgbClr val="000000"/>
                </a:solidFill>
                <a:effectLst/>
                <a:uLnTx/>
                <a:uFillTx/>
                <a:latin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rPr>
                <a:t>vendorName</a:t>
              </a:r>
              <a:endPar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rPr>
                <a:t>quantity</a:t>
              </a:r>
              <a:endPar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rPr>
                <a:t>quantityUnits</a:t>
              </a:r>
              <a:endParaRPr kumimoji="0" lang="en-US" altLang="zh-CN" sz="1500" b="1" i="0" u="none" strike="noStrike" kern="0" cap="none" spc="0" normalizeH="0" baseline="0" noProof="0" dirty="0">
                <a:ln>
                  <a:noFill/>
                </a:ln>
                <a:solidFill>
                  <a:srgbClr val="000000"/>
                </a:solidFill>
                <a:effectLst/>
                <a:uLnTx/>
                <a:uFillTx/>
                <a:latin typeface="Times New Roman" panose="02020603050405020304" pitchFamily="18" charset="0"/>
              </a:endParaRPr>
            </a:p>
          </p:txBody>
        </p:sp>
        <p:sp>
          <p:nvSpPr>
            <p:cNvPr id="80" name="矩形 38926"/>
            <p:cNvSpPr/>
            <p:nvPr/>
          </p:nvSpPr>
          <p:spPr>
            <a:xfrm>
              <a:off x="2016" y="2264"/>
              <a:ext cx="1680" cy="288"/>
            </a:xfrm>
            <a:prstGeom prst="rect">
              <a:avLst/>
            </a:prstGeom>
            <a:solidFill>
              <a:srgbClr val="FFCC00"/>
            </a:solidFill>
            <a:ln w="38100" cap="flat" cmpd="sng">
              <a:solidFill>
                <a:srgbClr val="000000"/>
              </a:solidFill>
              <a:prstDash val="solid"/>
              <a:miter/>
              <a:headEnd type="none" w="med" len="med"/>
              <a:tailEnd type="none" w="med" len="med"/>
            </a:ln>
          </p:spPr>
          <p:txBody>
            <a:bodyPr wrap="none" anchor="ct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rPr>
                <a:t>请求中的条目</a:t>
              </a:r>
              <a:endPar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ndParaRPr>
            </a:p>
          </p:txBody>
        </p:sp>
        <p:sp>
          <p:nvSpPr>
            <p:cNvPr id="81" name="直接连接符 38927"/>
            <p:cNvSpPr/>
            <p:nvPr/>
          </p:nvSpPr>
          <p:spPr>
            <a:xfrm flipH="1" flipV="1">
              <a:off x="912" y="1152"/>
              <a:ext cx="1104" cy="0"/>
            </a:xfrm>
            <a:prstGeom prst="line">
              <a:avLst/>
            </a:prstGeom>
            <a:ln w="38100" cap="flat" cmpd="sng">
              <a:solidFill>
                <a:srgbClr val="000000"/>
              </a:solidFill>
              <a:prstDash val="solid"/>
              <a:round/>
              <a:headEnd type="none" w="med" len="med"/>
              <a:tailEnd type="none" w="med" len="med"/>
            </a:ln>
          </p:spPr>
        </p:sp>
        <p:sp>
          <p:nvSpPr>
            <p:cNvPr id="82" name="直接连接符 38928"/>
            <p:cNvSpPr/>
            <p:nvPr/>
          </p:nvSpPr>
          <p:spPr>
            <a:xfrm>
              <a:off x="912" y="1152"/>
              <a:ext cx="0" cy="240"/>
            </a:xfrm>
            <a:prstGeom prst="line">
              <a:avLst/>
            </a:prstGeom>
            <a:ln w="38100" cap="flat" cmpd="sng">
              <a:solidFill>
                <a:srgbClr val="000000"/>
              </a:solidFill>
              <a:prstDash val="solid"/>
              <a:round/>
              <a:headEnd type="none" w="med" len="med"/>
              <a:tailEnd type="none" w="med" len="med"/>
            </a:ln>
          </p:spPr>
        </p:sp>
        <p:sp>
          <p:nvSpPr>
            <p:cNvPr id="83" name="直接连接符 38929"/>
            <p:cNvSpPr/>
            <p:nvPr/>
          </p:nvSpPr>
          <p:spPr>
            <a:xfrm>
              <a:off x="912" y="2976"/>
              <a:ext cx="0" cy="288"/>
            </a:xfrm>
            <a:prstGeom prst="line">
              <a:avLst/>
            </a:prstGeom>
            <a:ln w="38100" cap="flat" cmpd="sng">
              <a:solidFill>
                <a:srgbClr val="000000"/>
              </a:solidFill>
              <a:prstDash val="solid"/>
              <a:round/>
              <a:headEnd type="none" w="med" len="med"/>
              <a:tailEnd type="none" w="med" len="med"/>
            </a:ln>
          </p:spPr>
        </p:sp>
        <p:sp>
          <p:nvSpPr>
            <p:cNvPr id="84" name="直接连接符 38930"/>
            <p:cNvSpPr/>
            <p:nvPr/>
          </p:nvSpPr>
          <p:spPr>
            <a:xfrm>
              <a:off x="912" y="3264"/>
              <a:ext cx="1104" cy="0"/>
            </a:xfrm>
            <a:prstGeom prst="line">
              <a:avLst/>
            </a:prstGeom>
            <a:ln w="38100" cap="flat" cmpd="sng">
              <a:solidFill>
                <a:srgbClr val="000000"/>
              </a:solidFill>
              <a:prstDash val="solid"/>
              <a:round/>
              <a:headEnd type="none" w="med" len="med"/>
              <a:tailEnd type="none" w="med" len="med"/>
            </a:ln>
          </p:spPr>
        </p:sp>
        <p:sp>
          <p:nvSpPr>
            <p:cNvPr id="85" name="直接连接符 38931"/>
            <p:cNvSpPr/>
            <p:nvPr/>
          </p:nvSpPr>
          <p:spPr>
            <a:xfrm flipH="1">
              <a:off x="3696" y="1122"/>
              <a:ext cx="1008" cy="0"/>
            </a:xfrm>
            <a:prstGeom prst="line">
              <a:avLst/>
            </a:prstGeom>
            <a:ln w="38100" cap="flat" cmpd="sng">
              <a:solidFill>
                <a:srgbClr val="000000"/>
              </a:solidFill>
              <a:prstDash val="solid"/>
              <a:round/>
              <a:headEnd type="none" w="med" len="med"/>
              <a:tailEnd type="none" w="med" len="med"/>
            </a:ln>
          </p:spPr>
        </p:sp>
        <p:sp>
          <p:nvSpPr>
            <p:cNvPr id="86" name="直接连接符 38932"/>
            <p:cNvSpPr/>
            <p:nvPr/>
          </p:nvSpPr>
          <p:spPr>
            <a:xfrm>
              <a:off x="4704" y="1128"/>
              <a:ext cx="0" cy="312"/>
            </a:xfrm>
            <a:prstGeom prst="line">
              <a:avLst/>
            </a:prstGeom>
            <a:ln w="38100" cap="flat" cmpd="sng">
              <a:solidFill>
                <a:srgbClr val="000000"/>
              </a:solidFill>
              <a:prstDash val="solid"/>
              <a:round/>
              <a:headEnd type="none" w="med" len="med"/>
              <a:tailEnd type="none" w="med" len="med"/>
            </a:ln>
          </p:spPr>
        </p:sp>
        <p:sp>
          <p:nvSpPr>
            <p:cNvPr id="87" name="直接连接符 38933"/>
            <p:cNvSpPr/>
            <p:nvPr/>
          </p:nvSpPr>
          <p:spPr>
            <a:xfrm>
              <a:off x="3696" y="3264"/>
              <a:ext cx="1104" cy="0"/>
            </a:xfrm>
            <a:prstGeom prst="line">
              <a:avLst/>
            </a:prstGeom>
            <a:ln w="38100" cap="flat" cmpd="sng">
              <a:solidFill>
                <a:srgbClr val="000000"/>
              </a:solidFill>
              <a:prstDash val="solid"/>
              <a:round/>
              <a:headEnd type="none" w="med" len="med"/>
              <a:tailEnd type="none" w="med" len="med"/>
            </a:ln>
          </p:spPr>
        </p:sp>
        <p:sp>
          <p:nvSpPr>
            <p:cNvPr id="88" name="直接连接符 38934"/>
            <p:cNvSpPr/>
            <p:nvPr/>
          </p:nvSpPr>
          <p:spPr>
            <a:xfrm>
              <a:off x="4800" y="2640"/>
              <a:ext cx="0" cy="624"/>
            </a:xfrm>
            <a:prstGeom prst="line">
              <a:avLst/>
            </a:prstGeom>
            <a:ln w="38100" cap="flat" cmpd="sng">
              <a:solidFill>
                <a:srgbClr val="000000"/>
              </a:solidFill>
              <a:prstDash val="solid"/>
              <a:round/>
              <a:headEnd type="none" w="med" len="med"/>
              <a:tailEnd type="none" w="med" len="med"/>
            </a:ln>
          </p:spPr>
        </p:sp>
      </p:grpSp>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grpSp>
        <p:nvGrpSpPr>
          <p:cNvPr id="133" name="组合 7"/>
          <p:cNvGrpSpPr/>
          <p:nvPr/>
        </p:nvGrpSpPr>
        <p:grpSpPr>
          <a:xfrm>
            <a:off x="108557" y="337632"/>
            <a:ext cx="4632960" cy="491490"/>
            <a:chOff x="198764" y="258545"/>
            <a:chExt cx="6175849" cy="655851"/>
          </a:xfrm>
        </p:grpSpPr>
        <p:grpSp>
          <p:nvGrpSpPr>
            <p:cNvPr id="134" name="组合 5"/>
            <p:cNvGrpSpPr/>
            <p:nvPr/>
          </p:nvGrpSpPr>
          <p:grpSpPr>
            <a:xfrm>
              <a:off x="198764" y="258545"/>
              <a:ext cx="700083" cy="563491"/>
              <a:chOff x="5075564" y="2933562"/>
              <a:chExt cx="2860947" cy="2302753"/>
            </a:xfrm>
          </p:grpSpPr>
          <p:sp>
            <p:nvSpPr>
              <p:cNvPr id="135" name="等腰三角形 134"/>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36" name="等腰三角形 135"/>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37" name="文本框 6"/>
            <p:cNvSpPr txBox="1"/>
            <p:nvPr/>
          </p:nvSpPr>
          <p:spPr>
            <a:xfrm>
              <a:off x="988521" y="300065"/>
              <a:ext cx="538609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3.5 </a:t>
              </a:r>
              <a:r>
                <a:rPr lang="zh-CN" altLang="en-US"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需</a:t>
              </a:r>
              <a:r>
                <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求的图形化分析</a:t>
              </a:r>
              <a:endPar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30" name="文本框 67"/>
          <p:cNvSpPr>
            <a:spLocks noChangeArrowheads="1"/>
          </p:cNvSpPr>
          <p:nvPr/>
        </p:nvSpPr>
        <p:spPr bwMode="auto">
          <a:xfrm>
            <a:off x="660400" y="831227"/>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3.5.2 </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需求建模</a:t>
            </a:r>
            <a:endParaRPr lang="en-US" altLang="zh-CN" sz="2400" b="1" kern="0" dirty="0">
              <a:latin typeface="宋体" panose="02010600030101010101" pitchFamily="2" charset="-122"/>
              <a:ea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7</a:t>
            </a:r>
            <a:r>
              <a:rPr lang="zh-CN" altLang="en-US" sz="2400" b="1" kern="0" dirty="0">
                <a:latin typeface="宋体" panose="02010600030101010101" pitchFamily="2" charset="-122"/>
                <a:sym typeface="宋体" panose="02010600030101010101" pitchFamily="2" charset="-122"/>
              </a:rPr>
              <a:t>）类图</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31" name="矩形 30"/>
          <p:cNvSpPr/>
          <p:nvPr/>
        </p:nvSpPr>
        <p:spPr>
          <a:xfrm>
            <a:off x="1025236" y="1632963"/>
            <a:ext cx="9772073" cy="4740785"/>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文本框 31745"/>
          <p:cNvSpPr txBox="1"/>
          <p:nvPr/>
        </p:nvSpPr>
        <p:spPr>
          <a:xfrm>
            <a:off x="4145862" y="1414882"/>
            <a:ext cx="4464738" cy="430887"/>
          </a:xfrm>
          <a:prstGeom prst="rect">
            <a:avLst/>
          </a:prstGeom>
          <a:solidFill>
            <a:schemeClr val="bg1"/>
          </a:solidFill>
          <a:ln>
            <a:solidFill>
              <a:srgbClr val="FF0000"/>
            </a:solidFill>
          </a:ln>
        </p:spPr>
        <p:txBody>
          <a:bodyPr wrap="square">
            <a:spAutoFit/>
          </a:bodyPr>
          <a:lstStyle>
            <a:defPPr>
              <a:defRPr lang="zh-CN"/>
            </a:defPPr>
            <a:lvl1pPr fontAlgn="base">
              <a:spcBef>
                <a:spcPct val="0"/>
              </a:spcBef>
              <a:spcAft>
                <a:spcPct val="0"/>
              </a:spcAft>
              <a:defRPr sz="2000" kern="0">
                <a:solidFill>
                  <a:schemeClr val="tx1">
                    <a:lumMod val="50000"/>
                    <a:lumOff val="50000"/>
                  </a:schemeClr>
                </a:solidFill>
                <a:latin typeface="+mn-ea"/>
              </a:defRPr>
            </a:lvl1pPr>
          </a:lstStyle>
          <a:p>
            <a:r>
              <a:rPr lang="zh-CN" altLang="en-US" sz="2200" b="1" dirty="0">
                <a:solidFill>
                  <a:srgbClr val="FF0000"/>
                </a:solidFill>
              </a:rPr>
              <a:t>化学制品跟踪系统中的部分类图</a:t>
            </a:r>
            <a:endParaRPr lang="zh-CN" altLang="en-US" sz="2200" b="1" dirty="0">
              <a:solidFill>
                <a:srgbClr val="FF0000"/>
              </a:solidFill>
            </a:endParaRPr>
          </a:p>
        </p:txBody>
      </p:sp>
      <p:sp>
        <p:nvSpPr>
          <p:cNvPr id="3" name="日期占位符 2"/>
          <p:cNvSpPr>
            <a:spLocks noGrp="1"/>
          </p:cNvSpPr>
          <p:nvPr>
            <p:ph type="dt" sz="half" idx="10"/>
          </p:nvPr>
        </p:nvSpPr>
        <p:spPr/>
        <p:txBody>
          <a:bodyPr/>
          <a:lstStyle/>
          <a:p>
            <a:pPr>
              <a:defRPr/>
            </a:pPr>
            <a:fld id="{1B00AE70-0CE7-445D-AAE6-0E71782DB8BC}" type="datetime1">
              <a:rPr lang="zh-CN" altLang="en-US" smtClean="0">
                <a:solidFill>
                  <a:prstClr val="black">
                    <a:tint val="75000"/>
                  </a:prstClr>
                </a:solidFill>
              </a:rPr>
            </a:fld>
            <a:endParaRPr lang="zh-CN" altLang="en-US" dirty="0">
              <a:solidFill>
                <a:prstClr val="black">
                  <a:tint val="75000"/>
                </a:prstClr>
              </a:solidFill>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2" presetClass="entr" presetSubtype="8" fill="hold" nodeType="withEffect">
                                  <p:stCondLst>
                                    <p:cond delay="0"/>
                                  </p:stCondLst>
                                  <p:childTnLst>
                                    <p:set>
                                      <p:cBhvr>
                                        <p:cTn id="11" dur="1" fill="hold">
                                          <p:stCondLst>
                                            <p:cond delay="0"/>
                                          </p:stCondLst>
                                        </p:cTn>
                                        <p:tgtEl>
                                          <p:spTgt spid="133"/>
                                        </p:tgtEl>
                                        <p:attrNameLst>
                                          <p:attrName>style.visibility</p:attrName>
                                        </p:attrNameLst>
                                      </p:cBhvr>
                                      <p:to>
                                        <p:strVal val="visible"/>
                                      </p:to>
                                    </p:set>
                                    <p:anim calcmode="lin" valueType="num">
                                      <p:cBhvr additive="base">
                                        <p:cTn id="12" dur="500" fill="hold"/>
                                        <p:tgtEl>
                                          <p:spTgt spid="133"/>
                                        </p:tgtEl>
                                        <p:attrNameLst>
                                          <p:attrName>ppt_x</p:attrName>
                                        </p:attrNameLst>
                                      </p:cBhvr>
                                      <p:tavLst>
                                        <p:tav tm="0">
                                          <p:val>
                                            <p:strVal val="0-#ppt_w/2"/>
                                          </p:val>
                                        </p:tav>
                                        <p:tav tm="100000">
                                          <p:val>
                                            <p:strVal val="#ppt_x"/>
                                          </p:val>
                                        </p:tav>
                                      </p:tavLst>
                                    </p:anim>
                                    <p:anim calcmode="lin" valueType="num">
                                      <p:cBhvr additive="base">
                                        <p:cTn id="13" dur="500" fill="hold"/>
                                        <p:tgtEl>
                                          <p:spTgt spid="133"/>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 calcmode="lin" valueType="num">
                                      <p:cBhvr additive="base">
                                        <p:cTn id="16" dur="500"/>
                                        <p:tgtEl>
                                          <p:spTgt spid="30"/>
                                        </p:tgtEl>
                                        <p:attrNameLst>
                                          <p:attrName>ppt_x</p:attrName>
                                        </p:attrNameLst>
                                      </p:cBhvr>
                                      <p:tavLst>
                                        <p:tav tm="0">
                                          <p:val>
                                            <p:strVal val="#ppt_x+#ppt_w*1.125000"/>
                                          </p:val>
                                        </p:tav>
                                        <p:tav tm="100000">
                                          <p:val>
                                            <p:strVal val="#ppt_x"/>
                                          </p:val>
                                        </p:tav>
                                      </p:tavLst>
                                    </p:anim>
                                    <p:animEffect transition="in" filter="wipe(left)">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9"/>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animBg="1"/>
      <p:bldP spid="8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7"/>
          <p:cNvGrpSpPr/>
          <p:nvPr/>
        </p:nvGrpSpPr>
        <p:grpSpPr>
          <a:xfrm>
            <a:off x="108557" y="337632"/>
            <a:ext cx="3815742" cy="491607"/>
            <a:chOff x="198764" y="258545"/>
            <a:chExt cx="5086477" cy="656007"/>
          </a:xfrm>
        </p:grpSpPr>
        <p:grpSp>
          <p:nvGrpSpPr>
            <p:cNvPr id="19" name="组合 5"/>
            <p:cNvGrpSpPr/>
            <p:nvPr/>
          </p:nvGrpSpPr>
          <p:grpSpPr>
            <a:xfrm>
              <a:off x="198764" y="258545"/>
              <a:ext cx="700083" cy="563491"/>
              <a:chOff x="5075564" y="2933562"/>
              <a:chExt cx="2860947" cy="2302753"/>
            </a:xfrm>
          </p:grpSpPr>
          <p:sp>
            <p:nvSpPr>
              <p:cNvPr id="21" name="等腰三角形 2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22" name="等腰三角形 2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20" name="文本框 6"/>
            <p:cNvSpPr txBox="1"/>
            <p:nvPr/>
          </p:nvSpPr>
          <p:spPr>
            <a:xfrm>
              <a:off x="988289" y="300221"/>
              <a:ext cx="429695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3.6 </a:t>
              </a:r>
              <a:r>
                <a:rPr lang="zh-CN" altLang="en-US" sz="2400" b="1" dirty="0">
                  <a:solidFill>
                    <a:srgbClr val="000000"/>
                  </a:solidFill>
                  <a:latin typeface="微软雅黑" panose="020B0503020204020204" pitchFamily="34" charset="-122"/>
                  <a:ea typeface="微软雅黑" panose="020B0503020204020204" pitchFamily="34" charset="-122"/>
                </a:rPr>
                <a:t>创建数据字典</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6" name="矩形 66"/>
          <p:cNvSpPr>
            <a:spLocks noChangeArrowheads="1"/>
          </p:cNvSpPr>
          <p:nvPr/>
        </p:nvSpPr>
        <p:spPr bwMode="auto">
          <a:xfrm>
            <a:off x="2584724" y="2629871"/>
            <a:ext cx="8470631" cy="598805"/>
          </a:xfrm>
          <a:prstGeom prst="rect">
            <a:avLst/>
          </a:prstGeom>
          <a:solidFill>
            <a:schemeClr val="accent6">
              <a:lumMod val="20000"/>
              <a:lumOff val="80000"/>
            </a:schemeClr>
          </a:solidFill>
          <a:ln>
            <a:noFill/>
          </a:ln>
        </p:spPr>
        <p:txBody>
          <a:bodyPr wrap="square">
            <a:spAutoFit/>
          </a:bodyPr>
          <a:lstStyle/>
          <a:p>
            <a:pPr indent="0">
              <a:lnSpc>
                <a:spcPct val="150000"/>
              </a:lnSpc>
              <a:buFont typeface="Wingdings" panose="05000000000000000000" pitchFamily="2" charset="2"/>
              <a:buNone/>
            </a:pPr>
            <a:r>
              <a:rPr lang="en-US" altLang="zh-CN" sz="2200" b="1" dirty="0">
                <a:latin typeface="宋体" panose="02010600030101010101" pitchFamily="2" charset="-122"/>
                <a:ea typeface="宋体" panose="02010600030101010101" pitchFamily="2" charset="-122"/>
                <a:cs typeface="宋体" panose="02010600030101010101" pitchFamily="2" charset="-122"/>
              </a:rPr>
              <a:t>1</a:t>
            </a:r>
            <a:r>
              <a:rPr lang="zh-CN" altLang="en-US" sz="2200" b="1" dirty="0">
                <a:latin typeface="宋体" panose="02010600030101010101" pitchFamily="2" charset="-122"/>
                <a:ea typeface="宋体" panose="02010600030101010101" pitchFamily="2" charset="-122"/>
                <a:cs typeface="宋体" panose="02010600030101010101" pitchFamily="2" charset="-122"/>
              </a:rPr>
              <a:t>）数据字典是一个对系统用到的所有数据项和结构定义的共享仓库</a:t>
            </a:r>
            <a:endParaRPr lang="en-US" altLang="zh-CN" sz="2200" b="1" dirty="0">
              <a:latin typeface="宋体" panose="02010600030101010101" pitchFamily="2" charset="-122"/>
              <a:ea typeface="宋体" panose="02010600030101010101" pitchFamily="2" charset="-122"/>
              <a:cs typeface="宋体" panose="02010600030101010101" pitchFamily="2" charset="-122"/>
            </a:endParaRPr>
          </a:p>
        </p:txBody>
      </p:sp>
      <p:grpSp>
        <p:nvGrpSpPr>
          <p:cNvPr id="23" name="组合 22"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355234" y="2815600"/>
            <a:ext cx="1980000" cy="1661851"/>
            <a:chOff x="3532188" y="1614488"/>
            <a:chExt cx="5127626" cy="4303713"/>
          </a:xfrm>
        </p:grpSpPr>
        <p:sp>
          <p:nvSpPr>
            <p:cNvPr id="24" name="ïṥlîḓê"/>
            <p:cNvSpPr/>
            <p:nvPr/>
          </p:nvSpPr>
          <p:spPr bwMode="auto">
            <a:xfrm>
              <a:off x="4257676" y="3792538"/>
              <a:ext cx="4402138" cy="831850"/>
            </a:xfrm>
            <a:custGeom>
              <a:avLst/>
              <a:gdLst>
                <a:gd name="T0" fmla="*/ 328 w 334"/>
                <a:gd name="T1" fmla="*/ 63 h 63"/>
                <a:gd name="T2" fmla="*/ 7 w 334"/>
                <a:gd name="T3" fmla="*/ 63 h 63"/>
                <a:gd name="T4" fmla="*/ 0 w 334"/>
                <a:gd name="T5" fmla="*/ 57 h 63"/>
                <a:gd name="T6" fmla="*/ 0 w 334"/>
                <a:gd name="T7" fmla="*/ 6 h 63"/>
                <a:gd name="T8" fmla="*/ 7 w 334"/>
                <a:gd name="T9" fmla="*/ 0 h 63"/>
                <a:gd name="T10" fmla="*/ 328 w 334"/>
                <a:gd name="T11" fmla="*/ 0 h 63"/>
                <a:gd name="T12" fmla="*/ 334 w 334"/>
                <a:gd name="T13" fmla="*/ 6 h 63"/>
                <a:gd name="T14" fmla="*/ 334 w 334"/>
                <a:gd name="T15" fmla="*/ 57 h 63"/>
                <a:gd name="T16" fmla="*/ 328 w 334"/>
                <a:gd name="T17" fmla="*/ 6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4" h="63">
                  <a:moveTo>
                    <a:pt x="328" y="63"/>
                  </a:moveTo>
                  <a:cubicBezTo>
                    <a:pt x="7" y="63"/>
                    <a:pt x="7" y="63"/>
                    <a:pt x="7" y="63"/>
                  </a:cubicBezTo>
                  <a:cubicBezTo>
                    <a:pt x="3" y="63"/>
                    <a:pt x="0" y="60"/>
                    <a:pt x="0" y="57"/>
                  </a:cubicBezTo>
                  <a:cubicBezTo>
                    <a:pt x="0" y="6"/>
                    <a:pt x="0" y="6"/>
                    <a:pt x="0" y="6"/>
                  </a:cubicBezTo>
                  <a:cubicBezTo>
                    <a:pt x="0" y="3"/>
                    <a:pt x="3" y="0"/>
                    <a:pt x="7" y="0"/>
                  </a:cubicBezTo>
                  <a:cubicBezTo>
                    <a:pt x="328" y="0"/>
                    <a:pt x="328" y="0"/>
                    <a:pt x="328" y="0"/>
                  </a:cubicBezTo>
                  <a:cubicBezTo>
                    <a:pt x="331" y="0"/>
                    <a:pt x="334" y="3"/>
                    <a:pt x="334" y="6"/>
                  </a:cubicBezTo>
                  <a:cubicBezTo>
                    <a:pt x="334" y="57"/>
                    <a:pt x="334" y="57"/>
                    <a:pt x="334" y="57"/>
                  </a:cubicBezTo>
                  <a:cubicBezTo>
                    <a:pt x="334" y="60"/>
                    <a:pt x="331" y="63"/>
                    <a:pt x="328" y="63"/>
                  </a:cubicBezTo>
                  <a:close/>
                </a:path>
              </a:pathLst>
            </a:custGeom>
            <a:solidFill>
              <a:srgbClr val="75462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30" name="îṥľidé"/>
            <p:cNvSpPr/>
            <p:nvPr/>
          </p:nvSpPr>
          <p:spPr bwMode="auto">
            <a:xfrm>
              <a:off x="7196138" y="3792538"/>
              <a:ext cx="896938" cy="8318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b="1"/>
            </a:p>
          </p:txBody>
        </p:sp>
        <p:sp>
          <p:nvSpPr>
            <p:cNvPr id="31" name="isliḍè"/>
            <p:cNvSpPr/>
            <p:nvPr/>
          </p:nvSpPr>
          <p:spPr bwMode="auto">
            <a:xfrm>
              <a:off x="6892926" y="3792538"/>
              <a:ext cx="131763" cy="8318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b="1"/>
            </a:p>
          </p:txBody>
        </p:sp>
        <p:sp>
          <p:nvSpPr>
            <p:cNvPr id="32" name="îsḻíḓè"/>
            <p:cNvSpPr/>
            <p:nvPr/>
          </p:nvSpPr>
          <p:spPr bwMode="auto">
            <a:xfrm>
              <a:off x="7526338" y="3859213"/>
              <a:ext cx="236538" cy="712788"/>
            </a:xfrm>
            <a:prstGeom prst="rect">
              <a:avLst/>
            </a:prstGeom>
            <a:solidFill>
              <a:srgbClr val="9DBF5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b="1"/>
            </a:p>
          </p:txBody>
        </p:sp>
        <p:sp>
          <p:nvSpPr>
            <p:cNvPr id="33" name="ïṩlíḓe"/>
            <p:cNvSpPr/>
            <p:nvPr/>
          </p:nvSpPr>
          <p:spPr bwMode="auto">
            <a:xfrm>
              <a:off x="7367588" y="4016376"/>
              <a:ext cx="554038" cy="396875"/>
            </a:xfrm>
            <a:prstGeom prst="ellipse">
              <a:avLst/>
            </a:prstGeom>
            <a:solidFill>
              <a:srgbClr val="FF454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34" name="iṩlîḓê"/>
            <p:cNvSpPr/>
            <p:nvPr/>
          </p:nvSpPr>
          <p:spPr bwMode="auto">
            <a:xfrm>
              <a:off x="3994151" y="2274888"/>
              <a:ext cx="3070225" cy="817563"/>
            </a:xfrm>
            <a:custGeom>
              <a:avLst/>
              <a:gdLst>
                <a:gd name="T0" fmla="*/ 4 w 233"/>
                <a:gd name="T1" fmla="*/ 0 h 62"/>
                <a:gd name="T2" fmla="*/ 229 w 233"/>
                <a:gd name="T3" fmla="*/ 0 h 62"/>
                <a:gd name="T4" fmla="*/ 233 w 233"/>
                <a:gd name="T5" fmla="*/ 6 h 62"/>
                <a:gd name="T6" fmla="*/ 233 w 233"/>
                <a:gd name="T7" fmla="*/ 56 h 62"/>
                <a:gd name="T8" fmla="*/ 229 w 233"/>
                <a:gd name="T9" fmla="*/ 62 h 62"/>
                <a:gd name="T10" fmla="*/ 4 w 233"/>
                <a:gd name="T11" fmla="*/ 62 h 62"/>
                <a:gd name="T12" fmla="*/ 0 w 233"/>
                <a:gd name="T13" fmla="*/ 56 h 62"/>
                <a:gd name="T14" fmla="*/ 0 w 233"/>
                <a:gd name="T15" fmla="*/ 6 h 62"/>
                <a:gd name="T16" fmla="*/ 4 w 233"/>
                <a:gd name="T17"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3" h="62">
                  <a:moveTo>
                    <a:pt x="4" y="0"/>
                  </a:moveTo>
                  <a:cubicBezTo>
                    <a:pt x="229" y="0"/>
                    <a:pt x="229" y="0"/>
                    <a:pt x="229" y="0"/>
                  </a:cubicBezTo>
                  <a:cubicBezTo>
                    <a:pt x="231" y="0"/>
                    <a:pt x="233" y="3"/>
                    <a:pt x="233" y="6"/>
                  </a:cubicBezTo>
                  <a:cubicBezTo>
                    <a:pt x="233" y="56"/>
                    <a:pt x="233" y="56"/>
                    <a:pt x="233" y="56"/>
                  </a:cubicBezTo>
                  <a:cubicBezTo>
                    <a:pt x="233" y="59"/>
                    <a:pt x="231" y="62"/>
                    <a:pt x="229" y="62"/>
                  </a:cubicBezTo>
                  <a:cubicBezTo>
                    <a:pt x="4" y="62"/>
                    <a:pt x="4" y="62"/>
                    <a:pt x="4" y="62"/>
                  </a:cubicBezTo>
                  <a:cubicBezTo>
                    <a:pt x="2" y="62"/>
                    <a:pt x="0" y="59"/>
                    <a:pt x="0" y="56"/>
                  </a:cubicBezTo>
                  <a:cubicBezTo>
                    <a:pt x="0" y="6"/>
                    <a:pt x="0" y="6"/>
                    <a:pt x="0" y="6"/>
                  </a:cubicBezTo>
                  <a:cubicBezTo>
                    <a:pt x="0" y="3"/>
                    <a:pt x="2" y="0"/>
                    <a:pt x="4" y="0"/>
                  </a:cubicBezTo>
                  <a:close/>
                </a:path>
              </a:pathLst>
            </a:custGeom>
            <a:solidFill>
              <a:srgbClr val="FFB34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35" name="íŝļiḓe"/>
            <p:cNvSpPr/>
            <p:nvPr/>
          </p:nvSpPr>
          <p:spPr bwMode="auto">
            <a:xfrm>
              <a:off x="4481513" y="2274888"/>
              <a:ext cx="790575" cy="817563"/>
            </a:xfrm>
            <a:prstGeom prst="rect">
              <a:avLst/>
            </a:prstGeom>
            <a:solidFill>
              <a:srgbClr val="13878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b="1"/>
            </a:p>
          </p:txBody>
        </p:sp>
        <p:sp>
          <p:nvSpPr>
            <p:cNvPr id="36" name="ïṩḷíďê"/>
            <p:cNvSpPr/>
            <p:nvPr/>
          </p:nvSpPr>
          <p:spPr bwMode="auto">
            <a:xfrm>
              <a:off x="4533901" y="2327276"/>
              <a:ext cx="92075" cy="712788"/>
            </a:xfrm>
            <a:prstGeom prst="rect">
              <a:avLst/>
            </a:prstGeom>
            <a:solidFill>
              <a:srgbClr val="9DBF5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b="1"/>
            </a:p>
          </p:txBody>
        </p:sp>
        <p:sp>
          <p:nvSpPr>
            <p:cNvPr id="37" name="ïśľîdé"/>
            <p:cNvSpPr/>
            <p:nvPr/>
          </p:nvSpPr>
          <p:spPr bwMode="auto">
            <a:xfrm>
              <a:off x="4692651" y="2327276"/>
              <a:ext cx="92075" cy="712788"/>
            </a:xfrm>
            <a:prstGeom prst="rect">
              <a:avLst/>
            </a:prstGeom>
            <a:solidFill>
              <a:srgbClr val="9DBF5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b="1"/>
            </a:p>
          </p:txBody>
        </p:sp>
        <p:sp>
          <p:nvSpPr>
            <p:cNvPr id="38" name="ïṥḷïḓè"/>
            <p:cNvSpPr/>
            <p:nvPr/>
          </p:nvSpPr>
          <p:spPr bwMode="auto">
            <a:xfrm>
              <a:off x="5008563" y="2551113"/>
              <a:ext cx="158750" cy="2778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b="1"/>
            </a:p>
          </p:txBody>
        </p:sp>
        <p:sp>
          <p:nvSpPr>
            <p:cNvPr id="39" name="îśḷíďé"/>
            <p:cNvSpPr/>
            <p:nvPr/>
          </p:nvSpPr>
          <p:spPr bwMode="auto">
            <a:xfrm>
              <a:off x="4125913" y="4689476"/>
              <a:ext cx="4216400" cy="1030288"/>
            </a:xfrm>
            <a:custGeom>
              <a:avLst/>
              <a:gdLst>
                <a:gd name="T0" fmla="*/ 312 w 320"/>
                <a:gd name="T1" fmla="*/ 78 h 78"/>
                <a:gd name="T2" fmla="*/ 0 w 320"/>
                <a:gd name="T3" fmla="*/ 78 h 78"/>
                <a:gd name="T4" fmla="*/ 0 w 320"/>
                <a:gd name="T5" fmla="*/ 0 h 78"/>
                <a:gd name="T6" fmla="*/ 312 w 320"/>
                <a:gd name="T7" fmla="*/ 0 h 78"/>
                <a:gd name="T8" fmla="*/ 312 w 320"/>
                <a:gd name="T9" fmla="*/ 78 h 78"/>
              </a:gdLst>
              <a:ahLst/>
              <a:cxnLst>
                <a:cxn ang="0">
                  <a:pos x="T0" y="T1"/>
                </a:cxn>
                <a:cxn ang="0">
                  <a:pos x="T2" y="T3"/>
                </a:cxn>
                <a:cxn ang="0">
                  <a:pos x="T4" y="T5"/>
                </a:cxn>
                <a:cxn ang="0">
                  <a:pos x="T6" y="T7"/>
                </a:cxn>
                <a:cxn ang="0">
                  <a:pos x="T8" y="T9"/>
                </a:cxn>
              </a:cxnLst>
              <a:rect l="0" t="0" r="r" b="b"/>
              <a:pathLst>
                <a:path w="320" h="78">
                  <a:moveTo>
                    <a:pt x="312" y="78"/>
                  </a:moveTo>
                  <a:cubicBezTo>
                    <a:pt x="208" y="78"/>
                    <a:pt x="104" y="78"/>
                    <a:pt x="0" y="78"/>
                  </a:cubicBezTo>
                  <a:cubicBezTo>
                    <a:pt x="13" y="53"/>
                    <a:pt x="13" y="24"/>
                    <a:pt x="0" y="0"/>
                  </a:cubicBezTo>
                  <a:cubicBezTo>
                    <a:pt x="104" y="0"/>
                    <a:pt x="208" y="0"/>
                    <a:pt x="312" y="0"/>
                  </a:cubicBezTo>
                  <a:cubicBezTo>
                    <a:pt x="320" y="21"/>
                    <a:pt x="319" y="56"/>
                    <a:pt x="312" y="7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40" name="íṩľîḓé"/>
            <p:cNvSpPr/>
            <p:nvPr/>
          </p:nvSpPr>
          <p:spPr bwMode="auto">
            <a:xfrm>
              <a:off x="4362451" y="4848226"/>
              <a:ext cx="3783013" cy="53975"/>
            </a:xfrm>
            <a:prstGeom prst="ellipse">
              <a:avLst/>
            </a:prstGeom>
            <a:solidFill>
              <a:srgbClr val="DDDC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41" name="ïṥľïḍè"/>
            <p:cNvSpPr/>
            <p:nvPr/>
          </p:nvSpPr>
          <p:spPr bwMode="auto">
            <a:xfrm>
              <a:off x="4362451" y="5059363"/>
              <a:ext cx="3783013" cy="53975"/>
            </a:xfrm>
            <a:prstGeom prst="ellipse">
              <a:avLst/>
            </a:prstGeom>
            <a:solidFill>
              <a:srgbClr val="DDDC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42" name="îṣļiḑé"/>
            <p:cNvSpPr/>
            <p:nvPr/>
          </p:nvSpPr>
          <p:spPr bwMode="auto">
            <a:xfrm>
              <a:off x="4362451" y="5257801"/>
              <a:ext cx="3783013" cy="66675"/>
            </a:xfrm>
            <a:prstGeom prst="ellipse">
              <a:avLst/>
            </a:prstGeom>
            <a:solidFill>
              <a:srgbClr val="DDDC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43" name="îṥľîḑe"/>
            <p:cNvSpPr/>
            <p:nvPr/>
          </p:nvSpPr>
          <p:spPr bwMode="auto">
            <a:xfrm>
              <a:off x="4362451" y="5468938"/>
              <a:ext cx="3783013" cy="66675"/>
            </a:xfrm>
            <a:prstGeom prst="ellipse">
              <a:avLst/>
            </a:prstGeom>
            <a:solidFill>
              <a:srgbClr val="DDDC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44" name="ïṡḻíḍé"/>
            <p:cNvSpPr/>
            <p:nvPr/>
          </p:nvSpPr>
          <p:spPr bwMode="auto">
            <a:xfrm>
              <a:off x="4073526" y="4624388"/>
              <a:ext cx="4348163" cy="1147763"/>
            </a:xfrm>
            <a:custGeom>
              <a:avLst/>
              <a:gdLst>
                <a:gd name="T0" fmla="*/ 316 w 330"/>
                <a:gd name="T1" fmla="*/ 87 h 87"/>
                <a:gd name="T2" fmla="*/ 4 w 330"/>
                <a:gd name="T3" fmla="*/ 87 h 87"/>
                <a:gd name="T4" fmla="*/ 0 w 330"/>
                <a:gd name="T5" fmla="*/ 83 h 87"/>
                <a:gd name="T6" fmla="*/ 4 w 330"/>
                <a:gd name="T7" fmla="*/ 78 h 87"/>
                <a:gd name="T8" fmla="*/ 313 w 330"/>
                <a:gd name="T9" fmla="*/ 78 h 87"/>
                <a:gd name="T10" fmla="*/ 313 w 330"/>
                <a:gd name="T11" fmla="*/ 9 h 87"/>
                <a:gd name="T12" fmla="*/ 4 w 330"/>
                <a:gd name="T13" fmla="*/ 9 h 87"/>
                <a:gd name="T14" fmla="*/ 0 w 330"/>
                <a:gd name="T15" fmla="*/ 5 h 87"/>
                <a:gd name="T16" fmla="*/ 4 w 330"/>
                <a:gd name="T17" fmla="*/ 0 h 87"/>
                <a:gd name="T18" fmla="*/ 316 w 330"/>
                <a:gd name="T19" fmla="*/ 0 h 87"/>
                <a:gd name="T20" fmla="*/ 321 w 330"/>
                <a:gd name="T21" fmla="*/ 3 h 87"/>
                <a:gd name="T22" fmla="*/ 321 w 330"/>
                <a:gd name="T23" fmla="*/ 84 h 87"/>
                <a:gd name="T24" fmla="*/ 316 w 330"/>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87">
                  <a:moveTo>
                    <a:pt x="316" y="87"/>
                  </a:moveTo>
                  <a:cubicBezTo>
                    <a:pt x="4" y="87"/>
                    <a:pt x="4" y="87"/>
                    <a:pt x="4" y="87"/>
                  </a:cubicBezTo>
                  <a:cubicBezTo>
                    <a:pt x="2" y="87"/>
                    <a:pt x="0" y="85"/>
                    <a:pt x="0" y="83"/>
                  </a:cubicBezTo>
                  <a:cubicBezTo>
                    <a:pt x="0" y="80"/>
                    <a:pt x="2" y="78"/>
                    <a:pt x="4" y="78"/>
                  </a:cubicBezTo>
                  <a:cubicBezTo>
                    <a:pt x="313" y="78"/>
                    <a:pt x="313" y="78"/>
                    <a:pt x="313" y="78"/>
                  </a:cubicBezTo>
                  <a:cubicBezTo>
                    <a:pt x="318" y="59"/>
                    <a:pt x="320" y="29"/>
                    <a:pt x="313" y="9"/>
                  </a:cubicBezTo>
                  <a:cubicBezTo>
                    <a:pt x="4" y="9"/>
                    <a:pt x="4" y="9"/>
                    <a:pt x="4" y="9"/>
                  </a:cubicBezTo>
                  <a:cubicBezTo>
                    <a:pt x="2" y="9"/>
                    <a:pt x="0" y="7"/>
                    <a:pt x="0" y="5"/>
                  </a:cubicBezTo>
                  <a:cubicBezTo>
                    <a:pt x="0" y="2"/>
                    <a:pt x="2" y="0"/>
                    <a:pt x="4" y="0"/>
                  </a:cubicBezTo>
                  <a:cubicBezTo>
                    <a:pt x="316" y="0"/>
                    <a:pt x="316" y="0"/>
                    <a:pt x="316" y="0"/>
                  </a:cubicBezTo>
                  <a:cubicBezTo>
                    <a:pt x="318" y="0"/>
                    <a:pt x="320" y="1"/>
                    <a:pt x="321" y="3"/>
                  </a:cubicBezTo>
                  <a:cubicBezTo>
                    <a:pt x="330" y="26"/>
                    <a:pt x="328" y="63"/>
                    <a:pt x="321" y="84"/>
                  </a:cubicBezTo>
                  <a:cubicBezTo>
                    <a:pt x="320" y="86"/>
                    <a:pt x="318" y="87"/>
                    <a:pt x="316" y="87"/>
                  </a:cubicBezTo>
                  <a:close/>
                </a:path>
              </a:pathLst>
            </a:custGeom>
            <a:solidFill>
              <a:srgbClr val="9DBF5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45" name="íṥļiďè"/>
            <p:cNvSpPr/>
            <p:nvPr/>
          </p:nvSpPr>
          <p:spPr bwMode="auto">
            <a:xfrm>
              <a:off x="6840538" y="5059363"/>
              <a:ext cx="223838" cy="476250"/>
            </a:xfrm>
            <a:prstGeom prst="rect">
              <a:avLst/>
            </a:prstGeom>
            <a:solidFill>
              <a:srgbClr val="FF454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b="1"/>
            </a:p>
          </p:txBody>
        </p:sp>
        <p:sp>
          <p:nvSpPr>
            <p:cNvPr id="46" name="î$ľîďè"/>
            <p:cNvSpPr/>
            <p:nvPr/>
          </p:nvSpPr>
          <p:spPr bwMode="auto">
            <a:xfrm>
              <a:off x="6681788" y="5376863"/>
              <a:ext cx="554038" cy="541338"/>
            </a:xfrm>
            <a:custGeom>
              <a:avLst/>
              <a:gdLst>
                <a:gd name="T0" fmla="*/ 42 w 42"/>
                <a:gd name="T1" fmla="*/ 36 h 41"/>
                <a:gd name="T2" fmla="*/ 36 w 42"/>
                <a:gd name="T3" fmla="*/ 41 h 41"/>
                <a:gd name="T4" fmla="*/ 5 w 42"/>
                <a:gd name="T5" fmla="*/ 41 h 41"/>
                <a:gd name="T6" fmla="*/ 0 w 42"/>
                <a:gd name="T7" fmla="*/ 36 h 41"/>
                <a:gd name="T8" fmla="*/ 0 w 42"/>
                <a:gd name="T9" fmla="*/ 5 h 41"/>
                <a:gd name="T10" fmla="*/ 5 w 42"/>
                <a:gd name="T11" fmla="*/ 0 h 41"/>
                <a:gd name="T12" fmla="*/ 36 w 42"/>
                <a:gd name="T13" fmla="*/ 0 h 41"/>
                <a:gd name="T14" fmla="*/ 42 w 42"/>
                <a:gd name="T15" fmla="*/ 5 h 41"/>
                <a:gd name="T16" fmla="*/ 42 w 42"/>
                <a:gd name="T17" fmla="*/ 3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41">
                  <a:moveTo>
                    <a:pt x="42" y="36"/>
                  </a:moveTo>
                  <a:cubicBezTo>
                    <a:pt x="42" y="39"/>
                    <a:pt x="39" y="41"/>
                    <a:pt x="36" y="41"/>
                  </a:cubicBezTo>
                  <a:cubicBezTo>
                    <a:pt x="5" y="41"/>
                    <a:pt x="5" y="41"/>
                    <a:pt x="5" y="41"/>
                  </a:cubicBezTo>
                  <a:cubicBezTo>
                    <a:pt x="2" y="41"/>
                    <a:pt x="0" y="39"/>
                    <a:pt x="0" y="36"/>
                  </a:cubicBezTo>
                  <a:cubicBezTo>
                    <a:pt x="0" y="5"/>
                    <a:pt x="0" y="5"/>
                    <a:pt x="0" y="5"/>
                  </a:cubicBezTo>
                  <a:cubicBezTo>
                    <a:pt x="0" y="2"/>
                    <a:pt x="2" y="0"/>
                    <a:pt x="5" y="0"/>
                  </a:cubicBezTo>
                  <a:cubicBezTo>
                    <a:pt x="36" y="0"/>
                    <a:pt x="36" y="0"/>
                    <a:pt x="36" y="0"/>
                  </a:cubicBezTo>
                  <a:cubicBezTo>
                    <a:pt x="39" y="0"/>
                    <a:pt x="42" y="2"/>
                    <a:pt x="42" y="5"/>
                  </a:cubicBezTo>
                  <a:lnTo>
                    <a:pt x="42" y="36"/>
                  </a:lnTo>
                  <a:close/>
                </a:path>
              </a:pathLst>
            </a:custGeom>
            <a:solidFill>
              <a:srgbClr val="1387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47" name="íSlíḍe"/>
            <p:cNvSpPr/>
            <p:nvPr/>
          </p:nvSpPr>
          <p:spPr bwMode="auto">
            <a:xfrm>
              <a:off x="6708776" y="5441951"/>
              <a:ext cx="487363" cy="449263"/>
            </a:xfrm>
            <a:custGeom>
              <a:avLst/>
              <a:gdLst>
                <a:gd name="T0" fmla="*/ 35 w 37"/>
                <a:gd name="T1" fmla="*/ 10 h 34"/>
                <a:gd name="T2" fmla="*/ 23 w 37"/>
                <a:gd name="T3" fmla="*/ 11 h 34"/>
                <a:gd name="T4" fmla="*/ 19 w 37"/>
                <a:gd name="T5" fmla="*/ 0 h 34"/>
                <a:gd name="T6" fmla="*/ 15 w 37"/>
                <a:gd name="T7" fmla="*/ 11 h 34"/>
                <a:gd name="T8" fmla="*/ 3 w 37"/>
                <a:gd name="T9" fmla="*/ 10 h 34"/>
                <a:gd name="T10" fmla="*/ 13 w 37"/>
                <a:gd name="T11" fmla="*/ 18 h 34"/>
                <a:gd name="T12" fmla="*/ 7 w 37"/>
                <a:gd name="T13" fmla="*/ 29 h 34"/>
                <a:gd name="T14" fmla="*/ 19 w 37"/>
                <a:gd name="T15" fmla="*/ 21 h 34"/>
                <a:gd name="T16" fmla="*/ 31 w 37"/>
                <a:gd name="T17" fmla="*/ 29 h 34"/>
                <a:gd name="T18" fmla="*/ 25 w 37"/>
                <a:gd name="T19" fmla="*/ 18 h 34"/>
                <a:gd name="T20" fmla="*/ 35 w 37"/>
                <a:gd name="T21" fmla="*/ 1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34">
                  <a:moveTo>
                    <a:pt x="35" y="10"/>
                  </a:moveTo>
                  <a:cubicBezTo>
                    <a:pt x="32" y="4"/>
                    <a:pt x="27" y="7"/>
                    <a:pt x="23" y="11"/>
                  </a:cubicBezTo>
                  <a:cubicBezTo>
                    <a:pt x="24" y="6"/>
                    <a:pt x="25" y="0"/>
                    <a:pt x="19" y="0"/>
                  </a:cubicBezTo>
                  <a:cubicBezTo>
                    <a:pt x="12" y="0"/>
                    <a:pt x="13" y="6"/>
                    <a:pt x="15" y="11"/>
                  </a:cubicBezTo>
                  <a:cubicBezTo>
                    <a:pt x="11" y="7"/>
                    <a:pt x="5" y="4"/>
                    <a:pt x="3" y="10"/>
                  </a:cubicBezTo>
                  <a:cubicBezTo>
                    <a:pt x="0" y="16"/>
                    <a:pt x="7" y="18"/>
                    <a:pt x="13" y="18"/>
                  </a:cubicBezTo>
                  <a:cubicBezTo>
                    <a:pt x="7" y="20"/>
                    <a:pt x="2" y="24"/>
                    <a:pt x="7" y="29"/>
                  </a:cubicBezTo>
                  <a:cubicBezTo>
                    <a:pt x="12" y="34"/>
                    <a:pt x="16" y="27"/>
                    <a:pt x="19" y="21"/>
                  </a:cubicBezTo>
                  <a:cubicBezTo>
                    <a:pt x="21" y="27"/>
                    <a:pt x="26" y="34"/>
                    <a:pt x="31" y="29"/>
                  </a:cubicBezTo>
                  <a:cubicBezTo>
                    <a:pt x="35" y="24"/>
                    <a:pt x="30" y="20"/>
                    <a:pt x="25" y="18"/>
                  </a:cubicBezTo>
                  <a:cubicBezTo>
                    <a:pt x="31" y="18"/>
                    <a:pt x="37" y="16"/>
                    <a:pt x="35" y="1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48" name="ïṩļiḑè"/>
            <p:cNvSpPr/>
            <p:nvPr/>
          </p:nvSpPr>
          <p:spPr bwMode="auto">
            <a:xfrm>
              <a:off x="6892926" y="5588001"/>
              <a:ext cx="131763" cy="131763"/>
            </a:xfrm>
            <a:prstGeom prst="ellipse">
              <a:avLst/>
            </a:prstGeom>
            <a:solidFill>
              <a:srgbClr val="FFB34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49" name="iṧḻiḑè"/>
            <p:cNvSpPr/>
            <p:nvPr/>
          </p:nvSpPr>
          <p:spPr bwMode="auto">
            <a:xfrm>
              <a:off x="3730626" y="3132138"/>
              <a:ext cx="4625975" cy="620713"/>
            </a:xfrm>
            <a:custGeom>
              <a:avLst/>
              <a:gdLst>
                <a:gd name="T0" fmla="*/ 9 w 351"/>
                <a:gd name="T1" fmla="*/ 0 h 47"/>
                <a:gd name="T2" fmla="*/ 351 w 351"/>
                <a:gd name="T3" fmla="*/ 0 h 47"/>
                <a:gd name="T4" fmla="*/ 351 w 351"/>
                <a:gd name="T5" fmla="*/ 47 h 47"/>
                <a:gd name="T6" fmla="*/ 9 w 351"/>
                <a:gd name="T7" fmla="*/ 47 h 47"/>
                <a:gd name="T8" fmla="*/ 9 w 351"/>
                <a:gd name="T9" fmla="*/ 0 h 47"/>
              </a:gdLst>
              <a:ahLst/>
              <a:cxnLst>
                <a:cxn ang="0">
                  <a:pos x="T0" y="T1"/>
                </a:cxn>
                <a:cxn ang="0">
                  <a:pos x="T2" y="T3"/>
                </a:cxn>
                <a:cxn ang="0">
                  <a:pos x="T4" y="T5"/>
                </a:cxn>
                <a:cxn ang="0">
                  <a:pos x="T6" y="T7"/>
                </a:cxn>
                <a:cxn ang="0">
                  <a:pos x="T8" y="T9"/>
                </a:cxn>
              </a:cxnLst>
              <a:rect l="0" t="0" r="r" b="b"/>
              <a:pathLst>
                <a:path w="351" h="47">
                  <a:moveTo>
                    <a:pt x="9" y="0"/>
                  </a:moveTo>
                  <a:cubicBezTo>
                    <a:pt x="123" y="0"/>
                    <a:pt x="237" y="0"/>
                    <a:pt x="351" y="0"/>
                  </a:cubicBezTo>
                  <a:cubicBezTo>
                    <a:pt x="336" y="15"/>
                    <a:pt x="336" y="32"/>
                    <a:pt x="351" y="47"/>
                  </a:cubicBezTo>
                  <a:cubicBezTo>
                    <a:pt x="237" y="47"/>
                    <a:pt x="123" y="47"/>
                    <a:pt x="9" y="47"/>
                  </a:cubicBezTo>
                  <a:cubicBezTo>
                    <a:pt x="0" y="34"/>
                    <a:pt x="1" y="13"/>
                    <a:pt x="9"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50" name="îṣ1ïḑê"/>
            <p:cNvSpPr/>
            <p:nvPr/>
          </p:nvSpPr>
          <p:spPr bwMode="auto">
            <a:xfrm>
              <a:off x="3663951" y="3092451"/>
              <a:ext cx="4745038" cy="700088"/>
            </a:xfrm>
            <a:custGeom>
              <a:avLst/>
              <a:gdLst>
                <a:gd name="T0" fmla="*/ 356 w 360"/>
                <a:gd name="T1" fmla="*/ 53 h 53"/>
                <a:gd name="T2" fmla="*/ 14 w 360"/>
                <a:gd name="T3" fmla="*/ 53 h 53"/>
                <a:gd name="T4" fmla="*/ 11 w 360"/>
                <a:gd name="T5" fmla="*/ 52 h 53"/>
                <a:gd name="T6" fmla="*/ 11 w 360"/>
                <a:gd name="T7" fmla="*/ 2 h 53"/>
                <a:gd name="T8" fmla="*/ 14 w 360"/>
                <a:gd name="T9" fmla="*/ 0 h 53"/>
                <a:gd name="T10" fmla="*/ 356 w 360"/>
                <a:gd name="T11" fmla="*/ 0 h 53"/>
                <a:gd name="T12" fmla="*/ 360 w 360"/>
                <a:gd name="T13" fmla="*/ 3 h 53"/>
                <a:gd name="T14" fmla="*/ 356 w 360"/>
                <a:gd name="T15" fmla="*/ 7 h 53"/>
                <a:gd name="T16" fmla="*/ 16 w 360"/>
                <a:gd name="T17" fmla="*/ 7 h 53"/>
                <a:gd name="T18" fmla="*/ 16 w 360"/>
                <a:gd name="T19" fmla="*/ 46 h 53"/>
                <a:gd name="T20" fmla="*/ 356 w 360"/>
                <a:gd name="T21" fmla="*/ 46 h 53"/>
                <a:gd name="T22" fmla="*/ 360 w 360"/>
                <a:gd name="T23" fmla="*/ 50 h 53"/>
                <a:gd name="T24" fmla="*/ 356 w 360"/>
                <a:gd name="T2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0" h="53">
                  <a:moveTo>
                    <a:pt x="356" y="53"/>
                  </a:moveTo>
                  <a:cubicBezTo>
                    <a:pt x="14" y="53"/>
                    <a:pt x="14" y="53"/>
                    <a:pt x="14" y="53"/>
                  </a:cubicBezTo>
                  <a:cubicBezTo>
                    <a:pt x="12" y="53"/>
                    <a:pt x="11" y="53"/>
                    <a:pt x="11" y="52"/>
                  </a:cubicBezTo>
                  <a:cubicBezTo>
                    <a:pt x="0" y="37"/>
                    <a:pt x="3" y="14"/>
                    <a:pt x="11" y="2"/>
                  </a:cubicBezTo>
                  <a:cubicBezTo>
                    <a:pt x="11" y="1"/>
                    <a:pt x="12" y="0"/>
                    <a:pt x="14" y="0"/>
                  </a:cubicBezTo>
                  <a:cubicBezTo>
                    <a:pt x="356" y="0"/>
                    <a:pt x="356" y="0"/>
                    <a:pt x="356" y="0"/>
                  </a:cubicBezTo>
                  <a:cubicBezTo>
                    <a:pt x="358" y="0"/>
                    <a:pt x="360" y="1"/>
                    <a:pt x="360" y="3"/>
                  </a:cubicBezTo>
                  <a:cubicBezTo>
                    <a:pt x="360" y="5"/>
                    <a:pt x="358" y="7"/>
                    <a:pt x="356" y="7"/>
                  </a:cubicBezTo>
                  <a:cubicBezTo>
                    <a:pt x="16" y="7"/>
                    <a:pt x="16" y="7"/>
                    <a:pt x="16" y="7"/>
                  </a:cubicBezTo>
                  <a:cubicBezTo>
                    <a:pt x="10" y="18"/>
                    <a:pt x="9" y="35"/>
                    <a:pt x="16" y="46"/>
                  </a:cubicBezTo>
                  <a:cubicBezTo>
                    <a:pt x="356" y="46"/>
                    <a:pt x="356" y="46"/>
                    <a:pt x="356" y="46"/>
                  </a:cubicBezTo>
                  <a:cubicBezTo>
                    <a:pt x="358" y="46"/>
                    <a:pt x="360" y="48"/>
                    <a:pt x="360" y="50"/>
                  </a:cubicBezTo>
                  <a:cubicBezTo>
                    <a:pt x="360" y="52"/>
                    <a:pt x="358" y="53"/>
                    <a:pt x="356" y="53"/>
                  </a:cubicBezTo>
                  <a:close/>
                </a:path>
              </a:pathLst>
            </a:custGeom>
            <a:solidFill>
              <a:srgbClr val="1387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51" name="ïṡḷiḑè"/>
            <p:cNvSpPr/>
            <p:nvPr/>
          </p:nvSpPr>
          <p:spPr bwMode="auto">
            <a:xfrm>
              <a:off x="3954463" y="3621088"/>
              <a:ext cx="4151313" cy="26988"/>
            </a:xfrm>
            <a:prstGeom prst="ellipse">
              <a:avLst/>
            </a:prstGeom>
            <a:solidFill>
              <a:srgbClr val="DDDC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52" name="iSļïḋé"/>
            <p:cNvSpPr/>
            <p:nvPr/>
          </p:nvSpPr>
          <p:spPr bwMode="auto">
            <a:xfrm>
              <a:off x="3954463" y="3489326"/>
              <a:ext cx="4151313" cy="39688"/>
            </a:xfrm>
            <a:prstGeom prst="ellipse">
              <a:avLst/>
            </a:prstGeom>
            <a:solidFill>
              <a:srgbClr val="DDDC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53" name="iṩḻïḍê"/>
            <p:cNvSpPr/>
            <p:nvPr/>
          </p:nvSpPr>
          <p:spPr bwMode="auto">
            <a:xfrm>
              <a:off x="3954463" y="3370263"/>
              <a:ext cx="4151313" cy="39688"/>
            </a:xfrm>
            <a:prstGeom prst="ellipse">
              <a:avLst/>
            </a:prstGeom>
            <a:solidFill>
              <a:srgbClr val="DDDC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54" name="ïSḻiďe"/>
            <p:cNvSpPr/>
            <p:nvPr/>
          </p:nvSpPr>
          <p:spPr bwMode="auto">
            <a:xfrm>
              <a:off x="3954463" y="3251201"/>
              <a:ext cx="4151313" cy="26988"/>
            </a:xfrm>
            <a:prstGeom prst="ellipse">
              <a:avLst/>
            </a:prstGeom>
            <a:solidFill>
              <a:srgbClr val="DDDC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55" name="îṡḷiďe"/>
            <p:cNvSpPr/>
            <p:nvPr/>
          </p:nvSpPr>
          <p:spPr bwMode="auto">
            <a:xfrm>
              <a:off x="4652963" y="3382963"/>
              <a:ext cx="158750" cy="344488"/>
            </a:xfrm>
            <a:prstGeom prst="rect">
              <a:avLst/>
            </a:prstGeom>
            <a:solidFill>
              <a:srgbClr val="FF454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b="1"/>
            </a:p>
          </p:txBody>
        </p:sp>
        <p:sp>
          <p:nvSpPr>
            <p:cNvPr id="56" name="íṩļíḓe"/>
            <p:cNvSpPr/>
            <p:nvPr/>
          </p:nvSpPr>
          <p:spPr bwMode="auto">
            <a:xfrm>
              <a:off x="4533901" y="3608388"/>
              <a:ext cx="395288" cy="395288"/>
            </a:xfrm>
            <a:custGeom>
              <a:avLst/>
              <a:gdLst>
                <a:gd name="T0" fmla="*/ 30 w 30"/>
                <a:gd name="T1" fmla="*/ 26 h 30"/>
                <a:gd name="T2" fmla="*/ 26 w 30"/>
                <a:gd name="T3" fmla="*/ 30 h 30"/>
                <a:gd name="T4" fmla="*/ 4 w 30"/>
                <a:gd name="T5" fmla="*/ 30 h 30"/>
                <a:gd name="T6" fmla="*/ 0 w 30"/>
                <a:gd name="T7" fmla="*/ 26 h 30"/>
                <a:gd name="T8" fmla="*/ 0 w 30"/>
                <a:gd name="T9" fmla="*/ 4 h 30"/>
                <a:gd name="T10" fmla="*/ 4 w 30"/>
                <a:gd name="T11" fmla="*/ 0 h 30"/>
                <a:gd name="T12" fmla="*/ 26 w 30"/>
                <a:gd name="T13" fmla="*/ 0 h 30"/>
                <a:gd name="T14" fmla="*/ 30 w 30"/>
                <a:gd name="T15" fmla="*/ 4 h 30"/>
                <a:gd name="T16" fmla="*/ 30 w 30"/>
                <a:gd name="T17" fmla="*/ 2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30">
                  <a:moveTo>
                    <a:pt x="30" y="26"/>
                  </a:moveTo>
                  <a:cubicBezTo>
                    <a:pt x="30" y="28"/>
                    <a:pt x="28" y="30"/>
                    <a:pt x="26" y="30"/>
                  </a:cubicBezTo>
                  <a:cubicBezTo>
                    <a:pt x="4" y="30"/>
                    <a:pt x="4" y="30"/>
                    <a:pt x="4" y="30"/>
                  </a:cubicBezTo>
                  <a:cubicBezTo>
                    <a:pt x="2" y="30"/>
                    <a:pt x="0" y="28"/>
                    <a:pt x="0" y="26"/>
                  </a:cubicBezTo>
                  <a:cubicBezTo>
                    <a:pt x="0" y="4"/>
                    <a:pt x="0" y="4"/>
                    <a:pt x="0" y="4"/>
                  </a:cubicBezTo>
                  <a:cubicBezTo>
                    <a:pt x="0" y="2"/>
                    <a:pt x="2" y="0"/>
                    <a:pt x="4" y="0"/>
                  </a:cubicBezTo>
                  <a:cubicBezTo>
                    <a:pt x="26" y="0"/>
                    <a:pt x="26" y="0"/>
                    <a:pt x="26" y="0"/>
                  </a:cubicBezTo>
                  <a:cubicBezTo>
                    <a:pt x="28" y="0"/>
                    <a:pt x="30" y="2"/>
                    <a:pt x="30" y="4"/>
                  </a:cubicBezTo>
                  <a:lnTo>
                    <a:pt x="30" y="26"/>
                  </a:lnTo>
                  <a:close/>
                </a:path>
              </a:pathLst>
            </a:custGeom>
            <a:solidFill>
              <a:srgbClr val="FFB00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57" name="íŝḷiḋé"/>
            <p:cNvSpPr/>
            <p:nvPr/>
          </p:nvSpPr>
          <p:spPr bwMode="auto">
            <a:xfrm>
              <a:off x="3559176" y="1641476"/>
              <a:ext cx="4625975" cy="606425"/>
            </a:xfrm>
            <a:custGeom>
              <a:avLst/>
              <a:gdLst>
                <a:gd name="T0" fmla="*/ 342 w 351"/>
                <a:gd name="T1" fmla="*/ 0 h 46"/>
                <a:gd name="T2" fmla="*/ 0 w 351"/>
                <a:gd name="T3" fmla="*/ 0 h 46"/>
                <a:gd name="T4" fmla="*/ 0 w 351"/>
                <a:gd name="T5" fmla="*/ 46 h 46"/>
                <a:gd name="T6" fmla="*/ 342 w 351"/>
                <a:gd name="T7" fmla="*/ 46 h 46"/>
                <a:gd name="T8" fmla="*/ 342 w 351"/>
                <a:gd name="T9" fmla="*/ 0 h 46"/>
              </a:gdLst>
              <a:ahLst/>
              <a:cxnLst>
                <a:cxn ang="0">
                  <a:pos x="T0" y="T1"/>
                </a:cxn>
                <a:cxn ang="0">
                  <a:pos x="T2" y="T3"/>
                </a:cxn>
                <a:cxn ang="0">
                  <a:pos x="T4" y="T5"/>
                </a:cxn>
                <a:cxn ang="0">
                  <a:pos x="T6" y="T7"/>
                </a:cxn>
                <a:cxn ang="0">
                  <a:pos x="T8" y="T9"/>
                </a:cxn>
              </a:cxnLst>
              <a:rect l="0" t="0" r="r" b="b"/>
              <a:pathLst>
                <a:path w="351" h="46">
                  <a:moveTo>
                    <a:pt x="342" y="0"/>
                  </a:moveTo>
                  <a:cubicBezTo>
                    <a:pt x="228" y="0"/>
                    <a:pt x="114" y="0"/>
                    <a:pt x="0" y="0"/>
                  </a:cubicBezTo>
                  <a:cubicBezTo>
                    <a:pt x="15" y="14"/>
                    <a:pt x="15" y="32"/>
                    <a:pt x="0" y="46"/>
                  </a:cubicBezTo>
                  <a:cubicBezTo>
                    <a:pt x="114" y="46"/>
                    <a:pt x="228" y="46"/>
                    <a:pt x="342" y="46"/>
                  </a:cubicBezTo>
                  <a:cubicBezTo>
                    <a:pt x="351" y="34"/>
                    <a:pt x="350" y="13"/>
                    <a:pt x="342"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58" name="ïśļide"/>
            <p:cNvSpPr/>
            <p:nvPr/>
          </p:nvSpPr>
          <p:spPr bwMode="auto">
            <a:xfrm>
              <a:off x="3810001" y="2116138"/>
              <a:ext cx="4151313" cy="39688"/>
            </a:xfrm>
            <a:prstGeom prst="ellipse">
              <a:avLst/>
            </a:prstGeom>
            <a:solidFill>
              <a:srgbClr val="DDDC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59" name="íšlíďè"/>
            <p:cNvSpPr/>
            <p:nvPr/>
          </p:nvSpPr>
          <p:spPr bwMode="auto">
            <a:xfrm>
              <a:off x="3810001" y="1997076"/>
              <a:ext cx="4151313" cy="39688"/>
            </a:xfrm>
            <a:prstGeom prst="ellipse">
              <a:avLst/>
            </a:prstGeom>
            <a:solidFill>
              <a:srgbClr val="DDDC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60" name="ïŝļîḍe"/>
            <p:cNvSpPr/>
            <p:nvPr/>
          </p:nvSpPr>
          <p:spPr bwMode="auto">
            <a:xfrm>
              <a:off x="3810001" y="1865313"/>
              <a:ext cx="4151313" cy="39688"/>
            </a:xfrm>
            <a:prstGeom prst="ellipse">
              <a:avLst/>
            </a:prstGeom>
            <a:solidFill>
              <a:srgbClr val="DDDC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61" name="ïS1íḑê"/>
            <p:cNvSpPr/>
            <p:nvPr/>
          </p:nvSpPr>
          <p:spPr bwMode="auto">
            <a:xfrm>
              <a:off x="3810001" y="1746251"/>
              <a:ext cx="4151313" cy="39688"/>
            </a:xfrm>
            <a:prstGeom prst="ellipse">
              <a:avLst/>
            </a:prstGeom>
            <a:solidFill>
              <a:srgbClr val="DDDC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62" name="iṣḷïḑé"/>
            <p:cNvSpPr/>
            <p:nvPr/>
          </p:nvSpPr>
          <p:spPr bwMode="auto">
            <a:xfrm>
              <a:off x="8053388" y="1641476"/>
              <a:ext cx="131763" cy="606425"/>
            </a:xfrm>
            <a:custGeom>
              <a:avLst/>
              <a:gdLst>
                <a:gd name="T0" fmla="*/ 0 w 10"/>
                <a:gd name="T1" fmla="*/ 0 h 46"/>
                <a:gd name="T2" fmla="*/ 0 w 10"/>
                <a:gd name="T3" fmla="*/ 46 h 46"/>
                <a:gd name="T4" fmla="*/ 1 w 10"/>
                <a:gd name="T5" fmla="*/ 46 h 46"/>
                <a:gd name="T6" fmla="*/ 1 w 10"/>
                <a:gd name="T7" fmla="*/ 0 h 46"/>
                <a:gd name="T8" fmla="*/ 0 w 10"/>
                <a:gd name="T9" fmla="*/ 0 h 46"/>
              </a:gdLst>
              <a:ahLst/>
              <a:cxnLst>
                <a:cxn ang="0">
                  <a:pos x="T0" y="T1"/>
                </a:cxn>
                <a:cxn ang="0">
                  <a:pos x="T2" y="T3"/>
                </a:cxn>
                <a:cxn ang="0">
                  <a:pos x="T4" y="T5"/>
                </a:cxn>
                <a:cxn ang="0">
                  <a:pos x="T6" y="T7"/>
                </a:cxn>
                <a:cxn ang="0">
                  <a:pos x="T8" y="T9"/>
                </a:cxn>
              </a:cxnLst>
              <a:rect l="0" t="0" r="r" b="b"/>
              <a:pathLst>
                <a:path w="10" h="46">
                  <a:moveTo>
                    <a:pt x="0" y="0"/>
                  </a:moveTo>
                  <a:cubicBezTo>
                    <a:pt x="0" y="46"/>
                    <a:pt x="0" y="46"/>
                    <a:pt x="0" y="46"/>
                  </a:cubicBezTo>
                  <a:cubicBezTo>
                    <a:pt x="1" y="46"/>
                    <a:pt x="1" y="46"/>
                    <a:pt x="1" y="46"/>
                  </a:cubicBezTo>
                  <a:cubicBezTo>
                    <a:pt x="10" y="34"/>
                    <a:pt x="9" y="13"/>
                    <a:pt x="1" y="0"/>
                  </a:cubicBezTo>
                  <a:cubicBezTo>
                    <a:pt x="1" y="0"/>
                    <a:pt x="1" y="0"/>
                    <a:pt x="0" y="0"/>
                  </a:cubicBezTo>
                  <a:close/>
                </a:path>
              </a:pathLst>
            </a:custGeom>
            <a:solidFill>
              <a:srgbClr val="BABAB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63" name="iŝḻíḋé"/>
            <p:cNvSpPr/>
            <p:nvPr/>
          </p:nvSpPr>
          <p:spPr bwMode="auto">
            <a:xfrm>
              <a:off x="3532188" y="1614488"/>
              <a:ext cx="4692650" cy="660400"/>
            </a:xfrm>
            <a:custGeom>
              <a:avLst/>
              <a:gdLst>
                <a:gd name="T0" fmla="*/ 344 w 356"/>
                <a:gd name="T1" fmla="*/ 50 h 50"/>
                <a:gd name="T2" fmla="*/ 2 w 356"/>
                <a:gd name="T3" fmla="*/ 50 h 50"/>
                <a:gd name="T4" fmla="*/ 0 w 356"/>
                <a:gd name="T5" fmla="*/ 48 h 50"/>
                <a:gd name="T6" fmla="*/ 2 w 356"/>
                <a:gd name="T7" fmla="*/ 46 h 50"/>
                <a:gd name="T8" fmla="*/ 343 w 356"/>
                <a:gd name="T9" fmla="*/ 46 h 50"/>
                <a:gd name="T10" fmla="*/ 343 w 356"/>
                <a:gd name="T11" fmla="*/ 4 h 50"/>
                <a:gd name="T12" fmla="*/ 2 w 356"/>
                <a:gd name="T13" fmla="*/ 4 h 50"/>
                <a:gd name="T14" fmla="*/ 0 w 356"/>
                <a:gd name="T15" fmla="*/ 2 h 50"/>
                <a:gd name="T16" fmla="*/ 2 w 356"/>
                <a:gd name="T17" fmla="*/ 0 h 50"/>
                <a:gd name="T18" fmla="*/ 344 w 356"/>
                <a:gd name="T19" fmla="*/ 0 h 50"/>
                <a:gd name="T20" fmla="*/ 346 w 356"/>
                <a:gd name="T21" fmla="*/ 1 h 50"/>
                <a:gd name="T22" fmla="*/ 346 w 356"/>
                <a:gd name="T23" fmla="*/ 49 h 50"/>
                <a:gd name="T24" fmla="*/ 344 w 356"/>
                <a:gd name="T25" fmla="*/ 5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50">
                  <a:moveTo>
                    <a:pt x="344" y="50"/>
                  </a:moveTo>
                  <a:cubicBezTo>
                    <a:pt x="2" y="50"/>
                    <a:pt x="2" y="50"/>
                    <a:pt x="2" y="50"/>
                  </a:cubicBezTo>
                  <a:cubicBezTo>
                    <a:pt x="1" y="50"/>
                    <a:pt x="0" y="49"/>
                    <a:pt x="0" y="48"/>
                  </a:cubicBezTo>
                  <a:cubicBezTo>
                    <a:pt x="0" y="47"/>
                    <a:pt x="1" y="46"/>
                    <a:pt x="2" y="46"/>
                  </a:cubicBezTo>
                  <a:cubicBezTo>
                    <a:pt x="343" y="46"/>
                    <a:pt x="343" y="46"/>
                    <a:pt x="343" y="46"/>
                  </a:cubicBezTo>
                  <a:cubicBezTo>
                    <a:pt x="351" y="34"/>
                    <a:pt x="350" y="15"/>
                    <a:pt x="343" y="4"/>
                  </a:cubicBezTo>
                  <a:cubicBezTo>
                    <a:pt x="2" y="4"/>
                    <a:pt x="2" y="4"/>
                    <a:pt x="2" y="4"/>
                  </a:cubicBezTo>
                  <a:cubicBezTo>
                    <a:pt x="1" y="4"/>
                    <a:pt x="0" y="3"/>
                    <a:pt x="0" y="2"/>
                  </a:cubicBezTo>
                  <a:cubicBezTo>
                    <a:pt x="0" y="1"/>
                    <a:pt x="1" y="0"/>
                    <a:pt x="2" y="0"/>
                  </a:cubicBezTo>
                  <a:cubicBezTo>
                    <a:pt x="344" y="0"/>
                    <a:pt x="344" y="0"/>
                    <a:pt x="344" y="0"/>
                  </a:cubicBezTo>
                  <a:cubicBezTo>
                    <a:pt x="345" y="0"/>
                    <a:pt x="346" y="0"/>
                    <a:pt x="346" y="1"/>
                  </a:cubicBezTo>
                  <a:cubicBezTo>
                    <a:pt x="354" y="13"/>
                    <a:pt x="356" y="35"/>
                    <a:pt x="346" y="49"/>
                  </a:cubicBezTo>
                  <a:cubicBezTo>
                    <a:pt x="346" y="50"/>
                    <a:pt x="345" y="50"/>
                    <a:pt x="344" y="50"/>
                  </a:cubicBezTo>
                  <a:close/>
                </a:path>
              </a:pathLst>
            </a:custGeom>
            <a:solidFill>
              <a:srgbClr val="75462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64" name="îṡlîḑe"/>
            <p:cNvSpPr/>
            <p:nvPr/>
          </p:nvSpPr>
          <p:spPr bwMode="auto">
            <a:xfrm>
              <a:off x="7367588" y="2314576"/>
              <a:ext cx="250825" cy="581025"/>
            </a:xfrm>
            <a:custGeom>
              <a:avLst/>
              <a:gdLst>
                <a:gd name="T0" fmla="*/ 11 w 19"/>
                <a:gd name="T1" fmla="*/ 14 h 44"/>
                <a:gd name="T2" fmla="*/ 19 w 19"/>
                <a:gd name="T3" fmla="*/ 7 h 44"/>
                <a:gd name="T4" fmla="*/ 9 w 19"/>
                <a:gd name="T5" fmla="*/ 0 h 44"/>
                <a:gd name="T6" fmla="*/ 0 w 19"/>
                <a:gd name="T7" fmla="*/ 7 h 44"/>
                <a:gd name="T8" fmla="*/ 7 w 19"/>
                <a:gd name="T9" fmla="*/ 14 h 44"/>
                <a:gd name="T10" fmla="*/ 7 w 19"/>
                <a:gd name="T11" fmla="*/ 44 h 44"/>
                <a:gd name="T12" fmla="*/ 11 w 19"/>
                <a:gd name="T13" fmla="*/ 44 h 44"/>
                <a:gd name="T14" fmla="*/ 11 w 19"/>
                <a:gd name="T15" fmla="*/ 42 h 44"/>
                <a:gd name="T16" fmla="*/ 16 w 19"/>
                <a:gd name="T17" fmla="*/ 42 h 44"/>
                <a:gd name="T18" fmla="*/ 16 w 19"/>
                <a:gd name="T19" fmla="*/ 39 h 44"/>
                <a:gd name="T20" fmla="*/ 17 w 19"/>
                <a:gd name="T21" fmla="*/ 39 h 44"/>
                <a:gd name="T22" fmla="*/ 17 w 19"/>
                <a:gd name="T23" fmla="*/ 37 h 44"/>
                <a:gd name="T24" fmla="*/ 16 w 19"/>
                <a:gd name="T25" fmla="*/ 37 h 44"/>
                <a:gd name="T26" fmla="*/ 16 w 19"/>
                <a:gd name="T27" fmla="*/ 34 h 44"/>
                <a:gd name="T28" fmla="*/ 17 w 19"/>
                <a:gd name="T29" fmla="*/ 34 h 44"/>
                <a:gd name="T30" fmla="*/ 17 w 19"/>
                <a:gd name="T31" fmla="*/ 32 h 44"/>
                <a:gd name="T32" fmla="*/ 11 w 19"/>
                <a:gd name="T33" fmla="*/ 32 h 44"/>
                <a:gd name="T34" fmla="*/ 11 w 19"/>
                <a:gd name="T35" fmla="*/ 14 h 44"/>
                <a:gd name="T36" fmla="*/ 4 w 19"/>
                <a:gd name="T37" fmla="*/ 7 h 44"/>
                <a:gd name="T38" fmla="*/ 9 w 19"/>
                <a:gd name="T39" fmla="*/ 4 h 44"/>
                <a:gd name="T40" fmla="*/ 15 w 19"/>
                <a:gd name="T41" fmla="*/ 7 h 44"/>
                <a:gd name="T42" fmla="*/ 9 w 19"/>
                <a:gd name="T43" fmla="*/ 11 h 44"/>
                <a:gd name="T44" fmla="*/ 4 w 19"/>
                <a:gd name="T45"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44">
                  <a:moveTo>
                    <a:pt x="11" y="14"/>
                  </a:moveTo>
                  <a:cubicBezTo>
                    <a:pt x="16" y="13"/>
                    <a:pt x="19" y="11"/>
                    <a:pt x="19" y="7"/>
                  </a:cubicBezTo>
                  <a:cubicBezTo>
                    <a:pt x="19" y="4"/>
                    <a:pt x="14" y="0"/>
                    <a:pt x="9" y="0"/>
                  </a:cubicBezTo>
                  <a:cubicBezTo>
                    <a:pt x="4" y="0"/>
                    <a:pt x="0" y="4"/>
                    <a:pt x="0" y="7"/>
                  </a:cubicBezTo>
                  <a:cubicBezTo>
                    <a:pt x="0" y="11"/>
                    <a:pt x="3" y="13"/>
                    <a:pt x="7" y="14"/>
                  </a:cubicBezTo>
                  <a:cubicBezTo>
                    <a:pt x="7" y="44"/>
                    <a:pt x="7" y="44"/>
                    <a:pt x="7" y="44"/>
                  </a:cubicBezTo>
                  <a:cubicBezTo>
                    <a:pt x="11" y="44"/>
                    <a:pt x="11" y="44"/>
                    <a:pt x="11" y="44"/>
                  </a:cubicBezTo>
                  <a:cubicBezTo>
                    <a:pt x="11" y="42"/>
                    <a:pt x="11" y="42"/>
                    <a:pt x="11" y="42"/>
                  </a:cubicBezTo>
                  <a:cubicBezTo>
                    <a:pt x="16" y="42"/>
                    <a:pt x="16" y="42"/>
                    <a:pt x="16" y="42"/>
                  </a:cubicBezTo>
                  <a:cubicBezTo>
                    <a:pt x="16" y="39"/>
                    <a:pt x="16" y="39"/>
                    <a:pt x="16" y="39"/>
                  </a:cubicBezTo>
                  <a:cubicBezTo>
                    <a:pt x="17" y="39"/>
                    <a:pt x="17" y="39"/>
                    <a:pt x="17" y="39"/>
                  </a:cubicBezTo>
                  <a:cubicBezTo>
                    <a:pt x="17" y="37"/>
                    <a:pt x="17" y="37"/>
                    <a:pt x="17" y="37"/>
                  </a:cubicBezTo>
                  <a:cubicBezTo>
                    <a:pt x="16" y="37"/>
                    <a:pt x="16" y="37"/>
                    <a:pt x="16" y="37"/>
                  </a:cubicBezTo>
                  <a:cubicBezTo>
                    <a:pt x="16" y="34"/>
                    <a:pt x="16" y="34"/>
                    <a:pt x="16" y="34"/>
                  </a:cubicBezTo>
                  <a:cubicBezTo>
                    <a:pt x="17" y="34"/>
                    <a:pt x="17" y="34"/>
                    <a:pt x="17" y="34"/>
                  </a:cubicBezTo>
                  <a:cubicBezTo>
                    <a:pt x="17" y="32"/>
                    <a:pt x="17" y="32"/>
                    <a:pt x="17" y="32"/>
                  </a:cubicBezTo>
                  <a:cubicBezTo>
                    <a:pt x="11" y="32"/>
                    <a:pt x="11" y="32"/>
                    <a:pt x="11" y="32"/>
                  </a:cubicBezTo>
                  <a:lnTo>
                    <a:pt x="11" y="14"/>
                  </a:lnTo>
                  <a:close/>
                  <a:moveTo>
                    <a:pt x="4" y="7"/>
                  </a:moveTo>
                  <a:cubicBezTo>
                    <a:pt x="4" y="5"/>
                    <a:pt x="6" y="4"/>
                    <a:pt x="9" y="4"/>
                  </a:cubicBezTo>
                  <a:cubicBezTo>
                    <a:pt x="12" y="4"/>
                    <a:pt x="15" y="5"/>
                    <a:pt x="15" y="7"/>
                  </a:cubicBezTo>
                  <a:cubicBezTo>
                    <a:pt x="15" y="9"/>
                    <a:pt x="12" y="11"/>
                    <a:pt x="9" y="11"/>
                  </a:cubicBezTo>
                  <a:cubicBezTo>
                    <a:pt x="6" y="11"/>
                    <a:pt x="4" y="9"/>
                    <a:pt x="4" y="7"/>
                  </a:cubicBezTo>
                  <a:close/>
                </a:path>
              </a:pathLst>
            </a:custGeom>
            <a:solidFill>
              <a:srgbClr val="FFB34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p>
          </p:txBody>
        </p:sp>
        <p:sp>
          <p:nvSpPr>
            <p:cNvPr id="65" name="iSľiḑe"/>
            <p:cNvSpPr/>
            <p:nvPr/>
          </p:nvSpPr>
          <p:spPr bwMode="auto">
            <a:xfrm>
              <a:off x="7459663" y="1878013"/>
              <a:ext cx="66675" cy="515938"/>
            </a:xfrm>
            <a:prstGeom prst="rect">
              <a:avLst/>
            </a:prstGeom>
            <a:solidFill>
              <a:srgbClr val="9DBF5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b="1"/>
            </a:p>
          </p:txBody>
        </p:sp>
      </p:grpSp>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66"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1</a:t>
            </a:r>
            <a:r>
              <a:rPr lang="zh-CN" altLang="en-US" sz="2400" b="1" kern="0" dirty="0">
                <a:latin typeface="宋体" panose="02010600030101010101" pitchFamily="2" charset="-122"/>
                <a:sym typeface="宋体" panose="02010600030101010101" pitchFamily="2" charset="-122"/>
              </a:rPr>
              <a:t>）数据字典定义</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68" name="Rectangle 21"/>
          <p:cNvSpPr/>
          <p:nvPr/>
        </p:nvSpPr>
        <p:spPr>
          <a:xfrm>
            <a:off x="2419955" y="1655746"/>
            <a:ext cx="8968706" cy="3969199"/>
          </a:xfrm>
          <a:prstGeom prst="rect">
            <a:avLst/>
          </a:prstGeom>
          <a:noFill/>
          <a:ln w="22225">
            <a:solidFill>
              <a:srgbClr val="FF0000"/>
            </a:solidFill>
            <a:prstDash val="dash"/>
          </a:ln>
        </p:spPr>
        <p:txBody>
          <a:bodyPr wrap="square" lIns="144000" tIns="0" rIns="144000" bIns="0" anchor="ctr" anchorCtr="0">
            <a:normAutofit/>
          </a:bodyPr>
          <a:lstStyle/>
          <a:p>
            <a:pPr algn="ctr">
              <a:lnSpc>
                <a:spcPct val="120000"/>
              </a:lnSpc>
            </a:pPr>
            <a:endParaRPr lang="zh-CN" altLang="en-US" sz="2000" b="1" dirty="0">
              <a:solidFill>
                <a:srgbClr val="000000"/>
              </a:solidFill>
            </a:endParaRPr>
          </a:p>
        </p:txBody>
      </p:sp>
      <p:sp>
        <p:nvSpPr>
          <p:cNvPr id="69" name="矩形 66"/>
          <p:cNvSpPr>
            <a:spLocks noChangeArrowheads="1"/>
          </p:cNvSpPr>
          <p:nvPr/>
        </p:nvSpPr>
        <p:spPr bwMode="auto">
          <a:xfrm>
            <a:off x="2594532" y="3522256"/>
            <a:ext cx="8470631" cy="1614805"/>
          </a:xfrm>
          <a:prstGeom prst="rect">
            <a:avLst/>
          </a:prstGeom>
          <a:solidFill>
            <a:schemeClr val="accent5">
              <a:lumMod val="20000"/>
              <a:lumOff val="80000"/>
            </a:schemeClr>
          </a:solidFill>
          <a:ln>
            <a:noFill/>
          </a:ln>
        </p:spPr>
        <p:txBody>
          <a:bodyPr wrap="square">
            <a:spAutoFit/>
          </a:bodyPr>
          <a:lstStyle/>
          <a:p>
            <a:pPr indent="0">
              <a:lnSpc>
                <a:spcPct val="150000"/>
              </a:lnSpc>
              <a:buFont typeface="Wingdings" panose="05000000000000000000" pitchFamily="2" charset="2"/>
              <a:buNone/>
            </a:pPr>
            <a:r>
              <a:rPr lang="en-US" altLang="zh-CN" sz="2200" b="1" dirty="0">
                <a:latin typeface="宋体" panose="02010600030101010101" pitchFamily="2" charset="-122"/>
                <a:ea typeface="宋体" panose="02010600030101010101" pitchFamily="2" charset="-122"/>
                <a:cs typeface="宋体" panose="02010600030101010101" pitchFamily="2" charset="-122"/>
              </a:rPr>
              <a:t>2</a:t>
            </a:r>
            <a:r>
              <a:rPr lang="zh-CN" altLang="en-US" sz="2200" b="1" dirty="0">
                <a:latin typeface="宋体" panose="02010600030101010101" pitchFamily="2" charset="-122"/>
                <a:ea typeface="宋体" panose="02010600030101010101" pitchFamily="2" charset="-122"/>
                <a:cs typeface="宋体" panose="02010600030101010101" pitchFamily="2" charset="-122"/>
              </a:rPr>
              <a:t>）</a:t>
            </a:r>
            <a:r>
              <a:rPr lang="zh-CN" altLang="en-US" sz="2200" b="1" dirty="0">
                <a:latin typeface="宋体" panose="02010600030101010101" pitchFamily="2" charset="-122"/>
                <a:cs typeface="宋体" panose="02010600030101010101" pitchFamily="2" charset="-122"/>
              </a:rPr>
              <a:t>数据字典可以</a:t>
            </a:r>
            <a:r>
              <a:rPr lang="zh-CN" altLang="en-US" sz="2200" b="1" dirty="0">
                <a:latin typeface="宋体" panose="02010600030101010101" pitchFamily="2" charset="-122"/>
                <a:ea typeface="宋体" panose="02010600030101010101" pitchFamily="2" charset="-122"/>
                <a:cs typeface="宋体" panose="02010600030101010101" pitchFamily="2" charset="-122"/>
              </a:rPr>
              <a:t>确保开发人员使用统一的数据定义：包括所有数据元素和结构的含义、类型、数据大小、格式、度量单位、精度以及允许取值范围</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sp>
        <p:nvSpPr>
          <p:cNvPr id="3" name="日期占位符 2"/>
          <p:cNvSpPr>
            <a:spLocks noGrp="1"/>
          </p:cNvSpPr>
          <p:nvPr>
            <p:ph type="dt" sz="half" idx="10"/>
          </p:nvPr>
        </p:nvSpPr>
        <p:spPr/>
        <p:txBody>
          <a:bodyPr/>
          <a:lstStyle/>
          <a:p>
            <a:pPr>
              <a:defRPr/>
            </a:pPr>
            <a:fld id="{8888F230-5076-4C57-A382-C4FF0848A5A8}" type="datetime1">
              <a:rPr lang="zh-CN" altLang="en-US" smtClean="0">
                <a:solidFill>
                  <a:prstClr val="black">
                    <a:tint val="75000"/>
                  </a:prstClr>
                </a:solidFill>
              </a:rPr>
            </a:fld>
            <a:endParaRPr lang="zh-CN" altLang="en-US" dirty="0">
              <a:solidFill>
                <a:prstClr val="black">
                  <a:tint val="75000"/>
                </a:prstClr>
              </a:solidFill>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0-#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fltVal val="0"/>
                                          </p:val>
                                        </p:tav>
                                        <p:tav tm="100000">
                                          <p:val>
                                            <p:strVal val="#ppt_h"/>
                                          </p:val>
                                        </p:tav>
                                      </p:tavLst>
                                    </p:anim>
                                    <p:animEffect transition="in" filter="fade">
                                      <p:cBhvr>
                                        <p:cTn id="13" dur="500"/>
                                        <p:tgtEl>
                                          <p:spTgt spid="2"/>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66"/>
                                        </p:tgtEl>
                                        <p:attrNameLst>
                                          <p:attrName>style.visibility</p:attrName>
                                        </p:attrNameLst>
                                      </p:cBhvr>
                                      <p:to>
                                        <p:strVal val="visible"/>
                                      </p:to>
                                    </p:set>
                                    <p:anim calcmode="lin" valueType="num">
                                      <p:cBhvr additive="base">
                                        <p:cTn id="16" dur="500"/>
                                        <p:tgtEl>
                                          <p:spTgt spid="66"/>
                                        </p:tgtEl>
                                        <p:attrNameLst>
                                          <p:attrName>ppt_x</p:attrName>
                                        </p:attrNameLst>
                                      </p:cBhvr>
                                      <p:tavLst>
                                        <p:tav tm="0">
                                          <p:val>
                                            <p:strVal val="#ppt_x+#ppt_w*1.125000"/>
                                          </p:val>
                                        </p:tav>
                                        <p:tav tm="100000">
                                          <p:val>
                                            <p:strVal val="#ppt_x"/>
                                          </p:val>
                                        </p:tav>
                                      </p:tavLst>
                                    </p:anim>
                                    <p:animEffect transition="in" filter="wipe(left)">
                                      <p:cBhvr>
                                        <p:cTn id="17" dur="500"/>
                                        <p:tgtEl>
                                          <p:spTgt spid="6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P spid="66" grpId="0"/>
      <p:bldP spid="68" grpId="0" animBg="1"/>
      <p:bldP spid="69"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46"/>
          <p:cNvSpPr/>
          <p:nvPr/>
        </p:nvSpPr>
        <p:spPr>
          <a:xfrm rot="1800000">
            <a:off x="2143379" y="2637531"/>
            <a:ext cx="8195011" cy="2428517"/>
          </a:xfrm>
          <a:custGeom>
            <a:avLst/>
            <a:gdLst>
              <a:gd name="connsiteX0" fmla="*/ 0 w 7059843"/>
              <a:gd name="connsiteY0" fmla="*/ 0 h 3396207"/>
              <a:gd name="connsiteX1" fmla="*/ 7059843 w 7059843"/>
              <a:gd name="connsiteY1" fmla="*/ 0 h 3396207"/>
              <a:gd name="connsiteX2" fmla="*/ 7059843 w 7059843"/>
              <a:gd name="connsiteY2" fmla="*/ 3396207 h 3396207"/>
              <a:gd name="connsiteX3" fmla="*/ 0 w 7059843"/>
              <a:gd name="connsiteY3" fmla="*/ 3396207 h 3396207"/>
              <a:gd name="connsiteX4" fmla="*/ 0 w 7059843"/>
              <a:gd name="connsiteY4" fmla="*/ 0 h 3396207"/>
              <a:gd name="connsiteX0-1" fmla="*/ 0 w 7059843"/>
              <a:gd name="connsiteY0-2" fmla="*/ 8264 h 3404471"/>
              <a:gd name="connsiteX1-3" fmla="*/ 3874776 w 7059843"/>
              <a:gd name="connsiteY1-4" fmla="*/ 0 h 3404471"/>
              <a:gd name="connsiteX2-5" fmla="*/ 7059843 w 7059843"/>
              <a:gd name="connsiteY2-6" fmla="*/ 8264 h 3404471"/>
              <a:gd name="connsiteX3-7" fmla="*/ 7059843 w 7059843"/>
              <a:gd name="connsiteY3-8" fmla="*/ 3404471 h 3404471"/>
              <a:gd name="connsiteX4-9" fmla="*/ 0 w 7059843"/>
              <a:gd name="connsiteY4-10" fmla="*/ 3404471 h 3404471"/>
              <a:gd name="connsiteX5" fmla="*/ 0 w 7059843"/>
              <a:gd name="connsiteY5" fmla="*/ 8264 h 3404471"/>
              <a:gd name="connsiteX0-11" fmla="*/ 0 w 7059843"/>
              <a:gd name="connsiteY0-12" fmla="*/ 8264 h 3414199"/>
              <a:gd name="connsiteX1-13" fmla="*/ 3874776 w 7059843"/>
              <a:gd name="connsiteY1-14" fmla="*/ 0 h 3414199"/>
              <a:gd name="connsiteX2-15" fmla="*/ 7059843 w 7059843"/>
              <a:gd name="connsiteY2-16" fmla="*/ 8264 h 3414199"/>
              <a:gd name="connsiteX3-17" fmla="*/ 7059843 w 7059843"/>
              <a:gd name="connsiteY3-18" fmla="*/ 3404471 h 3414199"/>
              <a:gd name="connsiteX4-19" fmla="*/ 552009 w 7059843"/>
              <a:gd name="connsiteY4-20" fmla="*/ 3414199 h 3414199"/>
              <a:gd name="connsiteX5-21" fmla="*/ 0 w 7059843"/>
              <a:gd name="connsiteY5-22" fmla="*/ 3404471 h 3414199"/>
              <a:gd name="connsiteX6" fmla="*/ 0 w 7059843"/>
              <a:gd name="connsiteY6" fmla="*/ 8264 h 3414199"/>
              <a:gd name="connsiteX0-23" fmla="*/ 0 w 7059843"/>
              <a:gd name="connsiteY0-24" fmla="*/ 8264 h 3414199"/>
              <a:gd name="connsiteX1-25" fmla="*/ 3874776 w 7059843"/>
              <a:gd name="connsiteY1-26" fmla="*/ 0 h 3414199"/>
              <a:gd name="connsiteX2-27" fmla="*/ 7059843 w 7059843"/>
              <a:gd name="connsiteY2-28" fmla="*/ 8264 h 3414199"/>
              <a:gd name="connsiteX3-29" fmla="*/ 7059843 w 7059843"/>
              <a:gd name="connsiteY3-30" fmla="*/ 3404471 h 3414199"/>
              <a:gd name="connsiteX4-31" fmla="*/ 552009 w 7059843"/>
              <a:gd name="connsiteY4-32" fmla="*/ 3414199 h 3414199"/>
              <a:gd name="connsiteX5-33" fmla="*/ 0 w 7059843"/>
              <a:gd name="connsiteY5-34" fmla="*/ 8264 h 3414199"/>
              <a:gd name="connsiteX0-35" fmla="*/ 0 w 6507834"/>
              <a:gd name="connsiteY0-36" fmla="*/ 3414199 h 3414199"/>
              <a:gd name="connsiteX1-37" fmla="*/ 3322767 w 6507834"/>
              <a:gd name="connsiteY1-38" fmla="*/ 0 h 3414199"/>
              <a:gd name="connsiteX2-39" fmla="*/ 6507834 w 6507834"/>
              <a:gd name="connsiteY2-40" fmla="*/ 8264 h 3414199"/>
              <a:gd name="connsiteX3-41" fmla="*/ 6507834 w 6507834"/>
              <a:gd name="connsiteY3-42" fmla="*/ 3404471 h 3414199"/>
              <a:gd name="connsiteX4-43" fmla="*/ 0 w 6507834"/>
              <a:gd name="connsiteY4-44" fmla="*/ 3414199 h 341419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507834" h="3414199">
                <a:moveTo>
                  <a:pt x="0" y="3414199"/>
                </a:moveTo>
                <a:lnTo>
                  <a:pt x="3322767" y="0"/>
                </a:lnTo>
                <a:lnTo>
                  <a:pt x="6507834" y="8264"/>
                </a:lnTo>
                <a:lnTo>
                  <a:pt x="6507834" y="3404471"/>
                </a:lnTo>
                <a:lnTo>
                  <a:pt x="0" y="3414199"/>
                </a:lnTo>
                <a:close/>
              </a:path>
            </a:pathLst>
          </a:custGeom>
          <a:gradFill flip="none" rotWithShape="1">
            <a:gsLst>
              <a:gs pos="0">
                <a:schemeClr val="tx1">
                  <a:alpha val="20000"/>
                </a:schemeClr>
              </a:gs>
              <a:gs pos="100000">
                <a:srgbClr val="F2F2F2">
                  <a:alpha val="0"/>
                </a:srgb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Arial" panose="020B0604020202020204"/>
              <a:ea typeface="微软雅黑" panose="020B0503020204020204" pitchFamily="34" charset="-122"/>
            </a:endParaRPr>
          </a:p>
        </p:txBody>
      </p:sp>
      <p:sp>
        <p:nvSpPr>
          <p:cNvPr id="7" name="矩形 46"/>
          <p:cNvSpPr/>
          <p:nvPr/>
        </p:nvSpPr>
        <p:spPr>
          <a:xfrm rot="1800000">
            <a:off x="2049312" y="4446426"/>
            <a:ext cx="8195011" cy="2428517"/>
          </a:xfrm>
          <a:custGeom>
            <a:avLst/>
            <a:gdLst>
              <a:gd name="connsiteX0" fmla="*/ 0 w 7059843"/>
              <a:gd name="connsiteY0" fmla="*/ 0 h 3396207"/>
              <a:gd name="connsiteX1" fmla="*/ 7059843 w 7059843"/>
              <a:gd name="connsiteY1" fmla="*/ 0 h 3396207"/>
              <a:gd name="connsiteX2" fmla="*/ 7059843 w 7059843"/>
              <a:gd name="connsiteY2" fmla="*/ 3396207 h 3396207"/>
              <a:gd name="connsiteX3" fmla="*/ 0 w 7059843"/>
              <a:gd name="connsiteY3" fmla="*/ 3396207 h 3396207"/>
              <a:gd name="connsiteX4" fmla="*/ 0 w 7059843"/>
              <a:gd name="connsiteY4" fmla="*/ 0 h 3396207"/>
              <a:gd name="connsiteX0-1" fmla="*/ 0 w 7059843"/>
              <a:gd name="connsiteY0-2" fmla="*/ 8264 h 3404471"/>
              <a:gd name="connsiteX1-3" fmla="*/ 3874776 w 7059843"/>
              <a:gd name="connsiteY1-4" fmla="*/ 0 h 3404471"/>
              <a:gd name="connsiteX2-5" fmla="*/ 7059843 w 7059843"/>
              <a:gd name="connsiteY2-6" fmla="*/ 8264 h 3404471"/>
              <a:gd name="connsiteX3-7" fmla="*/ 7059843 w 7059843"/>
              <a:gd name="connsiteY3-8" fmla="*/ 3404471 h 3404471"/>
              <a:gd name="connsiteX4-9" fmla="*/ 0 w 7059843"/>
              <a:gd name="connsiteY4-10" fmla="*/ 3404471 h 3404471"/>
              <a:gd name="connsiteX5" fmla="*/ 0 w 7059843"/>
              <a:gd name="connsiteY5" fmla="*/ 8264 h 3404471"/>
              <a:gd name="connsiteX0-11" fmla="*/ 0 w 7059843"/>
              <a:gd name="connsiteY0-12" fmla="*/ 8264 h 3414199"/>
              <a:gd name="connsiteX1-13" fmla="*/ 3874776 w 7059843"/>
              <a:gd name="connsiteY1-14" fmla="*/ 0 h 3414199"/>
              <a:gd name="connsiteX2-15" fmla="*/ 7059843 w 7059843"/>
              <a:gd name="connsiteY2-16" fmla="*/ 8264 h 3414199"/>
              <a:gd name="connsiteX3-17" fmla="*/ 7059843 w 7059843"/>
              <a:gd name="connsiteY3-18" fmla="*/ 3404471 h 3414199"/>
              <a:gd name="connsiteX4-19" fmla="*/ 552009 w 7059843"/>
              <a:gd name="connsiteY4-20" fmla="*/ 3414199 h 3414199"/>
              <a:gd name="connsiteX5-21" fmla="*/ 0 w 7059843"/>
              <a:gd name="connsiteY5-22" fmla="*/ 3404471 h 3414199"/>
              <a:gd name="connsiteX6" fmla="*/ 0 w 7059843"/>
              <a:gd name="connsiteY6" fmla="*/ 8264 h 3414199"/>
              <a:gd name="connsiteX0-23" fmla="*/ 0 w 7059843"/>
              <a:gd name="connsiteY0-24" fmla="*/ 8264 h 3414199"/>
              <a:gd name="connsiteX1-25" fmla="*/ 3874776 w 7059843"/>
              <a:gd name="connsiteY1-26" fmla="*/ 0 h 3414199"/>
              <a:gd name="connsiteX2-27" fmla="*/ 7059843 w 7059843"/>
              <a:gd name="connsiteY2-28" fmla="*/ 8264 h 3414199"/>
              <a:gd name="connsiteX3-29" fmla="*/ 7059843 w 7059843"/>
              <a:gd name="connsiteY3-30" fmla="*/ 3404471 h 3414199"/>
              <a:gd name="connsiteX4-31" fmla="*/ 552009 w 7059843"/>
              <a:gd name="connsiteY4-32" fmla="*/ 3414199 h 3414199"/>
              <a:gd name="connsiteX5-33" fmla="*/ 0 w 7059843"/>
              <a:gd name="connsiteY5-34" fmla="*/ 8264 h 3414199"/>
              <a:gd name="connsiteX0-35" fmla="*/ 0 w 6507834"/>
              <a:gd name="connsiteY0-36" fmla="*/ 3414199 h 3414199"/>
              <a:gd name="connsiteX1-37" fmla="*/ 3322767 w 6507834"/>
              <a:gd name="connsiteY1-38" fmla="*/ 0 h 3414199"/>
              <a:gd name="connsiteX2-39" fmla="*/ 6507834 w 6507834"/>
              <a:gd name="connsiteY2-40" fmla="*/ 8264 h 3414199"/>
              <a:gd name="connsiteX3-41" fmla="*/ 6507834 w 6507834"/>
              <a:gd name="connsiteY3-42" fmla="*/ 3404471 h 3414199"/>
              <a:gd name="connsiteX4-43" fmla="*/ 0 w 6507834"/>
              <a:gd name="connsiteY4-44" fmla="*/ 3414199 h 341419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507834" h="3414199">
                <a:moveTo>
                  <a:pt x="0" y="3414199"/>
                </a:moveTo>
                <a:lnTo>
                  <a:pt x="3322767" y="0"/>
                </a:lnTo>
                <a:lnTo>
                  <a:pt x="6507834" y="8264"/>
                </a:lnTo>
                <a:lnTo>
                  <a:pt x="6507834" y="3404471"/>
                </a:lnTo>
                <a:lnTo>
                  <a:pt x="0" y="3414199"/>
                </a:lnTo>
                <a:close/>
              </a:path>
            </a:pathLst>
          </a:custGeom>
          <a:gradFill flip="none" rotWithShape="1">
            <a:gsLst>
              <a:gs pos="0">
                <a:schemeClr val="tx1">
                  <a:alpha val="20000"/>
                </a:schemeClr>
              </a:gs>
              <a:gs pos="100000">
                <a:srgbClr val="F2F2F2">
                  <a:alpha val="0"/>
                </a:srgb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Arial" panose="020B0604020202020204"/>
              <a:ea typeface="微软雅黑" panose="020B0503020204020204" pitchFamily="34" charset="-122"/>
            </a:endParaRPr>
          </a:p>
        </p:txBody>
      </p:sp>
      <p:sp>
        <p:nvSpPr>
          <p:cNvPr id="9" name="Rectangle: Rounded Corners 4"/>
          <p:cNvSpPr/>
          <p:nvPr/>
        </p:nvSpPr>
        <p:spPr>
          <a:xfrm>
            <a:off x="1932875" y="1481299"/>
            <a:ext cx="8737535" cy="1382825"/>
          </a:xfrm>
          <a:prstGeom prst="roundRect">
            <a:avLst/>
          </a:prstGeom>
          <a:solidFill>
            <a:schemeClr val="accent1">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solidFill>
                <a:schemeClr val="tx1"/>
              </a:solidFill>
            </a:endParaRPr>
          </a:p>
        </p:txBody>
      </p:sp>
      <p:sp>
        <p:nvSpPr>
          <p:cNvPr id="10" name="Rectangle: Rounded Corners 4"/>
          <p:cNvSpPr/>
          <p:nvPr/>
        </p:nvSpPr>
        <p:spPr>
          <a:xfrm>
            <a:off x="1918213" y="3331180"/>
            <a:ext cx="8737535" cy="1382825"/>
          </a:xfrm>
          <a:prstGeom prst="roundRect">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200" b="1">
              <a:solidFill>
                <a:schemeClr val="tx1"/>
              </a:solidFill>
            </a:endParaRPr>
          </a:p>
        </p:txBody>
      </p:sp>
      <p:sp>
        <p:nvSpPr>
          <p:cNvPr id="12" name="Rectangle: Rounded Corners 4"/>
          <p:cNvSpPr/>
          <p:nvPr/>
        </p:nvSpPr>
        <p:spPr>
          <a:xfrm>
            <a:off x="1918213" y="5073482"/>
            <a:ext cx="8737535" cy="1382825"/>
          </a:xfrm>
          <a:prstGeom prst="roundRect">
            <a:avLst/>
          </a:prstGeom>
          <a:solidFill>
            <a:schemeClr val="accent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p>
        </p:txBody>
      </p:sp>
      <p:sp>
        <p:nvSpPr>
          <p:cNvPr id="8" name="矩形 7"/>
          <p:cNvSpPr/>
          <p:nvPr/>
        </p:nvSpPr>
        <p:spPr>
          <a:xfrm>
            <a:off x="2285365" y="1794800"/>
            <a:ext cx="8169275" cy="90297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在需求阶段，数据字典至少应定义客户数据项以确保客户与开发小组是使用一致的定义和术语</a:t>
            </a:r>
            <a:endParaRPr lang="zh-CN" altLang="en-US" sz="2200" b="1" dirty="0">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4" name="矩形 13"/>
          <p:cNvSpPr/>
          <p:nvPr/>
        </p:nvSpPr>
        <p:spPr>
          <a:xfrm>
            <a:off x="2362200" y="5350800"/>
            <a:ext cx="8053070" cy="90297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数据字典的维护独立于软件需求规格说明，并且在产品的开发和维护的任何阶段，各个风险承担者都可以访问数据字典</a:t>
            </a:r>
            <a:endParaRPr lang="zh-CN" altLang="en-US" sz="2200" b="1" dirty="0">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74" name="矩形 73"/>
          <p:cNvSpPr/>
          <p:nvPr/>
        </p:nvSpPr>
        <p:spPr>
          <a:xfrm>
            <a:off x="2323465" y="3598200"/>
            <a:ext cx="8131175" cy="768350"/>
          </a:xfrm>
          <a:prstGeom prst="rect">
            <a:avLst/>
          </a:prstGeom>
        </p:spPr>
        <p:txBody>
          <a:bodyPr wrap="square">
            <a:spAutoFit/>
            <a:scene3d>
              <a:camera prst="orthographicFront"/>
              <a:lightRig rig="threePt" dir="t"/>
            </a:scene3d>
            <a:sp3d contourW="12700"/>
          </a:bodyPr>
          <a:lstStyle/>
          <a:p>
            <a:pPr lvl="0" indent="0">
              <a:lnSpc>
                <a:spcPct val="200000"/>
              </a:lnSpc>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数据字典可以把不同的需求文档和分析模型紧密结合在一起</a:t>
            </a:r>
            <a:endParaRPr lang="zh-CN" altLang="en-US" sz="2200" b="1" dirty="0">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76" name="图片 75"/>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grpSp>
        <p:nvGrpSpPr>
          <p:cNvPr id="77" name="组合 7"/>
          <p:cNvGrpSpPr/>
          <p:nvPr/>
        </p:nvGrpSpPr>
        <p:grpSpPr>
          <a:xfrm>
            <a:off x="108557" y="337632"/>
            <a:ext cx="3815742" cy="491607"/>
            <a:chOff x="198764" y="258545"/>
            <a:chExt cx="5086477" cy="656007"/>
          </a:xfrm>
        </p:grpSpPr>
        <p:grpSp>
          <p:nvGrpSpPr>
            <p:cNvPr id="78" name="组合 5"/>
            <p:cNvGrpSpPr/>
            <p:nvPr/>
          </p:nvGrpSpPr>
          <p:grpSpPr>
            <a:xfrm>
              <a:off x="198764" y="258545"/>
              <a:ext cx="700083" cy="563491"/>
              <a:chOff x="5075564" y="2933562"/>
              <a:chExt cx="2860947" cy="2302753"/>
            </a:xfrm>
          </p:grpSpPr>
          <p:sp>
            <p:nvSpPr>
              <p:cNvPr id="79" name="等腰三角形 7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80" name="等腰三角形 79"/>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1" name="文本框 6"/>
            <p:cNvSpPr txBox="1"/>
            <p:nvPr/>
          </p:nvSpPr>
          <p:spPr>
            <a:xfrm>
              <a:off x="988289" y="300221"/>
              <a:ext cx="429695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3.6 </a:t>
              </a:r>
              <a:r>
                <a:rPr lang="zh-CN" altLang="en-US" sz="2400" b="1" dirty="0">
                  <a:solidFill>
                    <a:srgbClr val="000000"/>
                  </a:solidFill>
                  <a:latin typeface="微软雅黑" panose="020B0503020204020204" pitchFamily="34" charset="-122"/>
                  <a:ea typeface="微软雅黑" panose="020B0503020204020204" pitchFamily="34" charset="-122"/>
                </a:rPr>
                <a:t>创建数据字典</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6"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2</a:t>
            </a:r>
            <a:r>
              <a:rPr lang="zh-CN" altLang="en-US" sz="2400" b="1" kern="0" dirty="0">
                <a:latin typeface="宋体" panose="02010600030101010101" pitchFamily="2" charset="-122"/>
                <a:sym typeface="宋体" panose="02010600030101010101" pitchFamily="2" charset="-122"/>
              </a:rPr>
              <a:t>）数据字典的功能</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 name="日期占位符 1"/>
          <p:cNvSpPr>
            <a:spLocks noGrp="1"/>
          </p:cNvSpPr>
          <p:nvPr>
            <p:ph type="dt" sz="half" idx="10"/>
          </p:nvPr>
        </p:nvSpPr>
        <p:spPr/>
        <p:txBody>
          <a:bodyPr/>
          <a:lstStyle/>
          <a:p>
            <a:pPr>
              <a:defRPr/>
            </a:pPr>
            <a:fld id="{8AA56DF5-DDED-44FF-99AD-35DE7F671E0A}"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3" name="灯片编号占位符 2"/>
          <p:cNvSpPr>
            <a:spLocks noGrp="1"/>
          </p:cNvSpPr>
          <p:nvPr>
            <p:ph type="sldNum" sz="quarter" idx="12"/>
          </p:nvPr>
        </p:nvSpPr>
        <p:spPr/>
        <p:txBody>
          <a:bodyPr/>
          <a:lstStyle/>
          <a:p>
            <a:pPr>
              <a:defRPr/>
            </a:pPr>
            <a:fld id="{0519FDB0-D360-4966-A01C-1D1C6BB19AF3}" type="slidenum">
              <a:rPr lang="zh-CN" altLang="en-US" b="1" smtClean="0">
                <a:solidFill>
                  <a:prstClr val="black">
                    <a:tint val="75000"/>
                  </a:prstClr>
                </a:solidFill>
              </a:rPr>
            </a:fld>
            <a:endParaRPr lang="zh-CN" altLang="en-US" b="1" dirty="0" smtClean="0">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6"/>
                                        </p:tgtEl>
                                        <p:attrNameLst>
                                          <p:attrName>style.visibility</p:attrName>
                                        </p:attrNameLst>
                                      </p:cBhvr>
                                      <p:to>
                                        <p:strVal val="visible"/>
                                      </p:to>
                                    </p:set>
                                    <p:anim calcmode="lin" valueType="num">
                                      <p:cBhvr>
                                        <p:cTn id="7" dur="500" fill="hold"/>
                                        <p:tgtEl>
                                          <p:spTgt spid="76"/>
                                        </p:tgtEl>
                                        <p:attrNameLst>
                                          <p:attrName>ppt_w</p:attrName>
                                        </p:attrNameLst>
                                      </p:cBhvr>
                                      <p:tavLst>
                                        <p:tav tm="0">
                                          <p:val>
                                            <p:fltVal val="0"/>
                                          </p:val>
                                        </p:tav>
                                        <p:tav tm="100000">
                                          <p:val>
                                            <p:strVal val="#ppt_w"/>
                                          </p:val>
                                        </p:tav>
                                      </p:tavLst>
                                    </p:anim>
                                    <p:anim calcmode="lin" valueType="num">
                                      <p:cBhvr>
                                        <p:cTn id="8" dur="500" fill="hold"/>
                                        <p:tgtEl>
                                          <p:spTgt spid="76"/>
                                        </p:tgtEl>
                                        <p:attrNameLst>
                                          <p:attrName>ppt_h</p:attrName>
                                        </p:attrNameLst>
                                      </p:cBhvr>
                                      <p:tavLst>
                                        <p:tav tm="0">
                                          <p:val>
                                            <p:fltVal val="0"/>
                                          </p:val>
                                        </p:tav>
                                        <p:tav tm="100000">
                                          <p:val>
                                            <p:strVal val="#ppt_h"/>
                                          </p:val>
                                        </p:tav>
                                      </p:tavLst>
                                    </p:anim>
                                    <p:animEffect transition="in" filter="fade">
                                      <p:cBhvr>
                                        <p:cTn id="9" dur="500"/>
                                        <p:tgtEl>
                                          <p:spTgt spid="76"/>
                                        </p:tgtEl>
                                      </p:cBhvr>
                                    </p:animEffect>
                                  </p:childTnLst>
                                </p:cTn>
                              </p:par>
                              <p:par>
                                <p:cTn id="10" presetID="2" presetClass="entr" presetSubtype="8" fill="hold" nodeType="withEffect">
                                  <p:stCondLst>
                                    <p:cond delay="0"/>
                                  </p:stCondLst>
                                  <p:childTnLst>
                                    <p:set>
                                      <p:cBhvr>
                                        <p:cTn id="11" dur="1" fill="hold">
                                          <p:stCondLst>
                                            <p:cond delay="0"/>
                                          </p:stCondLst>
                                        </p:cTn>
                                        <p:tgtEl>
                                          <p:spTgt spid="77"/>
                                        </p:tgtEl>
                                        <p:attrNameLst>
                                          <p:attrName>style.visibility</p:attrName>
                                        </p:attrNameLst>
                                      </p:cBhvr>
                                      <p:to>
                                        <p:strVal val="visible"/>
                                      </p:to>
                                    </p:set>
                                    <p:anim calcmode="lin" valueType="num">
                                      <p:cBhvr additive="base">
                                        <p:cTn id="12" dur="500" fill="hold"/>
                                        <p:tgtEl>
                                          <p:spTgt spid="77"/>
                                        </p:tgtEl>
                                        <p:attrNameLst>
                                          <p:attrName>ppt_x</p:attrName>
                                        </p:attrNameLst>
                                      </p:cBhvr>
                                      <p:tavLst>
                                        <p:tav tm="0">
                                          <p:val>
                                            <p:strVal val="0-#ppt_w/2"/>
                                          </p:val>
                                        </p:tav>
                                        <p:tav tm="100000">
                                          <p:val>
                                            <p:strVal val="#ppt_x"/>
                                          </p:val>
                                        </p:tav>
                                      </p:tavLst>
                                    </p:anim>
                                    <p:anim calcmode="lin" valueType="num">
                                      <p:cBhvr additive="base">
                                        <p:cTn id="13" dur="500" fill="hold"/>
                                        <p:tgtEl>
                                          <p:spTgt spid="77"/>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p:tgtEl>
                                          <p:spTgt spid="16"/>
                                        </p:tgtEl>
                                        <p:attrNameLst>
                                          <p:attrName>ppt_x</p:attrName>
                                        </p:attrNameLst>
                                      </p:cBhvr>
                                      <p:tavLst>
                                        <p:tav tm="0">
                                          <p:val>
                                            <p:strVal val="#ppt_x+#ppt_w*1.125000"/>
                                          </p:val>
                                        </p:tav>
                                        <p:tav tm="100000">
                                          <p:val>
                                            <p:strVal val="#ppt_x"/>
                                          </p:val>
                                        </p:tav>
                                      </p:tavLst>
                                    </p:anim>
                                    <p:animEffect transition="in" filter="wipe(lef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74"/>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2" grpId="0" animBg="1"/>
      <p:bldP spid="8" grpId="0"/>
      <p:bldP spid="14" grpId="0"/>
      <p:bldP spid="74" grpId="0"/>
      <p:bldP spid="1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p:nvPr/>
        </p:nvGrpSpPr>
        <p:grpSpPr>
          <a:xfrm>
            <a:off x="4474260" y="4775522"/>
            <a:ext cx="3042014" cy="515654"/>
            <a:chOff x="4243804" y="5106300"/>
            <a:chExt cx="3538929" cy="599885"/>
          </a:xfrm>
        </p:grpSpPr>
        <p:grpSp>
          <p:nvGrpSpPr>
            <p:cNvPr id="81" name="Group 2"/>
            <p:cNvGrpSpPr/>
            <p:nvPr/>
          </p:nvGrpSpPr>
          <p:grpSpPr>
            <a:xfrm>
              <a:off x="4243804" y="5106300"/>
              <a:ext cx="3538929" cy="599885"/>
              <a:chOff x="4243804" y="5106300"/>
              <a:chExt cx="3538929" cy="599885"/>
            </a:xfrm>
          </p:grpSpPr>
          <p:sp>
            <p:nvSpPr>
              <p:cNvPr id="87" name="Oval 85"/>
              <p:cNvSpPr/>
              <p:nvPr/>
            </p:nvSpPr>
            <p:spPr>
              <a:xfrm>
                <a:off x="4243804" y="5106300"/>
                <a:ext cx="599885" cy="599885"/>
              </a:xfrm>
              <a:prstGeom prst="ellipse">
                <a:avLst/>
              </a:prstGeom>
              <a:solidFill>
                <a:schemeClr val="accent1">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000" b="1"/>
              </a:p>
            </p:txBody>
          </p:sp>
          <p:sp>
            <p:nvSpPr>
              <p:cNvPr id="88" name="Oval 73"/>
              <p:cNvSpPr/>
              <p:nvPr/>
            </p:nvSpPr>
            <p:spPr>
              <a:xfrm>
                <a:off x="4979185" y="5106300"/>
                <a:ext cx="599885" cy="599885"/>
              </a:xfrm>
              <a:prstGeom prst="ellipse">
                <a:avLst/>
              </a:prstGeom>
              <a:solidFill>
                <a:schemeClr val="accent1">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000" b="1"/>
              </a:p>
            </p:txBody>
          </p:sp>
          <p:sp>
            <p:nvSpPr>
              <p:cNvPr id="89" name="Oval 65"/>
              <p:cNvSpPr/>
              <p:nvPr/>
            </p:nvSpPr>
            <p:spPr>
              <a:xfrm>
                <a:off x="5714567" y="5106300"/>
                <a:ext cx="599885" cy="599885"/>
              </a:xfrm>
              <a:prstGeom prst="ellipse">
                <a:avLst/>
              </a:prstGeom>
              <a:solidFill>
                <a:schemeClr val="accent1">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000" b="1"/>
              </a:p>
            </p:txBody>
          </p:sp>
          <p:sp>
            <p:nvSpPr>
              <p:cNvPr id="90" name="Oval 63"/>
              <p:cNvSpPr/>
              <p:nvPr/>
            </p:nvSpPr>
            <p:spPr>
              <a:xfrm>
                <a:off x="6449948" y="5106300"/>
                <a:ext cx="599885" cy="599885"/>
              </a:xfrm>
              <a:prstGeom prst="ellipse">
                <a:avLst/>
              </a:prstGeom>
              <a:solidFill>
                <a:schemeClr val="accent1">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000" b="1"/>
              </a:p>
            </p:txBody>
          </p:sp>
          <p:sp>
            <p:nvSpPr>
              <p:cNvPr id="91" name="Oval 50"/>
              <p:cNvSpPr/>
              <p:nvPr/>
            </p:nvSpPr>
            <p:spPr>
              <a:xfrm>
                <a:off x="7182848" y="5106300"/>
                <a:ext cx="599885" cy="599885"/>
              </a:xfrm>
              <a:prstGeom prst="ellipse">
                <a:avLst/>
              </a:prstGeom>
              <a:solidFill>
                <a:schemeClr val="accent1">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000" b="1"/>
              </a:p>
            </p:txBody>
          </p:sp>
        </p:grpSp>
        <p:sp>
          <p:nvSpPr>
            <p:cNvPr id="82" name="Freeform: Shape 138"/>
            <p:cNvSpPr/>
            <p:nvPr/>
          </p:nvSpPr>
          <p:spPr bwMode="auto">
            <a:xfrm>
              <a:off x="5140643" y="5248046"/>
              <a:ext cx="316393" cy="316393"/>
            </a:xfrm>
            <a:custGeom>
              <a:avLst/>
              <a:gdLst>
                <a:gd name="T0" fmla="*/ 184 w 260"/>
                <a:gd name="T1" fmla="*/ 106 h 260"/>
                <a:gd name="T2" fmla="*/ 193 w 260"/>
                <a:gd name="T3" fmla="*/ 143 h 260"/>
                <a:gd name="T4" fmla="*/ 117 w 260"/>
                <a:gd name="T5" fmla="*/ 219 h 260"/>
                <a:gd name="T6" fmla="*/ 42 w 260"/>
                <a:gd name="T7" fmla="*/ 143 h 260"/>
                <a:gd name="T8" fmla="*/ 117 w 260"/>
                <a:gd name="T9" fmla="*/ 66 h 260"/>
                <a:gd name="T10" fmla="*/ 154 w 260"/>
                <a:gd name="T11" fmla="*/ 76 h 260"/>
                <a:gd name="T12" fmla="*/ 183 w 260"/>
                <a:gd name="T13" fmla="*/ 46 h 260"/>
                <a:gd name="T14" fmla="*/ 117 w 260"/>
                <a:gd name="T15" fmla="*/ 25 h 260"/>
                <a:gd name="T16" fmla="*/ 0 w 260"/>
                <a:gd name="T17" fmla="*/ 143 h 260"/>
                <a:gd name="T18" fmla="*/ 117 w 260"/>
                <a:gd name="T19" fmla="*/ 260 h 260"/>
                <a:gd name="T20" fmla="*/ 233 w 260"/>
                <a:gd name="T21" fmla="*/ 143 h 260"/>
                <a:gd name="T22" fmla="*/ 213 w 260"/>
                <a:gd name="T23" fmla="*/ 77 h 260"/>
                <a:gd name="T24" fmla="*/ 184 w 260"/>
                <a:gd name="T25" fmla="*/ 106 h 260"/>
                <a:gd name="T26" fmla="*/ 225 w 260"/>
                <a:gd name="T27" fmla="*/ 35 h 260"/>
                <a:gd name="T28" fmla="*/ 225 w 260"/>
                <a:gd name="T29" fmla="*/ 35 h 260"/>
                <a:gd name="T30" fmla="*/ 225 w 260"/>
                <a:gd name="T31" fmla="*/ 0 h 260"/>
                <a:gd name="T32" fmla="*/ 203 w 260"/>
                <a:gd name="T33" fmla="*/ 23 h 260"/>
                <a:gd name="T34" fmla="*/ 203 w 260"/>
                <a:gd name="T35" fmla="*/ 46 h 260"/>
                <a:gd name="T36" fmla="*/ 139 w 260"/>
                <a:gd name="T37" fmla="*/ 111 h 260"/>
                <a:gd name="T38" fmla="*/ 117 w 260"/>
                <a:gd name="T39" fmla="*/ 104 h 260"/>
                <a:gd name="T40" fmla="*/ 79 w 260"/>
                <a:gd name="T41" fmla="*/ 143 h 260"/>
                <a:gd name="T42" fmla="*/ 117 w 260"/>
                <a:gd name="T43" fmla="*/ 181 h 260"/>
                <a:gd name="T44" fmla="*/ 155 w 260"/>
                <a:gd name="T45" fmla="*/ 143 h 260"/>
                <a:gd name="T46" fmla="*/ 150 w 260"/>
                <a:gd name="T47" fmla="*/ 123 h 260"/>
                <a:gd name="T48" fmla="*/ 215 w 260"/>
                <a:gd name="T49" fmla="*/ 58 h 260"/>
                <a:gd name="T50" fmla="*/ 237 w 260"/>
                <a:gd name="T51" fmla="*/ 58 h 260"/>
                <a:gd name="T52" fmla="*/ 260 w 260"/>
                <a:gd name="T53" fmla="*/ 35 h 260"/>
                <a:gd name="T54" fmla="*/ 225 w 260"/>
                <a:gd name="T55" fmla="*/ 35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60" h="260">
                  <a:moveTo>
                    <a:pt x="184" y="106"/>
                  </a:moveTo>
                  <a:cubicBezTo>
                    <a:pt x="190" y="117"/>
                    <a:pt x="193" y="129"/>
                    <a:pt x="193" y="143"/>
                  </a:cubicBezTo>
                  <a:cubicBezTo>
                    <a:pt x="193" y="185"/>
                    <a:pt x="159" y="219"/>
                    <a:pt x="117" y="219"/>
                  </a:cubicBezTo>
                  <a:cubicBezTo>
                    <a:pt x="76" y="219"/>
                    <a:pt x="42" y="185"/>
                    <a:pt x="42" y="143"/>
                  </a:cubicBezTo>
                  <a:cubicBezTo>
                    <a:pt x="42" y="100"/>
                    <a:pt x="76" y="66"/>
                    <a:pt x="117" y="66"/>
                  </a:cubicBezTo>
                  <a:cubicBezTo>
                    <a:pt x="131" y="66"/>
                    <a:pt x="143" y="70"/>
                    <a:pt x="154" y="76"/>
                  </a:cubicBezTo>
                  <a:cubicBezTo>
                    <a:pt x="183" y="46"/>
                    <a:pt x="183" y="46"/>
                    <a:pt x="183" y="46"/>
                  </a:cubicBezTo>
                  <a:cubicBezTo>
                    <a:pt x="165" y="33"/>
                    <a:pt x="141" y="25"/>
                    <a:pt x="117" y="25"/>
                  </a:cubicBezTo>
                  <a:cubicBezTo>
                    <a:pt x="52" y="25"/>
                    <a:pt x="0" y="78"/>
                    <a:pt x="0" y="143"/>
                  </a:cubicBezTo>
                  <a:cubicBezTo>
                    <a:pt x="0" y="207"/>
                    <a:pt x="52" y="260"/>
                    <a:pt x="117" y="260"/>
                  </a:cubicBezTo>
                  <a:cubicBezTo>
                    <a:pt x="181" y="260"/>
                    <a:pt x="233" y="207"/>
                    <a:pt x="233" y="143"/>
                  </a:cubicBezTo>
                  <a:cubicBezTo>
                    <a:pt x="233" y="118"/>
                    <a:pt x="226" y="96"/>
                    <a:pt x="213" y="77"/>
                  </a:cubicBezTo>
                  <a:cubicBezTo>
                    <a:pt x="184" y="106"/>
                    <a:pt x="184" y="106"/>
                    <a:pt x="184" y="106"/>
                  </a:cubicBezTo>
                  <a:close/>
                  <a:moveTo>
                    <a:pt x="225" y="35"/>
                  </a:moveTo>
                  <a:cubicBezTo>
                    <a:pt x="225" y="35"/>
                    <a:pt x="225" y="35"/>
                    <a:pt x="225" y="35"/>
                  </a:cubicBezTo>
                  <a:cubicBezTo>
                    <a:pt x="225" y="0"/>
                    <a:pt x="225" y="0"/>
                    <a:pt x="225" y="0"/>
                  </a:cubicBezTo>
                  <a:cubicBezTo>
                    <a:pt x="203" y="23"/>
                    <a:pt x="203" y="23"/>
                    <a:pt x="203" y="23"/>
                  </a:cubicBezTo>
                  <a:cubicBezTo>
                    <a:pt x="203" y="46"/>
                    <a:pt x="203" y="46"/>
                    <a:pt x="203" y="46"/>
                  </a:cubicBezTo>
                  <a:cubicBezTo>
                    <a:pt x="139" y="111"/>
                    <a:pt x="139" y="111"/>
                    <a:pt x="139" y="111"/>
                  </a:cubicBezTo>
                  <a:cubicBezTo>
                    <a:pt x="133" y="106"/>
                    <a:pt x="125" y="104"/>
                    <a:pt x="117" y="104"/>
                  </a:cubicBezTo>
                  <a:cubicBezTo>
                    <a:pt x="96" y="104"/>
                    <a:pt x="79" y="121"/>
                    <a:pt x="79" y="143"/>
                  </a:cubicBezTo>
                  <a:cubicBezTo>
                    <a:pt x="79" y="164"/>
                    <a:pt x="96" y="181"/>
                    <a:pt x="117" y="181"/>
                  </a:cubicBezTo>
                  <a:cubicBezTo>
                    <a:pt x="138" y="181"/>
                    <a:pt x="155" y="164"/>
                    <a:pt x="155" y="143"/>
                  </a:cubicBezTo>
                  <a:cubicBezTo>
                    <a:pt x="155" y="136"/>
                    <a:pt x="154" y="129"/>
                    <a:pt x="150" y="123"/>
                  </a:cubicBezTo>
                  <a:cubicBezTo>
                    <a:pt x="215" y="58"/>
                    <a:pt x="215" y="58"/>
                    <a:pt x="215" y="58"/>
                  </a:cubicBezTo>
                  <a:cubicBezTo>
                    <a:pt x="237" y="58"/>
                    <a:pt x="237" y="58"/>
                    <a:pt x="237" y="58"/>
                  </a:cubicBezTo>
                  <a:cubicBezTo>
                    <a:pt x="260" y="35"/>
                    <a:pt x="260" y="35"/>
                    <a:pt x="260" y="35"/>
                  </a:cubicBezTo>
                  <a:cubicBezTo>
                    <a:pt x="225" y="35"/>
                    <a:pt x="225" y="35"/>
                    <a:pt x="225" y="35"/>
                  </a:cubicBezTo>
                  <a:close/>
                </a:path>
              </a:pathLst>
            </a:custGeom>
            <a:solidFill>
              <a:schemeClr val="accent1"/>
            </a:solidFill>
            <a:ln>
              <a:noFill/>
            </a:ln>
          </p:spPr>
          <p:txBody>
            <a:bodyPr anchor="ctr"/>
            <a:lstStyle/>
            <a:p>
              <a:pPr algn="ctr"/>
              <a:endParaRPr sz="2000" b="1"/>
            </a:p>
          </p:txBody>
        </p:sp>
        <p:sp>
          <p:nvSpPr>
            <p:cNvPr id="83" name="Freeform: Shape 139"/>
            <p:cNvSpPr/>
            <p:nvPr/>
          </p:nvSpPr>
          <p:spPr bwMode="auto">
            <a:xfrm>
              <a:off x="4395308" y="5248046"/>
              <a:ext cx="316393" cy="316393"/>
            </a:xfrm>
            <a:custGeom>
              <a:avLst/>
              <a:gdLst>
                <a:gd name="T0" fmla="*/ 187 w 228"/>
                <a:gd name="T1" fmla="*/ 114 h 240"/>
                <a:gd name="T2" fmla="*/ 114 w 228"/>
                <a:gd name="T3" fmla="*/ 40 h 240"/>
                <a:gd name="T4" fmla="*/ 40 w 228"/>
                <a:gd name="T5" fmla="*/ 114 h 240"/>
                <a:gd name="T6" fmla="*/ 68 w 228"/>
                <a:gd name="T7" fmla="*/ 171 h 240"/>
                <a:gd name="T8" fmla="*/ 74 w 228"/>
                <a:gd name="T9" fmla="*/ 173 h 240"/>
                <a:gd name="T10" fmla="*/ 81 w 228"/>
                <a:gd name="T11" fmla="*/ 169 h 240"/>
                <a:gd name="T12" fmla="*/ 79 w 228"/>
                <a:gd name="T13" fmla="*/ 156 h 240"/>
                <a:gd name="T14" fmla="*/ 59 w 228"/>
                <a:gd name="T15" fmla="*/ 114 h 240"/>
                <a:gd name="T16" fmla="*/ 114 w 228"/>
                <a:gd name="T17" fmla="*/ 59 h 240"/>
                <a:gd name="T18" fmla="*/ 169 w 228"/>
                <a:gd name="T19" fmla="*/ 114 h 240"/>
                <a:gd name="T20" fmla="*/ 152 w 228"/>
                <a:gd name="T21" fmla="*/ 153 h 240"/>
                <a:gd name="T22" fmla="*/ 151 w 228"/>
                <a:gd name="T23" fmla="*/ 166 h 240"/>
                <a:gd name="T24" fmla="*/ 165 w 228"/>
                <a:gd name="T25" fmla="*/ 167 h 240"/>
                <a:gd name="T26" fmla="*/ 187 w 228"/>
                <a:gd name="T27" fmla="*/ 114 h 240"/>
                <a:gd name="T28" fmla="*/ 116 w 228"/>
                <a:gd name="T29" fmla="*/ 79 h 240"/>
                <a:gd name="T30" fmla="*/ 81 w 228"/>
                <a:gd name="T31" fmla="*/ 114 h 240"/>
                <a:gd name="T32" fmla="*/ 101 w 228"/>
                <a:gd name="T33" fmla="*/ 144 h 240"/>
                <a:gd name="T34" fmla="*/ 101 w 228"/>
                <a:gd name="T35" fmla="*/ 226 h 240"/>
                <a:gd name="T36" fmla="*/ 115 w 228"/>
                <a:gd name="T37" fmla="*/ 240 h 240"/>
                <a:gd name="T38" fmla="*/ 129 w 228"/>
                <a:gd name="T39" fmla="*/ 226 h 240"/>
                <a:gd name="T40" fmla="*/ 129 w 228"/>
                <a:gd name="T41" fmla="*/ 145 h 240"/>
                <a:gd name="T42" fmla="*/ 150 w 228"/>
                <a:gd name="T43" fmla="*/ 114 h 240"/>
                <a:gd name="T44" fmla="*/ 116 w 228"/>
                <a:gd name="T45" fmla="*/ 79 h 240"/>
                <a:gd name="T46" fmla="*/ 114 w 228"/>
                <a:gd name="T47" fmla="*/ 0 h 240"/>
                <a:gd name="T48" fmla="*/ 0 w 228"/>
                <a:gd name="T49" fmla="*/ 114 h 240"/>
                <a:gd name="T50" fmla="*/ 52 w 228"/>
                <a:gd name="T51" fmla="*/ 209 h 240"/>
                <a:gd name="T52" fmla="*/ 57 w 228"/>
                <a:gd name="T53" fmla="*/ 211 h 240"/>
                <a:gd name="T54" fmla="*/ 65 w 228"/>
                <a:gd name="T55" fmla="*/ 206 h 240"/>
                <a:gd name="T56" fmla="*/ 62 w 228"/>
                <a:gd name="T57" fmla="*/ 193 h 240"/>
                <a:gd name="T58" fmla="*/ 19 w 228"/>
                <a:gd name="T59" fmla="*/ 114 h 240"/>
                <a:gd name="T60" fmla="*/ 114 w 228"/>
                <a:gd name="T61" fmla="*/ 18 h 240"/>
                <a:gd name="T62" fmla="*/ 209 w 228"/>
                <a:gd name="T63" fmla="*/ 114 h 240"/>
                <a:gd name="T64" fmla="*/ 168 w 228"/>
                <a:gd name="T65" fmla="*/ 192 h 240"/>
                <a:gd name="T66" fmla="*/ 165 w 228"/>
                <a:gd name="T67" fmla="*/ 205 h 240"/>
                <a:gd name="T68" fmla="*/ 178 w 228"/>
                <a:gd name="T69" fmla="*/ 208 h 240"/>
                <a:gd name="T70" fmla="*/ 228 w 228"/>
                <a:gd name="T71" fmla="*/ 114 h 240"/>
                <a:gd name="T72" fmla="*/ 114 w 228"/>
                <a:gd name="T73"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8" h="240">
                  <a:moveTo>
                    <a:pt x="187" y="114"/>
                  </a:moveTo>
                  <a:cubicBezTo>
                    <a:pt x="187" y="73"/>
                    <a:pt x="154" y="40"/>
                    <a:pt x="114" y="40"/>
                  </a:cubicBezTo>
                  <a:cubicBezTo>
                    <a:pt x="73" y="40"/>
                    <a:pt x="40" y="73"/>
                    <a:pt x="40" y="114"/>
                  </a:cubicBezTo>
                  <a:cubicBezTo>
                    <a:pt x="40" y="136"/>
                    <a:pt x="50" y="157"/>
                    <a:pt x="68" y="171"/>
                  </a:cubicBezTo>
                  <a:cubicBezTo>
                    <a:pt x="69" y="172"/>
                    <a:pt x="71" y="173"/>
                    <a:pt x="74" y="173"/>
                  </a:cubicBezTo>
                  <a:cubicBezTo>
                    <a:pt x="76" y="173"/>
                    <a:pt x="79" y="171"/>
                    <a:pt x="81" y="169"/>
                  </a:cubicBezTo>
                  <a:cubicBezTo>
                    <a:pt x="84" y="165"/>
                    <a:pt x="83" y="159"/>
                    <a:pt x="79" y="156"/>
                  </a:cubicBezTo>
                  <a:cubicBezTo>
                    <a:pt x="67" y="146"/>
                    <a:pt x="59" y="130"/>
                    <a:pt x="59" y="114"/>
                  </a:cubicBezTo>
                  <a:cubicBezTo>
                    <a:pt x="59" y="83"/>
                    <a:pt x="84" y="59"/>
                    <a:pt x="114" y="59"/>
                  </a:cubicBezTo>
                  <a:cubicBezTo>
                    <a:pt x="144" y="59"/>
                    <a:pt x="169" y="83"/>
                    <a:pt x="169" y="114"/>
                  </a:cubicBezTo>
                  <a:cubicBezTo>
                    <a:pt x="169" y="129"/>
                    <a:pt x="163" y="143"/>
                    <a:pt x="152" y="153"/>
                  </a:cubicBezTo>
                  <a:cubicBezTo>
                    <a:pt x="148" y="157"/>
                    <a:pt x="148" y="163"/>
                    <a:pt x="151" y="166"/>
                  </a:cubicBezTo>
                  <a:cubicBezTo>
                    <a:pt x="155" y="170"/>
                    <a:pt x="161" y="170"/>
                    <a:pt x="165" y="167"/>
                  </a:cubicBezTo>
                  <a:cubicBezTo>
                    <a:pt x="179" y="153"/>
                    <a:pt x="187" y="134"/>
                    <a:pt x="187" y="114"/>
                  </a:cubicBezTo>
                  <a:close/>
                  <a:moveTo>
                    <a:pt x="116" y="79"/>
                  </a:moveTo>
                  <a:cubicBezTo>
                    <a:pt x="97" y="79"/>
                    <a:pt x="81" y="95"/>
                    <a:pt x="81" y="114"/>
                  </a:cubicBezTo>
                  <a:cubicBezTo>
                    <a:pt x="81" y="127"/>
                    <a:pt x="89" y="139"/>
                    <a:pt x="101" y="144"/>
                  </a:cubicBezTo>
                  <a:cubicBezTo>
                    <a:pt x="101" y="226"/>
                    <a:pt x="101" y="226"/>
                    <a:pt x="101" y="226"/>
                  </a:cubicBezTo>
                  <a:cubicBezTo>
                    <a:pt x="101" y="233"/>
                    <a:pt x="107" y="240"/>
                    <a:pt x="115" y="240"/>
                  </a:cubicBezTo>
                  <a:cubicBezTo>
                    <a:pt x="123" y="240"/>
                    <a:pt x="129" y="233"/>
                    <a:pt x="129" y="226"/>
                  </a:cubicBezTo>
                  <a:cubicBezTo>
                    <a:pt x="129" y="145"/>
                    <a:pt x="129" y="145"/>
                    <a:pt x="129" y="145"/>
                  </a:cubicBezTo>
                  <a:cubicBezTo>
                    <a:pt x="141" y="140"/>
                    <a:pt x="150" y="128"/>
                    <a:pt x="150" y="114"/>
                  </a:cubicBezTo>
                  <a:cubicBezTo>
                    <a:pt x="150" y="95"/>
                    <a:pt x="134" y="79"/>
                    <a:pt x="116" y="79"/>
                  </a:cubicBezTo>
                  <a:close/>
                  <a:moveTo>
                    <a:pt x="114" y="0"/>
                  </a:moveTo>
                  <a:cubicBezTo>
                    <a:pt x="51" y="0"/>
                    <a:pt x="0" y="51"/>
                    <a:pt x="0" y="114"/>
                  </a:cubicBezTo>
                  <a:cubicBezTo>
                    <a:pt x="0" y="152"/>
                    <a:pt x="19" y="188"/>
                    <a:pt x="52" y="209"/>
                  </a:cubicBezTo>
                  <a:cubicBezTo>
                    <a:pt x="54" y="210"/>
                    <a:pt x="55" y="211"/>
                    <a:pt x="57" y="211"/>
                  </a:cubicBezTo>
                  <a:cubicBezTo>
                    <a:pt x="60" y="211"/>
                    <a:pt x="63" y="209"/>
                    <a:pt x="65" y="206"/>
                  </a:cubicBezTo>
                  <a:cubicBezTo>
                    <a:pt x="68" y="202"/>
                    <a:pt x="67" y="196"/>
                    <a:pt x="62" y="193"/>
                  </a:cubicBezTo>
                  <a:cubicBezTo>
                    <a:pt x="35" y="176"/>
                    <a:pt x="19" y="146"/>
                    <a:pt x="19" y="114"/>
                  </a:cubicBezTo>
                  <a:cubicBezTo>
                    <a:pt x="19" y="61"/>
                    <a:pt x="61" y="18"/>
                    <a:pt x="114" y="18"/>
                  </a:cubicBezTo>
                  <a:cubicBezTo>
                    <a:pt x="166" y="18"/>
                    <a:pt x="209" y="61"/>
                    <a:pt x="209" y="114"/>
                  </a:cubicBezTo>
                  <a:cubicBezTo>
                    <a:pt x="209" y="145"/>
                    <a:pt x="194" y="174"/>
                    <a:pt x="168" y="192"/>
                  </a:cubicBezTo>
                  <a:cubicBezTo>
                    <a:pt x="163" y="195"/>
                    <a:pt x="162" y="201"/>
                    <a:pt x="165" y="205"/>
                  </a:cubicBezTo>
                  <a:cubicBezTo>
                    <a:pt x="168" y="209"/>
                    <a:pt x="174" y="211"/>
                    <a:pt x="178" y="208"/>
                  </a:cubicBezTo>
                  <a:cubicBezTo>
                    <a:pt x="209" y="186"/>
                    <a:pt x="228" y="151"/>
                    <a:pt x="228" y="114"/>
                  </a:cubicBezTo>
                  <a:cubicBezTo>
                    <a:pt x="228" y="51"/>
                    <a:pt x="177" y="0"/>
                    <a:pt x="114" y="0"/>
                  </a:cubicBezTo>
                  <a:close/>
                </a:path>
              </a:pathLst>
            </a:custGeom>
            <a:solidFill>
              <a:schemeClr val="accent1"/>
            </a:solidFill>
            <a:ln>
              <a:noFill/>
            </a:ln>
          </p:spPr>
          <p:txBody>
            <a:bodyPr anchor="ctr"/>
            <a:lstStyle/>
            <a:p>
              <a:pPr algn="ctr"/>
              <a:endParaRPr sz="2000" b="1"/>
            </a:p>
          </p:txBody>
        </p:sp>
        <p:sp>
          <p:nvSpPr>
            <p:cNvPr id="84" name="Freeform: Shape 140"/>
            <p:cNvSpPr/>
            <p:nvPr/>
          </p:nvSpPr>
          <p:spPr bwMode="auto">
            <a:xfrm>
              <a:off x="5879976" y="5248046"/>
              <a:ext cx="316393" cy="316393"/>
            </a:xfrm>
            <a:custGeom>
              <a:avLst/>
              <a:gdLst>
                <a:gd name="T0" fmla="*/ 74 w 236"/>
                <a:gd name="T1" fmla="*/ 160 h 236"/>
                <a:gd name="T2" fmla="*/ 93 w 236"/>
                <a:gd name="T3" fmla="*/ 160 h 236"/>
                <a:gd name="T4" fmla="*/ 93 w 236"/>
                <a:gd name="T5" fmla="*/ 103 h 236"/>
                <a:gd name="T6" fmla="*/ 74 w 236"/>
                <a:gd name="T7" fmla="*/ 103 h 236"/>
                <a:gd name="T8" fmla="*/ 74 w 236"/>
                <a:gd name="T9" fmla="*/ 160 h 236"/>
                <a:gd name="T10" fmla="*/ 140 w 236"/>
                <a:gd name="T11" fmla="*/ 102 h 236"/>
                <a:gd name="T12" fmla="*/ 122 w 236"/>
                <a:gd name="T13" fmla="*/ 111 h 236"/>
                <a:gd name="T14" fmla="*/ 122 w 236"/>
                <a:gd name="T15" fmla="*/ 103 h 236"/>
                <a:gd name="T16" fmla="*/ 103 w 236"/>
                <a:gd name="T17" fmla="*/ 103 h 236"/>
                <a:gd name="T18" fmla="*/ 103 w 236"/>
                <a:gd name="T19" fmla="*/ 160 h 236"/>
                <a:gd name="T20" fmla="*/ 122 w 236"/>
                <a:gd name="T21" fmla="*/ 160 h 236"/>
                <a:gd name="T22" fmla="*/ 122 w 236"/>
                <a:gd name="T23" fmla="*/ 128 h 236"/>
                <a:gd name="T24" fmla="*/ 123 w 236"/>
                <a:gd name="T25" fmla="*/ 124 h 236"/>
                <a:gd name="T26" fmla="*/ 133 w 236"/>
                <a:gd name="T27" fmla="*/ 117 h 236"/>
                <a:gd name="T28" fmla="*/ 142 w 236"/>
                <a:gd name="T29" fmla="*/ 130 h 236"/>
                <a:gd name="T30" fmla="*/ 142 w 236"/>
                <a:gd name="T31" fmla="*/ 160 h 236"/>
                <a:gd name="T32" fmla="*/ 161 w 236"/>
                <a:gd name="T33" fmla="*/ 160 h 236"/>
                <a:gd name="T34" fmla="*/ 161 w 236"/>
                <a:gd name="T35" fmla="*/ 160 h 236"/>
                <a:gd name="T36" fmla="*/ 161 w 236"/>
                <a:gd name="T37" fmla="*/ 127 h 236"/>
                <a:gd name="T38" fmla="*/ 140 w 236"/>
                <a:gd name="T39" fmla="*/ 102 h 236"/>
                <a:gd name="T40" fmla="*/ 122 w 236"/>
                <a:gd name="T41" fmla="*/ 111 h 236"/>
                <a:gd name="T42" fmla="*/ 122 w 236"/>
                <a:gd name="T43" fmla="*/ 111 h 236"/>
                <a:gd name="T44" fmla="*/ 122 w 236"/>
                <a:gd name="T45" fmla="*/ 111 h 236"/>
                <a:gd name="T46" fmla="*/ 83 w 236"/>
                <a:gd name="T47" fmla="*/ 75 h 236"/>
                <a:gd name="T48" fmla="*/ 73 w 236"/>
                <a:gd name="T49" fmla="*/ 85 h 236"/>
                <a:gd name="T50" fmla="*/ 83 w 236"/>
                <a:gd name="T51" fmla="*/ 95 h 236"/>
                <a:gd name="T52" fmla="*/ 83 w 236"/>
                <a:gd name="T53" fmla="*/ 95 h 236"/>
                <a:gd name="T54" fmla="*/ 94 w 236"/>
                <a:gd name="T55" fmla="*/ 85 h 236"/>
                <a:gd name="T56" fmla="*/ 83 w 236"/>
                <a:gd name="T57" fmla="*/ 75 h 236"/>
                <a:gd name="T58" fmla="*/ 118 w 236"/>
                <a:gd name="T59" fmla="*/ 0 h 236"/>
                <a:gd name="T60" fmla="*/ 0 w 236"/>
                <a:gd name="T61" fmla="*/ 118 h 236"/>
                <a:gd name="T62" fmla="*/ 118 w 236"/>
                <a:gd name="T63" fmla="*/ 236 h 236"/>
                <a:gd name="T64" fmla="*/ 236 w 236"/>
                <a:gd name="T65" fmla="*/ 118 h 236"/>
                <a:gd name="T66" fmla="*/ 118 w 236"/>
                <a:gd name="T67" fmla="*/ 0 h 236"/>
                <a:gd name="T68" fmla="*/ 181 w 236"/>
                <a:gd name="T69" fmla="*/ 172 h 236"/>
                <a:gd name="T70" fmla="*/ 171 w 236"/>
                <a:gd name="T71" fmla="*/ 181 h 236"/>
                <a:gd name="T72" fmla="*/ 64 w 236"/>
                <a:gd name="T73" fmla="*/ 181 h 236"/>
                <a:gd name="T74" fmla="*/ 55 w 236"/>
                <a:gd name="T75" fmla="*/ 172 h 236"/>
                <a:gd name="T76" fmla="*/ 55 w 236"/>
                <a:gd name="T77" fmla="*/ 63 h 236"/>
                <a:gd name="T78" fmla="*/ 64 w 236"/>
                <a:gd name="T79" fmla="*/ 54 h 236"/>
                <a:gd name="T80" fmla="*/ 171 w 236"/>
                <a:gd name="T81" fmla="*/ 54 h 236"/>
                <a:gd name="T82" fmla="*/ 181 w 236"/>
                <a:gd name="T83" fmla="*/ 63 h 236"/>
                <a:gd name="T84" fmla="*/ 181 w 236"/>
                <a:gd name="T85" fmla="*/ 172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6" h="236">
                  <a:moveTo>
                    <a:pt x="74" y="160"/>
                  </a:moveTo>
                  <a:cubicBezTo>
                    <a:pt x="93" y="160"/>
                    <a:pt x="93" y="160"/>
                    <a:pt x="93" y="160"/>
                  </a:cubicBezTo>
                  <a:cubicBezTo>
                    <a:pt x="93" y="103"/>
                    <a:pt x="93" y="103"/>
                    <a:pt x="93" y="103"/>
                  </a:cubicBezTo>
                  <a:cubicBezTo>
                    <a:pt x="74" y="103"/>
                    <a:pt x="74" y="103"/>
                    <a:pt x="74" y="103"/>
                  </a:cubicBezTo>
                  <a:lnTo>
                    <a:pt x="74" y="160"/>
                  </a:lnTo>
                  <a:close/>
                  <a:moveTo>
                    <a:pt x="140" y="102"/>
                  </a:moveTo>
                  <a:cubicBezTo>
                    <a:pt x="129" y="102"/>
                    <a:pt x="125" y="107"/>
                    <a:pt x="122" y="111"/>
                  </a:cubicBezTo>
                  <a:cubicBezTo>
                    <a:pt x="122" y="103"/>
                    <a:pt x="122" y="103"/>
                    <a:pt x="122" y="103"/>
                  </a:cubicBezTo>
                  <a:cubicBezTo>
                    <a:pt x="103" y="103"/>
                    <a:pt x="103" y="103"/>
                    <a:pt x="103" y="103"/>
                  </a:cubicBezTo>
                  <a:cubicBezTo>
                    <a:pt x="104" y="108"/>
                    <a:pt x="103" y="160"/>
                    <a:pt x="103" y="160"/>
                  </a:cubicBezTo>
                  <a:cubicBezTo>
                    <a:pt x="122" y="160"/>
                    <a:pt x="122" y="160"/>
                    <a:pt x="122" y="160"/>
                  </a:cubicBezTo>
                  <a:cubicBezTo>
                    <a:pt x="122" y="128"/>
                    <a:pt x="122" y="128"/>
                    <a:pt x="122" y="128"/>
                  </a:cubicBezTo>
                  <a:cubicBezTo>
                    <a:pt x="122" y="127"/>
                    <a:pt x="123" y="125"/>
                    <a:pt x="123" y="124"/>
                  </a:cubicBezTo>
                  <a:cubicBezTo>
                    <a:pt x="124" y="120"/>
                    <a:pt x="128" y="117"/>
                    <a:pt x="133" y="117"/>
                  </a:cubicBezTo>
                  <a:cubicBezTo>
                    <a:pt x="140" y="117"/>
                    <a:pt x="142" y="122"/>
                    <a:pt x="142" y="130"/>
                  </a:cubicBezTo>
                  <a:cubicBezTo>
                    <a:pt x="142" y="160"/>
                    <a:pt x="142" y="160"/>
                    <a:pt x="142" y="160"/>
                  </a:cubicBezTo>
                  <a:cubicBezTo>
                    <a:pt x="161" y="160"/>
                    <a:pt x="161" y="160"/>
                    <a:pt x="161" y="160"/>
                  </a:cubicBezTo>
                  <a:cubicBezTo>
                    <a:pt x="161" y="160"/>
                    <a:pt x="161" y="160"/>
                    <a:pt x="161" y="160"/>
                  </a:cubicBezTo>
                  <a:cubicBezTo>
                    <a:pt x="161" y="127"/>
                    <a:pt x="161" y="127"/>
                    <a:pt x="161" y="127"/>
                  </a:cubicBezTo>
                  <a:cubicBezTo>
                    <a:pt x="161" y="110"/>
                    <a:pt x="152" y="102"/>
                    <a:pt x="140" y="102"/>
                  </a:cubicBezTo>
                  <a:close/>
                  <a:moveTo>
                    <a:pt x="122" y="111"/>
                  </a:moveTo>
                  <a:cubicBezTo>
                    <a:pt x="122" y="111"/>
                    <a:pt x="122" y="111"/>
                    <a:pt x="122" y="111"/>
                  </a:cubicBezTo>
                  <a:cubicBezTo>
                    <a:pt x="122" y="111"/>
                    <a:pt x="122" y="111"/>
                    <a:pt x="122" y="111"/>
                  </a:cubicBezTo>
                  <a:close/>
                  <a:moveTo>
                    <a:pt x="83" y="75"/>
                  </a:moveTo>
                  <a:cubicBezTo>
                    <a:pt x="77" y="75"/>
                    <a:pt x="73" y="80"/>
                    <a:pt x="73" y="85"/>
                  </a:cubicBezTo>
                  <a:cubicBezTo>
                    <a:pt x="73" y="91"/>
                    <a:pt x="77" y="95"/>
                    <a:pt x="83" y="95"/>
                  </a:cubicBezTo>
                  <a:cubicBezTo>
                    <a:pt x="83" y="95"/>
                    <a:pt x="83" y="95"/>
                    <a:pt x="83" y="95"/>
                  </a:cubicBezTo>
                  <a:cubicBezTo>
                    <a:pt x="90" y="95"/>
                    <a:pt x="94" y="91"/>
                    <a:pt x="94" y="85"/>
                  </a:cubicBezTo>
                  <a:cubicBezTo>
                    <a:pt x="94" y="80"/>
                    <a:pt x="90" y="75"/>
                    <a:pt x="83" y="75"/>
                  </a:cubicBezTo>
                  <a:close/>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81" y="172"/>
                  </a:moveTo>
                  <a:cubicBezTo>
                    <a:pt x="181" y="177"/>
                    <a:pt x="176" y="181"/>
                    <a:pt x="171" y="181"/>
                  </a:cubicBezTo>
                  <a:cubicBezTo>
                    <a:pt x="64" y="181"/>
                    <a:pt x="64" y="181"/>
                    <a:pt x="64" y="181"/>
                  </a:cubicBezTo>
                  <a:cubicBezTo>
                    <a:pt x="59" y="181"/>
                    <a:pt x="55" y="177"/>
                    <a:pt x="55" y="172"/>
                  </a:cubicBezTo>
                  <a:cubicBezTo>
                    <a:pt x="55" y="63"/>
                    <a:pt x="55" y="63"/>
                    <a:pt x="55" y="63"/>
                  </a:cubicBezTo>
                  <a:cubicBezTo>
                    <a:pt x="55" y="58"/>
                    <a:pt x="59" y="54"/>
                    <a:pt x="64" y="54"/>
                  </a:cubicBezTo>
                  <a:cubicBezTo>
                    <a:pt x="171" y="54"/>
                    <a:pt x="171" y="54"/>
                    <a:pt x="171" y="54"/>
                  </a:cubicBezTo>
                  <a:cubicBezTo>
                    <a:pt x="176" y="54"/>
                    <a:pt x="181" y="58"/>
                    <a:pt x="181" y="63"/>
                  </a:cubicBezTo>
                  <a:cubicBezTo>
                    <a:pt x="181" y="172"/>
                    <a:pt x="181" y="172"/>
                    <a:pt x="181" y="172"/>
                  </a:cubicBezTo>
                  <a:close/>
                </a:path>
              </a:pathLst>
            </a:custGeom>
            <a:solidFill>
              <a:schemeClr val="accent1"/>
            </a:solidFill>
            <a:ln>
              <a:noFill/>
            </a:ln>
          </p:spPr>
          <p:txBody>
            <a:bodyPr anchor="ctr"/>
            <a:lstStyle/>
            <a:p>
              <a:pPr algn="ctr"/>
              <a:endParaRPr sz="2000" b="1"/>
            </a:p>
          </p:txBody>
        </p:sp>
        <p:sp>
          <p:nvSpPr>
            <p:cNvPr id="85" name="Freeform: Shape 142"/>
            <p:cNvSpPr/>
            <p:nvPr/>
          </p:nvSpPr>
          <p:spPr bwMode="auto">
            <a:xfrm>
              <a:off x="7324593" y="5248046"/>
              <a:ext cx="316393" cy="316393"/>
            </a:xfrm>
            <a:custGeom>
              <a:avLst/>
              <a:gdLst>
                <a:gd name="T0" fmla="*/ 116 w 232"/>
                <a:gd name="T1" fmla="*/ 0 h 232"/>
                <a:gd name="T2" fmla="*/ 0 w 232"/>
                <a:gd name="T3" fmla="*/ 116 h 232"/>
                <a:gd name="T4" fmla="*/ 116 w 232"/>
                <a:gd name="T5" fmla="*/ 232 h 232"/>
                <a:gd name="T6" fmla="*/ 232 w 232"/>
                <a:gd name="T7" fmla="*/ 116 h 232"/>
                <a:gd name="T8" fmla="*/ 116 w 232"/>
                <a:gd name="T9" fmla="*/ 0 h 232"/>
                <a:gd name="T10" fmla="*/ 129 w 232"/>
                <a:gd name="T11" fmla="*/ 208 h 232"/>
                <a:gd name="T12" fmla="*/ 129 w 232"/>
                <a:gd name="T13" fmla="*/ 190 h 232"/>
                <a:gd name="T14" fmla="*/ 117 w 232"/>
                <a:gd name="T15" fmla="*/ 178 h 232"/>
                <a:gd name="T16" fmla="*/ 105 w 232"/>
                <a:gd name="T17" fmla="*/ 190 h 232"/>
                <a:gd name="T18" fmla="*/ 105 w 232"/>
                <a:gd name="T19" fmla="*/ 208 h 232"/>
                <a:gd name="T20" fmla="*/ 25 w 232"/>
                <a:gd name="T21" fmla="*/ 129 h 232"/>
                <a:gd name="T22" fmla="*/ 42 w 232"/>
                <a:gd name="T23" fmla="*/ 129 h 232"/>
                <a:gd name="T24" fmla="*/ 53 w 232"/>
                <a:gd name="T25" fmla="*/ 117 h 232"/>
                <a:gd name="T26" fmla="*/ 42 w 232"/>
                <a:gd name="T27" fmla="*/ 105 h 232"/>
                <a:gd name="T28" fmla="*/ 24 w 232"/>
                <a:gd name="T29" fmla="*/ 105 h 232"/>
                <a:gd name="T30" fmla="*/ 104 w 232"/>
                <a:gd name="T31" fmla="*/ 25 h 232"/>
                <a:gd name="T32" fmla="*/ 104 w 232"/>
                <a:gd name="T33" fmla="*/ 41 h 232"/>
                <a:gd name="T34" fmla="*/ 116 w 232"/>
                <a:gd name="T35" fmla="*/ 53 h 232"/>
                <a:gd name="T36" fmla="*/ 128 w 232"/>
                <a:gd name="T37" fmla="*/ 41 h 232"/>
                <a:gd name="T38" fmla="*/ 128 w 232"/>
                <a:gd name="T39" fmla="*/ 25 h 232"/>
                <a:gd name="T40" fmla="*/ 208 w 232"/>
                <a:gd name="T41" fmla="*/ 104 h 232"/>
                <a:gd name="T42" fmla="*/ 190 w 232"/>
                <a:gd name="T43" fmla="*/ 104 h 232"/>
                <a:gd name="T44" fmla="*/ 179 w 232"/>
                <a:gd name="T45" fmla="*/ 116 h 232"/>
                <a:gd name="T46" fmla="*/ 190 w 232"/>
                <a:gd name="T47" fmla="*/ 128 h 232"/>
                <a:gd name="T48" fmla="*/ 208 w 232"/>
                <a:gd name="T49" fmla="*/ 128 h 232"/>
                <a:gd name="T50" fmla="*/ 129 w 232"/>
                <a:gd name="T51" fmla="*/ 208 h 232"/>
                <a:gd name="T52" fmla="*/ 124 w 232"/>
                <a:gd name="T53" fmla="*/ 94 h 232"/>
                <a:gd name="T54" fmla="*/ 70 w 232"/>
                <a:gd name="T55" fmla="*/ 69 h 232"/>
                <a:gd name="T56" fmla="*/ 94 w 232"/>
                <a:gd name="T57" fmla="*/ 124 h 232"/>
                <a:gd name="T58" fmla="*/ 109 w 232"/>
                <a:gd name="T59" fmla="*/ 138 h 232"/>
                <a:gd name="T60" fmla="*/ 163 w 232"/>
                <a:gd name="T61" fmla="*/ 163 h 232"/>
                <a:gd name="T62" fmla="*/ 138 w 232"/>
                <a:gd name="T63" fmla="*/ 108 h 232"/>
                <a:gd name="T64" fmla="*/ 124 w 232"/>
                <a:gd name="T65" fmla="*/ 94 h 232"/>
                <a:gd name="T66" fmla="*/ 123 w 232"/>
                <a:gd name="T67" fmla="*/ 123 h 232"/>
                <a:gd name="T68" fmla="*/ 110 w 232"/>
                <a:gd name="T69" fmla="*/ 123 h 232"/>
                <a:gd name="T70" fmla="*/ 110 w 232"/>
                <a:gd name="T71" fmla="*/ 109 h 232"/>
                <a:gd name="T72" fmla="*/ 123 w 232"/>
                <a:gd name="T73" fmla="*/ 109 h 232"/>
                <a:gd name="T74" fmla="*/ 123 w 232"/>
                <a:gd name="T75" fmla="*/ 123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2" h="232">
                  <a:moveTo>
                    <a:pt x="116" y="0"/>
                  </a:moveTo>
                  <a:cubicBezTo>
                    <a:pt x="52" y="0"/>
                    <a:pt x="0" y="52"/>
                    <a:pt x="0" y="116"/>
                  </a:cubicBezTo>
                  <a:cubicBezTo>
                    <a:pt x="0" y="180"/>
                    <a:pt x="52" y="232"/>
                    <a:pt x="116" y="232"/>
                  </a:cubicBezTo>
                  <a:cubicBezTo>
                    <a:pt x="180" y="232"/>
                    <a:pt x="232" y="180"/>
                    <a:pt x="232" y="116"/>
                  </a:cubicBezTo>
                  <a:cubicBezTo>
                    <a:pt x="232" y="52"/>
                    <a:pt x="180" y="0"/>
                    <a:pt x="116" y="0"/>
                  </a:cubicBezTo>
                  <a:close/>
                  <a:moveTo>
                    <a:pt x="129" y="208"/>
                  </a:moveTo>
                  <a:cubicBezTo>
                    <a:pt x="129" y="190"/>
                    <a:pt x="129" y="190"/>
                    <a:pt x="129" y="190"/>
                  </a:cubicBezTo>
                  <a:cubicBezTo>
                    <a:pt x="129" y="183"/>
                    <a:pt x="123" y="178"/>
                    <a:pt x="117" y="178"/>
                  </a:cubicBezTo>
                  <a:cubicBezTo>
                    <a:pt x="110" y="178"/>
                    <a:pt x="105" y="183"/>
                    <a:pt x="105" y="190"/>
                  </a:cubicBezTo>
                  <a:cubicBezTo>
                    <a:pt x="105" y="208"/>
                    <a:pt x="105" y="208"/>
                    <a:pt x="105" y="208"/>
                  </a:cubicBezTo>
                  <a:cubicBezTo>
                    <a:pt x="63" y="203"/>
                    <a:pt x="30" y="170"/>
                    <a:pt x="25" y="129"/>
                  </a:cubicBezTo>
                  <a:cubicBezTo>
                    <a:pt x="42" y="129"/>
                    <a:pt x="42" y="129"/>
                    <a:pt x="42" y="129"/>
                  </a:cubicBezTo>
                  <a:cubicBezTo>
                    <a:pt x="48" y="129"/>
                    <a:pt x="53" y="123"/>
                    <a:pt x="53" y="117"/>
                  </a:cubicBezTo>
                  <a:cubicBezTo>
                    <a:pt x="53" y="110"/>
                    <a:pt x="48" y="105"/>
                    <a:pt x="42" y="105"/>
                  </a:cubicBezTo>
                  <a:cubicBezTo>
                    <a:pt x="24" y="105"/>
                    <a:pt x="24" y="105"/>
                    <a:pt x="24" y="105"/>
                  </a:cubicBezTo>
                  <a:cubicBezTo>
                    <a:pt x="29" y="63"/>
                    <a:pt x="63" y="30"/>
                    <a:pt x="104" y="25"/>
                  </a:cubicBezTo>
                  <a:cubicBezTo>
                    <a:pt x="104" y="41"/>
                    <a:pt x="104" y="41"/>
                    <a:pt x="104" y="41"/>
                  </a:cubicBezTo>
                  <a:cubicBezTo>
                    <a:pt x="104" y="47"/>
                    <a:pt x="109" y="53"/>
                    <a:pt x="116" y="53"/>
                  </a:cubicBezTo>
                  <a:cubicBezTo>
                    <a:pt x="122" y="53"/>
                    <a:pt x="128" y="47"/>
                    <a:pt x="128" y="41"/>
                  </a:cubicBezTo>
                  <a:cubicBezTo>
                    <a:pt x="128" y="25"/>
                    <a:pt x="128" y="25"/>
                    <a:pt x="128" y="25"/>
                  </a:cubicBezTo>
                  <a:cubicBezTo>
                    <a:pt x="169" y="30"/>
                    <a:pt x="202" y="63"/>
                    <a:pt x="208" y="104"/>
                  </a:cubicBezTo>
                  <a:cubicBezTo>
                    <a:pt x="190" y="104"/>
                    <a:pt x="190" y="104"/>
                    <a:pt x="190" y="104"/>
                  </a:cubicBezTo>
                  <a:cubicBezTo>
                    <a:pt x="184" y="104"/>
                    <a:pt x="179" y="109"/>
                    <a:pt x="179" y="116"/>
                  </a:cubicBezTo>
                  <a:cubicBezTo>
                    <a:pt x="179" y="122"/>
                    <a:pt x="184" y="128"/>
                    <a:pt x="190" y="128"/>
                  </a:cubicBezTo>
                  <a:cubicBezTo>
                    <a:pt x="208" y="128"/>
                    <a:pt x="208" y="128"/>
                    <a:pt x="208" y="128"/>
                  </a:cubicBezTo>
                  <a:cubicBezTo>
                    <a:pt x="203" y="169"/>
                    <a:pt x="170" y="202"/>
                    <a:pt x="129" y="208"/>
                  </a:cubicBezTo>
                  <a:close/>
                  <a:moveTo>
                    <a:pt x="124" y="94"/>
                  </a:moveTo>
                  <a:cubicBezTo>
                    <a:pt x="70" y="69"/>
                    <a:pt x="70" y="69"/>
                    <a:pt x="70" y="69"/>
                  </a:cubicBezTo>
                  <a:cubicBezTo>
                    <a:pt x="94" y="124"/>
                    <a:pt x="94" y="124"/>
                    <a:pt x="94" y="124"/>
                  </a:cubicBezTo>
                  <a:cubicBezTo>
                    <a:pt x="97" y="129"/>
                    <a:pt x="103" y="136"/>
                    <a:pt x="109" y="138"/>
                  </a:cubicBezTo>
                  <a:cubicBezTo>
                    <a:pt x="163" y="163"/>
                    <a:pt x="163" y="163"/>
                    <a:pt x="163" y="163"/>
                  </a:cubicBezTo>
                  <a:cubicBezTo>
                    <a:pt x="138" y="108"/>
                    <a:pt x="138" y="108"/>
                    <a:pt x="138" y="108"/>
                  </a:cubicBezTo>
                  <a:cubicBezTo>
                    <a:pt x="136" y="103"/>
                    <a:pt x="130" y="96"/>
                    <a:pt x="124" y="94"/>
                  </a:cubicBezTo>
                  <a:close/>
                  <a:moveTo>
                    <a:pt x="123" y="123"/>
                  </a:moveTo>
                  <a:cubicBezTo>
                    <a:pt x="119" y="126"/>
                    <a:pt x="113" y="126"/>
                    <a:pt x="110" y="123"/>
                  </a:cubicBezTo>
                  <a:cubicBezTo>
                    <a:pt x="106" y="119"/>
                    <a:pt x="106" y="113"/>
                    <a:pt x="110" y="109"/>
                  </a:cubicBezTo>
                  <a:cubicBezTo>
                    <a:pt x="113" y="106"/>
                    <a:pt x="119" y="106"/>
                    <a:pt x="123" y="109"/>
                  </a:cubicBezTo>
                  <a:cubicBezTo>
                    <a:pt x="127" y="113"/>
                    <a:pt x="127" y="119"/>
                    <a:pt x="123" y="123"/>
                  </a:cubicBezTo>
                  <a:close/>
                </a:path>
              </a:pathLst>
            </a:custGeom>
            <a:solidFill>
              <a:schemeClr val="accent1"/>
            </a:solidFill>
            <a:ln>
              <a:noFill/>
            </a:ln>
          </p:spPr>
          <p:txBody>
            <a:bodyPr anchor="ctr"/>
            <a:lstStyle/>
            <a:p>
              <a:pPr algn="ctr"/>
              <a:endParaRPr sz="2000" b="1"/>
            </a:p>
          </p:txBody>
        </p:sp>
        <p:sp>
          <p:nvSpPr>
            <p:cNvPr id="86" name="Freeform: Shape 143"/>
            <p:cNvSpPr/>
            <p:nvPr/>
          </p:nvSpPr>
          <p:spPr bwMode="auto">
            <a:xfrm>
              <a:off x="6591693" y="5248046"/>
              <a:ext cx="316393" cy="316393"/>
            </a:xfrm>
            <a:custGeom>
              <a:avLst/>
              <a:gdLst>
                <a:gd name="T0" fmla="*/ 182 w 236"/>
                <a:gd name="T1" fmla="*/ 109 h 236"/>
                <a:gd name="T2" fmla="*/ 157 w 236"/>
                <a:gd name="T3" fmla="*/ 103 h 236"/>
                <a:gd name="T4" fmla="*/ 134 w 236"/>
                <a:gd name="T5" fmla="*/ 102 h 236"/>
                <a:gd name="T6" fmla="*/ 120 w 236"/>
                <a:gd name="T7" fmla="*/ 114 h 236"/>
                <a:gd name="T8" fmla="*/ 118 w 236"/>
                <a:gd name="T9" fmla="*/ 129 h 236"/>
                <a:gd name="T10" fmla="*/ 122 w 236"/>
                <a:gd name="T11" fmla="*/ 141 h 236"/>
                <a:gd name="T12" fmla="*/ 135 w 236"/>
                <a:gd name="T13" fmla="*/ 156 h 236"/>
                <a:gd name="T14" fmla="*/ 139 w 236"/>
                <a:gd name="T15" fmla="*/ 185 h 236"/>
                <a:gd name="T16" fmla="*/ 152 w 236"/>
                <a:gd name="T17" fmla="*/ 198 h 236"/>
                <a:gd name="T18" fmla="*/ 169 w 236"/>
                <a:gd name="T19" fmla="*/ 180 h 236"/>
                <a:gd name="T20" fmla="*/ 187 w 236"/>
                <a:gd name="T21" fmla="*/ 150 h 236"/>
                <a:gd name="T22" fmla="*/ 200 w 236"/>
                <a:gd name="T23" fmla="*/ 122 h 236"/>
                <a:gd name="T24" fmla="*/ 182 w 236"/>
                <a:gd name="T25" fmla="*/ 109 h 236"/>
                <a:gd name="T26" fmla="*/ 118 w 236"/>
                <a:gd name="T27" fmla="*/ 0 h 236"/>
                <a:gd name="T28" fmla="*/ 0 w 236"/>
                <a:gd name="T29" fmla="*/ 118 h 236"/>
                <a:gd name="T30" fmla="*/ 118 w 236"/>
                <a:gd name="T31" fmla="*/ 236 h 236"/>
                <a:gd name="T32" fmla="*/ 236 w 236"/>
                <a:gd name="T33" fmla="*/ 118 h 236"/>
                <a:gd name="T34" fmla="*/ 118 w 236"/>
                <a:gd name="T35" fmla="*/ 0 h 236"/>
                <a:gd name="T36" fmla="*/ 126 w 236"/>
                <a:gd name="T37" fmla="*/ 212 h 236"/>
                <a:gd name="T38" fmla="*/ 128 w 236"/>
                <a:gd name="T39" fmla="*/ 208 h 236"/>
                <a:gd name="T40" fmla="*/ 125 w 236"/>
                <a:gd name="T41" fmla="*/ 186 h 236"/>
                <a:gd name="T42" fmla="*/ 105 w 236"/>
                <a:gd name="T43" fmla="*/ 186 h 236"/>
                <a:gd name="T44" fmla="*/ 98 w 236"/>
                <a:gd name="T45" fmla="*/ 207 h 236"/>
                <a:gd name="T46" fmla="*/ 102 w 236"/>
                <a:gd name="T47" fmla="*/ 211 h 236"/>
                <a:gd name="T48" fmla="*/ 34 w 236"/>
                <a:gd name="T49" fmla="*/ 161 h 236"/>
                <a:gd name="T50" fmla="*/ 44 w 236"/>
                <a:gd name="T51" fmla="*/ 157 h 236"/>
                <a:gd name="T52" fmla="*/ 44 w 236"/>
                <a:gd name="T53" fmla="*/ 157 h 236"/>
                <a:gd name="T54" fmla="*/ 81 w 236"/>
                <a:gd name="T55" fmla="*/ 142 h 236"/>
                <a:gd name="T56" fmla="*/ 81 w 236"/>
                <a:gd name="T57" fmla="*/ 118 h 236"/>
                <a:gd name="T58" fmla="*/ 55 w 236"/>
                <a:gd name="T59" fmla="*/ 94 h 236"/>
                <a:gd name="T60" fmla="*/ 28 w 236"/>
                <a:gd name="T61" fmla="*/ 90 h 236"/>
                <a:gd name="T62" fmla="*/ 84 w 236"/>
                <a:gd name="T63" fmla="*/ 30 h 236"/>
                <a:gd name="T64" fmla="*/ 84 w 236"/>
                <a:gd name="T65" fmla="*/ 31 h 236"/>
                <a:gd name="T66" fmla="*/ 102 w 236"/>
                <a:gd name="T67" fmla="*/ 56 h 236"/>
                <a:gd name="T68" fmla="*/ 120 w 236"/>
                <a:gd name="T69" fmla="*/ 79 h 236"/>
                <a:gd name="T70" fmla="*/ 131 w 236"/>
                <a:gd name="T71" fmla="*/ 97 h 236"/>
                <a:gd name="T72" fmla="*/ 146 w 236"/>
                <a:gd name="T73" fmla="*/ 88 h 236"/>
                <a:gd name="T74" fmla="*/ 177 w 236"/>
                <a:gd name="T75" fmla="*/ 66 h 236"/>
                <a:gd name="T76" fmla="*/ 190 w 236"/>
                <a:gd name="T77" fmla="*/ 57 h 236"/>
                <a:gd name="T78" fmla="*/ 212 w 236"/>
                <a:gd name="T79" fmla="*/ 118 h 236"/>
                <a:gd name="T80" fmla="*/ 126 w 236"/>
                <a:gd name="T81" fmla="*/ 212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36" h="236">
                  <a:moveTo>
                    <a:pt x="182" y="109"/>
                  </a:moveTo>
                  <a:cubicBezTo>
                    <a:pt x="172" y="107"/>
                    <a:pt x="161" y="105"/>
                    <a:pt x="157" y="103"/>
                  </a:cubicBezTo>
                  <a:cubicBezTo>
                    <a:pt x="153" y="102"/>
                    <a:pt x="143" y="101"/>
                    <a:pt x="134" y="102"/>
                  </a:cubicBezTo>
                  <a:cubicBezTo>
                    <a:pt x="125" y="103"/>
                    <a:pt x="119" y="109"/>
                    <a:pt x="120" y="114"/>
                  </a:cubicBezTo>
                  <a:cubicBezTo>
                    <a:pt x="121" y="119"/>
                    <a:pt x="120" y="126"/>
                    <a:pt x="118" y="129"/>
                  </a:cubicBezTo>
                  <a:cubicBezTo>
                    <a:pt x="117" y="132"/>
                    <a:pt x="118" y="138"/>
                    <a:pt x="122" y="141"/>
                  </a:cubicBezTo>
                  <a:cubicBezTo>
                    <a:pt x="127" y="144"/>
                    <a:pt x="132" y="151"/>
                    <a:pt x="135" y="156"/>
                  </a:cubicBezTo>
                  <a:cubicBezTo>
                    <a:pt x="138" y="162"/>
                    <a:pt x="140" y="175"/>
                    <a:pt x="139" y="185"/>
                  </a:cubicBezTo>
                  <a:cubicBezTo>
                    <a:pt x="139" y="195"/>
                    <a:pt x="145" y="201"/>
                    <a:pt x="152" y="198"/>
                  </a:cubicBezTo>
                  <a:cubicBezTo>
                    <a:pt x="160" y="195"/>
                    <a:pt x="167" y="187"/>
                    <a:pt x="169" y="180"/>
                  </a:cubicBezTo>
                  <a:cubicBezTo>
                    <a:pt x="171" y="174"/>
                    <a:pt x="179" y="160"/>
                    <a:pt x="187" y="150"/>
                  </a:cubicBezTo>
                  <a:cubicBezTo>
                    <a:pt x="195" y="140"/>
                    <a:pt x="201" y="127"/>
                    <a:pt x="200" y="122"/>
                  </a:cubicBezTo>
                  <a:cubicBezTo>
                    <a:pt x="200" y="116"/>
                    <a:pt x="191" y="111"/>
                    <a:pt x="182" y="109"/>
                  </a:cubicBezTo>
                  <a:close/>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26" y="212"/>
                  </a:moveTo>
                  <a:cubicBezTo>
                    <a:pt x="127" y="211"/>
                    <a:pt x="128" y="209"/>
                    <a:pt x="128" y="208"/>
                  </a:cubicBezTo>
                  <a:cubicBezTo>
                    <a:pt x="130" y="201"/>
                    <a:pt x="128" y="191"/>
                    <a:pt x="125" y="186"/>
                  </a:cubicBezTo>
                  <a:cubicBezTo>
                    <a:pt x="121" y="181"/>
                    <a:pt x="112" y="181"/>
                    <a:pt x="105" y="186"/>
                  </a:cubicBezTo>
                  <a:cubicBezTo>
                    <a:pt x="97" y="191"/>
                    <a:pt x="94" y="200"/>
                    <a:pt x="98" y="207"/>
                  </a:cubicBezTo>
                  <a:cubicBezTo>
                    <a:pt x="99" y="208"/>
                    <a:pt x="100" y="210"/>
                    <a:pt x="102" y="211"/>
                  </a:cubicBezTo>
                  <a:cubicBezTo>
                    <a:pt x="72" y="206"/>
                    <a:pt x="47" y="187"/>
                    <a:pt x="34" y="161"/>
                  </a:cubicBezTo>
                  <a:cubicBezTo>
                    <a:pt x="37" y="161"/>
                    <a:pt x="40" y="159"/>
                    <a:pt x="44" y="157"/>
                  </a:cubicBezTo>
                  <a:cubicBezTo>
                    <a:pt x="44" y="157"/>
                    <a:pt x="44" y="157"/>
                    <a:pt x="44" y="157"/>
                  </a:cubicBezTo>
                  <a:cubicBezTo>
                    <a:pt x="57" y="148"/>
                    <a:pt x="74" y="141"/>
                    <a:pt x="81" y="142"/>
                  </a:cubicBezTo>
                  <a:cubicBezTo>
                    <a:pt x="89" y="142"/>
                    <a:pt x="89" y="131"/>
                    <a:pt x="81" y="118"/>
                  </a:cubicBezTo>
                  <a:cubicBezTo>
                    <a:pt x="74" y="105"/>
                    <a:pt x="62" y="94"/>
                    <a:pt x="55" y="94"/>
                  </a:cubicBezTo>
                  <a:cubicBezTo>
                    <a:pt x="48" y="94"/>
                    <a:pt x="36" y="92"/>
                    <a:pt x="28" y="90"/>
                  </a:cubicBezTo>
                  <a:cubicBezTo>
                    <a:pt x="37" y="62"/>
                    <a:pt x="58" y="41"/>
                    <a:pt x="84" y="30"/>
                  </a:cubicBezTo>
                  <a:cubicBezTo>
                    <a:pt x="84" y="31"/>
                    <a:pt x="84" y="31"/>
                    <a:pt x="84" y="31"/>
                  </a:cubicBezTo>
                  <a:cubicBezTo>
                    <a:pt x="86" y="39"/>
                    <a:pt x="95" y="50"/>
                    <a:pt x="102" y="56"/>
                  </a:cubicBezTo>
                  <a:cubicBezTo>
                    <a:pt x="110" y="62"/>
                    <a:pt x="118" y="72"/>
                    <a:pt x="120" y="79"/>
                  </a:cubicBezTo>
                  <a:cubicBezTo>
                    <a:pt x="122" y="85"/>
                    <a:pt x="127" y="93"/>
                    <a:pt x="131" y="97"/>
                  </a:cubicBezTo>
                  <a:cubicBezTo>
                    <a:pt x="136" y="100"/>
                    <a:pt x="142" y="96"/>
                    <a:pt x="146" y="88"/>
                  </a:cubicBezTo>
                  <a:cubicBezTo>
                    <a:pt x="150" y="80"/>
                    <a:pt x="164" y="70"/>
                    <a:pt x="177" y="66"/>
                  </a:cubicBezTo>
                  <a:cubicBezTo>
                    <a:pt x="183" y="64"/>
                    <a:pt x="187" y="61"/>
                    <a:pt x="190" y="57"/>
                  </a:cubicBezTo>
                  <a:cubicBezTo>
                    <a:pt x="204" y="74"/>
                    <a:pt x="212" y="95"/>
                    <a:pt x="212" y="118"/>
                  </a:cubicBezTo>
                  <a:cubicBezTo>
                    <a:pt x="212" y="168"/>
                    <a:pt x="174" y="208"/>
                    <a:pt x="126" y="212"/>
                  </a:cubicBezTo>
                  <a:close/>
                </a:path>
              </a:pathLst>
            </a:custGeom>
            <a:solidFill>
              <a:schemeClr val="accent1"/>
            </a:solidFill>
            <a:ln>
              <a:noFill/>
            </a:ln>
          </p:spPr>
          <p:txBody>
            <a:bodyPr anchor="ctr"/>
            <a:lstStyle/>
            <a:p>
              <a:pPr algn="ctr"/>
              <a:endParaRPr sz="2000" b="1"/>
            </a:p>
          </p:txBody>
        </p:sp>
      </p:grpSp>
      <p:grpSp>
        <p:nvGrpSpPr>
          <p:cNvPr id="3" name="Group 1"/>
          <p:cNvGrpSpPr/>
          <p:nvPr/>
        </p:nvGrpSpPr>
        <p:grpSpPr>
          <a:xfrm>
            <a:off x="4681673" y="1770312"/>
            <a:ext cx="2792660" cy="2826553"/>
            <a:chOff x="1365304" y="1322527"/>
            <a:chExt cx="2604722" cy="2636334"/>
          </a:xfrm>
        </p:grpSpPr>
        <p:grpSp>
          <p:nvGrpSpPr>
            <p:cNvPr id="4" name="Group 99"/>
            <p:cNvGrpSpPr/>
            <p:nvPr/>
          </p:nvGrpSpPr>
          <p:grpSpPr>
            <a:xfrm>
              <a:off x="1365304" y="1322527"/>
              <a:ext cx="2604722" cy="2636334"/>
              <a:chOff x="4951411" y="1311276"/>
              <a:chExt cx="4184652" cy="4235449"/>
            </a:xfrm>
          </p:grpSpPr>
          <p:sp>
            <p:nvSpPr>
              <p:cNvPr id="5" name="Straight Connector 100"/>
              <p:cNvSpPr/>
              <p:nvPr/>
            </p:nvSpPr>
            <p:spPr bwMode="auto">
              <a:xfrm flipH="1" flipV="1">
                <a:off x="6943725" y="1311276"/>
                <a:ext cx="1130300" cy="266700"/>
              </a:xfrm>
              <a:prstGeom prst="line">
                <a:avLst/>
              </a:prstGeom>
              <a:noFill/>
              <a:ln w="12700">
                <a:solidFill>
                  <a:schemeClr val="bg1">
                    <a:lumMod val="65000"/>
                    <a:alpha val="54000"/>
                  </a:scheme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endParaRPr sz="2000"/>
              </a:p>
            </p:txBody>
          </p:sp>
          <p:sp>
            <p:nvSpPr>
              <p:cNvPr id="6" name="Freeform: Shape 101"/>
              <p:cNvSpPr/>
              <p:nvPr/>
            </p:nvSpPr>
            <p:spPr bwMode="auto">
              <a:xfrm>
                <a:off x="8074025" y="1577976"/>
                <a:ext cx="1062038" cy="1800225"/>
              </a:xfrm>
              <a:custGeom>
                <a:avLst/>
                <a:gdLst>
                  <a:gd name="T0" fmla="*/ 669 w 669"/>
                  <a:gd name="T1" fmla="*/ 1134 h 1134"/>
                  <a:gd name="T2" fmla="*/ 591 w 669"/>
                  <a:gd name="T3" fmla="*/ 550 h 1134"/>
                  <a:gd name="T4" fmla="*/ 0 w 669"/>
                  <a:gd name="T5" fmla="*/ 0 h 1134"/>
                </a:gdLst>
                <a:ahLst/>
                <a:cxnLst>
                  <a:cxn ang="0">
                    <a:pos x="T0" y="T1"/>
                  </a:cxn>
                  <a:cxn ang="0">
                    <a:pos x="T2" y="T3"/>
                  </a:cxn>
                  <a:cxn ang="0">
                    <a:pos x="T4" y="T5"/>
                  </a:cxn>
                </a:cxnLst>
                <a:rect l="0" t="0" r="r" b="b"/>
                <a:pathLst>
                  <a:path w="669" h="1134">
                    <a:moveTo>
                      <a:pt x="669" y="1134"/>
                    </a:moveTo>
                    <a:lnTo>
                      <a:pt x="591" y="550"/>
                    </a:lnTo>
                    <a:lnTo>
                      <a:pt x="0" y="0"/>
                    </a:lnTo>
                  </a:path>
                </a:pathLst>
              </a:custGeom>
              <a:noFill/>
              <a:ln w="12700">
                <a:solidFill>
                  <a:schemeClr val="bg1">
                    <a:lumMod val="65000"/>
                    <a:alpha val="54000"/>
                  </a:scheme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p>
                <a:pPr algn="ctr"/>
                <a:endParaRPr sz="2000" b="1"/>
              </a:p>
            </p:txBody>
          </p:sp>
          <p:sp>
            <p:nvSpPr>
              <p:cNvPr id="7" name="Freeform: Shape 102"/>
              <p:cNvSpPr/>
              <p:nvPr/>
            </p:nvSpPr>
            <p:spPr bwMode="auto">
              <a:xfrm>
                <a:off x="6048374" y="3378201"/>
                <a:ext cx="3087688" cy="2168524"/>
              </a:xfrm>
              <a:custGeom>
                <a:avLst/>
                <a:gdLst>
                  <a:gd name="T0" fmla="*/ 0 w 1945"/>
                  <a:gd name="T1" fmla="*/ 1276 h 1366"/>
                  <a:gd name="T2" fmla="*/ 830 w 1945"/>
                  <a:gd name="T3" fmla="*/ 1366 h 1366"/>
                  <a:gd name="T4" fmla="*/ 1305 w 1945"/>
                  <a:gd name="T5" fmla="*/ 1162 h 1366"/>
                  <a:gd name="T6" fmla="*/ 1804 w 1945"/>
                  <a:gd name="T7" fmla="*/ 737 h 1366"/>
                  <a:gd name="T8" fmla="*/ 1945 w 1945"/>
                  <a:gd name="T9" fmla="*/ 0 h 1366"/>
                </a:gdLst>
                <a:ahLst/>
                <a:cxnLst>
                  <a:cxn ang="0">
                    <a:pos x="T0" y="T1"/>
                  </a:cxn>
                  <a:cxn ang="0">
                    <a:pos x="T2" y="T3"/>
                  </a:cxn>
                  <a:cxn ang="0">
                    <a:pos x="T4" y="T5"/>
                  </a:cxn>
                  <a:cxn ang="0">
                    <a:pos x="T6" y="T7"/>
                  </a:cxn>
                  <a:cxn ang="0">
                    <a:pos x="T8" y="T9"/>
                  </a:cxn>
                </a:cxnLst>
                <a:rect l="0" t="0" r="r" b="b"/>
                <a:pathLst>
                  <a:path w="1945" h="1366">
                    <a:moveTo>
                      <a:pt x="0" y="1276"/>
                    </a:moveTo>
                    <a:lnTo>
                      <a:pt x="830" y="1366"/>
                    </a:lnTo>
                    <a:lnTo>
                      <a:pt x="1305" y="1162"/>
                    </a:lnTo>
                    <a:lnTo>
                      <a:pt x="1804" y="737"/>
                    </a:lnTo>
                    <a:lnTo>
                      <a:pt x="1945" y="0"/>
                    </a:lnTo>
                  </a:path>
                </a:pathLst>
              </a:custGeom>
              <a:noFill/>
              <a:ln w="12700">
                <a:solidFill>
                  <a:schemeClr val="bg1">
                    <a:lumMod val="65000"/>
                    <a:alpha val="54000"/>
                  </a:scheme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endParaRPr sz="2000" b="1"/>
              </a:p>
            </p:txBody>
          </p:sp>
          <p:sp>
            <p:nvSpPr>
              <p:cNvPr id="8" name="Straight Connector 103"/>
              <p:cNvSpPr/>
              <p:nvPr/>
            </p:nvSpPr>
            <p:spPr bwMode="auto">
              <a:xfrm>
                <a:off x="5118100" y="4216401"/>
                <a:ext cx="930275" cy="1187450"/>
              </a:xfrm>
              <a:prstGeom prst="line">
                <a:avLst/>
              </a:prstGeom>
              <a:noFill/>
              <a:ln w="12700">
                <a:solidFill>
                  <a:schemeClr val="bg1">
                    <a:lumMod val="65000"/>
                    <a:alpha val="54000"/>
                  </a:scheme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endParaRPr sz="2000"/>
              </a:p>
            </p:txBody>
          </p:sp>
          <p:sp>
            <p:nvSpPr>
              <p:cNvPr id="9" name="Freeform: Shape 104"/>
              <p:cNvSpPr/>
              <p:nvPr/>
            </p:nvSpPr>
            <p:spPr bwMode="auto">
              <a:xfrm>
                <a:off x="4951411" y="2489105"/>
                <a:ext cx="166691" cy="1727299"/>
              </a:xfrm>
              <a:custGeom>
                <a:avLst/>
                <a:gdLst>
                  <a:gd name="T0" fmla="*/ 609 w 609"/>
                  <a:gd name="T1" fmla="*/ 0 h 1611"/>
                  <a:gd name="T2" fmla="*/ 592 w 609"/>
                  <a:gd name="T3" fmla="*/ 5 h 1611"/>
                  <a:gd name="T4" fmla="*/ 313 w 609"/>
                  <a:gd name="T5" fmla="*/ 392 h 1611"/>
                  <a:gd name="T6" fmla="*/ 52 w 609"/>
                  <a:gd name="T7" fmla="*/ 523 h 1611"/>
                  <a:gd name="T8" fmla="*/ 0 w 609"/>
                  <a:gd name="T9" fmla="*/ 1132 h 1611"/>
                  <a:gd name="T10" fmla="*/ 105 w 609"/>
                  <a:gd name="T11" fmla="*/ 1611 h 1611"/>
                  <a:gd name="connsiteX0" fmla="*/ 10000 w 10018"/>
                  <a:gd name="connsiteY0" fmla="*/ 0 h 10000"/>
                  <a:gd name="connsiteX1" fmla="*/ 10018 w 10018"/>
                  <a:gd name="connsiteY1" fmla="*/ 1358 h 10000"/>
                  <a:gd name="connsiteX2" fmla="*/ 5140 w 10018"/>
                  <a:gd name="connsiteY2" fmla="*/ 2433 h 10000"/>
                  <a:gd name="connsiteX3" fmla="*/ 854 w 10018"/>
                  <a:gd name="connsiteY3" fmla="*/ 3246 h 10000"/>
                  <a:gd name="connsiteX4" fmla="*/ 0 w 10018"/>
                  <a:gd name="connsiteY4" fmla="*/ 7027 h 10000"/>
                  <a:gd name="connsiteX5" fmla="*/ 1724 w 10018"/>
                  <a:gd name="connsiteY5" fmla="*/ 10000 h 10000"/>
                  <a:gd name="connsiteX0-1" fmla="*/ 12868 w 12868"/>
                  <a:gd name="connsiteY0-2" fmla="*/ 0 h 9028"/>
                  <a:gd name="connsiteX1-3" fmla="*/ 10018 w 12868"/>
                  <a:gd name="connsiteY1-4" fmla="*/ 386 h 9028"/>
                  <a:gd name="connsiteX2-5" fmla="*/ 5140 w 12868"/>
                  <a:gd name="connsiteY2-6" fmla="*/ 1461 h 9028"/>
                  <a:gd name="connsiteX3-7" fmla="*/ 854 w 12868"/>
                  <a:gd name="connsiteY3-8" fmla="*/ 2274 h 9028"/>
                  <a:gd name="connsiteX4-9" fmla="*/ 0 w 12868"/>
                  <a:gd name="connsiteY4-10" fmla="*/ 6055 h 9028"/>
                  <a:gd name="connsiteX5-11" fmla="*/ 1724 w 12868"/>
                  <a:gd name="connsiteY5-12" fmla="*/ 9028 h 9028"/>
                  <a:gd name="connsiteX0-13" fmla="*/ 7785 w 7785"/>
                  <a:gd name="connsiteY0-14" fmla="*/ 0 h 9572"/>
                  <a:gd name="connsiteX1-15" fmla="*/ 3994 w 7785"/>
                  <a:gd name="connsiteY1-16" fmla="*/ 1190 h 9572"/>
                  <a:gd name="connsiteX2-17" fmla="*/ 664 w 7785"/>
                  <a:gd name="connsiteY2-18" fmla="*/ 2091 h 9572"/>
                  <a:gd name="connsiteX3-19" fmla="*/ 0 w 7785"/>
                  <a:gd name="connsiteY3-20" fmla="*/ 6279 h 9572"/>
                  <a:gd name="connsiteX4-21" fmla="*/ 1340 w 7785"/>
                  <a:gd name="connsiteY4-22" fmla="*/ 9572 h 9572"/>
                  <a:gd name="connsiteX0-23" fmla="*/ 5130 w 5130"/>
                  <a:gd name="connsiteY0-24" fmla="*/ 0 h 8757"/>
                  <a:gd name="connsiteX1-25" fmla="*/ 853 w 5130"/>
                  <a:gd name="connsiteY1-26" fmla="*/ 941 h 8757"/>
                  <a:gd name="connsiteX2-27" fmla="*/ 0 w 5130"/>
                  <a:gd name="connsiteY2-28" fmla="*/ 5317 h 8757"/>
                  <a:gd name="connsiteX3-29" fmla="*/ 1721 w 5130"/>
                  <a:gd name="connsiteY3-30" fmla="*/ 8757 h 8757"/>
                  <a:gd name="connsiteX0-31" fmla="*/ 1663 w 3355"/>
                  <a:gd name="connsiteY0-32" fmla="*/ 0 h 8925"/>
                  <a:gd name="connsiteX1-33" fmla="*/ 0 w 3355"/>
                  <a:gd name="connsiteY1-34" fmla="*/ 4997 h 8925"/>
                  <a:gd name="connsiteX2-35" fmla="*/ 3355 w 3355"/>
                  <a:gd name="connsiteY2-36" fmla="*/ 8925 h 8925"/>
                </a:gdLst>
                <a:ahLst/>
                <a:cxnLst>
                  <a:cxn ang="0">
                    <a:pos x="connsiteX0-1" y="connsiteY0-2"/>
                  </a:cxn>
                  <a:cxn ang="0">
                    <a:pos x="connsiteX1-3" y="connsiteY1-4"/>
                  </a:cxn>
                  <a:cxn ang="0">
                    <a:pos x="connsiteX2-5" y="connsiteY2-6"/>
                  </a:cxn>
                </a:cxnLst>
                <a:rect l="l" t="t" r="r" b="b"/>
                <a:pathLst>
                  <a:path w="3355" h="8925">
                    <a:moveTo>
                      <a:pt x="1663" y="0"/>
                    </a:moveTo>
                    <a:lnTo>
                      <a:pt x="0" y="4997"/>
                    </a:lnTo>
                    <a:lnTo>
                      <a:pt x="3355" y="8925"/>
                    </a:lnTo>
                  </a:path>
                </a:pathLst>
              </a:custGeom>
              <a:noFill/>
              <a:ln w="12700">
                <a:solidFill>
                  <a:schemeClr val="bg1">
                    <a:lumMod val="65000"/>
                    <a:alpha val="54000"/>
                  </a:scheme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endParaRPr sz="2000" b="1"/>
              </a:p>
            </p:txBody>
          </p:sp>
          <p:sp>
            <p:nvSpPr>
              <p:cNvPr id="10" name="Straight Connector 105"/>
              <p:cNvSpPr/>
              <p:nvPr/>
            </p:nvSpPr>
            <p:spPr bwMode="auto">
              <a:xfrm flipH="1">
                <a:off x="5918200" y="1311276"/>
                <a:ext cx="1025525" cy="347663"/>
              </a:xfrm>
              <a:prstGeom prst="line">
                <a:avLst/>
              </a:prstGeom>
              <a:noFill/>
              <a:ln w="12700">
                <a:solidFill>
                  <a:schemeClr val="bg1">
                    <a:lumMod val="65000"/>
                    <a:alpha val="54000"/>
                  </a:scheme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endParaRPr sz="2000"/>
              </a:p>
            </p:txBody>
          </p:sp>
          <p:sp>
            <p:nvSpPr>
              <p:cNvPr id="11" name="Freeform: Shape 106"/>
              <p:cNvSpPr/>
              <p:nvPr/>
            </p:nvSpPr>
            <p:spPr bwMode="auto">
              <a:xfrm>
                <a:off x="5919695" y="1547849"/>
                <a:ext cx="2159653" cy="120556"/>
              </a:xfrm>
              <a:custGeom>
                <a:avLst/>
                <a:gdLst>
                  <a:gd name="T0" fmla="*/ 0 w 1375"/>
                  <a:gd name="T1" fmla="*/ 69 h 119"/>
                  <a:gd name="T2" fmla="*/ 0 w 1375"/>
                  <a:gd name="T3" fmla="*/ 69 h 119"/>
                  <a:gd name="T4" fmla="*/ 681 w 1375"/>
                  <a:gd name="T5" fmla="*/ 0 h 119"/>
                  <a:gd name="T6" fmla="*/ 681 w 1375"/>
                  <a:gd name="T7" fmla="*/ 0 h 119"/>
                  <a:gd name="T8" fmla="*/ 1375 w 1375"/>
                  <a:gd name="T9" fmla="*/ 13 h 119"/>
                  <a:gd name="T10" fmla="*/ 1279 w 1375"/>
                  <a:gd name="T11" fmla="*/ 119 h 119"/>
                  <a:gd name="connsiteX0" fmla="*/ 0 w 10000"/>
                  <a:gd name="connsiteY0" fmla="*/ 5798 h 12759"/>
                  <a:gd name="connsiteX1" fmla="*/ 0 w 10000"/>
                  <a:gd name="connsiteY1" fmla="*/ 5798 h 12759"/>
                  <a:gd name="connsiteX2" fmla="*/ 4953 w 10000"/>
                  <a:gd name="connsiteY2" fmla="*/ 0 h 12759"/>
                  <a:gd name="connsiteX3" fmla="*/ 4953 w 10000"/>
                  <a:gd name="connsiteY3" fmla="*/ 0 h 12759"/>
                  <a:gd name="connsiteX4" fmla="*/ 10000 w 10000"/>
                  <a:gd name="connsiteY4" fmla="*/ 1092 h 12759"/>
                  <a:gd name="connsiteX5" fmla="*/ 9413 w 10000"/>
                  <a:gd name="connsiteY5" fmla="*/ 12759 h 12759"/>
                  <a:gd name="connsiteX0-1" fmla="*/ 0 w 10000"/>
                  <a:gd name="connsiteY0-2" fmla="*/ 5798 h 5798"/>
                  <a:gd name="connsiteX1-3" fmla="*/ 0 w 10000"/>
                  <a:gd name="connsiteY1-4" fmla="*/ 5798 h 5798"/>
                  <a:gd name="connsiteX2-5" fmla="*/ 4953 w 10000"/>
                  <a:gd name="connsiteY2-6" fmla="*/ 0 h 5798"/>
                  <a:gd name="connsiteX3-7" fmla="*/ 4953 w 10000"/>
                  <a:gd name="connsiteY3-8" fmla="*/ 0 h 5798"/>
                  <a:gd name="connsiteX4-9" fmla="*/ 10000 w 10000"/>
                  <a:gd name="connsiteY4-10" fmla="*/ 1092 h 579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5798">
                    <a:moveTo>
                      <a:pt x="0" y="5798"/>
                    </a:moveTo>
                    <a:lnTo>
                      <a:pt x="0" y="5798"/>
                    </a:lnTo>
                    <a:lnTo>
                      <a:pt x="4953" y="0"/>
                    </a:lnTo>
                    <a:lnTo>
                      <a:pt x="4953" y="0"/>
                    </a:lnTo>
                    <a:lnTo>
                      <a:pt x="10000" y="1092"/>
                    </a:lnTo>
                  </a:path>
                </a:pathLst>
              </a:custGeom>
              <a:noFill/>
              <a:ln w="12700">
                <a:solidFill>
                  <a:schemeClr val="bg1">
                    <a:lumMod val="65000"/>
                    <a:alpha val="54000"/>
                  </a:scheme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endParaRPr sz="2000" b="1"/>
              </a:p>
            </p:txBody>
          </p:sp>
          <p:sp>
            <p:nvSpPr>
              <p:cNvPr id="13" name="Freeform: Shape 107"/>
              <p:cNvSpPr/>
              <p:nvPr/>
            </p:nvSpPr>
            <p:spPr bwMode="auto">
              <a:xfrm>
                <a:off x="5765799" y="3549651"/>
                <a:ext cx="282575" cy="1854200"/>
              </a:xfrm>
              <a:custGeom>
                <a:avLst/>
                <a:gdLst>
                  <a:gd name="T0" fmla="*/ 0 w 178"/>
                  <a:gd name="T1" fmla="*/ 0 h 1168"/>
                  <a:gd name="T2" fmla="*/ 144 w 178"/>
                  <a:gd name="T3" fmla="*/ 792 h 1168"/>
                  <a:gd name="T4" fmla="*/ 178 w 178"/>
                  <a:gd name="T5" fmla="*/ 1168 h 1168"/>
                </a:gdLst>
                <a:ahLst/>
                <a:cxnLst>
                  <a:cxn ang="0">
                    <a:pos x="T0" y="T1"/>
                  </a:cxn>
                  <a:cxn ang="0">
                    <a:pos x="T2" y="T3"/>
                  </a:cxn>
                  <a:cxn ang="0">
                    <a:pos x="T4" y="T5"/>
                  </a:cxn>
                </a:cxnLst>
                <a:rect l="0" t="0" r="r" b="b"/>
                <a:pathLst>
                  <a:path w="178" h="1168">
                    <a:moveTo>
                      <a:pt x="0" y="0"/>
                    </a:moveTo>
                    <a:lnTo>
                      <a:pt x="144" y="792"/>
                    </a:lnTo>
                    <a:lnTo>
                      <a:pt x="178" y="1168"/>
                    </a:lnTo>
                  </a:path>
                </a:pathLst>
              </a:custGeom>
              <a:noFill/>
              <a:ln w="12700">
                <a:solidFill>
                  <a:schemeClr val="bg1">
                    <a:lumMod val="65000"/>
                    <a:alpha val="54000"/>
                  </a:scheme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endParaRPr sz="2000" b="1"/>
              </a:p>
            </p:txBody>
          </p:sp>
          <p:sp>
            <p:nvSpPr>
              <p:cNvPr id="65" name="Freeform: Shape 108"/>
              <p:cNvSpPr/>
              <p:nvPr/>
            </p:nvSpPr>
            <p:spPr bwMode="auto">
              <a:xfrm>
                <a:off x="5765799" y="1666876"/>
                <a:ext cx="209550" cy="1882775"/>
              </a:xfrm>
              <a:custGeom>
                <a:avLst/>
                <a:gdLst>
                  <a:gd name="T0" fmla="*/ 79 w 132"/>
                  <a:gd name="T1" fmla="*/ 0 h 1186"/>
                  <a:gd name="T2" fmla="*/ 132 w 132"/>
                  <a:gd name="T3" fmla="*/ 368 h 1186"/>
                  <a:gd name="T4" fmla="*/ 0 w 132"/>
                  <a:gd name="T5" fmla="*/ 1186 h 1186"/>
                </a:gdLst>
                <a:ahLst/>
                <a:cxnLst>
                  <a:cxn ang="0">
                    <a:pos x="T0" y="T1"/>
                  </a:cxn>
                  <a:cxn ang="0">
                    <a:pos x="T2" y="T3"/>
                  </a:cxn>
                  <a:cxn ang="0">
                    <a:pos x="T4" y="T5"/>
                  </a:cxn>
                </a:cxnLst>
                <a:rect l="0" t="0" r="r" b="b"/>
                <a:pathLst>
                  <a:path w="132" h="1186">
                    <a:moveTo>
                      <a:pt x="79" y="0"/>
                    </a:moveTo>
                    <a:lnTo>
                      <a:pt x="132" y="368"/>
                    </a:lnTo>
                    <a:lnTo>
                      <a:pt x="0" y="1186"/>
                    </a:lnTo>
                  </a:path>
                </a:pathLst>
              </a:custGeom>
              <a:noFill/>
              <a:ln w="12700">
                <a:solidFill>
                  <a:schemeClr val="bg1">
                    <a:lumMod val="65000"/>
                    <a:alpha val="54000"/>
                  </a:schemeClr>
                </a:solidFill>
                <a:prstDash val="solid"/>
                <a:round/>
                <a:headEnd type="none" w="sm" len="sm"/>
                <a:tailEnd type="oval" w="sm" len="sm"/>
              </a:ln>
              <a:extLst>
                <a:ext uri="{909E8E84-426E-40DD-AFC4-6F175D3DCCD1}">
                  <a14:hiddenFill xmlns:a14="http://schemas.microsoft.com/office/drawing/2010/main">
                    <a:solidFill>
                      <a:srgbClr val="FFFFFF"/>
                    </a:solidFill>
                  </a14:hiddenFill>
                </a:ext>
              </a:extLst>
            </p:spPr>
            <p:txBody>
              <a:bodyPr anchor="ctr"/>
              <a:lstStyle/>
              <a:p>
                <a:pPr algn="ctr"/>
                <a:endParaRPr sz="2000" b="1"/>
              </a:p>
            </p:txBody>
          </p:sp>
          <p:sp>
            <p:nvSpPr>
              <p:cNvPr id="66" name="Freeform: Shape 109"/>
              <p:cNvSpPr/>
              <p:nvPr/>
            </p:nvSpPr>
            <p:spPr bwMode="auto">
              <a:xfrm>
                <a:off x="6889749" y="4346575"/>
                <a:ext cx="476270" cy="1200150"/>
              </a:xfrm>
              <a:custGeom>
                <a:avLst/>
                <a:gdLst>
                  <a:gd name="T0" fmla="*/ 0 w 398"/>
                  <a:gd name="T1" fmla="*/ 0 h 756"/>
                  <a:gd name="T2" fmla="*/ 219 w 398"/>
                  <a:gd name="T3" fmla="*/ 591 h 756"/>
                  <a:gd name="T4" fmla="*/ 300 w 398"/>
                  <a:gd name="T5" fmla="*/ 756 h 756"/>
                  <a:gd name="T6" fmla="*/ 398 w 398"/>
                  <a:gd name="T7" fmla="*/ 595 h 756"/>
                  <a:gd name="connsiteX0" fmla="*/ 0 w 13102"/>
                  <a:gd name="connsiteY0" fmla="*/ 0 h 10000"/>
                  <a:gd name="connsiteX1" fmla="*/ 5503 w 13102"/>
                  <a:gd name="connsiteY1" fmla="*/ 7817 h 10000"/>
                  <a:gd name="connsiteX2" fmla="*/ 7538 w 13102"/>
                  <a:gd name="connsiteY2" fmla="*/ 10000 h 10000"/>
                  <a:gd name="connsiteX3" fmla="*/ 13102 w 13102"/>
                  <a:gd name="connsiteY3" fmla="*/ 9384 h 10000"/>
                  <a:gd name="connsiteX0-1" fmla="*/ 0 w 7538"/>
                  <a:gd name="connsiteY0-2" fmla="*/ 0 h 10000"/>
                  <a:gd name="connsiteX1-3" fmla="*/ 5503 w 7538"/>
                  <a:gd name="connsiteY1-4" fmla="*/ 7817 h 10000"/>
                  <a:gd name="connsiteX2-5" fmla="*/ 7538 w 7538"/>
                  <a:gd name="connsiteY2-6" fmla="*/ 10000 h 10000"/>
                </a:gdLst>
                <a:ahLst/>
                <a:cxnLst>
                  <a:cxn ang="0">
                    <a:pos x="connsiteX0-1" y="connsiteY0-2"/>
                  </a:cxn>
                  <a:cxn ang="0">
                    <a:pos x="connsiteX1-3" y="connsiteY1-4"/>
                  </a:cxn>
                  <a:cxn ang="0">
                    <a:pos x="connsiteX2-5" y="connsiteY2-6"/>
                  </a:cxn>
                </a:cxnLst>
                <a:rect l="l" t="t" r="r" b="b"/>
                <a:pathLst>
                  <a:path w="7538" h="10000">
                    <a:moveTo>
                      <a:pt x="0" y="0"/>
                    </a:moveTo>
                    <a:lnTo>
                      <a:pt x="5503" y="7817"/>
                    </a:lnTo>
                    <a:lnTo>
                      <a:pt x="7538" y="10000"/>
                    </a:lnTo>
                  </a:path>
                </a:pathLst>
              </a:custGeom>
              <a:noFill/>
              <a:ln w="12700">
                <a:solidFill>
                  <a:schemeClr val="bg1">
                    <a:lumMod val="65000"/>
                    <a:alpha val="54000"/>
                  </a:schemeClr>
                </a:solidFill>
                <a:prstDash val="solid"/>
                <a:round/>
                <a:headEnd type="oval"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endParaRPr sz="2000" b="1"/>
              </a:p>
            </p:txBody>
          </p:sp>
          <p:sp>
            <p:nvSpPr>
              <p:cNvPr id="67" name="Freeform: Shape 110"/>
              <p:cNvSpPr/>
              <p:nvPr/>
            </p:nvSpPr>
            <p:spPr bwMode="auto">
              <a:xfrm>
                <a:off x="6889750" y="1557339"/>
                <a:ext cx="523875" cy="2789238"/>
              </a:xfrm>
              <a:custGeom>
                <a:avLst/>
                <a:gdLst>
                  <a:gd name="T0" fmla="*/ 52 w 330"/>
                  <a:gd name="T1" fmla="*/ 0 h 1757"/>
                  <a:gd name="T2" fmla="*/ 330 w 330"/>
                  <a:gd name="T3" fmla="*/ 664 h 1757"/>
                  <a:gd name="T4" fmla="*/ 0 w 330"/>
                  <a:gd name="T5" fmla="*/ 1757 h 1757"/>
                </a:gdLst>
                <a:ahLst/>
                <a:cxnLst>
                  <a:cxn ang="0">
                    <a:pos x="T0" y="T1"/>
                  </a:cxn>
                  <a:cxn ang="0">
                    <a:pos x="T2" y="T3"/>
                  </a:cxn>
                  <a:cxn ang="0">
                    <a:pos x="T4" y="T5"/>
                  </a:cxn>
                </a:cxnLst>
                <a:rect l="0" t="0" r="r" b="b"/>
                <a:pathLst>
                  <a:path w="330" h="1757">
                    <a:moveTo>
                      <a:pt x="52" y="0"/>
                    </a:moveTo>
                    <a:lnTo>
                      <a:pt x="330" y="664"/>
                    </a:lnTo>
                    <a:lnTo>
                      <a:pt x="0" y="1757"/>
                    </a:lnTo>
                  </a:path>
                </a:pathLst>
              </a:custGeom>
              <a:noFill/>
              <a:ln w="12700">
                <a:solidFill>
                  <a:schemeClr val="bg1">
                    <a:lumMod val="65000"/>
                    <a:alpha val="54000"/>
                  </a:scheme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p>
                <a:pPr algn="ctr"/>
                <a:endParaRPr sz="2000" b="1"/>
              </a:p>
            </p:txBody>
          </p:sp>
          <p:sp>
            <p:nvSpPr>
              <p:cNvPr id="68" name="Straight Connector 111"/>
              <p:cNvSpPr/>
              <p:nvPr/>
            </p:nvSpPr>
            <p:spPr bwMode="auto">
              <a:xfrm>
                <a:off x="6943725" y="1311276"/>
                <a:ext cx="28575" cy="246063"/>
              </a:xfrm>
              <a:prstGeom prst="line">
                <a:avLst/>
              </a:prstGeom>
              <a:noFill/>
              <a:ln w="12700">
                <a:solidFill>
                  <a:schemeClr val="bg1">
                    <a:lumMod val="65000"/>
                    <a:alpha val="54000"/>
                  </a:scheme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endParaRPr sz="2000"/>
              </a:p>
            </p:txBody>
          </p:sp>
          <p:sp>
            <p:nvSpPr>
              <p:cNvPr id="69" name="Straight Connector 112"/>
              <p:cNvSpPr/>
              <p:nvPr/>
            </p:nvSpPr>
            <p:spPr bwMode="auto">
              <a:xfrm flipH="1">
                <a:off x="5033963" y="1657222"/>
                <a:ext cx="874730" cy="831979"/>
              </a:xfrm>
              <a:prstGeom prst="line">
                <a:avLst/>
              </a:prstGeom>
              <a:noFill/>
              <a:ln w="12700">
                <a:solidFill>
                  <a:schemeClr val="bg1">
                    <a:lumMod val="65000"/>
                    <a:alpha val="54000"/>
                  </a:schemeClr>
                </a:solidFill>
                <a:prstDash val="solid"/>
                <a:round/>
                <a:headEnd type="none" w="sm" len="sm"/>
                <a:tailEnd type="none" w="sm" len="sm"/>
              </a:ln>
              <a:extLst>
                <a:ext uri="{909E8E84-426E-40DD-AFC4-6F175D3DCCD1}">
                  <a14:hiddenFill xmlns:a14="http://schemas.microsoft.com/office/drawing/2010/main">
                    <a:noFill/>
                  </a14:hiddenFill>
                </a:ext>
              </a:extLst>
            </p:spPr>
            <p:txBody>
              <a:bodyPr anchor="ctr"/>
              <a:lstStyle/>
              <a:p>
                <a:pPr algn="ctr"/>
                <a:endParaRPr sz="2000"/>
              </a:p>
            </p:txBody>
          </p:sp>
          <p:sp>
            <p:nvSpPr>
              <p:cNvPr id="70" name="Straight Connector 113"/>
              <p:cNvSpPr/>
              <p:nvPr/>
            </p:nvSpPr>
            <p:spPr bwMode="auto">
              <a:xfrm flipH="1" flipV="1">
                <a:off x="8888413" y="3265489"/>
                <a:ext cx="247650" cy="112713"/>
              </a:xfrm>
              <a:prstGeom prst="line">
                <a:avLst/>
              </a:prstGeom>
              <a:noFill/>
              <a:ln w="12700">
                <a:solidFill>
                  <a:schemeClr val="bg1">
                    <a:lumMod val="65000"/>
                    <a:alpha val="54000"/>
                  </a:scheme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endParaRPr sz="2000"/>
              </a:p>
            </p:txBody>
          </p:sp>
          <p:sp>
            <p:nvSpPr>
              <p:cNvPr id="71" name="Straight Connector 114"/>
              <p:cNvSpPr/>
              <p:nvPr/>
            </p:nvSpPr>
            <p:spPr bwMode="auto">
              <a:xfrm flipH="1" flipV="1">
                <a:off x="8063440" y="1579414"/>
                <a:ext cx="282046" cy="733574"/>
              </a:xfrm>
              <a:prstGeom prst="line">
                <a:avLst/>
              </a:prstGeom>
              <a:noFill/>
              <a:ln w="12700">
                <a:solidFill>
                  <a:schemeClr val="bg1">
                    <a:lumMod val="65000"/>
                    <a:alpha val="54000"/>
                  </a:scheme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endParaRPr sz="2000"/>
              </a:p>
            </p:txBody>
          </p:sp>
          <p:sp>
            <p:nvSpPr>
              <p:cNvPr id="72" name="Straight Connector 115"/>
              <p:cNvSpPr/>
              <p:nvPr/>
            </p:nvSpPr>
            <p:spPr bwMode="auto">
              <a:xfrm flipH="1" flipV="1">
                <a:off x="8345488" y="2312989"/>
                <a:ext cx="542925" cy="952500"/>
              </a:xfrm>
              <a:prstGeom prst="line">
                <a:avLst/>
              </a:prstGeom>
              <a:noFill/>
              <a:ln w="12700">
                <a:solidFill>
                  <a:schemeClr val="bg1">
                    <a:lumMod val="65000"/>
                    <a:alpha val="54000"/>
                  </a:scheme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endParaRPr sz="2000"/>
              </a:p>
            </p:txBody>
          </p:sp>
          <p:sp>
            <p:nvSpPr>
              <p:cNvPr id="73" name="Straight Connector 116"/>
              <p:cNvSpPr/>
              <p:nvPr/>
            </p:nvSpPr>
            <p:spPr bwMode="auto">
              <a:xfrm flipH="1" flipV="1">
                <a:off x="8888413" y="3265489"/>
                <a:ext cx="23812" cy="1282699"/>
              </a:xfrm>
              <a:prstGeom prst="line">
                <a:avLst/>
              </a:prstGeom>
              <a:noFill/>
              <a:ln w="12700">
                <a:solidFill>
                  <a:schemeClr val="bg1">
                    <a:lumMod val="65000"/>
                    <a:alpha val="54000"/>
                  </a:schemeClr>
                </a:solidFill>
                <a:prstDash val="solid"/>
                <a:round/>
                <a:headEnd type="oval" w="sm" len="sm"/>
                <a:tailEnd type="none" w="sm" len="sm"/>
              </a:ln>
              <a:extLst>
                <a:ext uri="{909E8E84-426E-40DD-AFC4-6F175D3DCCD1}">
                  <a14:hiddenFill xmlns:a14="http://schemas.microsoft.com/office/drawing/2010/main">
                    <a:noFill/>
                  </a14:hiddenFill>
                </a:ext>
              </a:extLst>
            </p:spPr>
            <p:txBody>
              <a:bodyPr anchor="ctr"/>
              <a:lstStyle/>
              <a:p>
                <a:pPr algn="ctr"/>
                <a:endParaRPr sz="2000"/>
              </a:p>
            </p:txBody>
          </p:sp>
          <p:sp>
            <p:nvSpPr>
              <p:cNvPr id="74" name="Freeform: Shape 117"/>
              <p:cNvSpPr/>
              <p:nvPr/>
            </p:nvSpPr>
            <p:spPr bwMode="auto">
              <a:xfrm>
                <a:off x="6889750" y="4346576"/>
                <a:ext cx="2022475" cy="382588"/>
              </a:xfrm>
              <a:custGeom>
                <a:avLst/>
                <a:gdLst>
                  <a:gd name="T0" fmla="*/ 0 w 1274"/>
                  <a:gd name="T1" fmla="*/ 0 h 241"/>
                  <a:gd name="T2" fmla="*/ 909 w 1274"/>
                  <a:gd name="T3" fmla="*/ 241 h 241"/>
                  <a:gd name="T4" fmla="*/ 1274 w 1274"/>
                  <a:gd name="T5" fmla="*/ 127 h 241"/>
                </a:gdLst>
                <a:ahLst/>
                <a:cxnLst>
                  <a:cxn ang="0">
                    <a:pos x="T0" y="T1"/>
                  </a:cxn>
                  <a:cxn ang="0">
                    <a:pos x="T2" y="T3"/>
                  </a:cxn>
                  <a:cxn ang="0">
                    <a:pos x="T4" y="T5"/>
                  </a:cxn>
                </a:cxnLst>
                <a:rect l="0" t="0" r="r" b="b"/>
                <a:pathLst>
                  <a:path w="1274" h="241">
                    <a:moveTo>
                      <a:pt x="0" y="0"/>
                    </a:moveTo>
                    <a:lnTo>
                      <a:pt x="909" y="241"/>
                    </a:lnTo>
                    <a:lnTo>
                      <a:pt x="1274" y="127"/>
                    </a:lnTo>
                  </a:path>
                </a:pathLst>
              </a:custGeom>
              <a:noFill/>
              <a:ln w="12700">
                <a:solidFill>
                  <a:schemeClr val="bg1">
                    <a:lumMod val="65000"/>
                    <a:alpha val="54000"/>
                  </a:scheme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p>
                <a:pPr algn="ctr"/>
                <a:endParaRPr sz="2000" b="1"/>
              </a:p>
            </p:txBody>
          </p:sp>
          <p:sp>
            <p:nvSpPr>
              <p:cNvPr id="75" name="Straight Connector 118"/>
              <p:cNvSpPr/>
              <p:nvPr/>
            </p:nvSpPr>
            <p:spPr bwMode="auto">
              <a:xfrm>
                <a:off x="5765800" y="3549651"/>
                <a:ext cx="1123950" cy="796925"/>
              </a:xfrm>
              <a:prstGeom prst="line">
                <a:avLst/>
              </a:prstGeom>
              <a:noFill/>
              <a:ln w="12700">
                <a:solidFill>
                  <a:schemeClr val="bg1">
                    <a:lumMod val="65000"/>
                    <a:alpha val="54000"/>
                  </a:scheme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endParaRPr sz="2000"/>
              </a:p>
            </p:txBody>
          </p:sp>
          <p:sp>
            <p:nvSpPr>
              <p:cNvPr id="76" name="Straight Connector 119"/>
              <p:cNvSpPr/>
              <p:nvPr/>
            </p:nvSpPr>
            <p:spPr bwMode="auto">
              <a:xfrm>
                <a:off x="5033963" y="2489201"/>
                <a:ext cx="731838" cy="1060450"/>
              </a:xfrm>
              <a:prstGeom prst="line">
                <a:avLst/>
              </a:prstGeom>
              <a:noFill/>
              <a:ln w="12700">
                <a:solidFill>
                  <a:schemeClr val="bg1">
                    <a:lumMod val="65000"/>
                    <a:alpha val="54000"/>
                  </a:scheme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endParaRPr sz="2000"/>
              </a:p>
            </p:txBody>
          </p:sp>
          <p:sp>
            <p:nvSpPr>
              <p:cNvPr id="77" name="Straight Connector 120"/>
              <p:cNvSpPr/>
              <p:nvPr/>
            </p:nvSpPr>
            <p:spPr bwMode="auto">
              <a:xfrm flipH="1">
                <a:off x="5033963" y="2251076"/>
                <a:ext cx="941388" cy="238125"/>
              </a:xfrm>
              <a:prstGeom prst="line">
                <a:avLst/>
              </a:prstGeom>
              <a:noFill/>
              <a:ln w="12700">
                <a:solidFill>
                  <a:schemeClr val="bg1">
                    <a:lumMod val="65000"/>
                    <a:alpha val="54000"/>
                  </a:scheme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endParaRPr sz="2000"/>
              </a:p>
            </p:txBody>
          </p:sp>
          <p:sp>
            <p:nvSpPr>
              <p:cNvPr id="78" name="Straight Connector 121"/>
              <p:cNvSpPr/>
              <p:nvPr/>
            </p:nvSpPr>
            <p:spPr bwMode="auto">
              <a:xfrm flipH="1">
                <a:off x="5975350" y="1557339"/>
                <a:ext cx="996950" cy="693738"/>
              </a:xfrm>
              <a:prstGeom prst="line">
                <a:avLst/>
              </a:prstGeom>
              <a:noFill/>
              <a:ln w="12700">
                <a:solidFill>
                  <a:schemeClr val="bg1">
                    <a:lumMod val="65000"/>
                    <a:alpha val="54000"/>
                  </a:scheme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endParaRPr sz="2000"/>
              </a:p>
            </p:txBody>
          </p:sp>
          <p:sp>
            <p:nvSpPr>
              <p:cNvPr id="79" name="Straight Connector 122"/>
              <p:cNvSpPr/>
              <p:nvPr/>
            </p:nvSpPr>
            <p:spPr bwMode="auto">
              <a:xfrm flipH="1" flipV="1">
                <a:off x="6972300" y="1557339"/>
                <a:ext cx="1373188" cy="755650"/>
              </a:xfrm>
              <a:prstGeom prst="line">
                <a:avLst/>
              </a:prstGeom>
              <a:noFill/>
              <a:ln w="12700">
                <a:solidFill>
                  <a:schemeClr val="bg1">
                    <a:lumMod val="65000"/>
                    <a:alpha val="54000"/>
                  </a:scheme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endParaRPr sz="2000"/>
              </a:p>
            </p:txBody>
          </p:sp>
          <p:sp>
            <p:nvSpPr>
              <p:cNvPr id="80" name="Freeform: Shape 123"/>
              <p:cNvSpPr/>
              <p:nvPr/>
            </p:nvSpPr>
            <p:spPr bwMode="auto">
              <a:xfrm>
                <a:off x="8345488" y="2312989"/>
                <a:ext cx="666750" cy="928688"/>
              </a:xfrm>
              <a:custGeom>
                <a:avLst/>
                <a:gdLst>
                  <a:gd name="T0" fmla="*/ 344 w 420"/>
                  <a:gd name="T1" fmla="*/ 585 h 585"/>
                  <a:gd name="T2" fmla="*/ 420 w 420"/>
                  <a:gd name="T3" fmla="*/ 87 h 585"/>
                  <a:gd name="T4" fmla="*/ 0 w 420"/>
                  <a:gd name="T5" fmla="*/ 0 h 585"/>
                </a:gdLst>
                <a:ahLst/>
                <a:cxnLst>
                  <a:cxn ang="0">
                    <a:pos x="T0" y="T1"/>
                  </a:cxn>
                  <a:cxn ang="0">
                    <a:pos x="T2" y="T3"/>
                  </a:cxn>
                  <a:cxn ang="0">
                    <a:pos x="T4" y="T5"/>
                  </a:cxn>
                </a:cxnLst>
                <a:rect l="0" t="0" r="r" b="b"/>
                <a:pathLst>
                  <a:path w="420" h="585">
                    <a:moveTo>
                      <a:pt x="344" y="585"/>
                    </a:moveTo>
                    <a:lnTo>
                      <a:pt x="420" y="87"/>
                    </a:lnTo>
                    <a:lnTo>
                      <a:pt x="0" y="0"/>
                    </a:lnTo>
                  </a:path>
                </a:pathLst>
              </a:custGeom>
              <a:noFill/>
              <a:ln w="12700">
                <a:solidFill>
                  <a:schemeClr val="bg1">
                    <a:lumMod val="65000"/>
                    <a:alpha val="54000"/>
                  </a:scheme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endParaRPr sz="2000" b="1"/>
              </a:p>
            </p:txBody>
          </p:sp>
          <p:sp>
            <p:nvSpPr>
              <p:cNvPr id="92" name="Freeform: Shape 124"/>
              <p:cNvSpPr/>
              <p:nvPr/>
            </p:nvSpPr>
            <p:spPr bwMode="auto">
              <a:xfrm>
                <a:off x="8320088" y="2312989"/>
                <a:ext cx="571500" cy="2416175"/>
              </a:xfrm>
              <a:custGeom>
                <a:avLst/>
                <a:gdLst>
                  <a:gd name="T0" fmla="*/ 16 w 360"/>
                  <a:gd name="T1" fmla="*/ 0 h 1522"/>
                  <a:gd name="T2" fmla="*/ 0 w 360"/>
                  <a:gd name="T3" fmla="*/ 729 h 1522"/>
                  <a:gd name="T4" fmla="*/ 8 w 360"/>
                  <a:gd name="T5" fmla="*/ 1522 h 1522"/>
                  <a:gd name="T6" fmla="*/ 358 w 360"/>
                  <a:gd name="T7" fmla="*/ 600 h 1522"/>
                  <a:gd name="T8" fmla="*/ 360 w 360"/>
                  <a:gd name="T9" fmla="*/ 585 h 1522"/>
                </a:gdLst>
                <a:ahLst/>
                <a:cxnLst>
                  <a:cxn ang="0">
                    <a:pos x="T0" y="T1"/>
                  </a:cxn>
                  <a:cxn ang="0">
                    <a:pos x="T2" y="T3"/>
                  </a:cxn>
                  <a:cxn ang="0">
                    <a:pos x="T4" y="T5"/>
                  </a:cxn>
                  <a:cxn ang="0">
                    <a:pos x="T6" y="T7"/>
                  </a:cxn>
                  <a:cxn ang="0">
                    <a:pos x="T8" y="T9"/>
                  </a:cxn>
                </a:cxnLst>
                <a:rect l="0" t="0" r="r" b="b"/>
                <a:pathLst>
                  <a:path w="360" h="1522">
                    <a:moveTo>
                      <a:pt x="16" y="0"/>
                    </a:moveTo>
                    <a:lnTo>
                      <a:pt x="0" y="729"/>
                    </a:lnTo>
                    <a:lnTo>
                      <a:pt x="8" y="1522"/>
                    </a:lnTo>
                    <a:lnTo>
                      <a:pt x="358" y="600"/>
                    </a:lnTo>
                    <a:lnTo>
                      <a:pt x="360" y="585"/>
                    </a:lnTo>
                  </a:path>
                </a:pathLst>
              </a:custGeom>
              <a:noFill/>
              <a:ln w="12700">
                <a:solidFill>
                  <a:schemeClr val="bg1">
                    <a:lumMod val="65000"/>
                    <a:alpha val="54000"/>
                  </a:schemeClr>
                </a:solidFill>
                <a:prstDash val="solid"/>
                <a:round/>
                <a:headEnd type="oval"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endParaRPr sz="2000" b="1"/>
              </a:p>
            </p:txBody>
          </p:sp>
          <p:sp>
            <p:nvSpPr>
              <p:cNvPr id="93" name="Straight Connector 125"/>
              <p:cNvSpPr/>
              <p:nvPr/>
            </p:nvSpPr>
            <p:spPr bwMode="auto">
              <a:xfrm flipV="1">
                <a:off x="7413625" y="2312989"/>
                <a:ext cx="931863" cy="298450"/>
              </a:xfrm>
              <a:prstGeom prst="line">
                <a:avLst/>
              </a:prstGeom>
              <a:noFill/>
              <a:ln w="12700">
                <a:solidFill>
                  <a:schemeClr val="bg1">
                    <a:lumMod val="65000"/>
                    <a:alpha val="54000"/>
                  </a:scheme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endParaRPr sz="2000"/>
              </a:p>
            </p:txBody>
          </p:sp>
          <p:sp>
            <p:nvSpPr>
              <p:cNvPr id="94" name="Straight Connector 126"/>
              <p:cNvSpPr/>
              <p:nvPr/>
            </p:nvSpPr>
            <p:spPr bwMode="auto">
              <a:xfrm flipV="1">
                <a:off x="5765800" y="2611439"/>
                <a:ext cx="1647825" cy="950913"/>
              </a:xfrm>
              <a:prstGeom prst="line">
                <a:avLst/>
              </a:prstGeom>
              <a:noFill/>
              <a:ln w="12700">
                <a:solidFill>
                  <a:schemeClr val="bg1">
                    <a:lumMod val="65000"/>
                    <a:alpha val="54000"/>
                  </a:scheme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endParaRPr sz="2000"/>
              </a:p>
            </p:txBody>
          </p:sp>
          <p:sp>
            <p:nvSpPr>
              <p:cNvPr id="95" name="Freeform: Shape 127"/>
              <p:cNvSpPr/>
              <p:nvPr/>
            </p:nvSpPr>
            <p:spPr bwMode="auto">
              <a:xfrm>
                <a:off x="5118100" y="3562351"/>
                <a:ext cx="876300" cy="1244600"/>
              </a:xfrm>
              <a:custGeom>
                <a:avLst/>
                <a:gdLst>
                  <a:gd name="T0" fmla="*/ 552 w 552"/>
                  <a:gd name="T1" fmla="*/ 784 h 784"/>
                  <a:gd name="T2" fmla="*/ 0 w 552"/>
                  <a:gd name="T3" fmla="*/ 412 h 784"/>
                  <a:gd name="T4" fmla="*/ 408 w 552"/>
                  <a:gd name="T5" fmla="*/ 0 h 784"/>
                </a:gdLst>
                <a:ahLst/>
                <a:cxnLst>
                  <a:cxn ang="0">
                    <a:pos x="T0" y="T1"/>
                  </a:cxn>
                  <a:cxn ang="0">
                    <a:pos x="T2" y="T3"/>
                  </a:cxn>
                  <a:cxn ang="0">
                    <a:pos x="T4" y="T5"/>
                  </a:cxn>
                </a:cxnLst>
                <a:rect l="0" t="0" r="r" b="b"/>
                <a:pathLst>
                  <a:path w="552" h="784">
                    <a:moveTo>
                      <a:pt x="552" y="784"/>
                    </a:moveTo>
                    <a:lnTo>
                      <a:pt x="0" y="412"/>
                    </a:lnTo>
                    <a:lnTo>
                      <a:pt x="408" y="0"/>
                    </a:lnTo>
                  </a:path>
                </a:pathLst>
              </a:custGeom>
              <a:noFill/>
              <a:ln w="12700">
                <a:solidFill>
                  <a:schemeClr val="bg1">
                    <a:lumMod val="65000"/>
                    <a:alpha val="54000"/>
                  </a:scheme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p>
                <a:pPr algn="ctr"/>
                <a:endParaRPr sz="2000" b="1"/>
              </a:p>
            </p:txBody>
          </p:sp>
          <p:sp>
            <p:nvSpPr>
              <p:cNvPr id="96" name="Straight Connector 128"/>
              <p:cNvSpPr/>
              <p:nvPr/>
            </p:nvSpPr>
            <p:spPr bwMode="auto">
              <a:xfrm flipH="1">
                <a:off x="5994400" y="4346576"/>
                <a:ext cx="895350" cy="460375"/>
              </a:xfrm>
              <a:prstGeom prst="line">
                <a:avLst/>
              </a:prstGeom>
              <a:noFill/>
              <a:ln w="12700">
                <a:solidFill>
                  <a:schemeClr val="bg1">
                    <a:lumMod val="65000"/>
                    <a:alpha val="54000"/>
                  </a:scheme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endParaRPr sz="2000"/>
              </a:p>
            </p:txBody>
          </p:sp>
          <p:sp>
            <p:nvSpPr>
              <p:cNvPr id="97" name="Freeform: Shape 129"/>
              <p:cNvSpPr/>
              <p:nvPr/>
            </p:nvSpPr>
            <p:spPr bwMode="auto">
              <a:xfrm>
                <a:off x="6889750" y="3265488"/>
                <a:ext cx="1998663" cy="1081088"/>
              </a:xfrm>
              <a:custGeom>
                <a:avLst/>
                <a:gdLst>
                  <a:gd name="T0" fmla="*/ 1259 w 1259"/>
                  <a:gd name="T1" fmla="*/ 0 h 681"/>
                  <a:gd name="T2" fmla="*/ 902 w 1259"/>
                  <a:gd name="T3" fmla="*/ 140 h 681"/>
                  <a:gd name="T4" fmla="*/ 0 w 1259"/>
                  <a:gd name="T5" fmla="*/ 681 h 681"/>
                </a:gdLst>
                <a:ahLst/>
                <a:cxnLst>
                  <a:cxn ang="0">
                    <a:pos x="T0" y="T1"/>
                  </a:cxn>
                  <a:cxn ang="0">
                    <a:pos x="T2" y="T3"/>
                  </a:cxn>
                  <a:cxn ang="0">
                    <a:pos x="T4" y="T5"/>
                  </a:cxn>
                </a:cxnLst>
                <a:rect l="0" t="0" r="r" b="b"/>
                <a:pathLst>
                  <a:path w="1259" h="681">
                    <a:moveTo>
                      <a:pt x="1259" y="0"/>
                    </a:moveTo>
                    <a:lnTo>
                      <a:pt x="902" y="140"/>
                    </a:lnTo>
                    <a:lnTo>
                      <a:pt x="0" y="681"/>
                    </a:lnTo>
                  </a:path>
                </a:pathLst>
              </a:custGeom>
              <a:noFill/>
              <a:ln w="12700">
                <a:solidFill>
                  <a:schemeClr val="bg1">
                    <a:lumMod val="65000"/>
                    <a:alpha val="54000"/>
                  </a:scheme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p>
                <a:pPr algn="ctr"/>
                <a:endParaRPr sz="2000" b="1"/>
              </a:p>
            </p:txBody>
          </p:sp>
          <p:sp>
            <p:nvSpPr>
              <p:cNvPr id="98" name="Freeform: Shape 130"/>
              <p:cNvSpPr/>
              <p:nvPr/>
            </p:nvSpPr>
            <p:spPr bwMode="auto">
              <a:xfrm>
                <a:off x="6064250" y="5224463"/>
                <a:ext cx="2043113" cy="184150"/>
              </a:xfrm>
              <a:custGeom>
                <a:avLst/>
                <a:gdLst>
                  <a:gd name="T0" fmla="*/ 1287 w 1287"/>
                  <a:gd name="T1" fmla="*/ 0 h 116"/>
                  <a:gd name="T2" fmla="*/ 739 w 1287"/>
                  <a:gd name="T3" fmla="*/ 38 h 116"/>
                  <a:gd name="T4" fmla="*/ 0 w 1287"/>
                  <a:gd name="T5" fmla="*/ 116 h 116"/>
                </a:gdLst>
                <a:ahLst/>
                <a:cxnLst>
                  <a:cxn ang="0">
                    <a:pos x="T0" y="T1"/>
                  </a:cxn>
                  <a:cxn ang="0">
                    <a:pos x="T2" y="T3"/>
                  </a:cxn>
                  <a:cxn ang="0">
                    <a:pos x="T4" y="T5"/>
                  </a:cxn>
                </a:cxnLst>
                <a:rect l="0" t="0" r="r" b="b"/>
                <a:pathLst>
                  <a:path w="1287" h="116">
                    <a:moveTo>
                      <a:pt x="1287" y="0"/>
                    </a:moveTo>
                    <a:lnTo>
                      <a:pt x="739" y="38"/>
                    </a:lnTo>
                    <a:lnTo>
                      <a:pt x="0" y="116"/>
                    </a:lnTo>
                  </a:path>
                </a:pathLst>
              </a:custGeom>
              <a:noFill/>
              <a:ln w="12700">
                <a:solidFill>
                  <a:schemeClr val="bg1">
                    <a:lumMod val="65000"/>
                    <a:alpha val="54000"/>
                  </a:schemeClr>
                </a:solidFill>
                <a:prstDash val="solid"/>
                <a:round/>
                <a:headEnd type="oval"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endParaRPr sz="2000" b="1"/>
              </a:p>
            </p:txBody>
          </p:sp>
          <p:sp>
            <p:nvSpPr>
              <p:cNvPr id="99" name="Freeform: Shape 131"/>
              <p:cNvSpPr/>
              <p:nvPr/>
            </p:nvSpPr>
            <p:spPr bwMode="auto">
              <a:xfrm>
                <a:off x="5994399" y="4729162"/>
                <a:ext cx="2338388" cy="555625"/>
              </a:xfrm>
              <a:custGeom>
                <a:avLst/>
                <a:gdLst>
                  <a:gd name="T0" fmla="*/ 0 w 1473"/>
                  <a:gd name="T1" fmla="*/ 49 h 350"/>
                  <a:gd name="T2" fmla="*/ 783 w 1473"/>
                  <a:gd name="T3" fmla="*/ 350 h 350"/>
                  <a:gd name="T4" fmla="*/ 1473 w 1473"/>
                  <a:gd name="T5" fmla="*/ 0 h 350"/>
                  <a:gd name="T6" fmla="*/ 1348 w 1473"/>
                  <a:gd name="T7" fmla="*/ 303 h 350"/>
                </a:gdLst>
                <a:ahLst/>
                <a:cxnLst>
                  <a:cxn ang="0">
                    <a:pos x="T0" y="T1"/>
                  </a:cxn>
                  <a:cxn ang="0">
                    <a:pos x="T2" y="T3"/>
                  </a:cxn>
                  <a:cxn ang="0">
                    <a:pos x="T4" y="T5"/>
                  </a:cxn>
                  <a:cxn ang="0">
                    <a:pos x="T6" y="T7"/>
                  </a:cxn>
                </a:cxnLst>
                <a:rect l="0" t="0" r="r" b="b"/>
                <a:pathLst>
                  <a:path w="1473" h="350">
                    <a:moveTo>
                      <a:pt x="0" y="49"/>
                    </a:moveTo>
                    <a:lnTo>
                      <a:pt x="783" y="350"/>
                    </a:lnTo>
                    <a:lnTo>
                      <a:pt x="1473" y="0"/>
                    </a:lnTo>
                    <a:lnTo>
                      <a:pt x="1348" y="303"/>
                    </a:lnTo>
                  </a:path>
                </a:pathLst>
              </a:custGeom>
              <a:noFill/>
              <a:ln w="12700">
                <a:solidFill>
                  <a:schemeClr val="bg1">
                    <a:lumMod val="65000"/>
                    <a:alpha val="54000"/>
                  </a:scheme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endParaRPr sz="2000" b="1"/>
              </a:p>
            </p:txBody>
          </p:sp>
          <p:sp>
            <p:nvSpPr>
              <p:cNvPr id="100" name="Straight Connector 132"/>
              <p:cNvSpPr/>
              <p:nvPr/>
            </p:nvSpPr>
            <p:spPr bwMode="auto">
              <a:xfrm>
                <a:off x="7413625" y="2611438"/>
                <a:ext cx="908050" cy="876300"/>
              </a:xfrm>
              <a:prstGeom prst="line">
                <a:avLst/>
              </a:prstGeom>
              <a:noFill/>
              <a:ln w="12700">
                <a:solidFill>
                  <a:schemeClr val="bg1">
                    <a:lumMod val="65000"/>
                    <a:alpha val="54000"/>
                  </a:scheme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endParaRPr sz="2000"/>
              </a:p>
            </p:txBody>
          </p:sp>
          <p:sp>
            <p:nvSpPr>
              <p:cNvPr id="101" name="Straight Connector 133"/>
              <p:cNvSpPr/>
              <p:nvPr/>
            </p:nvSpPr>
            <p:spPr bwMode="auto">
              <a:xfrm>
                <a:off x="5975350" y="2251076"/>
                <a:ext cx="1438275" cy="360363"/>
              </a:xfrm>
              <a:prstGeom prst="line">
                <a:avLst/>
              </a:prstGeom>
              <a:noFill/>
              <a:ln w="12700">
                <a:solidFill>
                  <a:schemeClr val="bg1">
                    <a:lumMod val="65000"/>
                    <a:alpha val="54000"/>
                  </a:scheme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endParaRPr sz="2000"/>
              </a:p>
            </p:txBody>
          </p:sp>
        </p:grpSp>
        <p:sp>
          <p:nvSpPr>
            <p:cNvPr id="102" name="Oval 98"/>
            <p:cNvSpPr/>
            <p:nvPr/>
          </p:nvSpPr>
          <p:spPr>
            <a:xfrm>
              <a:off x="1786997" y="1759244"/>
              <a:ext cx="1754054" cy="1754050"/>
            </a:xfrm>
            <a:prstGeom prst="ellipse">
              <a:avLst/>
            </a:prstGeom>
            <a:solidFill>
              <a:schemeClr val="accent1">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000" b="1"/>
            </a:p>
          </p:txBody>
        </p:sp>
        <p:sp>
          <p:nvSpPr>
            <p:cNvPr id="103" name="TextBox 134"/>
            <p:cNvSpPr txBox="1"/>
            <p:nvPr/>
          </p:nvSpPr>
          <p:spPr bwMode="auto">
            <a:xfrm>
              <a:off x="2136258" y="2525180"/>
              <a:ext cx="1004724" cy="180850"/>
            </a:xfrm>
            <a:prstGeom prst="rect">
              <a:avLst/>
            </a:prstGeom>
            <a:noFill/>
            <a:scene3d>
              <a:camera prst="orthographicFront">
                <a:rot lat="0" lon="0" rev="0"/>
              </a:camera>
              <a:lightRig rig="threePt" dir="t"/>
            </a:scene3d>
            <a:sp3d prstMaterial="matte">
              <a:bevelT w="1270" h="1270"/>
            </a:sp3d>
          </p:spPr>
          <p:txBody>
            <a:bodyPr wrap="none" lIns="0" tIns="0" rIns="0" bIns="0" anchor="t" anchorCtr="0">
              <a:noAutofit/>
            </a:bodyPr>
            <a:lstStyle/>
            <a:p>
              <a:pPr algn="ctr" latinLnBrk="0">
                <a:buClr>
                  <a:prstClr val="white"/>
                </a:buClr>
                <a:defRPr/>
              </a:pPr>
              <a:r>
                <a:rPr lang="zh-CN" altLang="en-US" sz="2000" b="1" dirty="0">
                  <a:solidFill>
                    <a:schemeClr val="bg1"/>
                  </a:solidFill>
                </a:rPr>
                <a:t>字典形式</a:t>
              </a:r>
              <a:endParaRPr lang="zh-CN" altLang="en-US" sz="2000" b="1" dirty="0">
                <a:solidFill>
                  <a:schemeClr val="bg1"/>
                </a:solidFill>
              </a:endParaRPr>
            </a:p>
          </p:txBody>
        </p:sp>
        <p:sp>
          <p:nvSpPr>
            <p:cNvPr id="104" name="Rectangle 135"/>
            <p:cNvSpPr/>
            <p:nvPr/>
          </p:nvSpPr>
          <p:spPr>
            <a:xfrm>
              <a:off x="1719785" y="2539520"/>
              <a:ext cx="1877071" cy="529440"/>
            </a:xfrm>
            <a:prstGeom prst="rect">
              <a:avLst/>
            </a:prstGeom>
          </p:spPr>
          <p:txBody>
            <a:bodyPr wrap="square">
              <a:normAutofit/>
            </a:bodyPr>
            <a:lstStyle/>
            <a:p>
              <a:pPr algn="ctr">
                <a:lnSpc>
                  <a:spcPct val="120000"/>
                </a:lnSpc>
                <a:defRPr/>
              </a:pPr>
              <a:endParaRPr lang="zh-CN" altLang="en-US" sz="2000" b="1">
                <a:solidFill>
                  <a:schemeClr val="bg1"/>
                </a:solidFill>
              </a:endParaRPr>
            </a:p>
          </p:txBody>
        </p:sp>
      </p:grpSp>
      <p:grpSp>
        <p:nvGrpSpPr>
          <p:cNvPr id="105" name="Group 72"/>
          <p:cNvGrpSpPr/>
          <p:nvPr/>
        </p:nvGrpSpPr>
        <p:grpSpPr>
          <a:xfrm>
            <a:off x="8152812" y="1451876"/>
            <a:ext cx="2611177" cy="883365"/>
            <a:chOff x="1317257" y="1824875"/>
            <a:chExt cx="3761195" cy="883365"/>
          </a:xfrm>
        </p:grpSpPr>
        <p:sp>
          <p:nvSpPr>
            <p:cNvPr id="106" name="TextBox 80"/>
            <p:cNvSpPr txBox="1"/>
            <p:nvPr/>
          </p:nvSpPr>
          <p:spPr>
            <a:xfrm>
              <a:off x="1317257" y="2200409"/>
              <a:ext cx="3761195" cy="507831"/>
            </a:xfrm>
            <a:prstGeom prst="rect">
              <a:avLst/>
            </a:prstGeom>
            <a:noFill/>
          </p:spPr>
          <p:txBody>
            <a:bodyPr wrap="square" lIns="0" tIns="0" rIns="0" bIns="0">
              <a:normAutofit/>
            </a:bodyPr>
            <a:lstStyle/>
            <a:p>
              <a:pPr algn="r">
                <a:lnSpc>
                  <a:spcPct val="120000"/>
                </a:lnSpc>
              </a:pPr>
              <a:r>
                <a:rPr lang="zh-CN" altLang="en-US" sz="2200" b="1" dirty="0">
                  <a:latin typeface="+mn-ea"/>
                </a:rPr>
                <a:t>表示内容的符号</a:t>
              </a:r>
              <a:endParaRPr lang="zh-CN" altLang="en-US" sz="2200" b="1" dirty="0">
                <a:latin typeface="+mn-ea"/>
              </a:endParaRPr>
            </a:p>
          </p:txBody>
        </p:sp>
        <p:sp>
          <p:nvSpPr>
            <p:cNvPr id="107" name="Rectangle 81"/>
            <p:cNvSpPr/>
            <p:nvPr/>
          </p:nvSpPr>
          <p:spPr>
            <a:xfrm>
              <a:off x="1317257" y="1824875"/>
              <a:ext cx="3761195" cy="307777"/>
            </a:xfrm>
            <a:prstGeom prst="rect">
              <a:avLst/>
            </a:prstGeom>
          </p:spPr>
          <p:txBody>
            <a:bodyPr wrap="none" lIns="0" tIns="0" rIns="0" bIns="0">
              <a:noAutofit/>
            </a:bodyPr>
            <a:lstStyle/>
            <a:p>
              <a:pPr algn="r"/>
              <a:r>
                <a:rPr lang="zh-CN" altLang="en-US" sz="2200" b="1" dirty="0">
                  <a:solidFill>
                    <a:schemeClr val="accent1"/>
                  </a:solidFill>
                  <a:latin typeface="微软雅黑" panose="020B0503020204020204" pitchFamily="34" charset="-122"/>
                  <a:ea typeface="微软雅黑" panose="020B0503020204020204" pitchFamily="34" charset="-122"/>
                </a:rPr>
                <a:t>内容描述</a:t>
              </a:r>
              <a:endParaRPr lang="zh-CN" altLang="en-US" sz="2200" b="1" dirty="0">
                <a:solidFill>
                  <a:schemeClr val="accent1"/>
                </a:solidFill>
                <a:latin typeface="微软雅黑" panose="020B0503020204020204" pitchFamily="34" charset="-122"/>
                <a:ea typeface="微软雅黑" panose="020B0503020204020204" pitchFamily="34" charset="-122"/>
              </a:endParaRPr>
            </a:p>
          </p:txBody>
        </p:sp>
      </p:grpSp>
      <p:grpSp>
        <p:nvGrpSpPr>
          <p:cNvPr id="108" name="Group 74"/>
          <p:cNvGrpSpPr/>
          <p:nvPr/>
        </p:nvGrpSpPr>
        <p:grpSpPr>
          <a:xfrm>
            <a:off x="8291242" y="4099759"/>
            <a:ext cx="2611177" cy="1318720"/>
            <a:chOff x="1317257" y="1824875"/>
            <a:chExt cx="3761195" cy="1318720"/>
          </a:xfrm>
        </p:grpSpPr>
        <p:sp>
          <p:nvSpPr>
            <p:cNvPr id="109" name="TextBox 78"/>
            <p:cNvSpPr txBox="1"/>
            <p:nvPr/>
          </p:nvSpPr>
          <p:spPr>
            <a:xfrm>
              <a:off x="1317257" y="2179030"/>
              <a:ext cx="3761113" cy="964565"/>
            </a:xfrm>
            <a:prstGeom prst="rect">
              <a:avLst/>
            </a:prstGeom>
            <a:noFill/>
          </p:spPr>
          <p:txBody>
            <a:bodyPr wrap="square" lIns="0" tIns="0" rIns="0" bIns="0">
              <a:noAutofit/>
            </a:bodyPr>
            <a:lstStyle/>
            <a:p>
              <a:pPr algn="l">
                <a:lnSpc>
                  <a:spcPct val="120000"/>
                </a:lnSpc>
              </a:pPr>
              <a:r>
                <a:rPr lang="zh-CN" altLang="en-US" sz="2200" b="1" dirty="0">
                  <a:latin typeface="+mn-ea"/>
                  <a:cs typeface="宋体" panose="02010600030101010101" pitchFamily="2" charset="-122"/>
                  <a:sym typeface="+mn-ea"/>
                </a:rPr>
                <a:t>关于数据类型、预设值（如果知道）、限制或局限等的其他信息</a:t>
              </a:r>
              <a:endParaRPr lang="zh-CN" altLang="en-US" sz="2200" b="1" dirty="0">
                <a:latin typeface="+mn-ea"/>
                <a:cs typeface="宋体" panose="02010600030101010101" pitchFamily="2" charset="-122"/>
                <a:sym typeface="+mn-ea"/>
              </a:endParaRPr>
            </a:p>
          </p:txBody>
        </p:sp>
        <p:sp>
          <p:nvSpPr>
            <p:cNvPr id="110" name="Rectangle 79"/>
            <p:cNvSpPr/>
            <p:nvPr/>
          </p:nvSpPr>
          <p:spPr>
            <a:xfrm>
              <a:off x="1317257" y="1824875"/>
              <a:ext cx="3761195" cy="307777"/>
            </a:xfrm>
            <a:prstGeom prst="rect">
              <a:avLst/>
            </a:prstGeom>
          </p:spPr>
          <p:txBody>
            <a:bodyPr wrap="none" lIns="0" tIns="0" rIns="0" bIns="0">
              <a:noAutofit/>
            </a:bodyPr>
            <a:lstStyle/>
            <a:p>
              <a:pPr algn="r"/>
              <a:r>
                <a:rPr lang="zh-CN" altLang="en-US" sz="2200" b="1" dirty="0">
                  <a:solidFill>
                    <a:schemeClr val="tx1"/>
                  </a:solidFill>
                  <a:latin typeface="微软雅黑" panose="020B0503020204020204" pitchFamily="34" charset="-122"/>
                  <a:ea typeface="微软雅黑" panose="020B0503020204020204" pitchFamily="34" charset="-122"/>
                </a:rPr>
                <a:t>补充信息</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grpSp>
      <p:cxnSp>
        <p:nvCxnSpPr>
          <p:cNvPr id="114" name="Straight Connector 70"/>
          <p:cNvCxnSpPr/>
          <p:nvPr/>
        </p:nvCxnSpPr>
        <p:spPr>
          <a:xfrm>
            <a:off x="8558558" y="1822048"/>
            <a:ext cx="2309899"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15" name="Straight Connector 71"/>
          <p:cNvCxnSpPr/>
          <p:nvPr/>
        </p:nvCxnSpPr>
        <p:spPr>
          <a:xfrm>
            <a:off x="8368145" y="4438601"/>
            <a:ext cx="2690727"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grpSp>
        <p:nvGrpSpPr>
          <p:cNvPr id="116" name="Group 82"/>
          <p:cNvGrpSpPr/>
          <p:nvPr/>
        </p:nvGrpSpPr>
        <p:grpSpPr>
          <a:xfrm>
            <a:off x="1392008" y="1451876"/>
            <a:ext cx="3082252" cy="815608"/>
            <a:chOff x="1317257" y="1824875"/>
            <a:chExt cx="4063106" cy="815608"/>
          </a:xfrm>
        </p:grpSpPr>
        <p:sp>
          <p:nvSpPr>
            <p:cNvPr id="117" name="TextBox 90"/>
            <p:cNvSpPr txBox="1"/>
            <p:nvPr/>
          </p:nvSpPr>
          <p:spPr>
            <a:xfrm>
              <a:off x="1317257" y="2132652"/>
              <a:ext cx="4063106" cy="507831"/>
            </a:xfrm>
            <a:prstGeom prst="rect">
              <a:avLst/>
            </a:prstGeom>
            <a:noFill/>
          </p:spPr>
          <p:txBody>
            <a:bodyPr wrap="square" lIns="0" tIns="0" rIns="0" bIns="0">
              <a:noAutofit/>
            </a:bodyPr>
            <a:lstStyle/>
            <a:p>
              <a:pPr>
                <a:lnSpc>
                  <a:spcPct val="120000"/>
                </a:lnSpc>
              </a:pPr>
              <a:r>
                <a:rPr lang="zh-CN" altLang="en-US" sz="2200" b="1" dirty="0">
                  <a:latin typeface="+mn-ea"/>
                  <a:cs typeface="宋体" panose="02010600030101010101" pitchFamily="2" charset="-122"/>
                  <a:sym typeface="+mn-ea"/>
                </a:rPr>
                <a:t>数据或控制项、数据存储或外部实体的主要名称</a:t>
              </a:r>
              <a:endParaRPr lang="zh-CN" altLang="en-US" sz="2200" b="1" dirty="0">
                <a:latin typeface="+mn-ea"/>
                <a:cs typeface="宋体" panose="02010600030101010101" pitchFamily="2" charset="-122"/>
                <a:sym typeface="+mn-ea"/>
              </a:endParaRPr>
            </a:p>
          </p:txBody>
        </p:sp>
        <p:sp>
          <p:nvSpPr>
            <p:cNvPr id="118" name="Rectangle 91"/>
            <p:cNvSpPr/>
            <p:nvPr/>
          </p:nvSpPr>
          <p:spPr>
            <a:xfrm>
              <a:off x="1364716" y="1824875"/>
              <a:ext cx="3713735" cy="307777"/>
            </a:xfrm>
            <a:prstGeom prst="rect">
              <a:avLst/>
            </a:prstGeom>
          </p:spPr>
          <p:txBody>
            <a:bodyPr wrap="none" lIns="0" tIns="0" rIns="0" bIns="0">
              <a:noAutofit/>
            </a:bodyPr>
            <a:lstStyle/>
            <a:p>
              <a:r>
                <a:rPr lang="zh-CN" altLang="en-US" sz="2200" b="1" dirty="0">
                  <a:solidFill>
                    <a:schemeClr val="accent1"/>
                  </a:solidFill>
                  <a:latin typeface="微软雅黑" panose="020B0503020204020204" pitchFamily="34" charset="-122"/>
                  <a:ea typeface="微软雅黑" panose="020B0503020204020204" pitchFamily="34" charset="-122"/>
                </a:rPr>
                <a:t>名称</a:t>
              </a:r>
              <a:endParaRPr lang="zh-CN" altLang="en-US" sz="2200" b="1" dirty="0">
                <a:solidFill>
                  <a:schemeClr val="accent1"/>
                </a:solidFill>
                <a:latin typeface="微软雅黑" panose="020B0503020204020204" pitchFamily="34" charset="-122"/>
                <a:ea typeface="微软雅黑" panose="020B0503020204020204" pitchFamily="34" charset="-122"/>
              </a:endParaRPr>
            </a:p>
          </p:txBody>
        </p:sp>
      </p:grpSp>
      <p:grpSp>
        <p:nvGrpSpPr>
          <p:cNvPr id="119" name="Group 83"/>
          <p:cNvGrpSpPr/>
          <p:nvPr/>
        </p:nvGrpSpPr>
        <p:grpSpPr>
          <a:xfrm>
            <a:off x="1364828" y="2775784"/>
            <a:ext cx="2638357" cy="891970"/>
            <a:chOff x="1278106" y="1824875"/>
            <a:chExt cx="3800346" cy="891970"/>
          </a:xfrm>
        </p:grpSpPr>
        <p:sp>
          <p:nvSpPr>
            <p:cNvPr id="120" name="TextBox 88"/>
            <p:cNvSpPr txBox="1"/>
            <p:nvPr/>
          </p:nvSpPr>
          <p:spPr>
            <a:xfrm>
              <a:off x="1278106" y="2209014"/>
              <a:ext cx="3761195" cy="507831"/>
            </a:xfrm>
            <a:prstGeom prst="rect">
              <a:avLst/>
            </a:prstGeom>
            <a:noFill/>
          </p:spPr>
          <p:txBody>
            <a:bodyPr wrap="square" lIns="0" tIns="0" rIns="0" bIns="0">
              <a:normAutofit/>
            </a:bodyPr>
            <a:lstStyle/>
            <a:p>
              <a:pPr>
                <a:lnSpc>
                  <a:spcPct val="120000"/>
                </a:lnSpc>
              </a:pPr>
              <a:r>
                <a:rPr lang="zh-CN" altLang="en-US" sz="2200" b="1" dirty="0">
                  <a:latin typeface="+mn-ea"/>
                </a:rPr>
                <a:t>第一项的其他名称</a:t>
              </a:r>
              <a:endParaRPr lang="zh-CN" altLang="en-US" sz="2200" b="1" dirty="0">
                <a:latin typeface="+mn-ea"/>
              </a:endParaRPr>
            </a:p>
          </p:txBody>
        </p:sp>
        <p:sp>
          <p:nvSpPr>
            <p:cNvPr id="121" name="Rectangle 89"/>
            <p:cNvSpPr/>
            <p:nvPr/>
          </p:nvSpPr>
          <p:spPr>
            <a:xfrm>
              <a:off x="1317257" y="1824875"/>
              <a:ext cx="3761195" cy="307777"/>
            </a:xfrm>
            <a:prstGeom prst="rect">
              <a:avLst/>
            </a:prstGeom>
          </p:spPr>
          <p:txBody>
            <a:bodyPr wrap="none" lIns="0" tIns="0" rIns="0" bIns="0">
              <a:noAutofit/>
            </a:bodyPr>
            <a:lstStyle/>
            <a:p>
              <a:r>
                <a:rPr lang="zh-CN" altLang="en-US" sz="2200" b="1" dirty="0">
                  <a:solidFill>
                    <a:schemeClr val="tx1"/>
                  </a:solidFill>
                  <a:latin typeface="微软雅黑" panose="020B0503020204020204" pitchFamily="34" charset="-122"/>
                  <a:ea typeface="微软雅黑" panose="020B0503020204020204" pitchFamily="34" charset="-122"/>
                </a:rPr>
                <a:t>别名</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grpSp>
      <p:grpSp>
        <p:nvGrpSpPr>
          <p:cNvPr id="122" name="Group 84"/>
          <p:cNvGrpSpPr/>
          <p:nvPr/>
        </p:nvGrpSpPr>
        <p:grpSpPr>
          <a:xfrm>
            <a:off x="1392008" y="3876662"/>
            <a:ext cx="3016244" cy="852552"/>
            <a:chOff x="1317257" y="1824875"/>
            <a:chExt cx="4344662" cy="852552"/>
          </a:xfrm>
        </p:grpSpPr>
        <p:sp>
          <p:nvSpPr>
            <p:cNvPr id="123" name="TextBox 86"/>
            <p:cNvSpPr txBox="1"/>
            <p:nvPr/>
          </p:nvSpPr>
          <p:spPr>
            <a:xfrm>
              <a:off x="1317257" y="2169596"/>
              <a:ext cx="4344662" cy="507831"/>
            </a:xfrm>
            <a:prstGeom prst="rect">
              <a:avLst/>
            </a:prstGeom>
            <a:noFill/>
          </p:spPr>
          <p:txBody>
            <a:bodyPr wrap="square" lIns="0" tIns="0" rIns="0" bIns="0">
              <a:noAutofit/>
            </a:bodyPr>
            <a:lstStyle/>
            <a:p>
              <a:pPr>
                <a:lnSpc>
                  <a:spcPct val="120000"/>
                </a:lnSpc>
              </a:pPr>
              <a:r>
                <a:rPr lang="zh-CN" altLang="en-US" sz="2200" b="1" dirty="0">
                  <a:latin typeface="+mn-ea"/>
                  <a:cs typeface="宋体" panose="02010600030101010101" pitchFamily="2" charset="-122"/>
                  <a:sym typeface="+mn-ea"/>
                </a:rPr>
                <a:t>使用数据或控制项的加工列表，以及如何使用（例如，加工的输入、加工的输出、作为存储、作为外部实体）</a:t>
              </a:r>
              <a:endParaRPr lang="zh-CN" altLang="en-US" sz="2200" b="1" dirty="0">
                <a:latin typeface="+mn-ea"/>
                <a:cs typeface="宋体" panose="02010600030101010101" pitchFamily="2" charset="-122"/>
                <a:sym typeface="+mn-ea"/>
              </a:endParaRPr>
            </a:p>
          </p:txBody>
        </p:sp>
        <p:sp>
          <p:nvSpPr>
            <p:cNvPr id="124" name="Rectangle 87"/>
            <p:cNvSpPr/>
            <p:nvPr/>
          </p:nvSpPr>
          <p:spPr>
            <a:xfrm>
              <a:off x="1317257" y="1824875"/>
              <a:ext cx="3761195" cy="307777"/>
            </a:xfrm>
            <a:prstGeom prst="rect">
              <a:avLst/>
            </a:prstGeom>
          </p:spPr>
          <p:txBody>
            <a:bodyPr wrap="none" lIns="0" tIns="0" rIns="0" bIns="0">
              <a:noAutofit/>
            </a:bodyPr>
            <a:lstStyle/>
            <a:p>
              <a:r>
                <a:rPr lang="zh-CN" altLang="en-US" sz="2200" b="1" dirty="0">
                  <a:solidFill>
                    <a:schemeClr val="accent5"/>
                  </a:solidFill>
                  <a:latin typeface="微软雅黑" panose="020B0503020204020204" pitchFamily="34" charset="-122"/>
                  <a:ea typeface="微软雅黑" panose="020B0503020204020204" pitchFamily="34" charset="-122"/>
                  <a:cs typeface="宋体" panose="02010600030101010101" pitchFamily="2" charset="-122"/>
                </a:rPr>
                <a:t>何处使用</a:t>
              </a:r>
              <a:r>
                <a:rPr lang="en-US" altLang="zh-CN" sz="2200" b="1" dirty="0">
                  <a:solidFill>
                    <a:schemeClr val="accent5"/>
                  </a:solidFill>
                  <a:latin typeface="微软雅黑" panose="020B0503020204020204" pitchFamily="34" charset="-122"/>
                  <a:ea typeface="微软雅黑" panose="020B0503020204020204" pitchFamily="34" charset="-122"/>
                  <a:cs typeface="宋体" panose="02010600030101010101" pitchFamily="2" charset="-122"/>
                </a:rPr>
                <a:t>/</a:t>
              </a:r>
              <a:r>
                <a:rPr lang="zh-CN" altLang="en-US" sz="2200" b="1" dirty="0">
                  <a:solidFill>
                    <a:schemeClr val="accent5"/>
                  </a:solidFill>
                  <a:latin typeface="微软雅黑" panose="020B0503020204020204" pitchFamily="34" charset="-122"/>
                  <a:ea typeface="微软雅黑" panose="020B0503020204020204" pitchFamily="34" charset="-122"/>
                  <a:cs typeface="宋体" panose="02010600030101010101" pitchFamily="2" charset="-122"/>
                </a:rPr>
                <a:t>如何使用</a:t>
              </a:r>
              <a:endParaRPr lang="zh-CN" altLang="en-US" sz="2200" b="1" dirty="0">
                <a:solidFill>
                  <a:schemeClr val="accent5"/>
                </a:solidFill>
                <a:latin typeface="微软雅黑" panose="020B0503020204020204" pitchFamily="34" charset="-122"/>
                <a:ea typeface="微软雅黑" panose="020B0503020204020204" pitchFamily="34" charset="-122"/>
                <a:cs typeface="宋体" panose="02010600030101010101" pitchFamily="2" charset="-122"/>
              </a:endParaRPr>
            </a:p>
          </p:txBody>
        </p:sp>
      </p:grpSp>
      <p:cxnSp>
        <p:nvCxnSpPr>
          <p:cNvPr id="125" name="Straight Connector 67"/>
          <p:cNvCxnSpPr/>
          <p:nvPr/>
        </p:nvCxnSpPr>
        <p:spPr>
          <a:xfrm>
            <a:off x="1336755" y="1778140"/>
            <a:ext cx="2955765"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26" name="Straight Connector 68"/>
          <p:cNvCxnSpPr/>
          <p:nvPr/>
        </p:nvCxnSpPr>
        <p:spPr>
          <a:xfrm>
            <a:off x="1336755" y="3178844"/>
            <a:ext cx="2448272"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pic>
        <p:nvPicPr>
          <p:cNvPr id="127" name="图片 126"/>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grpSp>
        <p:nvGrpSpPr>
          <p:cNvPr id="128" name="组合 7"/>
          <p:cNvGrpSpPr/>
          <p:nvPr/>
        </p:nvGrpSpPr>
        <p:grpSpPr>
          <a:xfrm>
            <a:off x="108557" y="337632"/>
            <a:ext cx="3815742" cy="491607"/>
            <a:chOff x="198764" y="258545"/>
            <a:chExt cx="5086477" cy="656007"/>
          </a:xfrm>
        </p:grpSpPr>
        <p:grpSp>
          <p:nvGrpSpPr>
            <p:cNvPr id="129" name="组合 5"/>
            <p:cNvGrpSpPr/>
            <p:nvPr/>
          </p:nvGrpSpPr>
          <p:grpSpPr>
            <a:xfrm>
              <a:off x="198764" y="258545"/>
              <a:ext cx="700083" cy="563491"/>
              <a:chOff x="5075564" y="2933562"/>
              <a:chExt cx="2860947" cy="2302753"/>
            </a:xfrm>
          </p:grpSpPr>
          <p:sp>
            <p:nvSpPr>
              <p:cNvPr id="130" name="等腰三角形 129"/>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31" name="等腰三角形 130"/>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32" name="文本框 6"/>
            <p:cNvSpPr txBox="1"/>
            <p:nvPr/>
          </p:nvSpPr>
          <p:spPr>
            <a:xfrm>
              <a:off x="988289" y="300221"/>
              <a:ext cx="429695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3.6 </a:t>
              </a:r>
              <a:r>
                <a:rPr lang="zh-CN" altLang="en-US" sz="2400" b="1" dirty="0">
                  <a:solidFill>
                    <a:srgbClr val="000000"/>
                  </a:solidFill>
                  <a:latin typeface="微软雅黑" panose="020B0503020204020204" pitchFamily="34" charset="-122"/>
                  <a:ea typeface="微软雅黑" panose="020B0503020204020204" pitchFamily="34" charset="-122"/>
                </a:rPr>
                <a:t>创建数据字典</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11" name="文本框 67"/>
          <p:cNvSpPr>
            <a:spLocks noChangeArrowheads="1"/>
          </p:cNvSpPr>
          <p:nvPr/>
        </p:nvSpPr>
        <p:spPr bwMode="auto">
          <a:xfrm>
            <a:off x="685451" y="831226"/>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）数据字典的组成</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12" name="日期占位符 11"/>
          <p:cNvSpPr>
            <a:spLocks noGrp="1"/>
          </p:cNvSpPr>
          <p:nvPr>
            <p:ph type="dt" sz="half" idx="10"/>
          </p:nvPr>
        </p:nvSpPr>
        <p:spPr/>
        <p:txBody>
          <a:bodyPr/>
          <a:lstStyle/>
          <a:p>
            <a:pPr>
              <a:defRPr/>
            </a:pPr>
            <a:fld id="{ECE52859-CE3D-4623-B446-8D853524F127}"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14" name="灯片编号占位符 13"/>
          <p:cNvSpPr>
            <a:spLocks noGrp="1"/>
          </p:cNvSpPr>
          <p:nvPr>
            <p:ph type="sldNum" sz="quarter" idx="12"/>
          </p:nvPr>
        </p:nvSpPr>
        <p:spPr/>
        <p:txBody>
          <a:bodyPr/>
          <a:lstStyle/>
          <a:p>
            <a:pPr>
              <a:defRPr/>
            </a:pPr>
            <a:fld id="{0519FDB0-D360-4966-A01C-1D1C6BB19AF3}" type="slidenum">
              <a:rPr lang="zh-CN" altLang="en-US" b="1" smtClean="0">
                <a:solidFill>
                  <a:prstClr val="black">
                    <a:tint val="75000"/>
                  </a:prstClr>
                </a:solidFill>
              </a:rPr>
            </a:fld>
            <a:endParaRPr lang="zh-CN" altLang="en-US" b="1" dirty="0" smtClean="0">
              <a:solidFill>
                <a:prstClr val="black">
                  <a:tint val="75000"/>
                </a:prstClr>
              </a:solidFill>
            </a:endParaRPr>
          </a:p>
        </p:txBody>
      </p:sp>
      <p:cxnSp>
        <p:nvCxnSpPr>
          <p:cNvPr id="18" name="Straight Connector 68"/>
          <p:cNvCxnSpPr/>
          <p:nvPr/>
        </p:nvCxnSpPr>
        <p:spPr>
          <a:xfrm>
            <a:off x="1311355" y="4222919"/>
            <a:ext cx="2448272"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27"/>
                                        </p:tgtEl>
                                        <p:attrNameLst>
                                          <p:attrName>style.visibility</p:attrName>
                                        </p:attrNameLst>
                                      </p:cBhvr>
                                      <p:to>
                                        <p:strVal val="visible"/>
                                      </p:to>
                                    </p:set>
                                    <p:anim calcmode="lin" valueType="num">
                                      <p:cBhvr>
                                        <p:cTn id="7" dur="500" fill="hold"/>
                                        <p:tgtEl>
                                          <p:spTgt spid="127"/>
                                        </p:tgtEl>
                                        <p:attrNameLst>
                                          <p:attrName>ppt_w</p:attrName>
                                        </p:attrNameLst>
                                      </p:cBhvr>
                                      <p:tavLst>
                                        <p:tav tm="0">
                                          <p:val>
                                            <p:fltVal val="0"/>
                                          </p:val>
                                        </p:tav>
                                        <p:tav tm="100000">
                                          <p:val>
                                            <p:strVal val="#ppt_w"/>
                                          </p:val>
                                        </p:tav>
                                      </p:tavLst>
                                    </p:anim>
                                    <p:anim calcmode="lin" valueType="num">
                                      <p:cBhvr>
                                        <p:cTn id="8" dur="500" fill="hold"/>
                                        <p:tgtEl>
                                          <p:spTgt spid="127"/>
                                        </p:tgtEl>
                                        <p:attrNameLst>
                                          <p:attrName>ppt_h</p:attrName>
                                        </p:attrNameLst>
                                      </p:cBhvr>
                                      <p:tavLst>
                                        <p:tav tm="0">
                                          <p:val>
                                            <p:fltVal val="0"/>
                                          </p:val>
                                        </p:tav>
                                        <p:tav tm="100000">
                                          <p:val>
                                            <p:strVal val="#ppt_h"/>
                                          </p:val>
                                        </p:tav>
                                      </p:tavLst>
                                    </p:anim>
                                    <p:animEffect transition="in" filter="fade">
                                      <p:cBhvr>
                                        <p:cTn id="9" dur="500"/>
                                        <p:tgtEl>
                                          <p:spTgt spid="127"/>
                                        </p:tgtEl>
                                      </p:cBhvr>
                                    </p:animEffect>
                                  </p:childTnLst>
                                </p:cTn>
                              </p:par>
                              <p:par>
                                <p:cTn id="10" presetID="2" presetClass="entr" presetSubtype="8" fill="hold" nodeType="withEffect">
                                  <p:stCondLst>
                                    <p:cond delay="0"/>
                                  </p:stCondLst>
                                  <p:childTnLst>
                                    <p:set>
                                      <p:cBhvr>
                                        <p:cTn id="11" dur="1" fill="hold">
                                          <p:stCondLst>
                                            <p:cond delay="0"/>
                                          </p:stCondLst>
                                        </p:cTn>
                                        <p:tgtEl>
                                          <p:spTgt spid="128"/>
                                        </p:tgtEl>
                                        <p:attrNameLst>
                                          <p:attrName>style.visibility</p:attrName>
                                        </p:attrNameLst>
                                      </p:cBhvr>
                                      <p:to>
                                        <p:strVal val="visible"/>
                                      </p:to>
                                    </p:set>
                                    <p:anim calcmode="lin" valueType="num">
                                      <p:cBhvr additive="base">
                                        <p:cTn id="12" dur="500" fill="hold"/>
                                        <p:tgtEl>
                                          <p:spTgt spid="128"/>
                                        </p:tgtEl>
                                        <p:attrNameLst>
                                          <p:attrName>ppt_x</p:attrName>
                                        </p:attrNameLst>
                                      </p:cBhvr>
                                      <p:tavLst>
                                        <p:tav tm="0">
                                          <p:val>
                                            <p:strVal val="0-#ppt_w/2"/>
                                          </p:val>
                                        </p:tav>
                                        <p:tav tm="100000">
                                          <p:val>
                                            <p:strVal val="#ppt_x"/>
                                          </p:val>
                                        </p:tav>
                                      </p:tavLst>
                                    </p:anim>
                                    <p:anim calcmode="lin" valueType="num">
                                      <p:cBhvr additive="base">
                                        <p:cTn id="13" dur="500" fill="hold"/>
                                        <p:tgtEl>
                                          <p:spTgt spid="128"/>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11"/>
                                        </p:tgtEl>
                                        <p:attrNameLst>
                                          <p:attrName>style.visibility</p:attrName>
                                        </p:attrNameLst>
                                      </p:cBhvr>
                                      <p:to>
                                        <p:strVal val="visible"/>
                                      </p:to>
                                    </p:set>
                                    <p:anim calcmode="lin" valueType="num">
                                      <p:cBhvr additive="base">
                                        <p:cTn id="16" dur="500"/>
                                        <p:tgtEl>
                                          <p:spTgt spid="111"/>
                                        </p:tgtEl>
                                        <p:attrNameLst>
                                          <p:attrName>ppt_x</p:attrName>
                                        </p:attrNameLst>
                                      </p:cBhvr>
                                      <p:tavLst>
                                        <p:tav tm="0">
                                          <p:val>
                                            <p:strVal val="#ppt_x+#ppt_w*1.125000"/>
                                          </p:val>
                                        </p:tav>
                                        <p:tav tm="100000">
                                          <p:val>
                                            <p:strVal val="#ppt_x"/>
                                          </p:val>
                                        </p:tav>
                                      </p:tavLst>
                                    </p:anim>
                                    <p:animEffect transition="in" filter="wipe(left)">
                                      <p:cBhvr>
                                        <p:cTn id="17" dur="500"/>
                                        <p:tgtEl>
                                          <p:spTgt spid="11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16"/>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25"/>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19"/>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12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2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05"/>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11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108"/>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115"/>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65539"/>
          <p:cNvSpPr>
            <a:spLocks noGrp="1"/>
          </p:cNvSpPr>
          <p:nvPr>
            <p:ph type="title"/>
          </p:nvPr>
        </p:nvSpPr>
        <p:spPr>
          <a:xfrm>
            <a:off x="4285211" y="1211555"/>
            <a:ext cx="4003675" cy="533400"/>
          </a:xfrm>
        </p:spPr>
        <p:txBody>
          <a:bodyPr vert="horz" wrap="square" lIns="91440" tIns="45720" rIns="91440" bIns="45720" anchor="ctr"/>
          <a:lstStyle/>
          <a:p>
            <a:pPr eaLnBrk="1" hangingPunct="1"/>
            <a:r>
              <a:rPr lang="zh-CN" altLang="en-US" sz="2200" b="1" dirty="0">
                <a:solidFill>
                  <a:srgbClr val="FF0000"/>
                </a:solidFill>
              </a:rPr>
              <a:t>用来开发数据内容描述的符号</a:t>
            </a:r>
            <a:endParaRPr lang="zh-CN" altLang="en-US" sz="2200" b="1" dirty="0">
              <a:solidFill>
                <a:srgbClr val="FF0000"/>
              </a:solidFill>
            </a:endParaRPr>
          </a:p>
        </p:txBody>
      </p:sp>
      <p:graphicFrame>
        <p:nvGraphicFramePr>
          <p:cNvPr id="18" name="表格 4"/>
          <p:cNvGraphicFramePr>
            <a:graphicFrameLocks noGrp="1"/>
          </p:cNvGraphicFramePr>
          <p:nvPr>
            <p:ph idx="1"/>
            <p:custDataLst>
              <p:tags r:id="rId1"/>
            </p:custDataLst>
          </p:nvPr>
        </p:nvGraphicFramePr>
        <p:xfrm>
          <a:off x="700839" y="1778542"/>
          <a:ext cx="10687596" cy="4204503"/>
        </p:xfrm>
        <a:graphic>
          <a:graphicData uri="http://schemas.openxmlformats.org/drawingml/2006/table">
            <a:tbl>
              <a:tblPr firstRow="1" bandRow="1">
                <a:tableStyleId>{5C22544A-7EE6-4342-B048-85BDC9FD1C3A}</a:tableStyleId>
              </a:tblPr>
              <a:tblGrid>
                <a:gridCol w="2605779"/>
                <a:gridCol w="4519285"/>
                <a:gridCol w="3562532"/>
              </a:tblGrid>
              <a:tr h="84902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i="0" u="none" kern="1200" baseline="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数据构造</a:t>
                      </a:r>
                      <a:endParaRPr lang="zh-CN" altLang="en-US" sz="2200" b="1" i="0" u="none" kern="1200" baseline="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i="0" u="none" kern="1200" baseline="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记号</a:t>
                      </a:r>
                      <a:endParaRPr lang="zh-CN" altLang="en-US" sz="2200" b="1" i="0" u="none" kern="1200" baseline="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i="0" u="none" kern="1200" baseline="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意义</a:t>
                      </a:r>
                      <a:endParaRPr lang="zh-CN" altLang="en-US" sz="2200" b="1" i="0" u="none" kern="1200" baseline="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r>
              <a:tr h="560527">
                <a:tc rowSpan="2">
                  <a:txBody>
                    <a:bodyPr/>
                    <a:lstStyle/>
                    <a:p>
                      <a:pPr algn="ctr"/>
                      <a:r>
                        <a:rPr lang="zh-CN" altLang="en-US" sz="2200" b="1" dirty="0"/>
                        <a:t>顺序</a:t>
                      </a:r>
                      <a:endParaRPr lang="zh-CN" altLang="en-US" sz="2200" b="1" dirty="0"/>
                    </a:p>
                  </a:txBody>
                  <a:tcPr anchor="ctr"/>
                </a:tc>
                <a:tc>
                  <a:txBody>
                    <a:bodyPr/>
                    <a:lstStyle/>
                    <a:p>
                      <a:pPr algn="ctr"/>
                      <a:r>
                        <a:rPr lang="en-US" altLang="zh-CN" sz="2200" b="1" dirty="0"/>
                        <a:t>=</a:t>
                      </a:r>
                      <a:endParaRPr lang="en-US" altLang="zh-CN" sz="2200" b="1" dirty="0"/>
                    </a:p>
                  </a:txBody>
                  <a:tcPr anchor="ctr"/>
                </a:tc>
                <a:tc>
                  <a:txBody>
                    <a:bodyPr/>
                    <a:lstStyle/>
                    <a:p>
                      <a:pPr algn="ctr"/>
                      <a:r>
                        <a:rPr lang="zh-CN" altLang="en-US" sz="2200" b="1" dirty="0"/>
                        <a:t>由</a:t>
                      </a:r>
                      <a:r>
                        <a:rPr lang="en-US" altLang="zh-CN" sz="2200" b="1" dirty="0"/>
                        <a:t>……</a:t>
                      </a:r>
                      <a:r>
                        <a:rPr lang="zh-CN" altLang="en-US" sz="2200" b="1" dirty="0"/>
                        <a:t>构成</a:t>
                      </a:r>
                      <a:endParaRPr lang="zh-CN" altLang="en-US" sz="2200" b="1" dirty="0"/>
                    </a:p>
                  </a:txBody>
                  <a:tcPr anchor="ctr"/>
                </a:tc>
              </a:tr>
              <a:tr h="560527">
                <a:tc vMerge="1">
                  <a:tcPr/>
                </a:tc>
                <a:tc>
                  <a:txBody>
                    <a:bodyPr/>
                    <a:lstStyle/>
                    <a:p>
                      <a:pPr algn="ctr"/>
                      <a:r>
                        <a:rPr lang="en-US" altLang="zh-CN" sz="2200" b="1" dirty="0"/>
                        <a:t>+</a:t>
                      </a:r>
                      <a:endParaRPr lang="en-US" altLang="zh-CN" sz="2200" b="1" dirty="0"/>
                    </a:p>
                  </a:txBody>
                  <a:tcPr anchor="ctr"/>
                </a:tc>
                <a:tc>
                  <a:txBody>
                    <a:bodyPr/>
                    <a:lstStyle/>
                    <a:p>
                      <a:pPr algn="ctr"/>
                      <a:r>
                        <a:rPr lang="zh-CN" altLang="en-US" sz="2200" b="1" dirty="0"/>
                        <a:t>和</a:t>
                      </a:r>
                      <a:endParaRPr lang="zh-CN" altLang="en-US" sz="2200" b="1" dirty="0"/>
                    </a:p>
                  </a:txBody>
                  <a:tcPr anchor="ctr"/>
                </a:tc>
              </a:tr>
              <a:tr h="560527">
                <a:tc>
                  <a:txBody>
                    <a:bodyPr/>
                    <a:lstStyle/>
                    <a:p>
                      <a:pPr algn="ctr"/>
                      <a:r>
                        <a:rPr lang="zh-CN" altLang="en-US" sz="2200" b="1" dirty="0"/>
                        <a:t>选择</a:t>
                      </a:r>
                      <a:endParaRPr lang="zh-CN" altLang="en-US" sz="22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b="1" dirty="0">
                          <a:latin typeface="Arial" panose="020B0604020202020204" pitchFamily="34" charset="0"/>
                        </a:rPr>
                        <a:t>[ | ]</a:t>
                      </a:r>
                      <a:endParaRPr lang="en-US" altLang="zh-CN" sz="2200" b="1" dirty="0">
                        <a:latin typeface="Arial" panose="020B0604020202020204" pitchFamily="34" charset="0"/>
                      </a:endParaRPr>
                    </a:p>
                  </a:txBody>
                  <a:tcPr anchor="ctr"/>
                </a:tc>
                <a:tc>
                  <a:txBody>
                    <a:bodyPr/>
                    <a:lstStyle/>
                    <a:p>
                      <a:pPr algn="ctr"/>
                      <a:r>
                        <a:rPr lang="zh-CN" altLang="en-US" sz="2200" b="1" dirty="0"/>
                        <a:t>或</a:t>
                      </a:r>
                      <a:endParaRPr lang="zh-CN" altLang="en-US" sz="2200" b="1" dirty="0"/>
                    </a:p>
                  </a:txBody>
                  <a:tcPr anchor="ctr"/>
                </a:tc>
              </a:tr>
              <a:tr h="560527">
                <a:tc rowSpan="3">
                  <a:txBody>
                    <a:bodyPr/>
                    <a:lstStyle/>
                    <a:p>
                      <a:pPr algn="ctr"/>
                      <a:r>
                        <a:rPr lang="zh-CN" altLang="en-US" sz="2200" b="1" dirty="0"/>
                        <a:t>重复</a:t>
                      </a:r>
                      <a:endParaRPr lang="zh-CN" altLang="en-US" sz="2200" b="1" dirty="0"/>
                    </a:p>
                  </a:txBody>
                  <a:tcPr anchor="ctr"/>
                </a:tc>
                <a:tc>
                  <a:txBody>
                    <a:bodyPr/>
                    <a:lstStyle/>
                    <a:p>
                      <a:pPr algn="ctr"/>
                      <a:r>
                        <a:rPr lang="en-US" altLang="zh-CN" sz="2200" b="1" dirty="0"/>
                        <a:t>1</a:t>
                      </a:r>
                      <a:r>
                        <a:rPr lang="zh-CN" altLang="en-US" sz="2200" b="1" dirty="0"/>
                        <a:t>：</a:t>
                      </a:r>
                      <a:r>
                        <a:rPr lang="en-US" altLang="zh-CN" sz="2200" b="1" dirty="0"/>
                        <a:t>n{ }</a:t>
                      </a:r>
                      <a:endParaRPr lang="zh-CN" altLang="en-US" sz="2200" b="1" dirty="0"/>
                    </a:p>
                  </a:txBody>
                  <a:tcPr anchor="ctr"/>
                </a:tc>
                <a:tc>
                  <a:txBody>
                    <a:bodyPr/>
                    <a:lstStyle/>
                    <a:p>
                      <a:pPr algn="ctr"/>
                      <a:r>
                        <a:rPr lang="en-US" altLang="zh-CN" sz="2200" b="1" dirty="0"/>
                        <a:t>N</a:t>
                      </a:r>
                      <a:r>
                        <a:rPr lang="zh-CN" altLang="en-US" sz="2200" b="1" dirty="0"/>
                        <a:t>次重复</a:t>
                      </a:r>
                      <a:endParaRPr lang="zh-CN" altLang="en-US" sz="2200" b="1" dirty="0"/>
                    </a:p>
                  </a:txBody>
                  <a:tcPr anchor="ctr"/>
                </a:tc>
              </a:tr>
              <a:tr h="552848">
                <a:tc vMerge="1">
                  <a:tcPr/>
                </a:tc>
                <a:tc>
                  <a:txBody>
                    <a:bodyPr/>
                    <a:lstStyle/>
                    <a:p>
                      <a:pPr algn="ctr"/>
                      <a:r>
                        <a:rPr lang="zh-CN" altLang="en-US" sz="2200" b="1" dirty="0"/>
                        <a:t>（）</a:t>
                      </a:r>
                      <a:endParaRPr lang="zh-CN" altLang="en-US" sz="2200" b="1" dirty="0"/>
                    </a:p>
                  </a:txBody>
                  <a:tcPr anchor="ctr"/>
                </a:tc>
                <a:tc>
                  <a:txBody>
                    <a:bodyPr/>
                    <a:lstStyle/>
                    <a:p>
                      <a:pPr algn="ctr"/>
                      <a:r>
                        <a:rPr lang="zh-CN" altLang="en-US" sz="2200" b="1" dirty="0"/>
                        <a:t>可选数据</a:t>
                      </a:r>
                      <a:endParaRPr lang="zh-CN" altLang="en-US" sz="2200" b="1" dirty="0"/>
                    </a:p>
                  </a:txBody>
                  <a:tcPr anchor="ctr"/>
                </a:tc>
              </a:tr>
              <a:tr h="560527">
                <a:tc vMerge="1">
                  <a:tcPr/>
                </a:tc>
                <a:tc>
                  <a:txBody>
                    <a:bodyPr/>
                    <a:lstStyle/>
                    <a:p>
                      <a:pPr algn="ctr"/>
                      <a:r>
                        <a:rPr lang="zh-CN" altLang="en-US" sz="2200" b="1" dirty="0"/>
                        <a:t>*</a:t>
                      </a:r>
                      <a:r>
                        <a:rPr lang="en-US" altLang="zh-CN" sz="2200" b="1" dirty="0"/>
                        <a:t>…</a:t>
                      </a:r>
                      <a:r>
                        <a:rPr lang="zh-CN" altLang="en-US" sz="2200" b="1" dirty="0"/>
                        <a:t>*</a:t>
                      </a:r>
                      <a:endParaRPr lang="zh-CN" altLang="en-US" sz="2200" b="1" dirty="0"/>
                    </a:p>
                  </a:txBody>
                  <a:tcPr anchor="ctr"/>
                </a:tc>
                <a:tc>
                  <a:txBody>
                    <a:bodyPr/>
                    <a:lstStyle/>
                    <a:p>
                      <a:pPr algn="ctr"/>
                      <a:r>
                        <a:rPr lang="zh-CN" altLang="en-US" sz="2200" b="1" dirty="0"/>
                        <a:t>限定的注释</a:t>
                      </a:r>
                      <a:endParaRPr lang="zh-CN" altLang="en-US" sz="2200" b="1" dirty="0"/>
                    </a:p>
                  </a:txBody>
                  <a:tcPr anchor="ctr"/>
                </a:tc>
              </a:tr>
            </a:tbl>
          </a:graphicData>
        </a:graphic>
      </p:graphicFrame>
      <p:pic>
        <p:nvPicPr>
          <p:cNvPr id="2" name="图片 1"/>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grpSp>
        <p:nvGrpSpPr>
          <p:cNvPr id="3" name="组合 7"/>
          <p:cNvGrpSpPr/>
          <p:nvPr/>
        </p:nvGrpSpPr>
        <p:grpSpPr>
          <a:xfrm>
            <a:off x="108557" y="337632"/>
            <a:ext cx="3815742" cy="491607"/>
            <a:chOff x="198764" y="258545"/>
            <a:chExt cx="5086477" cy="656007"/>
          </a:xfrm>
        </p:grpSpPr>
        <p:grpSp>
          <p:nvGrpSpPr>
            <p:cNvPr id="19" name="组合 5"/>
            <p:cNvGrpSpPr/>
            <p:nvPr/>
          </p:nvGrpSpPr>
          <p:grpSpPr>
            <a:xfrm>
              <a:off x="198764" y="258545"/>
              <a:ext cx="700083" cy="563491"/>
              <a:chOff x="5075564" y="2933562"/>
              <a:chExt cx="2860947" cy="2302753"/>
            </a:xfrm>
          </p:grpSpPr>
          <p:sp>
            <p:nvSpPr>
              <p:cNvPr id="21" name="等腰三角形 2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22" name="等腰三角形 2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20" name="文本框 6"/>
            <p:cNvSpPr txBox="1"/>
            <p:nvPr/>
          </p:nvSpPr>
          <p:spPr>
            <a:xfrm>
              <a:off x="988289" y="300221"/>
              <a:ext cx="429695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3.6 </a:t>
              </a:r>
              <a:r>
                <a:rPr lang="zh-CN" altLang="en-US" sz="2400" b="1" dirty="0">
                  <a:solidFill>
                    <a:srgbClr val="000000"/>
                  </a:solidFill>
                  <a:latin typeface="微软雅黑" panose="020B0503020204020204" pitchFamily="34" charset="-122"/>
                  <a:ea typeface="微软雅黑" panose="020B0503020204020204" pitchFamily="34" charset="-122"/>
                </a:rPr>
                <a:t>创建数据字典</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1"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）数据字典的组成</a:t>
            </a:r>
            <a:endParaRPr lang="zh-CN" altLang="en-US" sz="2400" b="1" kern="0" dirty="0">
              <a:latin typeface="宋体" panose="02010600030101010101" pitchFamily="2" charset="-122"/>
              <a:sym typeface="宋体" panose="02010600030101010101" pitchFamily="2" charset="-122"/>
            </a:endParaRPr>
          </a:p>
        </p:txBody>
      </p:sp>
      <p:sp>
        <p:nvSpPr>
          <p:cNvPr id="4" name="日期占位符 3"/>
          <p:cNvSpPr>
            <a:spLocks noGrp="1"/>
          </p:cNvSpPr>
          <p:nvPr>
            <p:ph type="dt" sz="half" idx="10"/>
          </p:nvPr>
        </p:nvSpPr>
        <p:spPr/>
        <p:txBody>
          <a:bodyPr/>
          <a:lstStyle/>
          <a:p>
            <a:pPr>
              <a:defRPr/>
            </a:pPr>
            <a:fld id="{ECD8DBFD-DD67-4C90-B930-F1BD81CCD5C0}"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5" name="灯片编号占位符 4"/>
          <p:cNvSpPr>
            <a:spLocks noGrp="1"/>
          </p:cNvSpPr>
          <p:nvPr>
            <p:ph type="sldNum" sz="quarter" idx="12"/>
          </p:nvPr>
        </p:nvSpPr>
        <p:spPr/>
        <p:txBody>
          <a:bodyPr/>
          <a:lstStyle/>
          <a:p>
            <a:pPr>
              <a:defRPr/>
            </a:pPr>
            <a:fld id="{0519FDB0-D360-4966-A01C-1D1C6BB19AF3}" type="slidenum">
              <a:rPr lang="zh-CN" altLang="en-US" b="1" smtClean="0">
                <a:solidFill>
                  <a:prstClr val="black">
                    <a:tint val="75000"/>
                  </a:prstClr>
                </a:solidFill>
              </a:rPr>
            </a:fld>
            <a:endParaRPr lang="zh-CN" altLang="en-US" b="1" dirty="0" smtClean="0">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2" presetClass="entr" presetSubtype="8"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0-#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p:tgtEl>
                                          <p:spTgt spid="11"/>
                                        </p:tgtEl>
                                        <p:attrNameLst>
                                          <p:attrName>ppt_x</p:attrName>
                                        </p:attrNameLst>
                                      </p:cBhvr>
                                      <p:tavLst>
                                        <p:tav tm="0">
                                          <p:val>
                                            <p:strVal val="#ppt_x+#ppt_w*1.125000"/>
                                          </p:val>
                                        </p:tav>
                                        <p:tav tm="100000">
                                          <p:val>
                                            <p:strVal val="#ppt_x"/>
                                          </p:val>
                                        </p:tav>
                                      </p:tavLst>
                                    </p:anim>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down)">
                                      <p:cBhvr>
                                        <p:cTn id="2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1"/>
          <p:cNvGrpSpPr/>
          <p:nvPr/>
        </p:nvGrpSpPr>
        <p:grpSpPr>
          <a:xfrm>
            <a:off x="699135" y="2741080"/>
            <a:ext cx="736375" cy="736375"/>
            <a:chOff x="1731021" y="1638788"/>
            <a:chExt cx="736375" cy="736375"/>
          </a:xfrm>
          <a:solidFill>
            <a:schemeClr val="accent1"/>
          </a:solidFill>
        </p:grpSpPr>
        <p:sp>
          <p:nvSpPr>
            <p:cNvPr id="5" name="Oval 22"/>
            <p:cNvSpPr/>
            <p:nvPr/>
          </p:nvSpPr>
          <p:spPr>
            <a:xfrm>
              <a:off x="1731021" y="1638788"/>
              <a:ext cx="736375" cy="736375"/>
            </a:xfrm>
            <a:prstGeom prst="ellipse">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微软雅黑" panose="020B0503020204020204" pitchFamily="34" charset="-122"/>
                <a:ea typeface="微软雅黑" panose="020B0503020204020204" pitchFamily="34" charset="-122"/>
              </a:endParaRPr>
            </a:p>
          </p:txBody>
        </p:sp>
        <p:sp>
          <p:nvSpPr>
            <p:cNvPr id="6" name="TextBox 23"/>
            <p:cNvSpPr txBox="1"/>
            <p:nvPr/>
          </p:nvSpPr>
          <p:spPr>
            <a:xfrm>
              <a:off x="1835353" y="1774998"/>
              <a:ext cx="527709" cy="461665"/>
            </a:xfrm>
            <a:prstGeom prst="rect">
              <a:avLst/>
            </a:prstGeom>
            <a:grpFill/>
            <a:ln>
              <a:noFill/>
            </a:ln>
          </p:spPr>
          <p:txBody>
            <a:bodyPr wrap="none">
              <a:normAutofit fontScale="90000"/>
            </a:bodyPr>
            <a:lstStyle/>
            <a:p>
              <a:pPr algn="ctr"/>
              <a:r>
                <a:rPr lang="en-GB" sz="2400" b="1" dirty="0">
                  <a:solidFill>
                    <a:schemeClr val="bg1"/>
                  </a:solidFill>
                  <a:latin typeface="微软雅黑" panose="020B0503020204020204" pitchFamily="34" charset="-122"/>
                  <a:ea typeface="微软雅黑" panose="020B0503020204020204" pitchFamily="34" charset="-122"/>
                </a:rPr>
                <a:t>01</a:t>
              </a:r>
              <a:endParaRPr lang="en-GB" sz="2400" b="1" dirty="0">
                <a:solidFill>
                  <a:schemeClr val="bg1"/>
                </a:solidFill>
                <a:latin typeface="微软雅黑" panose="020B0503020204020204" pitchFamily="34" charset="-122"/>
                <a:ea typeface="微软雅黑" panose="020B0503020204020204" pitchFamily="34" charset="-122"/>
              </a:endParaRPr>
            </a:p>
          </p:txBody>
        </p:sp>
      </p:grpSp>
      <p:grpSp>
        <p:nvGrpSpPr>
          <p:cNvPr id="9" name="Group 27"/>
          <p:cNvGrpSpPr/>
          <p:nvPr/>
        </p:nvGrpSpPr>
        <p:grpSpPr>
          <a:xfrm>
            <a:off x="699135" y="3618605"/>
            <a:ext cx="736375" cy="736375"/>
            <a:chOff x="1731021" y="2821439"/>
            <a:chExt cx="736375" cy="736375"/>
          </a:xfrm>
          <a:solidFill>
            <a:schemeClr val="bg1">
              <a:lumMod val="65000"/>
            </a:schemeClr>
          </a:solidFill>
        </p:grpSpPr>
        <p:sp>
          <p:nvSpPr>
            <p:cNvPr id="10" name="Oval 28"/>
            <p:cNvSpPr/>
            <p:nvPr/>
          </p:nvSpPr>
          <p:spPr>
            <a:xfrm>
              <a:off x="1731021" y="2821439"/>
              <a:ext cx="736375" cy="736375"/>
            </a:xfrm>
            <a:prstGeom prst="ellipse">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微软雅黑" panose="020B0503020204020204" pitchFamily="34" charset="-122"/>
                <a:ea typeface="微软雅黑" panose="020B0503020204020204" pitchFamily="34" charset="-122"/>
              </a:endParaRPr>
            </a:p>
          </p:txBody>
        </p:sp>
        <p:sp>
          <p:nvSpPr>
            <p:cNvPr id="11" name="TextBox 29"/>
            <p:cNvSpPr txBox="1"/>
            <p:nvPr/>
          </p:nvSpPr>
          <p:spPr>
            <a:xfrm>
              <a:off x="1835353" y="2957649"/>
              <a:ext cx="527709" cy="461665"/>
            </a:xfrm>
            <a:prstGeom prst="rect">
              <a:avLst/>
            </a:prstGeom>
            <a:grpFill/>
            <a:ln>
              <a:noFill/>
            </a:ln>
          </p:spPr>
          <p:txBody>
            <a:bodyPr wrap="none">
              <a:normAutofit fontScale="90000"/>
            </a:bodyPr>
            <a:lstStyle/>
            <a:p>
              <a:pPr algn="ctr"/>
              <a:r>
                <a:rPr lang="en-GB" sz="2400" b="1" dirty="0">
                  <a:solidFill>
                    <a:schemeClr val="bg1"/>
                  </a:solidFill>
                  <a:latin typeface="微软雅黑" panose="020B0503020204020204" pitchFamily="34" charset="-122"/>
                  <a:ea typeface="微软雅黑" panose="020B0503020204020204" pitchFamily="34" charset="-122"/>
                </a:rPr>
                <a:t>02</a:t>
              </a:r>
              <a:endParaRPr lang="en-GB" sz="2400" b="1" dirty="0">
                <a:solidFill>
                  <a:schemeClr val="bg1"/>
                </a:solidFill>
                <a:latin typeface="微软雅黑" panose="020B0503020204020204" pitchFamily="34" charset="-122"/>
                <a:ea typeface="微软雅黑" panose="020B0503020204020204" pitchFamily="34" charset="-122"/>
              </a:endParaRPr>
            </a:p>
          </p:txBody>
        </p:sp>
      </p:grpSp>
      <p:grpSp>
        <p:nvGrpSpPr>
          <p:cNvPr id="2" name="Group 33"/>
          <p:cNvGrpSpPr/>
          <p:nvPr/>
        </p:nvGrpSpPr>
        <p:grpSpPr>
          <a:xfrm>
            <a:off x="698500" y="4632806"/>
            <a:ext cx="736375" cy="736375"/>
            <a:chOff x="1731021" y="4175657"/>
            <a:chExt cx="736375" cy="736375"/>
          </a:xfrm>
          <a:solidFill>
            <a:schemeClr val="accent4"/>
          </a:solidFill>
        </p:grpSpPr>
        <p:sp>
          <p:nvSpPr>
            <p:cNvPr id="3" name="Oval 34"/>
            <p:cNvSpPr/>
            <p:nvPr/>
          </p:nvSpPr>
          <p:spPr>
            <a:xfrm>
              <a:off x="1731021" y="4175657"/>
              <a:ext cx="736375" cy="736375"/>
            </a:xfrm>
            <a:prstGeom prst="ellipse">
              <a:avLst/>
            </a:prstGeom>
            <a:solidFill>
              <a:srgbClr val="5B9BD5"/>
            </a:solid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微软雅黑" panose="020B0503020204020204" pitchFamily="34" charset="-122"/>
                <a:ea typeface="微软雅黑" panose="020B0503020204020204" pitchFamily="34" charset="-122"/>
              </a:endParaRPr>
            </a:p>
          </p:txBody>
        </p:sp>
        <p:sp>
          <p:nvSpPr>
            <p:cNvPr id="7" name="TextBox 35"/>
            <p:cNvSpPr txBox="1"/>
            <p:nvPr/>
          </p:nvSpPr>
          <p:spPr>
            <a:xfrm>
              <a:off x="1835353" y="4311867"/>
              <a:ext cx="527709" cy="461665"/>
            </a:xfrm>
            <a:prstGeom prst="rect">
              <a:avLst/>
            </a:prstGeom>
            <a:noFill/>
            <a:ln>
              <a:noFill/>
            </a:ln>
          </p:spPr>
          <p:txBody>
            <a:bodyPr wrap="none">
              <a:normAutofit fontScale="90000"/>
            </a:bodyPr>
            <a:lstStyle/>
            <a:p>
              <a:pPr algn="ctr"/>
              <a:r>
                <a:rPr lang="en-GB" sz="2400" b="1" dirty="0">
                  <a:solidFill>
                    <a:schemeClr val="bg1"/>
                  </a:solidFill>
                  <a:latin typeface="微软雅黑" panose="020B0503020204020204" pitchFamily="34" charset="-122"/>
                  <a:ea typeface="微软雅黑" panose="020B0503020204020204" pitchFamily="34" charset="-122"/>
                </a:rPr>
                <a:t>03</a:t>
              </a:r>
              <a:endParaRPr lang="en-GB" sz="2400" b="1" dirty="0">
                <a:solidFill>
                  <a:schemeClr val="bg1"/>
                </a:solidFill>
                <a:latin typeface="微软雅黑" panose="020B0503020204020204" pitchFamily="34" charset="-122"/>
                <a:ea typeface="微软雅黑" panose="020B0503020204020204" pitchFamily="34" charset="-122"/>
              </a:endParaRPr>
            </a:p>
          </p:txBody>
        </p:sp>
      </p:grpSp>
      <p:sp>
        <p:nvSpPr>
          <p:cNvPr id="8" name="文本框 7"/>
          <p:cNvSpPr txBox="1"/>
          <p:nvPr/>
        </p:nvSpPr>
        <p:spPr>
          <a:xfrm>
            <a:off x="1610961" y="2909672"/>
            <a:ext cx="9249567" cy="429895"/>
          </a:xfrm>
          <a:prstGeom prst="rect">
            <a:avLst/>
          </a:prstGeom>
          <a:noFill/>
        </p:spPr>
        <p:txBody>
          <a:bodyPr wrap="square">
            <a:spAutoFit/>
          </a:bodyPr>
          <a:lstStyle/>
          <a:p>
            <a:pPr algn="just"/>
            <a:r>
              <a:rPr lang="zh-CN" altLang="en-US" sz="2200" b="1" dirty="0">
                <a:latin typeface="宋体" panose="02010600030101010101" pitchFamily="2" charset="-122"/>
                <a:ea typeface="宋体" panose="02010600030101010101" pitchFamily="2" charset="-122"/>
                <a:sym typeface="+mn-ea"/>
              </a:rPr>
              <a:t>作为数据项的序列</a:t>
            </a:r>
            <a:endParaRPr lang="zh-CN" altLang="en-US" sz="2200" b="1" dirty="0">
              <a:solidFill>
                <a:schemeClr val="tx1">
                  <a:lumMod val="95000"/>
                  <a:lumOff val="5000"/>
                </a:schemeClr>
              </a:solidFill>
              <a:latin typeface="宋体" panose="02010600030101010101" pitchFamily="2" charset="-122"/>
              <a:ea typeface="宋体" panose="02010600030101010101" pitchFamily="2" charset="-122"/>
              <a:sym typeface="+mn-ea"/>
            </a:endParaRPr>
          </a:p>
        </p:txBody>
      </p:sp>
      <p:sp>
        <p:nvSpPr>
          <p:cNvPr id="13" name="文本框 12"/>
          <p:cNvSpPr txBox="1"/>
          <p:nvPr/>
        </p:nvSpPr>
        <p:spPr>
          <a:xfrm>
            <a:off x="1610962" y="3781861"/>
            <a:ext cx="9249566" cy="429895"/>
          </a:xfrm>
          <a:prstGeom prst="rect">
            <a:avLst/>
          </a:prstGeom>
          <a:noFill/>
        </p:spPr>
        <p:txBody>
          <a:bodyPr wrap="square">
            <a:spAutoFit/>
          </a:bodyPr>
          <a:lstStyle/>
          <a:p>
            <a:pPr algn="just"/>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作为从一组数据项中的选择</a:t>
            </a:r>
            <a:endParaRPr lang="zh-CN" altLang="en-US" sz="2200" b="1" dirty="0">
              <a:solidFill>
                <a:schemeClr val="tx1">
                  <a:lumMod val="95000"/>
                  <a:lumOff val="5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68" name="文本框 67"/>
          <p:cNvSpPr txBox="1"/>
          <p:nvPr/>
        </p:nvSpPr>
        <p:spPr>
          <a:xfrm>
            <a:off x="1610961" y="4493395"/>
            <a:ext cx="9249565" cy="1106805"/>
          </a:xfrm>
          <a:prstGeom prst="rect">
            <a:avLst/>
          </a:prstGeom>
          <a:noFill/>
        </p:spPr>
        <p:txBody>
          <a:bodyPr wrap="square">
            <a:spAutoFit/>
          </a:bodyPr>
          <a:lstStyle/>
          <a:p>
            <a:pPr>
              <a:lnSpc>
                <a:spcPct val="150000"/>
              </a:lnSpc>
            </a:pP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作为数据项的重复的组合。每个数据项中的项可能表示为顺序、选择和重复的一部分，而其本身又是另一个复合数据项，需要在字典中进一步精化</a:t>
            </a:r>
            <a:endParaRPr lang="zh-CN" altLang="en-US" sz="2200" b="1" dirty="0">
              <a:solidFill>
                <a:schemeClr val="tx1">
                  <a:lumMod val="95000"/>
                  <a:lumOff val="5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70" name="文本框 69"/>
          <p:cNvSpPr txBox="1"/>
          <p:nvPr/>
        </p:nvSpPr>
        <p:spPr>
          <a:xfrm>
            <a:off x="873822" y="1678305"/>
            <a:ext cx="9725660" cy="768350"/>
          </a:xfrm>
          <a:prstGeom prst="rect">
            <a:avLst/>
          </a:prstGeom>
          <a:noFill/>
        </p:spPr>
        <p:txBody>
          <a:bodyPr wrap="none" rtlCol="0" anchor="t">
            <a:spAutoFit/>
          </a:bodyPr>
          <a:lstStyle/>
          <a:p>
            <a:pPr>
              <a:lnSpc>
                <a:spcPct val="200000"/>
              </a:lnSpc>
            </a:pP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该符号体系使得软件工程师可以用</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三种基本的构造方式之一来表示复合数据：</a:t>
            </a:r>
            <a:endParaRPr lang="zh-CN" altLang="en-US" sz="2200" dirty="0">
              <a:solidFill>
                <a:srgbClr val="FF0000"/>
              </a:solidFill>
              <a:latin typeface="宋体" panose="02010600030101010101" pitchFamily="2" charset="-122"/>
              <a:ea typeface="宋体" panose="02010600030101010101" pitchFamily="2" charset="-122"/>
              <a:cs typeface="宋体" panose="02010600030101010101" pitchFamily="2" charset="-122"/>
            </a:endParaRPr>
          </a:p>
        </p:txBody>
      </p:sp>
      <p:pic>
        <p:nvPicPr>
          <p:cNvPr id="71" name="图片 70"/>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grpSp>
        <p:nvGrpSpPr>
          <p:cNvPr id="72" name="组合 7"/>
          <p:cNvGrpSpPr/>
          <p:nvPr/>
        </p:nvGrpSpPr>
        <p:grpSpPr>
          <a:xfrm>
            <a:off x="108557" y="337632"/>
            <a:ext cx="3815742" cy="491607"/>
            <a:chOff x="198764" y="258545"/>
            <a:chExt cx="5086477" cy="656007"/>
          </a:xfrm>
        </p:grpSpPr>
        <p:grpSp>
          <p:nvGrpSpPr>
            <p:cNvPr id="73" name="组合 5"/>
            <p:cNvGrpSpPr/>
            <p:nvPr/>
          </p:nvGrpSpPr>
          <p:grpSpPr>
            <a:xfrm>
              <a:off x="198764" y="258545"/>
              <a:ext cx="700083" cy="563491"/>
              <a:chOff x="5075564" y="2933562"/>
              <a:chExt cx="2860947" cy="2302753"/>
            </a:xfrm>
          </p:grpSpPr>
          <p:sp>
            <p:nvSpPr>
              <p:cNvPr id="74" name="等腰三角形 73"/>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5" name="等腰三角形 74"/>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76" name="文本框 6"/>
            <p:cNvSpPr txBox="1"/>
            <p:nvPr/>
          </p:nvSpPr>
          <p:spPr>
            <a:xfrm>
              <a:off x="988289" y="300221"/>
              <a:ext cx="429695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3.6 </a:t>
              </a:r>
              <a:r>
                <a:rPr lang="zh-CN" altLang="en-US" sz="2400" b="1" dirty="0">
                  <a:solidFill>
                    <a:srgbClr val="000000"/>
                  </a:solidFill>
                  <a:latin typeface="微软雅黑" panose="020B0503020204020204" pitchFamily="34" charset="-122"/>
                  <a:ea typeface="微软雅黑" panose="020B0503020204020204" pitchFamily="34" charset="-122"/>
                </a:rPr>
                <a:t>创建数据字典</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21"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）数据字典的组成</a:t>
            </a:r>
            <a:endParaRPr lang="zh-CN" altLang="en-US" sz="2400" b="1" kern="0" dirty="0">
              <a:latin typeface="宋体" panose="02010600030101010101" pitchFamily="2" charset="-122"/>
              <a:sym typeface="宋体" panose="02010600030101010101" pitchFamily="2" charset="-122"/>
            </a:endParaRPr>
          </a:p>
        </p:txBody>
      </p:sp>
      <p:sp>
        <p:nvSpPr>
          <p:cNvPr id="12" name="日期占位符 11"/>
          <p:cNvSpPr>
            <a:spLocks noGrp="1"/>
          </p:cNvSpPr>
          <p:nvPr>
            <p:ph type="dt" sz="half" idx="10"/>
          </p:nvPr>
        </p:nvSpPr>
        <p:spPr/>
        <p:txBody>
          <a:bodyPr/>
          <a:lstStyle/>
          <a:p>
            <a:pPr>
              <a:defRPr/>
            </a:pPr>
            <a:fld id="{3B94644A-BE92-48BC-8450-7DFB4619734A}" type="datetime1">
              <a:rPr lang="zh-CN" altLang="en-US" smtClean="0">
                <a:solidFill>
                  <a:prstClr val="black">
                    <a:tint val="75000"/>
                  </a:prstClr>
                </a:solidFill>
              </a:rPr>
            </a:fld>
            <a:endParaRPr lang="zh-CN" altLang="en-US" dirty="0">
              <a:solidFill>
                <a:prstClr val="black">
                  <a:tint val="75000"/>
                </a:prstClr>
              </a:solidFill>
            </a:endParaRPr>
          </a:p>
        </p:txBody>
      </p:sp>
      <p:sp>
        <p:nvSpPr>
          <p:cNvPr id="14" name="灯片编号占位符 1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1"/>
                                        </p:tgtEl>
                                        <p:attrNameLst>
                                          <p:attrName>style.visibility</p:attrName>
                                        </p:attrNameLst>
                                      </p:cBhvr>
                                      <p:to>
                                        <p:strVal val="visible"/>
                                      </p:to>
                                    </p:set>
                                    <p:anim calcmode="lin" valueType="num">
                                      <p:cBhvr>
                                        <p:cTn id="7" dur="500" fill="hold"/>
                                        <p:tgtEl>
                                          <p:spTgt spid="71"/>
                                        </p:tgtEl>
                                        <p:attrNameLst>
                                          <p:attrName>ppt_w</p:attrName>
                                        </p:attrNameLst>
                                      </p:cBhvr>
                                      <p:tavLst>
                                        <p:tav tm="0">
                                          <p:val>
                                            <p:fltVal val="0"/>
                                          </p:val>
                                        </p:tav>
                                        <p:tav tm="100000">
                                          <p:val>
                                            <p:strVal val="#ppt_w"/>
                                          </p:val>
                                        </p:tav>
                                      </p:tavLst>
                                    </p:anim>
                                    <p:anim calcmode="lin" valueType="num">
                                      <p:cBhvr>
                                        <p:cTn id="8" dur="500" fill="hold"/>
                                        <p:tgtEl>
                                          <p:spTgt spid="71"/>
                                        </p:tgtEl>
                                        <p:attrNameLst>
                                          <p:attrName>ppt_h</p:attrName>
                                        </p:attrNameLst>
                                      </p:cBhvr>
                                      <p:tavLst>
                                        <p:tav tm="0">
                                          <p:val>
                                            <p:fltVal val="0"/>
                                          </p:val>
                                        </p:tav>
                                        <p:tav tm="100000">
                                          <p:val>
                                            <p:strVal val="#ppt_h"/>
                                          </p:val>
                                        </p:tav>
                                      </p:tavLst>
                                    </p:anim>
                                    <p:animEffect transition="in" filter="fade">
                                      <p:cBhvr>
                                        <p:cTn id="9" dur="500"/>
                                        <p:tgtEl>
                                          <p:spTgt spid="71"/>
                                        </p:tgtEl>
                                      </p:cBhvr>
                                    </p:animEffect>
                                  </p:childTnLst>
                                </p:cTn>
                              </p:par>
                              <p:par>
                                <p:cTn id="10" presetID="2" presetClass="entr" presetSubtype="8" fill="hold" nodeType="withEffect">
                                  <p:stCondLst>
                                    <p:cond delay="0"/>
                                  </p:stCondLst>
                                  <p:childTnLst>
                                    <p:set>
                                      <p:cBhvr>
                                        <p:cTn id="11" dur="1" fill="hold">
                                          <p:stCondLst>
                                            <p:cond delay="0"/>
                                          </p:stCondLst>
                                        </p:cTn>
                                        <p:tgtEl>
                                          <p:spTgt spid="72"/>
                                        </p:tgtEl>
                                        <p:attrNameLst>
                                          <p:attrName>style.visibility</p:attrName>
                                        </p:attrNameLst>
                                      </p:cBhvr>
                                      <p:to>
                                        <p:strVal val="visible"/>
                                      </p:to>
                                    </p:set>
                                    <p:anim calcmode="lin" valueType="num">
                                      <p:cBhvr additive="base">
                                        <p:cTn id="12" dur="500" fill="hold"/>
                                        <p:tgtEl>
                                          <p:spTgt spid="72"/>
                                        </p:tgtEl>
                                        <p:attrNameLst>
                                          <p:attrName>ppt_x</p:attrName>
                                        </p:attrNameLst>
                                      </p:cBhvr>
                                      <p:tavLst>
                                        <p:tav tm="0">
                                          <p:val>
                                            <p:strVal val="0-#ppt_w/2"/>
                                          </p:val>
                                        </p:tav>
                                        <p:tav tm="100000">
                                          <p:val>
                                            <p:strVal val="#ppt_x"/>
                                          </p:val>
                                        </p:tav>
                                      </p:tavLst>
                                    </p:anim>
                                    <p:anim calcmode="lin" valueType="num">
                                      <p:cBhvr additive="base">
                                        <p:cTn id="13" dur="500" fill="hold"/>
                                        <p:tgtEl>
                                          <p:spTgt spid="72"/>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 calcmode="lin" valueType="num">
                                      <p:cBhvr additive="base">
                                        <p:cTn id="16" dur="500"/>
                                        <p:tgtEl>
                                          <p:spTgt spid="21"/>
                                        </p:tgtEl>
                                        <p:attrNameLst>
                                          <p:attrName>ppt_x</p:attrName>
                                        </p:attrNameLst>
                                      </p:cBhvr>
                                      <p:tavLst>
                                        <p:tav tm="0">
                                          <p:val>
                                            <p:strVal val="#ppt_x+#ppt_w*1.125000"/>
                                          </p:val>
                                        </p:tav>
                                        <p:tav tm="100000">
                                          <p:val>
                                            <p:strVal val="#ppt_x"/>
                                          </p:val>
                                        </p:tav>
                                      </p:tavLst>
                                    </p:anim>
                                    <p:animEffect transition="in" filter="wipe(left)">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9"/>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P spid="68" grpId="0"/>
      <p:bldP spid="70" grpId="0"/>
      <p:bldP spid="21"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66"/>
          <p:cNvSpPr>
            <a:spLocks noChangeArrowheads="1"/>
          </p:cNvSpPr>
          <p:nvPr/>
        </p:nvSpPr>
        <p:spPr bwMode="auto">
          <a:xfrm>
            <a:off x="698500" y="1290955"/>
            <a:ext cx="11040110" cy="2258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lvl="0" indent="0">
              <a:lnSpc>
                <a:spcPct val="150000"/>
              </a:lnSpc>
              <a:buFont typeface="Wingdings" panose="05000000000000000000" pitchFamily="2" charset="2"/>
              <a:buNone/>
            </a:pP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rPr>
              <a:t>在数据字典中，可以使用简单的符号表示数据项：</a:t>
            </a:r>
            <a:endParaRPr lang="en-US" altLang="zh-CN" sz="2200" b="1" dirty="0">
              <a:solidFill>
                <a:srgbClr val="FF0000"/>
              </a:solidFill>
              <a:latin typeface="宋体" panose="02010600030101010101" pitchFamily="2" charset="-122"/>
              <a:ea typeface="宋体" panose="02010600030101010101" pitchFamily="2" charset="-122"/>
              <a:cs typeface="宋体" panose="02010600030101010101" pitchFamily="2" charset="-122"/>
            </a:endParaRPr>
          </a:p>
          <a:p>
            <a:pPr lvl="0" indent="0">
              <a:lnSpc>
                <a:spcPct val="150000"/>
              </a:lnSpc>
              <a:buFont typeface="Wingdings" panose="05000000000000000000" pitchFamily="2" charset="2"/>
              <a:buNone/>
            </a:pPr>
            <a:r>
              <a:rPr lang="en-US" altLang="zh-CN" sz="2200" b="1" dirty="0">
                <a:latin typeface="宋体" panose="02010600030101010101" pitchFamily="2" charset="-122"/>
                <a:ea typeface="宋体" panose="02010600030101010101" pitchFamily="2" charset="-122"/>
                <a:cs typeface="宋体" panose="02010600030101010101" pitchFamily="2" charset="-122"/>
              </a:rPr>
              <a:t>1</a:t>
            </a:r>
            <a:r>
              <a:rPr lang="zh-CN" altLang="en-US" sz="2200" b="1" dirty="0">
                <a:latin typeface="宋体" panose="02010600030101010101" pitchFamily="2" charset="-122"/>
                <a:ea typeface="宋体" panose="02010600030101010101" pitchFamily="2" charset="-122"/>
                <a:cs typeface="宋体" panose="02010600030101010101" pitchFamily="2" charset="-122"/>
              </a:rPr>
              <a:t>）项写在等号的左边，而其定义写在右边</a:t>
            </a:r>
            <a:endParaRPr lang="en-US" altLang="zh-CN" sz="2200" b="1" dirty="0">
              <a:latin typeface="宋体" panose="02010600030101010101" pitchFamily="2" charset="-122"/>
              <a:ea typeface="宋体" panose="02010600030101010101" pitchFamily="2" charset="-122"/>
              <a:cs typeface="宋体" panose="02010600030101010101" pitchFamily="2" charset="-122"/>
            </a:endParaRPr>
          </a:p>
          <a:p>
            <a:pPr lvl="0" indent="0">
              <a:lnSpc>
                <a:spcPct val="150000"/>
              </a:lnSpc>
              <a:buFont typeface="Wingdings" panose="05000000000000000000" pitchFamily="2" charset="2"/>
              <a:buNone/>
            </a:pPr>
            <a:r>
              <a:rPr lang="en-US" altLang="zh-CN" sz="2200" b="1" dirty="0">
                <a:latin typeface="宋体" panose="02010600030101010101" pitchFamily="2" charset="-122"/>
                <a:ea typeface="宋体" panose="02010600030101010101" pitchFamily="2" charset="-122"/>
                <a:cs typeface="宋体" panose="02010600030101010101" pitchFamily="2" charset="-122"/>
              </a:rPr>
              <a:t>2</a:t>
            </a:r>
            <a:r>
              <a:rPr lang="zh-CN" altLang="en-US" sz="2200" b="1" dirty="0">
                <a:latin typeface="宋体" panose="02010600030101010101" pitchFamily="2" charset="-122"/>
                <a:ea typeface="宋体" panose="02010600030101010101" pitchFamily="2" charset="-122"/>
                <a:cs typeface="宋体" panose="02010600030101010101" pitchFamily="2" charset="-122"/>
              </a:rPr>
              <a:t>）这种符号定义了</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rPr>
              <a:t>原数据元素</a:t>
            </a:r>
            <a:r>
              <a:rPr lang="zh-CN" altLang="en-US" sz="2200" b="1" dirty="0">
                <a:latin typeface="宋体" panose="02010600030101010101" pitchFamily="2" charset="-122"/>
                <a:ea typeface="宋体" panose="02010600030101010101" pitchFamily="2" charset="-122"/>
                <a:cs typeface="宋体" panose="02010600030101010101" pitchFamily="2" charset="-122"/>
              </a:rPr>
              <a:t>、</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rPr>
              <a:t>组成结构体的复杂数据元素</a:t>
            </a:r>
            <a:r>
              <a:rPr lang="zh-CN" altLang="en-US" sz="2200" b="1" dirty="0">
                <a:latin typeface="宋体" panose="02010600030101010101" pitchFamily="2" charset="-122"/>
                <a:ea typeface="宋体" panose="02010600030101010101" pitchFamily="2" charset="-122"/>
                <a:cs typeface="宋体" panose="02010600030101010101" pitchFamily="2" charset="-122"/>
              </a:rPr>
              <a:t>、重复的数据项、</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rPr>
              <a:t>一个数据项的枚举值</a:t>
            </a:r>
            <a:r>
              <a:rPr lang="zh-CN" altLang="en-US" sz="2200" b="1" dirty="0">
                <a:latin typeface="宋体" panose="02010600030101010101" pitchFamily="2" charset="-122"/>
                <a:ea typeface="宋体" panose="02010600030101010101" pitchFamily="2" charset="-122"/>
                <a:cs typeface="宋体" panose="02010600030101010101" pitchFamily="2" charset="-122"/>
              </a:rPr>
              <a:t>以及</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rPr>
              <a:t>可选的数据项</a:t>
            </a:r>
            <a:endPar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endParaRPr>
          </a:p>
        </p:txBody>
      </p:sp>
      <p:sp>
        <p:nvSpPr>
          <p:cNvPr id="6" name="矩形: 圆角 5"/>
          <p:cNvSpPr/>
          <p:nvPr/>
        </p:nvSpPr>
        <p:spPr>
          <a:xfrm>
            <a:off x="901700" y="3443605"/>
            <a:ext cx="3576320" cy="6705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nSpc>
                <a:spcPct val="15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01  </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原数据元素</a:t>
            </a:r>
            <a:endParaRPr lang="zh-CN" altLang="en-US" sz="2200" b="1" dirty="0"/>
          </a:p>
        </p:txBody>
      </p:sp>
      <p:sp>
        <p:nvSpPr>
          <p:cNvPr id="7" name="文本框 6"/>
          <p:cNvSpPr txBox="1"/>
          <p:nvPr/>
        </p:nvSpPr>
        <p:spPr>
          <a:xfrm>
            <a:off x="698499" y="4264025"/>
            <a:ext cx="10795000" cy="2122805"/>
          </a:xfrm>
          <a:prstGeom prst="rect">
            <a:avLst/>
          </a:prstGeom>
          <a:noFill/>
        </p:spPr>
        <p:txBody>
          <a:bodyPr wrap="square" rtlCol="0">
            <a:spAutoFit/>
          </a:bodyPr>
          <a:lstStyle/>
          <a:p>
            <a:pPr lvl="0">
              <a:lnSpc>
                <a:spcPct val="15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）一个原数据元素是不可分解的，可以给它赋予一个数量值</a:t>
            </a:r>
            <a:endParaRPr lang="en-US" altLang="zh-CN" sz="2200" b="1" dirty="0">
              <a:latin typeface="宋体" panose="02010600030101010101" pitchFamily="2" charset="-122"/>
              <a:ea typeface="宋体" panose="02010600030101010101" pitchFamily="2" charset="-122"/>
              <a:cs typeface="宋体" panose="02010600030101010101" pitchFamily="2" charset="-122"/>
              <a:sym typeface="+mn-ea"/>
            </a:endParaRPr>
          </a:p>
          <a:p>
            <a:pPr lvl="0">
              <a:lnSpc>
                <a:spcPct val="15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2</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）原数据的定义必须确定其数据类型、大小、允许取值的范围等等</a:t>
            </a:r>
            <a:endParaRPr lang="en-US" altLang="zh-CN" sz="2200" b="1" dirty="0">
              <a:latin typeface="宋体" panose="02010600030101010101" pitchFamily="2" charset="-122"/>
              <a:ea typeface="宋体" panose="02010600030101010101" pitchFamily="2" charset="-122"/>
              <a:cs typeface="宋体" panose="02010600030101010101" pitchFamily="2" charset="-122"/>
              <a:sym typeface="+mn-ea"/>
            </a:endParaRPr>
          </a:p>
          <a:p>
            <a:pPr lvl="0">
              <a:lnSpc>
                <a:spcPct val="15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3</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）典型的原数据元素的定义是一行注释文本，并以</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作为界限：</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a:p>
            <a:pPr lvl="0">
              <a:lnSpc>
                <a:spcPct val="150000"/>
              </a:lnSpc>
            </a:pP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       请求标识号</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=*6</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位系统生成的顺序整数，以</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开头，并能唯一标识每个请求*</a:t>
            </a:r>
            <a:endParaRPr lang="zh-CN" altLang="en-US" sz="2200" b="1" dirty="0">
              <a:latin typeface="+mn-ea"/>
            </a:endParaRPr>
          </a:p>
        </p:txBody>
      </p:sp>
      <p:sp>
        <p:nvSpPr>
          <p:cNvPr id="10" name="矩形: 圆角 9"/>
          <p:cNvSpPr/>
          <p:nvPr/>
        </p:nvSpPr>
        <p:spPr>
          <a:xfrm>
            <a:off x="698500" y="4182829"/>
            <a:ext cx="10795000" cy="2176213"/>
          </a:xfrm>
          <a:prstGeom prst="round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en-US" altLang="zh-CN" b="1" dirty="0">
              <a:solidFill>
                <a:schemeClr val="tx1"/>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grpSp>
        <p:nvGrpSpPr>
          <p:cNvPr id="18" name="组合 7"/>
          <p:cNvGrpSpPr/>
          <p:nvPr/>
        </p:nvGrpSpPr>
        <p:grpSpPr>
          <a:xfrm>
            <a:off x="108557" y="337632"/>
            <a:ext cx="3815742" cy="491607"/>
            <a:chOff x="198764" y="258545"/>
            <a:chExt cx="5086477" cy="656007"/>
          </a:xfrm>
        </p:grpSpPr>
        <p:grpSp>
          <p:nvGrpSpPr>
            <p:cNvPr id="19" name="组合 5"/>
            <p:cNvGrpSpPr/>
            <p:nvPr/>
          </p:nvGrpSpPr>
          <p:grpSpPr>
            <a:xfrm>
              <a:off x="198764" y="258545"/>
              <a:ext cx="700083" cy="563491"/>
              <a:chOff x="5075564" y="2933562"/>
              <a:chExt cx="2860947" cy="2302753"/>
            </a:xfrm>
          </p:grpSpPr>
          <p:sp>
            <p:nvSpPr>
              <p:cNvPr id="21" name="等腰三角形 2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22" name="等腰三角形 2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20" name="文本框 6"/>
            <p:cNvSpPr txBox="1"/>
            <p:nvPr/>
          </p:nvSpPr>
          <p:spPr>
            <a:xfrm>
              <a:off x="988289" y="300221"/>
              <a:ext cx="429695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3.6 </a:t>
              </a:r>
              <a:r>
                <a:rPr lang="zh-CN" altLang="en-US" sz="2400" b="1" dirty="0">
                  <a:solidFill>
                    <a:srgbClr val="000000"/>
                  </a:solidFill>
                  <a:latin typeface="微软雅黑" panose="020B0503020204020204" pitchFamily="34" charset="-122"/>
                  <a:ea typeface="微软雅黑" panose="020B0503020204020204" pitchFamily="34" charset="-122"/>
                </a:rPr>
                <a:t>创建数据字典</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4"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）数据字典的组成</a:t>
            </a:r>
            <a:endParaRPr lang="zh-CN" altLang="en-US" sz="2400" b="1" kern="0" dirty="0">
              <a:latin typeface="宋体" panose="02010600030101010101" pitchFamily="2" charset="-122"/>
              <a:sym typeface="宋体" panose="02010600030101010101" pitchFamily="2" charset="-122"/>
            </a:endParaRPr>
          </a:p>
        </p:txBody>
      </p:sp>
      <p:sp>
        <p:nvSpPr>
          <p:cNvPr id="2" name="日期占位符 1"/>
          <p:cNvSpPr>
            <a:spLocks noGrp="1"/>
          </p:cNvSpPr>
          <p:nvPr>
            <p:ph type="dt" sz="half" idx="10"/>
          </p:nvPr>
        </p:nvSpPr>
        <p:spPr/>
        <p:txBody>
          <a:bodyPr/>
          <a:lstStyle/>
          <a:p>
            <a:pPr>
              <a:defRPr/>
            </a:pPr>
            <a:fld id="{ECECE6DA-D519-4976-A6A3-09340A7BE0F7}"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3" name="灯片编号占位符 2"/>
          <p:cNvSpPr>
            <a:spLocks noGrp="1"/>
          </p:cNvSpPr>
          <p:nvPr>
            <p:ph type="sldNum" sz="quarter" idx="12"/>
          </p:nvPr>
        </p:nvSpPr>
        <p:spPr/>
        <p:txBody>
          <a:bodyPr/>
          <a:lstStyle/>
          <a:p>
            <a:pPr>
              <a:defRPr/>
            </a:pPr>
            <a:fld id="{0519FDB0-D360-4966-A01C-1D1C6BB19AF3}" type="slidenum">
              <a:rPr lang="zh-CN" altLang="en-US" b="1" smtClean="0">
                <a:solidFill>
                  <a:prstClr val="black">
                    <a:tint val="75000"/>
                  </a:prstClr>
                </a:solidFill>
              </a:rPr>
            </a:fld>
            <a:endParaRPr lang="zh-CN" altLang="en-US" b="1" dirty="0" smtClean="0">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2" presetClass="entr" presetSubtype="8" fill="hold" nodeType="with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additive="base">
                                        <p:cTn id="12" dur="500" fill="hold"/>
                                        <p:tgtEl>
                                          <p:spTgt spid="18"/>
                                        </p:tgtEl>
                                        <p:attrNameLst>
                                          <p:attrName>ppt_x</p:attrName>
                                        </p:attrNameLst>
                                      </p:cBhvr>
                                      <p:tavLst>
                                        <p:tav tm="0">
                                          <p:val>
                                            <p:strVal val="0-#ppt_w/2"/>
                                          </p:val>
                                        </p:tav>
                                        <p:tav tm="100000">
                                          <p:val>
                                            <p:strVal val="#ppt_x"/>
                                          </p:val>
                                        </p:tav>
                                      </p:tavLst>
                                    </p:anim>
                                    <p:anim calcmode="lin" valueType="num">
                                      <p:cBhvr additive="base">
                                        <p:cTn id="13" dur="500" fill="hold"/>
                                        <p:tgtEl>
                                          <p:spTgt spid="18"/>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p:tgtEl>
                                          <p:spTgt spid="14"/>
                                        </p:tgtEl>
                                        <p:attrNameLst>
                                          <p:attrName>ppt_x</p:attrName>
                                        </p:attrNameLst>
                                      </p:cBhvr>
                                      <p:tavLst>
                                        <p:tav tm="0">
                                          <p:val>
                                            <p:strVal val="#ppt_x+#ppt_w*1.125000"/>
                                          </p:val>
                                        </p:tav>
                                        <p:tav tm="100000">
                                          <p:val>
                                            <p:strVal val="#ppt_x"/>
                                          </p:val>
                                        </p:tav>
                                      </p:tavLst>
                                    </p:anim>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6" grpId="0" animBg="1"/>
      <p:bldP spid="7" grpId="0"/>
      <p:bldP spid="10" grpId="0" animBg="1"/>
      <p:bldP spid="1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
          <p:cNvSpPr/>
          <p:nvPr/>
        </p:nvSpPr>
        <p:spPr>
          <a:xfrm>
            <a:off x="698500" y="1950085"/>
            <a:ext cx="3576320" cy="6705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nSpc>
                <a:spcPct val="150000"/>
              </a:lnSpc>
            </a:pPr>
            <a:r>
              <a:rPr lang="en-US" sz="2200" b="1" dirty="0">
                <a:latin typeface="宋体" panose="02010600030101010101" pitchFamily="2" charset="-122"/>
                <a:ea typeface="宋体" panose="02010600030101010101" pitchFamily="2" charset="-122"/>
                <a:cs typeface="宋体" panose="02010600030101010101" pitchFamily="2" charset="-122"/>
                <a:sym typeface="+mn-ea"/>
              </a:rPr>
              <a:t>02  </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组合项</a:t>
            </a:r>
            <a:endParaRPr lang="zh-CN" altLang="en-US" sz="2200" b="1" dirty="0">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7" name="文本框 6"/>
          <p:cNvSpPr txBox="1"/>
          <p:nvPr/>
        </p:nvSpPr>
        <p:spPr>
          <a:xfrm>
            <a:off x="698500" y="2770505"/>
            <a:ext cx="10997565" cy="2122805"/>
          </a:xfrm>
          <a:prstGeom prst="rect">
            <a:avLst/>
          </a:prstGeom>
          <a:noFill/>
        </p:spPr>
        <p:txBody>
          <a:bodyPr wrap="square" rtlCol="0">
            <a:spAutoFit/>
          </a:bodyPr>
          <a:lstStyle/>
          <a:p>
            <a:pPr lvl="0">
              <a:lnSpc>
                <a:spcPct val="15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）一个数据结构或记录包含了多个数据项</a:t>
            </a:r>
            <a:endParaRPr lang="en-US" altLang="zh-CN" sz="2200" b="1" dirty="0">
              <a:latin typeface="宋体" panose="02010600030101010101" pitchFamily="2" charset="-122"/>
              <a:ea typeface="宋体" panose="02010600030101010101" pitchFamily="2" charset="-122"/>
              <a:cs typeface="宋体" panose="02010600030101010101" pitchFamily="2" charset="-122"/>
              <a:sym typeface="+mn-ea"/>
            </a:endParaRPr>
          </a:p>
          <a:p>
            <a:pPr lvl="0">
              <a:lnSpc>
                <a:spcPct val="15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2</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）如果数据结构中的项是可选的，就把它用括弧括起来：  </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a:p>
            <a:pPr lvl="0">
              <a:lnSpc>
                <a:spcPct val="150000"/>
              </a:lnSpc>
            </a:pP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      请求的化学制品</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化学制品标识号</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数量</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数量单位</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供应商名称</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a:t>
            </a:r>
            <a:endParaRPr lang="en-US" altLang="zh-CN" sz="2200" b="1" dirty="0">
              <a:latin typeface="宋体" panose="02010600030101010101" pitchFamily="2" charset="-122"/>
              <a:ea typeface="宋体" panose="02010600030101010101" pitchFamily="2" charset="-122"/>
              <a:cs typeface="宋体" panose="02010600030101010101" pitchFamily="2" charset="-122"/>
            </a:endParaRPr>
          </a:p>
          <a:p>
            <a:pPr lvl="0">
              <a:lnSpc>
                <a:spcPct val="15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这个结构确定了与请求一种特定化学制品相关的所有信息。供应商名称是可选的</a:t>
            </a:r>
            <a:endParaRPr lang="zh-CN" altLang="en-US" sz="2200" b="1" dirty="0">
              <a:latin typeface="+mn-ea"/>
            </a:endParaRPr>
          </a:p>
        </p:txBody>
      </p:sp>
      <p:sp>
        <p:nvSpPr>
          <p:cNvPr id="10" name="矩形: 圆角 9"/>
          <p:cNvSpPr/>
          <p:nvPr/>
        </p:nvSpPr>
        <p:spPr>
          <a:xfrm>
            <a:off x="698500" y="2689225"/>
            <a:ext cx="11072495" cy="2411730"/>
          </a:xfrm>
          <a:prstGeom prst="round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en-US" altLang="zh-CN" b="1" dirty="0">
              <a:solidFill>
                <a:schemeClr val="tx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grpSp>
        <p:nvGrpSpPr>
          <p:cNvPr id="4" name="组合 7"/>
          <p:cNvGrpSpPr/>
          <p:nvPr/>
        </p:nvGrpSpPr>
        <p:grpSpPr>
          <a:xfrm>
            <a:off x="108557" y="337632"/>
            <a:ext cx="3815742" cy="491607"/>
            <a:chOff x="198764" y="258545"/>
            <a:chExt cx="5086477" cy="656007"/>
          </a:xfrm>
        </p:grpSpPr>
        <p:grpSp>
          <p:nvGrpSpPr>
            <p:cNvPr id="5" name="组合 5"/>
            <p:cNvGrpSpPr/>
            <p:nvPr/>
          </p:nvGrpSpPr>
          <p:grpSpPr>
            <a:xfrm>
              <a:off x="198764" y="258545"/>
              <a:ext cx="700083" cy="563491"/>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1" name="文本框 6"/>
            <p:cNvSpPr txBox="1"/>
            <p:nvPr/>
          </p:nvSpPr>
          <p:spPr>
            <a:xfrm>
              <a:off x="988289" y="300221"/>
              <a:ext cx="429695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3.6 </a:t>
              </a:r>
              <a:r>
                <a:rPr lang="zh-CN" altLang="en-US" sz="2400" b="1" dirty="0">
                  <a:solidFill>
                    <a:srgbClr val="000000"/>
                  </a:solidFill>
                  <a:latin typeface="微软雅黑" panose="020B0503020204020204" pitchFamily="34" charset="-122"/>
                  <a:ea typeface="微软雅黑" panose="020B0503020204020204" pitchFamily="34" charset="-122"/>
                </a:rPr>
                <a:t>创建数据字典</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2"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）数据字典的组成</a:t>
            </a:r>
            <a:endParaRPr lang="zh-CN" altLang="en-US" sz="2400" b="1" kern="0" dirty="0">
              <a:latin typeface="宋体" panose="02010600030101010101" pitchFamily="2" charset="-122"/>
              <a:sym typeface="宋体" panose="02010600030101010101" pitchFamily="2" charset="-122"/>
            </a:endParaRPr>
          </a:p>
        </p:txBody>
      </p:sp>
      <p:sp>
        <p:nvSpPr>
          <p:cNvPr id="2" name="日期占位符 1"/>
          <p:cNvSpPr>
            <a:spLocks noGrp="1"/>
          </p:cNvSpPr>
          <p:nvPr>
            <p:ph type="dt" sz="half" idx="10"/>
          </p:nvPr>
        </p:nvSpPr>
        <p:spPr/>
        <p:txBody>
          <a:bodyPr/>
          <a:lstStyle/>
          <a:p>
            <a:pPr>
              <a:defRPr/>
            </a:pPr>
            <a:fld id="{F8303A14-509D-4043-8F04-EE7CFB4D7F64}" type="datetime1">
              <a:rPr lang="zh-CN" altLang="en-US" smtClean="0">
                <a:solidFill>
                  <a:prstClr val="black">
                    <a:tint val="75000"/>
                  </a:prstClr>
                </a:solidFill>
              </a:rPr>
            </a:fld>
            <a:endParaRPr lang="zh-CN" altLang="en-US" dirty="0">
              <a:solidFill>
                <a:prstClr val="black">
                  <a:tint val="75000"/>
                </a:prstClr>
              </a:solidFill>
            </a:endParaRPr>
          </a:p>
        </p:txBody>
      </p:sp>
      <p:sp>
        <p:nvSpPr>
          <p:cNvPr id="13" name="灯片编号占位符 12"/>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ustDataLst>
      <p:tags r:id="rId2"/>
    </p:custData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2" presetClass="entr" presetSubtype="8"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p:tgtEl>
                                          <p:spTgt spid="12"/>
                                        </p:tgtEl>
                                        <p:attrNameLst>
                                          <p:attrName>ppt_x</p:attrName>
                                        </p:attrNameLst>
                                      </p:cBhvr>
                                      <p:tavLst>
                                        <p:tav tm="0">
                                          <p:val>
                                            <p:strVal val="#ppt_x+#ppt_w*1.125000"/>
                                          </p:val>
                                        </p:tav>
                                        <p:tav tm="100000">
                                          <p:val>
                                            <p:strVal val="#ppt_x"/>
                                          </p:val>
                                        </p:tav>
                                      </p:tavLst>
                                    </p:anim>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10" grpId="0" bldLvl="0" animBg="1"/>
      <p:bldP spid="1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
          <p:cNvSpPr/>
          <p:nvPr/>
        </p:nvSpPr>
        <p:spPr>
          <a:xfrm>
            <a:off x="698500" y="1950085"/>
            <a:ext cx="3576320" cy="6705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nSpc>
                <a:spcPct val="15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03  </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重复项</a:t>
            </a:r>
            <a:endParaRPr lang="zh-CN" altLang="en-US" sz="2200" b="1" dirty="0">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7" name="文本框 6"/>
          <p:cNvSpPr txBox="1"/>
          <p:nvPr/>
        </p:nvSpPr>
        <p:spPr>
          <a:xfrm>
            <a:off x="698500" y="2940685"/>
            <a:ext cx="10795000" cy="1614805"/>
          </a:xfrm>
          <a:prstGeom prst="rect">
            <a:avLst/>
          </a:prstGeom>
          <a:noFill/>
        </p:spPr>
        <p:txBody>
          <a:bodyPr wrap="square" rtlCol="0">
            <a:spAutoFit/>
          </a:bodyPr>
          <a:lstStyle/>
          <a:p>
            <a:pPr lvl="0">
              <a:lnSpc>
                <a:spcPct val="15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）如果一个项的多个实例将出现在数据结构中，就把该项用花括弧括起来</a:t>
            </a:r>
            <a:endParaRPr lang="en-US" altLang="zh-CN" sz="2200" b="1" dirty="0">
              <a:latin typeface="宋体" panose="02010600030101010101" pitchFamily="2" charset="-122"/>
              <a:ea typeface="宋体" panose="02010600030101010101" pitchFamily="2" charset="-122"/>
              <a:cs typeface="宋体" panose="02010600030101010101" pitchFamily="2" charset="-122"/>
              <a:sym typeface="+mn-ea"/>
            </a:endParaRPr>
          </a:p>
          <a:p>
            <a:pPr lvl="0">
              <a:lnSpc>
                <a:spcPct val="15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2</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）如果你知道可能允许的重复次数，就用“最小值：最大值”这种形式写在括号之前：</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a:p>
            <a:pPr lvl="0">
              <a:lnSpc>
                <a:spcPct val="15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请求</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请求标识号</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产品编号</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10{</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请求的化学制品</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sp>
        <p:nvSpPr>
          <p:cNvPr id="10" name="矩形: 圆角 9"/>
          <p:cNvSpPr/>
          <p:nvPr/>
        </p:nvSpPr>
        <p:spPr>
          <a:xfrm>
            <a:off x="698500" y="2689309"/>
            <a:ext cx="10795000" cy="2176213"/>
          </a:xfrm>
          <a:prstGeom prst="round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en-US" altLang="zh-CN" b="1" dirty="0">
              <a:solidFill>
                <a:schemeClr val="tx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grpSp>
        <p:nvGrpSpPr>
          <p:cNvPr id="18" name="组合 7"/>
          <p:cNvGrpSpPr/>
          <p:nvPr/>
        </p:nvGrpSpPr>
        <p:grpSpPr>
          <a:xfrm>
            <a:off x="108557" y="337632"/>
            <a:ext cx="3815742" cy="491607"/>
            <a:chOff x="198764" y="258545"/>
            <a:chExt cx="5086477" cy="656007"/>
          </a:xfrm>
        </p:grpSpPr>
        <p:grpSp>
          <p:nvGrpSpPr>
            <p:cNvPr id="19" name="组合 5"/>
            <p:cNvGrpSpPr/>
            <p:nvPr/>
          </p:nvGrpSpPr>
          <p:grpSpPr>
            <a:xfrm>
              <a:off x="198764" y="258545"/>
              <a:ext cx="700083" cy="563491"/>
              <a:chOff x="5075564" y="2933562"/>
              <a:chExt cx="2860947" cy="2302753"/>
            </a:xfrm>
          </p:grpSpPr>
          <p:sp>
            <p:nvSpPr>
              <p:cNvPr id="21" name="等腰三角形 2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22" name="等腰三角形 2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20" name="文本框 6"/>
            <p:cNvSpPr txBox="1"/>
            <p:nvPr/>
          </p:nvSpPr>
          <p:spPr>
            <a:xfrm>
              <a:off x="988289" y="300221"/>
              <a:ext cx="429695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3.6 </a:t>
              </a:r>
              <a:r>
                <a:rPr lang="zh-CN" altLang="en-US" sz="2400" b="1" dirty="0">
                  <a:solidFill>
                    <a:srgbClr val="000000"/>
                  </a:solidFill>
                  <a:latin typeface="微软雅黑" panose="020B0503020204020204" pitchFamily="34" charset="-122"/>
                  <a:ea typeface="微软雅黑" panose="020B0503020204020204" pitchFamily="34" charset="-122"/>
                </a:rPr>
                <a:t>创建数据字典</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1"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）数据字典的组成</a:t>
            </a:r>
            <a:endParaRPr lang="zh-CN" altLang="en-US" sz="2400" b="1" kern="0" dirty="0">
              <a:latin typeface="宋体" panose="02010600030101010101" pitchFamily="2" charset="-122"/>
              <a:sym typeface="宋体" panose="02010600030101010101" pitchFamily="2" charset="-122"/>
            </a:endParaRPr>
          </a:p>
        </p:txBody>
      </p:sp>
      <p:sp>
        <p:nvSpPr>
          <p:cNvPr id="2" name="日期占位符 1"/>
          <p:cNvSpPr>
            <a:spLocks noGrp="1"/>
          </p:cNvSpPr>
          <p:nvPr>
            <p:ph type="dt" sz="half" idx="10"/>
          </p:nvPr>
        </p:nvSpPr>
        <p:spPr/>
        <p:txBody>
          <a:bodyPr/>
          <a:lstStyle/>
          <a:p>
            <a:pPr>
              <a:defRPr/>
            </a:pPr>
            <a:fld id="{E371A20B-5AA0-42DB-8E22-1F1A41D261F0}" type="datetime1">
              <a:rPr lang="zh-CN" altLang="en-US" smtClean="0">
                <a:solidFill>
                  <a:prstClr val="black">
                    <a:tint val="75000"/>
                  </a:prstClr>
                </a:solidFill>
              </a:rPr>
            </a:fld>
            <a:endParaRPr lang="zh-CN" altLang="en-US" dirty="0">
              <a:solidFill>
                <a:prstClr val="black">
                  <a:tint val="75000"/>
                </a:prstClr>
              </a:solidFill>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2" presetClass="entr" presetSubtype="8" fill="hold" nodeType="with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additive="base">
                                        <p:cTn id="12" dur="500" fill="hold"/>
                                        <p:tgtEl>
                                          <p:spTgt spid="18"/>
                                        </p:tgtEl>
                                        <p:attrNameLst>
                                          <p:attrName>ppt_x</p:attrName>
                                        </p:attrNameLst>
                                      </p:cBhvr>
                                      <p:tavLst>
                                        <p:tav tm="0">
                                          <p:val>
                                            <p:strVal val="0-#ppt_w/2"/>
                                          </p:val>
                                        </p:tav>
                                        <p:tav tm="100000">
                                          <p:val>
                                            <p:strVal val="#ppt_x"/>
                                          </p:val>
                                        </p:tav>
                                      </p:tavLst>
                                    </p:anim>
                                    <p:anim calcmode="lin" valueType="num">
                                      <p:cBhvr additive="base">
                                        <p:cTn id="13" dur="500" fill="hold"/>
                                        <p:tgtEl>
                                          <p:spTgt spid="18"/>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p:tgtEl>
                                          <p:spTgt spid="11"/>
                                        </p:tgtEl>
                                        <p:attrNameLst>
                                          <p:attrName>ppt_x</p:attrName>
                                        </p:attrNameLst>
                                      </p:cBhvr>
                                      <p:tavLst>
                                        <p:tav tm="0">
                                          <p:val>
                                            <p:strVal val="#ppt_x+#ppt_w*1.125000"/>
                                          </p:val>
                                        </p:tav>
                                        <p:tav tm="100000">
                                          <p:val>
                                            <p:strVal val="#ppt_x"/>
                                          </p:val>
                                        </p:tav>
                                      </p:tavLst>
                                    </p:anim>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10" grpId="0" animBg="1"/>
      <p:bldP spid="11"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4"/>
          <p:cNvSpPr/>
          <p:nvPr/>
        </p:nvSpPr>
        <p:spPr>
          <a:xfrm>
            <a:off x="517525" y="5137150"/>
            <a:ext cx="11177905" cy="122936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solidFill>
                <a:schemeClr val="tx1"/>
              </a:solidFill>
            </a:endParaRPr>
          </a:p>
        </p:txBody>
      </p:sp>
      <p:sp>
        <p:nvSpPr>
          <p:cNvPr id="6" name="矩形: 圆角 5"/>
          <p:cNvSpPr/>
          <p:nvPr/>
        </p:nvSpPr>
        <p:spPr>
          <a:xfrm>
            <a:off x="698500" y="1442092"/>
            <a:ext cx="3576320" cy="6705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nSpc>
                <a:spcPct val="15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04  </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选择项</a:t>
            </a:r>
            <a:endParaRPr lang="zh-CN" altLang="en-US" sz="2200" b="1" dirty="0">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7" name="文本框 6"/>
          <p:cNvSpPr txBox="1"/>
          <p:nvPr/>
        </p:nvSpPr>
        <p:spPr>
          <a:xfrm>
            <a:off x="718820" y="2189480"/>
            <a:ext cx="11285855" cy="2630170"/>
          </a:xfrm>
          <a:prstGeom prst="rect">
            <a:avLst/>
          </a:prstGeom>
          <a:noFill/>
        </p:spPr>
        <p:txBody>
          <a:bodyPr wrap="square" rtlCol="0">
            <a:spAutoFit/>
          </a:bodyPr>
          <a:lstStyle/>
          <a:p>
            <a:pPr lvl="0">
              <a:lnSpc>
                <a:spcPct val="15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）如果一个原数据项元素可以取得有限的离散值，就把这些值列举出来：</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a:p>
            <a:pPr lvl="0">
              <a:lnSpc>
                <a:spcPct val="150000"/>
              </a:lnSpc>
            </a:pP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      数量单位</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克”</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I“</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千克”</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I“</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个”</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 </a:t>
            </a:r>
            <a:endParaRPr lang="en-US" altLang="zh-CN" sz="2200" b="1" dirty="0">
              <a:latin typeface="宋体" panose="02010600030101010101" pitchFamily="2" charset="-122"/>
              <a:ea typeface="宋体" panose="02010600030101010101" pitchFamily="2" charset="-122"/>
              <a:cs typeface="宋体" panose="02010600030101010101" pitchFamily="2" charset="-122"/>
            </a:endParaRPr>
          </a:p>
          <a:p>
            <a:pPr lvl="0">
              <a:lnSpc>
                <a:spcPct val="15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*文本串表示了与所请求的化学制品的量相关的单位*</a:t>
            </a:r>
            <a:endParaRPr lang="en-US" altLang="zh-CN" sz="2200" b="1" dirty="0">
              <a:latin typeface="宋体" panose="02010600030101010101" pitchFamily="2" charset="-122"/>
              <a:ea typeface="宋体" panose="02010600030101010101" pitchFamily="2" charset="-122"/>
              <a:cs typeface="宋体" panose="02010600030101010101" pitchFamily="2" charset="-122"/>
            </a:endParaRPr>
          </a:p>
          <a:p>
            <a:pPr lvl="0">
              <a:lnSpc>
                <a:spcPct val="150000"/>
              </a:lnSpc>
            </a:pP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上述例子表明：数量单位的文本串只</a:t>
            </a:r>
            <a:r>
              <a:rPr lang="zh-CN" altLang="en-US" sz="2200" b="1" dirty="0">
                <a:latin typeface="宋体" panose="02010600030101010101" pitchFamily="2" charset="-122"/>
                <a:cs typeface="宋体" panose="02010600030101010101" pitchFamily="2" charset="-122"/>
                <a:sym typeface="+mn-ea"/>
              </a:rPr>
              <a:t>允许</a:t>
            </a:r>
            <a:r>
              <a:rPr lang="zh-CN" altLang="en-US" sz="2200" b="1" dirty="0">
                <a:solidFill>
                  <a:srgbClr val="FF0000"/>
                </a:solidFill>
                <a:latin typeface="宋体" panose="02010600030101010101" pitchFamily="2" charset="-122"/>
                <a:cs typeface="宋体" panose="02010600030101010101" pitchFamily="2" charset="-122"/>
                <a:sym typeface="+mn-ea"/>
              </a:rPr>
              <a:t>“克” 、“</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千克”和</a:t>
            </a:r>
            <a:r>
              <a:rPr lang="en-US" altLang="zh-CN"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个” 这</a:t>
            </a:r>
            <a:r>
              <a:rPr lang="en-US" altLang="zh-CN"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3</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种取值</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，注释提供了数据项定义的信息</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sp>
        <p:nvSpPr>
          <p:cNvPr id="10" name="矩形: 圆角 9"/>
          <p:cNvSpPr/>
          <p:nvPr/>
        </p:nvSpPr>
        <p:spPr>
          <a:xfrm>
            <a:off x="517525" y="2181225"/>
            <a:ext cx="11178540" cy="2580005"/>
          </a:xfrm>
          <a:prstGeom prst="round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en-US" altLang="zh-CN" b="1" dirty="0">
              <a:solidFill>
                <a:schemeClr val="tx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718820" y="5194935"/>
            <a:ext cx="10164445" cy="984885"/>
          </a:xfrm>
          <a:prstGeom prst="rect">
            <a:avLst/>
          </a:prstGeom>
          <a:noFill/>
        </p:spPr>
        <p:txBody>
          <a:bodyPr wrap="square" rtlCol="0" anchor="t">
            <a:noAutofit/>
          </a:bodyPr>
          <a:lstStyle/>
          <a:p>
            <a:pPr>
              <a:lnSpc>
                <a:spcPct val="150000"/>
              </a:lnSpc>
            </a:pP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在创建数据字典和词汇表上所花费的时间可以大大减少由于项目的参与者对一些关键信息的理解不一致所带来时间的浪费</a:t>
            </a:r>
            <a:endParaRPr lang="zh-CN" altLang="en-US" sz="2200" b="1" dirty="0">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4" name="图片 3"/>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grpSp>
        <p:nvGrpSpPr>
          <p:cNvPr id="5" name="组合 7"/>
          <p:cNvGrpSpPr/>
          <p:nvPr/>
        </p:nvGrpSpPr>
        <p:grpSpPr>
          <a:xfrm>
            <a:off x="108557" y="337632"/>
            <a:ext cx="3815742" cy="491607"/>
            <a:chOff x="198764" y="258545"/>
            <a:chExt cx="5086477" cy="656007"/>
          </a:xfrm>
        </p:grpSpPr>
        <p:grpSp>
          <p:nvGrpSpPr>
            <p:cNvPr id="8" name="组合 5"/>
            <p:cNvGrpSpPr/>
            <p:nvPr/>
          </p:nvGrpSpPr>
          <p:grpSpPr>
            <a:xfrm>
              <a:off x="198764" y="258545"/>
              <a:ext cx="700083" cy="563491"/>
              <a:chOff x="5075564" y="2933562"/>
              <a:chExt cx="2860947" cy="2302753"/>
            </a:xfrm>
          </p:grpSpPr>
          <p:sp>
            <p:nvSpPr>
              <p:cNvPr id="9" name="等腰三角形 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1" name="等腰三角形 10"/>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3" name="文本框 6"/>
            <p:cNvSpPr txBox="1"/>
            <p:nvPr/>
          </p:nvSpPr>
          <p:spPr>
            <a:xfrm>
              <a:off x="988289" y="300221"/>
              <a:ext cx="429695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3.6 </a:t>
              </a:r>
              <a:r>
                <a:rPr lang="zh-CN" altLang="en-US" sz="2400" b="1" dirty="0">
                  <a:solidFill>
                    <a:srgbClr val="000000"/>
                  </a:solidFill>
                  <a:latin typeface="微软雅黑" panose="020B0503020204020204" pitchFamily="34" charset="-122"/>
                  <a:ea typeface="微软雅黑" panose="020B0503020204020204" pitchFamily="34" charset="-122"/>
                </a:rPr>
                <a:t>创建数据字典</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4"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）数据字典的组成</a:t>
            </a:r>
            <a:endParaRPr lang="zh-CN" altLang="en-US" sz="2400" b="1" kern="0" dirty="0">
              <a:latin typeface="宋体" panose="02010600030101010101" pitchFamily="2" charset="-122"/>
              <a:sym typeface="宋体" panose="02010600030101010101" pitchFamily="2" charset="-122"/>
            </a:endParaRPr>
          </a:p>
        </p:txBody>
      </p:sp>
      <p:sp>
        <p:nvSpPr>
          <p:cNvPr id="12" name="箭头: 下 11"/>
          <p:cNvSpPr/>
          <p:nvPr/>
        </p:nvSpPr>
        <p:spPr>
          <a:xfrm>
            <a:off x="5735782" y="4819537"/>
            <a:ext cx="822036" cy="31686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5" name="日期占位符 14"/>
          <p:cNvSpPr>
            <a:spLocks noGrp="1"/>
          </p:cNvSpPr>
          <p:nvPr>
            <p:ph type="dt" sz="half" idx="10"/>
          </p:nvPr>
        </p:nvSpPr>
        <p:spPr/>
        <p:txBody>
          <a:bodyPr/>
          <a:lstStyle/>
          <a:p>
            <a:pPr>
              <a:defRPr/>
            </a:pPr>
            <a:fld id="{8BF509A2-14A6-4400-B4B3-2606C9283E3C}"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16" name="灯片编号占位符 15"/>
          <p:cNvSpPr>
            <a:spLocks noGrp="1"/>
          </p:cNvSpPr>
          <p:nvPr>
            <p:ph type="sldNum" sz="quarter" idx="12"/>
          </p:nvPr>
        </p:nvSpPr>
        <p:spPr/>
        <p:txBody>
          <a:bodyPr/>
          <a:lstStyle/>
          <a:p>
            <a:pPr>
              <a:defRPr/>
            </a:pPr>
            <a:fld id="{0519FDB0-D360-4966-A01C-1D1C6BB19AF3}" type="slidenum">
              <a:rPr lang="zh-CN" altLang="en-US" b="1" smtClean="0">
                <a:solidFill>
                  <a:prstClr val="black">
                    <a:tint val="75000"/>
                  </a:prstClr>
                </a:solidFill>
              </a:rPr>
            </a:fld>
            <a:endParaRPr lang="zh-CN" altLang="en-US" b="1" dirty="0" smtClean="0">
              <a:solidFill>
                <a:prstClr val="black">
                  <a:tint val="75000"/>
                </a:prstClr>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2" presetClass="entr" presetSubtype="8"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p:tgtEl>
                                          <p:spTgt spid="14"/>
                                        </p:tgtEl>
                                        <p:attrNameLst>
                                          <p:attrName>ppt_x</p:attrName>
                                        </p:attrNameLst>
                                      </p:cBhvr>
                                      <p:tavLst>
                                        <p:tav tm="0">
                                          <p:val>
                                            <p:strVal val="#ppt_x+#ppt_w*1.125000"/>
                                          </p:val>
                                        </p:tav>
                                        <p:tav tm="100000">
                                          <p:val>
                                            <p:strVal val="#ppt_x"/>
                                          </p:val>
                                        </p:tav>
                                      </p:tavLst>
                                    </p:anim>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3"/>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6" grpId="0" animBg="1"/>
      <p:bldP spid="7" grpId="0"/>
      <p:bldP spid="10" grpId="0" bldLvl="0" animBg="1"/>
      <p:bldP spid="2" grpId="0"/>
      <p:bldP spid="14" grpId="0"/>
      <p:bldP spid="12"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grpSp>
        <p:nvGrpSpPr>
          <p:cNvPr id="5" name="组合 7"/>
          <p:cNvGrpSpPr/>
          <p:nvPr/>
        </p:nvGrpSpPr>
        <p:grpSpPr>
          <a:xfrm>
            <a:off x="108557" y="337632"/>
            <a:ext cx="3815742" cy="491607"/>
            <a:chOff x="198764" y="258545"/>
            <a:chExt cx="5086477" cy="656007"/>
          </a:xfrm>
        </p:grpSpPr>
        <p:grpSp>
          <p:nvGrpSpPr>
            <p:cNvPr id="8" name="组合 5"/>
            <p:cNvGrpSpPr/>
            <p:nvPr/>
          </p:nvGrpSpPr>
          <p:grpSpPr>
            <a:xfrm>
              <a:off x="198764" y="258545"/>
              <a:ext cx="700083" cy="563491"/>
              <a:chOff x="5075564" y="2933562"/>
              <a:chExt cx="2860947" cy="2302753"/>
            </a:xfrm>
          </p:grpSpPr>
          <p:sp>
            <p:nvSpPr>
              <p:cNvPr id="9" name="等腰三角形 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1" name="等腰三角形 10"/>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3" name="文本框 6"/>
            <p:cNvSpPr txBox="1"/>
            <p:nvPr/>
          </p:nvSpPr>
          <p:spPr>
            <a:xfrm>
              <a:off x="988289" y="300221"/>
              <a:ext cx="429695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3.6 </a:t>
              </a:r>
              <a:r>
                <a:rPr lang="zh-CN" altLang="en-US" sz="2400" b="1" dirty="0">
                  <a:solidFill>
                    <a:srgbClr val="000000"/>
                  </a:solidFill>
                  <a:latin typeface="微软雅黑" panose="020B0503020204020204" pitchFamily="34" charset="-122"/>
                  <a:ea typeface="微软雅黑" panose="020B0503020204020204" pitchFamily="34" charset="-122"/>
                </a:rPr>
                <a:t>创建数据字典</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4"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）数据字典的组成</a:t>
            </a:r>
            <a:endParaRPr lang="zh-CN" altLang="en-US" sz="2400" b="1" kern="0" dirty="0">
              <a:latin typeface="宋体" panose="02010600030101010101" pitchFamily="2" charset="-122"/>
              <a:sym typeface="宋体" panose="02010600030101010101" pitchFamily="2" charset="-122"/>
            </a:endParaRPr>
          </a:p>
        </p:txBody>
      </p:sp>
      <p:graphicFrame>
        <p:nvGraphicFramePr>
          <p:cNvPr id="12" name="表格 11"/>
          <p:cNvGraphicFramePr>
            <a:graphicFrameLocks noGrp="1"/>
          </p:cNvGraphicFramePr>
          <p:nvPr>
            <p:custDataLst>
              <p:tags r:id="rId2"/>
            </p:custDataLst>
          </p:nvPr>
        </p:nvGraphicFramePr>
        <p:xfrm>
          <a:off x="660400" y="1610074"/>
          <a:ext cx="10835380" cy="4717048"/>
        </p:xfrm>
        <a:graphic>
          <a:graphicData uri="http://schemas.openxmlformats.org/drawingml/2006/table">
            <a:tbl>
              <a:tblPr firstRow="1" bandRow="1">
                <a:tableStyleId>{5C22544A-7EE6-4342-B048-85BDC9FD1C3A}</a:tableStyleId>
              </a:tblPr>
              <a:tblGrid>
                <a:gridCol w="1703662"/>
                <a:gridCol w="3223938"/>
                <a:gridCol w="2964873"/>
                <a:gridCol w="1209963"/>
                <a:gridCol w="1732944"/>
              </a:tblGrid>
              <a:tr h="525651">
                <a:tc>
                  <a:txBody>
                    <a:bodyPr/>
                    <a:lstStyle/>
                    <a:p>
                      <a:pPr algn="ctr" fontAlgn="ctr"/>
                      <a:r>
                        <a:rPr lang="zh-CN" altLang="en-US" sz="2000" b="1" u="none" strike="noStrike" dirty="0">
                          <a:effectLst/>
                          <a:latin typeface="+mj-ea"/>
                          <a:ea typeface="+mj-ea"/>
                        </a:rPr>
                        <a:t>数据元素</a:t>
                      </a:r>
                      <a:endParaRPr lang="zh-CN" altLang="en-US" sz="2000" b="1" i="0" u="none" strike="noStrike" dirty="0">
                        <a:solidFill>
                          <a:srgbClr val="000000"/>
                        </a:solidFill>
                        <a:effectLst/>
                        <a:latin typeface="+mj-ea"/>
                        <a:ea typeface="+mj-ea"/>
                      </a:endParaRPr>
                    </a:p>
                  </a:txBody>
                  <a:tcPr marL="4533" marR="4533" marT="4533" marB="0" anchor="ctr"/>
                </a:tc>
                <a:tc>
                  <a:txBody>
                    <a:bodyPr/>
                    <a:lstStyle/>
                    <a:p>
                      <a:pPr algn="ctr" fontAlgn="ctr"/>
                      <a:r>
                        <a:rPr lang="zh-CN" altLang="en-US" sz="2000" b="1" u="none" strike="noStrike" dirty="0">
                          <a:effectLst/>
                          <a:latin typeface="+mj-ea"/>
                          <a:ea typeface="+mj-ea"/>
                        </a:rPr>
                        <a:t>描述</a:t>
                      </a:r>
                      <a:endParaRPr lang="zh-CN" altLang="en-US" sz="2000" b="1" i="0" u="none" strike="noStrike" dirty="0">
                        <a:solidFill>
                          <a:srgbClr val="000000"/>
                        </a:solidFill>
                        <a:effectLst/>
                        <a:latin typeface="+mj-ea"/>
                        <a:ea typeface="+mj-ea"/>
                      </a:endParaRPr>
                    </a:p>
                  </a:txBody>
                  <a:tcPr marL="4533" marR="4533" marT="4533" marB="0" anchor="ctr"/>
                </a:tc>
                <a:tc>
                  <a:txBody>
                    <a:bodyPr/>
                    <a:lstStyle/>
                    <a:p>
                      <a:pPr algn="ctr" fontAlgn="ctr"/>
                      <a:r>
                        <a:rPr lang="zh-CN" altLang="en-US" sz="2000" b="1" u="none" strike="noStrike" dirty="0">
                          <a:effectLst/>
                          <a:latin typeface="+mj-ea"/>
                          <a:ea typeface="+mj-ea"/>
                        </a:rPr>
                        <a:t>数据构成或者数据类型</a:t>
                      </a:r>
                      <a:endParaRPr lang="zh-CN" altLang="en-US" sz="2000" b="1" i="0" u="none" strike="noStrike" dirty="0">
                        <a:solidFill>
                          <a:srgbClr val="000000"/>
                        </a:solidFill>
                        <a:effectLst/>
                        <a:latin typeface="+mj-ea"/>
                        <a:ea typeface="+mj-ea"/>
                      </a:endParaRPr>
                    </a:p>
                  </a:txBody>
                  <a:tcPr marL="4533" marR="4533" marT="4533" marB="0" anchor="ctr"/>
                </a:tc>
                <a:tc>
                  <a:txBody>
                    <a:bodyPr/>
                    <a:lstStyle/>
                    <a:p>
                      <a:pPr algn="ctr" fontAlgn="ctr"/>
                      <a:r>
                        <a:rPr lang="zh-CN" altLang="en-US" sz="2000" b="1" u="none" strike="noStrike" dirty="0">
                          <a:effectLst/>
                          <a:latin typeface="+mj-ea"/>
                          <a:ea typeface="+mj-ea"/>
                        </a:rPr>
                        <a:t>数据长度</a:t>
                      </a:r>
                      <a:endParaRPr lang="zh-CN" altLang="en-US" sz="2000" b="1" i="0" u="none" strike="noStrike" dirty="0">
                        <a:solidFill>
                          <a:srgbClr val="000000"/>
                        </a:solidFill>
                        <a:effectLst/>
                        <a:latin typeface="+mj-ea"/>
                        <a:ea typeface="+mj-ea"/>
                      </a:endParaRPr>
                    </a:p>
                  </a:txBody>
                  <a:tcPr marL="4533" marR="4533" marT="4533" marB="0" anchor="ctr"/>
                </a:tc>
                <a:tc>
                  <a:txBody>
                    <a:bodyPr/>
                    <a:lstStyle/>
                    <a:p>
                      <a:pPr algn="ctr" fontAlgn="ctr"/>
                      <a:r>
                        <a:rPr lang="zh-CN" altLang="en-US" sz="2000" b="1" u="none" strike="noStrike" dirty="0">
                          <a:effectLst/>
                          <a:latin typeface="+mj-ea"/>
                          <a:ea typeface="+mj-ea"/>
                        </a:rPr>
                        <a:t>数据取值</a:t>
                      </a:r>
                      <a:endParaRPr lang="zh-CN" altLang="en-US" sz="2000" b="1" i="0" u="none" strike="noStrike" dirty="0">
                        <a:solidFill>
                          <a:srgbClr val="000000"/>
                        </a:solidFill>
                        <a:effectLst/>
                        <a:latin typeface="+mj-ea"/>
                        <a:ea typeface="+mj-ea"/>
                      </a:endParaRPr>
                    </a:p>
                  </a:txBody>
                  <a:tcPr marL="4533" marR="4533" marT="4533" marB="0" anchor="ctr"/>
                </a:tc>
              </a:tr>
              <a:tr h="1194924">
                <a:tc>
                  <a:txBody>
                    <a:bodyPr/>
                    <a:lstStyle/>
                    <a:p>
                      <a:pPr algn="ctr" fontAlgn="ctr"/>
                      <a:r>
                        <a:rPr lang="zh-CN" altLang="en-US" sz="2000" b="1" u="none" strike="noStrike" dirty="0">
                          <a:effectLst/>
                          <a:latin typeface="+mj-ea"/>
                          <a:ea typeface="+mj-ea"/>
                        </a:rPr>
                        <a:t>化学品申请</a:t>
                      </a:r>
                      <a:endParaRPr lang="zh-CN" altLang="en-US" sz="2000" b="1" i="0" u="none" strike="noStrike" dirty="0">
                        <a:solidFill>
                          <a:srgbClr val="000000"/>
                        </a:solidFill>
                        <a:effectLst/>
                        <a:latin typeface="+mj-ea"/>
                        <a:ea typeface="+mj-ea"/>
                      </a:endParaRPr>
                    </a:p>
                  </a:txBody>
                  <a:tcPr marL="4533" marR="4533" marT="4533" marB="0" anchor="ctr"/>
                </a:tc>
                <a:tc>
                  <a:txBody>
                    <a:bodyPr/>
                    <a:lstStyle/>
                    <a:p>
                      <a:pPr algn="ctr" fontAlgn="ctr"/>
                      <a:r>
                        <a:rPr lang="zh-CN" altLang="en-US" sz="2000" b="1" u="none" strike="noStrike" dirty="0">
                          <a:effectLst/>
                          <a:latin typeface="+mj-ea"/>
                          <a:ea typeface="+mj-ea"/>
                        </a:rPr>
                        <a:t>向化学品库房或者供应商</a:t>
                      </a:r>
                      <a:br>
                        <a:rPr lang="zh-CN" altLang="en-US" sz="2000" b="1" u="none" strike="noStrike" dirty="0">
                          <a:effectLst/>
                          <a:latin typeface="+mj-ea"/>
                          <a:ea typeface="+mj-ea"/>
                        </a:rPr>
                      </a:br>
                      <a:r>
                        <a:rPr lang="zh-CN" altLang="en-US" sz="2000" b="1" u="none" strike="noStrike" dirty="0">
                          <a:effectLst/>
                          <a:latin typeface="+mj-ea"/>
                          <a:ea typeface="+mj-ea"/>
                        </a:rPr>
                        <a:t>提出关于新化学品的申请</a:t>
                      </a:r>
                      <a:endParaRPr lang="zh-CN" altLang="en-US" sz="2000" b="1" i="0" u="none" strike="noStrike" dirty="0">
                        <a:solidFill>
                          <a:srgbClr val="000000"/>
                        </a:solidFill>
                        <a:effectLst/>
                        <a:latin typeface="+mj-ea"/>
                        <a:ea typeface="+mj-ea"/>
                      </a:endParaRPr>
                    </a:p>
                  </a:txBody>
                  <a:tcPr marL="4533" marR="4533" marT="4533" marB="0" anchor="ctr"/>
                </a:tc>
                <a:tc>
                  <a:txBody>
                    <a:bodyPr/>
                    <a:lstStyle/>
                    <a:p>
                      <a:pPr algn="ctr" fontAlgn="ctr"/>
                      <a:r>
                        <a:rPr lang="zh-CN" altLang="en-US" sz="2000" b="1" u="none" strike="noStrike" dirty="0">
                          <a:effectLst/>
                          <a:latin typeface="+mj-ea"/>
                          <a:ea typeface="+mj-ea"/>
                        </a:rPr>
                        <a:t>申请 </a:t>
                      </a:r>
                      <a:r>
                        <a:rPr lang="en-US" altLang="zh-CN" sz="2000" b="1" u="none" strike="noStrike" dirty="0">
                          <a:effectLst/>
                          <a:latin typeface="+mj-ea"/>
                          <a:ea typeface="+mj-ea"/>
                        </a:rPr>
                        <a:t>ID</a:t>
                      </a:r>
                      <a:br>
                        <a:rPr lang="en-US" altLang="zh-CN" sz="2000" b="1" u="none" strike="noStrike" dirty="0">
                          <a:effectLst/>
                          <a:latin typeface="+mj-ea"/>
                          <a:ea typeface="+mj-ea"/>
                        </a:rPr>
                      </a:br>
                      <a:r>
                        <a:rPr lang="en-US" altLang="zh-CN" sz="2000" b="1" u="none" strike="noStrike" dirty="0">
                          <a:effectLst/>
                          <a:latin typeface="+mj-ea"/>
                          <a:ea typeface="+mj-ea"/>
                        </a:rPr>
                        <a:t>+ </a:t>
                      </a:r>
                      <a:r>
                        <a:rPr lang="zh-CN" altLang="en-US" sz="2000" b="1" u="none" strike="noStrike" dirty="0">
                          <a:effectLst/>
                          <a:latin typeface="+mj-ea"/>
                          <a:ea typeface="+mj-ea"/>
                        </a:rPr>
                        <a:t>申请人</a:t>
                      </a:r>
                      <a:br>
                        <a:rPr lang="zh-CN" altLang="en-US" sz="2000" b="1" u="none" strike="noStrike" dirty="0">
                          <a:effectLst/>
                          <a:latin typeface="+mj-ea"/>
                          <a:ea typeface="+mj-ea"/>
                        </a:rPr>
                      </a:br>
                      <a:r>
                        <a:rPr lang="zh-CN" altLang="en-US" sz="2000" b="1" u="none" strike="noStrike" dirty="0">
                          <a:effectLst/>
                          <a:latin typeface="+mj-ea"/>
                          <a:ea typeface="+mj-ea"/>
                        </a:rPr>
                        <a:t>申请日期</a:t>
                      </a:r>
                      <a:br>
                        <a:rPr lang="zh-CN" altLang="en-US" sz="2000" b="1" u="none" strike="noStrike" dirty="0">
                          <a:effectLst/>
                          <a:latin typeface="+mj-ea"/>
                          <a:ea typeface="+mj-ea"/>
                        </a:rPr>
                      </a:br>
                      <a:r>
                        <a:rPr lang="zh-CN" altLang="en-US" sz="2000" b="1" u="none" strike="noStrike" dirty="0">
                          <a:effectLst/>
                          <a:latin typeface="+mj-ea"/>
                          <a:ea typeface="+mj-ea"/>
                        </a:rPr>
                        <a:t>账户编号</a:t>
                      </a:r>
                      <a:br>
                        <a:rPr lang="zh-CN" altLang="en-US" sz="2000" b="1" u="none" strike="noStrike" dirty="0">
                          <a:effectLst/>
                          <a:latin typeface="+mj-ea"/>
                          <a:ea typeface="+mj-ea"/>
                        </a:rPr>
                      </a:br>
                      <a:r>
                        <a:rPr lang="en-US" altLang="zh-CN" sz="2000" b="1" u="none" strike="noStrike" dirty="0">
                          <a:effectLst/>
                          <a:latin typeface="+mj-ea"/>
                          <a:ea typeface="+mj-ea"/>
                        </a:rPr>
                        <a:t>+1</a:t>
                      </a:r>
                      <a:r>
                        <a:rPr lang="zh-CN" altLang="en-US" sz="2000" b="1" u="none" strike="noStrike" dirty="0">
                          <a:effectLst/>
                          <a:latin typeface="+mj-ea"/>
                          <a:ea typeface="+mj-ea"/>
                        </a:rPr>
                        <a:t>：</a:t>
                      </a:r>
                      <a:r>
                        <a:rPr lang="en-US" altLang="zh-CN" sz="2000" b="1" u="none" strike="noStrike" dirty="0">
                          <a:effectLst/>
                          <a:latin typeface="+mj-ea"/>
                          <a:ea typeface="+mj-ea"/>
                        </a:rPr>
                        <a:t>10(</a:t>
                      </a:r>
                      <a:r>
                        <a:rPr lang="zh-CN" altLang="en-US" sz="2000" b="1" u="none" strike="noStrike" dirty="0">
                          <a:effectLst/>
                          <a:latin typeface="+mj-ea"/>
                          <a:ea typeface="+mj-ea"/>
                        </a:rPr>
                        <a:t>要申请的化学品</a:t>
                      </a:r>
                      <a:r>
                        <a:rPr lang="en-US" altLang="zh-CN" sz="2000" b="1" u="none" strike="noStrike" dirty="0">
                          <a:effectLst/>
                          <a:latin typeface="+mj-ea"/>
                          <a:ea typeface="+mj-ea"/>
                        </a:rPr>
                        <a:t>)</a:t>
                      </a:r>
                      <a:endParaRPr lang="en-US" altLang="zh-CN" sz="2000" b="1" i="0" u="none" strike="noStrike" dirty="0">
                        <a:solidFill>
                          <a:srgbClr val="000000"/>
                        </a:solidFill>
                        <a:effectLst/>
                        <a:latin typeface="+mj-ea"/>
                        <a:ea typeface="+mj-ea"/>
                      </a:endParaRPr>
                    </a:p>
                  </a:txBody>
                  <a:tcPr marL="4533" marR="4533" marT="4533" marB="0" anchor="ctr"/>
                </a:tc>
                <a:tc>
                  <a:txBody>
                    <a:bodyPr/>
                    <a:lstStyle/>
                    <a:p>
                      <a:pPr algn="ctr" fontAlgn="ctr"/>
                      <a:endParaRPr lang="zh-CN" altLang="en-US" sz="2000" b="1" i="0" u="none" strike="noStrike">
                        <a:solidFill>
                          <a:srgbClr val="000000"/>
                        </a:solidFill>
                        <a:effectLst/>
                        <a:latin typeface="+mj-ea"/>
                        <a:ea typeface="+mj-ea"/>
                      </a:endParaRPr>
                    </a:p>
                  </a:txBody>
                  <a:tcPr marL="4533" marR="4533" marT="4533" marB="0" anchor="ctr"/>
                </a:tc>
                <a:tc>
                  <a:txBody>
                    <a:bodyPr/>
                    <a:lstStyle/>
                    <a:p>
                      <a:pPr algn="ctr" fontAlgn="ctr"/>
                      <a:endParaRPr lang="zh-CN" altLang="en-US" sz="2000" b="1" i="0" u="none" strike="noStrike">
                        <a:solidFill>
                          <a:srgbClr val="000000"/>
                        </a:solidFill>
                        <a:effectLst/>
                        <a:latin typeface="+mj-ea"/>
                        <a:ea typeface="+mj-ea"/>
                      </a:endParaRPr>
                    </a:p>
                  </a:txBody>
                  <a:tcPr marL="4533" marR="4533" marT="4533" marB="0" anchor="ctr"/>
                </a:tc>
              </a:tr>
              <a:tr h="848608">
                <a:tc>
                  <a:txBody>
                    <a:bodyPr/>
                    <a:lstStyle/>
                    <a:p>
                      <a:pPr algn="ctr" fontAlgn="ctr"/>
                      <a:r>
                        <a:rPr lang="zh-CN" altLang="en-US" sz="2000" b="1" u="none" strike="noStrike" dirty="0">
                          <a:effectLst/>
                          <a:latin typeface="+mj-ea"/>
                          <a:ea typeface="+mj-ea"/>
                        </a:rPr>
                        <a:t>投递位置</a:t>
                      </a:r>
                      <a:endParaRPr lang="zh-CN" altLang="en-US" sz="2000" b="1" i="0" u="none" strike="noStrike" dirty="0">
                        <a:solidFill>
                          <a:srgbClr val="000000"/>
                        </a:solidFill>
                        <a:effectLst/>
                        <a:latin typeface="+mj-ea"/>
                        <a:ea typeface="+mj-ea"/>
                      </a:endParaRPr>
                    </a:p>
                  </a:txBody>
                  <a:tcPr marL="4533" marR="4533" marT="4533" marB="0" anchor="ctr"/>
                </a:tc>
                <a:tc>
                  <a:txBody>
                    <a:bodyPr/>
                    <a:lstStyle/>
                    <a:p>
                      <a:pPr algn="ctr" fontAlgn="ctr"/>
                      <a:r>
                        <a:rPr lang="zh-CN" altLang="en-US" sz="2000" b="1" u="none" strike="noStrike" dirty="0">
                          <a:effectLst/>
                          <a:latin typeface="+mj-ea"/>
                          <a:ea typeface="+mj-ea"/>
                        </a:rPr>
                        <a:t>被申请的化学品将要发往</a:t>
                      </a:r>
                      <a:br>
                        <a:rPr lang="zh-CN" altLang="en-US" sz="2000" b="1" u="none" strike="noStrike" dirty="0">
                          <a:effectLst/>
                          <a:latin typeface="+mj-ea"/>
                          <a:ea typeface="+mj-ea"/>
                        </a:rPr>
                      </a:br>
                      <a:r>
                        <a:rPr lang="zh-CN" altLang="en-US" sz="2000" b="1" u="none" strike="noStrike" dirty="0">
                          <a:effectLst/>
                          <a:latin typeface="+mj-ea"/>
                          <a:ea typeface="+mj-ea"/>
                        </a:rPr>
                        <a:t>的目的地</a:t>
                      </a:r>
                      <a:endParaRPr lang="zh-CN" altLang="en-US" sz="2000" b="1" i="0" u="none" strike="noStrike" dirty="0">
                        <a:solidFill>
                          <a:srgbClr val="000000"/>
                        </a:solidFill>
                        <a:effectLst/>
                        <a:latin typeface="+mj-ea"/>
                        <a:ea typeface="+mj-ea"/>
                      </a:endParaRPr>
                    </a:p>
                  </a:txBody>
                  <a:tcPr marL="4533" marR="4533" marT="4533" marB="0" anchor="ctr"/>
                </a:tc>
                <a:tc>
                  <a:txBody>
                    <a:bodyPr/>
                    <a:lstStyle/>
                    <a:p>
                      <a:pPr algn="ctr" fontAlgn="ctr"/>
                      <a:r>
                        <a:rPr lang="zh-CN" altLang="en-US" sz="2000" b="1" u="none" strike="noStrike" dirty="0">
                          <a:effectLst/>
                          <a:latin typeface="+mj-ea"/>
                          <a:ea typeface="+mj-ea"/>
                        </a:rPr>
                        <a:t>建筑物</a:t>
                      </a:r>
                      <a:br>
                        <a:rPr lang="zh-CN" altLang="en-US" sz="2000" b="1" u="none" strike="noStrike" dirty="0">
                          <a:effectLst/>
                          <a:latin typeface="+mj-ea"/>
                          <a:ea typeface="+mj-ea"/>
                        </a:rPr>
                      </a:br>
                      <a:r>
                        <a:rPr lang="zh-CN" altLang="en-US" sz="2000" b="1" u="none" strike="noStrike" dirty="0">
                          <a:effectLst/>
                          <a:latin typeface="+mj-ea"/>
                          <a:ea typeface="+mj-ea"/>
                        </a:rPr>
                        <a:t>实验室编号</a:t>
                      </a:r>
                      <a:br>
                        <a:rPr lang="zh-CN" altLang="en-US" sz="2000" b="1" u="none" strike="noStrike" dirty="0">
                          <a:effectLst/>
                          <a:latin typeface="+mj-ea"/>
                          <a:ea typeface="+mj-ea"/>
                        </a:rPr>
                      </a:br>
                      <a:r>
                        <a:rPr lang="zh-CN" altLang="en-US" sz="2000" b="1" u="none" strike="noStrike" dirty="0">
                          <a:effectLst/>
                          <a:latin typeface="+mj-ea"/>
                          <a:ea typeface="+mj-ea"/>
                        </a:rPr>
                        <a:t>实验室部门</a:t>
                      </a:r>
                      <a:endParaRPr lang="zh-CN" altLang="en-US" sz="2000" b="1" i="0" u="none" strike="noStrike" dirty="0">
                        <a:solidFill>
                          <a:srgbClr val="000000"/>
                        </a:solidFill>
                        <a:effectLst/>
                        <a:latin typeface="+mj-ea"/>
                        <a:ea typeface="+mj-ea"/>
                      </a:endParaRPr>
                    </a:p>
                  </a:txBody>
                  <a:tcPr marL="4533" marR="4533" marT="4533" marB="0" anchor="ctr"/>
                </a:tc>
                <a:tc>
                  <a:txBody>
                    <a:bodyPr/>
                    <a:lstStyle/>
                    <a:p>
                      <a:pPr algn="ctr" fontAlgn="ctr"/>
                      <a:endParaRPr lang="zh-CN" altLang="en-US" sz="2000" b="1" i="0" u="none" strike="noStrike">
                        <a:solidFill>
                          <a:srgbClr val="000000"/>
                        </a:solidFill>
                        <a:effectLst/>
                        <a:latin typeface="+mj-ea"/>
                        <a:ea typeface="+mj-ea"/>
                      </a:endParaRPr>
                    </a:p>
                  </a:txBody>
                  <a:tcPr marL="4533" marR="4533" marT="4533" marB="0" anchor="ctr"/>
                </a:tc>
                <a:tc>
                  <a:txBody>
                    <a:bodyPr/>
                    <a:lstStyle/>
                    <a:p>
                      <a:pPr algn="ctr" fontAlgn="ctr"/>
                      <a:endParaRPr lang="zh-CN" altLang="en-US" sz="2000" b="1" i="0" u="none" strike="noStrike">
                        <a:solidFill>
                          <a:srgbClr val="000000"/>
                        </a:solidFill>
                        <a:effectLst/>
                        <a:latin typeface="+mj-ea"/>
                        <a:ea typeface="+mj-ea"/>
                      </a:endParaRPr>
                    </a:p>
                  </a:txBody>
                  <a:tcPr marL="4533" marR="4533" marT="4533" marB="0" anchor="ctr"/>
                </a:tc>
              </a:tr>
              <a:tr h="1070224">
                <a:tc>
                  <a:txBody>
                    <a:bodyPr/>
                    <a:lstStyle/>
                    <a:p>
                      <a:pPr algn="ctr" fontAlgn="ctr"/>
                      <a:r>
                        <a:rPr lang="zh-CN" altLang="en-US" sz="2000" b="1" u="none" strike="noStrike">
                          <a:effectLst/>
                          <a:latin typeface="+mj-ea"/>
                          <a:ea typeface="+mj-ea"/>
                        </a:rPr>
                        <a:t>容器数量</a:t>
                      </a:r>
                      <a:endParaRPr lang="zh-CN" altLang="en-US" sz="2000" b="1" i="0" u="none" strike="noStrike">
                        <a:solidFill>
                          <a:srgbClr val="000000"/>
                        </a:solidFill>
                        <a:effectLst/>
                        <a:latin typeface="+mj-ea"/>
                        <a:ea typeface="+mj-ea"/>
                      </a:endParaRPr>
                    </a:p>
                  </a:txBody>
                  <a:tcPr marL="4533" marR="4533" marT="4533" marB="0" anchor="ctr"/>
                </a:tc>
                <a:tc>
                  <a:txBody>
                    <a:bodyPr/>
                    <a:lstStyle/>
                    <a:p>
                      <a:pPr algn="ctr" fontAlgn="ctr"/>
                      <a:r>
                        <a:rPr lang="zh-CN" altLang="en-US" sz="2000" b="1" u="none" strike="noStrike" dirty="0">
                          <a:effectLst/>
                          <a:latin typeface="+mj-ea"/>
                          <a:ea typeface="+mj-ea"/>
                        </a:rPr>
                        <a:t>指定化学品容器的数量或</a:t>
                      </a:r>
                      <a:br>
                        <a:rPr lang="zh-CN" altLang="en-US" sz="2000" b="1" u="none" strike="noStrike" dirty="0">
                          <a:effectLst/>
                          <a:latin typeface="+mj-ea"/>
                          <a:ea typeface="+mj-ea"/>
                        </a:rPr>
                      </a:br>
                      <a:r>
                        <a:rPr lang="zh-CN" altLang="en-US" sz="2000" b="1" u="none" strike="noStrike" dirty="0">
                          <a:effectLst/>
                          <a:latin typeface="+mj-ea"/>
                          <a:ea typeface="+mj-ea"/>
                        </a:rPr>
                        <a:t>者正在申请的化学品容器</a:t>
                      </a:r>
                      <a:br>
                        <a:rPr lang="zh-CN" altLang="en-US" sz="2000" b="1" u="none" strike="noStrike" dirty="0">
                          <a:effectLst/>
                          <a:latin typeface="+mj-ea"/>
                          <a:ea typeface="+mj-ea"/>
                        </a:rPr>
                      </a:br>
                      <a:r>
                        <a:rPr lang="zh-CN" altLang="en-US" sz="2000" b="1" u="none" strike="noStrike" dirty="0">
                          <a:effectLst/>
                          <a:latin typeface="+mj-ea"/>
                          <a:ea typeface="+mj-ea"/>
                        </a:rPr>
                        <a:t>的数量</a:t>
                      </a:r>
                      <a:endParaRPr lang="zh-CN" altLang="en-US" sz="2000" b="1" i="0" u="none" strike="noStrike" dirty="0">
                        <a:solidFill>
                          <a:srgbClr val="000000"/>
                        </a:solidFill>
                        <a:effectLst/>
                        <a:latin typeface="+mj-ea"/>
                        <a:ea typeface="+mj-ea"/>
                      </a:endParaRPr>
                    </a:p>
                  </a:txBody>
                  <a:tcPr marL="4533" marR="4533" marT="4533" marB="0" anchor="ctr"/>
                </a:tc>
                <a:tc>
                  <a:txBody>
                    <a:bodyPr/>
                    <a:lstStyle/>
                    <a:p>
                      <a:pPr algn="ctr" fontAlgn="ctr"/>
                      <a:r>
                        <a:rPr lang="zh-CN" altLang="en-US" sz="2000" b="1" u="none" strike="noStrike" dirty="0">
                          <a:effectLst/>
                          <a:latin typeface="+mj-ea"/>
                          <a:ea typeface="+mj-ea"/>
                        </a:rPr>
                        <a:t>正整数</a:t>
                      </a:r>
                      <a:endParaRPr lang="zh-CN" altLang="en-US" sz="2000" b="1" i="0" u="none" strike="noStrike" dirty="0">
                        <a:solidFill>
                          <a:srgbClr val="000000"/>
                        </a:solidFill>
                        <a:effectLst/>
                        <a:latin typeface="+mj-ea"/>
                        <a:ea typeface="+mj-ea"/>
                      </a:endParaRPr>
                    </a:p>
                  </a:txBody>
                  <a:tcPr marL="90000" marR="90000" marT="46800" marB="46800" anchor="ctr"/>
                </a:tc>
                <a:tc>
                  <a:txBody>
                    <a:bodyPr/>
                    <a:lstStyle/>
                    <a:p>
                      <a:pPr algn="ctr" fontAlgn="ctr"/>
                      <a:r>
                        <a:rPr lang="en-US" altLang="zh-CN" sz="2000" b="1" u="none" strike="noStrike">
                          <a:effectLst/>
                          <a:latin typeface="+mj-ea"/>
                          <a:ea typeface="+mj-ea"/>
                        </a:rPr>
                        <a:t>3</a:t>
                      </a:r>
                      <a:endParaRPr lang="en-US" altLang="zh-CN" sz="2000" b="1" i="0" u="none" strike="noStrike">
                        <a:solidFill>
                          <a:srgbClr val="000000"/>
                        </a:solidFill>
                        <a:effectLst/>
                        <a:latin typeface="+mj-ea"/>
                        <a:ea typeface="+mj-ea"/>
                      </a:endParaRPr>
                    </a:p>
                  </a:txBody>
                  <a:tcPr marL="4533" marR="4533" marT="4533" marB="0" anchor="ctr"/>
                </a:tc>
                <a:tc>
                  <a:txBody>
                    <a:bodyPr/>
                    <a:lstStyle/>
                    <a:p>
                      <a:pPr algn="ctr" fontAlgn="ctr"/>
                      <a:endParaRPr lang="zh-CN" altLang="en-US" sz="2000" b="1" i="0" u="none" strike="noStrike">
                        <a:solidFill>
                          <a:srgbClr val="000000"/>
                        </a:solidFill>
                        <a:effectLst/>
                        <a:latin typeface="+mj-ea"/>
                        <a:ea typeface="+mj-ea"/>
                      </a:endParaRPr>
                    </a:p>
                  </a:txBody>
                  <a:tcPr marL="4533" marR="4533" marT="4533" marB="0" anchor="ctr"/>
                </a:tc>
              </a:tr>
              <a:tr h="338934">
                <a:tc>
                  <a:txBody>
                    <a:bodyPr/>
                    <a:lstStyle/>
                    <a:p>
                      <a:pPr algn="ctr" fontAlgn="ctr"/>
                      <a:r>
                        <a:rPr lang="zh-CN" altLang="en-US" sz="2000" b="1" u="none" strike="noStrike">
                          <a:effectLst/>
                          <a:latin typeface="+mj-ea"/>
                          <a:ea typeface="+mj-ea"/>
                        </a:rPr>
                        <a:t>数量</a:t>
                      </a:r>
                      <a:endParaRPr lang="zh-CN" altLang="en-US" sz="2000" b="1" i="0" u="none" strike="noStrike">
                        <a:solidFill>
                          <a:srgbClr val="000000"/>
                        </a:solidFill>
                        <a:effectLst/>
                        <a:latin typeface="+mj-ea"/>
                        <a:ea typeface="+mj-ea"/>
                      </a:endParaRPr>
                    </a:p>
                  </a:txBody>
                  <a:tcPr marL="4533" marR="4533" marT="4533" marB="0" anchor="ctr"/>
                </a:tc>
                <a:tc>
                  <a:txBody>
                    <a:bodyPr/>
                    <a:lstStyle/>
                    <a:p>
                      <a:pPr algn="ctr" fontAlgn="ctr"/>
                      <a:r>
                        <a:rPr lang="zh-CN" altLang="en-US" sz="2000" b="1" u="none" strike="noStrike">
                          <a:effectLst/>
                          <a:latin typeface="+mj-ea"/>
                          <a:ea typeface="+mj-ea"/>
                        </a:rPr>
                        <a:t>化学品的中请数量</a:t>
                      </a:r>
                      <a:endParaRPr lang="zh-CN" altLang="en-US" sz="2000" b="1" i="0" u="none" strike="noStrike">
                        <a:solidFill>
                          <a:srgbClr val="000000"/>
                        </a:solidFill>
                        <a:effectLst/>
                        <a:latin typeface="+mj-ea"/>
                        <a:ea typeface="+mj-ea"/>
                      </a:endParaRPr>
                    </a:p>
                  </a:txBody>
                  <a:tcPr marL="4533" marR="4533" marT="4533" marB="0" anchor="ctr"/>
                </a:tc>
                <a:tc>
                  <a:txBody>
                    <a:bodyPr/>
                    <a:lstStyle/>
                    <a:p>
                      <a:pPr algn="ctr" fontAlgn="ctr"/>
                      <a:r>
                        <a:rPr lang="zh-CN" altLang="en-US" sz="2000" b="1" u="none" strike="noStrike">
                          <a:effectLst/>
                          <a:latin typeface="+mj-ea"/>
                          <a:ea typeface="+mj-ea"/>
                        </a:rPr>
                        <a:t>数字类型</a:t>
                      </a:r>
                      <a:endParaRPr lang="zh-CN" altLang="en-US" sz="2000" b="1" i="0" u="none" strike="noStrike">
                        <a:solidFill>
                          <a:srgbClr val="000000"/>
                        </a:solidFill>
                        <a:effectLst/>
                        <a:latin typeface="+mj-ea"/>
                        <a:ea typeface="+mj-ea"/>
                      </a:endParaRPr>
                    </a:p>
                  </a:txBody>
                  <a:tcPr marL="4533" marR="4533" marT="4533" marB="0" anchor="ctr"/>
                </a:tc>
                <a:tc>
                  <a:txBody>
                    <a:bodyPr/>
                    <a:lstStyle/>
                    <a:p>
                      <a:pPr algn="ctr" fontAlgn="ctr"/>
                      <a:r>
                        <a:rPr lang="en-US" altLang="zh-CN" sz="2000" b="1" u="none" strike="noStrike">
                          <a:effectLst/>
                          <a:latin typeface="+mj-ea"/>
                          <a:ea typeface="+mj-ea"/>
                        </a:rPr>
                        <a:t>6</a:t>
                      </a:r>
                      <a:endParaRPr lang="en-US" altLang="zh-CN" sz="2000" b="1" i="0" u="none" strike="noStrike">
                        <a:solidFill>
                          <a:srgbClr val="000000"/>
                        </a:solidFill>
                        <a:effectLst/>
                        <a:latin typeface="+mj-ea"/>
                        <a:ea typeface="+mj-ea"/>
                      </a:endParaRPr>
                    </a:p>
                  </a:txBody>
                  <a:tcPr marL="4533" marR="4533" marT="4533" marB="0" anchor="ctr"/>
                </a:tc>
                <a:tc>
                  <a:txBody>
                    <a:bodyPr/>
                    <a:lstStyle/>
                    <a:p>
                      <a:pPr algn="ctr" fontAlgn="ctr"/>
                      <a:endParaRPr lang="zh-CN" altLang="en-US" sz="2000" b="1" i="0" u="none" strike="noStrike">
                        <a:solidFill>
                          <a:srgbClr val="000000"/>
                        </a:solidFill>
                        <a:effectLst/>
                        <a:latin typeface="+mj-ea"/>
                        <a:ea typeface="+mj-ea"/>
                      </a:endParaRPr>
                    </a:p>
                  </a:txBody>
                  <a:tcPr marL="4533" marR="4533" marT="4533" marB="0" anchor="ctr"/>
                </a:tc>
              </a:tr>
              <a:tr h="334773">
                <a:tc>
                  <a:txBody>
                    <a:bodyPr/>
                    <a:lstStyle/>
                    <a:p>
                      <a:pPr algn="ctr" fontAlgn="ctr"/>
                      <a:r>
                        <a:rPr lang="zh-CN" altLang="en-US" sz="2000" b="1" u="none" strike="noStrike" dirty="0">
                          <a:effectLst/>
                          <a:latin typeface="+mj-ea"/>
                          <a:ea typeface="+mj-ea"/>
                        </a:rPr>
                        <a:t>计量单位</a:t>
                      </a:r>
                      <a:endParaRPr lang="zh-CN" altLang="en-US" sz="2000" b="1" i="0" u="none" strike="noStrike" dirty="0">
                        <a:solidFill>
                          <a:srgbClr val="000000"/>
                        </a:solidFill>
                        <a:effectLst/>
                        <a:latin typeface="+mj-ea"/>
                        <a:ea typeface="+mj-ea"/>
                      </a:endParaRPr>
                    </a:p>
                  </a:txBody>
                  <a:tcPr marL="4533" marR="4533" marT="4533" marB="0" anchor="ctr"/>
                </a:tc>
                <a:tc>
                  <a:txBody>
                    <a:bodyPr/>
                    <a:lstStyle/>
                    <a:p>
                      <a:pPr algn="ctr" fontAlgn="ctr"/>
                      <a:r>
                        <a:rPr lang="zh-CN" altLang="en-US" sz="2000" b="1" u="none" strike="noStrike">
                          <a:effectLst/>
                          <a:latin typeface="+mj-ea"/>
                          <a:ea typeface="+mj-ea"/>
                        </a:rPr>
                        <a:t>化学品的中请数量单位</a:t>
                      </a:r>
                      <a:endParaRPr lang="zh-CN" altLang="en-US" sz="2000" b="1" i="0" u="none" strike="noStrike">
                        <a:solidFill>
                          <a:srgbClr val="000000"/>
                        </a:solidFill>
                        <a:effectLst/>
                        <a:latin typeface="+mj-ea"/>
                        <a:ea typeface="+mj-ea"/>
                      </a:endParaRPr>
                    </a:p>
                  </a:txBody>
                  <a:tcPr marL="4533" marR="4533" marT="4533" marB="0" anchor="ctr"/>
                </a:tc>
                <a:tc>
                  <a:txBody>
                    <a:bodyPr/>
                    <a:lstStyle/>
                    <a:p>
                      <a:pPr algn="ctr" fontAlgn="ctr"/>
                      <a:r>
                        <a:rPr lang="zh-CN" altLang="en-US" sz="2000" b="1" u="none" strike="noStrike">
                          <a:effectLst/>
                          <a:latin typeface="+mj-ea"/>
                          <a:ea typeface="+mj-ea"/>
                        </a:rPr>
                        <a:t>字母表示的字符</a:t>
                      </a:r>
                      <a:endParaRPr lang="zh-CN" altLang="en-US" sz="2000" b="1" i="0" u="none" strike="noStrike">
                        <a:solidFill>
                          <a:srgbClr val="000000"/>
                        </a:solidFill>
                        <a:effectLst/>
                        <a:latin typeface="+mj-ea"/>
                        <a:ea typeface="+mj-ea"/>
                      </a:endParaRPr>
                    </a:p>
                  </a:txBody>
                  <a:tcPr marL="4533" marR="4533" marT="4533" marB="0" anchor="ctr"/>
                </a:tc>
                <a:tc>
                  <a:txBody>
                    <a:bodyPr/>
                    <a:lstStyle/>
                    <a:p>
                      <a:pPr algn="ctr" fontAlgn="ctr"/>
                      <a:r>
                        <a:rPr lang="en-US" altLang="zh-CN" sz="2000" b="1" u="none" strike="noStrike">
                          <a:effectLst/>
                          <a:latin typeface="+mj-ea"/>
                          <a:ea typeface="+mj-ea"/>
                        </a:rPr>
                        <a:t>10</a:t>
                      </a:r>
                      <a:endParaRPr lang="en-US" altLang="zh-CN" sz="2000" b="1" i="0" u="none" strike="noStrike">
                        <a:solidFill>
                          <a:srgbClr val="000000"/>
                        </a:solidFill>
                        <a:effectLst/>
                        <a:latin typeface="+mj-ea"/>
                        <a:ea typeface="+mj-ea"/>
                      </a:endParaRPr>
                    </a:p>
                  </a:txBody>
                  <a:tcPr marL="4533" marR="4533" marT="4533" marB="0" anchor="ctr"/>
                </a:tc>
                <a:tc>
                  <a:txBody>
                    <a:bodyPr/>
                    <a:lstStyle/>
                    <a:p>
                      <a:pPr algn="ctr" fontAlgn="ctr"/>
                      <a:r>
                        <a:rPr lang="zh-CN" altLang="en-US" sz="2000" b="1" u="none" strike="noStrike" dirty="0">
                          <a:effectLst/>
                          <a:latin typeface="+mj-ea"/>
                          <a:ea typeface="+mj-ea"/>
                        </a:rPr>
                        <a:t>克</a:t>
                      </a:r>
                      <a:r>
                        <a:rPr lang="en-US" altLang="zh-CN" sz="2000" b="1" u="none" strike="noStrike" dirty="0">
                          <a:effectLst/>
                          <a:latin typeface="+mj-ea"/>
                          <a:ea typeface="+mj-ea"/>
                        </a:rPr>
                        <a:t>/</a:t>
                      </a:r>
                      <a:r>
                        <a:rPr lang="zh-CN" altLang="en-US" sz="2000" b="1" u="none" strike="noStrike" dirty="0">
                          <a:effectLst/>
                          <a:latin typeface="+mj-ea"/>
                          <a:ea typeface="+mj-ea"/>
                        </a:rPr>
                        <a:t>千克</a:t>
                      </a:r>
                      <a:r>
                        <a:rPr lang="en-US" altLang="zh-CN" sz="2000" b="1" u="none" strike="noStrike" dirty="0">
                          <a:effectLst/>
                          <a:latin typeface="+mj-ea"/>
                          <a:ea typeface="+mj-ea"/>
                        </a:rPr>
                        <a:t>/</a:t>
                      </a:r>
                      <a:r>
                        <a:rPr lang="zh-CN" altLang="en-US" sz="2000" b="1" u="none" strike="noStrike" dirty="0">
                          <a:effectLst/>
                          <a:latin typeface="+mj-ea"/>
                          <a:ea typeface="+mj-ea"/>
                        </a:rPr>
                        <a:t>毫克</a:t>
                      </a:r>
                      <a:endParaRPr lang="zh-CN" altLang="en-US" sz="2000" b="1" i="0" u="none" strike="noStrike" dirty="0">
                        <a:solidFill>
                          <a:srgbClr val="000000"/>
                        </a:solidFill>
                        <a:effectLst/>
                        <a:latin typeface="+mj-ea"/>
                        <a:ea typeface="+mj-ea"/>
                      </a:endParaRPr>
                    </a:p>
                  </a:txBody>
                  <a:tcPr marL="4533" marR="4533" marT="4533" marB="0" anchor="ctr"/>
                </a:tc>
              </a:tr>
            </a:tbl>
          </a:graphicData>
        </a:graphic>
      </p:graphicFrame>
      <p:sp>
        <p:nvSpPr>
          <p:cNvPr id="16" name="文本框 15"/>
          <p:cNvSpPr txBox="1"/>
          <p:nvPr/>
        </p:nvSpPr>
        <p:spPr>
          <a:xfrm>
            <a:off x="3667125" y="1180179"/>
            <a:ext cx="4601210" cy="429895"/>
          </a:xfrm>
          <a:prstGeom prst="rect">
            <a:avLst/>
          </a:prstGeom>
          <a:noFill/>
        </p:spPr>
        <p:txBody>
          <a:bodyPr wrap="square" rtlCol="0">
            <a:spAutoFit/>
          </a:bodyPr>
          <a:lstStyle/>
          <a:p>
            <a:r>
              <a:rPr lang="zh-CN" altLang="en-US" sz="2200" b="1" dirty="0">
                <a:solidFill>
                  <a:srgbClr val="FF0000"/>
                </a:solidFill>
              </a:rPr>
              <a:t>化学品跟踪系统的一部分数据字典</a:t>
            </a:r>
            <a:endParaRPr lang="zh-CN" altLang="en-US" sz="2200" b="1" dirty="0">
              <a:solidFill>
                <a:srgbClr val="FF0000"/>
              </a:solidFill>
            </a:endParaRPr>
          </a:p>
        </p:txBody>
      </p:sp>
      <p:sp>
        <p:nvSpPr>
          <p:cNvPr id="2" name="日期占位符 1"/>
          <p:cNvSpPr>
            <a:spLocks noGrp="1"/>
          </p:cNvSpPr>
          <p:nvPr>
            <p:ph type="dt" sz="half" idx="10"/>
          </p:nvPr>
        </p:nvSpPr>
        <p:spPr/>
        <p:txBody>
          <a:bodyPr/>
          <a:lstStyle/>
          <a:p>
            <a:pPr>
              <a:defRPr/>
            </a:pPr>
            <a:fld id="{EC9F2FF9-7843-4B4C-A9D6-4B5221DFB94B}"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3" name="灯片编号占位符 2"/>
          <p:cNvSpPr>
            <a:spLocks noGrp="1"/>
          </p:cNvSpPr>
          <p:nvPr>
            <p:ph type="sldNum" sz="quarter" idx="12"/>
          </p:nvPr>
        </p:nvSpPr>
        <p:spPr/>
        <p:txBody>
          <a:bodyPr/>
          <a:lstStyle/>
          <a:p>
            <a:pPr>
              <a:defRPr/>
            </a:pPr>
            <a:fld id="{0519FDB0-D360-4966-A01C-1D1C6BB19AF3}" type="slidenum">
              <a:rPr lang="zh-CN" altLang="en-US" b="1" smtClean="0">
                <a:solidFill>
                  <a:prstClr val="black">
                    <a:tint val="75000"/>
                  </a:prstClr>
                </a:solidFill>
              </a:rPr>
            </a:fld>
            <a:endParaRPr lang="zh-CN" altLang="en-US" b="1" dirty="0" smtClean="0">
              <a:solidFill>
                <a:prstClr val="black">
                  <a:tint val="75000"/>
                </a:prstClr>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2" presetClass="entr" presetSubtype="8"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p:tgtEl>
                                          <p:spTgt spid="14"/>
                                        </p:tgtEl>
                                        <p:attrNameLst>
                                          <p:attrName>ppt_x</p:attrName>
                                        </p:attrNameLst>
                                      </p:cBhvr>
                                      <p:tavLst>
                                        <p:tav tm="0">
                                          <p:val>
                                            <p:strVal val="#ppt_x+#ppt_w*1.125000"/>
                                          </p:val>
                                        </p:tav>
                                        <p:tav tm="100000">
                                          <p:val>
                                            <p:strVal val="#ppt_x"/>
                                          </p:val>
                                        </p:tav>
                                      </p:tavLst>
                                    </p:anim>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down)">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grpSp>
        <p:nvGrpSpPr>
          <p:cNvPr id="5" name="组合 7"/>
          <p:cNvGrpSpPr/>
          <p:nvPr/>
        </p:nvGrpSpPr>
        <p:grpSpPr>
          <a:xfrm>
            <a:off x="108557" y="337632"/>
            <a:ext cx="3815742" cy="491607"/>
            <a:chOff x="198764" y="258545"/>
            <a:chExt cx="5086477" cy="656007"/>
          </a:xfrm>
        </p:grpSpPr>
        <p:grpSp>
          <p:nvGrpSpPr>
            <p:cNvPr id="8" name="组合 5"/>
            <p:cNvGrpSpPr/>
            <p:nvPr/>
          </p:nvGrpSpPr>
          <p:grpSpPr>
            <a:xfrm>
              <a:off x="198764" y="258545"/>
              <a:ext cx="700083" cy="563491"/>
              <a:chOff x="5075564" y="2933562"/>
              <a:chExt cx="2860947" cy="2302753"/>
            </a:xfrm>
          </p:grpSpPr>
          <p:sp>
            <p:nvSpPr>
              <p:cNvPr id="9" name="等腰三角形 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1" name="等腰三角形 10"/>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3" name="文本框 6"/>
            <p:cNvSpPr txBox="1"/>
            <p:nvPr/>
          </p:nvSpPr>
          <p:spPr>
            <a:xfrm>
              <a:off x="988289" y="300221"/>
              <a:ext cx="429695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3.6 </a:t>
              </a:r>
              <a:r>
                <a:rPr lang="zh-CN" altLang="en-US" sz="2400" b="1" dirty="0">
                  <a:solidFill>
                    <a:srgbClr val="000000"/>
                  </a:solidFill>
                  <a:latin typeface="微软雅黑" panose="020B0503020204020204" pitchFamily="34" charset="-122"/>
                  <a:ea typeface="微软雅黑" panose="020B0503020204020204" pitchFamily="34" charset="-122"/>
                </a:rPr>
                <a:t>创建数据字典</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4"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）数据字典的组成</a:t>
            </a:r>
            <a:endParaRPr lang="zh-CN" altLang="en-US" sz="2400" b="1" kern="0" dirty="0">
              <a:latin typeface="宋体" panose="02010600030101010101" pitchFamily="2" charset="-122"/>
              <a:sym typeface="宋体" panose="02010600030101010101" pitchFamily="2" charset="-122"/>
            </a:endParaRPr>
          </a:p>
        </p:txBody>
      </p:sp>
      <p:graphicFrame>
        <p:nvGraphicFramePr>
          <p:cNvPr id="2" name="表格 1"/>
          <p:cNvGraphicFramePr>
            <a:graphicFrameLocks noGrp="1"/>
          </p:cNvGraphicFramePr>
          <p:nvPr>
            <p:custDataLst>
              <p:tags r:id="rId2"/>
            </p:custDataLst>
          </p:nvPr>
        </p:nvGraphicFramePr>
        <p:xfrm>
          <a:off x="186944" y="1487487"/>
          <a:ext cx="11605365" cy="4813092"/>
        </p:xfrm>
        <a:graphic>
          <a:graphicData uri="http://schemas.openxmlformats.org/drawingml/2006/table">
            <a:tbl>
              <a:tblPr firstRow="1" bandRow="1">
                <a:tableStyleId>{5C22544A-7EE6-4342-B048-85BDC9FD1C3A}</a:tableStyleId>
              </a:tblPr>
              <a:tblGrid>
                <a:gridCol w="1755781"/>
                <a:gridCol w="2635842"/>
                <a:gridCol w="2866029"/>
                <a:gridCol w="1181819"/>
                <a:gridCol w="3165894"/>
              </a:tblGrid>
              <a:tr h="516640">
                <a:tc>
                  <a:txBody>
                    <a:bodyPr/>
                    <a:lstStyle/>
                    <a:p>
                      <a:pPr algn="ctr" fontAlgn="ctr"/>
                      <a:r>
                        <a:rPr lang="zh-CN" altLang="en-US" sz="2000" b="1" u="none" strike="noStrike" dirty="0">
                          <a:effectLst/>
                          <a:latin typeface="+mj-ea"/>
                          <a:ea typeface="+mj-ea"/>
                        </a:rPr>
                        <a:t>数据元素</a:t>
                      </a:r>
                      <a:endParaRPr lang="zh-CN" altLang="en-US" sz="2000" b="1" i="0" u="none" strike="noStrike" dirty="0">
                        <a:solidFill>
                          <a:srgbClr val="000000"/>
                        </a:solidFill>
                        <a:effectLst/>
                        <a:latin typeface="+mj-ea"/>
                        <a:ea typeface="+mj-ea"/>
                      </a:endParaRPr>
                    </a:p>
                  </a:txBody>
                  <a:tcPr marL="4533" marR="4533" marT="4533" marB="0" anchor="ctr"/>
                </a:tc>
                <a:tc>
                  <a:txBody>
                    <a:bodyPr/>
                    <a:lstStyle/>
                    <a:p>
                      <a:pPr algn="ctr" fontAlgn="ctr"/>
                      <a:r>
                        <a:rPr lang="zh-CN" altLang="en-US" sz="2000" b="1" u="none" strike="noStrike" dirty="0">
                          <a:effectLst/>
                          <a:latin typeface="+mj-ea"/>
                          <a:ea typeface="+mj-ea"/>
                        </a:rPr>
                        <a:t>描述</a:t>
                      </a:r>
                      <a:endParaRPr lang="zh-CN" altLang="en-US" sz="2000" b="1" i="0" u="none" strike="noStrike" dirty="0">
                        <a:solidFill>
                          <a:srgbClr val="000000"/>
                        </a:solidFill>
                        <a:effectLst/>
                        <a:latin typeface="+mj-ea"/>
                        <a:ea typeface="+mj-ea"/>
                      </a:endParaRPr>
                    </a:p>
                  </a:txBody>
                  <a:tcPr marL="4533" marR="4533" marT="4533" marB="0" anchor="ctr"/>
                </a:tc>
                <a:tc>
                  <a:txBody>
                    <a:bodyPr/>
                    <a:lstStyle/>
                    <a:p>
                      <a:pPr algn="ctr" fontAlgn="ctr"/>
                      <a:r>
                        <a:rPr lang="zh-CN" altLang="en-US" sz="2000" b="1" u="none" strike="noStrike" dirty="0">
                          <a:effectLst/>
                          <a:latin typeface="+mj-ea"/>
                          <a:ea typeface="+mj-ea"/>
                        </a:rPr>
                        <a:t>数据构成或者数据类型</a:t>
                      </a:r>
                      <a:endParaRPr lang="zh-CN" altLang="en-US" sz="2000" b="1" i="0" u="none" strike="noStrike" dirty="0">
                        <a:solidFill>
                          <a:srgbClr val="000000"/>
                        </a:solidFill>
                        <a:effectLst/>
                        <a:latin typeface="+mj-ea"/>
                        <a:ea typeface="+mj-ea"/>
                      </a:endParaRPr>
                    </a:p>
                  </a:txBody>
                  <a:tcPr marL="4533" marR="4533" marT="4533" marB="0" anchor="ctr"/>
                </a:tc>
                <a:tc>
                  <a:txBody>
                    <a:bodyPr/>
                    <a:lstStyle/>
                    <a:p>
                      <a:pPr algn="ctr" fontAlgn="ctr"/>
                      <a:r>
                        <a:rPr lang="zh-CN" altLang="en-US" sz="2000" b="1" u="none" strike="noStrike" dirty="0">
                          <a:effectLst/>
                          <a:latin typeface="+mj-ea"/>
                          <a:ea typeface="+mj-ea"/>
                        </a:rPr>
                        <a:t>数据长度</a:t>
                      </a:r>
                      <a:endParaRPr lang="zh-CN" altLang="en-US" sz="2000" b="1" i="0" u="none" strike="noStrike" dirty="0">
                        <a:solidFill>
                          <a:srgbClr val="000000"/>
                        </a:solidFill>
                        <a:effectLst/>
                        <a:latin typeface="+mj-ea"/>
                        <a:ea typeface="+mj-ea"/>
                      </a:endParaRPr>
                    </a:p>
                  </a:txBody>
                  <a:tcPr marL="4533" marR="4533" marT="4533" marB="0" anchor="ctr"/>
                </a:tc>
                <a:tc>
                  <a:txBody>
                    <a:bodyPr/>
                    <a:lstStyle/>
                    <a:p>
                      <a:pPr algn="ctr" fontAlgn="ctr"/>
                      <a:r>
                        <a:rPr lang="zh-CN" altLang="en-US" sz="2000" b="1" u="none" strike="noStrike" dirty="0">
                          <a:effectLst/>
                          <a:latin typeface="+mj-ea"/>
                          <a:ea typeface="+mj-ea"/>
                        </a:rPr>
                        <a:t>数据取值</a:t>
                      </a:r>
                      <a:endParaRPr lang="zh-CN" altLang="en-US" sz="2000" b="1" i="0" u="none" strike="noStrike" dirty="0">
                        <a:solidFill>
                          <a:srgbClr val="000000"/>
                        </a:solidFill>
                        <a:effectLst/>
                        <a:latin typeface="+mj-ea"/>
                        <a:ea typeface="+mj-ea"/>
                      </a:endParaRPr>
                    </a:p>
                  </a:txBody>
                  <a:tcPr marL="4533" marR="4533" marT="4533" marB="0" anchor="ctr"/>
                </a:tc>
              </a:tr>
              <a:tr h="537590">
                <a:tc>
                  <a:txBody>
                    <a:bodyPr/>
                    <a:lstStyle/>
                    <a:p>
                      <a:pPr algn="ctr" fontAlgn="ctr"/>
                      <a:r>
                        <a:rPr lang="zh-CN" altLang="en-US" sz="2000" b="1" u="none" strike="noStrike" kern="1200" dirty="0">
                          <a:solidFill>
                            <a:schemeClr val="dk1"/>
                          </a:solidFill>
                          <a:effectLst/>
                          <a:latin typeface="+mj-ea"/>
                          <a:ea typeface="+mj-ea"/>
                          <a:cs typeface="+mn-cs"/>
                        </a:rPr>
                        <a:t>申请 </a:t>
                      </a:r>
                      <a:r>
                        <a:rPr lang="en-US" sz="2000" b="1" u="none" strike="noStrike" kern="1200" dirty="0">
                          <a:solidFill>
                            <a:schemeClr val="dk1"/>
                          </a:solidFill>
                          <a:effectLst/>
                          <a:latin typeface="+mj-ea"/>
                          <a:ea typeface="+mj-ea"/>
                          <a:cs typeface="+mn-cs"/>
                        </a:rPr>
                        <a:t>ID</a:t>
                      </a:r>
                      <a:endParaRPr lang="en-US" sz="2000" b="1" u="none" strike="noStrike" kern="1200" dirty="0">
                        <a:solidFill>
                          <a:schemeClr val="dk1"/>
                        </a:solidFill>
                        <a:effectLst/>
                        <a:latin typeface="+mj-ea"/>
                        <a:ea typeface="+mj-ea"/>
                        <a:cs typeface="+mn-cs"/>
                      </a:endParaRPr>
                    </a:p>
                  </a:txBody>
                  <a:tcPr marL="4533" marR="4533" marT="4533" marB="0" anchor="ctr"/>
                </a:tc>
                <a:tc>
                  <a:txBody>
                    <a:bodyPr/>
                    <a:lstStyle/>
                    <a:p>
                      <a:pPr algn="ctr" fontAlgn="ctr"/>
                      <a:r>
                        <a:rPr lang="zh-CN" altLang="en-US" sz="2000" b="1" u="none" strike="noStrike" dirty="0">
                          <a:effectLst/>
                          <a:latin typeface="+mj-ea"/>
                          <a:ea typeface="+mj-ea"/>
                        </a:rPr>
                        <a:t>每个申请的唯一标识</a:t>
                      </a:r>
                      <a:endParaRPr lang="zh-CN" altLang="en-US" sz="2000" b="1" i="0" u="none" strike="noStrike" dirty="0">
                        <a:solidFill>
                          <a:srgbClr val="000000"/>
                        </a:solidFill>
                        <a:effectLst/>
                        <a:latin typeface="+mj-ea"/>
                        <a:ea typeface="+mj-ea"/>
                      </a:endParaRPr>
                    </a:p>
                  </a:txBody>
                  <a:tcPr marL="4533" marR="4533" marT="4533" marB="0" anchor="ctr"/>
                </a:tc>
                <a:tc>
                  <a:txBody>
                    <a:bodyPr/>
                    <a:lstStyle/>
                    <a:p>
                      <a:pPr algn="ctr" fontAlgn="ctr"/>
                      <a:r>
                        <a:rPr lang="zh-CN" altLang="en-US" sz="2000" b="1" u="none" strike="noStrike" dirty="0">
                          <a:effectLst/>
                          <a:latin typeface="+mj-ea"/>
                          <a:ea typeface="+mj-ea"/>
                        </a:rPr>
                        <a:t>整数</a:t>
                      </a:r>
                      <a:endParaRPr lang="zh-CN" altLang="en-US" sz="2000" b="1" i="0" u="none" strike="noStrike" dirty="0">
                        <a:solidFill>
                          <a:srgbClr val="000000"/>
                        </a:solidFill>
                        <a:effectLst/>
                        <a:latin typeface="+mj-ea"/>
                        <a:ea typeface="+mj-ea"/>
                      </a:endParaRPr>
                    </a:p>
                  </a:txBody>
                  <a:tcPr marL="4533" marR="4533" marT="4533" marB="0" anchor="ctr"/>
                </a:tc>
                <a:tc>
                  <a:txBody>
                    <a:bodyPr/>
                    <a:lstStyle/>
                    <a:p>
                      <a:pPr algn="ctr" fontAlgn="ctr"/>
                      <a:r>
                        <a:rPr lang="en-US" altLang="zh-CN" sz="2000" b="1" u="none" strike="noStrike" dirty="0">
                          <a:effectLst/>
                          <a:latin typeface="+mj-ea"/>
                          <a:ea typeface="+mj-ea"/>
                        </a:rPr>
                        <a:t>8</a:t>
                      </a:r>
                      <a:endParaRPr lang="en-US" altLang="zh-CN" sz="2000" b="1" i="0" u="none" strike="noStrike" dirty="0">
                        <a:solidFill>
                          <a:srgbClr val="000000"/>
                        </a:solidFill>
                        <a:effectLst/>
                        <a:latin typeface="+mj-ea"/>
                        <a:ea typeface="+mj-ea"/>
                      </a:endParaRPr>
                    </a:p>
                  </a:txBody>
                  <a:tcPr marL="4533" marR="4533" marT="4533" marB="0" anchor="ctr"/>
                </a:tc>
                <a:tc>
                  <a:txBody>
                    <a:bodyPr/>
                    <a:lstStyle/>
                    <a:p>
                      <a:pPr marL="0" algn="ctr" defTabSz="914400" rtl="0" eaLnBrk="1" fontAlgn="ctr" latinLnBrk="0" hangingPunct="1"/>
                      <a:r>
                        <a:rPr lang="zh-CN" altLang="en-US" sz="2000" b="1" u="none" strike="noStrike" kern="1200" dirty="0">
                          <a:solidFill>
                            <a:schemeClr val="dk1"/>
                          </a:solidFill>
                          <a:effectLst/>
                          <a:latin typeface="+mj-ea"/>
                          <a:ea typeface="+mj-ea"/>
                          <a:cs typeface="+mn-cs"/>
                        </a:rPr>
                        <a:t>系统生成的序列号，是一个以</a:t>
                      </a:r>
                      <a:r>
                        <a:rPr lang="en-US" altLang="zh-CN" sz="2000" b="1" u="none" strike="noStrike" kern="1200" dirty="0">
                          <a:solidFill>
                            <a:schemeClr val="dk1"/>
                          </a:solidFill>
                          <a:effectLst/>
                          <a:latin typeface="+mj-ea"/>
                          <a:ea typeface="+mj-ea"/>
                          <a:cs typeface="+mn-cs"/>
                        </a:rPr>
                        <a:t>1 </a:t>
                      </a:r>
                      <a:r>
                        <a:rPr lang="zh-CN" altLang="en-US" sz="2000" b="1" u="none" strike="noStrike" kern="1200" dirty="0">
                          <a:solidFill>
                            <a:schemeClr val="dk1"/>
                          </a:solidFill>
                          <a:effectLst/>
                          <a:latin typeface="+mj-ea"/>
                          <a:ea typeface="+mj-ea"/>
                          <a:cs typeface="+mn-cs"/>
                        </a:rPr>
                        <a:t>开头的整数</a:t>
                      </a:r>
                      <a:endParaRPr lang="zh-CN" altLang="en-US" sz="2000" b="1" u="none" strike="noStrike" kern="1200" dirty="0">
                        <a:solidFill>
                          <a:schemeClr val="dk1"/>
                        </a:solidFill>
                        <a:effectLst/>
                        <a:latin typeface="+mj-ea"/>
                        <a:ea typeface="+mj-ea"/>
                        <a:cs typeface="+mn-cs"/>
                      </a:endParaRPr>
                    </a:p>
                  </a:txBody>
                  <a:tcPr marL="4533" marR="4533" marT="4533" marB="0" anchor="ctr"/>
                </a:tc>
              </a:tr>
              <a:tr h="1603961">
                <a:tc>
                  <a:txBody>
                    <a:bodyPr/>
                    <a:lstStyle/>
                    <a:p>
                      <a:pPr marL="0" algn="ctr" defTabSz="914400" rtl="0" eaLnBrk="1" fontAlgn="ctr" latinLnBrk="0" hangingPunct="1"/>
                      <a:r>
                        <a:rPr lang="zh-CN" altLang="en-US" sz="2000" b="1" u="none" strike="noStrike" kern="1200" dirty="0">
                          <a:solidFill>
                            <a:schemeClr val="dk1"/>
                          </a:solidFill>
                          <a:effectLst/>
                          <a:latin typeface="+mj-ea"/>
                          <a:ea typeface="+mj-ea"/>
                          <a:cs typeface="+mn-cs"/>
                        </a:rPr>
                        <a:t>申请的化学品</a:t>
                      </a:r>
                      <a:endParaRPr lang="zh-CN" altLang="en-US" sz="2000" b="1" u="none" strike="noStrike" kern="1200" dirty="0">
                        <a:solidFill>
                          <a:schemeClr val="dk1"/>
                        </a:solidFill>
                        <a:effectLst/>
                        <a:latin typeface="+mj-ea"/>
                        <a:ea typeface="+mj-ea"/>
                        <a:cs typeface="+mn-cs"/>
                      </a:endParaRPr>
                    </a:p>
                  </a:txBody>
                  <a:tcPr marL="4533" marR="4533" marT="4533" marB="0" anchor="ctr"/>
                </a:tc>
                <a:tc>
                  <a:txBody>
                    <a:bodyPr/>
                    <a:lstStyle/>
                    <a:p>
                      <a:pPr marL="0" algn="ctr" defTabSz="914400" rtl="0" eaLnBrk="1" fontAlgn="ctr" latinLnBrk="0" hangingPunct="1"/>
                      <a:r>
                        <a:rPr lang="zh-CN" altLang="en-US" sz="2000" b="1" u="none" strike="noStrike" kern="1200" dirty="0">
                          <a:solidFill>
                            <a:schemeClr val="dk1"/>
                          </a:solidFill>
                          <a:effectLst/>
                          <a:latin typeface="+mj-ea"/>
                          <a:ea typeface="+mj-ea"/>
                          <a:cs typeface="+mn-cs"/>
                        </a:rPr>
                        <a:t>申请的化学品的描述</a:t>
                      </a:r>
                      <a:endParaRPr lang="zh-CN" altLang="en-US" sz="2000" b="1" u="none" strike="noStrike" kern="1200" dirty="0">
                        <a:solidFill>
                          <a:schemeClr val="dk1"/>
                        </a:solidFill>
                        <a:effectLst/>
                        <a:latin typeface="+mj-ea"/>
                        <a:ea typeface="+mj-ea"/>
                        <a:cs typeface="+mn-cs"/>
                      </a:endParaRPr>
                    </a:p>
                  </a:txBody>
                  <a:tcPr marL="4533" marR="4533" marT="4533" marB="0" anchor="ctr"/>
                </a:tc>
                <a:tc>
                  <a:txBody>
                    <a:bodyPr/>
                    <a:lstStyle/>
                    <a:p>
                      <a:pPr marL="0" algn="ctr" defTabSz="914400" rtl="0" eaLnBrk="1" fontAlgn="ctr" latinLnBrk="0" hangingPunct="1"/>
                      <a:r>
                        <a:rPr lang="zh-CN" altLang="en-US" sz="2000" b="1" u="none" strike="noStrike" kern="1200" dirty="0">
                          <a:solidFill>
                            <a:schemeClr val="dk1"/>
                          </a:solidFill>
                          <a:effectLst/>
                          <a:latin typeface="+mj-ea"/>
                          <a:ea typeface="+mj-ea"/>
                          <a:cs typeface="+mn-cs"/>
                        </a:rPr>
                        <a:t>化学品 </a:t>
                      </a:r>
                      <a:r>
                        <a:rPr lang="en-US" altLang="zh-CN" sz="2000" b="1" u="none" strike="noStrike" kern="1200" dirty="0">
                          <a:solidFill>
                            <a:schemeClr val="dk1"/>
                          </a:solidFill>
                          <a:effectLst/>
                          <a:latin typeface="+mj-ea"/>
                          <a:ea typeface="+mj-ea"/>
                          <a:cs typeface="+mn-cs"/>
                        </a:rPr>
                        <a:t>ID</a:t>
                      </a:r>
                      <a:br>
                        <a:rPr lang="en-US" altLang="zh-CN" sz="2000" b="1" u="none" strike="noStrike" kern="1200" dirty="0">
                          <a:solidFill>
                            <a:schemeClr val="dk1"/>
                          </a:solidFill>
                          <a:effectLst/>
                          <a:latin typeface="+mj-ea"/>
                          <a:ea typeface="+mj-ea"/>
                          <a:cs typeface="+mn-cs"/>
                        </a:rPr>
                      </a:br>
                      <a:r>
                        <a:rPr lang="zh-CN" altLang="en-US" sz="2000" b="1" u="none" strike="noStrike" kern="1200" dirty="0">
                          <a:solidFill>
                            <a:schemeClr val="dk1"/>
                          </a:solidFill>
                          <a:effectLst/>
                          <a:latin typeface="+mj-ea"/>
                          <a:ea typeface="+mj-ea"/>
                          <a:cs typeface="+mn-cs"/>
                        </a:rPr>
                        <a:t>容器数量</a:t>
                      </a:r>
                      <a:br>
                        <a:rPr lang="zh-CN" altLang="en-US" sz="2000" b="1" u="none" strike="noStrike" kern="1200" dirty="0">
                          <a:solidFill>
                            <a:schemeClr val="dk1"/>
                          </a:solidFill>
                          <a:effectLst/>
                          <a:latin typeface="+mj-ea"/>
                          <a:ea typeface="+mj-ea"/>
                          <a:cs typeface="+mn-cs"/>
                        </a:rPr>
                      </a:br>
                      <a:r>
                        <a:rPr lang="zh-CN" altLang="en-US" sz="2000" b="1" u="none" strike="noStrike" kern="1200" dirty="0">
                          <a:solidFill>
                            <a:schemeClr val="dk1"/>
                          </a:solidFill>
                          <a:effectLst/>
                          <a:latin typeface="+mj-ea"/>
                          <a:ea typeface="+mj-ea"/>
                          <a:cs typeface="+mn-cs"/>
                        </a:rPr>
                        <a:t>等级</a:t>
                      </a:r>
                      <a:br>
                        <a:rPr lang="zh-CN" altLang="en-US" sz="2000" b="1" u="none" strike="noStrike" kern="1200" dirty="0">
                          <a:solidFill>
                            <a:schemeClr val="dk1"/>
                          </a:solidFill>
                          <a:effectLst/>
                          <a:latin typeface="+mj-ea"/>
                          <a:ea typeface="+mj-ea"/>
                          <a:cs typeface="+mn-cs"/>
                        </a:rPr>
                      </a:br>
                      <a:r>
                        <a:rPr lang="zh-CN" altLang="en-US" sz="2000" b="1" u="none" strike="noStrike" kern="1200" dirty="0">
                          <a:solidFill>
                            <a:schemeClr val="dk1"/>
                          </a:solidFill>
                          <a:effectLst/>
                          <a:latin typeface="+mj-ea"/>
                          <a:ea typeface="+mj-ea"/>
                          <a:cs typeface="+mn-cs"/>
                        </a:rPr>
                        <a:t>重量</a:t>
                      </a:r>
                      <a:br>
                        <a:rPr lang="zh-CN" altLang="en-US" sz="2000" b="1" u="none" strike="noStrike" kern="1200" dirty="0">
                          <a:solidFill>
                            <a:schemeClr val="dk1"/>
                          </a:solidFill>
                          <a:effectLst/>
                          <a:latin typeface="+mj-ea"/>
                          <a:ea typeface="+mj-ea"/>
                          <a:cs typeface="+mn-cs"/>
                        </a:rPr>
                      </a:br>
                      <a:r>
                        <a:rPr lang="zh-CN" altLang="en-US" sz="2000" b="1" u="none" strike="noStrike" kern="1200" dirty="0">
                          <a:solidFill>
                            <a:schemeClr val="dk1"/>
                          </a:solidFill>
                          <a:effectLst/>
                          <a:latin typeface="+mj-ea"/>
                          <a:ea typeface="+mj-ea"/>
                          <a:cs typeface="+mn-cs"/>
                        </a:rPr>
                        <a:t>计量单位</a:t>
                      </a:r>
                      <a:br>
                        <a:rPr lang="zh-CN" altLang="en-US" sz="2000" b="1" u="none" strike="noStrike" kern="1200" dirty="0">
                          <a:solidFill>
                            <a:schemeClr val="dk1"/>
                          </a:solidFill>
                          <a:effectLst/>
                          <a:latin typeface="+mj-ea"/>
                          <a:ea typeface="+mj-ea"/>
                          <a:cs typeface="+mn-cs"/>
                        </a:rPr>
                      </a:br>
                      <a:r>
                        <a:rPr lang="zh-CN" altLang="en-US" sz="2000" b="1" u="none" strike="noStrike" kern="1200" dirty="0">
                          <a:solidFill>
                            <a:schemeClr val="dk1"/>
                          </a:solidFill>
                          <a:effectLst/>
                          <a:latin typeface="+mj-ea"/>
                          <a:ea typeface="+mj-ea"/>
                          <a:cs typeface="+mn-cs"/>
                        </a:rPr>
                        <a:t>（供应商）</a:t>
                      </a:r>
                      <a:endParaRPr lang="zh-CN" altLang="en-US" sz="2000" b="1" u="none" strike="noStrike" kern="1200" dirty="0">
                        <a:solidFill>
                          <a:schemeClr val="dk1"/>
                        </a:solidFill>
                        <a:effectLst/>
                        <a:latin typeface="+mj-ea"/>
                        <a:ea typeface="+mj-ea"/>
                        <a:cs typeface="+mn-cs"/>
                      </a:endParaRPr>
                    </a:p>
                  </a:txBody>
                  <a:tcPr marL="4533" marR="4533" marT="4533" marB="0" anchor="ctr"/>
                </a:tc>
                <a:tc>
                  <a:txBody>
                    <a:bodyPr/>
                    <a:lstStyle/>
                    <a:p>
                      <a:pPr algn="ctr" fontAlgn="ctr"/>
                      <a:endParaRPr lang="zh-CN" altLang="en-US" sz="2000" b="1" i="0" u="none" strike="noStrike">
                        <a:solidFill>
                          <a:srgbClr val="000000"/>
                        </a:solidFill>
                        <a:effectLst/>
                        <a:latin typeface="+mj-ea"/>
                        <a:ea typeface="+mj-ea"/>
                      </a:endParaRPr>
                    </a:p>
                  </a:txBody>
                  <a:tcPr marL="4533" marR="4533" marT="4533" marB="0" anchor="ctr"/>
                </a:tc>
                <a:tc>
                  <a:txBody>
                    <a:bodyPr/>
                    <a:lstStyle/>
                    <a:p>
                      <a:pPr algn="ctr" fontAlgn="ctr"/>
                      <a:endParaRPr lang="zh-CN" altLang="en-US" sz="2000" b="1" i="0" u="none" strike="noStrike">
                        <a:solidFill>
                          <a:srgbClr val="000000"/>
                        </a:solidFill>
                        <a:effectLst/>
                        <a:latin typeface="+mj-ea"/>
                        <a:ea typeface="+mj-ea"/>
                      </a:endParaRPr>
                    </a:p>
                  </a:txBody>
                  <a:tcPr marL="4533" marR="4533" marT="4533" marB="0" anchor="ctr"/>
                </a:tc>
              </a:tr>
              <a:tr h="1070776">
                <a:tc>
                  <a:txBody>
                    <a:bodyPr/>
                    <a:lstStyle/>
                    <a:p>
                      <a:pPr marL="0" algn="ctr" defTabSz="914400" rtl="0" eaLnBrk="1" fontAlgn="ctr" latinLnBrk="0" hangingPunct="1"/>
                      <a:r>
                        <a:rPr lang="zh-CN" altLang="en-US" sz="2000" b="1" u="none" strike="noStrike" kern="1200" dirty="0">
                          <a:solidFill>
                            <a:schemeClr val="dk1"/>
                          </a:solidFill>
                          <a:effectLst/>
                          <a:latin typeface="+mj-ea"/>
                          <a:ea typeface="+mj-ea"/>
                          <a:cs typeface="+mn-cs"/>
                        </a:rPr>
                        <a:t>申请人</a:t>
                      </a:r>
                      <a:endParaRPr lang="zh-CN" altLang="en-US" sz="2000" b="1" u="none" strike="noStrike" kern="1200" dirty="0">
                        <a:solidFill>
                          <a:schemeClr val="dk1"/>
                        </a:solidFill>
                        <a:effectLst/>
                        <a:latin typeface="+mj-ea"/>
                        <a:ea typeface="+mj-ea"/>
                        <a:cs typeface="+mn-cs"/>
                      </a:endParaRPr>
                    </a:p>
                  </a:txBody>
                  <a:tcPr marL="4533" marR="4533" marT="4533" marB="0" anchor="ctr"/>
                </a:tc>
                <a:tc>
                  <a:txBody>
                    <a:bodyPr/>
                    <a:lstStyle/>
                    <a:p>
                      <a:pPr marL="0" algn="ctr" defTabSz="914400" rtl="0" eaLnBrk="1" fontAlgn="ctr" latinLnBrk="0" hangingPunct="1"/>
                      <a:r>
                        <a:rPr lang="zh-CN" altLang="en-US" sz="2000" b="1" u="none" strike="noStrike" kern="1200" dirty="0">
                          <a:solidFill>
                            <a:schemeClr val="dk1"/>
                          </a:solidFill>
                          <a:effectLst/>
                          <a:latin typeface="+mj-ea"/>
                          <a:ea typeface="+mj-ea"/>
                          <a:cs typeface="+mn-cs"/>
                        </a:rPr>
                        <a:t>提出化学品申请的申请人</a:t>
                      </a:r>
                      <a:br>
                        <a:rPr lang="zh-CN" altLang="en-US" sz="2000" b="1" u="none" strike="noStrike" kern="1200" dirty="0">
                          <a:solidFill>
                            <a:schemeClr val="dk1"/>
                          </a:solidFill>
                          <a:effectLst/>
                          <a:latin typeface="+mj-ea"/>
                          <a:ea typeface="+mj-ea"/>
                          <a:cs typeface="+mn-cs"/>
                        </a:rPr>
                      </a:br>
                      <a:r>
                        <a:rPr lang="zh-CN" altLang="en-US" sz="2000" b="1" u="none" strike="noStrike" kern="1200" dirty="0">
                          <a:solidFill>
                            <a:schemeClr val="dk1"/>
                          </a:solidFill>
                          <a:effectLst/>
                          <a:latin typeface="+mj-ea"/>
                          <a:ea typeface="+mj-ea"/>
                          <a:cs typeface="+mn-cs"/>
                        </a:rPr>
                        <a:t>个人信息</a:t>
                      </a:r>
                      <a:endParaRPr lang="zh-CN" altLang="en-US" sz="2000" b="1" u="none" strike="noStrike" kern="1200" dirty="0">
                        <a:solidFill>
                          <a:schemeClr val="dk1"/>
                        </a:solidFill>
                        <a:effectLst/>
                        <a:latin typeface="+mj-ea"/>
                        <a:ea typeface="+mj-ea"/>
                        <a:cs typeface="+mn-cs"/>
                      </a:endParaRPr>
                    </a:p>
                  </a:txBody>
                  <a:tcPr marL="4533" marR="4533" marT="4533" marB="0" anchor="ctr"/>
                </a:tc>
                <a:tc>
                  <a:txBody>
                    <a:bodyPr/>
                    <a:lstStyle/>
                    <a:p>
                      <a:pPr marL="0" algn="ctr" defTabSz="914400" rtl="0" eaLnBrk="1" fontAlgn="ctr" latinLnBrk="0" hangingPunct="1"/>
                      <a:r>
                        <a:rPr lang="zh-CN" altLang="en-US" sz="2000" b="1" u="none" strike="noStrike" kern="1200" dirty="0">
                          <a:solidFill>
                            <a:schemeClr val="dk1"/>
                          </a:solidFill>
                          <a:effectLst/>
                          <a:latin typeface="+mj-ea"/>
                          <a:ea typeface="+mj-ea"/>
                          <a:cs typeface="+mn-cs"/>
                        </a:rPr>
                        <a:t>申请人姓名</a:t>
                      </a:r>
                      <a:br>
                        <a:rPr lang="zh-CN" altLang="en-US" sz="2000" b="1" u="none" strike="noStrike" kern="1200" dirty="0">
                          <a:solidFill>
                            <a:schemeClr val="dk1"/>
                          </a:solidFill>
                          <a:effectLst/>
                          <a:latin typeface="+mj-ea"/>
                          <a:ea typeface="+mj-ea"/>
                          <a:cs typeface="+mn-cs"/>
                        </a:rPr>
                      </a:br>
                      <a:r>
                        <a:rPr lang="zh-CN" altLang="en-US" sz="2000" b="1" u="none" strike="noStrike" kern="1200" dirty="0">
                          <a:solidFill>
                            <a:schemeClr val="dk1"/>
                          </a:solidFill>
                          <a:effectLst/>
                          <a:latin typeface="+mj-ea"/>
                          <a:ea typeface="+mj-ea"/>
                          <a:cs typeface="+mn-cs"/>
                        </a:rPr>
                        <a:t>中请人编号</a:t>
                      </a:r>
                      <a:br>
                        <a:rPr lang="zh-CN" altLang="en-US" sz="2000" b="1" u="none" strike="noStrike" kern="1200" dirty="0">
                          <a:solidFill>
                            <a:schemeClr val="dk1"/>
                          </a:solidFill>
                          <a:effectLst/>
                          <a:latin typeface="+mj-ea"/>
                          <a:ea typeface="+mj-ea"/>
                          <a:cs typeface="+mn-cs"/>
                        </a:rPr>
                      </a:br>
                      <a:r>
                        <a:rPr lang="zh-CN" altLang="en-US" sz="2000" b="1" u="none" strike="noStrike" kern="1200" dirty="0">
                          <a:solidFill>
                            <a:schemeClr val="dk1"/>
                          </a:solidFill>
                          <a:effectLst/>
                          <a:latin typeface="+mj-ea"/>
                          <a:ea typeface="+mj-ea"/>
                          <a:cs typeface="+mn-cs"/>
                        </a:rPr>
                        <a:t>部门</a:t>
                      </a:r>
                      <a:br>
                        <a:rPr lang="zh-CN" altLang="en-US" sz="2000" b="1" u="none" strike="noStrike" kern="1200" dirty="0">
                          <a:solidFill>
                            <a:schemeClr val="dk1"/>
                          </a:solidFill>
                          <a:effectLst/>
                          <a:latin typeface="+mj-ea"/>
                          <a:ea typeface="+mj-ea"/>
                          <a:cs typeface="+mn-cs"/>
                        </a:rPr>
                      </a:br>
                      <a:r>
                        <a:rPr lang="zh-CN" altLang="en-US" sz="2000" b="1" u="none" strike="noStrike" kern="1200" dirty="0">
                          <a:solidFill>
                            <a:schemeClr val="dk1"/>
                          </a:solidFill>
                          <a:effectLst/>
                          <a:latin typeface="+mj-ea"/>
                          <a:ea typeface="+mj-ea"/>
                          <a:cs typeface="+mn-cs"/>
                        </a:rPr>
                        <a:t>发送地址</a:t>
                      </a:r>
                      <a:endParaRPr lang="zh-CN" altLang="en-US" sz="2000" b="1" u="none" strike="noStrike" kern="1200" dirty="0">
                        <a:solidFill>
                          <a:schemeClr val="dk1"/>
                        </a:solidFill>
                        <a:effectLst/>
                        <a:latin typeface="+mj-ea"/>
                        <a:ea typeface="+mj-ea"/>
                        <a:cs typeface="+mn-cs"/>
                      </a:endParaRPr>
                    </a:p>
                  </a:txBody>
                  <a:tcPr marL="4533" marR="4533" marT="4533" marB="0" anchor="ctr"/>
                </a:tc>
                <a:tc>
                  <a:txBody>
                    <a:bodyPr/>
                    <a:lstStyle/>
                    <a:p>
                      <a:pPr algn="ctr" fontAlgn="ctr"/>
                      <a:endParaRPr lang="zh-CN" altLang="en-US" sz="2000" b="1" i="0" u="none" strike="noStrike">
                        <a:solidFill>
                          <a:srgbClr val="000000"/>
                        </a:solidFill>
                        <a:effectLst/>
                        <a:latin typeface="+mj-ea"/>
                        <a:ea typeface="+mj-ea"/>
                      </a:endParaRPr>
                    </a:p>
                  </a:txBody>
                  <a:tcPr marL="4533" marR="4533" marT="4533" marB="0" anchor="ctr"/>
                </a:tc>
                <a:tc>
                  <a:txBody>
                    <a:bodyPr/>
                    <a:lstStyle/>
                    <a:p>
                      <a:pPr algn="ctr" fontAlgn="ctr"/>
                      <a:endParaRPr lang="zh-CN" altLang="en-US" sz="2000" b="1" i="0" u="none" strike="noStrike">
                        <a:solidFill>
                          <a:srgbClr val="000000"/>
                        </a:solidFill>
                        <a:effectLst/>
                        <a:latin typeface="+mj-ea"/>
                        <a:ea typeface="+mj-ea"/>
                      </a:endParaRPr>
                    </a:p>
                  </a:txBody>
                  <a:tcPr marL="4533" marR="4533" marT="4533" marB="0" anchor="ctr"/>
                </a:tc>
              </a:tr>
              <a:tr h="625253">
                <a:tc>
                  <a:txBody>
                    <a:bodyPr/>
                    <a:lstStyle/>
                    <a:p>
                      <a:pPr marL="0" algn="ctr" defTabSz="914400" rtl="0" eaLnBrk="1" fontAlgn="ctr" latinLnBrk="0" hangingPunct="1"/>
                      <a:r>
                        <a:rPr lang="zh-CN" altLang="en-US" sz="2000" b="1" u="none" strike="noStrike" kern="1200" dirty="0">
                          <a:solidFill>
                            <a:schemeClr val="dk1"/>
                          </a:solidFill>
                          <a:effectLst/>
                          <a:latin typeface="+mj-ea"/>
                          <a:ea typeface="+mj-ea"/>
                          <a:cs typeface="+mn-cs"/>
                        </a:rPr>
                        <a:t>申请人姓名</a:t>
                      </a:r>
                      <a:endParaRPr lang="zh-CN" altLang="en-US" sz="2000" b="1" u="none" strike="noStrike" kern="1200" dirty="0">
                        <a:solidFill>
                          <a:schemeClr val="dk1"/>
                        </a:solidFill>
                        <a:effectLst/>
                        <a:latin typeface="+mj-ea"/>
                        <a:ea typeface="+mj-ea"/>
                        <a:cs typeface="+mn-cs"/>
                      </a:endParaRPr>
                    </a:p>
                  </a:txBody>
                  <a:tcPr marL="4533" marR="4533" marT="4533" marB="0" anchor="ctr"/>
                </a:tc>
                <a:tc>
                  <a:txBody>
                    <a:bodyPr/>
                    <a:lstStyle/>
                    <a:p>
                      <a:pPr marL="0" algn="ctr" defTabSz="914400" rtl="0" eaLnBrk="1" fontAlgn="ctr" latinLnBrk="0" hangingPunct="1"/>
                      <a:r>
                        <a:rPr lang="zh-CN" altLang="en-US" sz="2000" b="1" u="none" strike="noStrike" kern="1200" dirty="0">
                          <a:solidFill>
                            <a:schemeClr val="dk1"/>
                          </a:solidFill>
                          <a:effectLst/>
                          <a:latin typeface="+mj-ea"/>
                          <a:ea typeface="+mj-ea"/>
                          <a:cs typeface="+mn-cs"/>
                        </a:rPr>
                        <a:t>申请人的姓名</a:t>
                      </a:r>
                      <a:endParaRPr lang="zh-CN" altLang="en-US" sz="2000" b="1" u="none" strike="noStrike" kern="1200" dirty="0">
                        <a:solidFill>
                          <a:schemeClr val="dk1"/>
                        </a:solidFill>
                        <a:effectLst/>
                        <a:latin typeface="+mj-ea"/>
                        <a:ea typeface="+mj-ea"/>
                        <a:cs typeface="+mn-cs"/>
                      </a:endParaRPr>
                    </a:p>
                  </a:txBody>
                  <a:tcPr marL="4533" marR="4533" marT="4533" marB="0" anchor="ctr"/>
                </a:tc>
                <a:tc>
                  <a:txBody>
                    <a:bodyPr/>
                    <a:lstStyle/>
                    <a:p>
                      <a:pPr marL="0" algn="ctr" defTabSz="914400" rtl="0" eaLnBrk="1" fontAlgn="ctr" latinLnBrk="0" hangingPunct="1"/>
                      <a:r>
                        <a:rPr lang="zh-CN" altLang="en-US" sz="2000" b="1" u="none" strike="noStrike" kern="1200" dirty="0">
                          <a:solidFill>
                            <a:schemeClr val="dk1"/>
                          </a:solidFill>
                          <a:effectLst/>
                          <a:latin typeface="+mj-ea"/>
                          <a:ea typeface="+mj-ea"/>
                          <a:cs typeface="+mn-cs"/>
                        </a:rPr>
                        <a:t>字母表示的字符串</a:t>
                      </a:r>
                      <a:endParaRPr lang="zh-CN" altLang="en-US" sz="2000" b="1" u="none" strike="noStrike" kern="1200" dirty="0">
                        <a:solidFill>
                          <a:schemeClr val="dk1"/>
                        </a:solidFill>
                        <a:effectLst/>
                        <a:latin typeface="+mj-ea"/>
                        <a:ea typeface="+mj-ea"/>
                        <a:cs typeface="+mn-cs"/>
                      </a:endParaRPr>
                    </a:p>
                  </a:txBody>
                  <a:tcPr marL="4533" marR="4533" marT="4533" marB="0" anchor="ctr"/>
                </a:tc>
                <a:tc>
                  <a:txBody>
                    <a:bodyPr/>
                    <a:lstStyle/>
                    <a:p>
                      <a:pPr marL="0" algn="ctr" defTabSz="914400" rtl="0" eaLnBrk="1" fontAlgn="ctr" latinLnBrk="0" hangingPunct="1"/>
                      <a:r>
                        <a:rPr lang="en-US" altLang="zh-CN" sz="2000" b="1" u="none" strike="noStrike" kern="1200" dirty="0">
                          <a:solidFill>
                            <a:schemeClr val="dk1"/>
                          </a:solidFill>
                          <a:effectLst/>
                          <a:latin typeface="+mj-ea"/>
                          <a:ea typeface="+mj-ea"/>
                          <a:cs typeface="+mn-cs"/>
                        </a:rPr>
                        <a:t>40</a:t>
                      </a:r>
                      <a:endParaRPr lang="en-US" altLang="zh-CN" sz="2000" b="1" u="none" strike="noStrike" kern="1200" dirty="0">
                        <a:solidFill>
                          <a:schemeClr val="dk1"/>
                        </a:solidFill>
                        <a:effectLst/>
                        <a:latin typeface="+mj-ea"/>
                        <a:ea typeface="+mj-ea"/>
                        <a:cs typeface="+mn-cs"/>
                      </a:endParaRPr>
                    </a:p>
                  </a:txBody>
                  <a:tcPr marL="4533" marR="4533" marT="4533" marB="0" anchor="ctr"/>
                </a:tc>
                <a:tc>
                  <a:txBody>
                    <a:bodyPr/>
                    <a:lstStyle/>
                    <a:p>
                      <a:pPr algn="ctr" fontAlgn="ctr"/>
                      <a:r>
                        <a:rPr lang="zh-CN" altLang="en-US" sz="2000" b="1" u="none" strike="noStrike" dirty="0">
                          <a:effectLst/>
                          <a:latin typeface="+mj-ea"/>
                          <a:ea typeface="+mj-ea"/>
                        </a:rPr>
                        <a:t>允许包含空格、横杠、句号、单引号</a:t>
                      </a:r>
                      <a:endParaRPr lang="zh-CN" altLang="en-US" sz="2000" b="1" i="0" u="none" strike="noStrike" dirty="0">
                        <a:solidFill>
                          <a:srgbClr val="000000"/>
                        </a:solidFill>
                        <a:effectLst/>
                        <a:latin typeface="+mj-ea"/>
                        <a:ea typeface="+mj-ea"/>
                      </a:endParaRPr>
                    </a:p>
                  </a:txBody>
                  <a:tcPr marL="4533" marR="4533" marT="4533" marB="0" anchor="ctr"/>
                </a:tc>
              </a:tr>
            </a:tbl>
          </a:graphicData>
        </a:graphic>
      </p:graphicFrame>
      <p:sp>
        <p:nvSpPr>
          <p:cNvPr id="12" name="文本框 11"/>
          <p:cNvSpPr txBox="1"/>
          <p:nvPr/>
        </p:nvSpPr>
        <p:spPr>
          <a:xfrm>
            <a:off x="3813774" y="1048643"/>
            <a:ext cx="4944110" cy="429895"/>
          </a:xfrm>
          <a:prstGeom prst="rect">
            <a:avLst/>
          </a:prstGeom>
          <a:noFill/>
        </p:spPr>
        <p:txBody>
          <a:bodyPr wrap="square" rtlCol="0">
            <a:spAutoFit/>
          </a:bodyPr>
          <a:lstStyle/>
          <a:p>
            <a:r>
              <a:rPr lang="zh-CN" altLang="en-US" sz="2200" b="1" dirty="0">
                <a:solidFill>
                  <a:srgbClr val="FF0000"/>
                </a:solidFill>
              </a:rPr>
              <a:t>化学品跟踪系统的一部分数据字典</a:t>
            </a:r>
            <a:endParaRPr lang="zh-CN" altLang="en-US" sz="2200" b="1" dirty="0">
              <a:solidFill>
                <a:srgbClr val="FF0000"/>
              </a:solidFill>
            </a:endParaRPr>
          </a:p>
        </p:txBody>
      </p:sp>
      <p:sp>
        <p:nvSpPr>
          <p:cNvPr id="3" name="日期占位符 2"/>
          <p:cNvSpPr>
            <a:spLocks noGrp="1"/>
          </p:cNvSpPr>
          <p:nvPr>
            <p:ph type="dt" sz="half" idx="10"/>
          </p:nvPr>
        </p:nvSpPr>
        <p:spPr/>
        <p:txBody>
          <a:bodyPr/>
          <a:lstStyle/>
          <a:p>
            <a:pPr>
              <a:defRPr/>
            </a:pPr>
            <a:fld id="{5EDF7ADA-076F-417E-B0E2-1B6530A91C9C}"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b="1" smtClean="0">
                <a:solidFill>
                  <a:prstClr val="black">
                    <a:tint val="75000"/>
                  </a:prstClr>
                </a:solidFill>
              </a:rPr>
            </a:fld>
            <a:endParaRPr lang="zh-CN" altLang="en-US" b="1" dirty="0" smtClean="0">
              <a:solidFill>
                <a:prstClr val="black">
                  <a:tint val="75000"/>
                </a:prstClr>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2" presetClass="entr" presetSubtype="8"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p:tgtEl>
                                          <p:spTgt spid="14"/>
                                        </p:tgtEl>
                                        <p:attrNameLst>
                                          <p:attrName>ppt_x</p:attrName>
                                        </p:attrNameLst>
                                      </p:cBhvr>
                                      <p:tavLst>
                                        <p:tav tm="0">
                                          <p:val>
                                            <p:strVal val="#ppt_x+#ppt_w*1.125000"/>
                                          </p:val>
                                        </p:tav>
                                        <p:tav tm="100000">
                                          <p:val>
                                            <p:strVal val="#ppt_x"/>
                                          </p:val>
                                        </p:tav>
                                      </p:tavLst>
                                    </p:anim>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down)">
                                      <p:cBhvr>
                                        <p:cTn id="2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7"/>
          <p:cNvGrpSpPr/>
          <p:nvPr/>
        </p:nvGrpSpPr>
        <p:grpSpPr>
          <a:xfrm>
            <a:off x="108557" y="337632"/>
            <a:ext cx="3815742" cy="491607"/>
            <a:chOff x="198764" y="258545"/>
            <a:chExt cx="5086477" cy="656007"/>
          </a:xfrm>
        </p:grpSpPr>
        <p:grpSp>
          <p:nvGrpSpPr>
            <p:cNvPr id="19" name="组合 5"/>
            <p:cNvGrpSpPr/>
            <p:nvPr/>
          </p:nvGrpSpPr>
          <p:grpSpPr>
            <a:xfrm>
              <a:off x="198764" y="258545"/>
              <a:ext cx="700083" cy="563491"/>
              <a:chOff x="5075564" y="2933562"/>
              <a:chExt cx="2860947" cy="2302753"/>
            </a:xfrm>
          </p:grpSpPr>
          <p:sp>
            <p:nvSpPr>
              <p:cNvPr id="21" name="等腰三角形 2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22" name="等腰三角形 2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20" name="文本框 6"/>
            <p:cNvSpPr txBox="1"/>
            <p:nvPr/>
          </p:nvSpPr>
          <p:spPr>
            <a:xfrm>
              <a:off x="988289" y="300221"/>
              <a:ext cx="4296952" cy="614331"/>
            </a:xfrm>
            <a:prstGeom prst="rect">
              <a:avLst/>
            </a:prstGeom>
            <a:noFill/>
            <a:ln w="9525">
              <a:noFill/>
              <a:miter/>
            </a:ln>
          </p:spPr>
          <p:txBody>
            <a:bodyPr wrap="square">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rPr>
                <a:t>作业</a:t>
              </a:r>
              <a:r>
                <a:rPr lang="zh-CN" altLang="en-US" sz="2400" b="1" dirty="0">
                  <a:solidFill>
                    <a:srgbClr val="000000"/>
                  </a:solidFill>
                  <a:latin typeface="微软雅黑" panose="020B0503020204020204" pitchFamily="34" charset="-122"/>
                  <a:ea typeface="微软雅黑" panose="020B0503020204020204" pitchFamily="34" charset="-122"/>
                </a:rPr>
                <a:t>汇总</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3" name="文本框 12"/>
          <p:cNvSpPr txBox="1"/>
          <p:nvPr/>
        </p:nvSpPr>
        <p:spPr>
          <a:xfrm>
            <a:off x="985594" y="1243907"/>
            <a:ext cx="11019047" cy="2984500"/>
          </a:xfrm>
          <a:prstGeom prst="rect">
            <a:avLst/>
          </a:prstGeom>
          <a:noFill/>
        </p:spPr>
        <p:txBody>
          <a:bodyPr wrap="square" rtlCol="0" anchor="t">
            <a:spAutoFit/>
          </a:bodyPr>
          <a:lstStyle/>
          <a:p>
            <a:pPr>
              <a:lnSpc>
                <a:spcPct val="200000"/>
              </a:lnSpc>
            </a:pPr>
            <a:r>
              <a:rPr lang="zh-CN" altLang="en-US" sz="2200" b="1" dirty="0">
                <a:latin typeface="宋体" panose="02010600030101010101" pitchFamily="2" charset="-122"/>
                <a:cs typeface="宋体" panose="02010600030101010101" pitchFamily="2" charset="-122"/>
                <a:sym typeface="+mn-ea"/>
              </a:rPr>
              <a:t>第一次作业：</a:t>
            </a:r>
            <a:endParaRPr lang="zh-CN" altLang="en-US" sz="2200" dirty="0">
              <a:latin typeface="宋体" panose="02010600030101010101" pitchFamily="2" charset="-122"/>
              <a:cs typeface="宋体" panose="02010600030101010101" pitchFamily="2" charset="-122"/>
              <a:sym typeface="+mn-ea"/>
            </a:endParaRPr>
          </a:p>
          <a:p>
            <a:pPr>
              <a:lnSpc>
                <a:spcPct val="200000"/>
              </a:lnSpc>
            </a:pPr>
            <a:r>
              <a:rPr lang="zh-CN" altLang="en-US" b="1" dirty="0">
                <a:latin typeface="+mj-ea"/>
                <a:ea typeface="+mj-ea"/>
                <a:cs typeface="+mj-ea"/>
                <a:sym typeface="+mn-ea"/>
              </a:rPr>
              <a:t>根据在软件开发项目中需求错误被发现的时间段，</a:t>
            </a:r>
            <a:r>
              <a:rPr lang="zh-CN" altLang="en-US" b="1" dirty="0">
                <a:latin typeface="+mj-ea"/>
                <a:ea typeface="+mj-ea"/>
                <a:cs typeface="+mj-ea"/>
                <a:sym typeface="+mn-ea"/>
              </a:rPr>
              <a:t>开发者可能要经受数倍的错误修复成本，如</a:t>
            </a:r>
            <a:r>
              <a:rPr lang="zh-CN" altLang="en-US" b="1" dirty="0">
                <a:latin typeface="+mj-ea"/>
                <a:ea typeface="+mj-ea"/>
                <a:cs typeface="+mj-ea"/>
                <a:sym typeface="+mn-ea"/>
              </a:rPr>
              <a:t>设计阶段的需求错误修复成本是需求阶段成本的</a:t>
            </a:r>
            <a:r>
              <a:rPr lang="en-US" altLang="x-none" b="1" dirty="0">
                <a:latin typeface="+mj-ea"/>
                <a:ea typeface="+mj-ea"/>
                <a:cs typeface="+mj-ea"/>
                <a:sym typeface="+mn-ea"/>
              </a:rPr>
              <a:t>5-10</a:t>
            </a:r>
            <a:r>
              <a:rPr lang="zh-CN" altLang="en-US" b="1" dirty="0">
                <a:latin typeface="+mj-ea"/>
                <a:ea typeface="+mj-ea"/>
                <a:cs typeface="+mj-ea"/>
                <a:sym typeface="+mn-ea"/>
              </a:rPr>
              <a:t>倍，验收阶段发现和修复需求错误的成本超过</a:t>
            </a:r>
            <a:r>
              <a:rPr lang="en-US" altLang="x-none" b="1" dirty="0">
                <a:latin typeface="+mj-ea"/>
                <a:ea typeface="+mj-ea"/>
                <a:cs typeface="+mj-ea"/>
                <a:sym typeface="+mn-ea"/>
              </a:rPr>
              <a:t>50</a:t>
            </a:r>
            <a:r>
              <a:rPr lang="zh-CN" altLang="en-US" b="1" dirty="0">
                <a:latin typeface="+mj-ea"/>
                <a:ea typeface="+mj-ea"/>
                <a:cs typeface="+mj-ea"/>
                <a:sym typeface="+mn-ea"/>
              </a:rPr>
              <a:t>倍，项目的维护阶段发现需求错误所花费的修复成本与需求阶段发现错误的修复成本的比例高达</a:t>
            </a:r>
            <a:r>
              <a:rPr lang="en-US" altLang="x-none" b="1" dirty="0">
                <a:latin typeface="+mj-ea"/>
                <a:ea typeface="+mj-ea"/>
                <a:cs typeface="+mj-ea"/>
                <a:sym typeface="+mn-ea"/>
              </a:rPr>
              <a:t>200</a:t>
            </a:r>
            <a:r>
              <a:rPr lang="zh-CN" altLang="en-US" b="1" dirty="0">
                <a:latin typeface="+mj-ea"/>
                <a:ea typeface="+mj-ea"/>
                <a:cs typeface="+mj-ea"/>
                <a:sym typeface="+mn-ea"/>
              </a:rPr>
              <a:t>：</a:t>
            </a:r>
            <a:r>
              <a:rPr lang="en-US" altLang="x-none" b="1" dirty="0">
                <a:latin typeface="+mj-ea"/>
                <a:ea typeface="+mj-ea"/>
                <a:cs typeface="+mj-ea"/>
                <a:sym typeface="+mn-ea"/>
              </a:rPr>
              <a:t>1</a:t>
            </a:r>
            <a:r>
              <a:rPr lang="zh-CN" altLang="en-US" b="1" dirty="0">
                <a:latin typeface="+mj-ea"/>
                <a:ea typeface="+mj-ea"/>
                <a:cs typeface="+mj-ea"/>
                <a:sym typeface="+mn-ea"/>
              </a:rPr>
              <a:t>（甚至更高），请分析这些成本的具体构成。</a:t>
            </a:r>
            <a:endParaRPr lang="zh-CN" altLang="en-US" sz="2200" dirty="0">
              <a:latin typeface="宋体" panose="02010600030101010101" pitchFamily="2" charset="-122"/>
              <a:ea typeface="宋体" panose="02010600030101010101" pitchFamily="2" charset="-122"/>
              <a:cs typeface="宋体" panose="02010600030101010101" pitchFamily="2" charset="-122"/>
            </a:endParaRPr>
          </a:p>
        </p:txBody>
      </p:sp>
      <p:pic>
        <p:nvPicPr>
          <p:cNvPr id="23" name="图片 22"/>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pPr>
              <a:defRPr/>
            </a:pPr>
            <a:fld id="{0A8C428F-D987-4069-952B-274722D99F6D}" type="datetime1">
              <a:rPr lang="zh-CN" altLang="en-US" smtClean="0">
                <a:solidFill>
                  <a:prstClr val="black">
                    <a:tint val="75000"/>
                  </a:prstClr>
                </a:solidFill>
              </a:rPr>
            </a:fld>
            <a:endParaRPr lang="zh-CN" altLang="en-US" dirty="0">
              <a:solidFill>
                <a:prstClr val="black">
                  <a:tint val="75000"/>
                </a:prstClr>
              </a:solidFill>
            </a:endParaRPr>
          </a:p>
        </p:txBody>
      </p:sp>
      <p:sp>
        <p:nvSpPr>
          <p:cNvPr id="7" name="灯片编号占位符 6"/>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0-#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p:cTn id="11" dur="500" fill="hold"/>
                                        <p:tgtEl>
                                          <p:spTgt spid="23"/>
                                        </p:tgtEl>
                                        <p:attrNameLst>
                                          <p:attrName>ppt_w</p:attrName>
                                        </p:attrNameLst>
                                      </p:cBhvr>
                                      <p:tavLst>
                                        <p:tav tm="0">
                                          <p:val>
                                            <p:fltVal val="0"/>
                                          </p:val>
                                        </p:tav>
                                        <p:tav tm="100000">
                                          <p:val>
                                            <p:strVal val="#ppt_w"/>
                                          </p:val>
                                        </p:tav>
                                      </p:tavLst>
                                    </p:anim>
                                    <p:anim calcmode="lin" valueType="num">
                                      <p:cBhvr>
                                        <p:cTn id="12" dur="500" fill="hold"/>
                                        <p:tgtEl>
                                          <p:spTgt spid="23"/>
                                        </p:tgtEl>
                                        <p:attrNameLst>
                                          <p:attrName>ppt_h</p:attrName>
                                        </p:attrNameLst>
                                      </p:cBhvr>
                                      <p:tavLst>
                                        <p:tav tm="0">
                                          <p:val>
                                            <p:fltVal val="0"/>
                                          </p:val>
                                        </p:tav>
                                        <p:tav tm="100000">
                                          <p:val>
                                            <p:strVal val="#ppt_h"/>
                                          </p:val>
                                        </p:tav>
                                      </p:tavLst>
                                    </p:anim>
                                    <p:animEffect transition="in" filter="fade">
                                      <p:cBhvr>
                                        <p:cTn id="13" dur="500"/>
                                        <p:tgtEl>
                                          <p:spTgt spid="23"/>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pPr>
              <a:defRPr/>
            </a:pPr>
            <a:fld id="{1453DF3E-AA1A-4A94-A59F-5052C72970BA}" type="datetime1">
              <a:rPr lang="zh-CN" altLang="en-US" smtClean="0">
                <a:solidFill>
                  <a:prstClr val="black">
                    <a:tint val="75000"/>
                  </a:prstClr>
                </a:solidFill>
              </a:rPr>
            </a:fld>
            <a:endParaRPr lang="zh-CN" altLang="en-US" dirty="0">
              <a:solidFill>
                <a:prstClr val="black">
                  <a:tint val="75000"/>
                </a:prstClr>
              </a:solidFill>
            </a:endParaRPr>
          </a:p>
        </p:txBody>
      </p:sp>
      <p:sp>
        <p:nvSpPr>
          <p:cNvPr id="5" name="灯片编号占位符 4"/>
          <p:cNvSpPr>
            <a:spLocks noGrp="1"/>
          </p:cNvSpPr>
          <p:nvPr>
            <p:ph type="sldNum" sz="quarter" idx="12"/>
          </p:nvPr>
        </p:nvSpPr>
        <p:spPr/>
        <p:txBody>
          <a:bodyPr/>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
        <p:nvSpPr>
          <p:cNvPr id="6" name="文本框 5"/>
          <p:cNvSpPr txBox="1"/>
          <p:nvPr/>
        </p:nvSpPr>
        <p:spPr>
          <a:xfrm>
            <a:off x="1718945" y="659765"/>
            <a:ext cx="8583930" cy="5539105"/>
          </a:xfrm>
          <a:prstGeom prst="rect">
            <a:avLst/>
          </a:prstGeom>
          <a:noFill/>
        </p:spPr>
        <p:txBody>
          <a:bodyPr wrap="square" rtlCol="0" anchor="t">
            <a:spAutoFit/>
          </a:bodyPr>
          <a:p>
            <a:pPr indent="0">
              <a:lnSpc>
                <a:spcPct val="150000"/>
              </a:lnSpc>
              <a:buFont typeface="+mj-lt"/>
              <a:buNone/>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sym typeface="+mn-ea"/>
              </a:rPr>
              <a:t>第二次</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sym typeface="+mn-ea"/>
              </a:rPr>
              <a:t>作业：</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342900" indent="-342900">
              <a:lnSpc>
                <a:spcPct val="150000"/>
              </a:lnSpc>
              <a:buFont typeface="+mj-lt"/>
              <a:buAutoNum type="arabicPeriod"/>
            </a:pP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什么是软件需求</a:t>
            </a:r>
            <a:r>
              <a:rPr lang="en-US" altLang="zh-CN"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简明说明它在整个软件开发过程中的作用。 </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如何去看待软件需求工程，叙述需求工程的主要任务。 </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把你在目前或以往项目中遇到的与需求有关的问题写出来。判断每个问题属于需求开发还是需求管理，分析它们对项目的影响或造成这些问题的根本原因。</a:t>
            </a:r>
            <a:endParaRPr lang="zh-CN" altLang="en-US"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什么是功能需求？</a:t>
            </a: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什么是性能需求？分别</a:t>
            </a: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举例说明。</a:t>
            </a:r>
            <a:endParaRPr lang="zh-CN" altLang="en-US"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需求工程中需要考虑到哪些约束问题？ </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不同角色的需求观是否相同？若不同的话叙述其需求观之间的差异。</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不合理的需求会派生哪些问题？</a:t>
            </a:r>
            <a:endParaRPr lang="zh-CN" altLang="en-US"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成功的需求会带来怎样的好处？</a:t>
            </a:r>
            <a:endParaRPr lang="zh-CN" altLang="en-US"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优秀需求及需求规格说明有哪些特征？</a:t>
            </a:r>
            <a:endParaRPr lang="zh-CN" altLang="en-US"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讨论项目管理中客户（</a:t>
            </a:r>
            <a:r>
              <a:rPr lang="en-US" altLang="zh-CN" b="1" dirty="0">
                <a:latin typeface="Times New Roman" panose="02020603050405020304" pitchFamily="18" charset="0"/>
                <a:ea typeface="宋体" panose="02010600030101010101" pitchFamily="2" charset="-122"/>
                <a:cs typeface="Times New Roman" panose="02020603050405020304" pitchFamily="18" charset="0"/>
                <a:sym typeface="+mn-ea"/>
              </a:rPr>
              <a:t>customer</a:t>
            </a: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）、用户（</a:t>
            </a:r>
            <a:r>
              <a:rPr lang="en-US" altLang="zh-CN" b="1" dirty="0">
                <a:latin typeface="Times New Roman" panose="02020603050405020304" pitchFamily="18" charset="0"/>
                <a:ea typeface="宋体" panose="02010600030101010101" pitchFamily="2" charset="-122"/>
                <a:cs typeface="Times New Roman" panose="02020603050405020304" pitchFamily="18" charset="0"/>
                <a:sym typeface="+mn-ea"/>
              </a:rPr>
              <a:t>user</a:t>
            </a: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）和干系人</a:t>
            </a: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（利益相关者）</a:t>
            </a: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b="1" dirty="0">
                <a:latin typeface="Times New Roman" panose="02020603050405020304" pitchFamily="18" charset="0"/>
                <a:ea typeface="宋体" panose="02010600030101010101" pitchFamily="2" charset="-122"/>
                <a:cs typeface="Times New Roman" panose="02020603050405020304" pitchFamily="18" charset="0"/>
                <a:sym typeface="+mn-ea"/>
              </a:rPr>
              <a:t>stakeholder)</a:t>
            </a: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的概念，论述项目团队、开发组织内外的干系人组成。</a:t>
            </a:r>
            <a:endPar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pPr>
              <a:defRPr/>
            </a:pPr>
            <a:fld id="{1453DF3E-AA1A-4A94-A59F-5052C72970BA}" type="datetime1">
              <a:rPr lang="zh-CN" altLang="en-US" smtClean="0">
                <a:solidFill>
                  <a:prstClr val="black">
                    <a:tint val="75000"/>
                  </a:prstClr>
                </a:solidFill>
              </a:rPr>
            </a:fld>
            <a:endParaRPr lang="zh-CN" altLang="en-US" dirty="0">
              <a:solidFill>
                <a:prstClr val="black">
                  <a:tint val="75000"/>
                </a:prstClr>
              </a:solidFill>
            </a:endParaRPr>
          </a:p>
        </p:txBody>
      </p:sp>
      <p:sp>
        <p:nvSpPr>
          <p:cNvPr id="5" name="灯片编号占位符 4"/>
          <p:cNvSpPr>
            <a:spLocks noGrp="1"/>
          </p:cNvSpPr>
          <p:nvPr>
            <p:ph type="sldNum" sz="quarter" idx="12"/>
          </p:nvPr>
        </p:nvSpPr>
        <p:spPr/>
        <p:txBody>
          <a:bodyPr/>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
        <p:nvSpPr>
          <p:cNvPr id="6" name="文本框 5"/>
          <p:cNvSpPr txBox="1"/>
          <p:nvPr/>
        </p:nvSpPr>
        <p:spPr>
          <a:xfrm>
            <a:off x="1718945" y="659765"/>
            <a:ext cx="8583930" cy="5539105"/>
          </a:xfrm>
          <a:prstGeom prst="rect">
            <a:avLst/>
          </a:prstGeom>
          <a:noFill/>
        </p:spPr>
        <p:txBody>
          <a:bodyPr wrap="square" rtlCol="0" anchor="t">
            <a:spAutoFit/>
          </a:bodyPr>
          <a:p>
            <a:pPr indent="0">
              <a:lnSpc>
                <a:spcPct val="150000"/>
              </a:lnSpc>
              <a:buFont typeface="+mj-lt"/>
              <a:buNone/>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sym typeface="+mn-ea"/>
              </a:rPr>
              <a:t>第二次</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sym typeface="+mn-ea"/>
              </a:rPr>
              <a:t>作业：</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342900" indent="-342900">
              <a:lnSpc>
                <a:spcPct val="150000"/>
              </a:lnSpc>
              <a:buFont typeface="+mj-lt"/>
              <a:buAutoNum type="arabicPeriod"/>
            </a:pP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什么是软件需求</a:t>
            </a:r>
            <a:r>
              <a:rPr lang="en-US" altLang="zh-CN"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简明说明它在整个软件开发过程中的作用。 </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如何去看待软件需求工程，叙述需求工程的主要任务。 </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把你在目前或以往项目中遇到的与需求有关的问题写出来。判断每个问题属于需求开发还是需求管理，分析它们对项目的影响或造成这些问题的根本原因。</a:t>
            </a:r>
            <a:endParaRPr lang="zh-CN" altLang="en-US"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什么是功能需求？</a:t>
            </a: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什么是性能需求？分别</a:t>
            </a: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举例说明。</a:t>
            </a:r>
            <a:endParaRPr lang="zh-CN" altLang="en-US"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需求工程中需要考虑到哪些约束问题？ </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不同角色的需求观是否相同？若不同的话叙述其需求观之间的差异。</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不合理的需求会派生哪些问题？</a:t>
            </a:r>
            <a:endParaRPr lang="zh-CN" altLang="en-US"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成功的需求会带来怎样的好处？</a:t>
            </a:r>
            <a:endParaRPr lang="zh-CN" altLang="en-US"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优秀需求及需求规格说明有哪些特征？</a:t>
            </a:r>
            <a:endParaRPr lang="zh-CN" altLang="en-US"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讨论项目管理中客户（</a:t>
            </a:r>
            <a:r>
              <a:rPr lang="en-US" altLang="zh-CN" b="1" dirty="0">
                <a:latin typeface="Times New Roman" panose="02020603050405020304" pitchFamily="18" charset="0"/>
                <a:ea typeface="宋体" panose="02010600030101010101" pitchFamily="2" charset="-122"/>
                <a:cs typeface="Times New Roman" panose="02020603050405020304" pitchFamily="18" charset="0"/>
                <a:sym typeface="+mn-ea"/>
              </a:rPr>
              <a:t>customer</a:t>
            </a: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）、用户（</a:t>
            </a:r>
            <a:r>
              <a:rPr lang="en-US" altLang="zh-CN" b="1" dirty="0">
                <a:latin typeface="Times New Roman" panose="02020603050405020304" pitchFamily="18" charset="0"/>
                <a:ea typeface="宋体" panose="02010600030101010101" pitchFamily="2" charset="-122"/>
                <a:cs typeface="Times New Roman" panose="02020603050405020304" pitchFamily="18" charset="0"/>
                <a:sym typeface="+mn-ea"/>
              </a:rPr>
              <a:t>user</a:t>
            </a: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）和干系人</a:t>
            </a: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（利益相关者）</a:t>
            </a: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b="1" dirty="0">
                <a:latin typeface="Times New Roman" panose="02020603050405020304" pitchFamily="18" charset="0"/>
                <a:ea typeface="宋体" panose="02010600030101010101" pitchFamily="2" charset="-122"/>
                <a:cs typeface="Times New Roman" panose="02020603050405020304" pitchFamily="18" charset="0"/>
                <a:sym typeface="+mn-ea"/>
              </a:rPr>
              <a:t>stakeholder)</a:t>
            </a: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的概念，论述项目团队、开发组织内外的干系人组成。</a:t>
            </a:r>
            <a:endPar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pPr>
              <a:defRPr/>
            </a:pPr>
            <a:fld id="{1453DF3E-AA1A-4A94-A59F-5052C72970BA}" type="datetime1">
              <a:rPr lang="zh-CN" altLang="en-US" smtClean="0">
                <a:solidFill>
                  <a:prstClr val="black">
                    <a:tint val="75000"/>
                  </a:prstClr>
                </a:solidFill>
              </a:rPr>
            </a:fld>
            <a:endParaRPr lang="zh-CN" altLang="en-US" dirty="0">
              <a:solidFill>
                <a:prstClr val="black">
                  <a:tint val="75000"/>
                </a:prstClr>
              </a:solidFill>
            </a:endParaRPr>
          </a:p>
        </p:txBody>
      </p:sp>
      <p:sp>
        <p:nvSpPr>
          <p:cNvPr id="5" name="灯片编号占位符 4"/>
          <p:cNvSpPr>
            <a:spLocks noGrp="1"/>
          </p:cNvSpPr>
          <p:nvPr>
            <p:ph type="sldNum" sz="quarter" idx="12"/>
          </p:nvPr>
        </p:nvSpPr>
        <p:spPr/>
        <p:txBody>
          <a:bodyPr/>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
        <p:nvSpPr>
          <p:cNvPr id="6" name="文本框 5"/>
          <p:cNvSpPr txBox="1"/>
          <p:nvPr/>
        </p:nvSpPr>
        <p:spPr>
          <a:xfrm>
            <a:off x="1718945" y="659765"/>
            <a:ext cx="8583930" cy="1383665"/>
          </a:xfrm>
          <a:prstGeom prst="rect">
            <a:avLst/>
          </a:prstGeom>
          <a:noFill/>
        </p:spPr>
        <p:txBody>
          <a:bodyPr wrap="square" rtlCol="0" anchor="t">
            <a:spAutoFit/>
          </a:bodyPr>
          <a:p>
            <a:pPr indent="0">
              <a:lnSpc>
                <a:spcPct val="150000"/>
              </a:lnSpc>
              <a:buFont typeface="+mj-lt"/>
              <a:buNone/>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sym typeface="+mn-ea"/>
              </a:rPr>
              <a:t>第</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sym typeface="+mn-ea"/>
              </a:rPr>
              <a:t>三次</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sym typeface="+mn-ea"/>
              </a:rPr>
              <a:t>作业：</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sym typeface="+mn-ea"/>
            </a:endParaRPr>
          </a:p>
          <a:p>
            <a:pPr indent="0">
              <a:lnSpc>
                <a:spcPct val="150000"/>
              </a:lnSpc>
              <a:buFont typeface="+mj-lt"/>
              <a:buNone/>
            </a:pP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参照《</a:t>
            </a:r>
            <a:r>
              <a:rPr lang="en-US" altLang="zh-CN" b="1" dirty="0">
                <a:latin typeface="Times New Roman" panose="02020603050405020304" pitchFamily="18" charset="0"/>
                <a:ea typeface="宋体" panose="02010600030101010101" pitchFamily="2" charset="-122"/>
                <a:cs typeface="Times New Roman" panose="02020603050405020304" pitchFamily="18" charset="0"/>
                <a:sym typeface="+mn-ea"/>
              </a:rPr>
              <a:t>Software Requirements</a:t>
            </a: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（软件需求）（第三版）》附录</a:t>
            </a:r>
            <a:r>
              <a:rPr lang="en-US" altLang="zh-CN" b="1" dirty="0">
                <a:latin typeface="Times New Roman" panose="02020603050405020304" pitchFamily="18" charset="0"/>
                <a:ea typeface="宋体" panose="02010600030101010101" pitchFamily="2" charset="-122"/>
                <a:cs typeface="Times New Roman" panose="02020603050405020304" pitchFamily="18" charset="0"/>
                <a:sym typeface="+mn-ea"/>
              </a:rPr>
              <a:t>C</a:t>
            </a: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b="1" dirty="0">
                <a:latin typeface="Times New Roman" panose="02020603050405020304" pitchFamily="18" charset="0"/>
                <a:ea typeface="宋体" panose="02010600030101010101" pitchFamily="2" charset="-122"/>
                <a:cs typeface="Times New Roman" panose="02020603050405020304" pitchFamily="18" charset="0"/>
                <a:sym typeface="+mn-ea"/>
              </a:rPr>
              <a:t>507</a:t>
            </a: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页），选择一个实际项目完成其业务需求，按照</a:t>
            </a: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课程模板撰写《项目视图与范围文档》。</a:t>
            </a:r>
            <a:endPar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rcRect l="4595" r="4595"/>
          <a:stretch>
            <a:fillRect/>
          </a:stretch>
        </p:blipFill>
        <p:spPr>
          <a:xfrm>
            <a:off x="-934279" y="-68794"/>
            <a:ext cx="14108941" cy="6926794"/>
          </a:xfrm>
          <a:prstGeom prst="rect">
            <a:avLst/>
          </a:prstGeom>
        </p:spPr>
      </p:pic>
      <p:sp>
        <p:nvSpPr>
          <p:cNvPr id="3" name="矩形 2"/>
          <p:cNvSpPr/>
          <p:nvPr/>
        </p:nvSpPr>
        <p:spPr>
          <a:xfrm>
            <a:off x="-934279" y="-68795"/>
            <a:ext cx="13921458" cy="6926794"/>
          </a:xfrm>
          <a:prstGeom prst="rect">
            <a:avLst/>
          </a:prstGeom>
          <a:solidFill>
            <a:srgbClr val="5197D7">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直角三角形 10"/>
          <p:cNvSpPr>
            <a:spLocks noChangeArrowheads="1"/>
          </p:cNvSpPr>
          <p:nvPr/>
        </p:nvSpPr>
        <p:spPr bwMode="auto">
          <a:xfrm rot="10800000">
            <a:off x="6477593" y="-23813"/>
            <a:ext cx="6881813" cy="6881813"/>
          </a:xfrm>
          <a:prstGeom prst="rtTriangle">
            <a:avLst/>
          </a:prstGeom>
          <a:solidFill>
            <a:srgbClr val="5197D7">
              <a:alpha val="50000"/>
            </a:srgbClr>
          </a:solidFill>
          <a:ln>
            <a:noFill/>
          </a:ln>
        </p:spPr>
        <p:txBody>
          <a:bodyPr anchor="ctr"/>
          <a:lstStyle/>
          <a:p>
            <a:pPr algn="ctr" eaLnBrk="0" fontAlgn="base" hangingPunct="0">
              <a:spcBef>
                <a:spcPct val="0"/>
              </a:spcBef>
              <a:spcAft>
                <a:spcPct val="0"/>
              </a:spcAft>
              <a:buFont typeface="Arial" panose="020B0604020202020204" pitchFamily="34" charset="0"/>
              <a:buNone/>
            </a:pPr>
            <a:endParaRPr lang="zh-CN" altLang="zh-CN">
              <a:solidFill>
                <a:srgbClr val="FFFFFF"/>
              </a:solidFill>
              <a:latin typeface="Arial" panose="020B0604020202020204" pitchFamily="34" charset="0"/>
              <a:ea typeface="微软雅黑" panose="020B0503020204020204" pitchFamily="34" charset="-122"/>
            </a:endParaRPr>
          </a:p>
        </p:txBody>
      </p:sp>
      <p:sp>
        <p:nvSpPr>
          <p:cNvPr id="16" name="文本框 6"/>
          <p:cNvSpPr>
            <a:spLocks noChangeArrowheads="1"/>
          </p:cNvSpPr>
          <p:nvPr/>
        </p:nvSpPr>
        <p:spPr bwMode="auto">
          <a:xfrm>
            <a:off x="3520144" y="2393495"/>
            <a:ext cx="4964179" cy="2002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fontAlgn="base" hangingPunct="0">
              <a:lnSpc>
                <a:spcPct val="120000"/>
              </a:lnSpc>
              <a:spcBef>
                <a:spcPct val="0"/>
              </a:spcBef>
              <a:spcAft>
                <a:spcPct val="0"/>
              </a:spcAft>
              <a:buFont typeface="Arial" panose="020B0604020202020204" pitchFamily="34" charset="0"/>
              <a:buNone/>
            </a:pPr>
            <a:r>
              <a:rPr lang="zh-CN" altLang="en-US" sz="5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谢谢大家！</a:t>
            </a:r>
            <a:endParaRPr lang="en-US" altLang="zh-CN" sz="5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eaLnBrk="0" fontAlgn="base" hangingPunct="0">
              <a:lnSpc>
                <a:spcPct val="120000"/>
              </a:lnSpc>
              <a:spcBef>
                <a:spcPct val="0"/>
              </a:spcBef>
              <a:spcAft>
                <a:spcPct val="0"/>
              </a:spcAft>
              <a:buFont typeface="Arial" panose="020B0604020202020204" pitchFamily="34" charset="0"/>
              <a:buNone/>
            </a:pPr>
            <a:r>
              <a:rPr lang="en-US" altLang="zh-CN" sz="5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THANK YOU !</a:t>
            </a:r>
            <a:endParaRPr lang="zh-CN" altLang="en-US" sz="5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 name="等腰三角形 22"/>
          <p:cNvSpPr/>
          <p:nvPr/>
        </p:nvSpPr>
        <p:spPr>
          <a:xfrm>
            <a:off x="190028" y="5200191"/>
            <a:ext cx="2365513" cy="1831423"/>
          </a:xfrm>
          <a:prstGeom prst="triangle">
            <a:avLst>
              <a:gd name="adj" fmla="val 51111"/>
            </a:avLst>
          </a:prstGeom>
          <a:solidFill>
            <a:srgbClr val="5197D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nvSpPr>
        <p:spPr>
          <a:xfrm>
            <a:off x="1256532" y="5623200"/>
            <a:ext cx="2365513" cy="1831423"/>
          </a:xfrm>
          <a:prstGeom prst="triangle">
            <a:avLst>
              <a:gd name="adj" fmla="val 51111"/>
            </a:avLst>
          </a:prstGeom>
          <a:solidFill>
            <a:srgbClr val="5197D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接连接符 12"/>
          <p:cNvSpPr>
            <a:spLocks noChangeShapeType="1"/>
          </p:cNvSpPr>
          <p:nvPr/>
        </p:nvSpPr>
        <p:spPr bwMode="auto">
          <a:xfrm flipH="1" flipV="1">
            <a:off x="13193797" y="5161959"/>
            <a:ext cx="5003800" cy="5002749"/>
          </a:xfrm>
          <a:prstGeom prst="line">
            <a:avLst/>
          </a:prstGeom>
          <a:noFill/>
          <a:ln w="19050" cap="flat" cmpd="sng">
            <a:solidFill>
              <a:schemeClr val="bg1"/>
            </a:solidFill>
            <a:miter lim="800000"/>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4" name="文本框 6"/>
          <p:cNvSpPr>
            <a:spLocks noChangeArrowheads="1"/>
          </p:cNvSpPr>
          <p:nvPr/>
        </p:nvSpPr>
        <p:spPr bwMode="auto">
          <a:xfrm>
            <a:off x="4864631" y="5722180"/>
            <a:ext cx="2275205" cy="681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fontAlgn="base" hangingPunct="0">
              <a:lnSpc>
                <a:spcPct val="120000"/>
              </a:lnSpc>
              <a:spcBef>
                <a:spcPct val="0"/>
              </a:spcBef>
              <a:spcAft>
                <a:spcPct val="0"/>
              </a:spcAft>
              <a:buFont typeface="Arial" panose="020B0604020202020204" pitchFamily="34" charset="0"/>
              <a:buNone/>
            </a:pPr>
            <a:r>
              <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武君</a:t>
            </a:r>
            <a:r>
              <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胜</a:t>
            </a:r>
            <a:endPar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eaLnBrk="0" fontAlgn="base" hangingPunct="0">
              <a:lnSpc>
                <a:spcPct val="120000"/>
              </a:lnSpc>
              <a:spcBef>
                <a:spcPct val="0"/>
              </a:spcBef>
              <a:spcAft>
                <a:spcPct val="0"/>
              </a:spcAft>
              <a:buFont typeface="Arial" panose="020B0604020202020204" pitchFamily="34" charset="0"/>
              <a:buNone/>
            </a:pPr>
            <a:r>
              <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西北工业大学 软件学院</a:t>
            </a:r>
            <a:endParaRPr lang="en-US" altLang="zh-CN"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5" name="图片 14"/>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3622045" y="1386230"/>
            <a:ext cx="4262959" cy="1059280"/>
          </a:xfrm>
          <a:prstGeom prst="rect">
            <a:avLst/>
          </a:prstGeom>
        </p:spPr>
      </p:pic>
      <p:sp>
        <p:nvSpPr>
          <p:cNvPr id="2" name="日期占位符 1"/>
          <p:cNvSpPr>
            <a:spLocks noGrp="1"/>
          </p:cNvSpPr>
          <p:nvPr>
            <p:ph type="dt" sz="half" idx="10"/>
          </p:nvPr>
        </p:nvSpPr>
        <p:spPr/>
        <p:txBody>
          <a:bodyPr/>
          <a:lstStyle/>
          <a:p>
            <a:pPr>
              <a:defRPr/>
            </a:pPr>
            <a:fld id="{90DB9B44-D755-42B7-9484-78EC34C8F447}" type="datetime1">
              <a:rPr lang="zh-CN" altLang="en-US" smtClean="0">
                <a:solidFill>
                  <a:prstClr val="black">
                    <a:tint val="75000"/>
                  </a:prstClr>
                </a:solidFill>
              </a:rPr>
            </a:fld>
            <a:endParaRPr lang="zh-CN" altLang="en-US" dirty="0">
              <a:solidFill>
                <a:prstClr val="black">
                  <a:tint val="75000"/>
                </a:prstClr>
              </a:solidFill>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700"/>
                                        <p:tgtEl>
                                          <p:spTgt spid="17"/>
                                        </p:tgtEl>
                                      </p:cBhvr>
                                    </p:animEffect>
                                    <p:anim calcmode="lin" valueType="num">
                                      <p:cBhvr>
                                        <p:cTn id="8" dur="700" fill="hold"/>
                                        <p:tgtEl>
                                          <p:spTgt spid="17"/>
                                        </p:tgtEl>
                                        <p:attrNameLst>
                                          <p:attrName>ppt_x</p:attrName>
                                        </p:attrNameLst>
                                      </p:cBhvr>
                                      <p:tavLst>
                                        <p:tav tm="0">
                                          <p:val>
                                            <p:strVal val="#ppt_x"/>
                                          </p:val>
                                        </p:tav>
                                        <p:tav tm="100000">
                                          <p:val>
                                            <p:strVal val="#ppt_x"/>
                                          </p:val>
                                        </p:tav>
                                      </p:tavLst>
                                    </p:anim>
                                    <p:anim calcmode="lin" valueType="num">
                                      <p:cBhvr>
                                        <p:cTn id="9" dur="700" fill="hold"/>
                                        <p:tgtEl>
                                          <p:spTgt spid="17"/>
                                        </p:tgtEl>
                                        <p:attrNameLst>
                                          <p:attrName>ppt_y</p:attrName>
                                        </p:attrNameLst>
                                      </p:cBhvr>
                                      <p:tavLst>
                                        <p:tav tm="0">
                                          <p:val>
                                            <p:strVal val="#ppt_y-.1"/>
                                          </p:val>
                                        </p:tav>
                                        <p:tav tm="100000">
                                          <p:val>
                                            <p:strVal val="#ppt_y"/>
                                          </p:val>
                                        </p:tav>
                                      </p:tavLst>
                                    </p:anim>
                                  </p:childTnLst>
                                </p:cTn>
                              </p:par>
                              <p:par>
                                <p:cTn id="10" presetID="42" presetClass="path" presetSubtype="0" accel="50000" decel="50000" fill="hold" grpId="0" nodeType="withEffect">
                                  <p:stCondLst>
                                    <p:cond delay="0"/>
                                  </p:stCondLst>
                                  <p:childTnLst>
                                    <p:animMotion origin="layout" path="M 0.08503 0.15486 L -0.4112 -0.72917 " pathEditMode="relative" rAng="0" ptsTypes="AA">
                                      <p:cBhvr>
                                        <p:cTn id="11" dur="700" fill="hold"/>
                                        <p:tgtEl>
                                          <p:spTgt spid="12"/>
                                        </p:tgtEl>
                                        <p:attrNameLst>
                                          <p:attrName>ppt_x</p:attrName>
                                          <p:attrName>ppt_y</p:attrName>
                                        </p:attrNameLst>
                                      </p:cBhvr>
                                      <p:rCtr x="-24818" y="-44213"/>
                                    </p:animMotion>
                                  </p:childTnLst>
                                </p:cTn>
                              </p:par>
                            </p:childTnLst>
                          </p:cTn>
                        </p:par>
                        <p:par>
                          <p:cTn id="12" fill="hold">
                            <p:stCondLst>
                              <p:cond delay="1000"/>
                            </p:stCondLst>
                            <p:childTnLst>
                              <p:par>
                                <p:cTn id="13" presetID="41" presetClass="entr" presetSubtype="0" fill="hold" grpId="0" nodeType="afterEffect">
                                  <p:stCondLst>
                                    <p:cond delay="0"/>
                                  </p:stCondLst>
                                  <p:iterate type="lt">
                                    <p:tmPct val="10000"/>
                                  </p:iterate>
                                  <p:childTnLst>
                                    <p:set>
                                      <p:cBhvr>
                                        <p:cTn id="14" dur="1" fill="hold">
                                          <p:stCondLst>
                                            <p:cond delay="0"/>
                                          </p:stCondLst>
                                        </p:cTn>
                                        <p:tgtEl>
                                          <p:spTgt spid="16"/>
                                        </p:tgtEl>
                                        <p:attrNameLst>
                                          <p:attrName>style.visibility</p:attrName>
                                        </p:attrNameLst>
                                      </p:cBhvr>
                                      <p:to>
                                        <p:strVal val="visible"/>
                                      </p:to>
                                    </p:set>
                                    <p:anim calcmode="lin" valueType="num">
                                      <p:cBhvr>
                                        <p:cTn id="15"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16" dur="500" fill="hold"/>
                                        <p:tgtEl>
                                          <p:spTgt spid="16"/>
                                        </p:tgtEl>
                                        <p:attrNameLst>
                                          <p:attrName>ppt_y</p:attrName>
                                        </p:attrNameLst>
                                      </p:cBhvr>
                                      <p:tavLst>
                                        <p:tav tm="0">
                                          <p:val>
                                            <p:strVal val="#ppt_y"/>
                                          </p:val>
                                        </p:tav>
                                        <p:tav tm="100000">
                                          <p:val>
                                            <p:strVal val="#ppt_y"/>
                                          </p:val>
                                        </p:tav>
                                      </p:tavLst>
                                    </p:anim>
                                    <p:anim calcmode="lin" valueType="num">
                                      <p:cBhvr>
                                        <p:cTn id="17"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8" dur="500" fill="hold"/>
                                        <p:tgtEl>
                                          <p:spTgt spid="16"/>
                                        </p:tgtEl>
                                        <p:attrNameLst>
                                          <p:attrName>ppt_w</p:attrName>
                                        </p:attrNameLst>
                                      </p:cBhvr>
                                      <p:tavLst>
                                        <p:tav tm="0">
                                          <p:val>
                                            <p:strVal val="#ppt_w/10"/>
                                          </p:val>
                                        </p:tav>
                                        <p:tav tm="50000">
                                          <p:val>
                                            <p:strVal val="#ppt_w+.01"/>
                                          </p:val>
                                        </p:tav>
                                        <p:tav tm="100000">
                                          <p:val>
                                            <p:strVal val="#ppt_w"/>
                                          </p:val>
                                        </p:tav>
                                      </p:tavLst>
                                    </p:anim>
                                    <p:animEffect>
                                      <p:cBhvr>
                                        <p:cTn id="19" dur="500" tmFilter="0,0; .5, 1; 1, 1"/>
                                        <p:tgtEl>
                                          <p:spTgt spid="16"/>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1000"/>
                                        <p:tgtEl>
                                          <p:spTgt spid="23"/>
                                        </p:tgtEl>
                                      </p:cBhvr>
                                    </p:animEffect>
                                    <p:anim calcmode="lin" valueType="num">
                                      <p:cBhvr>
                                        <p:cTn id="23" dur="1000" fill="hold"/>
                                        <p:tgtEl>
                                          <p:spTgt spid="23"/>
                                        </p:tgtEl>
                                        <p:attrNameLst>
                                          <p:attrName>ppt_x</p:attrName>
                                        </p:attrNameLst>
                                      </p:cBhvr>
                                      <p:tavLst>
                                        <p:tav tm="0">
                                          <p:val>
                                            <p:strVal val="#ppt_x"/>
                                          </p:val>
                                        </p:tav>
                                        <p:tav tm="100000">
                                          <p:val>
                                            <p:strVal val="#ppt_x"/>
                                          </p:val>
                                        </p:tav>
                                      </p:tavLst>
                                    </p:anim>
                                    <p:anim calcmode="lin" valueType="num">
                                      <p:cBhvr>
                                        <p:cTn id="24" dur="1000" fill="hold"/>
                                        <p:tgtEl>
                                          <p:spTgt spid="2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1000"/>
                                        <p:tgtEl>
                                          <p:spTgt spid="24"/>
                                        </p:tgtEl>
                                      </p:cBhvr>
                                    </p:animEffect>
                                    <p:anim calcmode="lin" valueType="num">
                                      <p:cBhvr>
                                        <p:cTn id="28" dur="1000" fill="hold"/>
                                        <p:tgtEl>
                                          <p:spTgt spid="24"/>
                                        </p:tgtEl>
                                        <p:attrNameLst>
                                          <p:attrName>ppt_x</p:attrName>
                                        </p:attrNameLst>
                                      </p:cBhvr>
                                      <p:tavLst>
                                        <p:tav tm="0">
                                          <p:val>
                                            <p:strVal val="#ppt_x"/>
                                          </p:val>
                                        </p:tav>
                                        <p:tav tm="100000">
                                          <p:val>
                                            <p:strVal val="#ppt_x"/>
                                          </p:val>
                                        </p:tav>
                                      </p:tavLst>
                                    </p:anim>
                                    <p:anim calcmode="lin" valueType="num">
                                      <p:cBhvr>
                                        <p:cTn id="29" dur="1000" fill="hold"/>
                                        <p:tgtEl>
                                          <p:spTgt spid="24"/>
                                        </p:tgtEl>
                                        <p:attrNameLst>
                                          <p:attrName>ppt_y</p:attrName>
                                        </p:attrNameLst>
                                      </p:cBhvr>
                                      <p:tavLst>
                                        <p:tav tm="0">
                                          <p:val>
                                            <p:strVal val="#ppt_y+.1"/>
                                          </p:val>
                                        </p:tav>
                                        <p:tav tm="100000">
                                          <p:val>
                                            <p:strVal val="#ppt_y"/>
                                          </p:val>
                                        </p:tav>
                                      </p:tavLst>
                                    </p:anim>
                                  </p:childTnLst>
                                </p:cTn>
                              </p:par>
                            </p:childTnLst>
                          </p:cTn>
                        </p:par>
                        <p:par>
                          <p:cTn id="30" fill="hold">
                            <p:stCondLst>
                              <p:cond delay="1250"/>
                            </p:stCondLst>
                            <p:childTnLst>
                              <p:par>
                                <p:cTn id="31" presetID="41" presetClass="entr" presetSubtype="0" fill="hold" grpId="0" nodeType="afterEffect">
                                  <p:stCondLst>
                                    <p:cond delay="0"/>
                                  </p:stCondLst>
                                  <p:iterate type="lt">
                                    <p:tmPct val="10000"/>
                                  </p:iterate>
                                  <p:childTnLst>
                                    <p:set>
                                      <p:cBhvr>
                                        <p:cTn id="32" dur="1" fill="hold">
                                          <p:stCondLst>
                                            <p:cond delay="0"/>
                                          </p:stCondLst>
                                        </p:cTn>
                                        <p:tgtEl>
                                          <p:spTgt spid="14"/>
                                        </p:tgtEl>
                                        <p:attrNameLst>
                                          <p:attrName>style.visibility</p:attrName>
                                        </p:attrNameLst>
                                      </p:cBhvr>
                                      <p:to>
                                        <p:strVal val="visible"/>
                                      </p:to>
                                    </p:set>
                                    <p:anim calcmode="lin" valueType="num">
                                      <p:cBhvr>
                                        <p:cTn id="33" dur="500" fill="hold"/>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id="34" dur="500" fill="hold"/>
                                        <p:tgtEl>
                                          <p:spTgt spid="14"/>
                                        </p:tgtEl>
                                        <p:attrNameLst>
                                          <p:attrName>ppt_y</p:attrName>
                                        </p:attrNameLst>
                                      </p:cBhvr>
                                      <p:tavLst>
                                        <p:tav tm="0">
                                          <p:val>
                                            <p:strVal val="#ppt_y"/>
                                          </p:val>
                                        </p:tav>
                                        <p:tav tm="100000">
                                          <p:val>
                                            <p:strVal val="#ppt_y"/>
                                          </p:val>
                                        </p:tav>
                                      </p:tavLst>
                                    </p:anim>
                                    <p:anim calcmode="lin" valueType="num">
                                      <p:cBhvr>
                                        <p:cTn id="35" dur="500" fill="hold"/>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id="36" dur="500" fill="hold"/>
                                        <p:tgtEl>
                                          <p:spTgt spid="14"/>
                                        </p:tgtEl>
                                        <p:attrNameLst>
                                          <p:attrName>ppt_w</p:attrName>
                                        </p:attrNameLst>
                                      </p:cBhvr>
                                      <p:tavLst>
                                        <p:tav tm="0">
                                          <p:val>
                                            <p:strVal val="#ppt_w/10"/>
                                          </p:val>
                                        </p:tav>
                                        <p:tav tm="50000">
                                          <p:val>
                                            <p:strVal val="#ppt_w+.01"/>
                                          </p:val>
                                        </p:tav>
                                        <p:tav tm="100000">
                                          <p:val>
                                            <p:strVal val="#ppt_w"/>
                                          </p:val>
                                        </p:tav>
                                      </p:tavLst>
                                    </p:anim>
                                    <p:animEffect>
                                      <p:cBhvr>
                                        <p:cTn id="37" dur="500" tmFilter="0,0; .5, 1; 1, 1"/>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P spid="16" grpId="0" bldLvl="0" autoUpdateAnimBg="0"/>
      <p:bldP spid="23" grpId="0" bldLvl="0" animBg="1"/>
      <p:bldP spid="24" grpId="0" bldLvl="0" animBg="1"/>
      <p:bldP spid="12" grpId="0" bldLvl="0" animBg="1"/>
      <p:bldP spid="14" grpId="0" bldLvl="0" autoUpdateAnimBg="0"/>
    </p:bldLst>
  </p:timing>
</p:sld>
</file>

<file path=ppt/tags/tag1.xml><?xml version="1.0" encoding="utf-8"?>
<p:tagLst xmlns:p="http://schemas.openxmlformats.org/presentationml/2006/main">
  <p:tag name="ISLIDE.VECTOR" val="#188721;"/>
</p:tagLst>
</file>

<file path=ppt/tags/tag2.xml><?xml version="1.0" encoding="utf-8"?>
<p:tagLst xmlns:p="http://schemas.openxmlformats.org/presentationml/2006/main">
  <p:tag name="ISLIDE.VECTOR" val="#275491;"/>
</p:tagLst>
</file>

<file path=ppt/tags/tag3.xml><?xml version="1.0" encoding="utf-8"?>
<p:tagLst xmlns:p="http://schemas.openxmlformats.org/presentationml/2006/main">
  <p:tag name="ISLIDE.VECTOR" val="#189962;"/>
</p:tagLst>
</file>

<file path=ppt/tags/tag4.xml><?xml version="1.0" encoding="utf-8"?>
<p:tagLst xmlns:p="http://schemas.openxmlformats.org/presentationml/2006/main">
  <p:tag name="ISLIDE.VECTOR" val="#189962;"/>
</p:tagLst>
</file>

<file path=ppt/tags/tag5.xml><?xml version="1.0" encoding="utf-8"?>
<p:tagLst xmlns:p="http://schemas.openxmlformats.org/presentationml/2006/main">
  <p:tag name="ISLIDE.VECTOR" val="#185136;"/>
</p:tagLst>
</file>

<file path=ppt/tags/tag6.xml><?xml version="1.0" encoding="utf-8"?>
<p:tagLst xmlns:p="http://schemas.openxmlformats.org/presentationml/2006/main">
  <p:tag name="ISLIDE.VECTOR" val="#189962;"/>
</p:tagLst>
</file>

<file path=ppt/tags/tag7.xml><?xml version="1.0" encoding="utf-8"?>
<p:tagLst xmlns:p="http://schemas.openxmlformats.org/presentationml/2006/main">
  <p:tag name="ISLIDE.VECTOR" val="#257241;"/>
</p:tagLst>
</file>

<file path=ppt/tags/tag8.xml><?xml version="1.0" encoding="utf-8"?>
<p:tagLst xmlns:p="http://schemas.openxmlformats.org/presentationml/2006/main">
  <p:tag name="ISLIDE.VECTOR" val="#189962;"/>
</p:tagLst>
</file>

<file path=ppt/tags/tag9.xml><?xml version="1.0" encoding="utf-8"?>
<p:tagLst xmlns:p="http://schemas.openxmlformats.org/presentationml/2006/main">
  <p:tag name="ISLIDE.VECTOR" val="#222643;"/>
</p:tagLst>
</file>

<file path=ppt/tags/tag10.xml><?xml version="1.0" encoding="utf-8"?>
<p:tagLst xmlns:p="http://schemas.openxmlformats.org/presentationml/2006/main">
  <p:tag name="ISLIDE.VECTOR" val="#184466;"/>
</p:tagLst>
</file>

<file path=ppt/tags/tag11.xml><?xml version="1.0" encoding="utf-8"?>
<p:tagLst xmlns:p="http://schemas.openxmlformats.org/presentationml/2006/main">
  <p:tag name="ISLIDE.VECTOR" val="#184468;"/>
</p:tagLst>
</file>

<file path=ppt/tags/tag12.xml><?xml version="1.0" encoding="utf-8"?>
<p:tagLst xmlns:p="http://schemas.openxmlformats.org/presentationml/2006/main">
  <p:tag name="KSO_WM_DIAGRAM_VIRTUALLY_FRAME" val="{&quot;height&quot;:350.51842519685044,&quot;left&quot;:55,&quot;top&quot;:155.73157480314958,&quot;width&quot;:849.9999212598425}"/>
</p:tagLst>
</file>

<file path=ppt/tags/tag13.xml><?xml version="1.0" encoding="utf-8"?>
<p:tagLst xmlns:p="http://schemas.openxmlformats.org/presentationml/2006/main">
  <p:tag name="KSO_WM_DIAGRAM_VIRTUALLY_FRAME" val="{&quot;height&quot;:350.51842519685044,&quot;left&quot;:55,&quot;top&quot;:155.73157480314958,&quot;width&quot;:849.9999212598425}"/>
</p:tagLst>
</file>

<file path=ppt/tags/tag14.xml><?xml version="1.0" encoding="utf-8"?>
<p:tagLst xmlns:p="http://schemas.openxmlformats.org/presentationml/2006/main">
  <p:tag name="KSO_WM_DIAGRAM_VIRTUALLY_FRAME" val="{&quot;height&quot;:350.51842519685044,&quot;left&quot;:55,&quot;top&quot;:155.73157480314958,&quot;width&quot;:849.9999212598425}"/>
</p:tagLst>
</file>

<file path=ppt/tags/tag15.xml><?xml version="1.0" encoding="utf-8"?>
<p:tagLst xmlns:p="http://schemas.openxmlformats.org/presentationml/2006/main">
  <p:tag name="KSO_WM_DIAGRAM_VIRTUALLY_FRAME" val="{&quot;height&quot;:350.51842519685044,&quot;left&quot;:55,&quot;top&quot;:155.73157480314958,&quot;width&quot;:849.9999212598425}"/>
</p:tagLst>
</file>

<file path=ppt/tags/tag16.xml><?xml version="1.0" encoding="utf-8"?>
<p:tagLst xmlns:p="http://schemas.openxmlformats.org/presentationml/2006/main">
  <p:tag name="KSO_WM_DIAGRAM_VIRTUALLY_FRAME" val="{&quot;height&quot;:350.51842519685044,&quot;left&quot;:55,&quot;top&quot;:155.73157480314958,&quot;width&quot;:849.9999212598425}"/>
</p:tagLst>
</file>

<file path=ppt/tags/tag17.xml><?xml version="1.0" encoding="utf-8"?>
<p:tagLst xmlns:p="http://schemas.openxmlformats.org/presentationml/2006/main">
  <p:tag name="KSO_WM_DIAGRAM_VIRTUALLY_FRAME" val="{&quot;height&quot;:350.51842519685044,&quot;left&quot;:55,&quot;top&quot;:155.73157480314958,&quot;width&quot;:849.9999212598425}"/>
</p:tagLst>
</file>

<file path=ppt/tags/tag18.xml><?xml version="1.0" encoding="utf-8"?>
<p:tagLst xmlns:p="http://schemas.openxmlformats.org/presentationml/2006/main">
  <p:tag name="KSO_WM_DIAGRAM_VIRTUALLY_FRAME" val="{&quot;height&quot;:350.51842519685044,&quot;left&quot;:55,&quot;top&quot;:155.73157480314958,&quot;width&quot;:849.9999212598425}"/>
</p:tagLst>
</file>

<file path=ppt/tags/tag19.xml><?xml version="1.0" encoding="utf-8"?>
<p:tagLst xmlns:p="http://schemas.openxmlformats.org/presentationml/2006/main">
  <p:tag name="KSO_WM_DIAGRAM_VIRTUALLY_FRAME" val="{&quot;height&quot;:350.51842519685044,&quot;left&quot;:55,&quot;top&quot;:155.73157480314958,&quot;width&quot;:849.9999212598425}"/>
</p:tagLst>
</file>

<file path=ppt/tags/tag20.xml><?xml version="1.0" encoding="utf-8"?>
<p:tagLst xmlns:p="http://schemas.openxmlformats.org/presentationml/2006/main">
  <p:tag name="KSO_WM_DIAGRAM_VIRTUALLY_FRAME" val="{&quot;height&quot;:350.51842519685044,&quot;left&quot;:55,&quot;top&quot;:155.73157480314958,&quot;width&quot;:849.9999212598425}"/>
</p:tagLst>
</file>

<file path=ppt/tags/tag21.xml><?xml version="1.0" encoding="utf-8"?>
<p:tagLst xmlns:p="http://schemas.openxmlformats.org/presentationml/2006/main">
  <p:tag name="KSO_WM_DIAGRAM_VIRTUALLY_FRAME" val="{&quot;height&quot;:350.51842519685044,&quot;left&quot;:55,&quot;top&quot;:155.73157480314958,&quot;width&quot;:849.9999212598425}"/>
</p:tagLst>
</file>

<file path=ppt/tags/tag22.xml><?xml version="1.0" encoding="utf-8"?>
<p:tagLst xmlns:p="http://schemas.openxmlformats.org/presentationml/2006/main">
  <p:tag name="KSO_WM_DIAGRAM_VIRTUALLY_FRAME" val="{&quot;height&quot;:350.51842519685044,&quot;left&quot;:55,&quot;top&quot;:155.73157480314958,&quot;width&quot;:849.9999212598425}"/>
</p:tagLst>
</file>

<file path=ppt/tags/tag23.xml><?xml version="1.0" encoding="utf-8"?>
<p:tagLst xmlns:p="http://schemas.openxmlformats.org/presentationml/2006/main">
  <p:tag name="KSO_WM_DIAGRAM_VIRTUALLY_FRAME" val="{&quot;height&quot;:350.51842519685044,&quot;left&quot;:55,&quot;top&quot;:155.73157480314958,&quot;width&quot;:849.9999212598425}"/>
</p:tagLst>
</file>

<file path=ppt/tags/tag24.xml><?xml version="1.0" encoding="utf-8"?>
<p:tagLst xmlns:p="http://schemas.openxmlformats.org/presentationml/2006/main">
  <p:tag name="KSO_WM_UNIT_TABLE_BEAUTIFY" val="smartTable{3bdc6dbb-3b48-430e-a761-2b1e38463982}"/>
</p:tagLst>
</file>

<file path=ppt/tags/tag25.xml><?xml version="1.0" encoding="utf-8"?>
<p:tagLst xmlns:p="http://schemas.openxmlformats.org/presentationml/2006/main">
  <p:tag name="ISLIDE.VECTOR" val="#185174;#185220;"/>
</p:tagLst>
</file>

<file path=ppt/tags/tag26.xml><?xml version="1.0" encoding="utf-8"?>
<p:tagLst xmlns:p="http://schemas.openxmlformats.org/presentationml/2006/main">
  <p:tag name="KSO_WM_UNIT_TABLE_BEAUTIFY" val="smartTable{261bb184-71d7-4239-817f-f3b2914d36d6}"/>
</p:tagLst>
</file>

<file path=ppt/tags/tag27.xml><?xml version="1.0" encoding="utf-8"?>
<p:tagLst xmlns:p="http://schemas.openxmlformats.org/presentationml/2006/main">
  <p:tag name="KSO_WM_UNIT_TABLE_BEAUTIFY" val="smartTable{cc330f94-9ea8-4e93-8ec6-344cec92e21b}"/>
</p:tagLst>
</file>

<file path=ppt/tags/tag28.xml><?xml version="1.0" encoding="utf-8"?>
<p:tagLst xmlns:p="http://schemas.openxmlformats.org/presentationml/2006/main">
  <p:tag name="KSO_WPP_MARK_KEY" val="79c78ddf-bcd1-48cd-b669-09f854a6793a"/>
  <p:tag name="COMMONDATA" val="eyJoZGlkIjoiODdlMTdjNmZhZjlkMzUyMDY5ZjkwYWNhNjUzYzZkNzQifQ=="/>
</p:tagLst>
</file>

<file path=ppt/theme/theme1.xml><?xml version="1.0" encoding="utf-8"?>
<a:theme xmlns:a="http://schemas.openxmlformats.org/drawingml/2006/main" name="4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12693</Words>
  <Application>WPS 演示</Application>
  <PresentationFormat>宽屏</PresentationFormat>
  <Paragraphs>1894</Paragraphs>
  <Slides>64</Slides>
  <Notes>40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64</vt:i4>
      </vt:variant>
    </vt:vector>
  </HeadingPairs>
  <TitlesOfParts>
    <vt:vector size="78" baseType="lpstr">
      <vt:lpstr>Arial</vt:lpstr>
      <vt:lpstr>宋体</vt:lpstr>
      <vt:lpstr>Wingdings</vt:lpstr>
      <vt:lpstr>微软雅黑</vt:lpstr>
      <vt:lpstr>Calibri</vt:lpstr>
      <vt:lpstr>Times New Roman</vt:lpstr>
      <vt:lpstr>Arial Unicode MS</vt:lpstr>
      <vt:lpstr>Calibri Light</vt:lpstr>
      <vt:lpstr>等线</vt:lpstr>
      <vt:lpstr>Cambria Math</vt:lpstr>
      <vt:lpstr>Arial</vt:lpstr>
      <vt:lpstr>Calibri</vt:lpstr>
      <vt:lpstr>Wingdings</vt:lpstr>
      <vt:lpstr>4_Office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用来开发数据内容描述的符号</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http://www.deepbbs.org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大学Goal工作室</dc:creator>
  <cp:lastModifiedBy>武君胜</cp:lastModifiedBy>
  <cp:revision>808</cp:revision>
  <dcterms:created xsi:type="dcterms:W3CDTF">2016-04-10T11:44:00Z</dcterms:created>
  <dcterms:modified xsi:type="dcterms:W3CDTF">2026-03-23T05:00:32Z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DD64CF264EE349C3BAA9412C5E60A19F_13</vt:lpwstr>
  </property>
  <property fmtid="{D5CDD505-2E9C-101B-9397-08002B2CF9AE}" pid="3" name="KSOProductBuildVer">
    <vt:lpwstr>2052-12.1.0.25225</vt:lpwstr>
  </property>
</Properties>
</file>